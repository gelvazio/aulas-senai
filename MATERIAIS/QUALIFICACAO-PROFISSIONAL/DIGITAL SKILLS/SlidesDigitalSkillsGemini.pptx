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01: Formando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quem forma</a:t>
            </a:r>
          </a:p>
          <a:p>
            <a:pPr algn="l">
              <a:spcBef>
                <a:spcPts val="400"/>
              </a:spcBef>
              <a:spcAft>
                <a:spcPts val="400"/>
              </a:spcAft>
              <a:defRPr sz="1400">
                <a:solidFill>
                  <a:srgbClr val="333333"/>
                </a:solidFill>
                <a:latin typeface="Century Gothic"/>
              </a:defRPr>
            </a:pPr>
            <a:r>
              <a:t>a indústria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02: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03: Digital Skills: Inteligência Artificial e ChatGPT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04: Apresentação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1986</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Analista de Desenvolvimento de Sistemas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Experiência de 16 anos com T.I.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4 anos Analista de Qualidade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 anos Desenvolvedor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Desde Julho/2026 no Senai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 Gelvazio Camargo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05: Agenda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07h15 Orientações iniciais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07h30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 Atividade Individual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8h35 Desafios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09h30 Intervalo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09h50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10h10 Atividade em Dupla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06: Capacidades do Curso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Compreender conceitos básicos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Familiarizar-se com modelos de linguagem e ChatGPT, implementar chatbot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07: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08: Quem nasceu primeiro?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ovo ou a galinha?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09: Quem nasceu primeiro?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ChatGPT ou Gemini?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10: 2022</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2023</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11: Digital Skills (Habilidades Digitais)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Competências essenciais para atuar no mundo digital</a:t>
            </a:r>
          </a:p>
          <a:p>
            <a:pPr algn="l">
              <a:spcBef>
                <a:spcPts val="400"/>
              </a:spcBef>
              <a:spcAft>
                <a:spcPts val="400"/>
              </a:spcAft>
              <a:defRPr sz="1400">
                <a:solidFill>
                  <a:srgbClr val="333333"/>
                </a:solidFill>
                <a:latin typeface="Century Gothic"/>
              </a:defRPr>
            </a:pPr>
            <a:r>
              <a:t>Incluem uso de IA, comunicação digital, análise de dados e segurança</a:t>
            </a:r>
          </a:p>
          <a:p>
            <a:pPr algn="l">
              <a:spcBef>
                <a:spcPts val="400"/>
              </a:spcBef>
              <a:spcAft>
                <a:spcPts val="400"/>
              </a:spcAft>
              <a:defRPr sz="1400">
                <a:solidFill>
                  <a:srgbClr val="333333"/>
                </a:solidFill>
                <a:latin typeface="Century Gothic"/>
              </a:defRPr>
            </a:pPr>
            <a:r>
              <a:t>Importantes para estudo, trabalho e vida cotidiana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12: Por que Digital Skills são importantes?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Favorecem adaptação às tecnologias atuais</a:t>
            </a:r>
          </a:p>
          <a:p>
            <a:pPr algn="l">
              <a:spcBef>
                <a:spcPts val="400"/>
              </a:spcBef>
              <a:spcAft>
                <a:spcPts val="400"/>
              </a:spcAft>
              <a:defRPr sz="1400">
                <a:solidFill>
                  <a:srgbClr val="333333"/>
                </a:solidFill>
                <a:latin typeface="Century Gothic"/>
              </a:defRPr>
            </a:pPr>
            <a:r>
              <a:t>Aumentam produtividade e autonomia</a:t>
            </a:r>
          </a:p>
          <a:p>
            <a:pPr algn="l">
              <a:spcBef>
                <a:spcPts val="400"/>
              </a:spcBef>
              <a:spcAft>
                <a:spcPts val="400"/>
              </a:spcAft>
              <a:defRPr sz="1400">
                <a:solidFill>
                  <a:srgbClr val="333333"/>
                </a:solidFill>
                <a:latin typeface="Century Gothic"/>
              </a:defRPr>
            </a:pPr>
            <a:r>
              <a:t>São diferenciais para o mercado de trabalho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13: O que é Inteligência Artificial (IA) ?</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Conjunto de tecnologias capazes de aprender padrões e executar tarefas</a:t>
            </a:r>
          </a:p>
          <a:p>
            <a:pPr algn="l">
              <a:spcBef>
                <a:spcPts val="400"/>
              </a:spcBef>
              <a:spcAft>
                <a:spcPts val="400"/>
              </a:spcAft>
              <a:defRPr sz="1400">
                <a:solidFill>
                  <a:srgbClr val="333333"/>
                </a:solidFill>
                <a:latin typeface="Century Gothic"/>
              </a:defRPr>
            </a:pPr>
            <a:r>
              <a:t>Utilizada em recomendações, tradução automática, análise de dados, criação de conteúdo e muito 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14: IA Generativa e Modelos de Linguagem</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IA generativa produz texto, imagem, áudio e código</a:t>
            </a:r>
          </a:p>
          <a:p>
            <a:pPr algn="l">
              <a:spcBef>
                <a:spcPts val="400"/>
              </a:spcBef>
              <a:spcAft>
                <a:spcPts val="400"/>
              </a:spcAft>
              <a:defRPr sz="1400">
                <a:solidFill>
                  <a:srgbClr val="333333"/>
                </a:solidFill>
                <a:latin typeface="Century Gothic"/>
              </a:defRPr>
            </a:pPr>
            <a:r>
              <a:t>Modelos de Linguagem (LLMs) usam grandes volumes de dados para prever palavras e gerar respostas contextualizadas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15: Já usou a expressão Dá um Google?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16: Gelvazio Camargo – Presença Digital</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Perfil encontrado: profissional ligado à Tecnologia, Educação e Inteligência Artificial.</a:t>
            </a:r>
          </a:p>
          <a:p>
            <a:pPr algn="l">
              <a:spcBef>
                <a:spcPts val="400"/>
              </a:spcBef>
              <a:spcAft>
                <a:spcPts val="400"/>
              </a:spcAft>
              <a:defRPr sz="1400">
                <a:solidFill>
                  <a:srgbClr val="333333"/>
                </a:solidFill>
                <a:latin typeface="Century Gothic"/>
              </a:defRPr>
            </a:pPr>
            <a:r>
              <a:t>💻 Tecnologia</a:t>
            </a:r>
            <a:br/>
            <a:r>
              <a:t>Desenvolvimento de software, Python, PHP, Web e qualidade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Educação</a:t>
            </a:r>
            <a:br/>
            <a:r>
              <a:t>Experiência como professor em instituições de educação profissional, incluindo SENAC/SC e SENAI/SC.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Inteligência Artificial</a:t>
            </a:r>
            <a:br/>
            <a:r>
              <a:t>Atuação e produção de conteúdos relacionados à IA e ferramentas digitais.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Presença Digital</a:t>
            </a:r>
            <a:br/>
            <a:r>
              <a:t>LinkedIn, GitHub, portfólio, projetos de software e registros profissionais públicos.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Síntese:</a:t>
            </a:r>
            <a:br/>
            <a:r>
              <a:t>Tecnologia + Desenvolvimento + Educação +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17: Faça uma pesquisa sobre você no chatgpt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Compartilhe com a turma se achou algo interessante que queira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18: Cuidado! Amigo?!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19: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20: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21: Como ChatGPT funciona?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Treinado com enormes quantidades de textos</a:t>
            </a:r>
          </a:p>
          <a:p>
            <a:pPr algn="l">
              <a:spcBef>
                <a:spcPts val="400"/>
              </a:spcBef>
              <a:spcAft>
                <a:spcPts val="400"/>
              </a:spcAft>
              <a:defRPr sz="1400">
                <a:solidFill>
                  <a:srgbClr val="333333"/>
                </a:solidFill>
                <a:latin typeface="Century Gothic"/>
              </a:defRPr>
            </a:pPr>
            <a:r>
              <a:t>Responde com base em padrões aprendidos</a:t>
            </a:r>
          </a:p>
          <a:p>
            <a:pPr algn="l">
              <a:spcBef>
                <a:spcPts val="400"/>
              </a:spcBef>
              <a:spcAft>
                <a:spcPts val="400"/>
              </a:spcAft>
              <a:defRPr sz="1400">
                <a:solidFill>
                  <a:srgbClr val="333333"/>
                </a:solidFill>
                <a:latin typeface="Century Gothic"/>
              </a:defRPr>
            </a:pPr>
            <a:r>
              <a:t>Não possui emoções ou opiniões próprias</a:t>
            </a:r>
          </a:p>
          <a:p>
            <a:pPr algn="l">
              <a:spcBef>
                <a:spcPts val="400"/>
              </a:spcBef>
              <a:spcAft>
                <a:spcPts val="400"/>
              </a:spcAft>
              <a:defRPr sz="1400">
                <a:solidFill>
                  <a:srgbClr val="333333"/>
                </a:solidFill>
                <a:latin typeface="Century Gothic"/>
              </a:defRPr>
            </a:pPr>
            <a:r>
              <a:t>Pode cometer erros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22: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23: Personalização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24: Construção de um Bom Prompt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Elementos essenciais:</a:t>
            </a:r>
          </a:p>
          <a:p>
            <a:pPr algn="l">
              <a:spcBef>
                <a:spcPts val="400"/>
              </a:spcBef>
              <a:spcAft>
                <a:spcPts val="400"/>
              </a:spcAft>
              <a:defRPr sz="1400">
                <a:solidFill>
                  <a:srgbClr val="333333"/>
                </a:solidFill>
                <a:latin typeface="Century Gothic"/>
              </a:defRPr>
            </a:pPr>
            <a:r>
              <a:t>Contexto</a:t>
            </a:r>
          </a:p>
          <a:p>
            <a:pPr algn="l">
              <a:spcBef>
                <a:spcPts val="400"/>
              </a:spcBef>
              <a:spcAft>
                <a:spcPts val="400"/>
              </a:spcAft>
              <a:defRPr sz="1400">
                <a:solidFill>
                  <a:srgbClr val="333333"/>
                </a:solidFill>
                <a:latin typeface="Century Gothic"/>
              </a:defRPr>
            </a:pPr>
            <a:r>
              <a:t>Tarefa</a:t>
            </a:r>
          </a:p>
          <a:p>
            <a:pPr algn="l">
              <a:spcBef>
                <a:spcPts val="400"/>
              </a:spcBef>
              <a:spcAft>
                <a:spcPts val="400"/>
              </a:spcAft>
              <a:defRPr sz="1400">
                <a:solidFill>
                  <a:srgbClr val="333333"/>
                </a:solidFill>
                <a:latin typeface="Century Gothic"/>
              </a:defRPr>
            </a:pPr>
            <a:r>
              <a:t>Formato de resposta</a:t>
            </a:r>
          </a:p>
          <a:p>
            <a:pPr algn="l">
              <a:spcBef>
                <a:spcPts val="400"/>
              </a:spcBef>
              <a:spcAft>
                <a:spcPts val="400"/>
              </a:spcAft>
              <a:defRPr sz="1400">
                <a:solidFill>
                  <a:srgbClr val="333333"/>
                </a:solidFill>
                <a:latin typeface="Century Gothic"/>
              </a:defRPr>
            </a:pPr>
            <a:r>
              <a:t>Regras adicionais</a:t>
            </a:r>
          </a:p>
          <a:p>
            <a:pPr algn="l">
              <a:spcBef>
                <a:spcPts val="400"/>
              </a:spcBef>
              <a:spcAft>
                <a:spcPts val="400"/>
              </a:spcAft>
              <a:defRPr sz="1400">
                <a:solidFill>
                  <a:srgbClr val="333333"/>
                </a:solidFill>
                <a:latin typeface="Century Gothic"/>
              </a:defRPr>
            </a:pPr>
            <a:r>
              <a:t>Exemplo: “Explique a LGPD para jovens, em tópicos e com exemplos simples.”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“Explique isso.”</a:t>
            </a:r>
          </a:p>
          <a:p>
            <a:pPr algn="l">
              <a:spcBef>
                <a:spcPts val="400"/>
              </a:spcBef>
              <a:spcAft>
                <a:spcPts val="400"/>
              </a:spcAft>
              <a:defRPr sz="1400">
                <a:solidFill>
                  <a:srgbClr val="333333"/>
                </a:solidFill>
                <a:latin typeface="Century Gothic"/>
              </a:defRPr>
            </a:pPr>
            <a:r>
              <a:t>✔ “Explique ciclo PDCA, em 5 tópicos, com um exemplo prático para estudantes.”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25: Melhorando a Confiabilidade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Solicitar explicações “passo a passo”</a:t>
            </a:r>
          </a:p>
          <a:p>
            <a:pPr algn="l">
              <a:spcBef>
                <a:spcPts val="400"/>
              </a:spcBef>
              <a:spcAft>
                <a:spcPts val="400"/>
              </a:spcAft>
              <a:defRPr sz="1400">
                <a:solidFill>
                  <a:srgbClr val="333333"/>
                </a:solidFill>
                <a:latin typeface="Century Gothic"/>
              </a:defRPr>
            </a:pPr>
            <a:r>
              <a:t>Definir restrições e regras</a:t>
            </a:r>
          </a:p>
          <a:p>
            <a:pPr algn="l">
              <a:spcBef>
                <a:spcPts val="400"/>
              </a:spcBef>
              <a:spcAft>
                <a:spcPts val="400"/>
              </a:spcAft>
              <a:defRPr sz="1400">
                <a:solidFill>
                  <a:srgbClr val="333333"/>
                </a:solidFill>
                <a:latin typeface="Century Gothic"/>
              </a:defRPr>
            </a:pPr>
            <a:r>
              <a:t>Pedir verificação ou confirmação</a:t>
            </a:r>
          </a:p>
          <a:p>
            <a:pPr algn="l">
              <a:spcBef>
                <a:spcPts val="400"/>
              </a:spcBef>
              <a:spcAft>
                <a:spcPts val="400"/>
              </a:spcAft>
              <a:defRPr sz="1400">
                <a:solidFill>
                  <a:srgbClr val="333333"/>
                </a:solidFill>
                <a:latin typeface="Century Gothic"/>
              </a:defRPr>
            </a:pPr>
            <a:r>
              <a:t>Reescrever o prompt até obter clareza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26: Atividade Prática: Criação de Prompts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Desafio: Escolher um tema de interesse (ex.: escola, carreira, saúde, jogos, turismo, negócios) e criar três versões evolutivas do mesmo prompt:</a:t>
            </a:r>
          </a:p>
          <a:p>
            <a:pPr algn="l">
              <a:spcBef>
                <a:spcPts val="400"/>
              </a:spcBef>
              <a:spcAft>
                <a:spcPts val="400"/>
              </a:spcAft>
              <a:defRPr sz="1400">
                <a:solidFill>
                  <a:srgbClr val="333333"/>
                </a:solidFill>
                <a:latin typeface="Century Gothic"/>
              </a:defRPr>
            </a:pPr>
            <a:r>
              <a:t>Versão 1 — Básica - Pergunta simples, sem detalhes.</a:t>
            </a:r>
          </a:p>
          <a:p>
            <a:pPr algn="l">
              <a:spcBef>
                <a:spcPts val="400"/>
              </a:spcBef>
              <a:spcAft>
                <a:spcPts val="400"/>
              </a:spcAft>
              <a:defRPr sz="1400">
                <a:solidFill>
                  <a:srgbClr val="333333"/>
                </a:solidFill>
                <a:latin typeface="Century Gothic"/>
              </a:defRPr>
            </a:pPr>
            <a:r>
              <a:t>Versão 2 — Detalhada - Inclui contexto, objetivo e recortes.</a:t>
            </a:r>
          </a:p>
          <a:p>
            <a:pPr algn="l">
              <a:spcBef>
                <a:spcPts val="400"/>
              </a:spcBef>
              <a:spcAft>
                <a:spcPts val="400"/>
              </a:spcAft>
              <a:defRPr sz="1400">
                <a:solidFill>
                  <a:srgbClr val="333333"/>
                </a:solidFill>
                <a:latin typeface="Century Gothic"/>
              </a:defRPr>
            </a:pPr>
            <a:r>
              <a:t>Versão 3 — Profissional - Define persona, formato, tom e regras de resposta.</a:t>
            </a:r>
          </a:p>
          <a:p>
            <a:pPr algn="l">
              <a:spcBef>
                <a:spcPts val="400"/>
              </a:spcBef>
              <a:spcAft>
                <a:spcPts val="400"/>
              </a:spcAft>
              <a:defRPr sz="1400">
                <a:solidFill>
                  <a:srgbClr val="333333"/>
                </a:solidFill>
                <a:latin typeface="Century Gothic"/>
              </a:defRPr>
            </a:pPr>
            <a:r>
              <a:t>Você deve testar cada prompt no ChatGPT e comparar os resultados.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lgn="l">
              <a:spcBef>
                <a:spcPts val="400"/>
              </a:spcBef>
              <a:spcAft>
                <a:spcPts val="400"/>
              </a:spcAft>
              <a:defRPr sz="1400">
                <a:solidFill>
                  <a:srgbClr val="333333"/>
                </a:solidFill>
                <a:latin typeface="Century Gothic"/>
              </a:defRPr>
            </a:pPr>
            <a:r>
              <a:t>Bônus: faça o mesmo exercício com o Gemini e encontre as diferenças.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27: Exemplo: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Tema: Carreira 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1 (Simples): "Me ajude a escolher uma carreira."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IMPORTANTE!</a:t>
            </a:r>
          </a:p>
          <a:p>
            <a:pPr algn="l">
              <a:spcBef>
                <a:spcPts val="400"/>
              </a:spcBef>
              <a:spcAft>
                <a:spcPts val="400"/>
              </a:spcAft>
              <a:defRPr sz="1400">
                <a:solidFill>
                  <a:srgbClr val="333333"/>
                </a:solidFill>
                <a:latin typeface="Century Gothic"/>
              </a:defRPr>
            </a:pPr>
            <a:r>
              <a:t>Não usar IA para criação de Prompts neste exercício!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28: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29: 10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30: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31: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lgn="l">
              <a:spcBef>
                <a:spcPts val="400"/>
              </a:spcBef>
              <a:spcAft>
                <a:spcPts val="400"/>
              </a:spcAft>
              <a:defRPr sz="14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Referências oficiais:</a:t>
            </a:r>
          </a:p>
          <a:p>
            <a:pPr algn="l">
              <a:spcBef>
                <a:spcPts val="400"/>
              </a:spcBef>
              <a:spcAft>
                <a:spcPts val="400"/>
              </a:spcAft>
              <a:defRPr sz="1400">
                <a:solidFill>
                  <a:srgbClr val="333333"/>
                </a:solidFill>
                <a:latin typeface="Century Gothic"/>
              </a:defRPr>
            </a:pPr>
            <a:r>
              <a:t>PL 2338/2023: https://www25.senado.leg.br/web/atividade/materias/-/materia/163502</a:t>
            </a:r>
          </a:p>
          <a:p>
            <a:pPr algn="l">
              <a:spcBef>
                <a:spcPts val="400"/>
              </a:spcBef>
              <a:spcAft>
                <a:spcPts val="400"/>
              </a:spcAft>
              <a:defRPr sz="1400">
                <a:solidFill>
                  <a:srgbClr val="333333"/>
                </a:solidFill>
                <a:latin typeface="Century Gothic"/>
              </a:defRPr>
            </a:pPr>
            <a:r>
              <a:t>ANPD:https://www.gov.br/anpd/pt-br/canais-atendimento/perguntas-frequentes/lgpd-cidadao</a:t>
            </a:r>
          </a:p>
          <a:p>
            <a:pPr algn="l">
              <a:spcBef>
                <a:spcPts val="400"/>
              </a:spcBef>
              <a:spcAft>
                <a:spcPts val="400"/>
              </a:spcAft>
              <a:defRPr sz="1400">
                <a:solidFill>
                  <a:srgbClr val="333333"/>
                </a:solidFill>
                <a:latin typeface="Century Gothic"/>
              </a:defRPr>
            </a:pPr>
            <a:r>
              <a:t>LGPD: https://www.gov.br/cidadania/pt-br/acesso-a-informacao/lgpd</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32: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33: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Abertura (Cena 1 - 0:03)</a:t>
            </a:r>
          </a:p>
          <a:p>
            <a:pPr algn="l">
              <a:spcBef>
                <a:spcPts val="400"/>
              </a:spcBef>
              <a:spcAft>
                <a:spcPts val="400"/>
              </a:spcAft>
              <a:defRPr sz="1400">
                <a:solidFill>
                  <a:srgbClr val="333333"/>
                </a:solidFill>
                <a:latin typeface="Century Gothic"/>
              </a:defRPr>
            </a:pPr>
            <a:r>
              <a:t>Imagens da cidade, SENAI e jovens entrando na unidade</a:t>
            </a:r>
          </a:p>
          <a:p>
            <a:pPr algn="l">
              <a:spcBef>
                <a:spcPts val="400"/>
              </a:spcBef>
              <a:spcAft>
                <a:spcPts val="400"/>
              </a:spcAft>
              <a:defRPr sz="1400">
                <a:solidFill>
                  <a:srgbClr val="333333"/>
                </a:solidFill>
                <a:latin typeface="Century Gothic"/>
              </a:defRPr>
            </a:pPr>
            <a:r>
              <a:t>Texto na tela: “E se sua carreira começasse agora?”</a:t>
            </a:r>
          </a:p>
          <a:p>
            <a:pPr algn="l">
              <a:spcBef>
                <a:spcPts val="400"/>
              </a:spcBef>
              <a:spcAft>
                <a:spcPts val="400"/>
              </a:spcAft>
              <a:defRPr sz="1400">
                <a:solidFill>
                  <a:srgbClr val="333333"/>
                </a:solidFill>
                <a:latin typeface="Century Gothic"/>
              </a:defRPr>
            </a:pPr>
            <a:r>
              <a:t>Narração: “Às vezes, tudo que falta é o início.”</a:t>
            </a:r>
          </a:p>
          <a:p>
            <a:pPr algn="l">
              <a:spcBef>
                <a:spcPts val="400"/>
              </a:spcBef>
              <a:spcAft>
                <a:spcPts val="400"/>
              </a:spcAft>
              <a:defRPr sz="1400">
                <a:solidFill>
                  <a:srgbClr val="333333"/>
                </a:solidFill>
                <a:latin typeface="Century Gothic"/>
              </a:defRPr>
            </a:pPr>
            <a:r>
              <a:t>Propósito (Cena 2 - 0:05)</a:t>
            </a:r>
          </a:p>
          <a:p>
            <a:pPr algn="l">
              <a:spcBef>
                <a:spcPts val="400"/>
              </a:spcBef>
              <a:spcAft>
                <a:spcPts val="400"/>
              </a:spcAft>
              <a:defRPr sz="1400">
                <a:solidFill>
                  <a:srgbClr val="333333"/>
                </a:solidFill>
                <a:latin typeface="Century Gothic"/>
              </a:defRPr>
            </a:pPr>
            <a:r>
              <a:t>Imagens de produção, máquinas, chão de fábrica</a:t>
            </a:r>
          </a:p>
          <a:p>
            <a:pPr algn="l">
              <a:spcBef>
                <a:spcPts val="400"/>
              </a:spcBef>
              <a:spcAft>
                <a:spcPts val="400"/>
              </a:spcAft>
              <a:defRPr sz="1400">
                <a:solidFill>
                  <a:srgbClr val="333333"/>
                </a:solidFill>
                <a:latin typeface="Century Gothic"/>
              </a:defRPr>
            </a:pPr>
            <a:r>
              <a:t>Narração: “A indústria precisa de pessoas que tenham vontade de aprender e construir o futuro com as próprias mãos.”</a:t>
            </a:r>
          </a:p>
          <a:p>
            <a:pPr algn="l">
              <a:spcBef>
                <a:spcPts val="400"/>
              </a:spcBef>
              <a:spcAft>
                <a:spcPts val="400"/>
              </a:spcAft>
              <a:defRPr sz="1400">
                <a:solidFill>
                  <a:srgbClr val="333333"/>
                </a:solidFill>
                <a:latin typeface="Century Gothic"/>
              </a:defRPr>
            </a:pPr>
            <a:r>
              <a:t>Oportunidade (Cena 3 - 0:05)</a:t>
            </a:r>
          </a:p>
          <a:p>
            <a:pPr algn="l">
              <a:spcBef>
                <a:spcPts val="400"/>
              </a:spcBef>
              <a:spcAft>
                <a:spcPts val="400"/>
              </a:spcAft>
              <a:defRPr sz="1400">
                <a:solidFill>
                  <a:srgbClr val="333333"/>
                </a:solidFill>
                <a:latin typeface="Century Gothic"/>
              </a:defRPr>
            </a:pPr>
            <a:r>
              <a:t>Aulas práticas, orientação de instrutor, organização de materiais</a:t>
            </a:r>
          </a:p>
          <a:p>
            <a:pPr algn="l">
              <a:spcBef>
                <a:spcPts val="400"/>
              </a:spcBef>
              <a:spcAft>
                <a:spcPts val="400"/>
              </a:spcAft>
              <a:defRPr sz="14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lgn="l">
              <a:spcBef>
                <a:spcPts val="400"/>
              </a:spcBef>
              <a:spcAft>
                <a:spcPts val="400"/>
              </a:spcAft>
              <a:defRPr sz="1400">
                <a:solidFill>
                  <a:srgbClr val="333333"/>
                </a:solidFill>
                <a:latin typeface="Century Gothic"/>
              </a:defRPr>
            </a:pPr>
            <a:r>
              <a:t>Conexão com Futuro (Cena 4 - 0:06)</a:t>
            </a:r>
          </a:p>
          <a:p>
            <a:pPr algn="l">
              <a:spcBef>
                <a:spcPts val="400"/>
              </a:spcBef>
              <a:spcAft>
                <a:spcPts val="400"/>
              </a:spcAft>
              <a:defRPr sz="1400">
                <a:solidFill>
                  <a:srgbClr val="333333"/>
                </a:solidFill>
                <a:latin typeface="Century Gothic"/>
              </a:defRPr>
            </a:pPr>
            <a:r>
              <a:t>Alunos escrevendo, analisando documentos, movimentação em laboratório</a:t>
            </a:r>
          </a:p>
          <a:p>
            <a:pPr algn="l">
              <a:spcBef>
                <a:spcPts val="400"/>
              </a:spcBef>
              <a:spcAft>
                <a:spcPts val="400"/>
              </a:spcAft>
              <a:defRPr sz="1400">
                <a:solidFill>
                  <a:srgbClr val="333333"/>
                </a:solidFill>
                <a:latin typeface="Century Gothic"/>
              </a:defRPr>
            </a:pPr>
            <a:r>
              <a:t>Narração: “É seu primeiro contato com rotinas produtivas, documentos técnicos e desafios reais da indústria.”</a:t>
            </a:r>
          </a:p>
          <a:p>
            <a:pPr algn="l">
              <a:spcBef>
                <a:spcPts val="400"/>
              </a:spcBef>
              <a:spcAft>
                <a:spcPts val="400"/>
              </a:spcAft>
              <a:defRPr sz="1400">
                <a:solidFill>
                  <a:srgbClr val="333333"/>
                </a:solidFill>
                <a:latin typeface="Century Gothic"/>
              </a:defRPr>
            </a:pPr>
            <a:r>
              <a:t>Mensagem Final (Cena 5 - 0:06)</a:t>
            </a:r>
          </a:p>
          <a:p>
            <a:pPr algn="l">
              <a:spcBef>
                <a:spcPts val="400"/>
              </a:spcBef>
              <a:spcAft>
                <a:spcPts val="400"/>
              </a:spcAft>
              <a:defRPr sz="1400">
                <a:solidFill>
                  <a:srgbClr val="333333"/>
                </a:solidFill>
                <a:latin typeface="Century Gothic"/>
              </a:defRPr>
            </a:pPr>
            <a:r>
              <a:t>Plano close de jovem saindo do prédio com mochila</a:t>
            </a:r>
          </a:p>
          <a:p>
            <a:pPr algn="l">
              <a:spcBef>
                <a:spcPts val="400"/>
              </a:spcBef>
              <a:spcAft>
                <a:spcPts val="400"/>
              </a:spcAft>
              <a:defRPr sz="1400">
                <a:solidFill>
                  <a:srgbClr val="333333"/>
                </a:solidFill>
                <a:latin typeface="Century Gothic"/>
              </a:defRPr>
            </a:pPr>
            <a:r>
              <a:t>Narração: “Seu caminho profissional começa com escolha e atitude. Onde você quer chegar?”</a:t>
            </a:r>
          </a:p>
          <a:p>
            <a:pPr algn="l">
              <a:spcBef>
                <a:spcPts val="400"/>
              </a:spcBef>
              <a:spcAft>
                <a:spcPts val="400"/>
              </a:spcAft>
              <a:defRPr sz="1400">
                <a:solidFill>
                  <a:srgbClr val="333333"/>
                </a:solidFill>
                <a:latin typeface="Century Gothic"/>
              </a:defRPr>
            </a:pPr>
            <a:r>
              <a:t>Legenda sugerida:  "Todo caminho profissional começa com um primeiro passo.</a:t>
            </a:r>
          </a:p>
          <a:p>
            <a:pPr algn="l">
              <a:spcBef>
                <a:spcPts val="400"/>
              </a:spcBef>
              <a:spcAft>
                <a:spcPts val="400"/>
              </a:spcAft>
              <a:defRPr sz="1400">
                <a:solidFill>
                  <a:srgbClr val="333333"/>
                </a:solidFill>
                <a:latin typeface="Century Gothic"/>
              </a:defRPr>
            </a:pPr>
            <a:r>
              <a:t>Se a sua jornada é na indústria, comece preparado."</a:t>
            </a:r>
          </a:p>
          <a:p>
            <a:pPr algn="l">
              <a:spcBef>
                <a:spcPts val="400"/>
              </a:spcBef>
              <a:spcAft>
                <a:spcPts val="400"/>
              </a:spcAft>
              <a:defRPr sz="1400">
                <a:solidFill>
                  <a:srgbClr val="333333"/>
                </a:solidFill>
                <a:latin typeface="Century Gothic"/>
              </a:defRPr>
            </a:pPr>
            <a:r>
              <a:t>Hashtags recomendadas: #SENAIRioDoSul #AprendizagemIndustrial #IndústriaMetalmecânica #PrimeiroPasso #CarreiraIndustrial #JuventudeNaIndústria #FormaçãoProfissional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34: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35: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36: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lgn="l">
              <a:spcBef>
                <a:spcPts val="400"/>
              </a:spcBef>
              <a:spcAft>
                <a:spcPts val="400"/>
              </a:spcAft>
              <a:defRPr sz="1400">
                <a:solidFill>
                  <a:srgbClr val="333333"/>
                </a:solidFill>
                <a:latin typeface="Century Gothic"/>
              </a:defRPr>
            </a:pPr>
            <a:r>
              <a:t>Aluna negra com cabelo preso, usando óculos de proteção e segurando tablet</a:t>
            </a:r>
          </a:p>
          <a:p>
            <a:pPr algn="l">
              <a:spcBef>
                <a:spcPts val="400"/>
              </a:spcBef>
              <a:spcAft>
                <a:spcPts val="400"/>
              </a:spcAft>
              <a:defRPr sz="1400">
                <a:solidFill>
                  <a:srgbClr val="333333"/>
                </a:solidFill>
                <a:latin typeface="Century Gothic"/>
              </a:defRPr>
            </a:pPr>
            <a:r>
              <a:t>Aluno adolescente sorrindo segurando tablet</a:t>
            </a:r>
          </a:p>
          <a:p>
            <a:pPr algn="l">
              <a:spcBef>
                <a:spcPts val="400"/>
              </a:spcBef>
              <a:spcAft>
                <a:spcPts val="400"/>
              </a:spcAft>
              <a:defRPr sz="1400">
                <a:solidFill>
                  <a:srgbClr val="333333"/>
                </a:solidFill>
                <a:latin typeface="Century Gothic"/>
              </a:defRPr>
            </a:pPr>
            <a:r>
              <a:t>Aluna asiática com cabelo longo, expressão curiosa</a:t>
            </a:r>
          </a:p>
          <a:p>
            <a:pPr algn="l">
              <a:spcBef>
                <a:spcPts val="400"/>
              </a:spcBef>
              <a:spcAft>
                <a:spcPts val="400"/>
              </a:spcAft>
              <a:defRPr sz="1400">
                <a:solidFill>
                  <a:srgbClr val="333333"/>
                </a:solidFill>
                <a:latin typeface="Century Gothic"/>
              </a:defRPr>
            </a:pPr>
            <a:r>
              <a:t>Professor adulto de meia-idade, barba curta, óculos, usando blazer, gesticulando enquanto orienta os estudantes</a:t>
            </a:r>
          </a:p>
          <a:p>
            <a:pPr algn="l">
              <a:spcBef>
                <a:spcPts val="400"/>
              </a:spcBef>
              <a:spcAft>
                <a:spcPts val="400"/>
              </a:spcAft>
              <a:defRPr sz="14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37: Resultado Gemini</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37A: Claude Code — Assistente de IA do Anthropic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Claude 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**Compreensão de Código** — Analisa, explica e corrige código em múltiplas linguagens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**Escrita Técnica** — Auxilia na documentação, criação de conteúdo técnico e comunicação clara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**Resolução de Problemas** — Ajuda a identificar bugs, otimizar algoritmos e melhorar lógica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**Conversação Natural** — Comunica-se de forma clara e acessível, não técnica demais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Code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**Foco** | Geral | Geral | Técnico/Programação |</a:t>
            </a:r>
          </a:p>
          <a:p>
            <a:pPr algn="l">
              <a:spcBef>
                <a:spcPts val="400"/>
              </a:spcBef>
              <a:spcAft>
                <a:spcPts val="400"/>
              </a:spcAft>
              <a:defRPr sz="1400">
                <a:solidFill>
                  <a:srgbClr val="333333"/>
                </a:solidFill>
                <a:latin typeface="Century Gothic"/>
              </a:defRPr>
            </a:pPr>
            <a:r>
              <a:t>| **Acesso Free** | Limitado | Sim | Sim (com limites) |</a:t>
            </a:r>
          </a:p>
          <a:p>
            <a:pPr algn="l">
              <a:spcBef>
                <a:spcPts val="400"/>
              </a:spcBef>
              <a:spcAft>
                <a:spcPts val="400"/>
              </a:spcAft>
              <a:defRPr sz="1400">
                <a:solidFill>
                  <a:srgbClr val="333333"/>
                </a:solidFill>
                <a:latin typeface="Century Gothic"/>
              </a:defRPr>
            </a:pPr>
            <a:r>
              <a:t>| **Melhor em Código** | ✓ | ✓ | ✓✓✓ |</a:t>
            </a:r>
          </a:p>
          <a:p>
            <a:pPr algn="l">
              <a:spcBef>
                <a:spcPts val="400"/>
              </a:spcBef>
              <a:spcAft>
                <a:spcPts val="400"/>
              </a:spcAft>
              <a:defRPr sz="1400">
                <a:solidFill>
                  <a:srgbClr val="333333"/>
                </a:solidFill>
                <a:latin typeface="Century Gothic"/>
              </a:defRPr>
            </a:pPr>
            <a:r>
              <a:t>| **Análise Técnica** | ✓ | ✓ | ✓✓✓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Casos de Uso em Educação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Revisão de código de alunos</a:t>
            </a:r>
          </a:p>
          <a:p>
            <a:pPr algn="l">
              <a:spcBef>
                <a:spcPts val="400"/>
              </a:spcBef>
              <a:spcAft>
                <a:spcPts val="400"/>
              </a:spcAft>
              <a:defRPr sz="1400">
                <a:solidFill>
                  <a:srgbClr val="333333"/>
                </a:solidFill>
                <a:latin typeface="Century Gothic"/>
              </a:defRPr>
            </a:pPr>
            <a:r>
              <a:t>- 🔍 Explicação de algoritmos complexos</a:t>
            </a:r>
          </a:p>
          <a:p>
            <a:pPr algn="l">
              <a:spcBef>
                <a:spcPts val="400"/>
              </a:spcBef>
              <a:spcAft>
                <a:spcPts val="400"/>
              </a:spcAft>
              <a:defRPr sz="1400">
                <a:solidFill>
                  <a:srgbClr val="333333"/>
                </a:solidFill>
                <a:latin typeface="Century Gothic"/>
              </a:defRPr>
            </a:pPr>
            <a:r>
              <a:t>- ✍️ Auxílio em trabalhos técnicos</a:t>
            </a:r>
          </a:p>
          <a:p>
            <a:pPr algn="l">
              <a:spcBef>
                <a:spcPts val="400"/>
              </a:spcBef>
              <a:spcAft>
                <a:spcPts val="400"/>
              </a:spcAft>
              <a:defRPr sz="1400">
                <a:solidFill>
                  <a:srgbClr val="333333"/>
                </a:solidFill>
                <a:latin typeface="Century Gothic"/>
              </a:defRPr>
            </a:pPr>
            <a:r>
              <a:t>- 🐛 Debugging e otimização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Claude Code em: https://claude.ai/code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37B: DeepSeek — Alternativa Chinesa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DeepSeek?</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DeepSeek é um modelo de IA desenvolvido pela empresa chinesa DeepSeek AI, com foco em raciocínio lógico e resolução de problemas matemáticos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**Raciocínio Matemático** — Excelente em cálculos e resolução de problemas matemáticos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**Custo Reduzido** — Modelo otimizado com menor custo computacional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Aberto** — Modelo open-source disponível para pesquisa e uso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**Performance Competitiva** — Resultados comparáveis a ChatGPT e Gemini em muitas tarefas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 DeepSeek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**Origem** | EUA | Google | EUA | China |</a:t>
            </a:r>
          </a:p>
          <a:p>
            <a:pPr algn="l">
              <a:spcBef>
                <a:spcPts val="400"/>
              </a:spcBef>
              <a:spcAft>
                <a:spcPts val="400"/>
              </a:spcAft>
              <a:defRPr sz="1400">
                <a:solidFill>
                  <a:srgbClr val="333333"/>
                </a:solidFill>
                <a:latin typeface="Century Gothic"/>
              </a:defRPr>
            </a:pPr>
            <a:r>
              <a:t>| **Foco** | Geral | Geral | Geral | Matemática |</a:t>
            </a:r>
          </a:p>
          <a:p>
            <a:pPr algn="l">
              <a:spcBef>
                <a:spcPts val="400"/>
              </a:spcBef>
              <a:spcAft>
                <a:spcPts val="400"/>
              </a:spcAft>
              <a:defRPr sz="1400">
                <a:solidFill>
                  <a:srgbClr val="333333"/>
                </a:solidFill>
                <a:latin typeface="Century Gothic"/>
              </a:defRPr>
            </a:pPr>
            <a:r>
              <a:t>| **Custo** | Pago | Freemium | Freemium | Gratuito |</a:t>
            </a:r>
          </a:p>
          <a:p>
            <a:pPr algn="l">
              <a:spcBef>
                <a:spcPts val="400"/>
              </a:spcBef>
              <a:spcAft>
                <a:spcPts val="400"/>
              </a:spcAft>
              <a:defRPr sz="1400">
                <a:solidFill>
                  <a:srgbClr val="333333"/>
                </a:solidFill>
                <a:latin typeface="Century Gothic"/>
              </a:defRPr>
            </a:pPr>
            <a:r>
              <a:t>| **Open-Source** | Não | Não | Não | Sim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Relevância Global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**Cenário Internacional:** DeepSeek representa a diversificação global de IA além de EUA e Google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**Pesquisa Aberta:** Modelo disponível para pesquisa científica sem restrições comerciais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**Competição Saudável:** Impulsiona inovação ao oferecer alternativa com diferentes abordagens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DeepSeek em: https://www.deepseek.com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38: ChatBots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São como assistentes digitais que respondem, aprendem e agilizam tarefas sem você levantar da cadeira</a:t>
            </a:r>
          </a:p>
          <a:p>
            <a:pPr algn="l">
              <a:spcBef>
                <a:spcPts val="400"/>
              </a:spcBef>
              <a:spcAft>
                <a:spcPts val="400"/>
              </a:spcAft>
              <a:defRPr sz="1400">
                <a:solidFill>
                  <a:srgbClr val="333333"/>
                </a:solidFill>
                <a:latin typeface="Century Gothic"/>
              </a:defRPr>
            </a:pPr>
            <a:r>
              <a:t>Eles já estão no seu bolso: WhatsApp, Instagram, suporte técnico, jogos e apps que você usa todo dia.</a:t>
            </a:r>
          </a:p>
          <a:p>
            <a:pPr algn="l">
              <a:spcBef>
                <a:spcPts val="400"/>
              </a:spcBef>
              <a:spcAft>
                <a:spcPts val="400"/>
              </a:spcAft>
              <a:defRPr sz="1400">
                <a:solidFill>
                  <a:srgbClr val="333333"/>
                </a:solidFill>
                <a:latin typeface="Century Gothic"/>
              </a:defRPr>
            </a:pPr>
            <a:r>
              <a:t>Hoje você vai criar um, não só usar.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39: Essencial para um bom Prompt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 Objetivo do Bot</a:t>
            </a:r>
          </a:p>
          <a:p>
            <a:pPr algn="l">
              <a:spcBef>
                <a:spcPts val="400"/>
              </a:spcBef>
              <a:spcAft>
                <a:spcPts val="400"/>
              </a:spcAft>
              <a:defRPr sz="1400">
                <a:solidFill>
                  <a:srgbClr val="333333"/>
                </a:solidFill>
                <a:latin typeface="Century Gothic"/>
              </a:defRPr>
            </a:pPr>
            <a:r>
              <a:t>Pra que ele existe? O que ele resolve?</a:t>
            </a:r>
          </a:p>
          <a:p>
            <a:pPr algn="l">
              <a:spcBef>
                <a:spcPts val="400"/>
              </a:spcBef>
              <a:spcAft>
                <a:spcPts val="400"/>
              </a:spcAft>
              <a:defRPr sz="1400">
                <a:solidFill>
                  <a:srgbClr val="333333"/>
                </a:solidFill>
                <a:latin typeface="Century Gothic"/>
              </a:defRPr>
            </a:pPr>
            <a:r>
              <a:t>2. Persona e Tom de Voz</a:t>
            </a:r>
          </a:p>
          <a:p>
            <a:pPr algn="l">
              <a:spcBef>
                <a:spcPts val="400"/>
              </a:spcBef>
              <a:spcAft>
                <a:spcPts val="400"/>
              </a:spcAft>
              <a:defRPr sz="1400">
                <a:solidFill>
                  <a:srgbClr val="333333"/>
                </a:solidFill>
                <a:latin typeface="Century Gothic"/>
              </a:defRPr>
            </a:pPr>
            <a:r>
              <a:t>Como ele fala? Formal, técnico, engraçado, institucional?</a:t>
            </a:r>
          </a:p>
          <a:p>
            <a:pPr algn="l">
              <a:spcBef>
                <a:spcPts val="400"/>
              </a:spcBef>
              <a:spcAft>
                <a:spcPts val="400"/>
              </a:spcAft>
              <a:defRPr sz="1400">
                <a:solidFill>
                  <a:srgbClr val="333333"/>
                </a:solidFill>
                <a:latin typeface="Century Gothic"/>
              </a:defRPr>
            </a:pPr>
            <a:r>
              <a:t>3. Regras e Limites</a:t>
            </a:r>
          </a:p>
          <a:p>
            <a:pPr algn="l">
              <a:spcBef>
                <a:spcPts val="400"/>
              </a:spcBef>
              <a:spcAft>
                <a:spcPts val="400"/>
              </a:spcAft>
              <a:defRPr sz="1400">
                <a:solidFill>
                  <a:srgbClr val="333333"/>
                </a:solidFill>
                <a:latin typeface="Century Gothic"/>
              </a:defRPr>
            </a:pPr>
            <a:r>
              <a:t>O que pode responder? O que não pode? Quando deve redirecionar?</a:t>
            </a:r>
          </a:p>
          <a:p>
            <a:pPr algn="l">
              <a:spcBef>
                <a:spcPts val="400"/>
              </a:spcBef>
              <a:spcAft>
                <a:spcPts val="400"/>
              </a:spcAft>
              <a:defRPr sz="1400">
                <a:solidFill>
                  <a:srgbClr val="333333"/>
                </a:solidFill>
                <a:latin typeface="Century Gothic"/>
              </a:defRPr>
            </a:pPr>
            <a:r>
              <a:t>4. Base de Conhecimento</a:t>
            </a:r>
          </a:p>
          <a:p>
            <a:pPr algn="l">
              <a:spcBef>
                <a:spcPts val="400"/>
              </a:spcBef>
              <a:spcAft>
                <a:spcPts val="400"/>
              </a:spcAft>
              <a:defRPr sz="1400">
                <a:solidFill>
                  <a:srgbClr val="333333"/>
                </a:solidFill>
                <a:latin typeface="Century Gothic"/>
              </a:defRPr>
            </a:pPr>
            <a:r>
              <a:t>Quais informações ele deve usar? PDF? Manual? Conteúdo colado no prompt?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40: Exemplo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NOME: Assistente Institucional SENAI Rio do Sul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a:t>
            </a:r>
          </a:p>
          <a:p>
            <a:pPr algn="l">
              <a:spcBef>
                <a:spcPts val="400"/>
              </a:spcBef>
              <a:spcAft>
                <a:spcPts val="400"/>
              </a:spcAft>
              <a:defRPr sz="14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PERSONA E TOM:</a:t>
            </a:r>
          </a:p>
          <a:p>
            <a:pPr algn="l">
              <a:spcBef>
                <a:spcPts val="400"/>
              </a:spcBef>
              <a:spcAft>
                <a:spcPts val="400"/>
              </a:spcAft>
              <a:defRPr sz="1400">
                <a:solidFill>
                  <a:srgbClr val="333333"/>
                </a:solidFill>
                <a:latin typeface="Century Gothic"/>
              </a:defRPr>
            </a:pPr>
            <a:r>
              <a:t>- Formal e institucional.</a:t>
            </a:r>
          </a:p>
          <a:p>
            <a:pPr algn="l">
              <a:spcBef>
                <a:spcPts val="400"/>
              </a:spcBef>
              <a:spcAft>
                <a:spcPts val="400"/>
              </a:spcAft>
              <a:defRPr sz="1400">
                <a:solidFill>
                  <a:srgbClr val="333333"/>
                </a:solidFill>
                <a:latin typeface="Century Gothic"/>
              </a:defRPr>
            </a:pPr>
            <a:r>
              <a:t>- Educado, cordial e acolhedor.</a:t>
            </a:r>
          </a:p>
          <a:p>
            <a:pPr algn="l">
              <a:spcBef>
                <a:spcPts val="400"/>
              </a:spcBef>
              <a:spcAft>
                <a:spcPts val="400"/>
              </a:spcAft>
              <a:defRPr sz="1400">
                <a:solidFill>
                  <a:srgbClr val="333333"/>
                </a:solidFill>
                <a:latin typeface="Century Gothic"/>
              </a:defRPr>
            </a:pPr>
            <a:r>
              <a:t>- Linguagem clara, objetiva e sem informalidade excessiva.</a:t>
            </a:r>
          </a:p>
          <a:p>
            <a:pPr algn="l">
              <a:spcBef>
                <a:spcPts val="400"/>
              </a:spcBef>
              <a:spcAft>
                <a:spcPts val="400"/>
              </a:spcAft>
              <a:defRPr sz="1400">
                <a:solidFill>
                  <a:srgbClr val="333333"/>
                </a:solidFill>
                <a:latin typeface="Century Gothic"/>
              </a:defRPr>
            </a:pPr>
            <a:r>
              <a:t>- Representa oficialmente a instituição.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ESCORE DE CONTEÚDO (USE COMO BASE):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r>
              <a:t>- Tratamento igualitário e sem discriminação.</a:t>
            </a:r>
          </a:p>
          <a:p>
            <a:pPr algn="l">
              <a:spcBef>
                <a:spcPts val="400"/>
              </a:spcBef>
              <a:spcAft>
                <a:spcPts val="400"/>
              </a:spcAft>
              <a:defRPr sz="1400">
                <a:solidFill>
                  <a:srgbClr val="333333"/>
                </a:solidFill>
                <a:latin typeface="Century Gothic"/>
              </a:defRPr>
            </a:pPr>
            <a:r>
              <a:t>- Acesso a informações de desempenho e frequência.</a:t>
            </a:r>
          </a:p>
          <a:p>
            <a:pPr algn="l">
              <a:spcBef>
                <a:spcPts val="400"/>
              </a:spcBef>
              <a:spcAft>
                <a:spcPts val="400"/>
              </a:spcAft>
              <a:defRPr sz="1400">
                <a:solidFill>
                  <a:srgbClr val="333333"/>
                </a:solidFill>
                <a:latin typeface="Century Gothic"/>
              </a:defRPr>
            </a:pPr>
            <a:r>
              <a:t>- Uso de biblioteca e laboratórios conforme regras.</a:t>
            </a:r>
          </a:p>
          <a:p>
            <a:pPr algn="l">
              <a:spcBef>
                <a:spcPts val="400"/>
              </a:spcBef>
              <a:spcAft>
                <a:spcPts val="400"/>
              </a:spcAft>
              <a:defRPr sz="1400">
                <a:solidFill>
                  <a:srgbClr val="333333"/>
                </a:solidFill>
                <a:latin typeface="Century Gothic"/>
              </a:defRPr>
            </a:pPr>
            <a:r>
              <a:t>- Justificativa de ausências dentro do prazo.</a:t>
            </a:r>
          </a:p>
          <a:p>
            <a:pPr algn="l">
              <a:spcBef>
                <a:spcPts val="400"/>
              </a:spcBef>
              <a:spcAft>
                <a:spcPts val="400"/>
              </a:spcAft>
              <a:defRPr sz="1400">
                <a:solidFill>
                  <a:srgbClr val="333333"/>
                </a:solidFill>
                <a:latin typeface="Century Gothic"/>
              </a:defRPr>
            </a:pPr>
            <a:r>
              <a:t>- Participação em eventos e representação discente.</a:t>
            </a:r>
          </a:p>
          <a:p>
            <a:pPr algn="l">
              <a:spcBef>
                <a:spcPts val="400"/>
              </a:spcBef>
              <a:spcAft>
                <a:spcPts val="400"/>
              </a:spcAft>
              <a:defRPr sz="1400">
                <a:solidFill>
                  <a:srgbClr val="333333"/>
                </a:solidFill>
                <a:latin typeface="Century Gothic"/>
              </a:defRPr>
            </a:pPr>
            <a:r>
              <a:t>- Solicitação de documentos e trâmites formais dentro dos prazos.</a:t>
            </a:r>
          </a:p>
          <a:p>
            <a:pPr algn="l">
              <a:spcBef>
                <a:spcPts val="400"/>
              </a:spcBef>
              <a:spcAft>
                <a:spcPts val="400"/>
              </a:spcAft>
              <a:defRPr sz="1400">
                <a:solidFill>
                  <a:srgbClr val="333333"/>
                </a:solidFill>
                <a:latin typeface="Century Gothic"/>
              </a:defRPr>
            </a:pPr>
            <a:r>
              <a:t>- Direito de sugerir melhorias e se expressar institucionalmente.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r>
              <a:t>- Zelar pelos equipamentos e patrimônio.</a:t>
            </a:r>
          </a:p>
          <a:p>
            <a:pPr algn="l">
              <a:spcBef>
                <a:spcPts val="400"/>
              </a:spcBef>
              <a:spcAft>
                <a:spcPts val="400"/>
              </a:spcAft>
              <a:defRPr sz="1400">
                <a:solidFill>
                  <a:srgbClr val="333333"/>
                </a:solidFill>
                <a:latin typeface="Century Gothic"/>
              </a:defRPr>
            </a:pPr>
            <a:r>
              <a:t>- Usar EPIs e respeitar regras de segurança.</a:t>
            </a:r>
          </a:p>
          <a:p>
            <a:pPr algn="l">
              <a:spcBef>
                <a:spcPts val="400"/>
              </a:spcBef>
              <a:spcAft>
                <a:spcPts val="400"/>
              </a:spcAft>
              <a:defRPr sz="1400">
                <a:solidFill>
                  <a:srgbClr val="333333"/>
                </a:solidFill>
                <a:latin typeface="Century Gothic"/>
              </a:defRPr>
            </a:pPr>
            <a:r>
              <a:t>- Manter dados atualizados.</a:t>
            </a:r>
          </a:p>
          <a:p>
            <a:pPr algn="l">
              <a:spcBef>
                <a:spcPts val="400"/>
              </a:spcBef>
              <a:spcAft>
                <a:spcPts val="400"/>
              </a:spcAft>
              <a:defRPr sz="1400">
                <a:solidFill>
                  <a:srgbClr val="333333"/>
                </a:solidFill>
                <a:latin typeface="Century Gothic"/>
              </a:defRPr>
            </a:pPr>
            <a:r>
              <a:t>- Cumprir prazos acadêmicos.</a:t>
            </a:r>
          </a:p>
          <a:p>
            <a:pPr algn="l">
              <a:spcBef>
                <a:spcPts val="400"/>
              </a:spcBef>
              <a:spcAft>
                <a:spcPts val="400"/>
              </a:spcAft>
              <a:defRPr sz="1400">
                <a:solidFill>
                  <a:srgbClr val="333333"/>
                </a:solidFill>
                <a:latin typeface="Century Gothic"/>
              </a:defRPr>
            </a:pPr>
            <a:r>
              <a:t>- Manter conduta ética e respeitosa.</a:t>
            </a:r>
          </a:p>
          <a:p>
            <a:pPr algn="l">
              <a:spcBef>
                <a:spcPts val="400"/>
              </a:spcBef>
              <a:spcAft>
                <a:spcPts val="400"/>
              </a:spcAft>
              <a:defRPr sz="1400">
                <a:solidFill>
                  <a:srgbClr val="333333"/>
                </a:solidFill>
                <a:latin typeface="Century Gothic"/>
              </a:defRPr>
            </a:pPr>
            <a:r>
              <a:t>- Respeitar uso adequado de tecnologia e espaços.</a:t>
            </a:r>
          </a:p>
          <a:p>
            <a:pPr algn="l">
              <a:spcBef>
                <a:spcPts val="400"/>
              </a:spcBef>
              <a:spcAft>
                <a:spcPts val="400"/>
              </a:spcAft>
              <a:defRPr sz="1400">
                <a:solidFill>
                  <a:srgbClr val="333333"/>
                </a:solidFill>
                <a:latin typeface="Century Gothic"/>
              </a:defRPr>
            </a:pPr>
            <a:r>
              <a:t>- Não acessar ambientes práticos sem permissão.</a:t>
            </a:r>
          </a:p>
          <a:p>
            <a:pPr algn="l">
              <a:spcBef>
                <a:spcPts val="400"/>
              </a:spcBef>
              <a:spcAft>
                <a:spcPts val="400"/>
              </a:spcAft>
              <a:defRPr sz="1400">
                <a:solidFill>
                  <a:srgbClr val="333333"/>
                </a:solidFill>
                <a:latin typeface="Century Gothic"/>
              </a:defRPr>
            </a:pPr>
            <a:r>
              <a:t>- Preservar imagem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PROIBIÇÕES:</a:t>
            </a:r>
          </a:p>
          <a:p>
            <a:pPr algn="l">
              <a:spcBef>
                <a:spcPts val="400"/>
              </a:spcBef>
              <a:spcAft>
                <a:spcPts val="400"/>
              </a:spcAft>
              <a:defRPr sz="1400">
                <a:solidFill>
                  <a:srgbClr val="333333"/>
                </a:solidFill>
                <a:latin typeface="Century Gothic"/>
              </a:defRPr>
            </a:pPr>
            <a:r>
              <a:t>- Levar armas, perigosos ou objetos nocivos.</a:t>
            </a:r>
          </a:p>
          <a:p>
            <a:pPr algn="l">
              <a:spcBef>
                <a:spcPts val="400"/>
              </a:spcBef>
              <a:spcAft>
                <a:spcPts val="400"/>
              </a:spcAft>
              <a:defRPr sz="1400">
                <a:solidFill>
                  <a:srgbClr val="333333"/>
                </a:solidFill>
                <a:latin typeface="Century Gothic"/>
              </a:defRPr>
            </a:pPr>
            <a:r>
              <a:t>- Comida em salas, laboratórios e biblioteca.</a:t>
            </a:r>
          </a:p>
          <a:p>
            <a:pPr algn="l">
              <a:spcBef>
                <a:spcPts val="400"/>
              </a:spcBef>
              <a:spcAft>
                <a:spcPts val="400"/>
              </a:spcAft>
              <a:defRPr sz="1400">
                <a:solidFill>
                  <a:srgbClr val="333333"/>
                </a:solidFill>
                <a:latin typeface="Century Gothic"/>
              </a:defRPr>
            </a:pPr>
            <a:r>
              <a:t>- Danificar patrimônio propositalmente.</a:t>
            </a:r>
          </a:p>
          <a:p>
            <a:pPr algn="l">
              <a:spcBef>
                <a:spcPts val="400"/>
              </a:spcBef>
              <a:spcAft>
                <a:spcPts val="400"/>
              </a:spcAft>
              <a:defRPr sz="1400">
                <a:solidFill>
                  <a:srgbClr val="333333"/>
                </a:solidFill>
                <a:latin typeface="Century Gothic"/>
              </a:defRPr>
            </a:pPr>
            <a:r>
              <a:t>- Entrar em ambientes restritos sem EPIs.</a:t>
            </a:r>
          </a:p>
          <a:p>
            <a:pPr algn="l">
              <a:spcBef>
                <a:spcPts val="400"/>
              </a:spcBef>
              <a:spcAft>
                <a:spcPts val="400"/>
              </a:spcAft>
              <a:defRPr sz="1400">
                <a:solidFill>
                  <a:srgbClr val="333333"/>
                </a:solidFill>
                <a:latin typeface="Century Gothic"/>
              </a:defRPr>
            </a:pPr>
            <a:r>
              <a:t>- Comercialização dentro do ambiente escolar.</a:t>
            </a:r>
          </a:p>
          <a:p>
            <a:pPr algn="l">
              <a:spcBef>
                <a:spcPts val="400"/>
              </a:spcBef>
              <a:spcAft>
                <a:spcPts val="400"/>
              </a:spcAft>
              <a:defRPr sz="1400">
                <a:solidFill>
                  <a:srgbClr val="333333"/>
                </a:solidFill>
                <a:latin typeface="Century Gothic"/>
              </a:defRPr>
            </a:pPr>
            <a:r>
              <a:t>- Drogas, álcool ou presença sob influência.</a:t>
            </a:r>
          </a:p>
          <a:p>
            <a:pPr algn="l">
              <a:spcBef>
                <a:spcPts val="400"/>
              </a:spcBef>
              <a:spcAft>
                <a:spcPts val="400"/>
              </a:spcAft>
              <a:defRPr sz="1400">
                <a:solidFill>
                  <a:srgbClr val="333333"/>
                </a:solidFill>
                <a:latin typeface="Century Gothic"/>
              </a:defRPr>
            </a:pPr>
            <a:r>
              <a:t>- Conteúdo inadequado em sistemas institucionais.</a:t>
            </a:r>
          </a:p>
          <a:p>
            <a:pPr algn="l">
              <a:spcBef>
                <a:spcPts val="400"/>
              </a:spcBef>
              <a:spcAft>
                <a:spcPts val="400"/>
              </a:spcAft>
              <a:defRPr sz="1400">
                <a:solidFill>
                  <a:srgbClr val="333333"/>
                </a:solidFill>
                <a:latin typeface="Century Gothic"/>
              </a:defRPr>
            </a:pPr>
            <a:r>
              <a:t>- Trazer terceiros sem autorização.</a:t>
            </a:r>
          </a:p>
          <a:p>
            <a:pPr algn="l">
              <a:spcBef>
                <a:spcPts val="400"/>
              </a:spcBef>
              <a:spcAft>
                <a:spcPts val="400"/>
              </a:spcAft>
              <a:defRPr sz="1400">
                <a:solidFill>
                  <a:srgbClr val="333333"/>
                </a:solidFill>
                <a:latin typeface="Century Gothic"/>
              </a:defRPr>
            </a:pPr>
            <a:r>
              <a:t>- Vestimenta inadequada para segurança.</a:t>
            </a:r>
          </a:p>
          <a:p>
            <a:pPr algn="l">
              <a:spcBef>
                <a:spcPts val="400"/>
              </a:spcBef>
              <a:spcAft>
                <a:spcPts val="400"/>
              </a:spcAft>
              <a:defRPr sz="1400">
                <a:solidFill>
                  <a:srgbClr val="333333"/>
                </a:solidFill>
                <a:latin typeface="Century Gothic"/>
              </a:defRPr>
            </a:pPr>
            <a:r>
              <a:t>- Violência, bullying, hostilidade e discriminação.</a:t>
            </a:r>
          </a:p>
          <a:p>
            <a:pPr algn="l">
              <a:spcBef>
                <a:spcPts val="400"/>
              </a:spcBef>
              <a:spcAft>
                <a:spcPts val="400"/>
              </a:spcAft>
              <a:defRPr sz="1400">
                <a:solidFill>
                  <a:srgbClr val="333333"/>
                </a:solidFill>
                <a:latin typeface="Century Gothic"/>
              </a:defRPr>
            </a:pPr>
            <a:r>
              <a:t>- Usar nome da instituição sem autorização.</a:t>
            </a:r>
          </a:p>
          <a:p>
            <a:pPr algn="l">
              <a:spcBef>
                <a:spcPts val="400"/>
              </a:spcBef>
              <a:spcAft>
                <a:spcPts val="400"/>
              </a:spcAft>
              <a:defRPr sz="1400">
                <a:solidFill>
                  <a:srgbClr val="333333"/>
                </a:solidFill>
                <a:latin typeface="Century Gothic"/>
              </a:defRPr>
            </a:pPr>
            <a:r>
              <a:t>- Apropriação indevida de bens.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MEDIDAS PEDAGÓGICAS:</a:t>
            </a:r>
          </a:p>
          <a:p>
            <a:pPr algn="l">
              <a:spcBef>
                <a:spcPts val="400"/>
              </a:spcBef>
              <a:spcAft>
                <a:spcPts val="400"/>
              </a:spcAft>
              <a:defRPr sz="1400">
                <a:solidFill>
                  <a:srgbClr val="333333"/>
                </a:solidFill>
                <a:latin typeface="Century Gothic"/>
              </a:defRPr>
            </a:pPr>
            <a:r>
              <a:t>- Orientação educativa.</a:t>
            </a:r>
          </a:p>
          <a:p>
            <a:pPr algn="l">
              <a:spcBef>
                <a:spcPts val="400"/>
              </a:spcBef>
              <a:spcAft>
                <a:spcPts val="400"/>
              </a:spcAft>
              <a:defRPr sz="1400">
                <a:solidFill>
                  <a:srgbClr val="333333"/>
                </a:solidFill>
                <a:latin typeface="Century Gothic"/>
              </a:defRPr>
            </a:pPr>
            <a:r>
              <a:t>- Encaminhamento pedagógico.</a:t>
            </a:r>
          </a:p>
          <a:p>
            <a:pPr algn="l">
              <a:spcBef>
                <a:spcPts val="400"/>
              </a:spcBef>
              <a:spcAft>
                <a:spcPts val="400"/>
              </a:spcAft>
              <a:defRPr sz="1400">
                <a:solidFill>
                  <a:srgbClr val="333333"/>
                </a:solidFill>
                <a:latin typeface="Century Gothic"/>
              </a:defRPr>
            </a:pPr>
            <a:r>
              <a:t>- Advertência verbal.</a:t>
            </a:r>
          </a:p>
          <a:p>
            <a:pPr algn="l">
              <a:spcBef>
                <a:spcPts val="400"/>
              </a:spcBef>
              <a:spcAft>
                <a:spcPts val="400"/>
              </a:spcAft>
              <a:defRPr sz="1400">
                <a:solidFill>
                  <a:srgbClr val="333333"/>
                </a:solidFill>
                <a:latin typeface="Century Gothic"/>
              </a:defRPr>
            </a:pPr>
            <a:r>
              <a:t>- Advertência escrita (registrada).</a:t>
            </a:r>
          </a:p>
          <a:p>
            <a:pPr algn="l">
              <a:spcBef>
                <a:spcPts val="400"/>
              </a:spcBef>
              <a:spcAft>
                <a:spcPts val="400"/>
              </a:spcAft>
              <a:defRPr sz="1400">
                <a:solidFill>
                  <a:srgbClr val="333333"/>
                </a:solidFill>
                <a:latin typeface="Century Gothic"/>
              </a:defRPr>
            </a:pPr>
            <a:r>
              <a:t>- Suspensão (1 a 3 dias, com falta registrada).</a:t>
            </a:r>
          </a:p>
          <a:p>
            <a:pPr algn="l">
              <a:spcBef>
                <a:spcPts val="400"/>
              </a:spcBef>
              <a:spcAft>
                <a:spcPts val="400"/>
              </a:spcAft>
              <a:defRPr sz="1400">
                <a:solidFill>
                  <a:srgbClr val="333333"/>
                </a:solidFill>
                <a:latin typeface="Century Gothic"/>
              </a:defRPr>
            </a:pPr>
            <a:r>
              <a:t>- Transferência involuntária em casos graves.</a:t>
            </a:r>
          </a:p>
          <a:p>
            <a:pPr algn="l">
              <a:spcBef>
                <a:spcPts val="400"/>
              </a:spcBef>
              <a:spcAft>
                <a:spcPts val="400"/>
              </a:spcAft>
              <a:defRPr sz="1400">
                <a:solidFill>
                  <a:srgbClr val="333333"/>
                </a:solidFill>
                <a:latin typeface="Century Gothic"/>
              </a:defRPr>
            </a:pPr>
            <a:r>
              <a:t>- Medidas proporcionais, progressivas e registradas.</a:t>
            </a:r>
          </a:p>
          <a:p>
            <a:pPr algn="l">
              <a:spcBef>
                <a:spcPts val="400"/>
              </a:spcBef>
              <a:spcAft>
                <a:spcPts val="400"/>
              </a:spcAft>
              <a:defRPr sz="1400">
                <a:solidFill>
                  <a:srgbClr val="333333"/>
                </a:solidFill>
                <a:latin typeface="Century Gothic"/>
              </a:defRPr>
            </a:pPr>
            <a:r>
              <a:t>- Responsáveis podem ser convocados.</a:t>
            </a:r>
          </a:p>
          <a:p>
            <a:pPr algn="l">
              <a:spcBef>
                <a:spcPts val="400"/>
              </a:spcBef>
              <a:spcAft>
                <a:spcPts val="400"/>
              </a:spcAft>
              <a:defRPr sz="1400">
                <a:solidFill>
                  <a:srgbClr val="333333"/>
                </a:solidFill>
                <a:latin typeface="Century Gothic"/>
              </a:defRPr>
            </a:pPr>
            <a:r>
              <a:t>- Possibilidade de revisão da medida.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REGRAS DE RESPOSTA:</a:t>
            </a:r>
          </a:p>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41: CONTEÚDO (USE COMO BASE):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42: REGRAS DE RESPOSTA: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Testar o Bot | Publicar como GPT | Criar Página FAQ | Converter para App |</a:t>
            </a:r>
          </a:p>
          <a:p>
            <a:pPr algn="l">
              <a:spcBef>
                <a:spcPts val="400"/>
              </a:spcBef>
              <a:spcAft>
                <a:spcPts val="400"/>
              </a:spcAft>
              <a:defRPr sz="1400">
                <a:solidFill>
                  <a:srgbClr val="333333"/>
                </a:solidFill>
                <a:latin typeface="Century Gothic"/>
              </a:defRPr>
            </a:pPr>
            <a:r>
              <a:t>| --- | --- | --- | --- | --- |</a:t>
            </a:r>
          </a:p>
          <a:p>
            <a:pPr algn="l">
              <a:spcBef>
                <a:spcPts val="400"/>
              </a:spcBef>
              <a:spcAft>
                <a:spcPts val="400"/>
              </a:spcAft>
              <a:defRPr sz="14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a:t>
            </a:r>
          </a:p>
          <a:p>
            <a:pPr algn="l">
              <a:spcBef>
                <a:spcPts val="400"/>
              </a:spcBef>
              <a:spcAft>
                <a:spcPts val="400"/>
              </a:spcAft>
              <a:defRPr sz="1400">
                <a:solidFill>
                  <a:srgbClr val="333333"/>
                </a:solidFill>
                <a:latin typeface="Century Gothic"/>
              </a:defRPr>
            </a:pPr>
            <a:r>
              <a:t>| Resultado: | Você já sai com a “versão validada” | ChatBot pronto para uso | Página online ou arquivo. | ChatBot implementado em App (ex.: whatsapp) |</a:t>
            </a:r>
          </a:p>
          <a:p>
            <a:pPr algn="l">
              <a:spcBef>
                <a:spcPts val="400"/>
              </a:spcBef>
              <a:spcAft>
                <a:spcPts val="400"/>
              </a:spcAft>
              <a:defRPr sz="1400">
                <a:solidFill>
                  <a:srgbClr val="333333"/>
                </a:solidFill>
                <a:latin typeface="Century Gothic"/>
              </a:defRPr>
            </a:pPr>
            <a:r>
              <a:t>| Nível de Complexidade: | Baixo | Média | Média | Alto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43: Próximos Passos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43A: Estratégias para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Desafio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Pedir para gerar 5000 palavras de uma vez pode resultar em texto repetitivo ou incompleto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Segmentar a tarefa melhora qualidade, clareza e controle do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1: Segmentação de Conteúdo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Dividir texto longo em seções menores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"Escreva um manual de 50 páginas sobre..."</a:t>
            </a:r>
          </a:p>
          <a:p>
            <a:pPr algn="l">
              <a:spcBef>
                <a:spcPts val="400"/>
              </a:spcBef>
              <a:spcAft>
                <a:spcPts val="400"/>
              </a:spcAft>
              <a:defRPr sz="1400">
                <a:solidFill>
                  <a:srgbClr val="333333"/>
                </a:solidFill>
                <a:latin typeface="Century Gothic"/>
              </a:defRPr>
            </a:pPr>
            <a:r>
              <a:t>✅ "Escreva a SEÇÃO 1 (10 páginas) sobre [tópico específico]..."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2: Uso de Templates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Definir estrutura clara antes de gerar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"Crie 3 parágrafos sobre [tema], cada um com:</a:t>
            </a:r>
          </a:p>
          <a:p>
            <a:pPr algn="l">
              <a:spcBef>
                <a:spcPts val="400"/>
              </a:spcBef>
              <a:spcAft>
                <a:spcPts val="400"/>
              </a:spcAft>
              <a:defRPr sz="1400">
                <a:solidFill>
                  <a:srgbClr val="333333"/>
                </a:solidFill>
                <a:latin typeface="Century Gothic"/>
              </a:defRPr>
            </a:pPr>
            <a:r>
              <a:t>- Introdução (1 frase)</a:t>
            </a:r>
          </a:p>
          <a:p>
            <a:pPr algn="l">
              <a:spcBef>
                <a:spcPts val="400"/>
              </a:spcBef>
              <a:spcAft>
                <a:spcPts val="400"/>
              </a:spcAft>
              <a:defRPr sz="1400">
                <a:solidFill>
                  <a:srgbClr val="333333"/>
                </a:solidFill>
                <a:latin typeface="Century Gothic"/>
              </a:defRPr>
            </a:pPr>
            <a:r>
              <a:t>- Desenvolvimento (3 sentenças)</a:t>
            </a:r>
          </a:p>
          <a:p>
            <a:pPr algn="l">
              <a:spcBef>
                <a:spcPts val="400"/>
              </a:spcBef>
              <a:spcAft>
                <a:spcPts val="400"/>
              </a:spcAft>
              <a:defRPr sz="1400">
                <a:solidFill>
                  <a:srgbClr val="333333"/>
                </a:solidFill>
                <a:latin typeface="Century Gothic"/>
              </a:defRPr>
            </a:pPr>
            <a:r>
              <a:t>- Conclusão (1 frase)"</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3: Contextualizando Informações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Fornecer contexto prévio para respostas mais relevantes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"Para um público de adolescentes, escreva sobre [tema]:</a:t>
            </a:r>
          </a:p>
          <a:p>
            <a:pPr algn="l">
              <a:spcBef>
                <a:spcPts val="400"/>
              </a:spcBef>
              <a:spcAft>
                <a:spcPts val="400"/>
              </a:spcAft>
              <a:defRPr sz="1400">
                <a:solidFill>
                  <a:srgbClr val="333333"/>
                </a:solidFill>
                <a:latin typeface="Century Gothic"/>
              </a:defRPr>
            </a:pPr>
            <a:r>
              <a:t>- Linguagem: simples e descontraída</a:t>
            </a:r>
          </a:p>
          <a:p>
            <a:pPr algn="l">
              <a:spcBef>
                <a:spcPts val="400"/>
              </a:spcBef>
              <a:spcAft>
                <a:spcPts val="400"/>
              </a:spcAft>
              <a:defRPr sz="1400">
                <a:solidFill>
                  <a:srgbClr val="333333"/>
                </a:solidFill>
                <a:latin typeface="Century Gothic"/>
              </a:defRPr>
            </a:pPr>
            <a:r>
              <a:t>- Exemplos: da realidade deles</a:t>
            </a:r>
          </a:p>
          <a:p>
            <a:pPr algn="l">
              <a:spcBef>
                <a:spcPts val="400"/>
              </a:spcBef>
              <a:spcAft>
                <a:spcPts val="400"/>
              </a:spcAft>
              <a:defRPr sz="1400">
                <a:solidFill>
                  <a:srgbClr val="333333"/>
                </a:solidFill>
                <a:latin typeface="Century Gothic"/>
              </a:defRPr>
            </a:pPr>
            <a:r>
              <a:t>- Comprimento: máximo 500 palavras"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4: Geração em Etapas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Fazer perguntas de forma progressiva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**Etapa 1:** Gerar outline/estrutura</a:t>
            </a:r>
          </a:p>
          <a:p>
            <a:pPr algn="l">
              <a:spcBef>
                <a:spcPts val="400"/>
              </a:spcBef>
              <a:spcAft>
                <a:spcPts val="400"/>
              </a:spcAft>
              <a:defRPr sz="1400">
                <a:solidFill>
                  <a:srgbClr val="333333"/>
                </a:solidFill>
                <a:latin typeface="Century Gothic"/>
              </a:defRPr>
            </a:pPr>
            <a:r>
              <a:t>**Etapa 2:** Expandir cada seção</a:t>
            </a:r>
          </a:p>
          <a:p>
            <a:pPr algn="l">
              <a:spcBef>
                <a:spcPts val="400"/>
              </a:spcBef>
              <a:spcAft>
                <a:spcPts val="400"/>
              </a:spcAft>
              <a:defRPr sz="1400">
                <a:solidFill>
                  <a:srgbClr val="333333"/>
                </a:solidFill>
                <a:latin typeface="Century Gothic"/>
              </a:defRPr>
            </a:pPr>
            <a:r>
              <a:t>**Etapa 3:** Refinar e editar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5: Revisão e Síntese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Pedir refinamento iterativo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"Com base no texto anterior, resuma em máximo 200 palavras mantendo ideias principais"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Exemplo Prático 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**Tarefa:** Criar um e-book de 20 páginas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**Abordagem Segmentada:**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 Outline de 20 capítulos (2 páginas cada)</a:t>
            </a:r>
          </a:p>
          <a:p>
            <a:pPr algn="l">
              <a:spcBef>
                <a:spcPts val="400"/>
              </a:spcBef>
              <a:spcAft>
                <a:spcPts val="400"/>
              </a:spcAft>
              <a:defRPr sz="1400">
                <a:solidFill>
                  <a:srgbClr val="333333"/>
                </a:solidFill>
                <a:latin typeface="Century Gothic"/>
              </a:defRPr>
            </a:pPr>
            <a:r>
              <a:t>2. ✔ Introdução e conclusão</a:t>
            </a:r>
          </a:p>
          <a:p>
            <a:pPr algn="l">
              <a:spcBef>
                <a:spcPts val="400"/>
              </a:spcBef>
              <a:spcAft>
                <a:spcPts val="400"/>
              </a:spcAft>
              <a:defRPr sz="1400">
                <a:solidFill>
                  <a:srgbClr val="333333"/>
                </a:solidFill>
                <a:latin typeface="Century Gothic"/>
              </a:defRPr>
            </a:pPr>
            <a:r>
              <a:t>3. ✔ Capítulo 1 completo (2 páginas)</a:t>
            </a:r>
          </a:p>
          <a:p>
            <a:pPr algn="l">
              <a:spcBef>
                <a:spcPts val="400"/>
              </a:spcBef>
              <a:spcAft>
                <a:spcPts val="400"/>
              </a:spcAft>
              <a:defRPr sz="1400">
                <a:solidFill>
                  <a:srgbClr val="333333"/>
                </a:solidFill>
                <a:latin typeface="Century Gothic"/>
              </a:defRPr>
            </a:pPr>
            <a:r>
              <a:t>4. ✔ Capítulo 2 completo (2 páginas)</a:t>
            </a:r>
          </a:p>
          <a:p>
            <a:pPr algn="l">
              <a:spcBef>
                <a:spcPts val="400"/>
              </a:spcBef>
              <a:spcAft>
                <a:spcPts val="400"/>
              </a:spcAft>
              <a:defRPr sz="1400">
                <a:solidFill>
                  <a:srgbClr val="333333"/>
                </a:solidFill>
                <a:latin typeface="Century Gothic"/>
              </a:defRPr>
            </a:pPr>
            <a:r>
              <a:t>5. ✔ [Repetir para cada capítulo]</a:t>
            </a:r>
          </a:p>
          <a:p>
            <a:pPr algn="l">
              <a:spcBef>
                <a:spcPts val="400"/>
              </a:spcBef>
              <a:spcAft>
                <a:spcPts val="400"/>
              </a:spcAft>
              <a:defRPr sz="1400">
                <a:solidFill>
                  <a:srgbClr val="333333"/>
                </a:solidFill>
                <a:latin typeface="Century Gothic"/>
              </a:defRPr>
            </a:pPr>
            <a:r>
              <a:t>6. ✔ Editar final e revisar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44: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45: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46: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47: Atividade Prática: Criação de Gems (Google)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**ATUALIZADO:** Agora usando Google Gems (Gratuito e Fácil)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Por que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**100% Gratuito** — Sem limite de uso (ao contrário de ChatGPT Custom Bots que é pago)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**Simples de Criar** — Interface intuitiva, sem necessidade de código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**Salva Automaticamente** — Sem perder configurações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Rápido** — Disponível em Google AI Studio (https://aistudio.google.com)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Desafio: Criar um Gem de Tutoria em Matemática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 Criar um Gem que responda dúvidas de matemática de forma clara e passo a passo.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**Escopo:** Operações, frações, porcentagem, equações básicas, regras de sinais.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**Cada dupla deve:**</a:t>
            </a:r>
          </a:p>
          <a:p>
            <a:pPr algn="l">
              <a:spcBef>
                <a:spcPts val="400"/>
              </a:spcBef>
              <a:spcAft>
                <a:spcPts val="400"/>
              </a:spcAft>
              <a:defRPr sz="1400">
                <a:solidFill>
                  <a:srgbClr val="333333"/>
                </a:solidFill>
                <a:latin typeface="Century Gothic"/>
              </a:defRPr>
            </a:pPr>
            <a:r>
              <a:t>1. Acessar https://aistudio.google.com</a:t>
            </a:r>
          </a:p>
          <a:p>
            <a:pPr algn="l">
              <a:spcBef>
                <a:spcPts val="400"/>
              </a:spcBef>
              <a:spcAft>
                <a:spcPts val="400"/>
              </a:spcAft>
              <a:defRPr sz="1400">
                <a:solidFill>
                  <a:srgbClr val="333333"/>
                </a:solidFill>
                <a:latin typeface="Century Gothic"/>
              </a:defRPr>
            </a:pPr>
            <a:r>
              <a:t>2. Criar um novo Gem (clique em “Create a Gem”)</a:t>
            </a:r>
          </a:p>
          <a:p>
            <a:pPr algn="l">
              <a:spcBef>
                <a:spcPts val="400"/>
              </a:spcBef>
              <a:spcAft>
                <a:spcPts val="400"/>
              </a:spcAft>
              <a:defRPr sz="1400">
                <a:solidFill>
                  <a:srgbClr val="333333"/>
                </a:solidFill>
                <a:latin typeface="Century Gothic"/>
              </a:defRPr>
            </a:pPr>
            <a:r>
              <a:t>3. Definir o nome (ex: “Tutor de Matemática — Porcentagem”)</a:t>
            </a:r>
          </a:p>
          <a:p>
            <a:pPr algn="l">
              <a:spcBef>
                <a:spcPts val="400"/>
              </a:spcBef>
              <a:spcAft>
                <a:spcPts val="400"/>
              </a:spcAft>
              <a:defRPr sz="1400">
                <a:solidFill>
                  <a:srgbClr val="333333"/>
                </a:solidFill>
                <a:latin typeface="Century Gothic"/>
              </a:defRPr>
            </a:pPr>
            <a:r>
              <a:t>4. Descrever a personalidade (ex: tutor paciente, professor sério, bot divertido)</a:t>
            </a:r>
          </a:p>
          <a:p>
            <a:pPr algn="l">
              <a:spcBef>
                <a:spcPts val="400"/>
              </a:spcBef>
              <a:spcAft>
                <a:spcPts val="400"/>
              </a:spcAft>
              <a:defRPr sz="1400">
                <a:solidFill>
                  <a:srgbClr val="333333"/>
                </a:solidFill>
                <a:latin typeface="Century Gothic"/>
              </a:defRPr>
            </a:pPr>
            <a:r>
              <a:t>5. Escrever instruções detalhadas (regras e exemplos)</a:t>
            </a:r>
          </a:p>
          <a:p>
            <a:pPr algn="l">
              <a:spcBef>
                <a:spcPts val="400"/>
              </a:spcBef>
              <a:spcAft>
                <a:spcPts val="400"/>
              </a:spcAft>
              <a:defRPr sz="1400">
                <a:solidFill>
                  <a:srgbClr val="333333"/>
                </a:solidFill>
                <a:latin typeface="Century Gothic"/>
              </a:defRPr>
            </a:pPr>
            <a:r>
              <a:t>6. Testar com perguntas matemáticas reais</a:t>
            </a:r>
          </a:p>
          <a:p>
            <a:pPr algn="l">
              <a:spcBef>
                <a:spcPts val="400"/>
              </a:spcBef>
              <a:spcAft>
                <a:spcPts val="400"/>
              </a:spcAft>
              <a:defRPr sz="1400">
                <a:solidFill>
                  <a:srgbClr val="333333"/>
                </a:solidFill>
                <a:latin typeface="Century Gothic"/>
              </a:defRPr>
            </a:pPr>
            <a:r>
              <a:t>7. Compartilhar o link do Gem com a turma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Resultados Esperados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Ao final da atividade, cada dupla terá um Gem funcional que: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Responde perguntas matemáticas de forma organizada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Explica o processo, não só 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Tem personalidade definida e consistente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 útil para estudo individual ou tutoria entre alunos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Está **100% gratuito** e acessível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Seu Gem fica salvo em: https://aistudio.google.com/app/mygems</a:t>
            </a:r>
          </a:p>
          <a:p>
            <a:pPr algn="l">
              <a:spcBef>
                <a:spcPts val="400"/>
              </a:spcBef>
              <a:spcAft>
                <a:spcPts val="400"/>
              </a:spcAft>
              <a:defRPr sz="1400">
                <a:solidFill>
                  <a:srgbClr val="333333"/>
                </a:solidFill>
                <a:latin typeface="Century Gothic"/>
              </a:defRPr>
            </a:pPr>
            <a:r>
              <a:t>2. Copie o link e compartilhe via email: **gelvazio.c@edu.sc.senai.br**</a:t>
            </a:r>
          </a:p>
          <a:p>
            <a:pPr algn="l">
              <a:spcBef>
                <a:spcPts val="400"/>
              </a:spcBef>
              <a:spcAft>
                <a:spcPts val="400"/>
              </a:spcAft>
              <a:defRPr sz="1400">
                <a:solidFill>
                  <a:srgbClr val="333333"/>
                </a:solidFill>
                <a:latin typeface="Century Gothic"/>
              </a:defRPr>
            </a:pPr>
            <a:r>
              <a:t>3. Ou exporte como link público se desejar compartilhar com colegas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48: Encerramento!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Usem com moderação para fazer tarefas operacionais e aprender sempre!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49: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64008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6400800" cy="914400"/>
          </a:xfrm>
          <a:prstGeom prst="rect">
            <a:avLst/>
          </a:prstGeom>
          <a:noFill/>
        </p:spPr>
        <p:txBody>
          <a:bodyPr wrap="square" anchor="ctr">
            <a:spAutoFit/>
          </a:bodyPr>
          <a:lstStyle/>
          <a:p>
            <a:pPr algn="l">
              <a:defRPr sz="3600" b="1">
                <a:solidFill>
                  <a:srgbClr val="008AD1"/>
                </a:solidFill>
                <a:latin typeface="Century Gothic"/>
              </a:defRPr>
            </a:pPr>
            <a:r>
              <a:t>SLIDE 50: Referências Finais — Próximos Passos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 Ferramentas Recomendadas (100% Gratuitas)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Ferramenta | Acesso | Melhor Para | Link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**ChatGPT** | Freemium | Geral, redação | https://chat.openai.com |</a:t>
            </a:r>
          </a:p>
          <a:p>
            <a:pPr algn="l">
              <a:spcBef>
                <a:spcPts val="400"/>
              </a:spcBef>
              <a:spcAft>
                <a:spcPts val="400"/>
              </a:spcAft>
              <a:defRPr sz="1400">
                <a:solidFill>
                  <a:srgbClr val="333333"/>
                </a:solidFill>
                <a:latin typeface="Century Gothic"/>
              </a:defRPr>
            </a:pPr>
            <a:r>
              <a:t>| **Google Gems** | Gratuito | Assistentes personalizados | https://aistudio.google.com |</a:t>
            </a:r>
          </a:p>
          <a:p>
            <a:pPr algn="l">
              <a:spcBef>
                <a:spcPts val="400"/>
              </a:spcBef>
              <a:spcAft>
                <a:spcPts val="400"/>
              </a:spcAft>
              <a:defRPr sz="1400">
                <a:solidFill>
                  <a:srgbClr val="333333"/>
                </a:solidFill>
                <a:latin typeface="Century Gothic"/>
              </a:defRPr>
            </a:pPr>
            <a:r>
              <a:t>| **Gemini** | Gratuito | Análise, criatividade | https://gemini.google.com |</a:t>
            </a:r>
          </a:p>
          <a:p>
            <a:pPr algn="l">
              <a:spcBef>
                <a:spcPts val="400"/>
              </a:spcBef>
              <a:spcAft>
                <a:spcPts val="400"/>
              </a:spcAft>
              <a:defRPr sz="1400">
                <a:solidFill>
                  <a:srgbClr val="333333"/>
                </a:solidFill>
                <a:latin typeface="Century Gothic"/>
              </a:defRPr>
            </a:pPr>
            <a:r>
              <a:t>| **Claude Code** | Freemium | Programação, código | https://claude.ai/code |</a:t>
            </a:r>
          </a:p>
          <a:p>
            <a:pPr algn="l">
              <a:spcBef>
                <a:spcPts val="400"/>
              </a:spcBef>
              <a:spcAft>
                <a:spcPts val="400"/>
              </a:spcAft>
              <a:defRPr sz="1400">
                <a:solidFill>
                  <a:srgbClr val="333333"/>
                </a:solidFill>
                <a:latin typeface="Century Gothic"/>
              </a:defRPr>
            </a:pPr>
            <a:r>
              <a:t>| **DeepSeek** | Gratuito | Matemática, raciocínio | https://www.deepseek.com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Recursos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**Comunidades Online:**</a:t>
            </a:r>
          </a:p>
          <a:p>
            <a:pPr algn="l">
              <a:spcBef>
                <a:spcPts val="400"/>
              </a:spcBef>
              <a:spcAft>
                <a:spcPts val="400"/>
              </a:spcAft>
              <a:defRPr sz="1400">
                <a:solidFill>
                  <a:srgbClr val="333333"/>
                </a:solidFill>
                <a:latin typeface="Century Gothic"/>
              </a:defRPr>
            </a:pPr>
            <a:r>
              <a:t>- Reddit: r/ChatGPT, r/PromptEngineering</a:t>
            </a:r>
          </a:p>
          <a:p>
            <a:pPr algn="l">
              <a:spcBef>
                <a:spcPts val="400"/>
              </a:spcBef>
              <a:spcAft>
                <a:spcPts val="400"/>
              </a:spcAft>
              <a:defRPr sz="1400">
                <a:solidFill>
                  <a:srgbClr val="333333"/>
                </a:solidFill>
                <a:latin typeface="Century Gothic"/>
              </a:defRPr>
            </a:pPr>
            <a:r>
              <a:t>- Discord: Comunidades de IA e tecnologia</a:t>
            </a:r>
          </a:p>
          <a:p>
            <a:pPr algn="l">
              <a:spcBef>
                <a:spcPts val="400"/>
              </a:spcBef>
              <a:spcAft>
                <a:spcPts val="400"/>
              </a:spcAft>
              <a:defRPr sz="1400">
                <a:solidFill>
                  <a:srgbClr val="333333"/>
                </a:solidFill>
                <a:latin typeface="Century Gothic"/>
              </a:defRPr>
            </a:pPr>
            <a:r>
              <a:t>- GitHub: Projetos open-source com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**Documentação Oficial:**</a:t>
            </a:r>
          </a:p>
          <a:p>
            <a:pPr algn="l">
              <a:spcBef>
                <a:spcPts val="400"/>
              </a:spcBef>
              <a:spcAft>
                <a:spcPts val="400"/>
              </a:spcAft>
              <a:defRPr sz="1400">
                <a:solidFill>
                  <a:srgbClr val="333333"/>
                </a:solidFill>
                <a:latin typeface="Century Gothic"/>
              </a:defRPr>
            </a:pPr>
            <a:r>
              <a:t>- OpenAI Blog: https://openai.com/blog</a:t>
            </a:r>
          </a:p>
          <a:p>
            <a:pPr algn="l">
              <a:spcBef>
                <a:spcPts val="400"/>
              </a:spcBef>
              <a:spcAft>
                <a:spcPts val="400"/>
              </a:spcAft>
              <a:defRPr sz="1400">
                <a:solidFill>
                  <a:srgbClr val="333333"/>
                </a:solidFill>
                <a:latin typeface="Century Gothic"/>
              </a:defRPr>
            </a:pPr>
            <a:r>
              <a:t>- Google AI Blog: https://blog.google/technology/ai</a:t>
            </a:r>
          </a:p>
          <a:p>
            <a:pPr algn="l">
              <a:spcBef>
                <a:spcPts val="400"/>
              </a:spcBef>
              <a:spcAft>
                <a:spcPts val="400"/>
              </a:spcAft>
              <a:defRPr sz="1400">
                <a:solidFill>
                  <a:srgbClr val="333333"/>
                </a:solidFill>
                <a:latin typeface="Century Gothic"/>
              </a:defRPr>
            </a:pPr>
            <a:r>
              <a:t>- Anthropic Research: https://www.anthropic.com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Próximos Passos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**Nível 1 (Básico — 2-3 semanas)**</a:t>
            </a:r>
          </a:p>
          <a:p>
            <a:pPr algn="l">
              <a:spcBef>
                <a:spcPts val="400"/>
              </a:spcBef>
              <a:spcAft>
                <a:spcPts val="400"/>
              </a:spcAft>
              <a:defRPr sz="1400">
                <a:solidFill>
                  <a:srgbClr val="333333"/>
                </a:solidFill>
                <a:latin typeface="Century Gothic"/>
              </a:defRPr>
            </a:pPr>
            <a:r>
              <a:t>- ✔ Dominar criação de prompts simples</a:t>
            </a:r>
          </a:p>
          <a:p>
            <a:pPr algn="l">
              <a:spcBef>
                <a:spcPts val="400"/>
              </a:spcBef>
              <a:spcAft>
                <a:spcPts val="400"/>
              </a:spcAft>
              <a:defRPr sz="1400">
                <a:solidFill>
                  <a:srgbClr val="333333"/>
                </a:solidFill>
                <a:latin typeface="Century Gothic"/>
              </a:defRPr>
            </a:pPr>
            <a:r>
              <a:t>- ✔ Testar diferentes ferramentas</a:t>
            </a:r>
          </a:p>
          <a:p>
            <a:pPr algn="l">
              <a:spcBef>
                <a:spcPts val="400"/>
              </a:spcBef>
              <a:spcAft>
                <a:spcPts val="400"/>
              </a:spcAft>
              <a:defRPr sz="1400">
                <a:solidFill>
                  <a:srgbClr val="333333"/>
                </a:solidFill>
                <a:latin typeface="Century Gothic"/>
              </a:defRPr>
            </a:pPr>
            <a:r>
              <a:t>- ✔ Resolver problemas do dia a dia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2. **Nível 2 (Intermediário — 1-2 meses)**</a:t>
            </a:r>
          </a:p>
          <a:p>
            <a:pPr algn="l">
              <a:spcBef>
                <a:spcPts val="400"/>
              </a:spcBef>
              <a:spcAft>
                <a:spcPts val="400"/>
              </a:spcAft>
              <a:defRPr sz="1400">
                <a:solidFill>
                  <a:srgbClr val="333333"/>
                </a:solidFill>
                <a:latin typeface="Century Gothic"/>
              </a:defRPr>
            </a:pPr>
            <a:r>
              <a:t>- ✔ Criar Gems e assistentes personalizados</a:t>
            </a:r>
          </a:p>
          <a:p>
            <a:pPr algn="l">
              <a:spcBef>
                <a:spcPts val="400"/>
              </a:spcBef>
              <a:spcAft>
                <a:spcPts val="400"/>
              </a:spcAft>
              <a:defRPr sz="1400">
                <a:solidFill>
                  <a:srgbClr val="333333"/>
                </a:solidFill>
                <a:latin typeface="Century Gothic"/>
              </a:defRPr>
            </a:pPr>
            <a:r>
              <a:t>- ✔ Trabalhar com textos mais longos</a:t>
            </a:r>
          </a:p>
          <a:p>
            <a:pPr algn="l">
              <a:spcBef>
                <a:spcPts val="400"/>
              </a:spcBef>
              <a:spcAft>
                <a:spcPts val="400"/>
              </a:spcAft>
              <a:defRPr sz="1400">
                <a:solidFill>
                  <a:srgbClr val="333333"/>
                </a:solidFill>
                <a:latin typeface="Century Gothic"/>
              </a:defRPr>
            </a:pPr>
            <a:r>
              <a:t>- ✔ Integrar IA em projetos pessoais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3. **Nível 3 (Avançado — 3+ meses)**</a:t>
            </a:r>
          </a:p>
          <a:p>
            <a:pPr algn="l">
              <a:spcBef>
                <a:spcPts val="400"/>
              </a:spcBef>
              <a:spcAft>
                <a:spcPts val="400"/>
              </a:spcAft>
              <a:defRPr sz="1400">
                <a:solidFill>
                  <a:srgbClr val="333333"/>
                </a:solidFill>
                <a:latin typeface="Century Gothic"/>
              </a:defRPr>
            </a:pPr>
            <a:r>
              <a:t>- ✔ Fine-tuning de modelos</a:t>
            </a:r>
          </a:p>
          <a:p>
            <a:pPr algn="l">
              <a:spcBef>
                <a:spcPts val="400"/>
              </a:spcBef>
              <a:spcAft>
                <a:spcPts val="400"/>
              </a:spcAft>
              <a:defRPr sz="1400">
                <a:solidFill>
                  <a:srgbClr val="333333"/>
                </a:solidFill>
                <a:latin typeface="Century Gothic"/>
              </a:defRPr>
            </a:pPr>
            <a:r>
              <a:t>- ✔ APIs de IA em programação</a:t>
            </a:r>
          </a:p>
          <a:p>
            <a:pPr algn="l">
              <a:spcBef>
                <a:spcPts val="400"/>
              </a:spcBef>
              <a:spcAft>
                <a:spcPts val="400"/>
              </a:spcAft>
              <a:defRPr sz="1400">
                <a:solidFill>
                  <a:srgbClr val="333333"/>
                </a:solidFill>
                <a:latin typeface="Century Gothic"/>
              </a:defRPr>
            </a:pPr>
            <a:r>
              <a:t>- ✔ Desenvolvimento de soluções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Dicas Finais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**Use com Moderação** — IA é ferramenta, não substitui pensamento crítico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**Sempre Valide** — Nunca aceite respostas de IA sem questionar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**Cite Sempre** — Identifique quando usou IA (ética e transparência)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**Proteja Dados** — Nunca compartilhe informações pessoais ou sensíveis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**Continue Aprendendo** — Tecnologia muda rapidamente, fique atualizado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Contato para Dúvidas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**Professor Gelvazio Camargo**</a:t>
            </a:r>
          </a:p>
          <a:p>
            <a:pPr algn="l">
              <a:spcBef>
                <a:spcPts val="400"/>
              </a:spcBef>
              <a:spcAft>
                <a:spcPts val="400"/>
              </a:spcAft>
              <a:defRPr sz="1400">
                <a:solidFill>
                  <a:srgbClr val="333333"/>
                </a:solidFill>
                <a:latin typeface="Century Gothic"/>
              </a:defRPr>
            </a:pPr>
            <a:r>
              <a:t>- Email: gelvazio.c@edu.sc.senai.br</a:t>
            </a:r>
          </a:p>
          <a:p>
            <a:pPr algn="l">
              <a:spcBef>
                <a:spcPts val="400"/>
              </a:spcBef>
              <a:spcAft>
                <a:spcPts val="400"/>
              </a:spcAft>
              <a:defRPr sz="1400">
                <a:solidFill>
                  <a:srgbClr val="333333"/>
                </a:solidFill>
                <a:latin typeface="Century Gothic"/>
              </a:defRPr>
            </a:pPr>
            <a:r>
              <a:t>- Instituição: SENAI/SC — Joinville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ENCERRAMENTO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Você aprendeu sobre: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e como funciona Inteligência Artificial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Principais ferramentas: ChatGPT, Gemini, Claude, DeepSeek,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criar prompts eficientes e confiáveis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desenvolver ChatBots e assistentes personalizados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Estratégias para trabalhar com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Ética e segurança no uso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Agora cabe a você:</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**Explore**, **crie**, **inove** e **compartilhe** suas descobertas com o mundo!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**Usem com moderação, usem com inteligência, usem com responsabilidade!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**Apresentação finalizada — Digital Skills: Inteligência Artificial e ChatGPT**</a:t>
            </a:r>
          </a:p>
          <a:p>
            <a:pPr algn="l">
              <a:spcBef>
                <a:spcPts val="400"/>
              </a:spcBef>
              <a:spcAft>
                <a:spcPts val="400"/>
              </a:spcAft>
              <a:defRPr sz="1400">
                <a:solidFill>
                  <a:srgbClr val="333333"/>
                </a:solidFill>
                <a:latin typeface="Century Gothic"/>
              </a:defRPr>
            </a:pPr>
            <a:r>
              <a:t>**Versão 2.0 — Melhorada para 100% de Cobertura**</a:t>
            </a:r>
          </a:p>
          <a:p>
            <a:pPr algn="l">
              <a:spcBef>
                <a:spcPts val="400"/>
              </a:spcBef>
              <a:spcAft>
                <a:spcPts val="400"/>
              </a:spcAft>
              <a:defRPr sz="1400">
                <a:solidFill>
                  <a:srgbClr val="333333"/>
                </a:solidFill>
                <a:latin typeface="Century Gothic"/>
              </a:defRPr>
            </a:pPr>
            <a:r>
              <a:t>**Data: 17 de Setembro de 2026**</a:t>
            </a:r>
          </a:p>
          <a:p>
            <a:pPr algn="l">
              <a:spcBef>
                <a:spcPts val="400"/>
              </a:spcBef>
              <a:spcAft>
                <a:spcPts val="400"/>
              </a:spcAft>
              <a:defRPr sz="1400">
                <a:solidFill>
                  <a:srgbClr val="333333"/>
                </a:solidFill>
                <a:latin typeface="Century Gothic"/>
              </a:defRPr>
            </a:pPr>
            <a:r>
              <a:t>**Total de Slides: 54**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