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01: Formando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quem forma</a:t>
            </a:r>
          </a:p>
          <a:p>
            <a:pPr algn="l">
              <a:spcBef>
                <a:spcPts val="400"/>
              </a:spcBef>
              <a:spcAft>
                <a:spcPts val="400"/>
              </a:spcAft>
              <a:defRPr sz="1400">
                <a:solidFill>
                  <a:srgbClr val="333333"/>
                </a:solidFill>
                <a:latin typeface="Century Gothic"/>
              </a:defRPr>
            </a:pPr>
            <a:r>
              <a:t>a indústria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02: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03: Digital Skills: Inteligência Artificial e ChatGPT</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04: Apresentação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1986</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Analista de Desenvolvimento de Sistemas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Experiência de 16 anos com T.I.</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4 anos Analista de Qualidade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10 anos Desenvolvedor de Software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Desde Julho/2026 no Senai</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Prof. Gelvazio Camargo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05: Agenda</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07h15 Orientações iniciais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07h30 Exposição Dialogada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8h Atividade Individual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8h35 Desafios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09h30 Intervalo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09h50 Exposição Dialogada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10h10 Atividade em Dupla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06: Capacidades do Curso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 Compreender conceitos básicos de 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Familiarizar-se com modelos de linguagem e ChatGPT, implementar chatbot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07: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08: Quem nasceu primeiro?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O ovo ou a galinha?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09: Quem nasceu primeiro?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O ChatGPT ou Gemini?</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10: 2022</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2023</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11: Digital Skills (Habilidades Digitais)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Competências essenciais para atuar no mundo digital</a:t>
            </a:r>
          </a:p>
          <a:p>
            <a:pPr algn="l">
              <a:spcBef>
                <a:spcPts val="400"/>
              </a:spcBef>
              <a:spcAft>
                <a:spcPts val="400"/>
              </a:spcAft>
              <a:defRPr sz="1400">
                <a:solidFill>
                  <a:srgbClr val="333333"/>
                </a:solidFill>
                <a:latin typeface="Century Gothic"/>
              </a:defRPr>
            </a:pPr>
            <a:r>
              <a:t>Incluem uso de IA, comunicação digital, análise de dados e segurança</a:t>
            </a:r>
          </a:p>
          <a:p>
            <a:pPr algn="l">
              <a:spcBef>
                <a:spcPts val="400"/>
              </a:spcBef>
              <a:spcAft>
                <a:spcPts val="400"/>
              </a:spcAft>
              <a:defRPr sz="1400">
                <a:solidFill>
                  <a:srgbClr val="333333"/>
                </a:solidFill>
                <a:latin typeface="Century Gothic"/>
              </a:defRPr>
            </a:pPr>
            <a:r>
              <a:t>Importantes para estudo, trabalho e vida cotidiana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12: Por que Digital Skills são importantes?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Favorecem adaptação às tecnologias atuais</a:t>
            </a:r>
          </a:p>
          <a:p>
            <a:pPr algn="l">
              <a:spcBef>
                <a:spcPts val="400"/>
              </a:spcBef>
              <a:spcAft>
                <a:spcPts val="400"/>
              </a:spcAft>
              <a:defRPr sz="1400">
                <a:solidFill>
                  <a:srgbClr val="333333"/>
                </a:solidFill>
                <a:latin typeface="Century Gothic"/>
              </a:defRPr>
            </a:pPr>
            <a:r>
              <a:t>Aumentam produtividade e autonomia</a:t>
            </a:r>
          </a:p>
          <a:p>
            <a:pPr algn="l">
              <a:spcBef>
                <a:spcPts val="400"/>
              </a:spcBef>
              <a:spcAft>
                <a:spcPts val="400"/>
              </a:spcAft>
              <a:defRPr sz="1400">
                <a:solidFill>
                  <a:srgbClr val="333333"/>
                </a:solidFill>
                <a:latin typeface="Century Gothic"/>
              </a:defRPr>
            </a:pPr>
            <a:r>
              <a:t>São diferenciais para o mercado de trabalho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13: O que é Inteligência Artificial (IA) ?</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Conjunto de tecnologias capazes de aprender padrões e executar tarefas</a:t>
            </a:r>
          </a:p>
          <a:p>
            <a:pPr algn="l">
              <a:spcBef>
                <a:spcPts val="400"/>
              </a:spcBef>
              <a:spcAft>
                <a:spcPts val="400"/>
              </a:spcAft>
              <a:defRPr sz="1400">
                <a:solidFill>
                  <a:srgbClr val="333333"/>
                </a:solidFill>
                <a:latin typeface="Century Gothic"/>
              </a:defRPr>
            </a:pPr>
            <a:r>
              <a:t>Utilizada em recomendações, tradução automática, análise de dados, criação de conteúdo e muito mais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14: IA Generativa e Modelos de Linguagem</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IA generativa produz texto, imagem, áudio e código</a:t>
            </a:r>
          </a:p>
          <a:p>
            <a:pPr algn="l">
              <a:spcBef>
                <a:spcPts val="400"/>
              </a:spcBef>
              <a:spcAft>
                <a:spcPts val="400"/>
              </a:spcAft>
              <a:defRPr sz="1400">
                <a:solidFill>
                  <a:srgbClr val="333333"/>
                </a:solidFill>
                <a:latin typeface="Century Gothic"/>
              </a:defRPr>
            </a:pPr>
            <a:r>
              <a:t>Modelos de Linguagem (LLMs) usam grandes volumes de dados para prever palavras e gerar respostas contextualizadas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15: Já usou a expressão Dá um Google?</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16: Gelvazio Camargo – Presença Digital</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Perfil encontrado: profissional ligado à Tecnologia, Educação e Inteligência Artificial.</a:t>
            </a:r>
          </a:p>
          <a:p>
            <a:pPr algn="l">
              <a:spcBef>
                <a:spcPts val="400"/>
              </a:spcBef>
              <a:spcAft>
                <a:spcPts val="400"/>
              </a:spcAft>
              <a:defRPr sz="1400">
                <a:solidFill>
                  <a:srgbClr val="333333"/>
                </a:solidFill>
                <a:latin typeface="Century Gothic"/>
              </a:defRPr>
            </a:pPr>
            <a:r>
              <a:t>💻 Tecnologia</a:t>
            </a:r>
            <a:br/>
            <a:r>
              <a:t>Desenvolvimento de software, Python, PHP, Web e qualidade de software.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Educação</a:t>
            </a:r>
            <a:br/>
            <a:r>
              <a:t>Experiência como professor em instituições de educação profissional, incluindo SENAC/SC e SENAI/SC.</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Inteligência Artificial</a:t>
            </a:r>
            <a:br/>
            <a:r>
              <a:t>Atuação e produção de conteúdos relacionados à IA e ferramentas digitais.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Presença Digital</a:t>
            </a:r>
            <a:br/>
            <a:r>
              <a:t>LinkedIn, GitHub, portfólio, projetos de software e registros profissionais públicos.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Síntese:</a:t>
            </a:r>
            <a:br/>
            <a:r>
              <a:t>Tecnologia + Desenvolvimento + Educação + 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17: Faça uma pesquisa sobre você no chatgpt</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Compartilhe com a turma se achou algo interessante que queira compartilhar.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18: Cuidado! Amigo?!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19: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20: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21: Como ChatGPT funciona?</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Treinado com enormes quantidades de textos</a:t>
            </a:r>
          </a:p>
          <a:p>
            <a:pPr algn="l">
              <a:spcBef>
                <a:spcPts val="400"/>
              </a:spcBef>
              <a:spcAft>
                <a:spcPts val="400"/>
              </a:spcAft>
              <a:defRPr sz="1400">
                <a:solidFill>
                  <a:srgbClr val="333333"/>
                </a:solidFill>
                <a:latin typeface="Century Gothic"/>
              </a:defRPr>
            </a:pPr>
            <a:r>
              <a:t>Responde com base em padrões aprendidos</a:t>
            </a:r>
          </a:p>
          <a:p>
            <a:pPr algn="l">
              <a:spcBef>
                <a:spcPts val="400"/>
              </a:spcBef>
              <a:spcAft>
                <a:spcPts val="400"/>
              </a:spcAft>
              <a:defRPr sz="1400">
                <a:solidFill>
                  <a:srgbClr val="333333"/>
                </a:solidFill>
                <a:latin typeface="Century Gothic"/>
              </a:defRPr>
            </a:pPr>
            <a:r>
              <a:t>Não possui emoções ou opiniões próprias</a:t>
            </a:r>
          </a:p>
          <a:p>
            <a:pPr algn="l">
              <a:spcBef>
                <a:spcPts val="400"/>
              </a:spcBef>
              <a:spcAft>
                <a:spcPts val="400"/>
              </a:spcAft>
              <a:defRPr sz="1400">
                <a:solidFill>
                  <a:srgbClr val="333333"/>
                </a:solidFill>
                <a:latin typeface="Century Gothic"/>
              </a:defRPr>
            </a:pPr>
            <a:r>
              <a:t>Pode cometer erros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22: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23: Personalização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24: Construção de um Bom Prompt</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Elementos essenciais:</a:t>
            </a:r>
          </a:p>
          <a:p>
            <a:pPr algn="l">
              <a:spcBef>
                <a:spcPts val="400"/>
              </a:spcBef>
              <a:spcAft>
                <a:spcPts val="400"/>
              </a:spcAft>
              <a:defRPr sz="1400">
                <a:solidFill>
                  <a:srgbClr val="333333"/>
                </a:solidFill>
                <a:latin typeface="Century Gothic"/>
              </a:defRPr>
            </a:pPr>
            <a:r>
              <a:t>Contexto</a:t>
            </a:r>
          </a:p>
          <a:p>
            <a:pPr algn="l">
              <a:spcBef>
                <a:spcPts val="400"/>
              </a:spcBef>
              <a:spcAft>
                <a:spcPts val="400"/>
              </a:spcAft>
              <a:defRPr sz="1400">
                <a:solidFill>
                  <a:srgbClr val="333333"/>
                </a:solidFill>
                <a:latin typeface="Century Gothic"/>
              </a:defRPr>
            </a:pPr>
            <a:r>
              <a:t>Tarefa</a:t>
            </a:r>
          </a:p>
          <a:p>
            <a:pPr algn="l">
              <a:spcBef>
                <a:spcPts val="400"/>
              </a:spcBef>
              <a:spcAft>
                <a:spcPts val="400"/>
              </a:spcAft>
              <a:defRPr sz="1400">
                <a:solidFill>
                  <a:srgbClr val="333333"/>
                </a:solidFill>
                <a:latin typeface="Century Gothic"/>
              </a:defRPr>
            </a:pPr>
            <a:r>
              <a:t>Formato de resposta</a:t>
            </a:r>
          </a:p>
          <a:p>
            <a:pPr algn="l">
              <a:spcBef>
                <a:spcPts val="400"/>
              </a:spcBef>
              <a:spcAft>
                <a:spcPts val="400"/>
              </a:spcAft>
              <a:defRPr sz="1400">
                <a:solidFill>
                  <a:srgbClr val="333333"/>
                </a:solidFill>
                <a:latin typeface="Century Gothic"/>
              </a:defRPr>
            </a:pPr>
            <a:r>
              <a:t>Regras adicionais</a:t>
            </a:r>
          </a:p>
          <a:p>
            <a:pPr algn="l">
              <a:spcBef>
                <a:spcPts val="400"/>
              </a:spcBef>
              <a:spcAft>
                <a:spcPts val="400"/>
              </a:spcAft>
              <a:defRPr sz="1400">
                <a:solidFill>
                  <a:srgbClr val="333333"/>
                </a:solidFill>
                <a:latin typeface="Century Gothic"/>
              </a:defRPr>
            </a:pPr>
            <a:r>
              <a:t>Exemplo: “Explique a LGPD para jovens, em tópicos e com exemplos simples.”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“Explique isso.”</a:t>
            </a:r>
          </a:p>
          <a:p>
            <a:pPr algn="l">
              <a:spcBef>
                <a:spcPts val="400"/>
              </a:spcBef>
              <a:spcAft>
                <a:spcPts val="400"/>
              </a:spcAft>
              <a:defRPr sz="1400">
                <a:solidFill>
                  <a:srgbClr val="333333"/>
                </a:solidFill>
                <a:latin typeface="Century Gothic"/>
              </a:defRPr>
            </a:pPr>
            <a:r>
              <a:t>✔ “Explique ciclo PDCA, em 5 tópicos, com um exemplo prático para estudantes.”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25: Melhorando a Confiabilidade</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Solicitar explicações “passo a passo”</a:t>
            </a:r>
          </a:p>
          <a:p>
            <a:pPr algn="l">
              <a:spcBef>
                <a:spcPts val="400"/>
              </a:spcBef>
              <a:spcAft>
                <a:spcPts val="400"/>
              </a:spcAft>
              <a:defRPr sz="1400">
                <a:solidFill>
                  <a:srgbClr val="333333"/>
                </a:solidFill>
                <a:latin typeface="Century Gothic"/>
              </a:defRPr>
            </a:pPr>
            <a:r>
              <a:t>Definir restrições e regras</a:t>
            </a:r>
          </a:p>
          <a:p>
            <a:pPr algn="l">
              <a:spcBef>
                <a:spcPts val="400"/>
              </a:spcBef>
              <a:spcAft>
                <a:spcPts val="400"/>
              </a:spcAft>
              <a:defRPr sz="1400">
                <a:solidFill>
                  <a:srgbClr val="333333"/>
                </a:solidFill>
                <a:latin typeface="Century Gothic"/>
              </a:defRPr>
            </a:pPr>
            <a:r>
              <a:t>Pedir verificação ou confirmação</a:t>
            </a:r>
          </a:p>
          <a:p>
            <a:pPr algn="l">
              <a:spcBef>
                <a:spcPts val="400"/>
              </a:spcBef>
              <a:spcAft>
                <a:spcPts val="400"/>
              </a:spcAft>
              <a:defRPr sz="1400">
                <a:solidFill>
                  <a:srgbClr val="333333"/>
                </a:solidFill>
                <a:latin typeface="Century Gothic"/>
              </a:defRPr>
            </a:pPr>
            <a:r>
              <a:t>Reescrever o prompt até obter clareza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26: Atividade Prática: Criação de Prompts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Contexto: A IA está sendo usada para estudo, atendimento, criação de conteúdo e suporte digital. A qualidade das respostas do ChatGPT depende do modo como o usuário escreve o prompt. Nesta atividade, vocês atuarão como criadores de prompts para resolver uma necessidade real usando 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Desafio: Escolher um tema de interesse (ex.: escola, carreira, saúde, jogos, turismo, negócios) e criar três versões evolutivas do mesmo prompt:</a:t>
            </a:r>
          </a:p>
          <a:p>
            <a:pPr algn="l">
              <a:spcBef>
                <a:spcPts val="400"/>
              </a:spcBef>
              <a:spcAft>
                <a:spcPts val="400"/>
              </a:spcAft>
              <a:defRPr sz="1400">
                <a:solidFill>
                  <a:srgbClr val="333333"/>
                </a:solidFill>
                <a:latin typeface="Century Gothic"/>
              </a:defRPr>
            </a:pPr>
            <a:r>
              <a:t>Versão 1 — Básica - Pergunta simples, sem detalhes.</a:t>
            </a:r>
          </a:p>
          <a:p>
            <a:pPr algn="l">
              <a:spcBef>
                <a:spcPts val="400"/>
              </a:spcBef>
              <a:spcAft>
                <a:spcPts val="400"/>
              </a:spcAft>
              <a:defRPr sz="1400">
                <a:solidFill>
                  <a:srgbClr val="333333"/>
                </a:solidFill>
                <a:latin typeface="Century Gothic"/>
              </a:defRPr>
            </a:pPr>
            <a:r>
              <a:t>Versão 2 — Detalhada - Inclui contexto, objetivo e recortes.</a:t>
            </a:r>
          </a:p>
          <a:p>
            <a:pPr algn="l">
              <a:spcBef>
                <a:spcPts val="400"/>
              </a:spcBef>
              <a:spcAft>
                <a:spcPts val="400"/>
              </a:spcAft>
              <a:defRPr sz="1400">
                <a:solidFill>
                  <a:srgbClr val="333333"/>
                </a:solidFill>
                <a:latin typeface="Century Gothic"/>
              </a:defRPr>
            </a:pPr>
            <a:r>
              <a:t>Versão 3 — Profissional - Define persona, formato, tom e regras de resposta.</a:t>
            </a:r>
          </a:p>
          <a:p>
            <a:pPr algn="l">
              <a:spcBef>
                <a:spcPts val="400"/>
              </a:spcBef>
              <a:spcAft>
                <a:spcPts val="400"/>
              </a:spcAft>
              <a:defRPr sz="1400">
                <a:solidFill>
                  <a:srgbClr val="333333"/>
                </a:solidFill>
                <a:latin typeface="Century Gothic"/>
              </a:defRPr>
            </a:pPr>
            <a:r>
              <a:t>Você deve testar cada prompt no ChatGPT e comparar os resultados.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Resultados Esperados: O aluno deverá entregar um relatório comparando três versões do mesmo prompt, apresentando o tema escolhido, os prompts desenvolvidos, as respostas obtidas no ChatGPT e uma análise conclusiva sobre qual versão gerou o melhor resultado e quais melhorias podem ser aplicadas para tornar o prompt mais eficiente.</a:t>
            </a:r>
          </a:p>
          <a:p>
            <a:pPr algn="l">
              <a:spcBef>
                <a:spcPts val="400"/>
              </a:spcBef>
              <a:spcAft>
                <a:spcPts val="400"/>
              </a:spcAft>
              <a:defRPr sz="1400">
                <a:solidFill>
                  <a:srgbClr val="333333"/>
                </a:solidFill>
                <a:latin typeface="Century Gothic"/>
              </a:defRPr>
            </a:pPr>
            <a:r>
              <a:t>Bônus: faça o mesmo exercício com o Gemini e encontre as diferenças.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Compartilhar resultados com</a:t>
            </a:r>
          </a:p>
          <a:p>
            <a:pPr algn="l">
              <a:spcBef>
                <a:spcPts val="400"/>
              </a:spcBef>
              <a:spcAft>
                <a:spcPts val="400"/>
              </a:spcAft>
              <a:defRPr sz="1400">
                <a:solidFill>
                  <a:srgbClr val="333333"/>
                </a:solidFill>
                <a:latin typeface="Century Gothic"/>
              </a:defRPr>
            </a:pPr>
            <a:r>
              <a:t>gelvazio.c@edu.sc.senai.br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27: Exemplo: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Tema: Carreira Profissional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Prompt 1 (Simples): "Me ajude a escolher uma carreira."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Prompt 2 (Detalhado): "Quero ajuda para escolher uma carreira. Tenho 16 anos, gosto de tecnologia e matemática, mas não gosto de trabalhar sozinho. Sugira áreas compatíveis e explique brevemente cada uma."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🔝Prompt 3 (Aprimorado): "Você é um orientador profissional. Considere que tenho 16 anos, gosto de tecnologia, matemática e trabalho em equipe. Sugira 5 carreiras relacionadas à tecnologia, descrevendo: o que a profissão faz, habilidades necessárias, possíveis cursos técnicos e nível de contato com pessoas. Organize em tabela."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Compartilhar resultados com</a:t>
            </a:r>
          </a:p>
          <a:p>
            <a:pPr algn="l">
              <a:spcBef>
                <a:spcPts val="400"/>
              </a:spcBef>
              <a:spcAft>
                <a:spcPts val="400"/>
              </a:spcAft>
              <a:defRPr sz="1400">
                <a:solidFill>
                  <a:srgbClr val="333333"/>
                </a:solidFill>
                <a:latin typeface="Century Gothic"/>
              </a:defRPr>
            </a:pPr>
            <a:r>
              <a:t>gelvazio.c@edu.sc.senai.br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IMPORTANTE!</a:t>
            </a:r>
          </a:p>
          <a:p>
            <a:pPr algn="l">
              <a:spcBef>
                <a:spcPts val="400"/>
              </a:spcBef>
              <a:spcAft>
                <a:spcPts val="400"/>
              </a:spcAft>
              <a:defRPr sz="1400">
                <a:solidFill>
                  <a:srgbClr val="333333"/>
                </a:solidFill>
                <a:latin typeface="Century Gothic"/>
              </a:defRPr>
            </a:pPr>
            <a:r>
              <a:t>Não usar IA para criação de Prompts neste exercício!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28: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29: 10 minutos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30: Resposta Esperada (similar)</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Crie uma tabela com sugestões de atividades de lazer personalizadas para um viajante solo visitando Curitiba PR. A persona é homem, entre 25 e 30 anos, vegetariano e com alergia a frutos do mar. Ele gosta de trilhas, cultura, arte urbana e gastronomia leve, e evita lugares muito movimentados. Use apenas locais reais da cidade. A tabela deve ter as colunas: Atividade, Local, Tipo de Experiência, Por que é recomendado, Custo médio e Observações de segurança/alergias. O foco é comida vegetariana, atividades culturais e trilhas. Responda em tabela, com informações claras e objetivas.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31: 15 minutos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 Inteligência Artificial está presente no aprendizado e pode ajudar estudantes a estudar, revisar textos e explorar novos conteúdos, mas seu uso exige responsabilidade. No Brasil, a LGPD protege dados pessoais e garante direitos como consentimento, transparência e possibilidade de revisão de decisões automatizadas. O PL 2338/2023, em análise no Senado, busca criar regras específicas para IA, priorizando supervisão humana, prevenção de riscos e responsabilidade sobre decisões automatizadas.</a:t>
            </a:r>
          </a:p>
          <a:p>
            <a:pPr algn="l">
              <a:spcBef>
                <a:spcPts val="400"/>
              </a:spcBef>
              <a:spcAft>
                <a:spcPts val="400"/>
              </a:spcAft>
              <a:defRPr sz="1400">
                <a:solidFill>
                  <a:srgbClr val="333333"/>
                </a:solidFill>
                <a:latin typeface="Century Gothic"/>
              </a:defRPr>
            </a:pPr>
            <a:r>
              <a:t>No contexto escolar, é essencial usar IA sem comprometer ética ou integridade acadêmica. Boas práticas incluem não enviar dados pessoais próprios ou de terceiros, checar informações antes de usar, identificar no trabalho quando houve apoio da IA, evitar plágio e usar ferramentas como apoio ao aprendizado, não como substituição. Ética significa proteger direitos digitais, respeitar autoria e utilizar tecnologia de forma consciente.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Referências oficiais:</a:t>
            </a:r>
          </a:p>
          <a:p>
            <a:pPr algn="l">
              <a:spcBef>
                <a:spcPts val="400"/>
              </a:spcBef>
              <a:spcAft>
                <a:spcPts val="400"/>
              </a:spcAft>
              <a:defRPr sz="1400">
                <a:solidFill>
                  <a:srgbClr val="333333"/>
                </a:solidFill>
                <a:latin typeface="Century Gothic"/>
              </a:defRPr>
            </a:pPr>
            <a:r>
              <a:t>PL 2338/2023: https://www25.senado.leg.br/web/atividade/materias/-/materia/163502</a:t>
            </a:r>
          </a:p>
          <a:p>
            <a:pPr algn="l">
              <a:spcBef>
                <a:spcPts val="400"/>
              </a:spcBef>
              <a:spcAft>
                <a:spcPts val="400"/>
              </a:spcAft>
              <a:defRPr sz="1400">
                <a:solidFill>
                  <a:srgbClr val="333333"/>
                </a:solidFill>
                <a:latin typeface="Century Gothic"/>
              </a:defRPr>
            </a:pPr>
            <a:r>
              <a:t>ANPD:https://www.gov.br/anpd/pt-br/canais-atendimento/perguntas-frequentes/lgpd-cidadao</a:t>
            </a:r>
          </a:p>
          <a:p>
            <a:pPr algn="l">
              <a:spcBef>
                <a:spcPts val="400"/>
              </a:spcBef>
              <a:spcAft>
                <a:spcPts val="400"/>
              </a:spcAft>
              <a:defRPr sz="1400">
                <a:solidFill>
                  <a:srgbClr val="333333"/>
                </a:solidFill>
                <a:latin typeface="Century Gothic"/>
              </a:defRPr>
            </a:pPr>
            <a:r>
              <a:t>LGPD: https://www.gov.br/cidadania/pt-br/acesso-a-informacao/lgpd</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32: Resposta Esperada (similar)</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Crie um resumo acadêmico com até 12 linhas, voltado para jovens, sobre ética no uso de Inteligência Artificial considerando apenas legislação brasileira. Inclua LGPD e PL 2338/2023, além de boas práticas específicas para o uso de IA por estudantes no contexto educacional. Use linguagem simples, exemplos práticos e cite links oficiais das fontes no final do texto.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33: 15 minutos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Abertura (Cena 1 - 0:03)</a:t>
            </a:r>
          </a:p>
          <a:p>
            <a:pPr algn="l">
              <a:spcBef>
                <a:spcPts val="400"/>
              </a:spcBef>
              <a:spcAft>
                <a:spcPts val="400"/>
              </a:spcAft>
              <a:defRPr sz="1400">
                <a:solidFill>
                  <a:srgbClr val="333333"/>
                </a:solidFill>
                <a:latin typeface="Century Gothic"/>
              </a:defRPr>
            </a:pPr>
            <a:r>
              <a:t>Imagens da cidade, SENAI e jovens entrando na unidade</a:t>
            </a:r>
          </a:p>
          <a:p>
            <a:pPr algn="l">
              <a:spcBef>
                <a:spcPts val="400"/>
              </a:spcBef>
              <a:spcAft>
                <a:spcPts val="400"/>
              </a:spcAft>
              <a:defRPr sz="1400">
                <a:solidFill>
                  <a:srgbClr val="333333"/>
                </a:solidFill>
                <a:latin typeface="Century Gothic"/>
              </a:defRPr>
            </a:pPr>
            <a:r>
              <a:t>Texto na tela: “E se sua carreira começasse agora?”</a:t>
            </a:r>
          </a:p>
          <a:p>
            <a:pPr algn="l">
              <a:spcBef>
                <a:spcPts val="400"/>
              </a:spcBef>
              <a:spcAft>
                <a:spcPts val="400"/>
              </a:spcAft>
              <a:defRPr sz="1400">
                <a:solidFill>
                  <a:srgbClr val="333333"/>
                </a:solidFill>
                <a:latin typeface="Century Gothic"/>
              </a:defRPr>
            </a:pPr>
            <a:r>
              <a:t>Narração: “Às vezes, tudo que falta é o início.”</a:t>
            </a:r>
          </a:p>
          <a:p>
            <a:pPr algn="l">
              <a:spcBef>
                <a:spcPts val="400"/>
              </a:spcBef>
              <a:spcAft>
                <a:spcPts val="400"/>
              </a:spcAft>
              <a:defRPr sz="1400">
                <a:solidFill>
                  <a:srgbClr val="333333"/>
                </a:solidFill>
                <a:latin typeface="Century Gothic"/>
              </a:defRPr>
            </a:pPr>
            <a:r>
              <a:t>Propósito (Cena 2 - 0:05)</a:t>
            </a:r>
          </a:p>
          <a:p>
            <a:pPr algn="l">
              <a:spcBef>
                <a:spcPts val="400"/>
              </a:spcBef>
              <a:spcAft>
                <a:spcPts val="400"/>
              </a:spcAft>
              <a:defRPr sz="1400">
                <a:solidFill>
                  <a:srgbClr val="333333"/>
                </a:solidFill>
                <a:latin typeface="Century Gothic"/>
              </a:defRPr>
            </a:pPr>
            <a:r>
              <a:t>Imagens de produção, máquinas, chão de fábrica</a:t>
            </a:r>
          </a:p>
          <a:p>
            <a:pPr algn="l">
              <a:spcBef>
                <a:spcPts val="400"/>
              </a:spcBef>
              <a:spcAft>
                <a:spcPts val="400"/>
              </a:spcAft>
              <a:defRPr sz="1400">
                <a:solidFill>
                  <a:srgbClr val="333333"/>
                </a:solidFill>
                <a:latin typeface="Century Gothic"/>
              </a:defRPr>
            </a:pPr>
            <a:r>
              <a:t>Narração: “A indústria precisa de pessoas que tenham vontade de aprender e construir o futuro com as próprias mãos.”</a:t>
            </a:r>
          </a:p>
          <a:p>
            <a:pPr algn="l">
              <a:spcBef>
                <a:spcPts val="400"/>
              </a:spcBef>
              <a:spcAft>
                <a:spcPts val="400"/>
              </a:spcAft>
              <a:defRPr sz="1400">
                <a:solidFill>
                  <a:srgbClr val="333333"/>
                </a:solidFill>
                <a:latin typeface="Century Gothic"/>
              </a:defRPr>
            </a:pPr>
            <a:r>
              <a:t>Oportunidade (Cena 3 - 0:05)</a:t>
            </a:r>
          </a:p>
          <a:p>
            <a:pPr algn="l">
              <a:spcBef>
                <a:spcPts val="400"/>
              </a:spcBef>
              <a:spcAft>
                <a:spcPts val="400"/>
              </a:spcAft>
              <a:defRPr sz="1400">
                <a:solidFill>
                  <a:srgbClr val="333333"/>
                </a:solidFill>
                <a:latin typeface="Century Gothic"/>
              </a:defRPr>
            </a:pPr>
            <a:r>
              <a:t>Aulas práticas, orientação de instrutor, organização de materiais</a:t>
            </a:r>
          </a:p>
          <a:p>
            <a:pPr algn="l">
              <a:spcBef>
                <a:spcPts val="400"/>
              </a:spcBef>
              <a:spcAft>
                <a:spcPts val="400"/>
              </a:spcAft>
              <a:defRPr sz="1400">
                <a:solidFill>
                  <a:srgbClr val="333333"/>
                </a:solidFill>
                <a:latin typeface="Century Gothic"/>
              </a:defRPr>
            </a:pPr>
            <a:r>
              <a:t>Narração: “No curso de Aprendizagem Industrial em Assistente em Processos de Apoio da Indústria Metalmecânica do SENAI Rio do Sul, você aprende como os processos acontecem de verdade.”</a:t>
            </a:r>
          </a:p>
          <a:p>
            <a:pPr algn="l">
              <a:spcBef>
                <a:spcPts val="400"/>
              </a:spcBef>
              <a:spcAft>
                <a:spcPts val="400"/>
              </a:spcAft>
              <a:defRPr sz="1400">
                <a:solidFill>
                  <a:srgbClr val="333333"/>
                </a:solidFill>
                <a:latin typeface="Century Gothic"/>
              </a:defRPr>
            </a:pPr>
            <a:r>
              <a:t>Conexão com Futuro (Cena 4 - 0:06)</a:t>
            </a:r>
          </a:p>
          <a:p>
            <a:pPr algn="l">
              <a:spcBef>
                <a:spcPts val="400"/>
              </a:spcBef>
              <a:spcAft>
                <a:spcPts val="400"/>
              </a:spcAft>
              <a:defRPr sz="1400">
                <a:solidFill>
                  <a:srgbClr val="333333"/>
                </a:solidFill>
                <a:latin typeface="Century Gothic"/>
              </a:defRPr>
            </a:pPr>
            <a:r>
              <a:t>Alunos escrevendo, analisando documentos, movimentação em laboratório</a:t>
            </a:r>
          </a:p>
          <a:p>
            <a:pPr algn="l">
              <a:spcBef>
                <a:spcPts val="400"/>
              </a:spcBef>
              <a:spcAft>
                <a:spcPts val="400"/>
              </a:spcAft>
              <a:defRPr sz="1400">
                <a:solidFill>
                  <a:srgbClr val="333333"/>
                </a:solidFill>
                <a:latin typeface="Century Gothic"/>
              </a:defRPr>
            </a:pPr>
            <a:r>
              <a:t>Narração: “É seu primeiro contato com rotinas produtivas, documentos técnicos e desafios reais da indústria.”</a:t>
            </a:r>
          </a:p>
          <a:p>
            <a:pPr algn="l">
              <a:spcBef>
                <a:spcPts val="400"/>
              </a:spcBef>
              <a:spcAft>
                <a:spcPts val="400"/>
              </a:spcAft>
              <a:defRPr sz="1400">
                <a:solidFill>
                  <a:srgbClr val="333333"/>
                </a:solidFill>
                <a:latin typeface="Century Gothic"/>
              </a:defRPr>
            </a:pPr>
            <a:r>
              <a:t>Mensagem Final (Cena 5 - 0:06)</a:t>
            </a:r>
          </a:p>
          <a:p>
            <a:pPr algn="l">
              <a:spcBef>
                <a:spcPts val="400"/>
              </a:spcBef>
              <a:spcAft>
                <a:spcPts val="400"/>
              </a:spcAft>
              <a:defRPr sz="1400">
                <a:solidFill>
                  <a:srgbClr val="333333"/>
                </a:solidFill>
                <a:latin typeface="Century Gothic"/>
              </a:defRPr>
            </a:pPr>
            <a:r>
              <a:t>Plano close de jovem saindo do prédio com mochila</a:t>
            </a:r>
          </a:p>
          <a:p>
            <a:pPr algn="l">
              <a:spcBef>
                <a:spcPts val="400"/>
              </a:spcBef>
              <a:spcAft>
                <a:spcPts val="400"/>
              </a:spcAft>
              <a:defRPr sz="1400">
                <a:solidFill>
                  <a:srgbClr val="333333"/>
                </a:solidFill>
                <a:latin typeface="Century Gothic"/>
              </a:defRPr>
            </a:pPr>
            <a:r>
              <a:t>Narração: “Seu caminho profissional começa com escolha e atitude. Onde você quer chegar?”</a:t>
            </a:r>
          </a:p>
          <a:p>
            <a:pPr algn="l">
              <a:spcBef>
                <a:spcPts val="400"/>
              </a:spcBef>
              <a:spcAft>
                <a:spcPts val="400"/>
              </a:spcAft>
              <a:defRPr sz="1400">
                <a:solidFill>
                  <a:srgbClr val="333333"/>
                </a:solidFill>
                <a:latin typeface="Century Gothic"/>
              </a:defRPr>
            </a:pPr>
            <a:r>
              <a:t>Legenda sugerida:  "Todo caminho profissional começa com um primeiro passo.</a:t>
            </a:r>
          </a:p>
          <a:p>
            <a:pPr algn="l">
              <a:spcBef>
                <a:spcPts val="400"/>
              </a:spcBef>
              <a:spcAft>
                <a:spcPts val="400"/>
              </a:spcAft>
              <a:defRPr sz="1400">
                <a:solidFill>
                  <a:srgbClr val="333333"/>
                </a:solidFill>
                <a:latin typeface="Century Gothic"/>
              </a:defRPr>
            </a:pPr>
            <a:r>
              <a:t>Se a sua jornada é na indústria, comece preparado."</a:t>
            </a:r>
          </a:p>
          <a:p>
            <a:pPr algn="l">
              <a:spcBef>
                <a:spcPts val="400"/>
              </a:spcBef>
              <a:spcAft>
                <a:spcPts val="400"/>
              </a:spcAft>
              <a:defRPr sz="1400">
                <a:solidFill>
                  <a:srgbClr val="333333"/>
                </a:solidFill>
                <a:latin typeface="Century Gothic"/>
              </a:defRPr>
            </a:pPr>
            <a:r>
              <a:t>Hashtags recomendadas: #SENAIRioDoSul #AprendizagemIndustrial #IndústriaMetalmecânica #PrimeiroPasso #CarreiraIndustrial #JuventudeNaIndústria #FormaçãoProfissional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34: Resposta Esperada (similar)</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Crie um roteiro para um Reels destinado a jovens de 14 a 24 anos, convidando para o curso de Aprendizagem Industrial em Assistente em Processos de Apoio da Indústria Metalmecânica no SENAI Rio do Sul. O roteiro deve ter tom emocional, motivador e profissional, sem gírias, com foco no propósito e na construção de futuro na indústria. Estruture em: Abertura, Propósito, Oportunidade, Conexão com Futuro e Mensagem Final. O vídeo deve ser curto, fluido e apropriado para Reels. Inclua legenda e hashtags relacionadas à temática.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35: 15 minutos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36: Resposta Esperada (similar)</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"Arte digital futurista em estilo high-tech, com paleta neon em tons de azul, roxo e ciano. Cena em um ambiente tecnológico inspirada em laboratórios e salas de inovação. Quatro personagens em destaque: três alunos jovens e um professor. Detalhes dos personagens:</a:t>
            </a:r>
          </a:p>
          <a:p>
            <a:pPr algn="l">
              <a:spcBef>
                <a:spcPts val="400"/>
              </a:spcBef>
              <a:spcAft>
                <a:spcPts val="400"/>
              </a:spcAft>
              <a:defRPr sz="1400">
                <a:solidFill>
                  <a:srgbClr val="333333"/>
                </a:solidFill>
                <a:latin typeface="Century Gothic"/>
              </a:defRPr>
            </a:pPr>
            <a:r>
              <a:t>Aluna negra com cabelo preso, usando óculos de proteção e segurando tablet</a:t>
            </a:r>
          </a:p>
          <a:p>
            <a:pPr algn="l">
              <a:spcBef>
                <a:spcPts val="400"/>
              </a:spcBef>
              <a:spcAft>
                <a:spcPts val="400"/>
              </a:spcAft>
              <a:defRPr sz="1400">
                <a:solidFill>
                  <a:srgbClr val="333333"/>
                </a:solidFill>
                <a:latin typeface="Century Gothic"/>
              </a:defRPr>
            </a:pPr>
            <a:r>
              <a:t>Aluno adolescente sorrindo segurando tablet</a:t>
            </a:r>
          </a:p>
          <a:p>
            <a:pPr algn="l">
              <a:spcBef>
                <a:spcPts val="400"/>
              </a:spcBef>
              <a:spcAft>
                <a:spcPts val="400"/>
              </a:spcAft>
              <a:defRPr sz="1400">
                <a:solidFill>
                  <a:srgbClr val="333333"/>
                </a:solidFill>
                <a:latin typeface="Century Gothic"/>
              </a:defRPr>
            </a:pPr>
            <a:r>
              <a:t>Aluna asiática com cabelo longo, expressão curiosa</a:t>
            </a:r>
          </a:p>
          <a:p>
            <a:pPr algn="l">
              <a:spcBef>
                <a:spcPts val="400"/>
              </a:spcBef>
              <a:spcAft>
                <a:spcPts val="400"/>
              </a:spcAft>
              <a:defRPr sz="1400">
                <a:solidFill>
                  <a:srgbClr val="333333"/>
                </a:solidFill>
                <a:latin typeface="Century Gothic"/>
              </a:defRPr>
            </a:pPr>
            <a:r>
              <a:t>Professor adulto de meia-idade, barba curta, óculos, usando blazer, gesticulando enquanto orienta os estudantes</a:t>
            </a:r>
          </a:p>
          <a:p>
            <a:pPr algn="l">
              <a:spcBef>
                <a:spcPts val="400"/>
              </a:spcBef>
              <a:spcAft>
                <a:spcPts val="400"/>
              </a:spcAft>
              <a:defRPr sz="1400">
                <a:solidFill>
                  <a:srgbClr val="333333"/>
                </a:solidFill>
                <a:latin typeface="Century Gothic"/>
              </a:defRPr>
            </a:pPr>
            <a:r>
              <a:t>Tema principal: SENAI do Futuro em letras grandes e luminosas no topo da imagem. Fundo com circuito eletrônico abstrato, ícones tecnológicos e engrenagens digitais. Estética limpa, inspirada em UI futurista, foco educacional e inovação industrial."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37: Resultado Gemini</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SLIDE 37A: Claude Code — Assistente de IA do Anthropic</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O que é Claude Code?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Claude Code é um assistente de IA desenvolvido pela Anthropic, focado em ajudar com tarefas de programação, análise de código, escrita técnica e resolução de problemas complexos.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Características Principais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**Compreensão de Código** — Analisa, explica e corrige código em múltiplas linguagens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**Escrita Técnica** — Auxilia na documentação, criação de conteúdo técnico e comunicação clara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**Resolução de Problemas** — Ajuda a identificar bugs, otimizar algoritmos e melhorar lógica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**Conversação Natural** — Comunica-se de forma clara e acessível, não técnica demais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Comparação com Outras Ferramentas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Aspecto | ChatGPT | Gemini | Claude Code |</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r>
              <a:t>| **Foco** | Geral | Geral | Técnico/Programação |</a:t>
            </a:r>
          </a:p>
          <a:p>
            <a:pPr algn="l">
              <a:spcBef>
                <a:spcPts val="400"/>
              </a:spcBef>
              <a:spcAft>
                <a:spcPts val="400"/>
              </a:spcAft>
              <a:defRPr sz="1400">
                <a:solidFill>
                  <a:srgbClr val="333333"/>
                </a:solidFill>
                <a:latin typeface="Century Gothic"/>
              </a:defRPr>
            </a:pPr>
            <a:r>
              <a:t>| **Acesso Free** | Limitado | Sim | Sim (com limites) |</a:t>
            </a:r>
          </a:p>
          <a:p>
            <a:pPr algn="l">
              <a:spcBef>
                <a:spcPts val="400"/>
              </a:spcBef>
              <a:spcAft>
                <a:spcPts val="400"/>
              </a:spcAft>
              <a:defRPr sz="1400">
                <a:solidFill>
                  <a:srgbClr val="333333"/>
                </a:solidFill>
                <a:latin typeface="Century Gothic"/>
              </a:defRPr>
            </a:pPr>
            <a:r>
              <a:t>| **Melhor em Código** | ✓ | ✓ | ✓✓✓ |</a:t>
            </a:r>
          </a:p>
          <a:p>
            <a:pPr algn="l">
              <a:spcBef>
                <a:spcPts val="400"/>
              </a:spcBef>
              <a:spcAft>
                <a:spcPts val="400"/>
              </a:spcAft>
              <a:defRPr sz="1400">
                <a:solidFill>
                  <a:srgbClr val="333333"/>
                </a:solidFill>
                <a:latin typeface="Century Gothic"/>
              </a:defRPr>
            </a:pPr>
            <a:r>
              <a:t>| **Análise Técnica** | ✓ | ✓ | ✓✓✓ |</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Casos de Uso em Educação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 Revisão de código de alunos</a:t>
            </a:r>
          </a:p>
          <a:p>
            <a:pPr algn="l">
              <a:spcBef>
                <a:spcPts val="400"/>
              </a:spcBef>
              <a:spcAft>
                <a:spcPts val="400"/>
              </a:spcAft>
              <a:defRPr sz="1400">
                <a:solidFill>
                  <a:srgbClr val="333333"/>
                </a:solidFill>
                <a:latin typeface="Century Gothic"/>
              </a:defRPr>
            </a:pPr>
            <a:r>
              <a:t>- 🔍 Explicação de algoritmos complexos</a:t>
            </a:r>
          </a:p>
          <a:p>
            <a:pPr algn="l">
              <a:spcBef>
                <a:spcPts val="400"/>
              </a:spcBef>
              <a:spcAft>
                <a:spcPts val="400"/>
              </a:spcAft>
              <a:defRPr sz="1400">
                <a:solidFill>
                  <a:srgbClr val="333333"/>
                </a:solidFill>
                <a:latin typeface="Century Gothic"/>
              </a:defRPr>
            </a:pPr>
            <a:r>
              <a:t>- ✍️ Auxílio em trabalhos técnicos</a:t>
            </a:r>
          </a:p>
          <a:p>
            <a:pPr algn="l">
              <a:spcBef>
                <a:spcPts val="400"/>
              </a:spcBef>
              <a:spcAft>
                <a:spcPts val="400"/>
              </a:spcAft>
              <a:defRPr sz="1400">
                <a:solidFill>
                  <a:srgbClr val="333333"/>
                </a:solidFill>
                <a:latin typeface="Century Gothic"/>
              </a:defRPr>
            </a:pPr>
            <a:r>
              <a:t>- 🐛 Debugging e otimização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Próximos Passos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Explore Claude Code em: https://claude.ai/code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SLIDE 37B: DeepSeek — Alternativa Chinesa de 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O que é DeepSeek?</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DeepSeek é um modelo de IA desenvolvido pela empresa chinesa DeepSeek AI, com foco em raciocínio lógico e resolução de problemas matemáticos complexos.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Características Principais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**Raciocínio Matemático** — Excelente em cálculos e resolução de problemas matemáticos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**Custo Reduzido** — Modelo otimizado com menor custo computacional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**Acesso Aberto** — Modelo open-source disponível para pesquisa e uso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**Performance Competitiva** — Resultados comparáveis a ChatGPT e Gemini em muitas tarefas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Comparação com Outras Ferramentas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Aspecto | ChatGPT | Gemini | Claude | DeepSeek |</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r>
              <a:t>| **Origem** | EUA | Google | EUA | China |</a:t>
            </a:r>
          </a:p>
          <a:p>
            <a:pPr algn="l">
              <a:spcBef>
                <a:spcPts val="400"/>
              </a:spcBef>
              <a:spcAft>
                <a:spcPts val="400"/>
              </a:spcAft>
              <a:defRPr sz="1400">
                <a:solidFill>
                  <a:srgbClr val="333333"/>
                </a:solidFill>
                <a:latin typeface="Century Gothic"/>
              </a:defRPr>
            </a:pPr>
            <a:r>
              <a:t>| **Foco** | Geral | Geral | Geral | Matemática |</a:t>
            </a:r>
          </a:p>
          <a:p>
            <a:pPr algn="l">
              <a:spcBef>
                <a:spcPts val="400"/>
              </a:spcBef>
              <a:spcAft>
                <a:spcPts val="400"/>
              </a:spcAft>
              <a:defRPr sz="1400">
                <a:solidFill>
                  <a:srgbClr val="333333"/>
                </a:solidFill>
                <a:latin typeface="Century Gothic"/>
              </a:defRPr>
            </a:pPr>
            <a:r>
              <a:t>| **Custo** | Pago | Freemium | Freemium | Gratuito |</a:t>
            </a:r>
          </a:p>
          <a:p>
            <a:pPr algn="l">
              <a:spcBef>
                <a:spcPts val="400"/>
              </a:spcBef>
              <a:spcAft>
                <a:spcPts val="400"/>
              </a:spcAft>
              <a:defRPr sz="1400">
                <a:solidFill>
                  <a:srgbClr val="333333"/>
                </a:solidFill>
                <a:latin typeface="Century Gothic"/>
              </a:defRPr>
            </a:pPr>
            <a:r>
              <a:t>| **Open-Source** | Não | Não | Não | Sim |</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Relevância Global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**Cenário Internacional:** DeepSeek representa a diversificação global de IA além de EUA e Google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**Pesquisa Aberta:** Modelo disponível para pesquisa científica sem restrições comerciais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**Competição Saudável:** Impulsiona inovação ao oferecer alternativa com diferentes abordagens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Próximos Passos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Explore DeepSeek em: https://www.deepseek.com</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38: ChatBots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São como assistentes digitais que respondem, aprendem e agilizam tarefas sem você levantar da cadeira</a:t>
            </a:r>
          </a:p>
          <a:p>
            <a:pPr algn="l">
              <a:spcBef>
                <a:spcPts val="400"/>
              </a:spcBef>
              <a:spcAft>
                <a:spcPts val="400"/>
              </a:spcAft>
              <a:defRPr sz="1400">
                <a:solidFill>
                  <a:srgbClr val="333333"/>
                </a:solidFill>
                <a:latin typeface="Century Gothic"/>
              </a:defRPr>
            </a:pPr>
            <a:r>
              <a:t>Eles já estão no seu bolso: WhatsApp, Instagram, suporte técnico, jogos e apps que você usa todo dia.</a:t>
            </a:r>
          </a:p>
          <a:p>
            <a:pPr algn="l">
              <a:spcBef>
                <a:spcPts val="400"/>
              </a:spcBef>
              <a:spcAft>
                <a:spcPts val="400"/>
              </a:spcAft>
              <a:defRPr sz="1400">
                <a:solidFill>
                  <a:srgbClr val="333333"/>
                </a:solidFill>
                <a:latin typeface="Century Gothic"/>
              </a:defRPr>
            </a:pPr>
            <a:r>
              <a:t>Hoje você vai criar um, não só usar.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39: Essencial para um bom Prompt</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1. Objetivo do Bot</a:t>
            </a:r>
          </a:p>
          <a:p>
            <a:pPr algn="l">
              <a:spcBef>
                <a:spcPts val="400"/>
              </a:spcBef>
              <a:spcAft>
                <a:spcPts val="400"/>
              </a:spcAft>
              <a:defRPr sz="1400">
                <a:solidFill>
                  <a:srgbClr val="333333"/>
                </a:solidFill>
                <a:latin typeface="Century Gothic"/>
              </a:defRPr>
            </a:pPr>
            <a:r>
              <a:t>Pra que ele existe? O que ele resolve?</a:t>
            </a:r>
          </a:p>
          <a:p>
            <a:pPr algn="l">
              <a:spcBef>
                <a:spcPts val="400"/>
              </a:spcBef>
              <a:spcAft>
                <a:spcPts val="400"/>
              </a:spcAft>
              <a:defRPr sz="1400">
                <a:solidFill>
                  <a:srgbClr val="333333"/>
                </a:solidFill>
                <a:latin typeface="Century Gothic"/>
              </a:defRPr>
            </a:pPr>
            <a:r>
              <a:t>2. Persona e Tom de Voz</a:t>
            </a:r>
          </a:p>
          <a:p>
            <a:pPr algn="l">
              <a:spcBef>
                <a:spcPts val="400"/>
              </a:spcBef>
              <a:spcAft>
                <a:spcPts val="400"/>
              </a:spcAft>
              <a:defRPr sz="1400">
                <a:solidFill>
                  <a:srgbClr val="333333"/>
                </a:solidFill>
                <a:latin typeface="Century Gothic"/>
              </a:defRPr>
            </a:pPr>
            <a:r>
              <a:t>Como ele fala? Formal, técnico, engraçado, institucional?</a:t>
            </a:r>
          </a:p>
          <a:p>
            <a:pPr algn="l">
              <a:spcBef>
                <a:spcPts val="400"/>
              </a:spcBef>
              <a:spcAft>
                <a:spcPts val="400"/>
              </a:spcAft>
              <a:defRPr sz="1400">
                <a:solidFill>
                  <a:srgbClr val="333333"/>
                </a:solidFill>
                <a:latin typeface="Century Gothic"/>
              </a:defRPr>
            </a:pPr>
            <a:r>
              <a:t>3. Regras e Limites</a:t>
            </a:r>
          </a:p>
          <a:p>
            <a:pPr algn="l">
              <a:spcBef>
                <a:spcPts val="400"/>
              </a:spcBef>
              <a:spcAft>
                <a:spcPts val="400"/>
              </a:spcAft>
              <a:defRPr sz="1400">
                <a:solidFill>
                  <a:srgbClr val="333333"/>
                </a:solidFill>
                <a:latin typeface="Century Gothic"/>
              </a:defRPr>
            </a:pPr>
            <a:r>
              <a:t>O que pode responder? O que não pode? Quando deve redirecionar?</a:t>
            </a:r>
          </a:p>
          <a:p>
            <a:pPr algn="l">
              <a:spcBef>
                <a:spcPts val="400"/>
              </a:spcBef>
              <a:spcAft>
                <a:spcPts val="400"/>
              </a:spcAft>
              <a:defRPr sz="1400">
                <a:solidFill>
                  <a:srgbClr val="333333"/>
                </a:solidFill>
                <a:latin typeface="Century Gothic"/>
              </a:defRPr>
            </a:pPr>
            <a:r>
              <a:t>4. Base de Conhecimento</a:t>
            </a:r>
          </a:p>
          <a:p>
            <a:pPr algn="l">
              <a:spcBef>
                <a:spcPts val="400"/>
              </a:spcBef>
              <a:spcAft>
                <a:spcPts val="400"/>
              </a:spcAft>
              <a:defRPr sz="1400">
                <a:solidFill>
                  <a:srgbClr val="333333"/>
                </a:solidFill>
                <a:latin typeface="Century Gothic"/>
              </a:defRPr>
            </a:pPr>
            <a:r>
              <a:t>Quais informações ele deve usar? PDF? Manual? Conteúdo colado no prompt?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40: Exemplo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NOME: Assistente Institucional SENAI Rio do Sul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OBJETIVO:</a:t>
            </a:r>
          </a:p>
          <a:p>
            <a:pPr algn="l">
              <a:spcBef>
                <a:spcPts val="400"/>
              </a:spcBef>
              <a:spcAft>
                <a:spcPts val="400"/>
              </a:spcAft>
              <a:defRPr sz="1400">
                <a:solidFill>
                  <a:srgbClr val="333333"/>
                </a:solidFill>
                <a:latin typeface="Century Gothic"/>
              </a:defRPr>
            </a:pPr>
            <a:r>
              <a:t>Orientar alunos novos do SENAI Rio do Sul sobre regras institucionais e conduta no ambiente escolar, com foco em convivência, comportamento adequado, direitos, deveres e medidas pedagógicas, com base no guia institucional da Aprendizagem Industrial.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PERSONA E TOM:</a:t>
            </a:r>
          </a:p>
          <a:p>
            <a:pPr algn="l">
              <a:spcBef>
                <a:spcPts val="400"/>
              </a:spcBef>
              <a:spcAft>
                <a:spcPts val="400"/>
              </a:spcAft>
              <a:defRPr sz="1400">
                <a:solidFill>
                  <a:srgbClr val="333333"/>
                </a:solidFill>
                <a:latin typeface="Century Gothic"/>
              </a:defRPr>
            </a:pPr>
            <a:r>
              <a:t>- Formal e institucional.</a:t>
            </a:r>
          </a:p>
          <a:p>
            <a:pPr algn="l">
              <a:spcBef>
                <a:spcPts val="400"/>
              </a:spcBef>
              <a:spcAft>
                <a:spcPts val="400"/>
              </a:spcAft>
              <a:defRPr sz="1400">
                <a:solidFill>
                  <a:srgbClr val="333333"/>
                </a:solidFill>
                <a:latin typeface="Century Gothic"/>
              </a:defRPr>
            </a:pPr>
            <a:r>
              <a:t>- Educado, cordial e acolhedor.</a:t>
            </a:r>
          </a:p>
          <a:p>
            <a:pPr algn="l">
              <a:spcBef>
                <a:spcPts val="400"/>
              </a:spcBef>
              <a:spcAft>
                <a:spcPts val="400"/>
              </a:spcAft>
              <a:defRPr sz="1400">
                <a:solidFill>
                  <a:srgbClr val="333333"/>
                </a:solidFill>
                <a:latin typeface="Century Gothic"/>
              </a:defRPr>
            </a:pPr>
            <a:r>
              <a:t>- Linguagem clara, objetiva e sem informalidade excessiva.</a:t>
            </a:r>
          </a:p>
          <a:p>
            <a:pPr algn="l">
              <a:spcBef>
                <a:spcPts val="400"/>
              </a:spcBef>
              <a:spcAft>
                <a:spcPts val="400"/>
              </a:spcAft>
              <a:defRPr sz="1400">
                <a:solidFill>
                  <a:srgbClr val="333333"/>
                </a:solidFill>
                <a:latin typeface="Century Gothic"/>
              </a:defRPr>
            </a:pPr>
            <a:r>
              <a:t>- Representa oficialmente a instituição.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ESCORE DE CONTEÚDO (USE COMO BASE):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DIREITOS DO ESTUDANTE:</a:t>
            </a:r>
          </a:p>
          <a:p>
            <a:pPr algn="l">
              <a:spcBef>
                <a:spcPts val="400"/>
              </a:spcBef>
              <a:spcAft>
                <a:spcPts val="400"/>
              </a:spcAft>
              <a:defRPr sz="1400">
                <a:solidFill>
                  <a:srgbClr val="333333"/>
                </a:solidFill>
                <a:latin typeface="Century Gothic"/>
              </a:defRPr>
            </a:pPr>
            <a:r>
              <a:t>- Condições adequadas de aprendizagem e segurança.</a:t>
            </a:r>
          </a:p>
          <a:p>
            <a:pPr algn="l">
              <a:spcBef>
                <a:spcPts val="400"/>
              </a:spcBef>
              <a:spcAft>
                <a:spcPts val="400"/>
              </a:spcAft>
              <a:defRPr sz="1400">
                <a:solidFill>
                  <a:srgbClr val="333333"/>
                </a:solidFill>
                <a:latin typeface="Century Gothic"/>
              </a:defRPr>
            </a:pPr>
            <a:r>
              <a:t>- Atendimento imediato em caso de mal-estar ou acidente.</a:t>
            </a:r>
          </a:p>
          <a:p>
            <a:pPr algn="l">
              <a:spcBef>
                <a:spcPts val="400"/>
              </a:spcBef>
              <a:spcAft>
                <a:spcPts val="400"/>
              </a:spcAft>
              <a:defRPr sz="1400">
                <a:solidFill>
                  <a:srgbClr val="333333"/>
                </a:solidFill>
                <a:latin typeface="Century Gothic"/>
              </a:defRPr>
            </a:pPr>
            <a:r>
              <a:t>- Tratamento igualitário e sem discriminação.</a:t>
            </a:r>
          </a:p>
          <a:p>
            <a:pPr algn="l">
              <a:spcBef>
                <a:spcPts val="400"/>
              </a:spcBef>
              <a:spcAft>
                <a:spcPts val="400"/>
              </a:spcAft>
              <a:defRPr sz="1400">
                <a:solidFill>
                  <a:srgbClr val="333333"/>
                </a:solidFill>
                <a:latin typeface="Century Gothic"/>
              </a:defRPr>
            </a:pPr>
            <a:r>
              <a:t>- Acesso a informações de desempenho e frequência.</a:t>
            </a:r>
          </a:p>
          <a:p>
            <a:pPr algn="l">
              <a:spcBef>
                <a:spcPts val="400"/>
              </a:spcBef>
              <a:spcAft>
                <a:spcPts val="400"/>
              </a:spcAft>
              <a:defRPr sz="1400">
                <a:solidFill>
                  <a:srgbClr val="333333"/>
                </a:solidFill>
                <a:latin typeface="Century Gothic"/>
              </a:defRPr>
            </a:pPr>
            <a:r>
              <a:t>- Uso de biblioteca e laboratórios conforme regras.</a:t>
            </a:r>
          </a:p>
          <a:p>
            <a:pPr algn="l">
              <a:spcBef>
                <a:spcPts val="400"/>
              </a:spcBef>
              <a:spcAft>
                <a:spcPts val="400"/>
              </a:spcAft>
              <a:defRPr sz="1400">
                <a:solidFill>
                  <a:srgbClr val="333333"/>
                </a:solidFill>
                <a:latin typeface="Century Gothic"/>
              </a:defRPr>
            </a:pPr>
            <a:r>
              <a:t>- Justificativa de ausências dentro do prazo.</a:t>
            </a:r>
          </a:p>
          <a:p>
            <a:pPr algn="l">
              <a:spcBef>
                <a:spcPts val="400"/>
              </a:spcBef>
              <a:spcAft>
                <a:spcPts val="400"/>
              </a:spcAft>
              <a:defRPr sz="1400">
                <a:solidFill>
                  <a:srgbClr val="333333"/>
                </a:solidFill>
                <a:latin typeface="Century Gothic"/>
              </a:defRPr>
            </a:pPr>
            <a:r>
              <a:t>- Participação em eventos e representação discente.</a:t>
            </a:r>
          </a:p>
          <a:p>
            <a:pPr algn="l">
              <a:spcBef>
                <a:spcPts val="400"/>
              </a:spcBef>
              <a:spcAft>
                <a:spcPts val="400"/>
              </a:spcAft>
              <a:defRPr sz="1400">
                <a:solidFill>
                  <a:srgbClr val="333333"/>
                </a:solidFill>
                <a:latin typeface="Century Gothic"/>
              </a:defRPr>
            </a:pPr>
            <a:r>
              <a:t>- Solicitação de documentos e trâmites formais dentro dos prazos.</a:t>
            </a:r>
          </a:p>
          <a:p>
            <a:pPr algn="l">
              <a:spcBef>
                <a:spcPts val="400"/>
              </a:spcBef>
              <a:spcAft>
                <a:spcPts val="400"/>
              </a:spcAft>
              <a:defRPr sz="1400">
                <a:solidFill>
                  <a:srgbClr val="333333"/>
                </a:solidFill>
                <a:latin typeface="Century Gothic"/>
              </a:defRPr>
            </a:pPr>
            <a:r>
              <a:t>- Direito de sugerir melhorias e se expressar institucionalmente.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DEVERES DO ESTUDANTE:</a:t>
            </a:r>
          </a:p>
          <a:p>
            <a:pPr algn="l">
              <a:spcBef>
                <a:spcPts val="400"/>
              </a:spcBef>
              <a:spcAft>
                <a:spcPts val="400"/>
              </a:spcAft>
              <a:defRPr sz="1400">
                <a:solidFill>
                  <a:srgbClr val="333333"/>
                </a:solidFill>
                <a:latin typeface="Century Gothic"/>
              </a:defRPr>
            </a:pPr>
            <a:r>
              <a:t>- Justificar ausências com documentos.</a:t>
            </a:r>
          </a:p>
          <a:p>
            <a:pPr algn="l">
              <a:spcBef>
                <a:spcPts val="400"/>
              </a:spcBef>
              <a:spcAft>
                <a:spcPts val="400"/>
              </a:spcAft>
              <a:defRPr sz="1400">
                <a:solidFill>
                  <a:srgbClr val="333333"/>
                </a:solidFill>
                <a:latin typeface="Century Gothic"/>
              </a:defRPr>
            </a:pPr>
            <a:r>
              <a:t>- Respeitar horários e participar das atividades.</a:t>
            </a:r>
          </a:p>
          <a:p>
            <a:pPr algn="l">
              <a:spcBef>
                <a:spcPts val="400"/>
              </a:spcBef>
              <a:spcAft>
                <a:spcPts val="400"/>
              </a:spcAft>
              <a:defRPr sz="1400">
                <a:solidFill>
                  <a:srgbClr val="333333"/>
                </a:solidFill>
                <a:latin typeface="Century Gothic"/>
              </a:defRPr>
            </a:pPr>
            <a:r>
              <a:t>- Usar uniforme quando exigido.</a:t>
            </a:r>
          </a:p>
          <a:p>
            <a:pPr algn="l">
              <a:spcBef>
                <a:spcPts val="400"/>
              </a:spcBef>
              <a:spcAft>
                <a:spcPts val="400"/>
              </a:spcAft>
              <a:defRPr sz="1400">
                <a:solidFill>
                  <a:srgbClr val="333333"/>
                </a:solidFill>
                <a:latin typeface="Century Gothic"/>
              </a:defRPr>
            </a:pPr>
            <a:r>
              <a:t>- Zelar pelos equipamentos e patrimônio.</a:t>
            </a:r>
          </a:p>
          <a:p>
            <a:pPr algn="l">
              <a:spcBef>
                <a:spcPts val="400"/>
              </a:spcBef>
              <a:spcAft>
                <a:spcPts val="400"/>
              </a:spcAft>
              <a:defRPr sz="1400">
                <a:solidFill>
                  <a:srgbClr val="333333"/>
                </a:solidFill>
                <a:latin typeface="Century Gothic"/>
              </a:defRPr>
            </a:pPr>
            <a:r>
              <a:t>- Usar EPIs e respeitar regras de segurança.</a:t>
            </a:r>
          </a:p>
          <a:p>
            <a:pPr algn="l">
              <a:spcBef>
                <a:spcPts val="400"/>
              </a:spcBef>
              <a:spcAft>
                <a:spcPts val="400"/>
              </a:spcAft>
              <a:defRPr sz="1400">
                <a:solidFill>
                  <a:srgbClr val="333333"/>
                </a:solidFill>
                <a:latin typeface="Century Gothic"/>
              </a:defRPr>
            </a:pPr>
            <a:r>
              <a:t>- Manter dados atualizados.</a:t>
            </a:r>
          </a:p>
          <a:p>
            <a:pPr algn="l">
              <a:spcBef>
                <a:spcPts val="400"/>
              </a:spcBef>
              <a:spcAft>
                <a:spcPts val="400"/>
              </a:spcAft>
              <a:defRPr sz="1400">
                <a:solidFill>
                  <a:srgbClr val="333333"/>
                </a:solidFill>
                <a:latin typeface="Century Gothic"/>
              </a:defRPr>
            </a:pPr>
            <a:r>
              <a:t>- Cumprir prazos acadêmicos.</a:t>
            </a:r>
          </a:p>
          <a:p>
            <a:pPr algn="l">
              <a:spcBef>
                <a:spcPts val="400"/>
              </a:spcBef>
              <a:spcAft>
                <a:spcPts val="400"/>
              </a:spcAft>
              <a:defRPr sz="1400">
                <a:solidFill>
                  <a:srgbClr val="333333"/>
                </a:solidFill>
                <a:latin typeface="Century Gothic"/>
              </a:defRPr>
            </a:pPr>
            <a:r>
              <a:t>- Manter conduta ética e respeitosa.</a:t>
            </a:r>
          </a:p>
          <a:p>
            <a:pPr algn="l">
              <a:spcBef>
                <a:spcPts val="400"/>
              </a:spcBef>
              <a:spcAft>
                <a:spcPts val="400"/>
              </a:spcAft>
              <a:defRPr sz="1400">
                <a:solidFill>
                  <a:srgbClr val="333333"/>
                </a:solidFill>
                <a:latin typeface="Century Gothic"/>
              </a:defRPr>
            </a:pPr>
            <a:r>
              <a:t>- Respeitar uso adequado de tecnologia e espaços.</a:t>
            </a:r>
          </a:p>
          <a:p>
            <a:pPr algn="l">
              <a:spcBef>
                <a:spcPts val="400"/>
              </a:spcBef>
              <a:spcAft>
                <a:spcPts val="400"/>
              </a:spcAft>
              <a:defRPr sz="1400">
                <a:solidFill>
                  <a:srgbClr val="333333"/>
                </a:solidFill>
                <a:latin typeface="Century Gothic"/>
              </a:defRPr>
            </a:pPr>
            <a:r>
              <a:t>- Não acessar ambientes práticos sem permissão.</a:t>
            </a:r>
          </a:p>
          <a:p>
            <a:pPr algn="l">
              <a:spcBef>
                <a:spcPts val="400"/>
              </a:spcBef>
              <a:spcAft>
                <a:spcPts val="400"/>
              </a:spcAft>
              <a:defRPr sz="1400">
                <a:solidFill>
                  <a:srgbClr val="333333"/>
                </a:solidFill>
                <a:latin typeface="Century Gothic"/>
              </a:defRPr>
            </a:pPr>
            <a:r>
              <a:t>- Preservar imagem institucional.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PROIBIÇÕES:</a:t>
            </a:r>
          </a:p>
          <a:p>
            <a:pPr algn="l">
              <a:spcBef>
                <a:spcPts val="400"/>
              </a:spcBef>
              <a:spcAft>
                <a:spcPts val="400"/>
              </a:spcAft>
              <a:defRPr sz="1400">
                <a:solidFill>
                  <a:srgbClr val="333333"/>
                </a:solidFill>
                <a:latin typeface="Century Gothic"/>
              </a:defRPr>
            </a:pPr>
            <a:r>
              <a:t>- Levar armas, perigosos ou objetos nocivos.</a:t>
            </a:r>
          </a:p>
          <a:p>
            <a:pPr algn="l">
              <a:spcBef>
                <a:spcPts val="400"/>
              </a:spcBef>
              <a:spcAft>
                <a:spcPts val="400"/>
              </a:spcAft>
              <a:defRPr sz="1400">
                <a:solidFill>
                  <a:srgbClr val="333333"/>
                </a:solidFill>
                <a:latin typeface="Century Gothic"/>
              </a:defRPr>
            </a:pPr>
            <a:r>
              <a:t>- Comida em salas, laboratórios e biblioteca.</a:t>
            </a:r>
          </a:p>
          <a:p>
            <a:pPr algn="l">
              <a:spcBef>
                <a:spcPts val="400"/>
              </a:spcBef>
              <a:spcAft>
                <a:spcPts val="400"/>
              </a:spcAft>
              <a:defRPr sz="1400">
                <a:solidFill>
                  <a:srgbClr val="333333"/>
                </a:solidFill>
                <a:latin typeface="Century Gothic"/>
              </a:defRPr>
            </a:pPr>
            <a:r>
              <a:t>- Danificar patrimônio propositalmente.</a:t>
            </a:r>
          </a:p>
          <a:p>
            <a:pPr algn="l">
              <a:spcBef>
                <a:spcPts val="400"/>
              </a:spcBef>
              <a:spcAft>
                <a:spcPts val="400"/>
              </a:spcAft>
              <a:defRPr sz="1400">
                <a:solidFill>
                  <a:srgbClr val="333333"/>
                </a:solidFill>
                <a:latin typeface="Century Gothic"/>
              </a:defRPr>
            </a:pPr>
            <a:r>
              <a:t>- Entrar em ambientes restritos sem EPIs.</a:t>
            </a:r>
          </a:p>
          <a:p>
            <a:pPr algn="l">
              <a:spcBef>
                <a:spcPts val="400"/>
              </a:spcBef>
              <a:spcAft>
                <a:spcPts val="400"/>
              </a:spcAft>
              <a:defRPr sz="1400">
                <a:solidFill>
                  <a:srgbClr val="333333"/>
                </a:solidFill>
                <a:latin typeface="Century Gothic"/>
              </a:defRPr>
            </a:pPr>
            <a:r>
              <a:t>- Comercialização dentro do ambiente escolar.</a:t>
            </a:r>
          </a:p>
          <a:p>
            <a:pPr algn="l">
              <a:spcBef>
                <a:spcPts val="400"/>
              </a:spcBef>
              <a:spcAft>
                <a:spcPts val="400"/>
              </a:spcAft>
              <a:defRPr sz="1400">
                <a:solidFill>
                  <a:srgbClr val="333333"/>
                </a:solidFill>
                <a:latin typeface="Century Gothic"/>
              </a:defRPr>
            </a:pPr>
            <a:r>
              <a:t>- Drogas, álcool ou presença sob influência.</a:t>
            </a:r>
          </a:p>
          <a:p>
            <a:pPr algn="l">
              <a:spcBef>
                <a:spcPts val="400"/>
              </a:spcBef>
              <a:spcAft>
                <a:spcPts val="400"/>
              </a:spcAft>
              <a:defRPr sz="1400">
                <a:solidFill>
                  <a:srgbClr val="333333"/>
                </a:solidFill>
                <a:latin typeface="Century Gothic"/>
              </a:defRPr>
            </a:pPr>
            <a:r>
              <a:t>- Conteúdo inadequado em sistemas institucionais.</a:t>
            </a:r>
          </a:p>
          <a:p>
            <a:pPr algn="l">
              <a:spcBef>
                <a:spcPts val="400"/>
              </a:spcBef>
              <a:spcAft>
                <a:spcPts val="400"/>
              </a:spcAft>
              <a:defRPr sz="1400">
                <a:solidFill>
                  <a:srgbClr val="333333"/>
                </a:solidFill>
                <a:latin typeface="Century Gothic"/>
              </a:defRPr>
            </a:pPr>
            <a:r>
              <a:t>- Trazer terceiros sem autorização.</a:t>
            </a:r>
          </a:p>
          <a:p>
            <a:pPr algn="l">
              <a:spcBef>
                <a:spcPts val="400"/>
              </a:spcBef>
              <a:spcAft>
                <a:spcPts val="400"/>
              </a:spcAft>
              <a:defRPr sz="1400">
                <a:solidFill>
                  <a:srgbClr val="333333"/>
                </a:solidFill>
                <a:latin typeface="Century Gothic"/>
              </a:defRPr>
            </a:pPr>
            <a:r>
              <a:t>- Vestimenta inadequada para segurança.</a:t>
            </a:r>
          </a:p>
          <a:p>
            <a:pPr algn="l">
              <a:spcBef>
                <a:spcPts val="400"/>
              </a:spcBef>
              <a:spcAft>
                <a:spcPts val="400"/>
              </a:spcAft>
              <a:defRPr sz="1400">
                <a:solidFill>
                  <a:srgbClr val="333333"/>
                </a:solidFill>
                <a:latin typeface="Century Gothic"/>
              </a:defRPr>
            </a:pPr>
            <a:r>
              <a:t>- Violência, bullying, hostilidade e discriminação.</a:t>
            </a:r>
          </a:p>
          <a:p>
            <a:pPr algn="l">
              <a:spcBef>
                <a:spcPts val="400"/>
              </a:spcBef>
              <a:spcAft>
                <a:spcPts val="400"/>
              </a:spcAft>
              <a:defRPr sz="1400">
                <a:solidFill>
                  <a:srgbClr val="333333"/>
                </a:solidFill>
                <a:latin typeface="Century Gothic"/>
              </a:defRPr>
            </a:pPr>
            <a:r>
              <a:t>- Usar nome da instituição sem autorização.</a:t>
            </a:r>
          </a:p>
          <a:p>
            <a:pPr algn="l">
              <a:spcBef>
                <a:spcPts val="400"/>
              </a:spcBef>
              <a:spcAft>
                <a:spcPts val="400"/>
              </a:spcAft>
              <a:defRPr sz="1400">
                <a:solidFill>
                  <a:srgbClr val="333333"/>
                </a:solidFill>
                <a:latin typeface="Century Gothic"/>
              </a:defRPr>
            </a:pPr>
            <a:r>
              <a:t>- Apropriação indevida de bens.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MEDIDAS PEDAGÓGICAS:</a:t>
            </a:r>
          </a:p>
          <a:p>
            <a:pPr algn="l">
              <a:spcBef>
                <a:spcPts val="400"/>
              </a:spcBef>
              <a:spcAft>
                <a:spcPts val="400"/>
              </a:spcAft>
              <a:defRPr sz="1400">
                <a:solidFill>
                  <a:srgbClr val="333333"/>
                </a:solidFill>
                <a:latin typeface="Century Gothic"/>
              </a:defRPr>
            </a:pPr>
            <a:r>
              <a:t>- Orientação educativa.</a:t>
            </a:r>
          </a:p>
          <a:p>
            <a:pPr algn="l">
              <a:spcBef>
                <a:spcPts val="400"/>
              </a:spcBef>
              <a:spcAft>
                <a:spcPts val="400"/>
              </a:spcAft>
              <a:defRPr sz="1400">
                <a:solidFill>
                  <a:srgbClr val="333333"/>
                </a:solidFill>
                <a:latin typeface="Century Gothic"/>
              </a:defRPr>
            </a:pPr>
            <a:r>
              <a:t>- Encaminhamento pedagógico.</a:t>
            </a:r>
          </a:p>
          <a:p>
            <a:pPr algn="l">
              <a:spcBef>
                <a:spcPts val="400"/>
              </a:spcBef>
              <a:spcAft>
                <a:spcPts val="400"/>
              </a:spcAft>
              <a:defRPr sz="1400">
                <a:solidFill>
                  <a:srgbClr val="333333"/>
                </a:solidFill>
                <a:latin typeface="Century Gothic"/>
              </a:defRPr>
            </a:pPr>
            <a:r>
              <a:t>- Advertência verbal.</a:t>
            </a:r>
          </a:p>
          <a:p>
            <a:pPr algn="l">
              <a:spcBef>
                <a:spcPts val="400"/>
              </a:spcBef>
              <a:spcAft>
                <a:spcPts val="400"/>
              </a:spcAft>
              <a:defRPr sz="1400">
                <a:solidFill>
                  <a:srgbClr val="333333"/>
                </a:solidFill>
                <a:latin typeface="Century Gothic"/>
              </a:defRPr>
            </a:pPr>
            <a:r>
              <a:t>- Advertência escrita (registrada).</a:t>
            </a:r>
          </a:p>
          <a:p>
            <a:pPr algn="l">
              <a:spcBef>
                <a:spcPts val="400"/>
              </a:spcBef>
              <a:spcAft>
                <a:spcPts val="400"/>
              </a:spcAft>
              <a:defRPr sz="1400">
                <a:solidFill>
                  <a:srgbClr val="333333"/>
                </a:solidFill>
                <a:latin typeface="Century Gothic"/>
              </a:defRPr>
            </a:pPr>
            <a:r>
              <a:t>- Suspensão (1 a 3 dias, com falta registrada).</a:t>
            </a:r>
          </a:p>
          <a:p>
            <a:pPr algn="l">
              <a:spcBef>
                <a:spcPts val="400"/>
              </a:spcBef>
              <a:spcAft>
                <a:spcPts val="400"/>
              </a:spcAft>
              <a:defRPr sz="1400">
                <a:solidFill>
                  <a:srgbClr val="333333"/>
                </a:solidFill>
                <a:latin typeface="Century Gothic"/>
              </a:defRPr>
            </a:pPr>
            <a:r>
              <a:t>- Transferência involuntária em casos graves.</a:t>
            </a:r>
          </a:p>
          <a:p>
            <a:pPr algn="l">
              <a:spcBef>
                <a:spcPts val="400"/>
              </a:spcBef>
              <a:spcAft>
                <a:spcPts val="400"/>
              </a:spcAft>
              <a:defRPr sz="1400">
                <a:solidFill>
                  <a:srgbClr val="333333"/>
                </a:solidFill>
                <a:latin typeface="Century Gothic"/>
              </a:defRPr>
            </a:pPr>
            <a:r>
              <a:t>- Medidas proporcionais, progressivas e registradas.</a:t>
            </a:r>
          </a:p>
          <a:p>
            <a:pPr algn="l">
              <a:spcBef>
                <a:spcPts val="400"/>
              </a:spcBef>
              <a:spcAft>
                <a:spcPts val="400"/>
              </a:spcAft>
              <a:defRPr sz="1400">
                <a:solidFill>
                  <a:srgbClr val="333333"/>
                </a:solidFill>
                <a:latin typeface="Century Gothic"/>
              </a:defRPr>
            </a:pPr>
            <a:r>
              <a:t>- Responsáveis podem ser convocados.</a:t>
            </a:r>
          </a:p>
          <a:p>
            <a:pPr algn="l">
              <a:spcBef>
                <a:spcPts val="400"/>
              </a:spcBef>
              <a:spcAft>
                <a:spcPts val="400"/>
              </a:spcAft>
              <a:defRPr sz="1400">
                <a:solidFill>
                  <a:srgbClr val="333333"/>
                </a:solidFill>
                <a:latin typeface="Century Gothic"/>
              </a:defRPr>
            </a:pPr>
            <a:r>
              <a:t>- Possibilidade de revisão da medida.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REGRAS DE RESPOSTA:</a:t>
            </a:r>
          </a:p>
          <a:p>
            <a:pPr algn="l">
              <a:spcBef>
                <a:spcPts val="400"/>
              </a:spcBef>
              <a:spcAft>
                <a:spcPts val="400"/>
              </a:spcAft>
              <a:defRPr sz="1400">
                <a:solidFill>
                  <a:srgbClr val="333333"/>
                </a:solidFill>
                <a:latin typeface="Century Gothic"/>
              </a:defRPr>
            </a:pPr>
            <a:r>
              <a:t>- Fale de forma clara, objetiva e institucional.</a:t>
            </a:r>
          </a:p>
          <a:p>
            <a:pPr algn="l">
              <a:spcBef>
                <a:spcPts val="400"/>
              </a:spcBef>
              <a:spcAft>
                <a:spcPts val="400"/>
              </a:spcAft>
              <a:defRPr sz="1400">
                <a:solidFill>
                  <a:srgbClr val="333333"/>
                </a:solidFill>
                <a:latin typeface="Century Gothic"/>
              </a:defRPr>
            </a:pPr>
            <a:r>
              <a:t>- Não invente informações específicas (datas, valores, nomes de setores).</a:t>
            </a:r>
          </a:p>
          <a:p>
            <a:pPr algn="l">
              <a:spcBef>
                <a:spcPts val="400"/>
              </a:spcBef>
              <a:spcAft>
                <a:spcPts val="400"/>
              </a:spcAft>
              <a:defRPr sz="1400">
                <a:solidFill>
                  <a:srgbClr val="333333"/>
                </a:solidFill>
                <a:latin typeface="Century Gothic"/>
              </a:defRPr>
            </a:pPr>
            <a:r>
              <a:t>- Se a pergunta estiver fora do escopo, redirecione para setor oficial.</a:t>
            </a:r>
          </a:p>
          <a:p>
            <a:pPr algn="l">
              <a:spcBef>
                <a:spcPts val="400"/>
              </a:spcBef>
              <a:spcAft>
                <a:spcPts val="400"/>
              </a:spcAft>
              <a:defRPr sz="1400">
                <a:solidFill>
                  <a:srgbClr val="333333"/>
                </a:solidFill>
                <a:latin typeface="Century Gothic"/>
              </a:defRPr>
            </a:pPr>
            <a:r>
              <a:t>- Não diga "sou uma IA". Responda como assistente institucional.</a:t>
            </a:r>
          </a:p>
          <a:p>
            <a:pPr algn="l">
              <a:spcBef>
                <a:spcPts val="400"/>
              </a:spcBef>
              <a:spcAft>
                <a:spcPts val="400"/>
              </a:spcAft>
              <a:defRPr sz="1400">
                <a:solidFill>
                  <a:srgbClr val="333333"/>
                </a:solidFill>
                <a:latin typeface="Century Gothic"/>
              </a:defRPr>
            </a:pPr>
            <a:r>
              <a:t>- Se não tiver certeza, responda com: "Para essa informação específica, consulte a Secretaria Escolar ou a coordenação pedagógica."</a:t>
            </a:r>
          </a:p>
          <a:p>
            <a:pPr algn="l">
              <a:spcBef>
                <a:spcPts val="400"/>
              </a:spcBef>
              <a:spcAft>
                <a:spcPts val="400"/>
              </a:spcAft>
              <a:defRPr sz="1400">
                <a:solidFill>
                  <a:srgbClr val="333333"/>
                </a:solidFill>
                <a:latin typeface="Century Gothic"/>
              </a:defRPr>
            </a:pPr>
            <a:r>
              <a:t>- Priorize respostas curtas e com orientação prática.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FRASES PADRÃO:</a:t>
            </a:r>
          </a:p>
          <a:p>
            <a:pPr algn="l">
              <a:spcBef>
                <a:spcPts val="400"/>
              </a:spcBef>
              <a:spcAft>
                <a:spcPts val="400"/>
              </a:spcAft>
              <a:defRPr sz="1400">
                <a:solidFill>
                  <a:srgbClr val="333333"/>
                </a:solidFill>
                <a:latin typeface="Century Gothic"/>
              </a:defRPr>
            </a:pPr>
            <a:r>
              <a:t>- "Conforme orientações institucionais..."</a:t>
            </a:r>
          </a:p>
          <a:p>
            <a:pPr algn="l">
              <a:spcBef>
                <a:spcPts val="400"/>
              </a:spcBef>
              <a:spcAft>
                <a:spcPts val="400"/>
              </a:spcAft>
              <a:defRPr sz="1400">
                <a:solidFill>
                  <a:srgbClr val="333333"/>
                </a:solidFill>
                <a:latin typeface="Century Gothic"/>
              </a:defRPr>
            </a:pPr>
            <a:r>
              <a:t>- "Recomenda-se procurar a coordenação para confirmação."</a:t>
            </a:r>
          </a:p>
          <a:p>
            <a:pPr algn="l">
              <a:spcBef>
                <a:spcPts val="400"/>
              </a:spcBef>
              <a:spcAft>
                <a:spcPts val="400"/>
              </a:spcAft>
              <a:defRPr sz="1400">
                <a:solidFill>
                  <a:srgbClr val="333333"/>
                </a:solidFill>
                <a:latin typeface="Century Gothic"/>
              </a:defRPr>
            </a:pPr>
            <a:r>
              <a:t>- "Dentro do previsto pelo guia institucional..."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RESPOSTA AO DESCONHECIMENTO:</a:t>
            </a:r>
          </a:p>
          <a:p>
            <a:pPr algn="l">
              <a:spcBef>
                <a:spcPts val="400"/>
              </a:spcBef>
              <a:spcAft>
                <a:spcPts val="400"/>
              </a:spcAft>
              <a:defRPr sz="1400">
                <a:solidFill>
                  <a:srgbClr val="333333"/>
                </a:solidFill>
                <a:latin typeface="Century Gothic"/>
              </a:defRPr>
            </a:pPr>
            <a:r>
              <a:t>"Essa informação específica deve ser confirmada diretamente com o setor responsável. Posso ajudar com orientações gerais sobre conduta e regras institucionais."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41: CONTEÚDO (USE COMO BASE):</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DIREITOS DO ESTUDANTE:</a:t>
            </a:r>
          </a:p>
          <a:p>
            <a:pPr algn="l">
              <a:spcBef>
                <a:spcPts val="400"/>
              </a:spcBef>
              <a:spcAft>
                <a:spcPts val="400"/>
              </a:spcAft>
              <a:defRPr sz="1400">
                <a:solidFill>
                  <a:srgbClr val="333333"/>
                </a:solidFill>
                <a:latin typeface="Century Gothic"/>
              </a:defRPr>
            </a:pPr>
            <a:r>
              <a:t>- Condições adequadas de aprendizagem e segurança.</a:t>
            </a:r>
          </a:p>
          <a:p>
            <a:pPr algn="l">
              <a:spcBef>
                <a:spcPts val="400"/>
              </a:spcBef>
              <a:spcAft>
                <a:spcPts val="400"/>
              </a:spcAft>
              <a:defRPr sz="1400">
                <a:solidFill>
                  <a:srgbClr val="333333"/>
                </a:solidFill>
                <a:latin typeface="Century Gothic"/>
              </a:defRPr>
            </a:pPr>
            <a:r>
              <a:t>- Atendimento imediato em caso de mal-estar ou acidente.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DEVERES DO ESTUDANTE:</a:t>
            </a:r>
          </a:p>
          <a:p>
            <a:pPr algn="l">
              <a:spcBef>
                <a:spcPts val="400"/>
              </a:spcBef>
              <a:spcAft>
                <a:spcPts val="400"/>
              </a:spcAft>
              <a:defRPr sz="1400">
                <a:solidFill>
                  <a:srgbClr val="333333"/>
                </a:solidFill>
                <a:latin typeface="Century Gothic"/>
              </a:defRPr>
            </a:pPr>
            <a:r>
              <a:t>- Justificar ausências com documentos.</a:t>
            </a:r>
          </a:p>
          <a:p>
            <a:pPr algn="l">
              <a:spcBef>
                <a:spcPts val="400"/>
              </a:spcBef>
              <a:spcAft>
                <a:spcPts val="400"/>
              </a:spcAft>
              <a:defRPr sz="1400">
                <a:solidFill>
                  <a:srgbClr val="333333"/>
                </a:solidFill>
                <a:latin typeface="Century Gothic"/>
              </a:defRPr>
            </a:pPr>
            <a:r>
              <a:t>- Respeitar horários e participar das atividades.</a:t>
            </a:r>
          </a:p>
          <a:p>
            <a:pPr algn="l">
              <a:spcBef>
                <a:spcPts val="400"/>
              </a:spcBef>
              <a:spcAft>
                <a:spcPts val="400"/>
              </a:spcAft>
              <a:defRPr sz="1400">
                <a:solidFill>
                  <a:srgbClr val="333333"/>
                </a:solidFill>
                <a:latin typeface="Century Gothic"/>
              </a:defRPr>
            </a:pPr>
            <a:r>
              <a:t>- Usar uniforme quando exigido.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42: REGRAS DE RESPOSTA:</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 Fale de forma clara, objetiva e institucional.</a:t>
            </a:r>
          </a:p>
          <a:p>
            <a:pPr algn="l">
              <a:spcBef>
                <a:spcPts val="400"/>
              </a:spcBef>
              <a:spcAft>
                <a:spcPts val="400"/>
              </a:spcAft>
              <a:defRPr sz="1400">
                <a:solidFill>
                  <a:srgbClr val="333333"/>
                </a:solidFill>
                <a:latin typeface="Century Gothic"/>
              </a:defRPr>
            </a:pPr>
            <a:r>
              <a:t>- Não invente informações específicas (datas, valores, nomes de setores).</a:t>
            </a:r>
          </a:p>
          <a:p>
            <a:pPr algn="l">
              <a:spcBef>
                <a:spcPts val="400"/>
              </a:spcBef>
              <a:spcAft>
                <a:spcPts val="400"/>
              </a:spcAft>
              <a:defRPr sz="1400">
                <a:solidFill>
                  <a:srgbClr val="333333"/>
                </a:solidFill>
                <a:latin typeface="Century Gothic"/>
              </a:defRPr>
            </a:pPr>
            <a:r>
              <a:t>- Se a pergunta estiver fora do escopo, redirecione para setor oficial.</a:t>
            </a:r>
          </a:p>
          <a:p>
            <a:pPr algn="l">
              <a:spcBef>
                <a:spcPts val="400"/>
              </a:spcBef>
              <a:spcAft>
                <a:spcPts val="400"/>
              </a:spcAft>
              <a:defRPr sz="1400">
                <a:solidFill>
                  <a:srgbClr val="333333"/>
                </a:solidFill>
                <a:latin typeface="Century Gothic"/>
              </a:defRPr>
            </a:pPr>
            <a:r>
              <a:t>- Não diga "sou uma IA". Responda como assistente institucional.</a:t>
            </a:r>
          </a:p>
          <a:p>
            <a:pPr algn="l">
              <a:spcBef>
                <a:spcPts val="400"/>
              </a:spcBef>
              <a:spcAft>
                <a:spcPts val="400"/>
              </a:spcAft>
              <a:defRPr sz="1400">
                <a:solidFill>
                  <a:srgbClr val="333333"/>
                </a:solidFill>
                <a:latin typeface="Century Gothic"/>
              </a:defRPr>
            </a:pPr>
            <a:r>
              <a:t>- Se não tiver certeza, responda com: "Para essa informação específica, consulte a Secretaria Escolar ou a coordenação pedagógica."</a:t>
            </a:r>
          </a:p>
          <a:p>
            <a:pPr algn="l">
              <a:spcBef>
                <a:spcPts val="400"/>
              </a:spcBef>
              <a:spcAft>
                <a:spcPts val="400"/>
              </a:spcAft>
              <a:defRPr sz="1400">
                <a:solidFill>
                  <a:srgbClr val="333333"/>
                </a:solidFill>
                <a:latin typeface="Century Gothic"/>
              </a:defRPr>
            </a:pPr>
            <a:r>
              <a:t>- Priorize respostas curtas e com orientação prática.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FRASES PADRÃO:</a:t>
            </a:r>
          </a:p>
          <a:p>
            <a:pPr algn="l">
              <a:spcBef>
                <a:spcPts val="400"/>
              </a:spcBef>
              <a:spcAft>
                <a:spcPts val="400"/>
              </a:spcAft>
              <a:defRPr sz="1400">
                <a:solidFill>
                  <a:srgbClr val="333333"/>
                </a:solidFill>
                <a:latin typeface="Century Gothic"/>
              </a:defRPr>
            </a:pPr>
            <a:r>
              <a:t>- "Conforme orientações institucionais..."</a:t>
            </a:r>
          </a:p>
          <a:p>
            <a:pPr algn="l">
              <a:spcBef>
                <a:spcPts val="400"/>
              </a:spcBef>
              <a:spcAft>
                <a:spcPts val="400"/>
              </a:spcAft>
              <a:defRPr sz="1400">
                <a:solidFill>
                  <a:srgbClr val="333333"/>
                </a:solidFill>
                <a:latin typeface="Century Gothic"/>
              </a:defRPr>
            </a:pPr>
            <a:r>
              <a:t>- "Recomenda-se procurar a coordenação para confirmação."</a:t>
            </a:r>
          </a:p>
          <a:p>
            <a:pPr algn="l">
              <a:spcBef>
                <a:spcPts val="400"/>
              </a:spcBef>
              <a:spcAft>
                <a:spcPts val="400"/>
              </a:spcAft>
              <a:defRPr sz="1400">
                <a:solidFill>
                  <a:srgbClr val="333333"/>
                </a:solidFill>
                <a:latin typeface="Century Gothic"/>
              </a:defRPr>
            </a:pPr>
            <a:r>
              <a:t>- "Dentro do previsto pelo guia institucional..."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RESPOSTA AO DESCONHECIMENTO:</a:t>
            </a:r>
          </a:p>
          <a:p>
            <a:pPr algn="l">
              <a:spcBef>
                <a:spcPts val="400"/>
              </a:spcBef>
              <a:spcAft>
                <a:spcPts val="400"/>
              </a:spcAft>
              <a:defRPr sz="1400">
                <a:solidFill>
                  <a:srgbClr val="333333"/>
                </a:solidFill>
                <a:latin typeface="Century Gothic"/>
              </a:defRPr>
            </a:pPr>
            <a:r>
              <a:t>"Essa informação específica deve ser confirmada diretamente com o setor responsável. Posso ajudar com orientações gerais sobre conduta e regras institucionais."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 Testar o Bot | Publicar como GPT | Criar Página FAQ | Converter para App |</a:t>
            </a:r>
          </a:p>
          <a:p>
            <a:pPr algn="l">
              <a:spcBef>
                <a:spcPts val="400"/>
              </a:spcBef>
              <a:spcAft>
                <a:spcPts val="400"/>
              </a:spcAft>
              <a:defRPr sz="1400">
                <a:solidFill>
                  <a:srgbClr val="333333"/>
                </a:solidFill>
                <a:latin typeface="Century Gothic"/>
              </a:defRPr>
            </a:pPr>
            <a:r>
              <a:t>| --- | --- | --- | --- | --- |</a:t>
            </a:r>
          </a:p>
          <a:p>
            <a:pPr algn="l">
              <a:spcBef>
                <a:spcPts val="400"/>
              </a:spcBef>
              <a:spcAft>
                <a:spcPts val="400"/>
              </a:spcAft>
              <a:defRPr sz="1400">
                <a:solidFill>
                  <a:srgbClr val="333333"/>
                </a:solidFill>
                <a:latin typeface="Century Gothic"/>
              </a:defRPr>
            </a:pPr>
            <a:r>
              <a:t>| Pra que serve: | Ver se ele está claro, educado e alinhado com as regras. | Criar um bot oficial “clicável” | Ter material visual e consultável sem depender do bot. | Usar como atendimento automático real, não só consultoria. |</a:t>
            </a:r>
          </a:p>
          <a:p>
            <a:pPr algn="l">
              <a:spcBef>
                <a:spcPts val="400"/>
              </a:spcBef>
              <a:spcAft>
                <a:spcPts val="400"/>
              </a:spcAft>
              <a:defRPr sz="1400">
                <a:solidFill>
                  <a:srgbClr val="333333"/>
                </a:solidFill>
                <a:latin typeface="Century Gothic"/>
              </a:defRPr>
            </a:pPr>
            <a:r>
              <a:t>| Resultado: | Você já sai com a “versão validada” | ChatBot pronto para uso | Página online ou arquivo. | ChatBot implementado em App (ex.: whatsapp) |</a:t>
            </a:r>
          </a:p>
          <a:p>
            <a:pPr algn="l">
              <a:spcBef>
                <a:spcPts val="400"/>
              </a:spcBef>
              <a:spcAft>
                <a:spcPts val="400"/>
              </a:spcAft>
              <a:defRPr sz="1400">
                <a:solidFill>
                  <a:srgbClr val="333333"/>
                </a:solidFill>
                <a:latin typeface="Century Gothic"/>
              </a:defRPr>
            </a:pPr>
            <a:r>
              <a:t>| Nível de Complexidade: | Baixo | Média | Média | Alto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43: Próximos Passos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SLIDE 43A: Estratégias para Textos Longos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O Desafio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Pedir para gerar 5000 palavras de uma vez pode resultar em texto repetitivo ou incompleto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Segmentar a tarefa melhora qualidade, clareza e controle do resultado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Estratégia 1: Segmentação de Conteúdo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**Técnica:** Dividir texto longo em seções menores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**Exemplo:**</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r>
              <a:t>❌ "Escreva um manual de 50 páginas sobre..."</a:t>
            </a:r>
          </a:p>
          <a:p>
            <a:pPr algn="l">
              <a:spcBef>
                <a:spcPts val="400"/>
              </a:spcBef>
              <a:spcAft>
                <a:spcPts val="400"/>
              </a:spcAft>
              <a:defRPr sz="1400">
                <a:solidFill>
                  <a:srgbClr val="333333"/>
                </a:solidFill>
                <a:latin typeface="Century Gothic"/>
              </a:defRPr>
            </a:pPr>
            <a:r>
              <a:t>✅ "Escreva a SEÇÃO 1 (10 páginas) sobre [tópico específico]..."</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Estratégia 2: Uso de Templates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**Técnica:** Definir estrutura clara antes de gerar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**Exemplo:**</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r>
              <a:t>"Crie 3 parágrafos sobre [tema], cada um com:</a:t>
            </a:r>
          </a:p>
          <a:p>
            <a:pPr algn="l">
              <a:spcBef>
                <a:spcPts val="400"/>
              </a:spcBef>
              <a:spcAft>
                <a:spcPts val="400"/>
              </a:spcAft>
              <a:defRPr sz="1400">
                <a:solidFill>
                  <a:srgbClr val="333333"/>
                </a:solidFill>
                <a:latin typeface="Century Gothic"/>
              </a:defRPr>
            </a:pPr>
            <a:r>
              <a:t>- Introdução (1 frase)</a:t>
            </a:r>
          </a:p>
          <a:p>
            <a:pPr algn="l">
              <a:spcBef>
                <a:spcPts val="400"/>
              </a:spcBef>
              <a:spcAft>
                <a:spcPts val="400"/>
              </a:spcAft>
              <a:defRPr sz="1400">
                <a:solidFill>
                  <a:srgbClr val="333333"/>
                </a:solidFill>
                <a:latin typeface="Century Gothic"/>
              </a:defRPr>
            </a:pPr>
            <a:r>
              <a:t>- Desenvolvimento (3 sentenças)</a:t>
            </a:r>
          </a:p>
          <a:p>
            <a:pPr algn="l">
              <a:spcBef>
                <a:spcPts val="400"/>
              </a:spcBef>
              <a:spcAft>
                <a:spcPts val="400"/>
              </a:spcAft>
              <a:defRPr sz="1400">
                <a:solidFill>
                  <a:srgbClr val="333333"/>
                </a:solidFill>
                <a:latin typeface="Century Gothic"/>
              </a:defRPr>
            </a:pPr>
            <a:r>
              <a:t>- Conclusão (1 frase)"</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Estratégia 3: Contextualizando Informações Complexas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**Técnica:** Fornecer contexto prévio para respostas mais relevantes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**Exemplo:**</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r>
              <a:t>"Para um público de adolescentes, escreva sobre [tema]:</a:t>
            </a:r>
          </a:p>
          <a:p>
            <a:pPr algn="l">
              <a:spcBef>
                <a:spcPts val="400"/>
              </a:spcBef>
              <a:spcAft>
                <a:spcPts val="400"/>
              </a:spcAft>
              <a:defRPr sz="1400">
                <a:solidFill>
                  <a:srgbClr val="333333"/>
                </a:solidFill>
                <a:latin typeface="Century Gothic"/>
              </a:defRPr>
            </a:pPr>
            <a:r>
              <a:t>- Linguagem: simples e descontraída</a:t>
            </a:r>
          </a:p>
          <a:p>
            <a:pPr algn="l">
              <a:spcBef>
                <a:spcPts val="400"/>
              </a:spcBef>
              <a:spcAft>
                <a:spcPts val="400"/>
              </a:spcAft>
              <a:defRPr sz="1400">
                <a:solidFill>
                  <a:srgbClr val="333333"/>
                </a:solidFill>
                <a:latin typeface="Century Gothic"/>
              </a:defRPr>
            </a:pPr>
            <a:r>
              <a:t>- Exemplos: da realidade deles</a:t>
            </a:r>
          </a:p>
          <a:p>
            <a:pPr algn="l">
              <a:spcBef>
                <a:spcPts val="400"/>
              </a:spcBef>
              <a:spcAft>
                <a:spcPts val="400"/>
              </a:spcAft>
              <a:defRPr sz="1400">
                <a:solidFill>
                  <a:srgbClr val="333333"/>
                </a:solidFill>
                <a:latin typeface="Century Gothic"/>
              </a:defRPr>
            </a:pPr>
            <a:r>
              <a:t>- Comprimento: máximo 500 palavras"</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Estratégia 4: Geração em Etapas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**Técnica:** Fazer perguntas de forma progressiva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**Etapa 1:** Gerar outline/estrutura</a:t>
            </a:r>
          </a:p>
          <a:p>
            <a:pPr algn="l">
              <a:spcBef>
                <a:spcPts val="400"/>
              </a:spcBef>
              <a:spcAft>
                <a:spcPts val="400"/>
              </a:spcAft>
              <a:defRPr sz="1400">
                <a:solidFill>
                  <a:srgbClr val="333333"/>
                </a:solidFill>
                <a:latin typeface="Century Gothic"/>
              </a:defRPr>
            </a:pPr>
            <a:r>
              <a:t>**Etapa 2:** Expandir cada seção</a:t>
            </a:r>
          </a:p>
          <a:p>
            <a:pPr algn="l">
              <a:spcBef>
                <a:spcPts val="400"/>
              </a:spcBef>
              <a:spcAft>
                <a:spcPts val="400"/>
              </a:spcAft>
              <a:defRPr sz="1400">
                <a:solidFill>
                  <a:srgbClr val="333333"/>
                </a:solidFill>
                <a:latin typeface="Century Gothic"/>
              </a:defRPr>
            </a:pPr>
            <a:r>
              <a:t>**Etapa 3:** Refinar e editar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Estratégia 5: Revisão e Síntese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**Técnica:** Pedir refinamento iterativo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**Exemplo:**</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r>
              <a:t>"Com base no texto anterior, resuma em máximo 200 palavras mantendo ideias principais"</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Exemplo Prático Completo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**Tarefa:** Criar um e-book de 20 páginas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**Abordagem Segmentada:**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1. ✔ Outline de 20 capítulos (2 páginas cada)</a:t>
            </a:r>
          </a:p>
          <a:p>
            <a:pPr algn="l">
              <a:spcBef>
                <a:spcPts val="400"/>
              </a:spcBef>
              <a:spcAft>
                <a:spcPts val="400"/>
              </a:spcAft>
              <a:defRPr sz="1400">
                <a:solidFill>
                  <a:srgbClr val="333333"/>
                </a:solidFill>
                <a:latin typeface="Century Gothic"/>
              </a:defRPr>
            </a:pPr>
            <a:r>
              <a:t>2. ✔ Introdução e conclusão</a:t>
            </a:r>
          </a:p>
          <a:p>
            <a:pPr algn="l">
              <a:spcBef>
                <a:spcPts val="400"/>
              </a:spcBef>
              <a:spcAft>
                <a:spcPts val="400"/>
              </a:spcAft>
              <a:defRPr sz="1400">
                <a:solidFill>
                  <a:srgbClr val="333333"/>
                </a:solidFill>
                <a:latin typeface="Century Gothic"/>
              </a:defRPr>
            </a:pPr>
            <a:r>
              <a:t>3. ✔ Capítulo 1 completo (2 páginas)</a:t>
            </a:r>
          </a:p>
          <a:p>
            <a:pPr algn="l">
              <a:spcBef>
                <a:spcPts val="400"/>
              </a:spcBef>
              <a:spcAft>
                <a:spcPts val="400"/>
              </a:spcAft>
              <a:defRPr sz="1400">
                <a:solidFill>
                  <a:srgbClr val="333333"/>
                </a:solidFill>
                <a:latin typeface="Century Gothic"/>
              </a:defRPr>
            </a:pPr>
            <a:r>
              <a:t>4. ✔ Capítulo 2 completo (2 páginas)</a:t>
            </a:r>
          </a:p>
          <a:p>
            <a:pPr algn="l">
              <a:spcBef>
                <a:spcPts val="400"/>
              </a:spcBef>
              <a:spcAft>
                <a:spcPts val="400"/>
              </a:spcAft>
              <a:defRPr sz="1400">
                <a:solidFill>
                  <a:srgbClr val="333333"/>
                </a:solidFill>
                <a:latin typeface="Century Gothic"/>
              </a:defRPr>
            </a:pPr>
            <a:r>
              <a:t>5. ✔ [Repetir para cada capítulo]</a:t>
            </a:r>
          </a:p>
          <a:p>
            <a:pPr algn="l">
              <a:spcBef>
                <a:spcPts val="400"/>
              </a:spcBef>
              <a:spcAft>
                <a:spcPts val="400"/>
              </a:spcAft>
              <a:defRPr sz="1400">
                <a:solidFill>
                  <a:srgbClr val="333333"/>
                </a:solidFill>
                <a:latin typeface="Century Gothic"/>
              </a:defRPr>
            </a:pPr>
            <a:r>
              <a:t>6. ✔ Editar final e revisar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44: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45: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46: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47: Atividade Prática: Criação de Gems (Google)</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 **ATUALIZADO:** Agora usando Google Gems (Gratuito e Fácil)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Por que Google Gems?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**100% Gratuito** — Sem limite de uso (ao contrário de ChatGPT Custom Bots que é pago)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**Simples de Criar** — Interface intuitiva, sem necessidade de código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**Salva Automaticamente** — Sem perder configurações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**Acesso Rápido** — Disponível em Google AI Studio (https://aistudio.google.com)</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Contexto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Os alunos têm dificuldade em revisar conteúdo de matemática fora de sala, principalmente porque não sabem como pedir ajuda ou organizar dúvidas. Eles vão criar um Gem (assistente personalizado) que responda perguntas básicas de matemática e ajude outros alunos a estudar de forma autônoma.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Desafio: Criar um Gem de Tutoria em Matemática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**Objetivo:** Criar um Gem que responda dúvidas de matemática de forma clara e passo a passo.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**Escopo:** Operações, frações, porcentagem, equações básicas, regras de sinais.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**Cada dupla deve:**</a:t>
            </a:r>
          </a:p>
          <a:p>
            <a:pPr algn="l">
              <a:spcBef>
                <a:spcPts val="400"/>
              </a:spcBef>
              <a:spcAft>
                <a:spcPts val="400"/>
              </a:spcAft>
              <a:defRPr sz="1400">
                <a:solidFill>
                  <a:srgbClr val="333333"/>
                </a:solidFill>
                <a:latin typeface="Century Gothic"/>
              </a:defRPr>
            </a:pPr>
            <a:r>
              <a:t>1. Acessar https://aistudio.google.com</a:t>
            </a:r>
          </a:p>
          <a:p>
            <a:pPr algn="l">
              <a:spcBef>
                <a:spcPts val="400"/>
              </a:spcBef>
              <a:spcAft>
                <a:spcPts val="400"/>
              </a:spcAft>
              <a:defRPr sz="1400">
                <a:solidFill>
                  <a:srgbClr val="333333"/>
                </a:solidFill>
                <a:latin typeface="Century Gothic"/>
              </a:defRPr>
            </a:pPr>
            <a:r>
              <a:t>2. Criar um novo Gem (clique em “Create a Gem”)</a:t>
            </a:r>
          </a:p>
          <a:p>
            <a:pPr algn="l">
              <a:spcBef>
                <a:spcPts val="400"/>
              </a:spcBef>
              <a:spcAft>
                <a:spcPts val="400"/>
              </a:spcAft>
              <a:defRPr sz="1400">
                <a:solidFill>
                  <a:srgbClr val="333333"/>
                </a:solidFill>
                <a:latin typeface="Century Gothic"/>
              </a:defRPr>
            </a:pPr>
            <a:r>
              <a:t>3. Definir o nome (ex: “Tutor de Matemática — Porcentagem”)</a:t>
            </a:r>
          </a:p>
          <a:p>
            <a:pPr algn="l">
              <a:spcBef>
                <a:spcPts val="400"/>
              </a:spcBef>
              <a:spcAft>
                <a:spcPts val="400"/>
              </a:spcAft>
              <a:defRPr sz="1400">
                <a:solidFill>
                  <a:srgbClr val="333333"/>
                </a:solidFill>
                <a:latin typeface="Century Gothic"/>
              </a:defRPr>
            </a:pPr>
            <a:r>
              <a:t>4. Descrever a personalidade (ex: tutor paciente, professor sério, bot divertido)</a:t>
            </a:r>
          </a:p>
          <a:p>
            <a:pPr algn="l">
              <a:spcBef>
                <a:spcPts val="400"/>
              </a:spcBef>
              <a:spcAft>
                <a:spcPts val="400"/>
              </a:spcAft>
              <a:defRPr sz="1400">
                <a:solidFill>
                  <a:srgbClr val="333333"/>
                </a:solidFill>
                <a:latin typeface="Century Gothic"/>
              </a:defRPr>
            </a:pPr>
            <a:r>
              <a:t>5. Escrever instruções detalhadas (regras e exemplos)</a:t>
            </a:r>
          </a:p>
          <a:p>
            <a:pPr algn="l">
              <a:spcBef>
                <a:spcPts val="400"/>
              </a:spcBef>
              <a:spcAft>
                <a:spcPts val="400"/>
              </a:spcAft>
              <a:defRPr sz="1400">
                <a:solidFill>
                  <a:srgbClr val="333333"/>
                </a:solidFill>
                <a:latin typeface="Century Gothic"/>
              </a:defRPr>
            </a:pPr>
            <a:r>
              <a:t>6. Testar com perguntas matemáticas reais</a:t>
            </a:r>
          </a:p>
          <a:p>
            <a:pPr algn="l">
              <a:spcBef>
                <a:spcPts val="400"/>
              </a:spcBef>
              <a:spcAft>
                <a:spcPts val="400"/>
              </a:spcAft>
              <a:defRPr sz="1400">
                <a:solidFill>
                  <a:srgbClr val="333333"/>
                </a:solidFill>
                <a:latin typeface="Century Gothic"/>
              </a:defRPr>
            </a:pPr>
            <a:r>
              <a:t>7. Compartilhar o link do Gem com a turma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Resultados Esperados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Ao final da atividade, cada dupla terá um Gem funcional que: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Responde perguntas matemáticas de forma organizada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Explica o processo, não só o resultado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Tem personalidade definida e consistente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É útil para estudo individual ou tutoria entre alunos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Está **100% gratuito** e acessível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Como Compartilhar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1. Seu Gem fica salvo em: https://aistudio.google.com/app/mygems</a:t>
            </a:r>
          </a:p>
          <a:p>
            <a:pPr algn="l">
              <a:spcBef>
                <a:spcPts val="400"/>
              </a:spcBef>
              <a:spcAft>
                <a:spcPts val="400"/>
              </a:spcAft>
              <a:defRPr sz="1400">
                <a:solidFill>
                  <a:srgbClr val="333333"/>
                </a:solidFill>
                <a:latin typeface="Century Gothic"/>
              </a:defRPr>
            </a:pPr>
            <a:r>
              <a:t>2. Copie o link e compartilhe via email: **gelvazio.c@edu.sc.senai.br**</a:t>
            </a:r>
          </a:p>
          <a:p>
            <a:pPr algn="l">
              <a:spcBef>
                <a:spcPts val="400"/>
              </a:spcBef>
              <a:spcAft>
                <a:spcPts val="400"/>
              </a:spcAft>
              <a:defRPr sz="1400">
                <a:solidFill>
                  <a:srgbClr val="333333"/>
                </a:solidFill>
                <a:latin typeface="Century Gothic"/>
              </a:defRPr>
            </a:pPr>
            <a:r>
              <a:t>3. Ou exporte como link público se desejar compartilhar com colegas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48: Encerramento!</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Usem com moderação para fazer tarefas operacionais e aprender sempre!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49: ---</a:t>
            </a:r>
          </a:p>
        </p:txBody>
      </p:sp>
      <p:sp>
        <p:nvSpPr>
          <p:cNvPr id="6" name="TextBox 5"/>
          <p:cNvSpPr txBox="1"/>
          <p:nvPr/>
        </p:nvSpPr>
        <p:spPr>
          <a:xfrm>
            <a:off x="457200" y="1371600"/>
            <a:ext cx="8229600" cy="5212080"/>
          </a:xfrm>
          <a:prstGeom prst="rect">
            <a:avLst/>
          </a:prstGeom>
          <a:noFill/>
        </p:spPr>
        <p:txBody>
          <a:bodyPr wrap="square">
            <a:spAutoFit/>
          </a:bodyPr>
          <a:lstStyle/>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A-SENAI.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457200" y="274320"/>
            <a:ext cx="7132320" cy="914400"/>
          </a:xfrm>
          <a:prstGeom prst="rect">
            <a:avLst/>
          </a:prstGeom>
          <a:solidFill>
            <a:srgbClr val="FFFFFF"/>
          </a:solidFill>
          <a:ln w="254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8229600" cy="5212080"/>
          </a:xfrm>
          <a:prstGeom prst="rect">
            <a:avLst/>
          </a:prstGeom>
          <a:solidFill>
            <a:srgbClr val="FFFFFF"/>
          </a:solidFill>
          <a:ln w="12700">
            <a:solidFill>
              <a:srgbClr val="008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7132320" cy="914400"/>
          </a:xfrm>
          <a:prstGeom prst="rect">
            <a:avLst/>
          </a:prstGeom>
          <a:noFill/>
        </p:spPr>
        <p:txBody>
          <a:bodyPr wrap="square" anchor="ctr">
            <a:spAutoFit/>
          </a:bodyPr>
          <a:lstStyle/>
          <a:p>
            <a:pPr algn="l">
              <a:defRPr sz="3600" b="1">
                <a:solidFill>
                  <a:srgbClr val="008AD1"/>
                </a:solidFill>
                <a:latin typeface="Century Gothic"/>
              </a:defRPr>
            </a:pPr>
            <a:r>
              <a:t>SLIDE 50: Referências Finais — Próximos Passos</a:t>
            </a:r>
          </a:p>
        </p:txBody>
      </p:sp>
      <p:sp>
        <p:nvSpPr>
          <p:cNvPr id="6" name="TextBox 5"/>
          <p:cNvSpPr txBox="1"/>
          <p:nvPr/>
        </p:nvSpPr>
        <p:spPr>
          <a:xfrm>
            <a:off x="457200" y="1371600"/>
            <a:ext cx="8229600" cy="5212080"/>
          </a:xfrm>
          <a:prstGeom prst="rect">
            <a:avLst/>
          </a:prstGeom>
          <a:noFill/>
        </p:spPr>
        <p:txBody>
          <a:bodyPr wrap="square">
            <a:spAutoFit/>
          </a:bodyPr>
          <a:lstStyle/>
          <a:p>
            <a:pPr algn="l">
              <a:spcBef>
                <a:spcPts val="400"/>
              </a:spcBef>
              <a:spcAft>
                <a:spcPts val="400"/>
              </a:spcAft>
              <a:defRPr sz="1400">
                <a:solidFill>
                  <a:srgbClr val="333333"/>
                </a:solidFill>
                <a:latin typeface="Century Gothic"/>
              </a:defRPr>
            </a:pPr>
            <a:r>
              <a:t>### 🌐 Ferramentas Recomendadas (100% Gratuitas)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Ferramenta | Acesso | Melhor Para | Link |</a:t>
            </a: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r>
              <a:t>| **ChatGPT** | Freemium | Geral, redação | https://chat.openai.com |</a:t>
            </a:r>
          </a:p>
          <a:p>
            <a:pPr algn="l">
              <a:spcBef>
                <a:spcPts val="400"/>
              </a:spcBef>
              <a:spcAft>
                <a:spcPts val="400"/>
              </a:spcAft>
              <a:defRPr sz="1400">
                <a:solidFill>
                  <a:srgbClr val="333333"/>
                </a:solidFill>
                <a:latin typeface="Century Gothic"/>
              </a:defRPr>
            </a:pPr>
            <a:r>
              <a:t>| **Google Gems** | Gratuito | Assistentes personalizados | https://aistudio.google.com |</a:t>
            </a:r>
          </a:p>
          <a:p>
            <a:pPr algn="l">
              <a:spcBef>
                <a:spcPts val="400"/>
              </a:spcBef>
              <a:spcAft>
                <a:spcPts val="400"/>
              </a:spcAft>
              <a:defRPr sz="1400">
                <a:solidFill>
                  <a:srgbClr val="333333"/>
                </a:solidFill>
                <a:latin typeface="Century Gothic"/>
              </a:defRPr>
            </a:pPr>
            <a:r>
              <a:t>| **Gemini** | Gratuito | Análise, criatividade | https://gemini.google.com |</a:t>
            </a:r>
          </a:p>
          <a:p>
            <a:pPr algn="l">
              <a:spcBef>
                <a:spcPts val="400"/>
              </a:spcBef>
              <a:spcAft>
                <a:spcPts val="400"/>
              </a:spcAft>
              <a:defRPr sz="1400">
                <a:solidFill>
                  <a:srgbClr val="333333"/>
                </a:solidFill>
                <a:latin typeface="Century Gothic"/>
              </a:defRPr>
            </a:pPr>
            <a:r>
              <a:t>| **Claude Code** | Freemium | Programação, código | https://claude.ai/code |</a:t>
            </a:r>
          </a:p>
          <a:p>
            <a:pPr algn="l">
              <a:spcBef>
                <a:spcPts val="400"/>
              </a:spcBef>
              <a:spcAft>
                <a:spcPts val="400"/>
              </a:spcAft>
              <a:defRPr sz="1400">
                <a:solidFill>
                  <a:srgbClr val="333333"/>
                </a:solidFill>
                <a:latin typeface="Century Gothic"/>
              </a:defRPr>
            </a:pPr>
            <a:r>
              <a:t>| **DeepSeek** | Gratuito | Matemática, raciocínio | https://www.deepseek.com |</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 Recursos de Aprendizagem</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**Comunidades Online:**</a:t>
            </a:r>
          </a:p>
          <a:p>
            <a:pPr algn="l">
              <a:spcBef>
                <a:spcPts val="400"/>
              </a:spcBef>
              <a:spcAft>
                <a:spcPts val="400"/>
              </a:spcAft>
              <a:defRPr sz="1400">
                <a:solidFill>
                  <a:srgbClr val="333333"/>
                </a:solidFill>
                <a:latin typeface="Century Gothic"/>
              </a:defRPr>
            </a:pPr>
            <a:r>
              <a:t>- Reddit: r/ChatGPT, r/PromptEngineering</a:t>
            </a:r>
          </a:p>
          <a:p>
            <a:pPr algn="l">
              <a:spcBef>
                <a:spcPts val="400"/>
              </a:spcBef>
              <a:spcAft>
                <a:spcPts val="400"/>
              </a:spcAft>
              <a:defRPr sz="1400">
                <a:solidFill>
                  <a:srgbClr val="333333"/>
                </a:solidFill>
                <a:latin typeface="Century Gothic"/>
              </a:defRPr>
            </a:pPr>
            <a:r>
              <a:t>- Discord: Comunidades de IA e tecnologia</a:t>
            </a:r>
          </a:p>
          <a:p>
            <a:pPr algn="l">
              <a:spcBef>
                <a:spcPts val="400"/>
              </a:spcBef>
              <a:spcAft>
                <a:spcPts val="400"/>
              </a:spcAft>
              <a:defRPr sz="1400">
                <a:solidFill>
                  <a:srgbClr val="333333"/>
                </a:solidFill>
                <a:latin typeface="Century Gothic"/>
              </a:defRPr>
            </a:pPr>
            <a:r>
              <a:t>- GitHub: Projetos open-source com 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**Documentação Oficial:**</a:t>
            </a:r>
          </a:p>
          <a:p>
            <a:pPr algn="l">
              <a:spcBef>
                <a:spcPts val="400"/>
              </a:spcBef>
              <a:spcAft>
                <a:spcPts val="400"/>
              </a:spcAft>
              <a:defRPr sz="1400">
                <a:solidFill>
                  <a:srgbClr val="333333"/>
                </a:solidFill>
                <a:latin typeface="Century Gothic"/>
              </a:defRPr>
            </a:pPr>
            <a:r>
              <a:t>- OpenAI Blog: https://openai.com/blog</a:t>
            </a:r>
          </a:p>
          <a:p>
            <a:pPr algn="l">
              <a:spcBef>
                <a:spcPts val="400"/>
              </a:spcBef>
              <a:spcAft>
                <a:spcPts val="400"/>
              </a:spcAft>
              <a:defRPr sz="1400">
                <a:solidFill>
                  <a:srgbClr val="333333"/>
                </a:solidFill>
                <a:latin typeface="Century Gothic"/>
              </a:defRPr>
            </a:pPr>
            <a:r>
              <a:t>- Google AI Blog: https://blog.google/technology/ai</a:t>
            </a:r>
          </a:p>
          <a:p>
            <a:pPr algn="l">
              <a:spcBef>
                <a:spcPts val="400"/>
              </a:spcBef>
              <a:spcAft>
                <a:spcPts val="400"/>
              </a:spcAft>
              <a:defRPr sz="1400">
                <a:solidFill>
                  <a:srgbClr val="333333"/>
                </a:solidFill>
                <a:latin typeface="Century Gothic"/>
              </a:defRPr>
            </a:pPr>
            <a:r>
              <a:t>- Anthropic Research: https://www.anthropic.com</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 Próximos Passos de Aprendizagem</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1. **Nível 1 (Básico — 2-3 semanas)**</a:t>
            </a:r>
          </a:p>
          <a:p>
            <a:pPr algn="l">
              <a:spcBef>
                <a:spcPts val="400"/>
              </a:spcBef>
              <a:spcAft>
                <a:spcPts val="400"/>
              </a:spcAft>
              <a:defRPr sz="1400">
                <a:solidFill>
                  <a:srgbClr val="333333"/>
                </a:solidFill>
                <a:latin typeface="Century Gothic"/>
              </a:defRPr>
            </a:pPr>
            <a:r>
              <a:t>- ✔ Dominar criação de prompts simples</a:t>
            </a:r>
          </a:p>
          <a:p>
            <a:pPr algn="l">
              <a:spcBef>
                <a:spcPts val="400"/>
              </a:spcBef>
              <a:spcAft>
                <a:spcPts val="400"/>
              </a:spcAft>
              <a:defRPr sz="1400">
                <a:solidFill>
                  <a:srgbClr val="333333"/>
                </a:solidFill>
                <a:latin typeface="Century Gothic"/>
              </a:defRPr>
            </a:pPr>
            <a:r>
              <a:t>- ✔ Testar diferentes ferramentas</a:t>
            </a:r>
          </a:p>
          <a:p>
            <a:pPr algn="l">
              <a:spcBef>
                <a:spcPts val="400"/>
              </a:spcBef>
              <a:spcAft>
                <a:spcPts val="400"/>
              </a:spcAft>
              <a:defRPr sz="1400">
                <a:solidFill>
                  <a:srgbClr val="333333"/>
                </a:solidFill>
                <a:latin typeface="Century Gothic"/>
              </a:defRPr>
            </a:pPr>
            <a:r>
              <a:t>- ✔ Resolver problemas do dia a dia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2. **Nível 2 (Intermediário — 1-2 meses)**</a:t>
            </a:r>
          </a:p>
          <a:p>
            <a:pPr algn="l">
              <a:spcBef>
                <a:spcPts val="400"/>
              </a:spcBef>
              <a:spcAft>
                <a:spcPts val="400"/>
              </a:spcAft>
              <a:defRPr sz="1400">
                <a:solidFill>
                  <a:srgbClr val="333333"/>
                </a:solidFill>
                <a:latin typeface="Century Gothic"/>
              </a:defRPr>
            </a:pPr>
            <a:r>
              <a:t>- ✔ Criar Gems e assistentes personalizados</a:t>
            </a:r>
          </a:p>
          <a:p>
            <a:pPr algn="l">
              <a:spcBef>
                <a:spcPts val="400"/>
              </a:spcBef>
              <a:spcAft>
                <a:spcPts val="400"/>
              </a:spcAft>
              <a:defRPr sz="1400">
                <a:solidFill>
                  <a:srgbClr val="333333"/>
                </a:solidFill>
                <a:latin typeface="Century Gothic"/>
              </a:defRPr>
            </a:pPr>
            <a:r>
              <a:t>- ✔ Trabalhar com textos mais longos</a:t>
            </a:r>
          </a:p>
          <a:p>
            <a:pPr algn="l">
              <a:spcBef>
                <a:spcPts val="400"/>
              </a:spcBef>
              <a:spcAft>
                <a:spcPts val="400"/>
              </a:spcAft>
              <a:defRPr sz="1400">
                <a:solidFill>
                  <a:srgbClr val="333333"/>
                </a:solidFill>
                <a:latin typeface="Century Gothic"/>
              </a:defRPr>
            </a:pPr>
            <a:r>
              <a:t>- ✔ Integrar IA em projetos pessoais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3. **Nível 3 (Avançado — 3+ meses)**</a:t>
            </a:r>
          </a:p>
          <a:p>
            <a:pPr algn="l">
              <a:spcBef>
                <a:spcPts val="400"/>
              </a:spcBef>
              <a:spcAft>
                <a:spcPts val="400"/>
              </a:spcAft>
              <a:defRPr sz="1400">
                <a:solidFill>
                  <a:srgbClr val="333333"/>
                </a:solidFill>
                <a:latin typeface="Century Gothic"/>
              </a:defRPr>
            </a:pPr>
            <a:r>
              <a:t>- ✔ Fine-tuning de modelos</a:t>
            </a:r>
          </a:p>
          <a:p>
            <a:pPr algn="l">
              <a:spcBef>
                <a:spcPts val="400"/>
              </a:spcBef>
              <a:spcAft>
                <a:spcPts val="400"/>
              </a:spcAft>
              <a:defRPr sz="1400">
                <a:solidFill>
                  <a:srgbClr val="333333"/>
                </a:solidFill>
                <a:latin typeface="Century Gothic"/>
              </a:defRPr>
            </a:pPr>
            <a:r>
              <a:t>- ✔ APIs de IA em programação</a:t>
            </a:r>
          </a:p>
          <a:p>
            <a:pPr algn="l">
              <a:spcBef>
                <a:spcPts val="400"/>
              </a:spcBef>
              <a:spcAft>
                <a:spcPts val="400"/>
              </a:spcAft>
              <a:defRPr sz="1400">
                <a:solidFill>
                  <a:srgbClr val="333333"/>
                </a:solidFill>
                <a:latin typeface="Century Gothic"/>
              </a:defRPr>
            </a:pPr>
            <a:r>
              <a:t>- ✔ Desenvolvimento de soluções complexas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 Dicas Finais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**Use com Moderação** — IA é ferramenta, não substitui pensamento crítico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**Sempre Valide** — Nunca aceite respostas de IA sem questionar</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**Cite Sempre** — Identifique quando usou IA (ética e transparência)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**Proteja Dados** — Nunca compartilhe informações pessoais ou sensíveis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**Continue Aprendendo** — Tecnologia muda rapidamente, fique atualizado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 Contato para Dúvidas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**Professor Gelvazio Camargo**</a:t>
            </a:r>
          </a:p>
          <a:p>
            <a:pPr algn="l">
              <a:spcBef>
                <a:spcPts val="400"/>
              </a:spcBef>
              <a:spcAft>
                <a:spcPts val="400"/>
              </a:spcAft>
              <a:defRPr sz="1400">
                <a:solidFill>
                  <a:srgbClr val="333333"/>
                </a:solidFill>
                <a:latin typeface="Century Gothic"/>
              </a:defRPr>
            </a:pPr>
            <a:r>
              <a:t>- Email: gelvazio.c@edu.sc.senai.br</a:t>
            </a:r>
          </a:p>
          <a:p>
            <a:pPr algn="l">
              <a:spcBef>
                <a:spcPts val="400"/>
              </a:spcBef>
              <a:spcAft>
                <a:spcPts val="400"/>
              </a:spcAft>
              <a:defRPr sz="1400">
                <a:solidFill>
                  <a:srgbClr val="333333"/>
                </a:solidFill>
                <a:latin typeface="Century Gothic"/>
              </a:defRPr>
            </a:pPr>
            <a:r>
              <a:t>- Instituição: SENAI/SC — Joinville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ENCERRAMENTO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Você aprendeu sobre:</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O que é e como funciona Inteligência Artificial</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Principais ferramentas: ChatGPT, Gemini, Claude, DeepSeek, Google Gems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Como criar prompts eficientes e confiáveis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Como desenvolver ChatBots e assistentes personalizados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Estratégias para trabalhar com textos longos</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Ética e segurança no uso de IA</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Agora cabe a você:</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 **Explore**, **crie**, **inove** e **compartilhe** suas descobertas com o mundo!</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**Usem com moderação, usem com inteligência, usem com responsabilidade! 🤖**</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**Apresentação finalizada — Digital Skills: Inteligência Artificial e ChatGPT**</a:t>
            </a:r>
          </a:p>
          <a:p>
            <a:pPr algn="l">
              <a:spcBef>
                <a:spcPts val="400"/>
              </a:spcBef>
              <a:spcAft>
                <a:spcPts val="400"/>
              </a:spcAft>
              <a:defRPr sz="1400">
                <a:solidFill>
                  <a:srgbClr val="333333"/>
                </a:solidFill>
                <a:latin typeface="Century Gothic"/>
              </a:defRPr>
            </a:pPr>
            <a:r>
              <a:t>**Versão 2.0 — Melhorada para 100% de Cobertura**</a:t>
            </a:r>
          </a:p>
          <a:p>
            <a:pPr algn="l">
              <a:spcBef>
                <a:spcPts val="400"/>
              </a:spcBef>
              <a:spcAft>
                <a:spcPts val="400"/>
              </a:spcAft>
              <a:defRPr sz="1400">
                <a:solidFill>
                  <a:srgbClr val="333333"/>
                </a:solidFill>
                <a:latin typeface="Century Gothic"/>
              </a:defRPr>
            </a:pPr>
            <a:r>
              <a:t>**Data: 17 de Setembro de 2026**</a:t>
            </a:r>
          </a:p>
          <a:p>
            <a:pPr algn="l">
              <a:spcBef>
                <a:spcPts val="400"/>
              </a:spcBef>
              <a:spcAft>
                <a:spcPts val="400"/>
              </a:spcAft>
              <a:defRPr sz="1400">
                <a:solidFill>
                  <a:srgbClr val="333333"/>
                </a:solidFill>
                <a:latin typeface="Century Gothic"/>
              </a:defRPr>
            </a:pPr>
            <a:r>
              <a:t>**Total de Slides: 54** ✅</a:t>
            </a:r>
          </a:p>
          <a:p>
            <a:pPr algn="l">
              <a:spcBef>
                <a:spcPts val="400"/>
              </a:spcBef>
              <a:spcAft>
                <a:spcPts val="400"/>
              </a:spcAft>
              <a:defRPr sz="1400">
                <a:solidFill>
                  <a:srgbClr val="333333"/>
                </a:solidFill>
                <a:latin typeface="Century Gothic"/>
              </a:defRPr>
            </a:pPr>
          </a:p>
          <a:p>
            <a:pPr algn="l">
              <a:spcBef>
                <a:spcPts val="400"/>
              </a:spcBef>
              <a:spcAft>
                <a:spcPts val="400"/>
              </a:spcAft>
              <a:defRPr sz="1400">
                <a:solidFill>
                  <a:srgbClr val="333333"/>
                </a:solidFill>
                <a:latin typeface="Century Gothic"/>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