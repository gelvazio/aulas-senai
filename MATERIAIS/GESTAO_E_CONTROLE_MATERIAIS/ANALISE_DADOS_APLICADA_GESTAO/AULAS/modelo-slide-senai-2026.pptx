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341" r:id="rId2"/>
    <p:sldId id="261" r:id="rId3"/>
    <p:sldId id="263" r:id="rId4"/>
    <p:sldId id="264" r:id="rId5"/>
    <p:sldId id="340" r:id="rId6"/>
    <p:sldId id="267" r:id="rId7"/>
    <p:sldId id="268" r:id="rId8"/>
    <p:sldId id="269" r:id="rId9"/>
    <p:sldId id="272" r:id="rId10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2"/>
      <p:bold r:id="rId13"/>
      <p:italic r:id="rId14"/>
      <p:boldItalic r:id="rId15"/>
    </p:embeddedFont>
    <p:embeddedFont>
      <p:font typeface="Roboto Light" panose="020000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27" roundtripDataSignature="AMtx7mjhCBRWa6NtuyeeCcaNfDcplEBs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8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129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128" Type="http://schemas.openxmlformats.org/officeDocument/2006/relationships/presProps" Target="presProps.xml"/><Relationship Id="rId131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27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13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>
          <a:extLst>
            <a:ext uri="{FF2B5EF4-FFF2-40B4-BE49-F238E27FC236}">
              <a16:creationId xmlns:a16="http://schemas.microsoft.com/office/drawing/2014/main" id="{951B7877-19D2-793C-C2C0-98717A9C7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9:notes">
            <a:extLst>
              <a:ext uri="{FF2B5EF4-FFF2-40B4-BE49-F238E27FC236}">
                <a16:creationId xmlns:a16="http://schemas.microsoft.com/office/drawing/2014/main" id="{49E6E935-AA26-B8C9-C2D9-124C6B1669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p9:notes">
            <a:extLst>
              <a:ext uri="{FF2B5EF4-FFF2-40B4-BE49-F238E27FC236}">
                <a16:creationId xmlns:a16="http://schemas.microsoft.com/office/drawing/2014/main" id="{3FC05BB1-C6F8-9E0E-D6A5-EB29E76681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86927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AP] Slide de título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5" name="Google Shape;15;p123"/>
          <p:cNvSpPr txBox="1">
            <a:spLocks noGrp="1"/>
          </p:cNvSpPr>
          <p:nvPr>
            <p:ph type="ctrTitle"/>
          </p:nvPr>
        </p:nvSpPr>
        <p:spPr>
          <a:xfrm>
            <a:off x="1194625" y="720000"/>
            <a:ext cx="3244800" cy="1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123"/>
          <p:cNvSpPr txBox="1">
            <a:spLocks noGrp="1"/>
          </p:cNvSpPr>
          <p:nvPr>
            <p:ph type="subTitle" idx="1"/>
          </p:nvPr>
        </p:nvSpPr>
        <p:spPr>
          <a:xfrm>
            <a:off x="1194625" y="2563750"/>
            <a:ext cx="2856300" cy="21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AP] Slide de conteúdo" type="titleOnly">
  <p:cSld name="TITLE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9" name="Google Shape;19;p124"/>
          <p:cNvSpPr txBox="1">
            <a:spLocks noGrp="1"/>
          </p:cNvSpPr>
          <p:nvPr>
            <p:ph type="ctrTitle"/>
          </p:nvPr>
        </p:nvSpPr>
        <p:spPr>
          <a:xfrm>
            <a:off x="1194625" y="720000"/>
            <a:ext cx="3244800" cy="1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124"/>
          <p:cNvSpPr txBox="1">
            <a:spLocks noGrp="1"/>
          </p:cNvSpPr>
          <p:nvPr>
            <p:ph type="subTitle" idx="1"/>
          </p:nvPr>
        </p:nvSpPr>
        <p:spPr>
          <a:xfrm>
            <a:off x="1194625" y="2563750"/>
            <a:ext cx="2856300" cy="21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EP] Final">
  <p:cSld name="TITLE_ONLY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2">
  <p:cSld name="TITLE_2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5" name="Google Shape;25;p1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6" name="Google Shape;26;p1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Light"/>
              <a:buNone/>
              <a:defRPr sz="28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Light"/>
              <a:buChar char="●"/>
              <a:defRPr sz="1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gif"/><Relationship Id="rId5" Type="http://schemas.openxmlformats.org/officeDocument/2006/relationships/image" Target="../media/image12.gif"/><Relationship Id="rId4" Type="http://schemas.openxmlformats.org/officeDocument/2006/relationships/image" Target="../media/image11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759225-5593-00CD-9517-6CAB5E1ECD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000" y="100011"/>
            <a:ext cx="3244800" cy="724669"/>
          </a:xfrm>
        </p:spPr>
        <p:txBody>
          <a:bodyPr/>
          <a:lstStyle/>
          <a:p>
            <a:r>
              <a:rPr lang="pt-BR" b="1" dirty="0">
                <a:latin typeface="Roboto"/>
                <a:ea typeface="Roboto"/>
                <a:cs typeface="Roboto"/>
                <a:sym typeface="Roboto"/>
              </a:rPr>
              <a:t>Apresentação</a:t>
            </a:r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E487110-FBE8-B0A9-95C7-82B4B7AA1C41}"/>
              </a:ext>
            </a:extLst>
          </p:cNvPr>
          <p:cNvSpPr/>
          <p:nvPr/>
        </p:nvSpPr>
        <p:spPr>
          <a:xfrm>
            <a:off x="110309" y="785899"/>
            <a:ext cx="4410291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chemeClr val="bg1"/>
                </a:solidFill>
              </a:rPr>
              <a:t>2006 - Formação do Ensino Médio</a:t>
            </a:r>
          </a:p>
          <a:p>
            <a:r>
              <a:rPr lang="pt-BR" sz="1600" dirty="0">
                <a:solidFill>
                  <a:schemeClr val="bg1"/>
                </a:solidFill>
              </a:rPr>
              <a:t>2007 à 2010 - Auxiliar de produção em várias empresas (PAMPLONA, CERAMICA RAINHA, POSTO SEOLA)</a:t>
            </a:r>
          </a:p>
          <a:p>
            <a:r>
              <a:rPr lang="pt-BR" sz="1600" dirty="0">
                <a:solidFill>
                  <a:schemeClr val="bg1"/>
                </a:solidFill>
              </a:rPr>
              <a:t>2010 - Iniciou com TI no SESI como estagiário por um ano.</a:t>
            </a:r>
          </a:p>
          <a:p>
            <a:r>
              <a:rPr lang="pt-BR" sz="1600" dirty="0">
                <a:solidFill>
                  <a:schemeClr val="bg1"/>
                </a:solidFill>
              </a:rPr>
              <a:t>2011 à 2015 - IBS Sistemas</a:t>
            </a:r>
          </a:p>
          <a:p>
            <a:r>
              <a:rPr lang="pt-BR" sz="1600" dirty="0">
                <a:solidFill>
                  <a:schemeClr val="bg1"/>
                </a:solidFill>
              </a:rPr>
              <a:t>2017 - Análise e Desenvolvimento de Sistemas - UNINTER.</a:t>
            </a:r>
          </a:p>
          <a:p>
            <a:r>
              <a:rPr lang="pt-BR" sz="1600" dirty="0">
                <a:solidFill>
                  <a:schemeClr val="bg1"/>
                </a:solidFill>
              </a:rPr>
              <a:t>2016 à 2019 - IPM Sistemas - Programador PHP</a:t>
            </a:r>
          </a:p>
          <a:p>
            <a:r>
              <a:rPr lang="pt-BR" sz="1600" dirty="0">
                <a:solidFill>
                  <a:schemeClr val="bg1"/>
                </a:solidFill>
              </a:rPr>
              <a:t>2019 à 2026 - Tidas Tecnologia Programador PHP e Node.js.</a:t>
            </a:r>
          </a:p>
          <a:p>
            <a:r>
              <a:rPr lang="pt-BR" sz="1600" dirty="0">
                <a:solidFill>
                  <a:schemeClr val="bg1"/>
                </a:solidFill>
              </a:rPr>
              <a:t>2022 até 2023 – Professor de Desenvolvimento de Sistemas Senac.</a:t>
            </a:r>
          </a:p>
          <a:p>
            <a:r>
              <a:rPr lang="pt-BR" sz="1600" dirty="0">
                <a:solidFill>
                  <a:schemeClr val="bg1"/>
                </a:solidFill>
              </a:rPr>
              <a:t>2026 até hoje – Professor de Desenvolvimento de Sistemas Senai.</a:t>
            </a:r>
          </a:p>
        </p:txBody>
      </p:sp>
      <p:pic>
        <p:nvPicPr>
          <p:cNvPr id="7" name="Picture 8" descr="Sou SESI (@SouSESI) / Twitter">
            <a:extLst>
              <a:ext uri="{FF2B5EF4-FFF2-40B4-BE49-F238E27FC236}">
                <a16:creationId xmlns:a16="http://schemas.microsoft.com/office/drawing/2014/main" id="{C1ADC576-E0E4-D52B-5A1D-698A859FBD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9809" y="2113349"/>
            <a:ext cx="1035621" cy="1035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0" descr="IBS - Tray Corp">
            <a:extLst>
              <a:ext uri="{FF2B5EF4-FFF2-40B4-BE49-F238E27FC236}">
                <a16:creationId xmlns:a16="http://schemas.microsoft.com/office/drawing/2014/main" id="{D0B1D105-4017-C38B-3F3D-AC1391AD3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0400" y="824680"/>
            <a:ext cx="1035621" cy="1035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3" descr="Tidas Crediário – Apps no Google Play">
            <a:extLst>
              <a:ext uri="{FF2B5EF4-FFF2-40B4-BE49-F238E27FC236}">
                <a16:creationId xmlns:a16="http://schemas.microsoft.com/office/drawing/2014/main" id="{FB5F2117-0E7F-4CDC-F61D-64CB96424B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7221" y="899185"/>
            <a:ext cx="957344" cy="957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ACF83A5A-F848-9678-53AF-57EA5D32B8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4419" y="2113349"/>
            <a:ext cx="1305131" cy="1173623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41402E7C-84AA-0B1F-68A5-8F95317449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4138" y="3421856"/>
            <a:ext cx="2037293" cy="1100138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FDE87B3F-79E7-4D2D-3BDE-CD04945B14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8706" y="3550589"/>
            <a:ext cx="1619008" cy="971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221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 txBox="1">
            <a:spLocks noGrp="1"/>
          </p:cNvSpPr>
          <p:nvPr>
            <p:ph type="ctrTitle"/>
          </p:nvPr>
        </p:nvSpPr>
        <p:spPr>
          <a:xfrm>
            <a:off x="1194625" y="720000"/>
            <a:ext cx="3244800" cy="10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 b="1">
                <a:latin typeface="Roboto"/>
                <a:ea typeface="Roboto"/>
                <a:cs typeface="Roboto"/>
                <a:sym typeface="Roboto"/>
              </a:rPr>
              <a:t>Plano de Ensino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" name="Google Shape;66;p6"/>
          <p:cNvSpPr txBox="1">
            <a:spLocks noGrp="1"/>
          </p:cNvSpPr>
          <p:nvPr>
            <p:ph type="subTitle" idx="1"/>
          </p:nvPr>
        </p:nvSpPr>
        <p:spPr>
          <a:xfrm>
            <a:off x="668375" y="1900950"/>
            <a:ext cx="3989700" cy="21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b="1">
                <a:latin typeface="Roboto"/>
                <a:ea typeface="Roboto"/>
                <a:cs typeface="Roboto"/>
                <a:sym typeface="Roboto"/>
              </a:rPr>
              <a:t>U.C.:</a:t>
            </a:r>
            <a:r>
              <a:rPr lang="pt-BR"/>
              <a:t> Introdução a Tecnologia da Informação e Comunicação</a:t>
            </a:r>
            <a:endParaRPr/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b="1">
                <a:latin typeface="Roboto"/>
                <a:ea typeface="Roboto"/>
                <a:cs typeface="Roboto"/>
                <a:sym typeface="Roboto"/>
              </a:rPr>
              <a:t>Carga Horária: </a:t>
            </a:r>
            <a:r>
              <a:rPr lang="pt-BR"/>
              <a:t>40 horas</a:t>
            </a:r>
            <a:endParaRPr/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b="1">
                <a:latin typeface="Roboto"/>
                <a:ea typeface="Roboto"/>
                <a:cs typeface="Roboto"/>
                <a:sym typeface="Roboto"/>
              </a:rPr>
              <a:t>Nº de Aulas:</a:t>
            </a:r>
            <a:r>
              <a:rPr lang="pt-BR"/>
              <a:t> 10 encontros - 2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"/>
          <p:cNvSpPr txBox="1">
            <a:spLocks noGrp="1"/>
          </p:cNvSpPr>
          <p:nvPr>
            <p:ph type="ctrTitle"/>
          </p:nvPr>
        </p:nvSpPr>
        <p:spPr>
          <a:xfrm>
            <a:off x="1203475" y="-2325"/>
            <a:ext cx="5822400" cy="6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Capacidades Socioemocionais</a:t>
            </a:r>
            <a:endParaRPr/>
          </a:p>
        </p:txBody>
      </p:sp>
      <p:sp>
        <p:nvSpPr>
          <p:cNvPr id="80" name="Google Shape;80;p8"/>
          <p:cNvSpPr txBox="1">
            <a:spLocks noGrp="1"/>
          </p:cNvSpPr>
          <p:nvPr>
            <p:ph type="subTitle" idx="1"/>
          </p:nvPr>
        </p:nvSpPr>
        <p:spPr>
          <a:xfrm>
            <a:off x="1130850" y="801900"/>
            <a:ext cx="7732200" cy="3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/>
              <a:t>● PEGAR DA UNIDADE CURRICULAR</a:t>
            </a:r>
            <a:endParaRPr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9"/>
          <p:cNvSpPr txBox="1">
            <a:spLocks noGrp="1"/>
          </p:cNvSpPr>
          <p:nvPr>
            <p:ph type="ctrTitle"/>
          </p:nvPr>
        </p:nvSpPr>
        <p:spPr>
          <a:xfrm>
            <a:off x="1173625" y="-9000"/>
            <a:ext cx="5822400" cy="4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pt-BR"/>
              <a:t>Conhecimentos (Literatura)</a:t>
            </a:r>
            <a:endParaRPr/>
          </a:p>
        </p:txBody>
      </p:sp>
      <p:sp>
        <p:nvSpPr>
          <p:cNvPr id="86" name="Google Shape;86;p9"/>
          <p:cNvSpPr txBox="1">
            <a:spLocks noGrp="1"/>
          </p:cNvSpPr>
          <p:nvPr>
            <p:ph type="subTitle" idx="1"/>
          </p:nvPr>
        </p:nvSpPr>
        <p:spPr>
          <a:xfrm>
            <a:off x="1173625" y="399475"/>
            <a:ext cx="3772200" cy="39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600" b="1" dirty="0">
                <a:latin typeface="Roboto"/>
                <a:ea typeface="Roboto"/>
                <a:cs typeface="Roboto"/>
                <a:sym typeface="Roboto"/>
              </a:rPr>
              <a:t>PEGAR DA UNIDADE CURRICULAR</a:t>
            </a:r>
            <a:endParaRPr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>
          <a:extLst>
            <a:ext uri="{FF2B5EF4-FFF2-40B4-BE49-F238E27FC236}">
              <a16:creationId xmlns:a16="http://schemas.microsoft.com/office/drawing/2014/main" id="{ABE3495D-A097-6E8F-DDC4-C7F4BE9AD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9">
            <a:extLst>
              <a:ext uri="{FF2B5EF4-FFF2-40B4-BE49-F238E27FC236}">
                <a16:creationId xmlns:a16="http://schemas.microsoft.com/office/drawing/2014/main" id="{11A01E88-B6FA-0B68-074C-E79B3A686C7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173625" y="-9000"/>
            <a:ext cx="5822400" cy="4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pt-BR" dirty="0" err="1"/>
              <a:t>Conteudo</a:t>
            </a:r>
            <a:endParaRPr dirty="0"/>
          </a:p>
        </p:txBody>
      </p:sp>
      <p:sp>
        <p:nvSpPr>
          <p:cNvPr id="86" name="Google Shape;86;p9">
            <a:extLst>
              <a:ext uri="{FF2B5EF4-FFF2-40B4-BE49-F238E27FC236}">
                <a16:creationId xmlns:a16="http://schemas.microsoft.com/office/drawing/2014/main" id="{B8F437B7-FFF1-ABB2-9BFC-912AE10627B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173625" y="399475"/>
            <a:ext cx="3772200" cy="39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600" b="1" dirty="0">
                <a:latin typeface="Roboto"/>
                <a:ea typeface="Roboto"/>
                <a:cs typeface="Roboto"/>
                <a:sym typeface="Roboto"/>
              </a:rPr>
              <a:t>Pegar do arquivo de aula </a:t>
            </a:r>
            <a:r>
              <a:rPr lang="pt-BR" sz="1600" b="1">
                <a:latin typeface="Roboto"/>
                <a:ea typeface="Roboto"/>
                <a:cs typeface="Roboto"/>
                <a:sym typeface="Roboto"/>
              </a:rPr>
              <a:t>markdown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1384042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0"/>
          <p:cNvSpPr txBox="1">
            <a:spLocks noGrp="1"/>
          </p:cNvSpPr>
          <p:nvPr>
            <p:ph type="ctrTitle"/>
          </p:nvPr>
        </p:nvSpPr>
        <p:spPr>
          <a:xfrm>
            <a:off x="1403850" y="493325"/>
            <a:ext cx="3048000" cy="6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 b="1">
                <a:latin typeface="Roboto"/>
                <a:ea typeface="Roboto"/>
                <a:cs typeface="Roboto"/>
                <a:sym typeface="Roboto"/>
              </a:rPr>
              <a:t>Combinados!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" name="Google Shape;106;p10"/>
          <p:cNvSpPr txBox="1">
            <a:spLocks noGrp="1"/>
          </p:cNvSpPr>
          <p:nvPr>
            <p:ph type="subTitle" idx="1"/>
          </p:nvPr>
        </p:nvSpPr>
        <p:spPr>
          <a:xfrm>
            <a:off x="674025" y="4339275"/>
            <a:ext cx="26322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b="1">
                <a:latin typeface="Roboto"/>
                <a:ea typeface="Roboto"/>
                <a:cs typeface="Roboto"/>
                <a:sym typeface="Roboto"/>
              </a:rPr>
              <a:t>Uso indevido de celular: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/>
              <a:t>apenas 15 minutos de intervalo</a:t>
            </a:r>
            <a:endParaRPr/>
          </a:p>
        </p:txBody>
      </p:sp>
      <p:pic>
        <p:nvPicPr>
          <p:cNvPr id="107" name="Google Shape;107;p10" title="Love Kermit GI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7950" y="1970789"/>
            <a:ext cx="1864350" cy="2368476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8" name="Google Shape;108;p10" title="Cap Thats Cap GIF"/>
          <p:cNvPicPr preferRelativeResize="0"/>
          <p:nvPr/>
        </p:nvPicPr>
        <p:blipFill rotWithShape="1">
          <a:blip r:embed="rId4">
            <a:alphaModFix/>
          </a:blip>
          <a:srcRect t="22187" b="13334"/>
          <a:stretch/>
        </p:blipFill>
        <p:spPr>
          <a:xfrm>
            <a:off x="3851599" y="2150751"/>
            <a:ext cx="1864350" cy="2365993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9" name="Google Shape;109;p10"/>
          <p:cNvSpPr txBox="1">
            <a:spLocks noGrp="1"/>
          </p:cNvSpPr>
          <p:nvPr>
            <p:ph type="subTitle" idx="1"/>
          </p:nvPr>
        </p:nvSpPr>
        <p:spPr>
          <a:xfrm>
            <a:off x="3467675" y="4489725"/>
            <a:ext cx="2632200" cy="6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4000"/>
              <a:buFont typeface="Arial"/>
              <a:buNone/>
            </a:pPr>
            <a:r>
              <a:rPr lang="pt-BR" sz="2500" u="sng" strike="sngStrike">
                <a:solidFill>
                  <a:schemeClr val="dk1"/>
                </a:solidFill>
              </a:rPr>
              <a:t>Bonés!</a:t>
            </a:r>
            <a:endParaRPr sz="2500" u="sng" strike="sngStrike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44000"/>
              <a:buNone/>
            </a:pPr>
            <a:r>
              <a:rPr lang="pt-BR" sz="2500" u="sng" strike="sngStrike">
                <a:solidFill>
                  <a:schemeClr val="dk1"/>
                </a:solidFill>
              </a:rPr>
              <a:t>Fone de Ouvido!</a:t>
            </a:r>
            <a:endParaRPr/>
          </a:p>
        </p:txBody>
      </p:sp>
      <p:pic>
        <p:nvPicPr>
          <p:cNvPr id="110" name="Google Shape;110;p10" descr="a cartoon of spongebob holding a bottle of water (Fornecido por Tenor)"/>
          <p:cNvPicPr preferRelativeResize="0"/>
          <p:nvPr/>
        </p:nvPicPr>
        <p:blipFill rotWithShape="1">
          <a:blip r:embed="rId5">
            <a:alphaModFix/>
          </a:blip>
          <a:srcRect l="21148" r="13576"/>
          <a:stretch/>
        </p:blipFill>
        <p:spPr>
          <a:xfrm>
            <a:off x="6737962" y="2690950"/>
            <a:ext cx="2004725" cy="200425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11" name="Google Shape;111;p10"/>
          <p:cNvSpPr txBox="1">
            <a:spLocks noGrp="1"/>
          </p:cNvSpPr>
          <p:nvPr>
            <p:ph type="subTitle" idx="1"/>
          </p:nvPr>
        </p:nvSpPr>
        <p:spPr>
          <a:xfrm>
            <a:off x="6424200" y="4695200"/>
            <a:ext cx="2632200" cy="4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Evitar Saídas em excesso!</a:t>
            </a:r>
            <a:endParaRPr/>
          </a:p>
        </p:txBody>
      </p:sp>
      <p:pic>
        <p:nvPicPr>
          <p:cNvPr id="112" name="Google Shape;112;p10" descr="a man in a suit is carrying a rack of jackets on a football field (Fornecido por Tenor)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15075" y="74872"/>
            <a:ext cx="3527243" cy="183445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13" name="Google Shape;113;p10"/>
          <p:cNvSpPr txBox="1">
            <a:spLocks noGrp="1"/>
          </p:cNvSpPr>
          <p:nvPr>
            <p:ph type="subTitle" idx="1"/>
          </p:nvPr>
        </p:nvSpPr>
        <p:spPr>
          <a:xfrm>
            <a:off x="4915150" y="1813850"/>
            <a:ext cx="35271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b="1">
                <a:latin typeface="Roboto"/>
                <a:ea typeface="Roboto"/>
                <a:cs typeface="Roboto"/>
                <a:sym typeface="Roboto"/>
              </a:rPr>
              <a:t>Uso obrigatório do uniforme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1"/>
          <p:cNvSpPr txBox="1">
            <a:spLocks noGrp="1"/>
          </p:cNvSpPr>
          <p:nvPr>
            <p:ph type="ctrTitle"/>
          </p:nvPr>
        </p:nvSpPr>
        <p:spPr>
          <a:xfrm>
            <a:off x="1194625" y="720000"/>
            <a:ext cx="5822400" cy="6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Vale nota Professor?</a:t>
            </a:r>
            <a:endParaRPr/>
          </a:p>
        </p:txBody>
      </p:sp>
      <p:sp>
        <p:nvSpPr>
          <p:cNvPr id="119" name="Google Shape;119;p11"/>
          <p:cNvSpPr txBox="1">
            <a:spLocks noGrp="1"/>
          </p:cNvSpPr>
          <p:nvPr>
            <p:ph type="subTitle" idx="1"/>
          </p:nvPr>
        </p:nvSpPr>
        <p:spPr>
          <a:xfrm>
            <a:off x="1256500" y="1688825"/>
            <a:ext cx="3763200" cy="28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b="1">
                <a:latin typeface="Roboto"/>
                <a:ea typeface="Roboto"/>
                <a:cs typeface="Roboto"/>
                <a:sym typeface="Roboto"/>
              </a:rPr>
              <a:t>Nota 1:</a:t>
            </a:r>
            <a:r>
              <a:rPr lang="pt-BR"/>
              <a:t> Atividades realizadas em sala de aula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(entregues pelo AVA).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b="1">
                <a:latin typeface="Roboto"/>
                <a:ea typeface="Roboto"/>
                <a:cs typeface="Roboto"/>
                <a:sym typeface="Roboto"/>
              </a:rPr>
              <a:t>Nota 2: </a:t>
            </a:r>
            <a:r>
              <a:rPr lang="pt-BR">
                <a:latin typeface="Roboto"/>
                <a:ea typeface="Roboto"/>
                <a:cs typeface="Roboto"/>
                <a:sym typeface="Roboto"/>
              </a:rPr>
              <a:t>1 </a:t>
            </a:r>
            <a:r>
              <a:rPr lang="pt-BR"/>
              <a:t>Prova Objetiva e 1 Prova Prática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b="1">
                <a:latin typeface="Roboto"/>
                <a:ea typeface="Roboto"/>
                <a:cs typeface="Roboto"/>
                <a:sym typeface="Roboto"/>
              </a:rPr>
              <a:t>Nota 3:</a:t>
            </a:r>
            <a:r>
              <a:rPr lang="pt-BR"/>
              <a:t> Situação de Aprendizagem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b="1">
                <a:latin typeface="Roboto"/>
                <a:ea typeface="Roboto"/>
                <a:cs typeface="Roboto"/>
                <a:sym typeface="Roboto"/>
              </a:rPr>
              <a:t>Nota 4: </a:t>
            </a:r>
            <a:r>
              <a:rPr lang="pt-BR"/>
              <a:t>Avaliação de Comportamento</a:t>
            </a:r>
            <a:endParaRPr/>
          </a:p>
        </p:txBody>
      </p:sp>
      <p:pic>
        <p:nvPicPr>
          <p:cNvPr id="120" name="Google Shape;120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12" y="3242313"/>
            <a:ext cx="3792874" cy="156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1" title="Nota10 Parabéns BatendoPalma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35625" y="971624"/>
            <a:ext cx="3089100" cy="1729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2"/>
          <p:cNvSpPr txBox="1">
            <a:spLocks noGrp="1"/>
          </p:cNvSpPr>
          <p:nvPr>
            <p:ph type="ctrTitle"/>
          </p:nvPr>
        </p:nvSpPr>
        <p:spPr>
          <a:xfrm>
            <a:off x="1194625" y="720000"/>
            <a:ext cx="5822400" cy="6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Avaliação de Comportamento</a:t>
            </a:r>
            <a:endParaRPr/>
          </a:p>
        </p:txBody>
      </p:sp>
      <p:pic>
        <p:nvPicPr>
          <p:cNvPr id="127" name="Google Shape;127;p12"/>
          <p:cNvPicPr preferRelativeResize="0"/>
          <p:nvPr/>
        </p:nvPicPr>
        <p:blipFill rotWithShape="1">
          <a:blip r:embed="rId3">
            <a:alphaModFix/>
          </a:blip>
          <a:srcRect l="18646"/>
          <a:stretch/>
        </p:blipFill>
        <p:spPr>
          <a:xfrm>
            <a:off x="1033400" y="1541250"/>
            <a:ext cx="7954475" cy="259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2"/>
          <p:cNvPicPr preferRelativeResize="0"/>
          <p:nvPr/>
        </p:nvPicPr>
        <p:blipFill rotWithShape="1">
          <a:blip r:embed="rId4">
            <a:alphaModFix/>
          </a:blip>
          <a:srcRect t="15999" b="23187"/>
          <a:stretch/>
        </p:blipFill>
        <p:spPr>
          <a:xfrm>
            <a:off x="4191125" y="2966350"/>
            <a:ext cx="3497600" cy="2126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>
            <a:spLocks noGrp="1"/>
          </p:cNvSpPr>
          <p:nvPr>
            <p:ph type="ctrTitle"/>
          </p:nvPr>
        </p:nvSpPr>
        <p:spPr>
          <a:xfrm>
            <a:off x="1251775" y="259612"/>
            <a:ext cx="6741600" cy="6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pt-BR" dirty="0"/>
              <a:t>Ambiente Virtual de Aprendizagem (AVA)</a:t>
            </a:r>
            <a:endParaRPr dirty="0"/>
          </a:p>
        </p:txBody>
      </p:sp>
      <p:pic>
        <p:nvPicPr>
          <p:cNvPr id="147" name="Google Shape;147;p15"/>
          <p:cNvPicPr preferRelativeResize="0"/>
          <p:nvPr/>
        </p:nvPicPr>
        <p:blipFill rotWithShape="1">
          <a:blip r:embed="rId3">
            <a:alphaModFix/>
          </a:blip>
          <a:srcRect t="9613" b="22640"/>
          <a:stretch/>
        </p:blipFill>
        <p:spPr>
          <a:xfrm>
            <a:off x="1381793" y="953512"/>
            <a:ext cx="5676231" cy="1796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46384" y="2987145"/>
            <a:ext cx="5283029" cy="16422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ducação Profissional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225</Words>
  <Application>Microsoft Office PowerPoint</Application>
  <PresentationFormat>Apresentação no Ecrã (16:9)</PresentationFormat>
  <Paragraphs>38</Paragraphs>
  <Slides>9</Slides>
  <Notes>8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9</vt:i4>
      </vt:variant>
    </vt:vector>
  </HeadingPairs>
  <TitlesOfParts>
    <vt:vector size="13" baseType="lpstr">
      <vt:lpstr>Roboto Light</vt:lpstr>
      <vt:lpstr>Roboto</vt:lpstr>
      <vt:lpstr>Arial</vt:lpstr>
      <vt:lpstr>Educação Profissional</vt:lpstr>
      <vt:lpstr>Apresentação</vt:lpstr>
      <vt:lpstr>Plano de Ensino</vt:lpstr>
      <vt:lpstr>Capacidades Socioemocionais</vt:lpstr>
      <vt:lpstr>Conhecimentos (Literatura)</vt:lpstr>
      <vt:lpstr>Conteudo</vt:lpstr>
      <vt:lpstr>Combinados!</vt:lpstr>
      <vt:lpstr>Vale nota Professor?</vt:lpstr>
      <vt:lpstr>Avaliação de Comportamento</vt:lpstr>
      <vt:lpstr>Ambiente Virtual de Aprendizagem (AVA)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Gelvazio Camargo - HOTMAIL</dc:creator>
  <cp:lastModifiedBy>Gelvazio Camargo - HOTMAIL</cp:lastModifiedBy>
  <cp:revision>12</cp:revision>
  <dcterms:modified xsi:type="dcterms:W3CDTF">2026-09-02T16:42:43Z</dcterms:modified>
</cp:coreProperties>
</file>