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  <a:r>
              <a:t>EXCEL - Consolidado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Analise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  <a:r>
              <a:t>Indice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Conteudo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1. Basics: Interface, Formulas, Funcoes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2. Intermediario: Formatacao, Validacao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3. Avancado: PROCV, Tabelas Dinamicas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4. Visualizacao: Graficos e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  <a:r>
              <a:t>Excel Basico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82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Interface e Estrutura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Formulas Basicas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Funcoes Essenciais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Formatacao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  <a:r>
              <a:t>Excel Avancado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81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Funcoes de Busca (PROCV)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Funcoes Condicionais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Tabelas Dinamicas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Graficos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Excel Básico: Interface e Fórmulas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Dominando a interface, operações essenciais e automação no Excel.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Imagine Calcular Mil Salários Manualmente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Como gestores calculavam impostos e folhas de pagamento antes dos softwares automáticos?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Objetivos da Nossa Aula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1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Dominar interface, células e navegação no Excel.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Criar fórmulas e usar funções de cálculo básicas.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Aplicar referências e a função SE para decisões.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🧠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Lembre-se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Ao final, você criará uma folha de pagamento automatizada.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Recapitulação: Estatística e Gestão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Medidas em Decisões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Nas aulas anteriores, vimos ferramentas estatísticas: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Média e Mediana: identificam centros de custos e vendas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Desvio Padrão: quantifica riscos e dispersão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Variações Percentuais: medem crescimento e margens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🔑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Ponto-chave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O Excel torna essas análises instantâneas e dinâmicas.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Quiz: Revisão Estatística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Se o faturamento de uma loja sobe de R$ 10.000 para R$ 12.500, qual foi a variação percentual?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1.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+15%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+12,5%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+20%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4.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+25%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Quiz: Revisão Estatística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Se o faturamento de uma loja sobe de R$ 10.000 para R$ 12.500, qual foi a variação percentual?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1.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+15%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+12,5%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+20%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4.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+25%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✅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Vocabulário Fundamental do Excel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Célula: Interseção de linha e coluna, identificada por letra e número (ex.: B4).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Planilha: Área de trabalho composta por milhões de células organizadas.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Fórmula: Expressão para calcular valores, iniciada obrigatoriamente por sinal de igual.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Sintaxe: Regra gramatical para escrita de funções e seus argumentos.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A Estrutura da Interface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 tela do Excel organiza ferramentas em Guias superiores (Página Inicial, Inserir, Fórmulas) e reúne comandos na Faixa de Opções.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Logo abaixo da faixa, a Barra de Fórmulas exibe o conteúdo exato ou equação da célula ativa, permitindo edições rápidas com precisão cirúrgica.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Colunas, Linhas e Abas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Colunas e Linhas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Colunas verticais recebem letras (A, B, C...). Linhas horizontais recebem números (1, 2, 3...). O cruzamento gera o endereço único da célula.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Pastas e Abas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Um arquivo é uma Pasta de Trabalho, podendo abrigar múltiplas abas organizadas por departamentos como Vendas, Custos e RH.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Basico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Entrada e Tipos de Dados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O Excel classifica as informações inseridas automaticamente: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Textos: alinhados automaticamente à esquerda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Números e Datas: alinhados automaticamente à direita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Valores Lógicos: termos VERDADEIRO ou FALSO centralizados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⚠️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Atenção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Se um número ficar alinhado à esquerda, o Excel o interpretou como texto e não fará contas!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Excel Avançado: Funções Complexas e Busca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Domine PROCV, ÍNDICE, CORRESP e agregações condicionais para gestão.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O Desafio dos Dados Dispersos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Imagine procurar manualmente o preço de 500 produtos em uma lista com 10.000 itens. Como fazer isso em segundos sem errar?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Objetivos da Aula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Hoje você vai dominar ferramentas fundamentais para conectar dados e gerar relatórios executivos confiáveis.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1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Construir buscas com PROCV, PROCH e ÍNDICE+CORRESP.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Tratar erros com SEERRO e estruturar SE aninhado.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Consolidar métricas com CONT.SE e SOMASE.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Vocabulário Essencial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Pesquisa: Localização de um valor-chave em colunas ou matrizes.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Consulta: Recuperação automática de dados entre tabelas distintas.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Agregação: Cálculo que reúne múltiplos registros, como somas ou contagens.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Tratamento: Prevenção e correção de erros em buscas não encontradas.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Revisão: Aulas Anteriores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REVISÃO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Revisamos proteção e organização para manter planilhas padronizadas: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Formatação Condicional: realce visual automático.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Validação de Dados: listas e limites de entrada.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Proteção e Bloqueio: segurança contra edições.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🧠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Lembre-se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Congelar painéis mantém cabeçalhos visíveis na navegação.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Quiz: Validação e Navegação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Pergunta 1: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Qual recurso impede digitação de valores inválidos em uma célula?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Pergunta 2: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Qual ferramenta mantém títulos de colunas visíveis ao rolar a tela?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Pergunta 3: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Como destacar automaticamente vendas acima de R$ 1.000 com cor verde?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Quiz: Validação e Navegação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Resposta 1: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Validação de Dados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Resposta 2: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Congelar Painéis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Resposta 3: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Formatação Condicional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O Conceito de Cruzamento de Dados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Em gestão, raramente todas as informações ficam em um só lugar. Tabelas cadastrais separam produtos de transações para evitar repetições desnecessárias.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Tabela de Vendas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Registra transações diárias com Data, ID do Produto e Quantidade Vendida. O nome e o preço não são digitados aqui.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🔍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Exemplo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Venda #101: Produto ID 42, 3 unidades vendidas.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Cadastro de Produtos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Lista única com ID, Descrição, Categoria e Preço Unitário. Serve como a matriz oficial de referência da empresa.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🔑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Ponto-chave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O ID do Produto é a chave primária que conecta as duas 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PROCV: Pesquisa Vertical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FUNÇÃO DE BUSCA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 função PROCV (Procura Vertical) percorre a primeira coluna de uma tabela procurando um valor-chave e retorna o dado de outra coluna na mesma linha.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🧠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Lembre-se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Sintaxe: =PROCV(valor_procurado; matriz_tabela; núm_índice_coluna; [procurar_intervalo])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Anatomia dos Argumentos do PROCV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Entender cada parâmetro evita erros comuns em planilhas de gestão: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1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Valor Procurado: O código ou texto a pesquisar (ex: A2).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Matriz Tabela: O intervalo de dados fixado com $ (ex: $F$2:$H$50).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Núm Índice Coluna: O número da coluna de retorno (1, 2, 3...).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4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Procurar Intervalo: Use 0 ou FALSO para correspondência exata.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A Regra de Ouro do PROCV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FUNÇÃO DE BUSCA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O PROCV possui uma limitação estrutural crucial: ele só procura da esquerda para a direita.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 coluna que contém o código pesquisado precisa obrigatoriamente ser a primeira coluna da matriz selecionada.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⚠️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Atenção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Se o código estiver na coluna C e o preço na coluna B, o PROCV tradicional não funcionará diretamente.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Verificação: Argumentos do PROCV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Na fórmula =PROCV(A2; D2:G20; 3; FALSO), o que o número 3 representa?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1.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O número da coluna de onde será extraído o resultado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 linha exata onde está o valor procurado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 quantidade de resultados repetidos a encontrar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4.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O número de colunas puladas antes de iniciar a busca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Verificação: Argumentos do PROCV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Na fórmula =PROCV(A2; D2:G20; 3; FALSO), o que o número 3 representa?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1.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O número da coluna de onde será extraído o resultado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 linha exata onde está o valor procurado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A quantidade de resultados repetidos a encontrar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4.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O número de colunas puladas antes de iniciar a busca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✅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PROCH: Pesquisa Horizontal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FUNÇÃO DE BUSCA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Quando a base está disposta em linhas em vez de colunas, utilizamos o PROCH (Procura Horizontal).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Ele busca a chave na primeira linha da matriz e desce até a linha indicada para retornar a informação correspondente.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🔍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Exemplo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Tabelas de alíquotas com meses no cabeçalho horizontal: =PROCH("Março"; B1:M5; 3;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Avancado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Comparando PROCV e PROCH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PROCV (Vertical)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Ideal para listas convencionais onde cada linha é um registro e cada coluna é um campo descritivo.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PROCH (Horizontal)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Utilizado em matrizes gerenciais com períodos (meses, trimestres) organizados lado a lado no topo.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4384"/>
                </a:solidFill>
              </a:defRPr>
            </a:pPr>
            <a:r>
              <a:t>Conclusao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7951D"/>
                </a:solidFill>
              </a:defRPr>
            </a:pPr>
            <a:r>
              <a:t>Proximos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1. Pratica com dados reais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2. Criacao de dashboards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3. Automacao com macros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4. Analise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"/>
            <a:ext cx="8229600" cy="0"/>
          </a:xfrm>
          <a:prstGeom prst="rect">
            <a:avLst/>
          </a:prstGeom>
          <a:ln w="38100">
            <a:solidFill>
              <a:srgbClr val="F79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