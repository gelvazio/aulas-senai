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embeddedFontLst>
    <p:embeddedFont>
      <p:font typeface="Dyslexie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font" Target="fonts/font1.fntdata"/><Relationship Id="rId4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YPqMcYa68U" TargetMode="External"/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video" Target="https://www.youtube.com/embed/zYPqMcYa68U?feature=oembe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1c53dcd-e028-4488-bc5d-f32d0fd978c3" descr="/home/forge/chalkie-production-workers-1/releases/77481629/backend/storage/app/render-specs/fff410d0-eb95-4524-8e16-06ff7ef3dc67/img_5bb3866270ae4a719c3e8f4a1a71a8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99408b64-4192-4cd0-81f6-15b06c7685c3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Interativos e Integração de Dados</a:t>
            </a:r>
            <a:endParaRPr lang="en-US" sz="2527" dirty="0"/>
          </a:p>
        </p:txBody>
      </p:sp>
      <p:sp>
        <p:nvSpPr>
          <p:cNvPr id="4" name="5c2beda0-94db-470f-a14d-e80b70e124f0"/>
          <p:cNvSpPr/>
          <p:nvPr/>
        </p:nvSpPr>
        <p:spPr>
          <a:xfrm>
            <a:off x="4914900" y="308610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Transformando números brutos em decisões visuais estratégicas na gestão.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bb141a8-9554-4fc5-8b2a-91986af568b8" descr="/home/forge/chalkie-production-workers-1/releases/77481629/backend/storage/app/render-specs/fff410d0-eb95-4524-8e16-06ff7ef3dc67/img_96f4650bf274f19c9d872789e08914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9c5760c9-5c05-48aa-8163-293bdcf26b84"/>
          <p:cNvSpPr/>
          <p:nvPr/>
        </p:nvSpPr>
        <p:spPr>
          <a:xfrm>
            <a:off x="285750" y="153162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em Segundos</a:t>
            </a:r>
            <a:endParaRPr lang="en-US" sz="2246" dirty="0"/>
          </a:p>
        </p:txBody>
      </p:sp>
      <p:sp>
        <p:nvSpPr>
          <p:cNvPr id="4" name="1eb427cf-dcab-463d-90e5-afc3f500232a"/>
          <p:cNvSpPr/>
          <p:nvPr/>
        </p:nvSpPr>
        <p:spPr>
          <a:xfrm>
            <a:off x="285750" y="216027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diretor tivesse apenas trinta segundos para avaliar a saúde da empresa inteira, ele conseguiria entender lendo duzentas linhas de planilha?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b377814-bbec-44c0-af03-04d8a4d560b3" descr="/home/forge/chalkie-production-workers-1/releases/77481629/backend/storage/app/render-specs/fff410d0-eb95-4524-8e16-06ff7ef3dc67/img_adfbe930c4bcd0ada658727e43b0b8a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2422dea-3bd4-4537-9487-390564f8348d"/>
          <p:cNvSpPr/>
          <p:nvPr/>
        </p:nvSpPr>
        <p:spPr>
          <a:xfrm>
            <a:off x="285750" y="60579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Aula</a:t>
            </a:r>
            <a:endParaRPr lang="en-US" sz="2246" dirty="0"/>
          </a:p>
        </p:txBody>
      </p:sp>
      <p:sp>
        <p:nvSpPr>
          <p:cNvPr id="4" name="8cddcf3f-f974-4f57-b060-bb7bdc7c74c5"/>
          <p:cNvSpPr/>
          <p:nvPr/>
        </p:nvSpPr>
        <p:spPr>
          <a:xfrm>
            <a:off x="285750" y="1234440"/>
            <a:ext cx="51435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Vamos Construir Hoje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Domine a apresentação de dados gerenciais: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Projetar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layouts intuitivos com KPIs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Integrar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gráficos e tabelas em tela única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segmentadores para controle total</a:t>
            </a:r>
            <a:endParaRPr lang="en-US" sz="1544" dirty="0"/>
          </a:p>
        </p:txBody>
      </p:sp>
      <p:sp>
        <p:nvSpPr>
          <p:cNvPr id="5" name="7c00032a-a966-4be1-a17a-189eb5e9dd5a_card"/>
          <p:cNvSpPr/>
          <p:nvPr/>
        </p:nvSpPr>
        <p:spPr>
          <a:xfrm>
            <a:off x="285750" y="317754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7c00032a-a966-4be1-a17a-189eb5e9dd5a_emoji"/>
          <p:cNvSpPr/>
          <p:nvPr/>
        </p:nvSpPr>
        <p:spPr>
          <a:xfrm>
            <a:off x="400050" y="33261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7c00032a-a966-4be1-a17a-189eb5e9dd5a_text"/>
          <p:cNvSpPr/>
          <p:nvPr/>
        </p:nvSpPr>
        <p:spPr>
          <a:xfrm>
            <a:off x="765810" y="329184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eficazes respondem perguntas de negócio sem esforço mental do leitor.</a:t>
            </a:r>
            <a:endParaRPr lang="en-US" sz="112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b264471-02a0-4340-8c8d-c2ffe0f74624" descr="/home/forge/chalkie-production-workers-1/releases/77481629/backend/storage/app/render-specs/fff410d0-eb95-4524-8e16-06ff7ef3dc67/img_6e8cc250bfe3649e36c5c7652f7022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40973e8b-92d7-4040-a471-f84b6576563f" descr="/home/forge/chalkie-production-workers-1/releases/77481629/backend/storage/app/render-specs/fff410d0-eb95-4524-8e16-06ff7ef3dc67/img_3983de39ef6b5d231d1fe68e34a26e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840bed45-e8c6-459a-a787-67d9d6eb26ce" descr="/home/forge/chalkie-production-workers-1/releases/77481629/backend/storage/app/render-specs/fff410d0-eb95-4524-8e16-06ff7ef3dc67/img_7909f3c83a20c1ddf26259d54f780a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d2f939bd-b673-4503-872c-f0e78144033d" descr="/home/forge/chalkie-production-workers-1/releases/77481629/backend/storage/app/render-specs/fff410d0-eb95-4524-8e16-06ff7ef3dc67/img_02912a70ce09cad16441ec8c5c2598b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11e972df-2a5b-4f9c-afeb-4a5fdb776eb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</a:t>
            </a:r>
            <a:endParaRPr lang="en-US" sz="2246" dirty="0"/>
          </a:p>
        </p:txBody>
      </p:sp>
      <p:sp>
        <p:nvSpPr>
          <p:cNvPr id="7" name="e93eedca-ed07-49d5-8036-aa1cc28ddc3b"/>
          <p:cNvSpPr/>
          <p:nvPr/>
        </p:nvSpPr>
        <p:spPr>
          <a:xfrm>
            <a:off x="285750" y="34290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Painel visual integrado com métricas centrais do negócio.</a:t>
            </a:r>
            <a:endParaRPr lang="en-US" sz="1544" dirty="0"/>
          </a:p>
        </p:txBody>
      </p:sp>
      <p:sp>
        <p:nvSpPr>
          <p:cNvPr id="8" name="7002acff-5872-4bb6-a2dc-147b57216ac0"/>
          <p:cNvSpPr/>
          <p:nvPr/>
        </p:nvSpPr>
        <p:spPr>
          <a:xfrm>
            <a:off x="2491740" y="27432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Interatividade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Capacidade de filtrar dados instantaneamente por cliques.</a:t>
            </a:r>
            <a:endParaRPr lang="en-US" sz="1544" dirty="0"/>
          </a:p>
        </p:txBody>
      </p:sp>
      <p:sp>
        <p:nvSpPr>
          <p:cNvPr id="9" name="4fe17ac5-6c2a-46f7-b7d0-5f9476bf2318"/>
          <p:cNvSpPr/>
          <p:nvPr/>
        </p:nvSpPr>
        <p:spPr>
          <a:xfrm>
            <a:off x="4686300" y="34290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Indicador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 quantitativa direta para acompanhar metas críticas.</a:t>
            </a:r>
            <a:endParaRPr lang="en-US" sz="1544" dirty="0"/>
          </a:p>
        </p:txBody>
      </p:sp>
      <p:sp>
        <p:nvSpPr>
          <p:cNvPr id="10" name="c534c34b-cb0b-497b-b465-865b1c23592a"/>
          <p:cNvSpPr/>
          <p:nvPr/>
        </p:nvSpPr>
        <p:spPr>
          <a:xfrm>
            <a:off x="6892290" y="27432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Layout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e distribuição visual planejada dos elementos em tela.</a:t>
            </a:r>
            <a:endParaRPr lang="en-US" sz="15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332dd1e-0370-4a64-9ff1-b195c954631a" descr="/home/forge/chalkie-production-workers-1/releases/77481629/backend/storage/app/render-specs/fff410d0-eb95-4524-8e16-06ff7ef3dc67/img_4b43906b20f47a37aa14e0d572ba1f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f031948-0671-48f3-9d76-dc232d3bc5a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Relembrando: Tabelas Dinâmicas</a:t>
            </a:r>
            <a:endParaRPr lang="en-US" sz="2246" dirty="0"/>
          </a:p>
        </p:txBody>
      </p:sp>
      <p:sp>
        <p:nvSpPr>
          <p:cNvPr id="4" name="092742d5-18a1-42fe-aae7-77b847cc2a11"/>
          <p:cNvSpPr/>
          <p:nvPr/>
        </p:nvSpPr>
        <p:spPr>
          <a:xfrm>
            <a:off x="4286250" y="868680"/>
            <a:ext cx="18288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RECAPITULAÇÃO</a:t>
            </a:r>
            <a:endParaRPr lang="en-US" sz="842" dirty="0"/>
          </a:p>
        </p:txBody>
      </p:sp>
      <p:sp>
        <p:nvSpPr>
          <p:cNvPr id="5" name="ee899a7c-a7f0-4663-be17-35d9ef8c0e04"/>
          <p:cNvSpPr/>
          <p:nvPr/>
        </p:nvSpPr>
        <p:spPr>
          <a:xfrm>
            <a:off x="4286250" y="117729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Motor dos Painéis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Transformamos registros de vendas em resumos automáticos via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Dinâmica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Linhas/Colunas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organizam categorias e períodos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somam faturamentos ou médias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isolam dados rapidamente</a:t>
            </a:r>
            <a:endParaRPr lang="en-US" sz="1544" dirty="0"/>
          </a:p>
        </p:txBody>
      </p:sp>
      <p:sp>
        <p:nvSpPr>
          <p:cNvPr id="6" name="4e65f327-3d30-483f-8afa-8521911bde14_card"/>
          <p:cNvSpPr/>
          <p:nvPr/>
        </p:nvSpPr>
        <p:spPr>
          <a:xfrm>
            <a:off x="4286250" y="363474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4e65f327-3d30-483f-8afa-8521911bde14_emoji"/>
          <p:cNvSpPr/>
          <p:nvPr/>
        </p:nvSpPr>
        <p:spPr>
          <a:xfrm>
            <a:off x="44005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4e65f327-3d30-483f-8afa-8521911bde14_text"/>
          <p:cNvSpPr/>
          <p:nvPr/>
        </p:nvSpPr>
        <p:spPr>
          <a:xfrm>
            <a:off x="4766310" y="374904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dinâmicas estruturadas são a base de todo dashboard automático.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e702f99-ba7d-40ee-8639-b0177d76fede" descr="/home/forge/chalkie-production-workers-1/releases/77481629/backend/storage/app/render-specs/fff410d0-eb95-4524-8e16-06ff7ef3dc67/img_0471144fef88e2a905b18c2a2f11bb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490a7cf-611d-4e35-9fe2-2e0a00e440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Relembrando: Gráficos Dinâmicos</a:t>
            </a:r>
            <a:endParaRPr lang="en-US" sz="2246" dirty="0"/>
          </a:p>
        </p:txBody>
      </p:sp>
      <p:sp>
        <p:nvSpPr>
          <p:cNvPr id="4" name="7593d7e8-288e-457c-ac90-0a3ca7f0caf0"/>
          <p:cNvSpPr/>
          <p:nvPr/>
        </p:nvSpPr>
        <p:spPr>
          <a:xfrm>
            <a:off x="285750" y="868680"/>
            <a:ext cx="18288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RECAPITULAÇÃO</a:t>
            </a:r>
            <a:endParaRPr lang="en-US" sz="842" dirty="0"/>
          </a:p>
        </p:txBody>
      </p:sp>
      <p:sp>
        <p:nvSpPr>
          <p:cNvPr id="5" name="5e0f1d0e-d3c7-48a3-8566-51a8f1cf6897"/>
          <p:cNvSpPr/>
          <p:nvPr/>
        </p:nvSpPr>
        <p:spPr>
          <a:xfrm>
            <a:off x="285750" y="117729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Resumo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dinâmicos refletem alterações nas tabelas de origem instantaneamente.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evolução temporal.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comparação de categorias.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ranking de produtos.</a:t>
            </a:r>
            <a:endParaRPr lang="en-US" sz="1544" dirty="0"/>
          </a:p>
        </p:txBody>
      </p:sp>
      <p:sp>
        <p:nvSpPr>
          <p:cNvPr id="6" name="e6ea93a2-aea2-408c-bf31-0f489e65b6a3_card"/>
          <p:cNvSpPr/>
          <p:nvPr/>
        </p:nvSpPr>
        <p:spPr>
          <a:xfrm>
            <a:off x="285750" y="337185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e6ea93a2-aea2-408c-bf31-0f489e65b6a3_emoji"/>
          <p:cNvSpPr/>
          <p:nvPr/>
        </p:nvSpPr>
        <p:spPr>
          <a:xfrm>
            <a:off x="400050" y="35204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e6ea93a2-aea2-408c-bf31-0f489e65b6a3_text"/>
          <p:cNvSpPr/>
          <p:nvPr/>
        </p:nvSpPr>
        <p:spPr>
          <a:xfrm>
            <a:off x="765810" y="348615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pizza com &gt;3 categorias: comparação visual de áreas é ineficiente.</a:t>
            </a:r>
            <a:endParaRPr lang="en-US" sz="11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a15288b-665a-4785-baf1-e25616cd2f6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Escolha de Gráficos</a:t>
            </a:r>
            <a:endParaRPr lang="en-US" sz="2246" dirty="0"/>
          </a:p>
        </p:txBody>
      </p:sp>
      <p:sp>
        <p:nvSpPr>
          <p:cNvPr id="3" name="05c15371-1f8b-4316-ad39-9451181b138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tipo de gráfico dinâmico é mais recomendado para demonstrar o crescimento do faturamento de uma loja mês a mês durante um ano?</a:t>
            </a:r>
            <a:endParaRPr lang="en-US" sz="1264" dirty="0"/>
          </a:p>
        </p:txBody>
      </p:sp>
      <p:sp>
        <p:nvSpPr>
          <p:cNvPr id="4" name="3f0f985b-227d-4805-8ecb-38aec4c266e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4b4b125e-6e3a-40f8-8408-5282436d779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Dispersão sem conexão entre os pontos mensais.</a:t>
            </a:r>
            <a:endParaRPr lang="en-US" sz="1264" dirty="0"/>
          </a:p>
        </p:txBody>
      </p:sp>
      <p:sp>
        <p:nvSpPr>
          <p:cNvPr id="6" name="816c9218-04c0-407f-9b34-9e9d6f6d5c6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5c32b5df-2954-4bd0-b964-474e6e8bece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Linha, pois evidencia variações temporais contínuas.</a:t>
            </a:r>
            <a:endParaRPr lang="en-US" sz="1264" dirty="0"/>
          </a:p>
        </p:txBody>
      </p:sp>
      <p:sp>
        <p:nvSpPr>
          <p:cNvPr id="8" name="ffd3d0f2-cfeb-4b85-8433-a69d56a9579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ef94384-fdd0-47e0-81d2-640001a98f3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Pizza com doze fatias estreitas e coloridas.</a:t>
            </a:r>
            <a:endParaRPr lang="en-US" sz="1264" dirty="0"/>
          </a:p>
        </p:txBody>
      </p:sp>
      <p:sp>
        <p:nvSpPr>
          <p:cNvPr id="10" name="03d41d06-cf86-496c-8b84-41eec547915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93cd8e93-d508-450b-a241-34ebd1d7cab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Radar com múltiplos eixos sobrepostos.</a:t>
            </a:r>
            <a:endParaRPr lang="en-US" sz="126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a15288b-665a-4785-baf1-e25616cd2f6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Escolha de Gráficos</a:t>
            </a:r>
            <a:endParaRPr lang="en-US" sz="2246" dirty="0"/>
          </a:p>
        </p:txBody>
      </p:sp>
      <p:sp>
        <p:nvSpPr>
          <p:cNvPr id="3" name="05c15371-1f8b-4316-ad39-9451181b138c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tipo de gráfico dinâmico é mais recomendado para demonstrar o crescimento do faturamento de uma loja mês a mês durante um ano?</a:t>
            </a:r>
            <a:endParaRPr lang="en-US" sz="1264" dirty="0"/>
          </a:p>
        </p:txBody>
      </p:sp>
      <p:sp>
        <p:nvSpPr>
          <p:cNvPr id="4" name="3f0f985b-227d-4805-8ecb-38aec4c266e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4b4b125e-6e3a-40f8-8408-5282436d779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Dispersão sem conexão entre os pontos mensais.</a:t>
            </a:r>
            <a:endParaRPr lang="en-US" sz="1264" dirty="0"/>
          </a:p>
        </p:txBody>
      </p:sp>
      <p:sp>
        <p:nvSpPr>
          <p:cNvPr id="6" name="816c9218-04c0-407f-9b34-9e9d6f6d5c6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5c32b5df-2954-4bd0-b964-474e6e8bece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Linha, pois evidencia variações temporais contínuas.</a:t>
            </a:r>
            <a:endParaRPr lang="en-US" sz="1264" dirty="0"/>
          </a:p>
        </p:txBody>
      </p:sp>
      <p:sp>
        <p:nvSpPr>
          <p:cNvPr id="8" name="ffd3d0f2-cfeb-4b85-8433-a69d56a9579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ef94384-fdd0-47e0-81d2-640001a98f3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Pizza com doze fatias estreitas e coloridas.</a:t>
            </a:r>
            <a:endParaRPr lang="en-US" sz="1264" dirty="0"/>
          </a:p>
        </p:txBody>
      </p:sp>
      <p:sp>
        <p:nvSpPr>
          <p:cNvPr id="10" name="03d41d06-cf86-496c-8b84-41eec547915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93cd8e93-d508-450b-a241-34ebd1d7cab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de Radar com múltiplos eixos sobrepostos.</a:t>
            </a:r>
            <a:endParaRPr lang="en-US" sz="1264" dirty="0"/>
          </a:p>
        </p:txBody>
      </p:sp>
      <p:sp>
        <p:nvSpPr>
          <p:cNvPr id="12" name="3ef5ce3f-470e-438b-8e6c-3b0bd4e2d74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74214b12-5d00-4a7a-aff2-b7448396feed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f924432-4702-4bd5-92a5-e656474f103d" descr="/home/forge/chalkie-production-workers-1/releases/77481629/backend/storage/app/render-specs/fff410d0-eb95-4524-8e16-06ff7ef3dc67/img_968b879dab5cf192f3624e6f7fe681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f082d1f5-ff64-4faf-86b2-9dd1f8105f89"/>
          <p:cNvSpPr/>
          <p:nvPr/>
        </p:nvSpPr>
        <p:spPr>
          <a:xfrm>
            <a:off x="285750" y="20574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um Dashboard?</a:t>
            </a:r>
            <a:endParaRPr lang="en-US" sz="2246" dirty="0"/>
          </a:p>
        </p:txBody>
      </p:sp>
      <p:sp>
        <p:nvSpPr>
          <p:cNvPr id="4" name="fab04b1d-af7e-4047-96b0-d60252d1ab84"/>
          <p:cNvSpPr/>
          <p:nvPr/>
        </p:nvSpPr>
        <p:spPr>
          <a:xfrm>
            <a:off x="285750" y="834390"/>
            <a:ext cx="51435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Painel de Controle Gerencial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Assim como o velocímetro e os marcadores de combustível mostram tudo o que o motorista precisa sem que ele abra o capô do carro, um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 executivo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sintetiza o desempenho geral de uma organização em uma única interface clara e consolidada.</a:t>
            </a:r>
            <a:endParaRPr lang="en-US" sz="1544" dirty="0"/>
          </a:p>
        </p:txBody>
      </p:sp>
      <p:sp>
        <p:nvSpPr>
          <p:cNvPr id="5" name="8d1c1783-c7cf-4e74-a2b7-d653043b9be9_card"/>
          <p:cNvSpPr/>
          <p:nvPr/>
        </p:nvSpPr>
        <p:spPr>
          <a:xfrm>
            <a:off x="285750" y="3051810"/>
            <a:ext cx="5143500" cy="1635887"/>
          </a:xfrm>
          <a:prstGeom prst="roundRect">
            <a:avLst>
              <a:gd name="adj" fmla="val 5590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8d1c1783-c7cf-4e74-a2b7-d653043b9be9_emoji"/>
          <p:cNvSpPr/>
          <p:nvPr/>
        </p:nvSpPr>
        <p:spPr>
          <a:xfrm>
            <a:off x="400050" y="32004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8d1c1783-c7cf-4e74-a2b7-d653043b9be9_text"/>
          <p:cNvSpPr/>
          <p:nvPr/>
        </p:nvSpPr>
        <p:spPr>
          <a:xfrm>
            <a:off x="765810" y="3166110"/>
            <a:ext cx="45491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gestão de estoque de uma distribuidora, o dashboard avisa em segundos quais produtos estão prestes a faltar nas prateleiras.</a:t>
            </a:r>
            <a:endParaRPr lang="en-US" sz="112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1eef090-6faa-4920-a830-0562aa2ec4b5" descr="/home/forge/chalkie-production-workers-1/releases/77481629/backend/storage/app/render-specs/fff410d0-eb95-4524-8e16-06ff7ef3dc67/img_52203690636fc7364bef9d85bbf7b0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7119d833-4419-4bcc-9b54-3610157e890c" descr="/home/forge/chalkie-production-workers-1/releases/77481629/backend/storage/app/render-specs/fff410d0-eb95-4524-8e16-06ff7ef3dc67/img_d30ec70861316e3baf5357aa9b68a72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8319d9de-0a66-4528-8ff4-ec197b11e25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Planilha Comum versus Dashboard</a:t>
            </a:r>
            <a:endParaRPr lang="en-US" sz="2246" dirty="0"/>
          </a:p>
        </p:txBody>
      </p:sp>
      <p:sp>
        <p:nvSpPr>
          <p:cNvPr id="5" name="b69c7fae-522f-437b-a3a0-5431ecbd50a3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de Registro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Armazena transações brutas em milhares de linhas. É densa, cansativa para leitura rápida e exige fórmulas manuais contínuas para cada nova pergunta de negócio.</a:t>
            </a:r>
            <a:endParaRPr lang="en-US" sz="1544" dirty="0"/>
          </a:p>
        </p:txBody>
      </p:sp>
      <p:sp>
        <p:nvSpPr>
          <p:cNvPr id="6" name="80d0f1b3-ff4b-4c00-a17e-56d7b19509f9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Painel Estratégico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Agrupa apenas totais críticos e indicadores calculados. Permite que gestores descubram gargalos e oportunidades em segundos com botões visuais.</a:t>
            </a:r>
            <a:endParaRPr lang="en-US" sz="15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d86ee5b-510f-4d5b-b676-fec1fdde2cac" descr="/home/forge/chalkie-production-workers-1/releases/77481629/backend/storage/app/render-specs/fff410d0-eb95-4524-8e16-06ff7ef3dc67/img_50a632ec08a8b88eff30eb934d4884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c66583c-9ccb-4aa8-9c52-fed4f8ac108d"/>
          <p:cNvSpPr/>
          <p:nvPr/>
        </p:nvSpPr>
        <p:spPr>
          <a:xfrm>
            <a:off x="3714750" y="25146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Tomada de Decisão Estratégica</a:t>
            </a:r>
            <a:endParaRPr lang="en-US" sz="2246" dirty="0"/>
          </a:p>
        </p:txBody>
      </p:sp>
      <p:sp>
        <p:nvSpPr>
          <p:cNvPr id="4" name="9ad107fe-b98e-4260-ba87-bdd0d2e1385f"/>
          <p:cNvSpPr/>
          <p:nvPr/>
        </p:nvSpPr>
        <p:spPr>
          <a:xfrm>
            <a:off x="3714750" y="133731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 Informação à Ação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geram valor ao permitir ações rápidas e precisas. Líderes buscam respostas objetivas: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Onde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estão os maiores custos?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Quem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são os clientes com maior retenção?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ocorreram quedas de rentabilidade?</a:t>
            </a:r>
            <a:endParaRPr lang="en-US" sz="1544" dirty="0"/>
          </a:p>
        </p:txBody>
      </p:sp>
      <p:sp>
        <p:nvSpPr>
          <p:cNvPr id="5" name="0ad01857-156d-41ce-a855-df6eb8bb92d2_card"/>
          <p:cNvSpPr/>
          <p:nvPr/>
        </p:nvSpPr>
        <p:spPr>
          <a:xfrm>
            <a:off x="3714750" y="353187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0ad01857-156d-41ce-a855-df6eb8bb92d2_emoji"/>
          <p:cNvSpPr/>
          <p:nvPr/>
        </p:nvSpPr>
        <p:spPr>
          <a:xfrm>
            <a:off x="3829050" y="36804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0ad01857-156d-41ce-a855-df6eb8bb92d2_text"/>
          <p:cNvSpPr/>
          <p:nvPr/>
        </p:nvSpPr>
        <p:spPr>
          <a:xfrm>
            <a:off x="4194810" y="364617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Dashboards não apenas exibem o passado: eles orientam os próximos passos da equipe.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e331b1c-1e58-414a-a3f8-7902f41dc0d9" descr="/home/forge/chalkie-production-workers-1/releases/77481629/backend/storage/app/render-specs/fff410d0-eb95-4524-8e16-06ff7ef3dc67/img_8e81c64a99a7e6140af59e49325e99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1d3707f-2956-418f-8995-666d6cbc82e0"/>
          <p:cNvSpPr/>
          <p:nvPr/>
        </p:nvSpPr>
        <p:spPr>
          <a:xfrm>
            <a:off x="285750" y="24003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Princípios de Design e Usabilidade</a:t>
            </a:r>
            <a:endParaRPr lang="en-US" sz="2246" dirty="0"/>
          </a:p>
        </p:txBody>
      </p:sp>
      <p:sp>
        <p:nvSpPr>
          <p:cNvPr id="4" name="84b3b866-8470-4915-98be-d0a1e5b65481"/>
          <p:cNvSpPr/>
          <p:nvPr/>
        </p:nvSpPr>
        <p:spPr>
          <a:xfrm>
            <a:off x="285750" y="1325880"/>
            <a:ext cx="51435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Regra de Ouro: Simplicidade Funcional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é mais na comunicação analítica. O objetivo primordial de qualquer painel é facilitar a leitura humana sem sobrecarregar a memória de trabalho com ornamentos desnecessários.</a:t>
            </a:r>
            <a:endParaRPr lang="en-US" sz="1544" dirty="0"/>
          </a:p>
        </p:txBody>
      </p:sp>
      <p:sp>
        <p:nvSpPr>
          <p:cNvPr id="5" name="3151a59b-8150-4847-9088-9ed5432e93e9_card"/>
          <p:cNvSpPr/>
          <p:nvPr/>
        </p:nvSpPr>
        <p:spPr>
          <a:xfrm>
            <a:off x="285750" y="3028950"/>
            <a:ext cx="5143500" cy="1635887"/>
          </a:xfrm>
          <a:prstGeom prst="roundRect">
            <a:avLst>
              <a:gd name="adj" fmla="val 5590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3151a59b-8150-4847-9088-9ed5432e93e9_emoji"/>
          <p:cNvSpPr/>
          <p:nvPr/>
        </p:nvSpPr>
        <p:spPr>
          <a:xfrm>
            <a:off x="400050" y="31775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3151a59b-8150-4847-9088-9ed5432e93e9_text"/>
          <p:cNvSpPr/>
          <p:nvPr/>
        </p:nvSpPr>
        <p:spPr>
          <a:xfrm>
            <a:off x="765810" y="3143250"/>
            <a:ext cx="45491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o 'efeito arco-íris': usar dez cores diferentes em uma mesma tela confunde o leitor e oculta os verdadeiros alertas de gestão.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521a51-8ef3-4240-b595-e430e6d1bf98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162e60db-b641-4028-88e0-03d01c354e1b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9bcbb63f-15ba-4d7d-9d9d-5664f877e1d8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77ec1bfe-fc9f-41d9-bcb7-7ec4b7fcad47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657ac5ba-056a-41ae-a99a-81a7027f3a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Anatomia de um Dashboard</a:t>
            </a:r>
            <a:endParaRPr lang="en-US" sz="2246" dirty="0"/>
          </a:p>
        </p:txBody>
      </p:sp>
      <p:sp>
        <p:nvSpPr>
          <p:cNvPr id="7" name="2a07cab2-8ae3-46d3-ad81-4733da20e6dd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Cabeçalho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Título do projeto, data de atualização e logo corporativo discreto.</a:t>
            </a:r>
            <a:endParaRPr lang="en-US" sz="1544" dirty="0"/>
          </a:p>
        </p:txBody>
      </p:sp>
      <p:sp>
        <p:nvSpPr>
          <p:cNvPr id="8" name="863556a3-66e7-492a-825d-b5fea32fa71e"/>
          <p:cNvSpPr/>
          <p:nvPr/>
        </p:nvSpPr>
        <p:spPr>
          <a:xfrm>
            <a:off x="2491740" y="137160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Cartões KPI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Métricas macro com valores consolidados no topo da tela.</a:t>
            </a:r>
            <a:endParaRPr lang="en-US" sz="1544" dirty="0"/>
          </a:p>
        </p:txBody>
      </p:sp>
      <p:sp>
        <p:nvSpPr>
          <p:cNvPr id="9" name="60dd34ee-fa73-4a72-9481-b1cf1f9c0c6c"/>
          <p:cNvSpPr/>
          <p:nvPr/>
        </p:nvSpPr>
        <p:spPr>
          <a:xfrm>
            <a:off x="468630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Gráficos Centrais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Comparações visuais de categorias e tendências temporais.</a:t>
            </a:r>
            <a:endParaRPr lang="en-US" sz="1544" dirty="0"/>
          </a:p>
        </p:txBody>
      </p:sp>
      <p:sp>
        <p:nvSpPr>
          <p:cNvPr id="10" name="be319890-4ae8-452e-9ade-e21dce8a485c"/>
          <p:cNvSpPr/>
          <p:nvPr/>
        </p:nvSpPr>
        <p:spPr>
          <a:xfrm>
            <a:off x="6892290" y="137160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Barra de Filtros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Segmentadores laterais ou superiores para navegação interativa.</a:t>
            </a:r>
            <a:endParaRPr lang="en-US" sz="15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9bdf3e7-bc99-4b66-85cc-a07463cbf00c" descr="/home/forge/chalkie-production-workers-1/releases/77481629/backend/storage/app/render-specs/fff410d0-eb95-4524-8e16-06ff7ef3dc67/img_9f1f0111df7afb7860113d797d64fd6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c83de81d-9526-4e4a-bb5c-c1e45a54c400"/>
          <p:cNvSpPr/>
          <p:nvPr/>
        </p:nvSpPr>
        <p:spPr>
          <a:xfrm>
            <a:off x="285750" y="2857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são KPIs?</a:t>
            </a:r>
            <a:endParaRPr lang="en-US" sz="2246" dirty="0"/>
          </a:p>
        </p:txBody>
      </p:sp>
      <p:sp>
        <p:nvSpPr>
          <p:cNvPr id="4" name="38ccd6c5-0ac4-4ebc-bf89-1367d2220e2a"/>
          <p:cNvSpPr/>
          <p:nvPr/>
        </p:nvSpPr>
        <p:spPr>
          <a:xfrm>
            <a:off x="285750" y="982980"/>
            <a:ext cx="120015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MÉTRICAS</a:t>
            </a:r>
            <a:endParaRPr lang="en-US" sz="842" dirty="0"/>
          </a:p>
        </p:txBody>
      </p:sp>
      <p:sp>
        <p:nvSpPr>
          <p:cNvPr id="5" name="da6dff80-54a6-4b63-8745-096f03a313fd"/>
          <p:cNvSpPr/>
          <p:nvPr/>
        </p:nvSpPr>
        <p:spPr>
          <a:xfrm>
            <a:off x="285750" y="129159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Indicadores-Chave de Desempenho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KPI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(Key Performance Indicator) mede o sucesso de metas empresariais.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Faturamento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soma líquida de vendas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Ticket Médio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gasto médio por cliente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Atraso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% de entregas fora do prazo</a:t>
            </a:r>
            <a:endParaRPr lang="en-US" sz="1544" dirty="0"/>
          </a:p>
        </p:txBody>
      </p:sp>
      <p:sp>
        <p:nvSpPr>
          <p:cNvPr id="6" name="64891ed6-31a0-435d-beaa-ab22af4b88fd_card"/>
          <p:cNvSpPr/>
          <p:nvPr/>
        </p:nvSpPr>
        <p:spPr>
          <a:xfrm>
            <a:off x="285750" y="348615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64891ed6-31a0-435d-beaa-ab22af4b88fd_emoji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64891ed6-31a0-435d-beaa-ab22af4b88fd_text"/>
          <p:cNvSpPr/>
          <p:nvPr/>
        </p:nvSpPr>
        <p:spPr>
          <a:xfrm>
            <a:off x="765810" y="360045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Meta: R$ 50k. Realizado: R$ 52,3k. Meta superada.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e5eca4f-d4b8-46b7-b111-b87ee4432564" descr="/home/forge/chalkie-production-workers-1/releases/77481629/backend/storage/app/render-specs/fff410d0-eb95-4524-8e16-06ff7ef3dc67/img_23b07674751cb54dec5a654916ad61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7db775b-3714-4c47-91ba-c03f5123484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Projetando Cartões de Métricas</a:t>
            </a:r>
            <a:endParaRPr lang="en-US" sz="2246" dirty="0"/>
          </a:p>
        </p:txBody>
      </p:sp>
      <p:sp>
        <p:nvSpPr>
          <p:cNvPr id="4" name="c73ae3d4-d788-4d75-981c-a161b3d8f7f2"/>
          <p:cNvSpPr/>
          <p:nvPr/>
        </p:nvSpPr>
        <p:spPr>
          <a:xfrm>
            <a:off x="4286250" y="868680"/>
            <a:ext cx="120015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MÉTRICAS</a:t>
            </a:r>
            <a:endParaRPr lang="en-US" sz="842" dirty="0"/>
          </a:p>
        </p:txBody>
      </p:sp>
      <p:sp>
        <p:nvSpPr>
          <p:cNvPr id="5" name="d99dbc5c-e108-4710-b53c-efcf9fd86eaa"/>
          <p:cNvSpPr/>
          <p:nvPr/>
        </p:nvSpPr>
        <p:spPr>
          <a:xfrm>
            <a:off x="4286250" y="117729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Clareza e Espaçamento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Cartões devem conter apenas três informações: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Rótulo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nome do indicador em caixa alta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tamanho grande para leitura rápida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Tendência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seta indicando alta ou baixa</a:t>
            </a:r>
            <a:endParaRPr lang="en-US" sz="1544" dirty="0"/>
          </a:p>
        </p:txBody>
      </p:sp>
      <p:sp>
        <p:nvSpPr>
          <p:cNvPr id="6" name="fbe0bd0b-9abe-4c76-b2cc-216e58b6c7d2_card"/>
          <p:cNvSpPr/>
          <p:nvPr/>
        </p:nvSpPr>
        <p:spPr>
          <a:xfrm>
            <a:off x="4286250" y="363474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fbe0bd0b-9abe-4c76-b2cc-216e58b6c7d2_emoji"/>
          <p:cNvSpPr/>
          <p:nvPr/>
        </p:nvSpPr>
        <p:spPr>
          <a:xfrm>
            <a:off x="44005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fbe0bd0b-9abe-4c76-b2cc-216e58b6c7d2_text"/>
          <p:cNvSpPr/>
          <p:nvPr/>
        </p:nvSpPr>
        <p:spPr>
          <a:xfrm>
            <a:off x="4766310" y="374904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dimensões idênticas para harmonia e equilíbrio visual.</a:t>
            </a:r>
            <a:endParaRPr lang="en-US" sz="112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7421318-8051-4c7e-8af5-7490f31c33e8" descr="/home/forge/chalkie-production-workers-1/releases/77481629/backend/storage/app/render-specs/fff410d0-eb95-4524-8e16-06ff7ef3dc67/img_c8935804a0b83a7d5f90c74c36c7c6b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a3d81445-b19a-44c1-a5a4-655a029637a8" descr="/home/forge/chalkie-production-workers-1/releases/77481629/backend/storage/app/render-specs/fff410d0-eb95-4524-8e16-06ff7ef3dc67/img_1b63158a4f0ee0d3691036104d29aed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80822be8-a3b8-4972-b2f8-4bdeb92c81b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Padrão de Leitura em Z</a:t>
            </a:r>
            <a:endParaRPr lang="en-US" sz="2246" dirty="0"/>
          </a:p>
        </p:txBody>
      </p:sp>
      <p:sp>
        <p:nvSpPr>
          <p:cNvPr id="5" name="ee30316b-75f1-4085-a2dc-9887616e41a2"/>
          <p:cNvSpPr/>
          <p:nvPr/>
        </p:nvSpPr>
        <p:spPr>
          <a:xfrm>
            <a:off x="285750" y="299466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Caminho do Olhar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Olhos exploram telas em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Z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Topo: leitura da esquerda à direita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Diagonal: descida ao canto inferior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Base: leitura final à direita</a:t>
            </a:r>
            <a:endParaRPr lang="en-US" sz="1544" dirty="0"/>
          </a:p>
        </p:txBody>
      </p:sp>
      <p:sp>
        <p:nvSpPr>
          <p:cNvPr id="6" name="56afd2ee-7106-41de-b380-6f456d6420c5"/>
          <p:cNvSpPr/>
          <p:nvPr/>
        </p:nvSpPr>
        <p:spPr>
          <a:xfrm>
            <a:off x="4652010" y="29946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Aplicação no Layout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Topo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KPIs de alto impacto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Centro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gráfico de tendência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detalhes e rankings</a:t>
            </a:r>
            <a:endParaRPr lang="en-US" sz="15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2bfcd2f-ccf7-4f6b-9ea7-1b0948347d7b" descr="/home/forge/chalkie-production-workers-1/releases/77481629/backend/storage/app/render-specs/fff410d0-eb95-4524-8e16-06ff7ef3dc67/img_d57d6a17e485512d5497666b7a8fd6d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7ef4c3e-5396-404a-9d28-641b95b73b89"/>
          <p:cNvSpPr/>
          <p:nvPr/>
        </p:nvSpPr>
        <p:spPr>
          <a:xfrm>
            <a:off x="285750" y="37719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Psicologia das Cores nos Painéis</a:t>
            </a:r>
            <a:endParaRPr lang="en-US" sz="2246" dirty="0"/>
          </a:p>
        </p:txBody>
      </p:sp>
      <p:sp>
        <p:nvSpPr>
          <p:cNvPr id="4" name="d981a733-ac30-459f-bb11-913050ea63f0"/>
          <p:cNvSpPr/>
          <p:nvPr/>
        </p:nvSpPr>
        <p:spPr>
          <a:xfrm>
            <a:off x="285750" y="1463040"/>
            <a:ext cx="51435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Cores Comunicam Significados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Cores possuem convenções universais: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meta atingida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Vermelho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alerta ou queda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Azul/Cinza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dados neutros</a:t>
            </a:r>
            <a:endParaRPr lang="en-US" sz="1544" dirty="0"/>
          </a:p>
        </p:txBody>
      </p:sp>
      <p:sp>
        <p:nvSpPr>
          <p:cNvPr id="5" name="01663e28-e4d8-44b3-a880-a7f9ecd60522_card"/>
          <p:cNvSpPr/>
          <p:nvPr/>
        </p:nvSpPr>
        <p:spPr>
          <a:xfrm>
            <a:off x="285750" y="340614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01663e28-e4d8-44b3-a880-a7f9ecd60522_emoji"/>
          <p:cNvSpPr/>
          <p:nvPr/>
        </p:nvSpPr>
        <p:spPr>
          <a:xfrm>
            <a:off x="400050" y="35547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01663e28-e4d8-44b3-a880-a7f9ecd60522_text"/>
          <p:cNvSpPr/>
          <p:nvPr/>
        </p:nvSpPr>
        <p:spPr>
          <a:xfrm>
            <a:off x="765810" y="352044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vermelho para crescimento positivo; causa pânico desnecessário.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f97f5ec-a0e9-431e-a33f-baf64d10c10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Uso de Cores</a:t>
            </a:r>
            <a:endParaRPr lang="en-US" sz="2246" dirty="0"/>
          </a:p>
        </p:txBody>
      </p:sp>
      <p:sp>
        <p:nvSpPr>
          <p:cNvPr id="3" name="d7db892d-cbff-4a08-aacb-c1ffbb016926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d7db892d-cbff-4a08-aacb-c1ffbb0169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tornar um painel executivo dinâmico e atrativo, cada gráfico deve ter uma cor chamativa diferente, como amarelo, rosa e roxo.</a:t>
            </a:r>
            <a:endParaRPr lang="en-US" sz="1264" dirty="0"/>
          </a:p>
        </p:txBody>
      </p:sp>
      <p:sp>
        <p:nvSpPr>
          <p:cNvPr id="5" name="ac0bd3e0-6717-4306-9934-6ce4717d368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bd1b2df6-9131-4165-b340-f5370b42c08e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0e0546d2-809f-4b2f-a07f-3bbbd737b46e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f97f5ec-a0e9-431e-a33f-baf64d10c10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Uso de Cores</a:t>
            </a:r>
            <a:endParaRPr lang="en-US" sz="2246" dirty="0"/>
          </a:p>
        </p:txBody>
      </p:sp>
      <p:sp>
        <p:nvSpPr>
          <p:cNvPr id="3" name="d7db892d-cbff-4a08-aacb-c1ffbb016926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d7db892d-cbff-4a08-aacb-c1ffbb016926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tornar um painel executivo dinâmico e atrativo, cada gráfico deve ter uma cor chamativa diferente, como amarelo, rosa e roxo.</a:t>
            </a:r>
            <a:endParaRPr lang="en-US" sz="1264" dirty="0"/>
          </a:p>
        </p:txBody>
      </p:sp>
      <p:sp>
        <p:nvSpPr>
          <p:cNvPr id="5" name="ac0bd3e0-6717-4306-9934-6ce4717d368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bd1b2df6-9131-4165-b340-f5370b42c08e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ff2c4495-f8b6-40cc-aaaf-d5441d4a91d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e50ec89c-04e1-49e5-8798-a723c50f930b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e50ec89c-04e1-49e5-8798-a723c50f930b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e50ec89c-04e1-49e5-8798-a723c50f930b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excesso de cores gera sobrecarga cognitiva e deve-se preferir paletas sóbrias com cores de alerta reservadas para desvios críticos.</a:t>
            </a:r>
            <a:endParaRPr lang="en-US" sz="1123" dirty="0"/>
          </a:p>
        </p:txBody>
      </p:sp>
      <p:sp>
        <p:nvSpPr>
          <p:cNvPr id="11" name="dc1164b2-b4c4-4ce9-a403-670211b32f0e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e05a5d9-f55c-4889-9876-fd59a7a7635f" descr="/home/forge/chalkie-production-workers-1/releases/77481629/backend/storage/app/render-specs/fff410d0-eb95-4524-8e16-06ff7ef3dc67/img_3631d3893caa75c6ca3e4cfeb49bc6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373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854919ed-6fd0-47cd-9577-180a64e9d451" descr="/home/forge/chalkie-production-workers-1/releases/77481629/backend/storage/app/render-specs/fff410d0-eb95-4524-8e16-06ff7ef3dc67/img_0a0f844c7c281f55fc7384f0d5af81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17373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44b3af3-36fe-4d39-a873-58c9bf8ce68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Poder dos Segmentadores de Dados</a:t>
            </a:r>
            <a:endParaRPr lang="en-US" sz="2246" dirty="0"/>
          </a:p>
        </p:txBody>
      </p:sp>
      <p:sp>
        <p:nvSpPr>
          <p:cNvPr id="5" name="f845c4fb-12dc-43ab-9518-493b3e7ad92c"/>
          <p:cNvSpPr/>
          <p:nvPr/>
        </p:nvSpPr>
        <p:spPr>
          <a:xfrm>
            <a:off x="285750" y="800100"/>
            <a:ext cx="857250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 Visuais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Segmentadores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Slicers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 substituem menus por botões, agilizando dashboards.</a:t>
            </a:r>
            <a:endParaRPr lang="en-US" sz="1544" dirty="0"/>
          </a:p>
        </p:txBody>
      </p:sp>
      <p:sp>
        <p:nvSpPr>
          <p:cNvPr id="6" name="d2e72369-ca2f-462a-9010-7974c2589eb3"/>
          <p:cNvSpPr/>
          <p:nvPr/>
        </p:nvSpPr>
        <p:spPr>
          <a:xfrm>
            <a:off x="285750" y="393192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Botões de Seleção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Filtre regiões/categorias. Use Ctrl para múltiplas seleções.</a:t>
            </a:r>
            <a:endParaRPr lang="en-US" sz="1544" dirty="0"/>
          </a:p>
        </p:txBody>
      </p:sp>
      <p:sp>
        <p:nvSpPr>
          <p:cNvPr id="7" name="06a89cac-2bfd-4294-824f-8eb5ec6e0b09"/>
          <p:cNvSpPr/>
          <p:nvPr/>
        </p:nvSpPr>
        <p:spPr>
          <a:xfrm>
            <a:off x="4652010" y="393192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 do Tempo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de datas: arraste a barra para selecionar períodos.</a:t>
            </a:r>
            <a:endParaRPr lang="en-US" sz="15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f384cf6-f60f-4377-9ca8-c2c838484460" descr="/home/forge/chalkie-production-workers-1/releases/77481629/backend/storage/app/render-specs/fff410d0-eb95-4524-8e16-06ff7ef3dc67/img_d6797dc43a36fa74ecf563a6aee3a3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f338167b-7d27-49b8-b54e-f324a560be4d"/>
          <p:cNvSpPr/>
          <p:nvPr/>
        </p:nvSpPr>
        <p:spPr>
          <a:xfrm>
            <a:off x="3714750" y="25146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Conexões de Relatório no Excel</a:t>
            </a:r>
            <a:endParaRPr lang="en-US" sz="2246" dirty="0"/>
          </a:p>
        </p:txBody>
      </p:sp>
      <p:sp>
        <p:nvSpPr>
          <p:cNvPr id="4" name="e5d698f4-a5d4-4de1-8dce-7dc2708d9e38"/>
          <p:cNvSpPr/>
          <p:nvPr/>
        </p:nvSpPr>
        <p:spPr>
          <a:xfrm>
            <a:off x="3714750" y="133731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Segredo da Interatividade Total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padrão, um segmentador controla apenas sua tabela. Para gerenciar o painel inteiro: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Clique com o botão direito no segmentador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Conexões de Relatório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Marque as tabelas dinâmicas desejadas</a:t>
            </a:r>
            <a:endParaRPr lang="en-US" sz="1544" dirty="0"/>
          </a:p>
        </p:txBody>
      </p:sp>
      <p:sp>
        <p:nvSpPr>
          <p:cNvPr id="5" name="d176308f-7e62-4d6a-9544-ae3faefd6d80_card"/>
          <p:cNvSpPr/>
          <p:nvPr/>
        </p:nvSpPr>
        <p:spPr>
          <a:xfrm>
            <a:off x="3714750" y="353187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d176308f-7e62-4d6a-9544-ae3faefd6d80_emoji"/>
          <p:cNvSpPr/>
          <p:nvPr/>
        </p:nvSpPr>
        <p:spPr>
          <a:xfrm>
            <a:off x="3829050" y="36804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d176308f-7e62-4d6a-9544-ae3faefd6d80_text"/>
          <p:cNvSpPr/>
          <p:nvPr/>
        </p:nvSpPr>
        <p:spPr>
          <a:xfrm>
            <a:off x="4194810" y="364617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marcar as caixas, um clique em 'Região Sul' atualizará todos os gráficos do painel!</a:t>
            </a:r>
            <a:endParaRPr lang="en-US" sz="112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cabcc9-074c-4d07-9bef-516292355db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 Prático em Vídeo</a:t>
            </a:r>
            <a:endParaRPr lang="en-US" sz="2246" dirty="0"/>
          </a:p>
        </p:txBody>
      </p:sp>
      <p:sp>
        <p:nvSpPr>
          <p:cNvPr id="3" name="562da622-660e-4293-b942-827529ca1482"/>
          <p:cNvSpPr/>
          <p:nvPr/>
        </p:nvSpPr>
        <p:spPr>
          <a:xfrm>
            <a:off x="285750" y="800100"/>
            <a:ext cx="857250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Integração em Tempo Real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Conecte gráficos e segmentadores para decisões rápidas.</a:t>
            </a:r>
            <a:endParaRPr lang="en-US" sz="1544" dirty="0"/>
          </a:p>
        </p:txBody>
      </p:sp>
      <p:pic>
        <p:nvPicPr>
          <p:cNvPr id="4" name="70d93580-711b-4171-aaed-2bd07d2c0643" descr="/home/forge/chalkie-production-workers-1/releases/77481629/backend/storage/app/render-specs/fff410d0-eb95-4524-8e16-06ff7ef3dc67/poster_zYPqMcYa68U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zYPqMcYa68U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794510" y="1737360"/>
            <a:ext cx="554355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41fa0bf-0aa1-467e-8a42-3db230266ffe" descr="/home/forge/chalkie-production-workers-1/releases/77481629/backend/storage/app/render-specs/fff410d0-eb95-4524-8e16-06ff7ef3dc67/img_7db5b9f11afa2751bc72c4881621e6b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3e8f75d0-629b-464b-be76-c25dd80e7049"/>
          <p:cNvSpPr/>
          <p:nvPr/>
        </p:nvSpPr>
        <p:spPr>
          <a:xfrm>
            <a:off x="285750" y="24003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Estrutura de Abas Recomendada</a:t>
            </a:r>
            <a:endParaRPr lang="en-US" sz="2246" dirty="0"/>
          </a:p>
        </p:txBody>
      </p:sp>
      <p:sp>
        <p:nvSpPr>
          <p:cNvPr id="4" name="b7deecaf-2e71-4e9d-82a7-f656e0c46d77"/>
          <p:cNvSpPr/>
          <p:nvPr/>
        </p:nvSpPr>
        <p:spPr>
          <a:xfrm>
            <a:off x="285750" y="1325880"/>
            <a:ext cx="51435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Organização em Camadas Profissionais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misture os dados brutos com a tela final de apresentação. Mantenha seu arquivo de trabalho rigorosamente dividido em três abas especializadas para garantir segurança e organização.</a:t>
            </a:r>
            <a:endParaRPr lang="en-US" sz="1544" dirty="0"/>
          </a:p>
        </p:txBody>
      </p:sp>
      <p:sp>
        <p:nvSpPr>
          <p:cNvPr id="5" name="782865cb-8fe0-44ba-ab18-79c1ea57745a_card"/>
          <p:cNvSpPr/>
          <p:nvPr/>
        </p:nvSpPr>
        <p:spPr>
          <a:xfrm>
            <a:off x="285750" y="328041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782865cb-8fe0-44ba-ab18-79c1ea57745a_emoji"/>
          <p:cNvSpPr/>
          <p:nvPr/>
        </p:nvSpPr>
        <p:spPr>
          <a:xfrm>
            <a:off x="400050" y="34290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782865cb-8fe0-44ba-ab18-79c1ea57745a_text"/>
          <p:cNvSpPr/>
          <p:nvPr/>
        </p:nvSpPr>
        <p:spPr>
          <a:xfrm>
            <a:off x="765810" y="339471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Separar a visualização da mecânica dos cálculos previne exclusões acidentais de fórmulas durante reuniões gerenciais.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db717cf-3a76-4d4f-bde9-21c551b665c1" descr="/home/forge/chalkie-production-workers-1/releases/77481629/backend/storage/app/render-specs/fff410d0-eb95-4524-8e16-06ff7ef3dc67/img_fc3f91443c35a1e2674302653182c2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928ddbad-e7b8-4988-ab14-7553ae3d5bfb" descr="/home/forge/chalkie-production-workers-1/releases/77481629/backend/storage/app/render-specs/fff410d0-eb95-4524-8e16-06ff7ef3dc67/img_c01941ce71ed51c4fb2c5d1568b0bd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00100"/>
            <a:ext cx="274320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e0d9d925-f7e8-4107-aae4-c610f456cc51" descr="/home/forge/chalkie-production-workers-1/releases/77481629/backend/storage/app/render-specs/fff410d0-eb95-4524-8e16-06ff7ef3dc67/img_6020d14e76da0a9c6c4da6063bc384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80010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f5a19216-2df4-450d-9ed5-5c1c89864a1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 Três Abas Fundamentais</a:t>
            </a:r>
            <a:endParaRPr lang="en-US" sz="2246" dirty="0"/>
          </a:p>
        </p:txBody>
      </p:sp>
      <p:sp>
        <p:nvSpPr>
          <p:cNvPr id="6" name="40558e5d-70f8-4eb3-80b4-0d1dcbc6ace8"/>
          <p:cNvSpPr/>
          <p:nvPr/>
        </p:nvSpPr>
        <p:spPr>
          <a:xfrm>
            <a:off x="285750" y="2994660"/>
            <a:ext cx="27432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Base_Dados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Onde ficam as tabelas brutas de importação, sem gráficos nem formatações decorativas excessivas.</a:t>
            </a:r>
            <a:endParaRPr lang="en-US" sz="1544" dirty="0"/>
          </a:p>
        </p:txBody>
      </p:sp>
      <p:sp>
        <p:nvSpPr>
          <p:cNvPr id="7" name="91b63b4a-1194-4dcf-8de4-cd9059b45e7e"/>
          <p:cNvSpPr/>
          <p:nvPr/>
        </p:nvSpPr>
        <p:spPr>
          <a:xfrm>
            <a:off x="3200400" y="2994660"/>
            <a:ext cx="27432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Calculos_Apoio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Aba técnica reservada exclusivamente para as tabelas dinâmicas que alimentam os gráficos visuais.</a:t>
            </a:r>
            <a:endParaRPr lang="en-US" sz="1544" dirty="0"/>
          </a:p>
        </p:txBody>
      </p:sp>
      <p:sp>
        <p:nvSpPr>
          <p:cNvPr id="8" name="2a69bd6e-62d6-44be-af0d-c5c20e26231f"/>
          <p:cNvSpPr/>
          <p:nvPr/>
        </p:nvSpPr>
        <p:spPr>
          <a:xfrm>
            <a:off x="6115050" y="2994660"/>
            <a:ext cx="274320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Dashboard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única aba que o diretor verá: limpa, proporcional, sem linhas de grade visíveis e 100% interativa.</a:t>
            </a:r>
            <a:endParaRPr lang="en-US" sz="15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bc8460d-0280-48c8-b170-c0f4cc7ac6c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de Construção</a:t>
            </a:r>
            <a:endParaRPr lang="en-US" sz="2246" dirty="0"/>
          </a:p>
        </p:txBody>
      </p:sp>
      <p:sp>
        <p:nvSpPr>
          <p:cNvPr id="3" name="7b213893-0df4-408b-a6dc-71b62110aa5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lógica correta para construir um dashboard robusto e funcional a partir do zero?</a:t>
            </a:r>
            <a:endParaRPr lang="en-US" sz="1264" dirty="0"/>
          </a:p>
        </p:txBody>
      </p:sp>
      <p:sp>
        <p:nvSpPr>
          <p:cNvPr id="4" name="f8d27803-360f-42b9-96ce-a4f709c5b9b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os gráficos dinâmicos e recortá-los para a aba do Dashboard</a:t>
            </a:r>
            <a:endParaRPr lang="en-US" sz="1264" dirty="0"/>
          </a:p>
        </p:txBody>
      </p:sp>
      <p:sp>
        <p:nvSpPr>
          <p:cNvPr id="5" name="1cf4dc8d-5247-4785-bf26-c9c8c3c624e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Gerar tabelas dinâmicas de apoio com as somas e médias necessárias</a:t>
            </a:r>
            <a:endParaRPr lang="en-US" sz="1264" dirty="0"/>
          </a:p>
        </p:txBody>
      </p:sp>
      <p:sp>
        <p:nvSpPr>
          <p:cNvPr id="6" name="89dd13e8-59e3-4eb0-b375-f006324a4e2b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Organizar e validar a base de dados bruta em tabela estruturada</a:t>
            </a:r>
            <a:endParaRPr lang="en-US" sz="1264" dirty="0"/>
          </a:p>
        </p:txBody>
      </p:sp>
      <p:sp>
        <p:nvSpPr>
          <p:cNvPr id="7" name="c6330e34-a212-408a-a0de-0250193eed5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segmentadores e conectar todas as tabelas via Conexões de Relatório</a:t>
            </a:r>
            <a:endParaRPr lang="en-US" sz="126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bc8460d-0280-48c8-b170-c0f4cc7ac6c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de Construção</a:t>
            </a:r>
            <a:endParaRPr lang="en-US" sz="2246" dirty="0"/>
          </a:p>
        </p:txBody>
      </p:sp>
      <p:sp>
        <p:nvSpPr>
          <p:cNvPr id="3" name="7b213893-0df4-408b-a6dc-71b62110aa5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lógica correta para construir um dashboard robusto e funcional a partir do zero?</a:t>
            </a:r>
            <a:endParaRPr lang="en-US" sz="1264" dirty="0"/>
          </a:p>
        </p:txBody>
      </p:sp>
      <p:sp>
        <p:nvSpPr>
          <p:cNvPr id="4" name="f8d27803-360f-42b9-96ce-a4f709c5b9b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os gráficos dinâmicos e recortá-los para a aba do Dashboard</a:t>
            </a:r>
            <a:endParaRPr lang="en-US" sz="1264" dirty="0"/>
          </a:p>
        </p:txBody>
      </p:sp>
      <p:sp>
        <p:nvSpPr>
          <p:cNvPr id="5" name="1cf4dc8d-5247-4785-bf26-c9c8c3c624e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Gerar tabelas dinâmicas de apoio com as somas e médias necessárias</a:t>
            </a:r>
            <a:endParaRPr lang="en-US" sz="1264" dirty="0"/>
          </a:p>
        </p:txBody>
      </p:sp>
      <p:sp>
        <p:nvSpPr>
          <p:cNvPr id="6" name="89dd13e8-59e3-4eb0-b375-f006324a4e2b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Organizar e validar a base de dados bruta em tabela estruturada</a:t>
            </a:r>
            <a:endParaRPr lang="en-US" sz="1264" dirty="0"/>
          </a:p>
        </p:txBody>
      </p:sp>
      <p:sp>
        <p:nvSpPr>
          <p:cNvPr id="7" name="c6330e34-a212-408a-a0de-0250193eed5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segmentadores e conectar todas as tabelas via Conexões de Relatório</a:t>
            </a:r>
            <a:endParaRPr lang="en-US" sz="1264" dirty="0"/>
          </a:p>
        </p:txBody>
      </p:sp>
      <p:sp>
        <p:nvSpPr>
          <p:cNvPr id="8" name="474d5c19-38bb-4ccb-92ed-3b07b81ada0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2330c840-2800-4315-ba9d-1fe78fbc2ce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3c020c58-cce5-48b2-a5dc-93978e267f2a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d4e011fa-6193-4f16-9ff1-03c4dd7fc08c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8656a2ef-90fc-47b0-8960-b860a0b2fc5e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19727d6-d2c9-4c51-805d-d819357cf859" descr="/home/forge/chalkie-production-workers-1/releases/77481629/backend/storage/app/render-specs/fff410d0-eb95-4524-8e16-06ff7ef3dc67/img_dd014820b3d1c7944334c1988efe02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0f4b7ef2-78ca-407d-98d5-e8dc09e88d14"/>
          <p:cNvSpPr/>
          <p:nvPr/>
        </p:nvSpPr>
        <p:spPr>
          <a:xfrm>
            <a:off x="285750" y="48006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Alinhamento e Ajuste Fino</a:t>
            </a:r>
            <a:endParaRPr lang="en-US" sz="2246" dirty="0"/>
          </a:p>
        </p:txBody>
      </p:sp>
      <p:sp>
        <p:nvSpPr>
          <p:cNvPr id="4" name="da20d791-6c2d-41e8-9e75-4026633c162a"/>
          <p:cNvSpPr/>
          <p:nvPr/>
        </p:nvSpPr>
        <p:spPr>
          <a:xfrm>
            <a:off x="285750" y="1108710"/>
            <a:ext cx="51435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Diferença Entre Amador e Profissional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desalinhados transmitem desleixo. Use as ferramentas nativas: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Alinhar à Esquerda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unifica margens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Distribuir Verticalmente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espaçamento idêntico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Ajustar à Grade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fixa bordas nas células</a:t>
            </a:r>
            <a:endParaRPr lang="en-US" sz="1544" dirty="0"/>
          </a:p>
        </p:txBody>
      </p:sp>
      <p:sp>
        <p:nvSpPr>
          <p:cNvPr id="5" name="5ec2a3f9-d56f-4d04-b764-43e448c1d387_card"/>
          <p:cNvSpPr/>
          <p:nvPr/>
        </p:nvSpPr>
        <p:spPr>
          <a:xfrm>
            <a:off x="285750" y="330327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5ec2a3f9-d56f-4d04-b764-43e448c1d387_emoji"/>
          <p:cNvSpPr/>
          <p:nvPr/>
        </p:nvSpPr>
        <p:spPr>
          <a:xfrm>
            <a:off x="400050" y="34518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5ec2a3f9-d56f-4d04-b764-43e448c1d387_text"/>
          <p:cNvSpPr/>
          <p:nvPr/>
        </p:nvSpPr>
        <p:spPr>
          <a:xfrm>
            <a:off x="765810" y="341757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Segure Alt ao redimensionar gráficos para fixá-los com precisão nas linhas da planilha.</a:t>
            </a:r>
            <a:endParaRPr lang="en-US" sz="112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f2b7705-4f91-450d-b3a3-7a5eb40d88ef" descr="/home/forge/chalkie-production-workers-1/releases/77481629/backend/storage/app/render-specs/fff410d0-eb95-4524-8e16-06ff7ef3dc67/img_26b269f3e2e9ec0d387ac55b4d2d11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4832c98-6578-49bc-aadd-9019c950ad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Limpando a Interface para Entrega</a:t>
            </a:r>
            <a:endParaRPr lang="en-US" sz="2246" dirty="0"/>
          </a:p>
        </p:txBody>
      </p:sp>
      <p:sp>
        <p:nvSpPr>
          <p:cNvPr id="4" name="3d89d1ce-6cef-47dd-91d4-0b1ebf155445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Interface Profissional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Remova elementos de planilha antes da apresentação: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Desmarque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de Grade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(guia Exibir)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Oculte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Fórmulas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cabeçalhos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Oculte botões de campo dos gráficos</a:t>
            </a:r>
            <a:endParaRPr lang="en-US" sz="1544" dirty="0"/>
          </a:p>
        </p:txBody>
      </p:sp>
      <p:sp>
        <p:nvSpPr>
          <p:cNvPr id="5" name="27f1956f-8133-40bf-ac66-af3a09f362c8_card"/>
          <p:cNvSpPr/>
          <p:nvPr/>
        </p:nvSpPr>
        <p:spPr>
          <a:xfrm>
            <a:off x="4286250" y="29946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27f1956f-8133-40bf-ac66-af3a09f362c8_emoji"/>
          <p:cNvSpPr/>
          <p:nvPr/>
        </p:nvSpPr>
        <p:spPr>
          <a:xfrm>
            <a:off x="4400550" y="31432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27f1956f-8133-40bf-ac66-af3a09f362c8_text"/>
          <p:cNvSpPr/>
          <p:nvPr/>
        </p:nvSpPr>
        <p:spPr>
          <a:xfrm>
            <a:off x="4766310" y="31089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linhas de grade, o painel parece software corporativo.</a:t>
            </a:r>
            <a:endParaRPr lang="en-US" sz="112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d091e65-46d2-4316-9dc7-7a23723f4f18" descr="/home/forge/chalkie-production-workers-1/releases/77481629/backend/storage/app/render-specs/fff410d0-eb95-4524-8e16-06ff7ef3dc67/img_35cde2983c432757628aaf80646697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2406002-5400-41e1-aa51-fb7b4e1ac35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Apresentando para a Alta Liderança</a:t>
            </a:r>
            <a:endParaRPr lang="en-US" sz="2246" dirty="0"/>
          </a:p>
        </p:txBody>
      </p:sp>
      <p:sp>
        <p:nvSpPr>
          <p:cNvPr id="4" name="07007941-3906-454b-a6bd-d7248ea920a6"/>
          <p:cNvSpPr/>
          <p:nvPr/>
        </p:nvSpPr>
        <p:spPr>
          <a:xfrm>
            <a:off x="285750" y="800100"/>
            <a:ext cx="45720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Postura e Condução Executiva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apresentar para diretores, nunca comece explicando as fórmulas ou as dificuldades técnicas encontradas na planilha. Foque exclusivamente no impacto financeiro e operacional que os números revelam.</a:t>
            </a:r>
            <a:endParaRPr lang="en-US" sz="1544" dirty="0"/>
          </a:p>
        </p:txBody>
      </p:sp>
      <p:sp>
        <p:nvSpPr>
          <p:cNvPr id="5" name="cd3ad1c3-cb68-4bce-9ccc-49cff24b34a3_card"/>
          <p:cNvSpPr/>
          <p:nvPr/>
        </p:nvSpPr>
        <p:spPr>
          <a:xfrm>
            <a:off x="285750" y="275463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cd3ad1c3-cb68-4bce-9ccc-49cff24b34a3_emoji"/>
          <p:cNvSpPr/>
          <p:nvPr/>
        </p:nvSpPr>
        <p:spPr>
          <a:xfrm>
            <a:off x="400050" y="29032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cd3ad1c3-cb68-4bce-9ccc-49cff24b34a3_text"/>
          <p:cNvSpPr/>
          <p:nvPr/>
        </p:nvSpPr>
        <p:spPr>
          <a:xfrm>
            <a:off x="765810" y="286893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Apresente primeiro a conclusão: 'Nossas perdas de estoque caíram 14%', e em seguida demonstre o gráfico que comprova essa afirmação.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08237cf-c04a-42af-a394-e2db5d1df4c3" descr="/home/forge/chalkie-production-workers-1/releases/77481629/backend/storage/app/render-specs/fff410d0-eb95-4524-8e16-06ff7ef3dc67/img_54dcb61b0bec9012d2b1d3b363357a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2d5011fa-4d31-4888-942b-4bf3c8f3b8a2" descr="/home/forge/chalkie-production-workers-1/releases/77481629/backend/storage/app/render-specs/fff410d0-eb95-4524-8e16-06ff7ef3dc67/img_84fe032520f2972be12550a8b0b6a9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7175f3a7-5d19-4f59-8896-d9e7258760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Erros Comuns em Dashboards</a:t>
            </a:r>
            <a:endParaRPr lang="en-US" sz="2246" dirty="0"/>
          </a:p>
        </p:txBody>
      </p:sp>
      <p:sp>
        <p:nvSpPr>
          <p:cNvPr id="5" name="97cc92fa-731d-4114-a557-01bda8401b14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Gráficos 3D Desnecessários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Barras e pizzas tridimensionais distorcem proporções visuais e induzem o cérebro a ler valores errados. Prefira sempre elementos bidimensionais planos.</a:t>
            </a:r>
            <a:endParaRPr lang="en-US" sz="1544" dirty="0"/>
          </a:p>
        </p:txBody>
      </p:sp>
      <p:sp>
        <p:nvSpPr>
          <p:cNvPr id="6" name="d5e95c69-6644-4505-93a6-e259b0f01648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Excesso de Informação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Colocar mais de 7 métricas na mesma tela destrói o foco. Se um indicador não altera decisões imediatas do gestor, retire-o imediatamente do painel.</a:t>
            </a:r>
            <a:endParaRPr lang="en-US" sz="15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edf3bb2-22c6-40e7-b72d-3a9f356409c6" descr="/home/forge/chalkie-production-workers-1/releases/77481629/backend/storage/app/render-specs/fff410d0-eb95-4524-8e16-06ff7ef3dc67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797f7fcb-4404-41d6-8e11-5099c7265990" descr="/home/forge/chalkie-production-workers-1/releases/77481629/backend/storage/app/render-specs/fff410d0-eb95-4524-8e16-06ff7ef3dc67/img_795a79c51b3c845e794d51fd987097b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7b04d7d1-0f2a-4e87-b0c8-2f8c32260a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O Que Mostrar?</a:t>
            </a:r>
            <a:endParaRPr lang="en-US" sz="2246" dirty="0"/>
          </a:p>
        </p:txBody>
      </p:sp>
      <p:sp>
        <p:nvSpPr>
          <p:cNvPr id="5" name="827cbb13-b659-4071-97df-9eb6599cc2dc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gerente de loja insiste em colocar 15 gráficos diferentes em uma única tela de dashboard para 'não perder nenhum detalhe'. Como você justificaria para ele que reduzir o painel para apenas 4 gráficos principais geraria decisões mais rápidas e eficientes?</a:t>
            </a:r>
            <a:endParaRPr lang="en-US" sz="126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edf3bb2-22c6-40e7-b72d-3a9f356409c6" descr="/home/forge/chalkie-production-workers-1/releases/77481629/backend/storage/app/render-specs/fff410d0-eb95-4524-8e16-06ff7ef3dc67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7b04d7d1-0f2a-4e87-b0c8-2f8c32260a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O Que Mostrar?</a:t>
            </a:r>
            <a:endParaRPr lang="en-US" sz="2246" dirty="0"/>
          </a:p>
        </p:txBody>
      </p:sp>
      <p:sp>
        <p:nvSpPr>
          <p:cNvPr id="4" name="cbbb10ed-8ef0-4c08-a59b-ad3c93beb607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Argumentar sobre sobrecarga cognitiva: quando tudo é destacado, nada se destaca.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Mostrar que decisões rápidas dependem de foco nos indicadores prioritários.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Sugerir um segundo painel para consultas táticas pontuais.</a:t>
            </a:r>
            <a:endParaRPr lang="en-US" sz="1264" dirty="0"/>
          </a:p>
        </p:txBody>
      </p:sp>
      <p:sp>
        <p:nvSpPr>
          <p:cNvPr id="5" name="ce8331a7-f0a4-4d9b-91d9-100854dac5b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45b58f3-0710-4dee-97b8-a6592bc7aa59" descr="/home/forge/chalkie-production-workers-1/releases/77481629/backend/storage/app/render-specs/fff410d0-eb95-4524-8e16-06ff7ef3dc67/img_3a9665186ed90183374677f70d7e07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3147bdc-ddb8-4e80-81ee-fe433efc922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Prático: O Caso da TecLog</a:t>
            </a:r>
            <a:endParaRPr lang="en-US" sz="2246" dirty="0"/>
          </a:p>
        </p:txBody>
      </p:sp>
      <p:sp>
        <p:nvSpPr>
          <p:cNvPr id="4" name="aa717a41-ffa9-4906-a3bd-a01764429a2a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Cenário de Negócio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TecLog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monitorou 1.200 entregas semestrais e precisa de um painel gerencial.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Problema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custos de frete altos na Região Norte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data, estado, veículo, custo e prazo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criar dashboard interativo para diretoria</a:t>
            </a:r>
            <a:endParaRPr lang="en-US" sz="1544" dirty="0"/>
          </a:p>
        </p:txBody>
      </p:sp>
      <p:sp>
        <p:nvSpPr>
          <p:cNvPr id="5" name="509d4931-2340-42e5-a115-92f747d1cc9e_card"/>
          <p:cNvSpPr/>
          <p:nvPr/>
        </p:nvSpPr>
        <p:spPr>
          <a:xfrm>
            <a:off x="2857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509d4931-2340-42e5-a115-92f747d1cc9e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509d4931-2340-42e5-a115-92f747d1cc9e_text"/>
          <p:cNvSpPr/>
          <p:nvPr/>
        </p:nvSpPr>
        <p:spPr>
          <a:xfrm>
            <a:off x="7658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é o analista júnior responsável por este desafio.</a:t>
            </a:r>
            <a:endParaRPr lang="en-US" sz="112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e192ce5-246a-4c83-ac25-9e4abd286669" descr="/home/forge/chalkie-production-workers-1/releases/77481629/backend/storage/app/render-specs/fff410d0-eb95-4524-8e16-06ff7ef3dc67/img_4f9f749018116f5635dd9c5f813ed9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7373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572e7ed9-6a07-4da4-9e21-74354bddbe68" descr="/home/forge/chalkie-production-workers-1/releases/77481629/backend/storage/app/render-specs/fff410d0-eb95-4524-8e16-06ff7ef3dc67/img_909244663d05c7a81d9eeef95b573e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17373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5810c7a8-a57d-4db6-a3cf-ae34afa7078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Planejando o Rascunho no Papel</a:t>
            </a:r>
            <a:endParaRPr lang="en-US" sz="2246" dirty="0"/>
          </a:p>
        </p:txBody>
      </p:sp>
      <p:sp>
        <p:nvSpPr>
          <p:cNvPr id="5" name="93ddbc36-3c83-49d6-b991-7b917790e1bb"/>
          <p:cNvSpPr/>
          <p:nvPr/>
        </p:nvSpPr>
        <p:spPr>
          <a:xfrm>
            <a:off x="285750" y="800100"/>
            <a:ext cx="857250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Wireframe: Esboço Inicial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Desenhe no papel antes do software para evitar retrabalho.</a:t>
            </a:r>
            <a:endParaRPr lang="en-US" sz="1544" dirty="0"/>
          </a:p>
        </p:txBody>
      </p:sp>
      <p:sp>
        <p:nvSpPr>
          <p:cNvPr id="6" name="18675225-0c7b-4460-a904-72483a141886"/>
          <p:cNvSpPr/>
          <p:nvPr/>
        </p:nvSpPr>
        <p:spPr>
          <a:xfrm>
            <a:off x="285750" y="393192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Bloco Superior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Cartão 1: Total Frete (R$)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Cartão 2: % Entregas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Cartão 3: Tempo Médio</a:t>
            </a:r>
            <a:endParaRPr lang="en-US" sz="1544" dirty="0"/>
          </a:p>
        </p:txBody>
      </p:sp>
      <p:sp>
        <p:nvSpPr>
          <p:cNvPr id="7" name="ca13265f-a8ff-47ad-8150-a7caaa4662f2"/>
          <p:cNvSpPr/>
          <p:nvPr/>
        </p:nvSpPr>
        <p:spPr>
          <a:xfrm>
            <a:off x="4652010" y="393192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Bloco Visual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1: Evolução Custos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Gráfico 2: Custo por Veículo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Filtros: Região e Mês</a:t>
            </a:r>
            <a:endParaRPr lang="en-US" sz="154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69b2bb-78db-446e-8d5d-34f8081128de" descr="/home/forge/chalkie-production-workers-1/releases/77481629/backend/storage/app/render-specs/fff410d0-eb95-4524-8e16-06ff7ef3dc67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1972ffaa-8e31-4011-9cc6-0d69b06a4f53" descr="/home/forge/chalkie-production-workers-1/releases/77481629/backend/storage/app/render-specs/fff410d0-eb95-4524-8e16-06ff7ef3dc67/img_7af6fbc9e63c01a43d84bff2136323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6ff4926f-f492-4787-96b4-4a344fd27f8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1: Rascunho e Métricas</a:t>
            </a:r>
            <a:endParaRPr lang="en-US" sz="2246" dirty="0"/>
          </a:p>
        </p:txBody>
      </p:sp>
      <p:sp>
        <p:nvSpPr>
          <p:cNvPr id="5" name="1f0357ef-2bfe-455b-a280-fb6c0cf95cd6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duplas, desenhem o layout da TecLog: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Delimitem a moldura da tela.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Desenhem 3 caixas para KPIs.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Posicionem 2 gráficos dinâmicos.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Definam espaço para 2 filtros.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Tempo: 15 minutos. Sejam precisos!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f671637-a8e6-49d7-bc99-916db8835b50" descr="/home/forge/chalkie-production-workers-1/releases/77481629/backend/storage/app/render-specs/fff410d0-eb95-4524-8e16-06ff7ef3dc67/img_1e7e02a1e192c1ff6ec2a27ddea12c0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68d614d6-a83e-4f6b-88b0-a661cd7eb45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Guia de Montagem no Software</a:t>
            </a:r>
            <a:endParaRPr lang="en-US" sz="2246" dirty="0"/>
          </a:p>
        </p:txBody>
      </p:sp>
      <p:sp>
        <p:nvSpPr>
          <p:cNvPr id="4" name="a6c12fa3-6580-4e20-b0b5-a3201426461d"/>
          <p:cNvSpPr/>
          <p:nvPr/>
        </p:nvSpPr>
        <p:spPr>
          <a:xfrm>
            <a:off x="4286250" y="800100"/>
            <a:ext cx="457200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Executando o Projeto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 o esboço validado, siga o protocolo na planilha: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Nomeie abas: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tabelas dinâmicas na aba 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Mova gráficos para a aba 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Vincule segmentadores aos gráficos</a:t>
            </a:r>
            <a:endParaRPr lang="en-US" sz="1544" dirty="0"/>
          </a:p>
        </p:txBody>
      </p:sp>
      <p:sp>
        <p:nvSpPr>
          <p:cNvPr id="5" name="7e6b0243-3ee6-4e4f-9a82-d8558e655461_card"/>
          <p:cNvSpPr/>
          <p:nvPr/>
        </p:nvSpPr>
        <p:spPr>
          <a:xfrm>
            <a:off x="4286250" y="331470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6" name="7e6b0243-3ee6-4e4f-9a82-d8558e655461_emoji"/>
          <p:cNvSpPr/>
          <p:nvPr/>
        </p:nvSpPr>
        <p:spPr>
          <a:xfrm>
            <a:off x="4400550" y="34632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7" name="7e6b0243-3ee6-4e4f-9a82-d8558e655461_text"/>
          <p:cNvSpPr/>
          <p:nvPr/>
        </p:nvSpPr>
        <p:spPr>
          <a:xfrm>
            <a:off x="4766310" y="342900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tons de azul-marinho e cinza para manter o padrão sóbrio da empresa.</a:t>
            </a:r>
            <a:endParaRPr lang="en-US" sz="112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d539a7f-1bf0-4631-a15c-e374582db245" descr="/home/forge/chalkie-production-workers-1/releases/77481629/backend/storage/app/render-specs/fff410d0-eb95-4524-8e16-06ff7ef3dc67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3a751670-fae1-4378-95e2-e4df7e8d44e8" descr="/home/forge/chalkie-production-workers-1/releases/77481629/backend/storage/app/render-specs/fff410d0-eb95-4524-8e16-06ff7ef3dc67/img_deefca60861f641cda411aaa339293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2909bbb3-d546-443f-b434-705fa37cef8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2: Construção Completa</a:t>
            </a:r>
            <a:endParaRPr lang="en-US" sz="2246" dirty="0"/>
          </a:p>
        </p:txBody>
      </p:sp>
      <p:sp>
        <p:nvSpPr>
          <p:cNvPr id="5" name="4996575f-fb40-4511-a815-83211e29b02f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Abra 'TecLog_Dados_Semestrais.xlsx' e monte o painel: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Aba 'Dashboard': oculte linhas de grade.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3 cartões de indicadores no topo.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Insira gráfico de linha e barras comparativas.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Adicione segmentador 'Região' nas tabelas.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Filtre 'Norte' e identifique maiores fretes.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Tempo: 35 min. Chame o professor para validar!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0ebc6a8-76a7-4fa1-a794-ecf9a3532996" descr="/home/forge/chalkie-production-workers-1/releases/77481629/backend/storage/app/render-specs/fff410d0-eb95-4524-8e16-06ff7ef3dc67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05a2a474-3fa2-4046-ae12-6230170acb5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Executiva dos Conceitos</a:t>
            </a:r>
            <a:endParaRPr lang="en-US" sz="2246" dirty="0"/>
          </a:p>
        </p:txBody>
      </p:sp>
      <p:sp>
        <p:nvSpPr>
          <p:cNvPr id="4" name="4c3d2302-e2d6-4e2d-bef9-8321ea448797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comando deve ser acessado para fazer com que um único segmentador filtre simultaneamente dois gráficos gerados por tabelas dinâmicas diferentes?</a:t>
            </a:r>
            <a:endParaRPr lang="en-US" sz="1264" dirty="0"/>
          </a:p>
        </p:txBody>
      </p:sp>
      <p:sp>
        <p:nvSpPr>
          <p:cNvPr id="5" name="a539bbec-2f65-4ff2-8d6e-efa16fcd1ff8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devemos desmarcar as linhas de grade da planilha na aba final do dashboard?</a:t>
            </a:r>
            <a:endParaRPr lang="en-US" sz="1264" dirty="0"/>
          </a:p>
        </p:txBody>
      </p:sp>
      <p:sp>
        <p:nvSpPr>
          <p:cNvPr id="6" name="6e25c611-3abb-4811-8c4e-82728cd0b3bf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principal função dos cartões de KPI posicionados na parte superior de um painel de gestão?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a2a474-3fa2-4046-ae12-6230170acb5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Executiva dos Conceitos</a:t>
            </a:r>
            <a:endParaRPr lang="en-US" sz="2246" dirty="0"/>
          </a:p>
        </p:txBody>
      </p:sp>
      <p:sp>
        <p:nvSpPr>
          <p:cNvPr id="3" name="89435aa3-c1a5-480b-891a-5103529d0aa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Conexões de Relatório (ou Conexões de Tabela Dinâmica).</a:t>
            </a:r>
            <a:endParaRPr lang="en-US" sz="1264" dirty="0"/>
          </a:p>
        </p:txBody>
      </p:sp>
      <p:sp>
        <p:nvSpPr>
          <p:cNvPr id="4" name="dbbd1acc-9fec-4c5a-90dc-01584d9a44cc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eliminar poluição visual e conferir aparência profissional de aplicativo executivo.</a:t>
            </a:r>
            <a:endParaRPr lang="en-US" sz="1264" dirty="0"/>
          </a:p>
        </p:txBody>
      </p:sp>
      <p:sp>
        <p:nvSpPr>
          <p:cNvPr id="5" name="b0491a9f-291d-4346-810e-b712a44e8ce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Apresentar números e métricas consolidadas de maior impacto imediato para tomada de decisão rápida.</a:t>
            </a:r>
            <a:endParaRPr lang="en-US" sz="1264" dirty="0"/>
          </a:p>
        </p:txBody>
      </p:sp>
      <p:sp>
        <p:nvSpPr>
          <p:cNvPr id="6" name="d8c13aa5-78f5-436d-b5ec-ebc0d49dbb5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de98e25-b2ef-4b49-ba1a-42f05094d070" descr="/home/forge/chalkie-production-workers-1/releases/77481629/backend/storage/app/render-specs/fff410d0-eb95-4524-8e16-06ff7ef3dc67/img_1a897d09e4a0a6c2f3cf04473a971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e24d94c-17a6-4cb9-bbdd-71a7816fcc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é um Analista de Dados!</a:t>
            </a:r>
            <a:endParaRPr lang="en-US" sz="2246" dirty="0"/>
          </a:p>
        </p:txBody>
      </p:sp>
      <p:sp>
        <p:nvSpPr>
          <p:cNvPr id="4" name="45e88a1e-4923-4cdf-9367-7a8c1a5e9095"/>
          <p:cNvSpPr/>
          <p:nvPr/>
        </p:nvSpPr>
        <p:spPr>
          <a:xfrm>
            <a:off x="285750" y="800100"/>
            <a:ext cx="45720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Encerramento da Nossa Jornada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percorreu um caminho completo: dos fundamentos matemáticos à criação de painéis interativos que orientam negócios. Agora, você possui ferramentas sólidas para transformar dados brutos em inteligência estratégica!</a:t>
            </a:r>
            <a:endParaRPr lang="en-US" sz="1544" dirty="0"/>
          </a:p>
        </p:txBody>
      </p:sp>
      <p:sp>
        <p:nvSpPr>
          <p:cNvPr id="5" name="623a6fc3-455c-4657-afe8-25c1eab35295_card"/>
          <p:cNvSpPr/>
          <p:nvPr/>
        </p:nvSpPr>
        <p:spPr>
          <a:xfrm>
            <a:off x="285750" y="301752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623a6fc3-455c-4657-afe8-25c1eab35295_emoji"/>
          <p:cNvSpPr/>
          <p:nvPr/>
        </p:nvSpPr>
        <p:spPr>
          <a:xfrm>
            <a:off x="400050" y="31661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623a6fc3-455c-4657-afe8-25c1eab35295_text"/>
          <p:cNvSpPr/>
          <p:nvPr/>
        </p:nvSpPr>
        <p:spPr>
          <a:xfrm>
            <a:off x="765810" y="313182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Dominar a visualização de dados abre portas em qualquer setor da economia moderna.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Dashboards Interativos e Integração de Dados</dc:title>
  <dc:subject>PptxGenJS Presentation</dc:subject>
  <dc:creator>PptxGenJS</dc:creator>
  <cp:lastModifiedBy>PptxGenJS</cp:lastModifiedBy>
  <cp:revision>1</cp:revision>
  <dcterms:created xsi:type="dcterms:W3CDTF">2026-09-11T11:20:07Z</dcterms:created>
  <dcterms:modified xsi:type="dcterms:W3CDTF">2026-09-11T11:20:07Z</dcterms:modified>
</cp:coreProperties>
</file>