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embeddedFontLst>
    <p:embeddedFont>
      <p:font typeface="Dyslexie"/>
      <p:regular r:id="rId47"/>
      <p:bold r:id="rId4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Relationship Id="rId47" Type="http://schemas.openxmlformats.org/officeDocument/2006/relationships/font" Target="fonts/font1.fntdata"/><Relationship Id="rId4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ngxrZD-6_E" TargetMode="External"/><Relationship Id="rId1" Type="http://schemas.openxmlformats.org/officeDocument/2006/relationships/image" Target="../media/Slide-21-image-1.jpeg"/><Relationship Id="rId2" Type="http://schemas.openxmlformats.org/officeDocument/2006/relationships/image" Target="../media/image-21-2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Relationship Id="rId6" Type="http://schemas.openxmlformats.org/officeDocument/2006/relationships/video" Target="https://www.youtube.com/embed/KngxrZD-6_E?feature=oembed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jpe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jpeg"/><Relationship Id="rId2" Type="http://schemas.openxmlformats.org/officeDocument/2006/relationships/image" Target="../media/image-2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jpe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jpe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jpeg"/><Relationship Id="rId2" Type="http://schemas.openxmlformats.org/officeDocument/2006/relationships/image" Target="../media/image-3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jpe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jpe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jpe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jpeg"/><Relationship Id="rId2" Type="http://schemas.openxmlformats.org/officeDocument/2006/relationships/image" Target="../media/image-35-2.png"/><Relationship Id="rId3" Type="http://schemas.openxmlformats.org/officeDocument/2006/relationships/image" Target="../media/image-3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jpe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jpe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jpe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jpeg"/><Relationship Id="rId2" Type="http://schemas.openxmlformats.org/officeDocument/2006/relationships/image" Target="../media/image-4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5264fc0-6409-407b-900e-da0286553bda" descr="/home/forge/chalkie-production-workers-1/releases/77481629/backend/storage/app/render-specs/4924aa3c-fe77-4d3e-a3a8-c48009c29c46/img_05ae2a7d466d5d88af4ec05a3dd20a5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742950"/>
            <a:ext cx="3657600" cy="3657600"/>
          </a:xfrm>
          <a:prstGeom prst="roundRect">
            <a:avLst>
              <a:gd name="adj" fmla="val 3750"/>
            </a:avLst>
          </a:prstGeom>
        </p:spPr>
      </p:pic>
      <p:sp>
        <p:nvSpPr>
          <p:cNvPr id="3" name="2162f192-ae8c-4a96-82a8-a3dbc6e69d1f"/>
          <p:cNvSpPr/>
          <p:nvPr/>
        </p:nvSpPr>
        <p:spPr>
          <a:xfrm>
            <a:off x="4914900" y="868680"/>
            <a:ext cx="382905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4018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527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Excel Avançado: Funções Complexas e Busca</a:t>
            </a:r>
            <a:endParaRPr lang="en-US" sz="2527" dirty="0"/>
          </a:p>
        </p:txBody>
      </p:sp>
      <p:sp>
        <p:nvSpPr>
          <p:cNvPr id="4" name="e858fc91-364c-4d93-b4b5-9427990c1171"/>
          <p:cNvSpPr/>
          <p:nvPr/>
        </p:nvSpPr>
        <p:spPr>
          <a:xfrm>
            <a:off x="4914900" y="3086100"/>
            <a:ext cx="382905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Domine PROCV, ÍNDICE, CORRESP e agregações condicionais para gestão.</a:t>
            </a:r>
            <a:endParaRPr lang="en-US" sz="126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d3c20fe-a3ff-4235-93c6-6b3a4c64fe49" descr="/home/forge/chalkie-production-workers-1/releases/77481629/backend/storage/app/render-specs/4924aa3c-fe77-4d3e-a3a8-c48009c29c46/img_aa627c0b02353576773a0d8dfbda9e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ab0f55c4-1e10-4be3-ad1f-f1fdae42a1fa"/>
          <p:cNvSpPr/>
          <p:nvPr/>
        </p:nvSpPr>
        <p:spPr>
          <a:xfrm>
            <a:off x="285750" y="1440180"/>
            <a:ext cx="5143500" cy="111556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Desafio dos Dados Dispersos</a:t>
            </a:r>
            <a:endParaRPr lang="en-US" sz="2246" dirty="0"/>
          </a:p>
        </p:txBody>
      </p:sp>
      <p:sp>
        <p:nvSpPr>
          <p:cNvPr id="4" name="14f3ccb5-3ce3-4e50-9b27-536b958c8ea3"/>
          <p:cNvSpPr/>
          <p:nvPr/>
        </p:nvSpPr>
        <p:spPr>
          <a:xfrm>
            <a:off x="285750" y="252603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Imagine procurar manualmente o preço de 500 produtos em uma lista com 10.000 itens. Como fazer isso em segundos sem errar?</a:t>
            </a:r>
            <a:endParaRPr lang="en-US" sz="126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9ff0856-2a3a-40d5-9a11-51946fdb3c16" descr="/home/forge/chalkie-production-workers-1/releases/77481629/backend/storage/app/render-specs/4924aa3c-fe77-4d3e-a3a8-c48009c29c46/img_6ba61b27e62a4b6cc3126d4ea0fa13f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b574dfa5-b48c-4dd5-9e26-dc6ea1a746b8"/>
          <p:cNvSpPr/>
          <p:nvPr/>
        </p:nvSpPr>
        <p:spPr>
          <a:xfrm>
            <a:off x="4286250" y="1863090"/>
            <a:ext cx="4572000" cy="92583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024542b5-c3f2-4506-9ed4-b232dda98c3d"/>
          <p:cNvSpPr/>
          <p:nvPr/>
        </p:nvSpPr>
        <p:spPr>
          <a:xfrm>
            <a:off x="4400550" y="214884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5" name="a2a66597-d7a9-48b7-8220-05321db65f2d"/>
          <p:cNvSpPr/>
          <p:nvPr/>
        </p:nvSpPr>
        <p:spPr>
          <a:xfrm>
            <a:off x="4286250" y="2903220"/>
            <a:ext cx="4572000" cy="92583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6" name="7be4e38d-ff14-4d11-adf8-eda1e0066356"/>
          <p:cNvSpPr/>
          <p:nvPr/>
        </p:nvSpPr>
        <p:spPr>
          <a:xfrm>
            <a:off x="4400550" y="318897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7" name="c24bca7a-f632-410d-ae98-ba5deb7ba843"/>
          <p:cNvSpPr/>
          <p:nvPr/>
        </p:nvSpPr>
        <p:spPr>
          <a:xfrm>
            <a:off x="4286250" y="3943350"/>
            <a:ext cx="4572000" cy="91440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8" name="c84cf9b3-23d9-473b-a876-66d62806325c"/>
          <p:cNvSpPr/>
          <p:nvPr/>
        </p:nvSpPr>
        <p:spPr>
          <a:xfrm>
            <a:off x="4400550" y="422910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9" name="a6e7e86b-953c-47dd-99b6-caea20cf6a46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Objetivos da Aula</a:t>
            </a:r>
            <a:endParaRPr lang="en-US" sz="2246" dirty="0"/>
          </a:p>
        </p:txBody>
      </p:sp>
      <p:sp>
        <p:nvSpPr>
          <p:cNvPr id="10" name="a049e699-bea6-42e3-9742-c811c8240dbf"/>
          <p:cNvSpPr/>
          <p:nvPr/>
        </p:nvSpPr>
        <p:spPr>
          <a:xfrm>
            <a:off x="4286250" y="80010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Hoje você vai dominar ferramentas fundamentais para conectar dados e gerar relatórios executivos confiáveis.</a:t>
            </a:r>
            <a:endParaRPr lang="en-US" sz="1264" dirty="0"/>
          </a:p>
        </p:txBody>
      </p:sp>
      <p:sp>
        <p:nvSpPr>
          <p:cNvPr id="11" name="5e1a7923-23b8-425f-8da6-4cd6e7c5b511"/>
          <p:cNvSpPr/>
          <p:nvPr/>
        </p:nvSpPr>
        <p:spPr>
          <a:xfrm>
            <a:off x="4400550" y="214884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12" name="6f8cf72a-10ac-4c45-ac29-cc38ae04066e"/>
          <p:cNvSpPr/>
          <p:nvPr/>
        </p:nvSpPr>
        <p:spPr>
          <a:xfrm>
            <a:off x="4834890" y="1977390"/>
            <a:ext cx="3909060" cy="697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Construir buscas com PROCV, PROCH e ÍNDICE+CORRESP.</a:t>
            </a:r>
            <a:endParaRPr lang="en-US" sz="1264" dirty="0"/>
          </a:p>
        </p:txBody>
      </p:sp>
      <p:sp>
        <p:nvSpPr>
          <p:cNvPr id="13" name="73caa581-5278-43a3-aa03-b9af1d3bf956"/>
          <p:cNvSpPr/>
          <p:nvPr/>
        </p:nvSpPr>
        <p:spPr>
          <a:xfrm>
            <a:off x="4400550" y="318897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14" name="af409598-75d0-49b4-baa6-b3b8b297da34"/>
          <p:cNvSpPr/>
          <p:nvPr/>
        </p:nvSpPr>
        <p:spPr>
          <a:xfrm>
            <a:off x="4834890" y="3017520"/>
            <a:ext cx="3909060" cy="69723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Tratar erros com SEERRO e estruturar SE aninhado.</a:t>
            </a:r>
            <a:endParaRPr lang="en-US" sz="1264" dirty="0"/>
          </a:p>
        </p:txBody>
      </p:sp>
      <p:sp>
        <p:nvSpPr>
          <p:cNvPr id="15" name="261289f7-1b67-4bb5-a387-3f4ae99e3647"/>
          <p:cNvSpPr/>
          <p:nvPr/>
        </p:nvSpPr>
        <p:spPr>
          <a:xfrm>
            <a:off x="4400550" y="422910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6" name="ef48fcce-d713-470f-a929-d5fa161fe5fe"/>
          <p:cNvSpPr/>
          <p:nvPr/>
        </p:nvSpPr>
        <p:spPr>
          <a:xfrm>
            <a:off x="4834890" y="4057650"/>
            <a:ext cx="390906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Consolidar métricas com CONT.SE e SOMASE.</a:t>
            </a:r>
            <a:endParaRPr lang="en-US" sz="126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2305886-c601-459d-9dae-14484de49601" descr="/home/forge/chalkie-production-workers-1/releases/77481629/backend/storage/app/render-specs/4924aa3c-fe77-4d3e-a3a8-c48009c29c46/img_2c1809e0b5ec2cd47cdc01b4fe396f7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3" name="e40135ce-06de-4f44-b1e5-38e0219f4915" descr="/home/forge/chalkie-production-workers-1/releases/77481629/backend/storage/app/render-specs/4924aa3c-fe77-4d3e-a3a8-c48009c29c46/img_6701febbeece119626324595ed86105a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174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4" name="bd87c7c5-6737-47ad-ab1a-84340f478234" descr="/home/forge/chalkie-production-workers-1/releases/77481629/backend/storage/app/render-specs/4924aa3c-fe77-4d3e-a3a8-c48009c29c46/img_7e135c17ade6d32ff61380b9368e9c5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1600200"/>
            <a:ext cx="1977390" cy="1714500"/>
          </a:xfrm>
          <a:prstGeom prst="roundRect">
            <a:avLst>
              <a:gd name="adj" fmla="val 8000"/>
            </a:avLst>
          </a:prstGeom>
        </p:spPr>
      </p:pic>
      <p:pic>
        <p:nvPicPr>
          <p:cNvPr id="5" name="445a2553-30b9-4824-9133-bd837f327666" descr="/home/forge/chalkie-production-workers-1/releases/77481629/backend/storage/app/render-specs/4924aa3c-fe77-4d3e-a3a8-c48009c29c46/img_71b91e46ec0afef4192592c265fe1e2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290" y="914400"/>
            <a:ext cx="1977390" cy="1714500"/>
          </a:xfrm>
          <a:prstGeom prst="roundRect">
            <a:avLst>
              <a:gd name="adj" fmla="val 8000"/>
            </a:avLst>
          </a:prstGeom>
        </p:spPr>
      </p:pic>
      <p:sp>
        <p:nvSpPr>
          <p:cNvPr id="6" name="4ff2ddef-959a-41cc-a5bb-5c7197f30ae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Vocabulário Essencial</a:t>
            </a:r>
            <a:endParaRPr lang="en-US" sz="2246" dirty="0"/>
          </a:p>
        </p:txBody>
      </p:sp>
      <p:sp>
        <p:nvSpPr>
          <p:cNvPr id="7" name="adceac01-b599-4486-ab1f-198f28ffcbf8"/>
          <p:cNvSpPr/>
          <p:nvPr/>
        </p:nvSpPr>
        <p:spPr>
          <a:xfrm>
            <a:off x="285750" y="34290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Pesquisa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Localização de um valor-chave em colunas ou matrizes.</a:t>
            </a:r>
            <a:endParaRPr lang="en-US" sz="1264" dirty="0"/>
          </a:p>
        </p:txBody>
      </p:sp>
      <p:sp>
        <p:nvSpPr>
          <p:cNvPr id="8" name="12cb8f14-a668-499b-85ad-0fb2765a9108"/>
          <p:cNvSpPr/>
          <p:nvPr/>
        </p:nvSpPr>
        <p:spPr>
          <a:xfrm>
            <a:off x="249174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Consulta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Recuperação automática de dados entre tabelas distintas.</a:t>
            </a:r>
            <a:endParaRPr lang="en-US" sz="1264" dirty="0"/>
          </a:p>
        </p:txBody>
      </p:sp>
      <p:sp>
        <p:nvSpPr>
          <p:cNvPr id="9" name="0bac46fe-dc4b-4312-8bc9-8d5e2ee9a3f2"/>
          <p:cNvSpPr/>
          <p:nvPr/>
        </p:nvSpPr>
        <p:spPr>
          <a:xfrm>
            <a:off x="4686300" y="34290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Agregação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Cálculo que reúne múltiplos registros, como somas ou contagens.</a:t>
            </a:r>
            <a:endParaRPr lang="en-US" sz="1264" dirty="0"/>
          </a:p>
        </p:txBody>
      </p:sp>
      <p:sp>
        <p:nvSpPr>
          <p:cNvPr id="10" name="92c5c88e-4f52-4809-b603-3b44cdbf9bbc"/>
          <p:cNvSpPr/>
          <p:nvPr/>
        </p:nvSpPr>
        <p:spPr>
          <a:xfrm>
            <a:off x="6892290" y="2743200"/>
            <a:ext cx="197739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Tratamento</a:t>
            </a:r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Prevenção e correção de erros em buscas não encontradas.</a:t>
            </a:r>
            <a:endParaRPr lang="en-US" sz="126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664aafe3-7c8c-496d-bbd5-1660489fce7a" descr="/home/forge/chalkie-production-workers-1/releases/77481629/backend/storage/app/render-specs/4924aa3c-fe77-4d3e-a3a8-c48009c29c46/img_d0e1b4d052002a138b91467a1e87e95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14466889-1ea3-443f-890d-1a2e00d5d68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Revisão: Aulas Anteriores</a:t>
            </a:r>
            <a:endParaRPr lang="en-US" sz="2246" dirty="0"/>
          </a:p>
        </p:txBody>
      </p:sp>
      <p:sp>
        <p:nvSpPr>
          <p:cNvPr id="4" name="5b1d001a-dfe0-4247-9da6-81eddfb0af51"/>
          <p:cNvSpPr/>
          <p:nvPr/>
        </p:nvSpPr>
        <p:spPr>
          <a:xfrm>
            <a:off x="285750" y="868680"/>
            <a:ext cx="106299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REVISÃO</a:t>
            </a:r>
            <a:endParaRPr lang="en-US" sz="842" dirty="0"/>
          </a:p>
        </p:txBody>
      </p:sp>
      <p:sp>
        <p:nvSpPr>
          <p:cNvPr id="5" name="fca0b30a-12db-4f19-9287-d6afe388251b"/>
          <p:cNvSpPr/>
          <p:nvPr/>
        </p:nvSpPr>
        <p:spPr>
          <a:xfrm>
            <a:off x="2857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Revisamos proteção e organização para manter planilhas padronizadas: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Condicional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realce visual automático.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listas e limites de entrada.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Proteção e Bloqueio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segurança contra edições.</a:t>
            </a:r>
            <a:endParaRPr lang="en-US" sz="1264" dirty="0"/>
          </a:p>
        </p:txBody>
      </p:sp>
      <p:sp>
        <p:nvSpPr>
          <p:cNvPr id="6" name="7c4b4a7a-8a2b-48c3-8b01-e268d3504c10_card"/>
          <p:cNvSpPr/>
          <p:nvPr/>
        </p:nvSpPr>
        <p:spPr>
          <a:xfrm>
            <a:off x="285750" y="376047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7c4b4a7a-8a2b-48c3-8b01-e268d3504c10_emoji"/>
          <p:cNvSpPr/>
          <p:nvPr/>
        </p:nvSpPr>
        <p:spPr>
          <a:xfrm>
            <a:off x="400050" y="39090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7c4b4a7a-8a2b-48c3-8b01-e268d3504c10_text"/>
          <p:cNvSpPr/>
          <p:nvPr/>
        </p:nvSpPr>
        <p:spPr>
          <a:xfrm>
            <a:off x="765810" y="387477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painéis mantém cabeçalhos visíveis na navegação.</a:t>
            </a:r>
            <a:endParaRPr lang="en-US" sz="1123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fade283-9966-4aef-86eb-522a36b7d3ef" descr="/home/forge/chalkie-production-workers-1/releases/77481629/backend/storage/app/render-specs/4924aa3c-fe77-4d3e-a3a8-c48009c29c46/img_74db676abbf9321227487417a15623c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490" y="-91440"/>
            <a:ext cx="18288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dc3463b1-b53d-41ae-b147-a7889f6ff0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Validação e Navegação</a:t>
            </a:r>
            <a:endParaRPr lang="en-US" sz="2246" dirty="0"/>
          </a:p>
        </p:txBody>
      </p:sp>
      <p:sp>
        <p:nvSpPr>
          <p:cNvPr id="4" name="02ff629a-3220-48c3-a3f7-ec65c42382f2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recurso impede digitação de valores inválidos em uma célula?</a:t>
            </a:r>
            <a:endParaRPr lang="en-US" sz="1264" dirty="0"/>
          </a:p>
        </p:txBody>
      </p:sp>
      <p:sp>
        <p:nvSpPr>
          <p:cNvPr id="5" name="781e8fe4-985d-42eb-b9b1-c22d0ce59313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Qual ferramenta mantém títulos de colunas visíveis ao rolar a tela?</a:t>
            </a:r>
            <a:endParaRPr lang="en-US" sz="1264" dirty="0"/>
          </a:p>
        </p:txBody>
      </p:sp>
      <p:sp>
        <p:nvSpPr>
          <p:cNvPr id="6" name="910ce3d3-99bb-43ff-a360-d1b8f5b84b7f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Pergunta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Como destacar automaticamente vendas acima de R$ 1.000 com cor verde?</a:t>
            </a:r>
            <a:endParaRPr lang="en-US" sz="126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c3463b1-b53d-41ae-b147-a7889f6ff01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Quiz: Validação e Navegação</a:t>
            </a:r>
            <a:endParaRPr lang="en-US" sz="2246" dirty="0"/>
          </a:p>
        </p:txBody>
      </p:sp>
      <p:sp>
        <p:nvSpPr>
          <p:cNvPr id="3" name="eb8267ec-9823-40ef-b4ba-1f91f2dcff37"/>
          <p:cNvSpPr/>
          <p:nvPr/>
        </p:nvSpPr>
        <p:spPr>
          <a:xfrm>
            <a:off x="285750" y="1143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1: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Validação de Dados</a:t>
            </a:r>
            <a:endParaRPr lang="en-US" sz="1264" dirty="0"/>
          </a:p>
        </p:txBody>
      </p:sp>
      <p:sp>
        <p:nvSpPr>
          <p:cNvPr id="4" name="0d662f06-db17-449e-b399-c183d1d224e0"/>
          <p:cNvSpPr/>
          <p:nvPr/>
        </p:nvSpPr>
        <p:spPr>
          <a:xfrm>
            <a:off x="285750" y="2286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Congelar Painéis</a:t>
            </a:r>
            <a:endParaRPr lang="en-US" sz="1264" dirty="0"/>
          </a:p>
        </p:txBody>
      </p:sp>
      <p:sp>
        <p:nvSpPr>
          <p:cNvPr id="5" name="3421730b-243b-4632-a0f6-db775ac5a91d"/>
          <p:cNvSpPr/>
          <p:nvPr/>
        </p:nvSpPr>
        <p:spPr>
          <a:xfrm>
            <a:off x="285750" y="34290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Resposta 3: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Formatação Condicional</a:t>
            </a:r>
            <a:endParaRPr lang="en-US" sz="1264" dirty="0"/>
          </a:p>
        </p:txBody>
      </p:sp>
      <p:sp>
        <p:nvSpPr>
          <p:cNvPr id="6" name="7bd05380-d045-44ed-ba30-3a7365190567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3c8e251-7d1d-492d-a815-a9453597e3b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Conceito de Cruzamento de Dados</a:t>
            </a:r>
            <a:endParaRPr lang="en-US" sz="2246" dirty="0"/>
          </a:p>
        </p:txBody>
      </p:sp>
      <p:sp>
        <p:nvSpPr>
          <p:cNvPr id="3" name="83fabb0f-95da-400b-9e81-a5914e98faa7"/>
          <p:cNvSpPr/>
          <p:nvPr/>
        </p:nvSpPr>
        <p:spPr>
          <a:xfrm>
            <a:off x="285750" y="80010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gestão, raramente todas as informações ficam em um só lugar. Tabelas cadastrais separam produtos de transações para evitar repetições desnecessárias.</a:t>
            </a:r>
            <a:endParaRPr lang="en-US" sz="1264" dirty="0"/>
          </a:p>
        </p:txBody>
      </p:sp>
      <p:sp>
        <p:nvSpPr>
          <p:cNvPr id="4" name="57263556-7162-4edd-940c-25b0d90f0d50"/>
          <p:cNvSpPr/>
          <p:nvPr/>
        </p:nvSpPr>
        <p:spPr>
          <a:xfrm>
            <a:off x="285750" y="161163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 de Vendas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Registra transações diárias com Data, ID do Produto e Quantidade Vendida. O nome e o preço não são digitados aqui.</a:t>
            </a:r>
            <a:endParaRPr lang="en-US" sz="1544" dirty="0"/>
          </a:p>
        </p:txBody>
      </p:sp>
      <p:sp>
        <p:nvSpPr>
          <p:cNvPr id="5" name="57905365-3357-4803-8cc3-0d08da90f437_card"/>
          <p:cNvSpPr/>
          <p:nvPr/>
        </p:nvSpPr>
        <p:spPr>
          <a:xfrm>
            <a:off x="285750" y="306324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6" name="57905365-3357-4803-8cc3-0d08da90f437_emoji"/>
          <p:cNvSpPr/>
          <p:nvPr/>
        </p:nvSpPr>
        <p:spPr>
          <a:xfrm>
            <a:off x="400050" y="32118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7" name="57905365-3357-4803-8cc3-0d08da90f437_text"/>
          <p:cNvSpPr/>
          <p:nvPr/>
        </p:nvSpPr>
        <p:spPr>
          <a:xfrm>
            <a:off x="765810" y="317754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Venda #101: Produto ID 42, 3 unidades vendidas.</a:t>
            </a:r>
            <a:endParaRPr lang="en-US" sz="1123" dirty="0"/>
          </a:p>
        </p:txBody>
      </p:sp>
      <p:sp>
        <p:nvSpPr>
          <p:cNvPr id="8" name="13533dd8-d359-42db-a5c9-eecf42107abf"/>
          <p:cNvSpPr/>
          <p:nvPr/>
        </p:nvSpPr>
        <p:spPr>
          <a:xfrm>
            <a:off x="4652010" y="161163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Cadastro de Produtos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Lista única com ID, Descrição, Categoria e Preço Unitário. Serve como a matriz oficial de referência da empresa.</a:t>
            </a:r>
            <a:endParaRPr lang="en-US" sz="1544" dirty="0"/>
          </a:p>
        </p:txBody>
      </p:sp>
      <p:sp>
        <p:nvSpPr>
          <p:cNvPr id="9" name="f5b73750-1a28-483b-9698-9ff0d3667687_card"/>
          <p:cNvSpPr/>
          <p:nvPr/>
        </p:nvSpPr>
        <p:spPr>
          <a:xfrm>
            <a:off x="4652010" y="331470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0" name="f5b73750-1a28-483b-9698-9ff0d3667687_emoji"/>
          <p:cNvSpPr/>
          <p:nvPr/>
        </p:nvSpPr>
        <p:spPr>
          <a:xfrm>
            <a:off x="4766310" y="34632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1" name="f5b73750-1a28-483b-9698-9ff0d3667687_text"/>
          <p:cNvSpPr/>
          <p:nvPr/>
        </p:nvSpPr>
        <p:spPr>
          <a:xfrm>
            <a:off x="5132070" y="3429000"/>
            <a:ext cx="360045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ID do Produto é a chave primária que conecta as duas bases.</a:t>
            </a:r>
            <a:endParaRPr lang="en-US" sz="112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a9a1e62-fb6b-419d-9176-ab0210acddbd" descr="/home/forge/chalkie-production-workers-1/releases/77481629/backend/storage/app/render-specs/4924aa3c-fe77-4d3e-a3a8-c48009c29c46/img_e869c8421aba5cf6dbbd8c686623e60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43f0a0d7-8a99-4dd5-8d81-4f9d052e9d52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PROCV: Pesquisa Vertical</a:t>
            </a:r>
            <a:endParaRPr lang="en-US" sz="2246" dirty="0"/>
          </a:p>
        </p:txBody>
      </p:sp>
      <p:sp>
        <p:nvSpPr>
          <p:cNvPr id="4" name="c9737920-2e21-4b55-b06e-11845b70b939"/>
          <p:cNvSpPr/>
          <p:nvPr/>
        </p:nvSpPr>
        <p:spPr>
          <a:xfrm>
            <a:off x="4286250" y="868680"/>
            <a:ext cx="208026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FUNÇÃO DE BUSCA</a:t>
            </a:r>
            <a:endParaRPr lang="en-US" sz="842" dirty="0"/>
          </a:p>
        </p:txBody>
      </p:sp>
      <p:sp>
        <p:nvSpPr>
          <p:cNvPr id="5" name="0cd88303-bf92-47a1-bf9d-5a19f3558f2d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PROCV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(Procura Vertical) percorre a primeira coluna de uma tabela procurando um valor-chave e retorna o dado de outra coluna na mesma linha.</a:t>
            </a:r>
            <a:endParaRPr lang="en-US" sz="1264" dirty="0"/>
          </a:p>
        </p:txBody>
      </p:sp>
      <p:sp>
        <p:nvSpPr>
          <p:cNvPr id="6" name="07ae3ab1-a801-4258-b6a0-833524275c5e_card"/>
          <p:cNvSpPr/>
          <p:nvPr/>
        </p:nvSpPr>
        <p:spPr>
          <a:xfrm>
            <a:off x="4286250" y="25031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07ae3ab1-a801-4258-b6a0-833524275c5e_emoji"/>
          <p:cNvSpPr/>
          <p:nvPr/>
        </p:nvSpPr>
        <p:spPr>
          <a:xfrm>
            <a:off x="4400550" y="26517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07ae3ab1-a801-4258-b6a0-833524275c5e_text"/>
          <p:cNvSpPr/>
          <p:nvPr/>
        </p:nvSpPr>
        <p:spPr>
          <a:xfrm>
            <a:off x="4766310" y="26174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Sintaxe: =PROCV(valor_procurado; matriz_tabela; núm_índice_coluna; [procurar_intervalo])</a:t>
            </a:r>
            <a:endParaRPr lang="en-US" sz="1123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21a8573-c0e9-4b27-b514-ab73d5512816"/>
          <p:cNvSpPr/>
          <p:nvPr/>
        </p:nvSpPr>
        <p:spPr>
          <a:xfrm>
            <a:off x="285750" y="152019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3" name="0c732cdd-75af-4c9b-a740-cd9ff366a9ed"/>
          <p:cNvSpPr/>
          <p:nvPr/>
        </p:nvSpPr>
        <p:spPr>
          <a:xfrm>
            <a:off x="400050" y="168021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4" name="7db40c0c-dff7-487c-9f55-efc31acb662e"/>
          <p:cNvSpPr/>
          <p:nvPr/>
        </p:nvSpPr>
        <p:spPr>
          <a:xfrm>
            <a:off x="285750" y="230886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5" name="2a73b419-9167-4bad-bf33-7a79e4c31da9"/>
          <p:cNvSpPr/>
          <p:nvPr/>
        </p:nvSpPr>
        <p:spPr>
          <a:xfrm>
            <a:off x="400050" y="246888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6" name="6f0c0ab0-6c7f-4d6d-94a4-76912ed349d1"/>
          <p:cNvSpPr/>
          <p:nvPr/>
        </p:nvSpPr>
        <p:spPr>
          <a:xfrm>
            <a:off x="285750" y="309753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7" name="20061dda-6982-40e3-9fba-fad72b4e1a0a"/>
          <p:cNvSpPr/>
          <p:nvPr/>
        </p:nvSpPr>
        <p:spPr>
          <a:xfrm>
            <a:off x="400050" y="325755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8" name="32fe8982-47a2-4c8e-ad87-26100b26ff55"/>
          <p:cNvSpPr/>
          <p:nvPr/>
        </p:nvSpPr>
        <p:spPr>
          <a:xfrm>
            <a:off x="285750" y="388620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9" name="c57f4fdd-4f9c-4cc0-8deb-90b376e5b06c"/>
          <p:cNvSpPr/>
          <p:nvPr/>
        </p:nvSpPr>
        <p:spPr>
          <a:xfrm>
            <a:off x="400050" y="4046220"/>
            <a:ext cx="342900" cy="342900"/>
          </a:xfrm>
          <a:prstGeom prst="ellipse">
            <a:avLst/>
          </a:prstGeom>
          <a:solidFill>
            <a:srgbClr val="7EB5A6"/>
          </a:solidFill>
          <a:ln/>
        </p:spPr>
      </p:sp>
      <p:sp>
        <p:nvSpPr>
          <p:cNvPr id="10" name="0ee580d3-8604-43fb-97d7-256c107940fb"/>
          <p:cNvSpPr/>
          <p:nvPr/>
        </p:nvSpPr>
        <p:spPr>
          <a:xfrm>
            <a:off x="285750" y="33147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Anatomia dos Argumentos do PROCV</a:t>
            </a:r>
            <a:endParaRPr lang="en-US" sz="2246" dirty="0"/>
          </a:p>
        </p:txBody>
      </p:sp>
      <p:sp>
        <p:nvSpPr>
          <p:cNvPr id="11" name="11f47c55-9cba-4603-b1be-af64076b6636"/>
          <p:cNvSpPr/>
          <p:nvPr/>
        </p:nvSpPr>
        <p:spPr>
          <a:xfrm>
            <a:off x="285750" y="96012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Entender cada parâmetro evita erros comuns em planilhas de gestão:</a:t>
            </a:r>
            <a:endParaRPr lang="en-US" sz="1264" dirty="0"/>
          </a:p>
        </p:txBody>
      </p:sp>
      <p:sp>
        <p:nvSpPr>
          <p:cNvPr id="12" name="eaf0bd8b-1069-4780-8ed1-20d1448556db"/>
          <p:cNvSpPr/>
          <p:nvPr/>
        </p:nvSpPr>
        <p:spPr>
          <a:xfrm>
            <a:off x="400050" y="168021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1264" dirty="0"/>
          </a:p>
        </p:txBody>
      </p:sp>
      <p:sp>
        <p:nvSpPr>
          <p:cNvPr id="13" name="d3a38f86-816c-4063-9205-2fa6d66d69c8"/>
          <p:cNvSpPr/>
          <p:nvPr/>
        </p:nvSpPr>
        <p:spPr>
          <a:xfrm>
            <a:off x="834390" y="1634490"/>
            <a:ext cx="7909560" cy="4457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Valor Procurado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O código ou texto a pesquisar (ex: A2).</a:t>
            </a:r>
            <a:endParaRPr lang="en-US" sz="1264" dirty="0"/>
          </a:p>
        </p:txBody>
      </p:sp>
      <p:sp>
        <p:nvSpPr>
          <p:cNvPr id="14" name="84f10f76-0c4e-4c41-9e30-ba8687ea41a6"/>
          <p:cNvSpPr/>
          <p:nvPr/>
        </p:nvSpPr>
        <p:spPr>
          <a:xfrm>
            <a:off x="400050" y="246888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1264" dirty="0"/>
          </a:p>
        </p:txBody>
      </p:sp>
      <p:sp>
        <p:nvSpPr>
          <p:cNvPr id="15" name="6a05d1f0-c2a5-4118-a67d-8dfa6bd755e4"/>
          <p:cNvSpPr/>
          <p:nvPr/>
        </p:nvSpPr>
        <p:spPr>
          <a:xfrm>
            <a:off x="834390" y="2423160"/>
            <a:ext cx="7909560" cy="4457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Matriz Tabela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O intervalo de dados fixado com $ (ex: $F$2:$H$50).</a:t>
            </a:r>
            <a:endParaRPr lang="en-US" sz="1264" dirty="0"/>
          </a:p>
        </p:txBody>
      </p:sp>
      <p:sp>
        <p:nvSpPr>
          <p:cNvPr id="16" name="c2869743-94b7-4c2f-933b-614c98de1112"/>
          <p:cNvSpPr/>
          <p:nvPr/>
        </p:nvSpPr>
        <p:spPr>
          <a:xfrm>
            <a:off x="400050" y="325755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1264" dirty="0"/>
          </a:p>
        </p:txBody>
      </p:sp>
      <p:sp>
        <p:nvSpPr>
          <p:cNvPr id="17" name="fcb4307f-add2-40ed-a7de-9456c7472fbe"/>
          <p:cNvSpPr/>
          <p:nvPr/>
        </p:nvSpPr>
        <p:spPr>
          <a:xfrm>
            <a:off x="834390" y="3211830"/>
            <a:ext cx="7909560" cy="4457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Núm Índice Coluna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O número da coluna de retorno (1, 2, 3...).</a:t>
            </a:r>
            <a:endParaRPr lang="en-US" sz="1264" dirty="0"/>
          </a:p>
        </p:txBody>
      </p:sp>
      <p:sp>
        <p:nvSpPr>
          <p:cNvPr id="18" name="3054a361-e7f3-4907-b578-b9bd5b79a1a7"/>
          <p:cNvSpPr/>
          <p:nvPr/>
        </p:nvSpPr>
        <p:spPr>
          <a:xfrm>
            <a:off x="400050" y="4046220"/>
            <a:ext cx="342900" cy="3429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1264" dirty="0"/>
          </a:p>
        </p:txBody>
      </p:sp>
      <p:sp>
        <p:nvSpPr>
          <p:cNvPr id="19" name="d1b30ac3-4743-4c93-81c3-901ee9c3657f"/>
          <p:cNvSpPr/>
          <p:nvPr/>
        </p:nvSpPr>
        <p:spPr>
          <a:xfrm>
            <a:off x="834390" y="4000500"/>
            <a:ext cx="7909560" cy="44577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Procurar Intervalo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Use 0 ou FALSO para correspondência exata.</a:t>
            </a:r>
            <a:endParaRPr lang="en-US" sz="126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381124c-5610-4430-8d3b-f16ca0614d44" descr="/home/forge/chalkie-production-workers-1/releases/77481629/backend/storage/app/render-specs/4924aa3c-fe77-4d3e-a3a8-c48009c29c46/img_6d2f17445f3eee64ebb8e58e0da5986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5e704b82-786c-4769-b682-a53017aa74ef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Regra de Ouro do PROCV</a:t>
            </a:r>
            <a:endParaRPr lang="en-US" sz="2246" dirty="0"/>
          </a:p>
        </p:txBody>
      </p:sp>
      <p:sp>
        <p:nvSpPr>
          <p:cNvPr id="4" name="0cdecc59-766d-450e-ab3d-08e6c74e55e8"/>
          <p:cNvSpPr/>
          <p:nvPr/>
        </p:nvSpPr>
        <p:spPr>
          <a:xfrm>
            <a:off x="285750" y="868680"/>
            <a:ext cx="208026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FUNÇÃO DE BUSCA</a:t>
            </a:r>
            <a:endParaRPr lang="en-US" sz="842" dirty="0"/>
          </a:p>
        </p:txBody>
      </p:sp>
      <p:sp>
        <p:nvSpPr>
          <p:cNvPr id="5" name="c3959e84-a3b3-4c53-9775-fd94298f7646"/>
          <p:cNvSpPr/>
          <p:nvPr/>
        </p:nvSpPr>
        <p:spPr>
          <a:xfrm>
            <a:off x="2857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PROCV possui uma limitação estrutural crucial: ele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só procura da esquerda para a direita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coluna que contém o código pesquisado precisa obrigatoriamente ser 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primeira coluna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da matriz selecionada.</a:t>
            </a:r>
            <a:endParaRPr lang="en-US" sz="1264" dirty="0"/>
          </a:p>
        </p:txBody>
      </p:sp>
      <p:sp>
        <p:nvSpPr>
          <p:cNvPr id="6" name="ad67c2fa-3733-41d7-abfc-c3dbe7073a69_card"/>
          <p:cNvSpPr/>
          <p:nvPr/>
        </p:nvSpPr>
        <p:spPr>
          <a:xfrm>
            <a:off x="285750" y="30746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ad67c2fa-3733-41d7-abfc-c3dbe7073a69_emoji"/>
          <p:cNvSpPr/>
          <p:nvPr/>
        </p:nvSpPr>
        <p:spPr>
          <a:xfrm>
            <a:off x="4000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ad67c2fa-3733-41d7-abfc-c3dbe7073a69_text"/>
          <p:cNvSpPr/>
          <p:nvPr/>
        </p:nvSpPr>
        <p:spPr>
          <a:xfrm>
            <a:off x="765810" y="31889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o código estiver na coluna C e o preço na coluna B, o PROCV tradicional não funcionará diretamente.</a:t>
            </a:r>
            <a:endParaRPr lang="en-US" sz="112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840c23e-df63-482d-9a11-aa6dd892db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Argumentos do PROCV</a:t>
            </a:r>
            <a:endParaRPr lang="en-US" sz="2246" dirty="0"/>
          </a:p>
        </p:txBody>
      </p:sp>
      <p:sp>
        <p:nvSpPr>
          <p:cNvPr id="3" name="d705dbf2-7ef7-4d39-bc67-875e75d18bfe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fórmula =PROCV(A2; D2:G20; 3; FALSO), o que o número 3 representa?</a:t>
            </a:r>
            <a:endParaRPr lang="en-US" sz="1264" dirty="0"/>
          </a:p>
        </p:txBody>
      </p:sp>
      <p:sp>
        <p:nvSpPr>
          <p:cNvPr id="4" name="b233994c-ae01-4dcf-a790-f664f4a968be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ae6b13e8-7c1b-4075-92be-340218cb19af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número da coluna de onde será extraído o resultado</a:t>
            </a:r>
            <a:endParaRPr lang="en-US" sz="1264" dirty="0"/>
          </a:p>
        </p:txBody>
      </p:sp>
      <p:sp>
        <p:nvSpPr>
          <p:cNvPr id="6" name="e886bbe8-f103-46f4-a803-9982af3cc5cb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0d863d42-7490-43d6-9083-a851c37d3c1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linha exata onde está o valor procurado</a:t>
            </a:r>
            <a:endParaRPr lang="en-US" sz="1264" dirty="0"/>
          </a:p>
        </p:txBody>
      </p:sp>
      <p:sp>
        <p:nvSpPr>
          <p:cNvPr id="8" name="5a2fd699-0c92-421d-a304-71c231bf957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9a6bc881-aa67-4e1b-868f-6f938451faa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quantidade de resultados repetidos a encontrar</a:t>
            </a:r>
            <a:endParaRPr lang="en-US" sz="1264" dirty="0"/>
          </a:p>
        </p:txBody>
      </p:sp>
      <p:sp>
        <p:nvSpPr>
          <p:cNvPr id="10" name="69a5a295-e917-4210-9c39-5289ce1695e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00f4cc3f-2a28-4996-ab1c-e75713982cfb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número de colunas puladas antes de iniciar a busca</a:t>
            </a:r>
            <a:endParaRPr lang="en-US" sz="126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840c23e-df63-482d-9a11-aa6dd892db4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Argumentos do PROCV</a:t>
            </a:r>
            <a:endParaRPr lang="en-US" sz="2246" dirty="0"/>
          </a:p>
        </p:txBody>
      </p:sp>
      <p:sp>
        <p:nvSpPr>
          <p:cNvPr id="3" name="d705dbf2-7ef7-4d39-bc67-875e75d18bfe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fórmula =PROCV(A2; D2:G20; 3; FALSO), o que o número 3 representa?</a:t>
            </a:r>
            <a:endParaRPr lang="en-US" sz="1264" dirty="0"/>
          </a:p>
        </p:txBody>
      </p:sp>
      <p:sp>
        <p:nvSpPr>
          <p:cNvPr id="4" name="b233994c-ae01-4dcf-a790-f664f4a968be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</a:t>
            </a:r>
            <a:endParaRPr lang="en-US" sz="1966" dirty="0"/>
          </a:p>
        </p:txBody>
      </p:sp>
      <p:sp>
        <p:nvSpPr>
          <p:cNvPr id="5" name="ae6b13e8-7c1b-4075-92be-340218cb19af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2C6E49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número da coluna de onde será extraído o resultado</a:t>
            </a:r>
            <a:endParaRPr lang="en-US" sz="1264" dirty="0"/>
          </a:p>
        </p:txBody>
      </p:sp>
      <p:sp>
        <p:nvSpPr>
          <p:cNvPr id="6" name="e886bbe8-f103-46f4-a803-9982af3cc5cb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</a:t>
            </a:r>
            <a:endParaRPr lang="en-US" sz="1966" dirty="0"/>
          </a:p>
        </p:txBody>
      </p:sp>
      <p:sp>
        <p:nvSpPr>
          <p:cNvPr id="7" name="0d863d42-7490-43d6-9083-a851c37d3c18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linha exata onde está o valor procurado</a:t>
            </a:r>
            <a:endParaRPr lang="en-US" sz="1264" dirty="0"/>
          </a:p>
        </p:txBody>
      </p:sp>
      <p:sp>
        <p:nvSpPr>
          <p:cNvPr id="8" name="5a2fd699-0c92-421d-a304-71c231bf957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3.</a:t>
            </a:r>
            <a:endParaRPr lang="en-US" sz="1966" dirty="0"/>
          </a:p>
        </p:txBody>
      </p:sp>
      <p:sp>
        <p:nvSpPr>
          <p:cNvPr id="9" name="9a6bc881-aa67-4e1b-868f-6f938451faa6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quantidade de resultados repetidos a encontrar</a:t>
            </a:r>
            <a:endParaRPr lang="en-US" sz="1264" dirty="0"/>
          </a:p>
        </p:txBody>
      </p:sp>
      <p:sp>
        <p:nvSpPr>
          <p:cNvPr id="10" name="69a5a295-e917-4210-9c39-5289ce1695e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3125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966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4.</a:t>
            </a:r>
            <a:endParaRPr lang="en-US" sz="1966" dirty="0"/>
          </a:p>
        </p:txBody>
      </p:sp>
      <p:sp>
        <p:nvSpPr>
          <p:cNvPr id="11" name="00f4cc3f-2a28-4996-ab1c-e75713982cfb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name="adj" fmla="val 16667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número de colunas puladas antes de iniciar a busca</a:t>
            </a:r>
            <a:endParaRPr lang="en-US" sz="1264" dirty="0"/>
          </a:p>
        </p:txBody>
      </p:sp>
      <p:sp>
        <p:nvSpPr>
          <p:cNvPr id="12" name="b4eaf370-a34b-46f9-9ba6-b9db39ffe4f6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13" name="016ad3d9-53bb-44f2-a1e3-373bd85b0264"/>
          <p:cNvSpPr/>
          <p:nvPr/>
        </p:nvSpPr>
        <p:spPr>
          <a:xfrm>
            <a:off x="872109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5aa12435-2786-4b61-8858-4e2d35305ce6" descr="/home/forge/chalkie-production-workers-1/releases/77481629/backend/storage/app/render-specs/4924aa3c-fe77-4d3e-a3a8-c48009c29c46/img_282c1fde5e92bcd499fda6954d2ed74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e51012ca-8467-4f8d-8f23-167c18f9c28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PROCH: Pesquisa Horizontal</a:t>
            </a:r>
            <a:endParaRPr lang="en-US" sz="2246" dirty="0"/>
          </a:p>
        </p:txBody>
      </p:sp>
      <p:sp>
        <p:nvSpPr>
          <p:cNvPr id="4" name="c709bbc2-f7c6-4733-b771-f50f99488dbf"/>
          <p:cNvSpPr/>
          <p:nvPr/>
        </p:nvSpPr>
        <p:spPr>
          <a:xfrm>
            <a:off x="4286250" y="868680"/>
            <a:ext cx="208026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FUNÇÃO DE BUSCA</a:t>
            </a:r>
            <a:endParaRPr lang="en-US" sz="842" dirty="0"/>
          </a:p>
        </p:txBody>
      </p:sp>
      <p:sp>
        <p:nvSpPr>
          <p:cNvPr id="5" name="4e5ffdda-95c2-4d99-b88e-2911cd87241c"/>
          <p:cNvSpPr/>
          <p:nvPr/>
        </p:nvSpPr>
        <p:spPr>
          <a:xfrm>
            <a:off x="4286250" y="1177290"/>
            <a:ext cx="4572000" cy="181965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a base está disposta em linhas em vez de colunas, utilizamos 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PROCH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(Procura Horizontal).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Ele busca a chave na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primeira linha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da matriz e desce até a linha indicada para retornar a informação correspondente.</a:t>
            </a:r>
            <a:endParaRPr lang="en-US" sz="1264" dirty="0"/>
          </a:p>
        </p:txBody>
      </p:sp>
      <p:sp>
        <p:nvSpPr>
          <p:cNvPr id="6" name="e82bc575-6c42-47c6-b10a-fe103bef46a4_card"/>
          <p:cNvSpPr/>
          <p:nvPr/>
        </p:nvSpPr>
        <p:spPr>
          <a:xfrm>
            <a:off x="4286250" y="30746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e82bc575-6c42-47c6-b10a-fe103bef46a4_emoji"/>
          <p:cNvSpPr/>
          <p:nvPr/>
        </p:nvSpPr>
        <p:spPr>
          <a:xfrm>
            <a:off x="4400550" y="32232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e82bc575-6c42-47c6-b10a-fe103bef46a4_text"/>
          <p:cNvSpPr/>
          <p:nvPr/>
        </p:nvSpPr>
        <p:spPr>
          <a:xfrm>
            <a:off x="4766310" y="31889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Tabelas de alíquotas com meses no cabeçalho horizontal: =PROCH("Março"; B1:M5; 3; 0)</a:t>
            </a:r>
            <a:endParaRPr lang="en-US" sz="112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a75b733-f61d-4ef8-83cb-7d12a162d800" descr="/home/forge/chalkie-production-workers-1/releases/77481629/backend/storage/app/render-specs/4924aa3c-fe77-4d3e-a3a8-c48009c29c46/img_854d3427b5afc003b17712a2ebe2077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37260"/>
            <a:ext cx="4194810" cy="2057400"/>
          </a:xfrm>
          <a:prstGeom prst="roundRect">
            <a:avLst>
              <a:gd name="adj" fmla="val 6667"/>
            </a:avLst>
          </a:prstGeom>
        </p:spPr>
      </p:pic>
      <p:pic>
        <p:nvPicPr>
          <p:cNvPr id="3" name="2b2ef106-f5cb-4e3b-8778-360a866163da" descr="/home/forge/chalkie-production-workers-1/releases/77481629/backend/storage/app/render-specs/4924aa3c-fe77-4d3e-a3a8-c48009c29c46/img_7256d954507ac45bcc61ec3ee6c14a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937260"/>
            <a:ext cx="4194810" cy="2057400"/>
          </a:xfrm>
          <a:prstGeom prst="roundRect">
            <a:avLst>
              <a:gd name="adj" fmla="val 6667"/>
            </a:avLst>
          </a:prstGeom>
        </p:spPr>
      </p:pic>
      <p:sp>
        <p:nvSpPr>
          <p:cNvPr id="4" name="29791e61-053a-4a1d-b12b-163ab27a1073"/>
          <p:cNvSpPr/>
          <p:nvPr/>
        </p:nvSpPr>
        <p:spPr>
          <a:xfrm>
            <a:off x="285750" y="3086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Comparando PROCV e PROCH</a:t>
            </a:r>
            <a:endParaRPr lang="en-US" sz="2246" dirty="0"/>
          </a:p>
        </p:txBody>
      </p:sp>
      <p:sp>
        <p:nvSpPr>
          <p:cNvPr id="5" name="4a632f3a-995b-4e48-b882-710ff380e7aa"/>
          <p:cNvSpPr/>
          <p:nvPr/>
        </p:nvSpPr>
        <p:spPr>
          <a:xfrm>
            <a:off x="285750" y="31318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PROCV (Vertical)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Ideal para listas convencionais onde cada linha é um registro e cada coluna é um campo descritivo.</a:t>
            </a:r>
            <a:endParaRPr lang="en-US" sz="1544" dirty="0"/>
          </a:p>
        </p:txBody>
      </p:sp>
      <p:sp>
        <p:nvSpPr>
          <p:cNvPr id="6" name="1d94d950-a73a-4a3e-a005-40494ed1dde5"/>
          <p:cNvSpPr/>
          <p:nvPr/>
        </p:nvSpPr>
        <p:spPr>
          <a:xfrm>
            <a:off x="4652010" y="313182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PROCH (Horizontal)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Utilizado em matrizes gerenciais com períodos (meses, trimestres) organizados lado a lado no topo.</a:t>
            </a:r>
            <a:endParaRPr lang="en-US" sz="154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6cbb54e-08ea-4693-b5fd-ade32dcb8f59" descr="/home/forge/chalkie-production-workers-1/releases/77481629/backend/storage/app/render-specs/4924aa3c-fe77-4d3e-a3a8-c48009c29c46/img_3fd06afc54b554309ced229afbe89f77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df7a568-fd37-4b56-82f6-40392090c68b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ÍNDICE e CORRESP: A Dupla Dinâmica</a:t>
            </a:r>
            <a:endParaRPr lang="en-US" sz="2246" dirty="0"/>
          </a:p>
        </p:txBody>
      </p:sp>
      <p:sp>
        <p:nvSpPr>
          <p:cNvPr id="4" name="d54ad3bd-9f29-4b00-950e-22a649b31bfe"/>
          <p:cNvSpPr/>
          <p:nvPr/>
        </p:nvSpPr>
        <p:spPr>
          <a:xfrm>
            <a:off x="285750" y="868680"/>
            <a:ext cx="181737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BUSCA FLEXÍVEL</a:t>
            </a:r>
            <a:endParaRPr lang="en-US" sz="842" dirty="0"/>
          </a:p>
        </p:txBody>
      </p:sp>
      <p:sp>
        <p:nvSpPr>
          <p:cNvPr id="5" name="b12d133f-4225-4977-ad62-4ed9c11101e1"/>
          <p:cNvSpPr/>
          <p:nvPr/>
        </p:nvSpPr>
        <p:spPr>
          <a:xfrm>
            <a:off x="285750" y="1177290"/>
            <a:ext cx="45720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superar as limitações do PROCV, combinamos duas funções independentes e poderosas: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CORRESPONDÊNCIA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localiza a posição numérica de um item.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ÍNDICE</a:t>
            </a:r>
            <a:pPr algn="l" indent="0" marL="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extrai o conteúdo de uma coordenada exata.</a:t>
            </a:r>
            <a:endParaRPr lang="en-US" sz="1264" dirty="0"/>
          </a:p>
        </p:txBody>
      </p:sp>
      <p:sp>
        <p:nvSpPr>
          <p:cNvPr id="6" name="709ce020-2b6d-4fae-a084-6bd3aee17a23_card"/>
          <p:cNvSpPr/>
          <p:nvPr/>
        </p:nvSpPr>
        <p:spPr>
          <a:xfrm>
            <a:off x="285750" y="345186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709ce020-2b6d-4fae-a084-6bd3aee17a23_emoji"/>
          <p:cNvSpPr/>
          <p:nvPr/>
        </p:nvSpPr>
        <p:spPr>
          <a:xfrm>
            <a:off x="400050" y="360045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709ce020-2b6d-4fae-a084-6bd3aee17a23_text"/>
          <p:cNvSpPr/>
          <p:nvPr/>
        </p:nvSpPr>
        <p:spPr>
          <a:xfrm>
            <a:off x="765810" y="356616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Essa combinação permite pesquisar para a esquerda e em matrizes bidirecionais.</a:t>
            </a:r>
            <a:endParaRPr lang="en-US" sz="112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2666e51-4b8f-4900-913d-5ab8f14050b5"/>
          <p:cNvSpPr/>
          <p:nvPr/>
        </p:nvSpPr>
        <p:spPr>
          <a:xfrm>
            <a:off x="285750" y="76581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Mecanismo da Função CORRESP</a:t>
            </a:r>
            <a:endParaRPr lang="en-US" sz="2246" dirty="0"/>
          </a:p>
        </p:txBody>
      </p:sp>
      <p:sp>
        <p:nvSpPr>
          <p:cNvPr id="3" name="62890093-144c-47a0-adac-f388864606bc"/>
          <p:cNvSpPr/>
          <p:nvPr/>
        </p:nvSpPr>
        <p:spPr>
          <a:xfrm>
            <a:off x="285750" y="139446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CORRESPONDÊNCIA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(ou CORRESP) não traz o preço ou o nome; ela informa em qual posição da lista o item está localizado.</a:t>
            </a:r>
            <a:endParaRPr lang="en-US" sz="1264" dirty="0"/>
          </a:p>
        </p:txBody>
      </p:sp>
      <p:sp>
        <p:nvSpPr>
          <p:cNvPr id="4" name="092a94c2-030b-43b6-b897-ecdfa66422fe_card"/>
          <p:cNvSpPr/>
          <p:nvPr/>
        </p:nvSpPr>
        <p:spPr>
          <a:xfrm>
            <a:off x="285750" y="2205990"/>
            <a:ext cx="857250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5" name="092a94c2-030b-43b6-b897-ecdfa66422fe_emoji"/>
          <p:cNvSpPr/>
          <p:nvPr/>
        </p:nvSpPr>
        <p:spPr>
          <a:xfrm>
            <a:off x="400050" y="23545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6" name="092a94c2-030b-43b6-b897-ecdfa66422fe_text"/>
          <p:cNvSpPr/>
          <p:nvPr/>
        </p:nvSpPr>
        <p:spPr>
          <a:xfrm>
            <a:off x="765810" y="2320290"/>
            <a:ext cx="7978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Sintaxe: =CORRESPONDÊNCIA(valor_procurado; matriz_pesquisada; [tipo_correspondência])</a:t>
            </a:r>
            <a:endParaRPr lang="en-US" sz="1123" dirty="0"/>
          </a:p>
        </p:txBody>
      </p:sp>
      <p:sp>
        <p:nvSpPr>
          <p:cNvPr id="7" name="a67d8b81-91c8-4d57-8ebd-8e0d20cf67ea"/>
          <p:cNvSpPr/>
          <p:nvPr/>
        </p:nvSpPr>
        <p:spPr>
          <a:xfrm>
            <a:off x="285750" y="345186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a lista de clientes em A2:A6 for ["Ana", "Bruno", "Carla", "Diego"], a fórmula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retorna exatamente o número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26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047f552-962d-4909-b805-eb8a7e3829ac" descr="/home/forge/chalkie-production-workers-1/releases/77481629/backend/storage/app/render-specs/4924aa3c-fe77-4d3e-a3a8-c48009c29c46/img_5523e0511543331200ccc6870db757a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265c0c0a-1d57-4354-9096-31f8e4d18e5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Mecanismo da Função ÍNDICE</a:t>
            </a:r>
            <a:endParaRPr lang="en-US" sz="2246" dirty="0"/>
          </a:p>
        </p:txBody>
      </p:sp>
      <p:sp>
        <p:nvSpPr>
          <p:cNvPr id="4" name="e0ec5d43-4ee5-4388-ab71-5ab4bb1ba25c"/>
          <p:cNvSpPr/>
          <p:nvPr/>
        </p:nvSpPr>
        <p:spPr>
          <a:xfrm>
            <a:off x="4286250" y="868680"/>
            <a:ext cx="181737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BUSCA FLEXÍVEL</a:t>
            </a:r>
            <a:endParaRPr lang="en-US" sz="842" dirty="0"/>
          </a:p>
        </p:txBody>
      </p:sp>
      <p:sp>
        <p:nvSpPr>
          <p:cNvPr id="5" name="0b29169d-b910-4154-bf55-dad6c064441b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ÍNDICE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funciona como um sistema de GPS na planilha. Dado um intervalo e um número de linha, ela entrega o dado gravado naquela célula.</a:t>
            </a:r>
            <a:endParaRPr lang="en-US" sz="1264" dirty="0"/>
          </a:p>
        </p:txBody>
      </p:sp>
      <p:sp>
        <p:nvSpPr>
          <p:cNvPr id="6" name="e29bdc9a-1f0b-440c-be3d-82f0d80cafdf_card"/>
          <p:cNvSpPr/>
          <p:nvPr/>
        </p:nvSpPr>
        <p:spPr>
          <a:xfrm>
            <a:off x="4286250" y="2503170"/>
            <a:ext cx="4572000" cy="1635887"/>
          </a:xfrm>
          <a:prstGeom prst="roundRect">
            <a:avLst>
              <a:gd name="adj" fmla="val 5590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e29bdc9a-1f0b-440c-be3d-82f0d80cafdf_emoji"/>
          <p:cNvSpPr/>
          <p:nvPr/>
        </p:nvSpPr>
        <p:spPr>
          <a:xfrm>
            <a:off x="4400550" y="26517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e29bdc9a-1f0b-440c-be3d-82f0d80cafdf_text"/>
          <p:cNvSpPr/>
          <p:nvPr/>
        </p:nvSpPr>
        <p:spPr>
          <a:xfrm>
            <a:off x="4766310" y="2617470"/>
            <a:ext cx="3977640" cy="1407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 combinada: =ÍNDICE(coluna_resultado; CORRESPONDÊNCIA(chave; coluna_chave; 0))</a:t>
            </a:r>
            <a:endParaRPr lang="en-US" sz="112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8f8fd0d-7571-497c-a68b-0517c05d5bd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Ordem: Montagem do ÍNDICE + CORRESP</a:t>
            </a:r>
            <a:endParaRPr lang="en-US" sz="2246" dirty="0"/>
          </a:p>
        </p:txBody>
      </p:sp>
      <p:sp>
        <p:nvSpPr>
          <p:cNvPr id="3" name="9225648e-579a-4d2c-adf2-bf826837614b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as etapas lógicas para montar a busca combinada bidirecional no Excel:</a:t>
            </a:r>
            <a:endParaRPr lang="en-US" sz="1264" dirty="0"/>
          </a:p>
        </p:txBody>
      </p:sp>
      <p:sp>
        <p:nvSpPr>
          <p:cNvPr id="4" name="09293508-c9f1-4d45-a270-ff8b73d1f33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Identificar a coluna onde está o resultado final desejado</a:t>
            </a:r>
            <a:endParaRPr lang="en-US" sz="1264" dirty="0"/>
          </a:p>
        </p:txBody>
      </p:sp>
      <p:sp>
        <p:nvSpPr>
          <p:cNvPr id="5" name="0d74738b-f61a-4c93-8fd6-9ac5baa0e063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Definir tipo de correspondência exata 0 no final do CORRESP</a:t>
            </a:r>
            <a:endParaRPr lang="en-US" sz="1264" dirty="0"/>
          </a:p>
        </p:txBody>
      </p:sp>
      <p:sp>
        <p:nvSpPr>
          <p:cNvPr id="6" name="d9a3ea8b-aa36-4dd4-8e62-b4aa48413b9c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Escrever a função ÍNDICE selecionando o intervalo do resultado</a:t>
            </a:r>
            <a:endParaRPr lang="en-US" sz="1264" dirty="0"/>
          </a:p>
        </p:txBody>
      </p:sp>
      <p:sp>
        <p:nvSpPr>
          <p:cNvPr id="7" name="48aef0f2-aee3-4517-9901-193e75fdf9d2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a função CORRESP no argumento de número da linha</a:t>
            </a:r>
            <a:endParaRPr lang="en-US" sz="126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8f8fd0d-7571-497c-a68b-0517c05d5bdd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Ordem: Montagem do ÍNDICE + CORRESP</a:t>
            </a:r>
            <a:endParaRPr lang="en-US" sz="2246" dirty="0"/>
          </a:p>
        </p:txBody>
      </p:sp>
      <p:sp>
        <p:nvSpPr>
          <p:cNvPr id="3" name="9225648e-579a-4d2c-adf2-bf826837614b"/>
          <p:cNvSpPr/>
          <p:nvPr/>
        </p:nvSpPr>
        <p:spPr>
          <a:xfrm>
            <a:off x="285750" y="6858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Ordene as etapas lógicas para montar a busca combinada bidirecional no Excel:</a:t>
            </a:r>
            <a:endParaRPr lang="en-US" sz="1264" dirty="0"/>
          </a:p>
        </p:txBody>
      </p:sp>
      <p:sp>
        <p:nvSpPr>
          <p:cNvPr id="4" name="09293508-c9f1-4d45-a270-ff8b73d1f336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Identificar a coluna onde está o resultado final desejado</a:t>
            </a:r>
            <a:endParaRPr lang="en-US" sz="1264" dirty="0"/>
          </a:p>
        </p:txBody>
      </p:sp>
      <p:sp>
        <p:nvSpPr>
          <p:cNvPr id="5" name="0d74738b-f61a-4c93-8fd6-9ac5baa0e063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Definir tipo de correspondência exata 0 no final do CORRESP</a:t>
            </a:r>
            <a:endParaRPr lang="en-US" sz="1264" dirty="0"/>
          </a:p>
        </p:txBody>
      </p:sp>
      <p:sp>
        <p:nvSpPr>
          <p:cNvPr id="6" name="d9a3ea8b-aa36-4dd4-8e62-b4aa48413b9c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Escrever a função ÍNDICE selecionando o intervalo do resultado</a:t>
            </a:r>
            <a:endParaRPr lang="en-US" sz="1264" dirty="0"/>
          </a:p>
        </p:txBody>
      </p:sp>
      <p:sp>
        <p:nvSpPr>
          <p:cNvPr id="7" name="48aef0f2-aee3-4517-9901-193e75fdf9d2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name="adj" fmla="val 18519"/>
            </a:avLst>
          </a:prstGeom>
          <a:solidFill>
            <a:srgbClr val="F4F9FC"/>
          </a:solidFill>
          <a:ln w="34290">
            <a:solidFill>
              <a:srgbClr val="000000"/>
            </a:solidFill>
          </a:ln>
        </p:spPr>
        <p:txBody>
          <a:bodyPr wrap="square" lIns="80010" tIns="80010" rIns="80010" bIns="8001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Inserir a função CORRESP no argumento de número da linha</a:t>
            </a:r>
            <a:endParaRPr lang="en-US" sz="1264" dirty="0"/>
          </a:p>
        </p:txBody>
      </p:sp>
      <p:sp>
        <p:nvSpPr>
          <p:cNvPr id="8" name="2517a5be-e8b1-452f-a13e-554faeb055ee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9" name="2be4cb4f-c726-4a0e-a430-ecb6b2c9195f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</a:t>
            </a:r>
            <a:endParaRPr lang="en-US" sz="913" dirty="0"/>
          </a:p>
        </p:txBody>
      </p:sp>
      <p:sp>
        <p:nvSpPr>
          <p:cNvPr id="10" name="a22b6ecf-0d4f-4ec5-8b3a-5d6dfe130e02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</a:t>
            </a:r>
            <a:endParaRPr lang="en-US" sz="913" dirty="0"/>
          </a:p>
        </p:txBody>
      </p:sp>
      <p:sp>
        <p:nvSpPr>
          <p:cNvPr id="11" name="b0516131-9e05-4a44-9f7e-df3bbe8dec35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3</a:t>
            </a:r>
            <a:endParaRPr lang="en-US" sz="913" dirty="0"/>
          </a:p>
        </p:txBody>
      </p:sp>
      <p:sp>
        <p:nvSpPr>
          <p:cNvPr id="12" name="c46b51a3-9b3b-4f07-95a7-9d6a6cef510d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000000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4</a:t>
            </a:r>
            <a:endParaRPr lang="en-US" sz="91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6e35f88-a8b7-4df2-b417-3579631cced4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Vídeo Tutorial: Buscas Avançadas</a:t>
            </a:r>
            <a:endParaRPr lang="en-US" sz="2246" dirty="0"/>
          </a:p>
        </p:txBody>
      </p:sp>
      <p:sp>
        <p:nvSpPr>
          <p:cNvPr id="3" name="c73dc304-dd4a-4244-8505-cd5deeabb9b4"/>
          <p:cNvSpPr/>
          <p:nvPr/>
        </p:nvSpPr>
        <p:spPr>
          <a:xfrm>
            <a:off x="285750" y="80010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Compare PROCV e ÍNDICE+CORRESP em bases reais:</a:t>
            </a:r>
            <a:endParaRPr lang="en-US" sz="1264" dirty="0"/>
          </a:p>
        </p:txBody>
      </p:sp>
      <p:pic>
        <p:nvPicPr>
          <p:cNvPr id="4" name="ca77f766-2f04-45bf-99f0-4bd0a1547033" descr="/home/forge/chalkie-production-workers-1/releases/77481629/backend/storage/app/render-specs/4924aa3c-fe77-4d3e-a3a8-c48009c29c46/poster_KngxrZD-6_E.jpg">
            <a:hlinkClick r:id="rId3" tooltip="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/>
              </p:ext>
              <p:ext uri="{C809E66F-F1BF-436E-b5F7-EEA9579F0CBA}">
                <p15:webVideoPr xmlns:p15="http://schemas.microsoft.com/office/powerpoint/2012/main" embeddedHtml="&lt;iframe width=&quot;560&quot; height=&quot;315&quot; src=&quot;https://www.youtube.com/embed/KngxrZD-6_E?feature=oembed&quot; frameborder=&quot;0&quot; allowfullscreen=&quot;&quot;&gt;&lt;/iframe&gt;" h="315" w="560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1463040" y="1360170"/>
            <a:ext cx="621792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8b6da2-07fc-4470-972c-43b89f24fd99" descr="/home/forge/chalkie-production-workers-1/releases/77481629/backend/storage/app/render-specs/4924aa3c-fe77-4d3e-a3a8-c48009c29c46/img_71fa6a7235d3d96c701f09cfe21c4a1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945fe6d5-b748-4a25-9aec-4b6076fd5cd1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Prevenção de Erros com SEERRO</a:t>
            </a:r>
            <a:endParaRPr lang="en-US" sz="2246" dirty="0"/>
          </a:p>
        </p:txBody>
      </p:sp>
      <p:sp>
        <p:nvSpPr>
          <p:cNvPr id="4" name="c32c2cc1-34c0-4695-979f-34e75aef2d79"/>
          <p:cNvSpPr/>
          <p:nvPr/>
        </p:nvSpPr>
        <p:spPr>
          <a:xfrm>
            <a:off x="285750" y="868680"/>
            <a:ext cx="259461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TRATAMENTO DE DADOS</a:t>
            </a:r>
            <a:endParaRPr lang="en-US" sz="842" dirty="0"/>
          </a:p>
        </p:txBody>
      </p:sp>
      <p:sp>
        <p:nvSpPr>
          <p:cNvPr id="5" name="f0f768c9-4e0e-4aaa-a68d-112697e1287f"/>
          <p:cNvSpPr/>
          <p:nvPr/>
        </p:nvSpPr>
        <p:spPr>
          <a:xfrm>
            <a:off x="2857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uma busca não encontra o código, o Excel exibe o temido erro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(Não Disponível). Isso polui relatórios e quebra somas subsequentes.</a:t>
            </a:r>
            <a:endParaRPr lang="en-US" sz="1264" dirty="0"/>
          </a:p>
        </p:txBody>
      </p:sp>
      <p:sp>
        <p:nvSpPr>
          <p:cNvPr id="6" name="9b1ffb40-155e-4f67-b113-f844ad3d9315_card"/>
          <p:cNvSpPr/>
          <p:nvPr/>
        </p:nvSpPr>
        <p:spPr>
          <a:xfrm>
            <a:off x="285750" y="250317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7" name="9b1ffb40-155e-4f67-b113-f844ad3d9315_emoji"/>
          <p:cNvSpPr/>
          <p:nvPr/>
        </p:nvSpPr>
        <p:spPr>
          <a:xfrm>
            <a:off x="400050" y="26517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8" name="9b1ffb40-155e-4f67-b113-f844ad3d9315_text"/>
          <p:cNvSpPr/>
          <p:nvPr/>
        </p:nvSpPr>
        <p:spPr>
          <a:xfrm>
            <a:off x="765810" y="261747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Planilhas profissionais nunca devem expor códigos de erro ao tomador de decisão.</a:t>
            </a:r>
            <a:endParaRPr lang="en-US" sz="112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13d0399-c7ce-4155-b347-52159e1bf236"/>
          <p:cNvSpPr/>
          <p:nvPr/>
        </p:nvSpPr>
        <p:spPr>
          <a:xfrm>
            <a:off x="285750" y="37719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Aplicando a Função SEERRO</a:t>
            </a:r>
            <a:endParaRPr lang="en-US" sz="2246" dirty="0"/>
          </a:p>
        </p:txBody>
      </p:sp>
      <p:sp>
        <p:nvSpPr>
          <p:cNvPr id="3" name="da469146-b88f-4029-9693-37787e3bf714"/>
          <p:cNvSpPr/>
          <p:nvPr/>
        </p:nvSpPr>
        <p:spPr>
          <a:xfrm>
            <a:off x="285750" y="100584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SEERRO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intercepta falhas e substitui o código técnico por uma mensagem amigável ou valor neutro.</a:t>
            </a:r>
            <a:endParaRPr lang="en-US" sz="1264" dirty="0"/>
          </a:p>
        </p:txBody>
      </p:sp>
      <p:sp>
        <p:nvSpPr>
          <p:cNvPr id="4" name="f7af9270-431c-405a-bfa8-8becc5f4db27"/>
          <p:cNvSpPr/>
          <p:nvPr/>
        </p:nvSpPr>
        <p:spPr>
          <a:xfrm>
            <a:off x="285750" y="181737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 Desprotegida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 o código de A2 não existir na coluna D, a célula exibirá o erro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.</a:t>
            </a:r>
            <a:endParaRPr lang="en-US" sz="1544" dirty="0"/>
          </a:p>
        </p:txBody>
      </p:sp>
      <p:sp>
        <p:nvSpPr>
          <p:cNvPr id="5" name="3242da72-1b2c-4610-ba3e-3cc96b49cfce_card"/>
          <p:cNvSpPr/>
          <p:nvPr/>
        </p:nvSpPr>
        <p:spPr>
          <a:xfrm>
            <a:off x="285750" y="300609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F09696">
              <a:alpha val="14902"/>
            </a:srgbClr>
          </a:solidFill>
          <a:ln w="11430">
            <a:solidFill>
              <a:srgbClr val="460606">
                <a:alpha val="20000"/>
              </a:srgbClr>
            </a:solidFill>
            <a:prstDash val="solid"/>
          </a:ln>
        </p:spPr>
      </p:sp>
      <p:sp>
        <p:nvSpPr>
          <p:cNvPr id="6" name="3242da72-1b2c-4610-ba3e-3cc96b49cfce_emoji"/>
          <p:cNvSpPr/>
          <p:nvPr/>
        </p:nvSpPr>
        <p:spPr>
          <a:xfrm>
            <a:off x="400050" y="31546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⚠️</a:t>
            </a:r>
            <a:endParaRPr lang="en-US" sz="2160" dirty="0"/>
          </a:p>
        </p:txBody>
      </p:sp>
      <p:sp>
        <p:nvSpPr>
          <p:cNvPr id="7" name="3242da72-1b2c-4610-ba3e-3cc96b49cfce_text"/>
          <p:cNvSpPr/>
          <p:nvPr/>
        </p:nvSpPr>
        <p:spPr>
          <a:xfrm>
            <a:off x="765810" y="312039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Atenção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7C1C1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Gera impacto negativo visual e bloqueia fórmulas encadeadas.</a:t>
            </a:r>
            <a:endParaRPr lang="en-US" sz="1123" dirty="0"/>
          </a:p>
        </p:txBody>
      </p:sp>
      <p:sp>
        <p:nvSpPr>
          <p:cNvPr id="8" name="84942c90-cfdc-4f6b-91e5-3b07d9633b94"/>
          <p:cNvSpPr/>
          <p:nvPr/>
        </p:nvSpPr>
        <p:spPr>
          <a:xfrm>
            <a:off x="4652010" y="1817370"/>
            <a:ext cx="419481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Fórmula Protegida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Caso ocorra qualquer erro, exibe o texto amigável definido.</a:t>
            </a:r>
            <a:endParaRPr lang="en-US" sz="1544" dirty="0"/>
          </a:p>
        </p:txBody>
      </p:sp>
      <p:sp>
        <p:nvSpPr>
          <p:cNvPr id="9" name="1a8a3fb2-464c-47a1-8767-8d6a313f3551_card"/>
          <p:cNvSpPr/>
          <p:nvPr/>
        </p:nvSpPr>
        <p:spPr>
          <a:xfrm>
            <a:off x="4652010" y="300609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10" name="1a8a3fb2-464c-47a1-8767-8d6a313f3551_emoji"/>
          <p:cNvSpPr/>
          <p:nvPr/>
        </p:nvSpPr>
        <p:spPr>
          <a:xfrm>
            <a:off x="4766310" y="315468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1" name="1a8a3fb2-464c-47a1-8767-8d6a313f3551_text"/>
          <p:cNvSpPr/>
          <p:nvPr/>
        </p:nvSpPr>
        <p:spPr>
          <a:xfrm>
            <a:off x="5132070" y="3120390"/>
            <a:ext cx="360045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Pode retornar 0 em células de valor financeiro para viabilizar somas.</a:t>
            </a:r>
            <a:endParaRPr lang="en-US" sz="112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e9a805c-7b71-45c8-9690-7b2a5a5414a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Uso do SEERRO</a:t>
            </a:r>
            <a:endParaRPr lang="en-US" sz="2246" dirty="0"/>
          </a:p>
        </p:txBody>
      </p:sp>
      <p:sp>
        <p:nvSpPr>
          <p:cNvPr id="3" name="adbd19eb-df4e-40bb-8b5b-fde12d57deff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adbd19eb-df4e-40bb-8b5b-fde12d57deff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SEERRO impede que uma busca com PROCV procure o dado na planilha.</a:t>
            </a:r>
            <a:endParaRPr lang="en-US" sz="1264" dirty="0"/>
          </a:p>
        </p:txBody>
      </p:sp>
      <p:sp>
        <p:nvSpPr>
          <p:cNvPr id="5" name="51b37961-e8b3-4d8f-b390-f772f00af62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37933788-f365-40db-b59c-e231dad1d7dd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0afba165-b1ac-4920-b3a9-e9e116130fb1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🤔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i="1" dirty="0">
                <a:solidFill>
                  <a:srgbClr val="7EB5A6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Prepare-se para explicar o seu raciocínio.</a:t>
            </a:r>
            <a:endParaRPr lang="en-US" sz="1264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e9a805c-7b71-45c8-9690-7b2a5a5414a9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Verificação: Uso do SEERRO</a:t>
            </a:r>
            <a:endParaRPr lang="en-US" sz="2246" dirty="0"/>
          </a:p>
        </p:txBody>
      </p:sp>
      <p:sp>
        <p:nvSpPr>
          <p:cNvPr id="3" name="adbd19eb-df4e-40bb-8b5b-fde12d57deff-shadow"/>
          <p:cNvSpPr/>
          <p:nvPr/>
        </p:nvSpPr>
        <p:spPr>
          <a:xfrm>
            <a:off x="914400" y="123444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4" name="adbd19eb-df4e-40bb-8b5b-fde12d57deff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name="adj" fmla="val 10000"/>
            </a:avLst>
          </a:prstGeom>
          <a:solidFill>
            <a:srgbClr val="F4F9FC"/>
          </a:solidFill>
          <a:ln w="45720">
            <a:solidFill>
              <a:srgbClr val="000000"/>
            </a:solidFill>
          </a:ln>
        </p:spPr>
        <p:txBody>
          <a:bodyPr wrap="square" lIns="102870" tIns="102870" rIns="102870" bIns="10287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SEERRO impede que uma busca com PROCV procure o dado na planilha.</a:t>
            </a:r>
            <a:endParaRPr lang="en-US" sz="1264" dirty="0"/>
          </a:p>
        </p:txBody>
      </p:sp>
      <p:sp>
        <p:nvSpPr>
          <p:cNvPr id="5" name="51b37961-e8b3-4d8f-b390-f772f00af627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000000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👍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VERDADEIRO</a:t>
            </a:r>
            <a:endParaRPr lang="en-US" sz="1825" dirty="0"/>
          </a:p>
        </p:txBody>
      </p:sp>
      <p:sp>
        <p:nvSpPr>
          <p:cNvPr id="6" name="37933788-f365-40db-b59c-e231dad1d7dd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45720">
            <a:solidFill>
              <a:srgbClr val="2C6E49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👎 </a:t>
            </a:r>
            <a:pPr algn="ctr" indent="0" marL="0">
              <a:lnSpc>
                <a:spcPts val="2902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1825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FALSO</a:t>
            </a:r>
            <a:endParaRPr lang="en-US" sz="1825" dirty="0"/>
          </a:p>
        </p:txBody>
      </p:sp>
      <p:sp>
        <p:nvSpPr>
          <p:cNvPr id="7" name="908058ef-3154-4f50-8ed2-9396dc75fd0b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  <p:sp>
        <p:nvSpPr>
          <p:cNvPr id="8" name="6a40d541-a1a3-45e3-8aaa-059897515871_card"/>
          <p:cNvSpPr/>
          <p:nvPr/>
        </p:nvSpPr>
        <p:spPr>
          <a:xfrm>
            <a:off x="457200" y="3657600"/>
            <a:ext cx="8229600" cy="870458"/>
          </a:xfrm>
          <a:prstGeom prst="roundRect">
            <a:avLst>
              <a:gd name="adj" fmla="val 10505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9" name="6a40d541-a1a3-45e3-8aaa-059897515871_emoji"/>
          <p:cNvSpPr/>
          <p:nvPr/>
        </p:nvSpPr>
        <p:spPr>
          <a:xfrm>
            <a:off x="571500" y="38061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6a40d541-a1a3-45e3-8aaa-059897515871_text"/>
          <p:cNvSpPr/>
          <p:nvPr/>
        </p:nvSpPr>
        <p:spPr>
          <a:xfrm>
            <a:off x="937260" y="3771900"/>
            <a:ext cx="7635240" cy="641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Por que é isso?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SEERRO executa o cálculo normal e só age se houver falha na fórmula.</a:t>
            </a:r>
            <a:endParaRPr lang="en-US" sz="1123" dirty="0"/>
          </a:p>
        </p:txBody>
      </p:sp>
      <p:sp>
        <p:nvSpPr>
          <p:cNvPr id="11" name="9ef2afc7-8ed5-4ab6-8931-3aa33cf7a972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2C6E49"/>
          </a:solidFill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1451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913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✓</a:t>
            </a:r>
            <a:endParaRPr lang="en-US" sz="91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4fecb3e3-bd48-4eb6-9b5c-eeb083a45b94" descr="/home/forge/chalkie-production-workers-1/releases/77481629/backend/storage/app/render-specs/4924aa3c-fe77-4d3e-a3a8-c48009c29c46/img_de4181a67727db68843dfbf8533778ed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a84da7bd-9d17-4404-9a33-4dccac353ab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Lógica Condicional: SE Aninhado</a:t>
            </a:r>
            <a:endParaRPr lang="en-US" sz="2246" dirty="0"/>
          </a:p>
        </p:txBody>
      </p:sp>
      <p:sp>
        <p:nvSpPr>
          <p:cNvPr id="4" name="a5b017a8-7dee-48bd-9e98-55abe2053563"/>
          <p:cNvSpPr/>
          <p:nvPr/>
        </p:nvSpPr>
        <p:spPr>
          <a:xfrm>
            <a:off x="4286250" y="868680"/>
            <a:ext cx="233172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LÓGICA CONDICIONAL</a:t>
            </a:r>
            <a:endParaRPr lang="en-US" sz="842" dirty="0"/>
          </a:p>
        </p:txBody>
      </p:sp>
      <p:sp>
        <p:nvSpPr>
          <p:cNvPr id="5" name="68824d4c-164e-4e54-aff1-8d886c3671fc"/>
          <p:cNvSpPr/>
          <p:nvPr/>
        </p:nvSpPr>
        <p:spPr>
          <a:xfrm>
            <a:off x="4286250" y="1177290"/>
            <a:ext cx="4572000" cy="124358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Um único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testa apenas duas saídas (Verdadeiro ou Falso). Para classificar três ou mais cenários, colocamos uma função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dentro de outra.</a:t>
            </a:r>
            <a:endParaRPr lang="en-US" sz="1264" dirty="0"/>
          </a:p>
        </p:txBody>
      </p:sp>
      <p:sp>
        <p:nvSpPr>
          <p:cNvPr id="6" name="4c9cae03-b632-4f92-be0e-1e37d5a69ee0_card"/>
          <p:cNvSpPr/>
          <p:nvPr/>
        </p:nvSpPr>
        <p:spPr>
          <a:xfrm>
            <a:off x="4286250" y="2503170"/>
            <a:ext cx="4572000" cy="1807337"/>
          </a:xfrm>
          <a:prstGeom prst="roundRect">
            <a:avLst>
              <a:gd name="adj" fmla="val 5059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7" name="4c9cae03-b632-4f92-be0e-1e37d5a69ee0_emoji"/>
          <p:cNvSpPr/>
          <p:nvPr/>
        </p:nvSpPr>
        <p:spPr>
          <a:xfrm>
            <a:off x="4400550" y="265176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8" name="4c9cae03-b632-4f92-be0e-1e37d5a69ee0_text"/>
          <p:cNvSpPr/>
          <p:nvPr/>
        </p:nvSpPr>
        <p:spPr>
          <a:xfrm>
            <a:off x="4766310" y="2617470"/>
            <a:ext cx="3977640" cy="157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 de faixas de desconto:</a:t>
            </a:r>
            <a:endParaRPr lang="en-US" sz="1123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Venda ≥ 10.000: 15%</a:t>
            </a:r>
            <a:endParaRPr lang="en-US" sz="1123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Venda ≥ 5.000: 10%</a:t>
            </a:r>
            <a:endParaRPr lang="en-US" sz="1123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Outros valores: 0%</a:t>
            </a:r>
            <a:endParaRPr lang="en-US" sz="112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9a8dacc-1aae-4789-a9e7-3d6806783984" descr="/home/forge/chalkie-production-workers-1/releases/77481629/backend/storage/app/render-specs/4924aa3c-fe77-4d3e-a3a8-c48009c29c46/img_57b28d6597195dd6e23f874b1ab213b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828800"/>
          </a:xfrm>
          <a:prstGeom prst="roundRect">
            <a:avLst>
              <a:gd name="adj" fmla="val 7500"/>
            </a:avLst>
          </a:prstGeom>
        </p:spPr>
      </p:pic>
      <p:sp>
        <p:nvSpPr>
          <p:cNvPr id="3" name="0edb0224-8884-49bd-b678-3f1fd77c0ed1"/>
          <p:cNvSpPr/>
          <p:nvPr/>
        </p:nvSpPr>
        <p:spPr>
          <a:xfrm>
            <a:off x="285750" y="204597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Construindo o SE Aninhado</a:t>
            </a:r>
            <a:endParaRPr lang="en-US" sz="2246" dirty="0"/>
          </a:p>
        </p:txBody>
      </p:sp>
      <p:sp>
        <p:nvSpPr>
          <p:cNvPr id="4" name="e9a5e802-a97f-463c-baf7-230707f91d01"/>
          <p:cNvSpPr/>
          <p:nvPr/>
        </p:nvSpPr>
        <p:spPr>
          <a:xfrm>
            <a:off x="285750" y="2674620"/>
            <a:ext cx="8572500" cy="66751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Veja a sintaxe estruturada para classificação de metas de desempenho na gestão comercial:</a:t>
            </a:r>
            <a:endParaRPr lang="en-US" sz="1264" dirty="0"/>
          </a:p>
        </p:txBody>
      </p:sp>
      <p:sp>
        <p:nvSpPr>
          <p:cNvPr id="5" name="865a5e71-aeb9-471a-990c-186e73796589_card"/>
          <p:cNvSpPr/>
          <p:nvPr/>
        </p:nvSpPr>
        <p:spPr>
          <a:xfrm>
            <a:off x="285750" y="3486150"/>
            <a:ext cx="8572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6" name="865a5e71-aeb9-471a-990c-186e73796589_emoji"/>
          <p:cNvSpPr/>
          <p:nvPr/>
        </p:nvSpPr>
        <p:spPr>
          <a:xfrm>
            <a:off x="400050" y="36347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7" name="865a5e71-aeb9-471a-990c-186e73796589_text"/>
          <p:cNvSpPr/>
          <p:nvPr/>
        </p:nvSpPr>
        <p:spPr>
          <a:xfrm>
            <a:off x="765810" y="3600450"/>
            <a:ext cx="7978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Sempre ordene os testes em sequência lógica (do maior para o menor) para que as condições não se anulem.</a:t>
            </a:r>
            <a:endParaRPr lang="en-US" sz="112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23bbfe7-a347-4a07-8770-11cfe539a79b" descr="/home/forge/chalkie-production-workers-1/releases/77481629/backend/storage/app/render-specs/4924aa3c-fe77-4d3e-a3a8-c48009c29c46/img_91221d4388593de01ebaba6e16702c8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35577e6-a64e-4829-b733-90bec213fb1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Agregação: Função CONT.SE</a:t>
            </a:r>
            <a:endParaRPr lang="en-US" sz="2246" dirty="0"/>
          </a:p>
        </p:txBody>
      </p:sp>
      <p:sp>
        <p:nvSpPr>
          <p:cNvPr id="4" name="d1c71e36-9be9-4d39-b870-6e13a882e22d"/>
          <p:cNvSpPr/>
          <p:nvPr/>
        </p:nvSpPr>
        <p:spPr>
          <a:xfrm>
            <a:off x="285750" y="868680"/>
            <a:ext cx="252603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AGREGAÇÃO DE DADOS</a:t>
            </a:r>
            <a:endParaRPr lang="en-US" sz="842" dirty="0"/>
          </a:p>
        </p:txBody>
      </p:sp>
      <p:sp>
        <p:nvSpPr>
          <p:cNvPr id="5" name="c7d23d9a-d95b-4b6a-9881-6bc2466d48ca"/>
          <p:cNvSpPr/>
          <p:nvPr/>
        </p:nvSpPr>
        <p:spPr>
          <a:xfrm>
            <a:off x="2857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CONT.SE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conta quantas células atendem a um critério específico pré-estabelecido.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Ela evita contagens manuais propensas a erros em cadastros volumosos.</a:t>
            </a:r>
            <a:endParaRPr lang="en-US" sz="1264" dirty="0"/>
          </a:p>
        </p:txBody>
      </p:sp>
      <p:sp>
        <p:nvSpPr>
          <p:cNvPr id="6" name="cafcded3-6b9f-4c91-a43c-2d96edf4ac62_card"/>
          <p:cNvSpPr/>
          <p:nvPr/>
        </p:nvSpPr>
        <p:spPr>
          <a:xfrm>
            <a:off x="285750" y="2823210"/>
            <a:ext cx="4572000" cy="1704467"/>
          </a:xfrm>
          <a:prstGeom prst="roundRect">
            <a:avLst>
              <a:gd name="adj" fmla="val 5365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cafcded3-6b9f-4c91-a43c-2d96edf4ac62_emoji"/>
          <p:cNvSpPr/>
          <p:nvPr/>
        </p:nvSpPr>
        <p:spPr>
          <a:xfrm>
            <a:off x="400050" y="29718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cafcded3-6b9f-4c91-a43c-2d96edf4ac62_text"/>
          <p:cNvSpPr/>
          <p:nvPr/>
        </p:nvSpPr>
        <p:spPr>
          <a:xfrm>
            <a:off x="765810" y="2937510"/>
            <a:ext cx="3977640" cy="1475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Sintaxe: =CONT.SE(intervalo; critérios)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Exemplo: =CONT.SE(C2:C100; "Concluído")</a:t>
            </a:r>
            <a:endParaRPr lang="en-US" sz="112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01cb9e4-ace4-4e4e-8d8c-d1dd97753ae4"/>
          <p:cNvSpPr/>
          <p:nvPr/>
        </p:nvSpPr>
        <p:spPr>
          <a:xfrm>
            <a:off x="285750" y="152019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3" name="ad35fdf0-421f-45da-a5cf-eb7792200937"/>
          <p:cNvSpPr/>
          <p:nvPr/>
        </p:nvSpPr>
        <p:spPr>
          <a:xfrm>
            <a:off x="285750" y="230886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4" name="b3e3e645-d485-4297-b813-f6d5ae374e02"/>
          <p:cNvSpPr/>
          <p:nvPr/>
        </p:nvSpPr>
        <p:spPr>
          <a:xfrm>
            <a:off x="285750" y="309753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5" name="bf8043b1-21eb-4a0a-a217-814830e73ba8"/>
          <p:cNvSpPr/>
          <p:nvPr/>
        </p:nvSpPr>
        <p:spPr>
          <a:xfrm>
            <a:off x="285750" y="3886200"/>
            <a:ext cx="8572500" cy="674370"/>
          </a:xfrm>
          <a:prstGeom prst="roundRect">
            <a:avLst/>
          </a:prstGeom>
          <a:solidFill>
            <a:srgbClr val="FFFFFF">
              <a:alpha val="10196"/>
            </a:srgbClr>
          </a:solidFill>
          <a:ln w="11430">
            <a:solidFill>
              <a:srgbClr val="7EB5A6"/>
            </a:solidFill>
            <a:prstDash val="solid"/>
          </a:ln>
        </p:spPr>
      </p:sp>
      <p:sp>
        <p:nvSpPr>
          <p:cNvPr id="6" name="1478e848-0f17-41c9-83a0-17ed7d0e7a5b"/>
          <p:cNvSpPr/>
          <p:nvPr/>
        </p:nvSpPr>
        <p:spPr>
          <a:xfrm>
            <a:off x="285750" y="33147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Exemplos de Critérios no CONT.SE</a:t>
            </a:r>
            <a:endParaRPr lang="en-US" sz="2246" dirty="0"/>
          </a:p>
        </p:txBody>
      </p:sp>
      <p:sp>
        <p:nvSpPr>
          <p:cNvPr id="7" name="9d6a659e-9b49-4acd-9337-98ec2464c33d"/>
          <p:cNvSpPr/>
          <p:nvPr/>
        </p:nvSpPr>
        <p:spPr>
          <a:xfrm>
            <a:off x="285750" y="960120"/>
            <a:ext cx="85725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Critérios do CONT.SE aceitam textos e operadores matemáticos:</a:t>
            </a:r>
            <a:endParaRPr lang="en-US" sz="1264" dirty="0"/>
          </a:p>
        </p:txBody>
      </p:sp>
      <p:sp>
        <p:nvSpPr>
          <p:cNvPr id="8" name="fdca04fe-51ee-4e45-b7ed-ec467b2b3ad1"/>
          <p:cNvSpPr/>
          <p:nvPr/>
        </p:nvSpPr>
        <p:spPr>
          <a:xfrm>
            <a:off x="400050" y="1634490"/>
            <a:ext cx="8343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Texto Exato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conta vendas na região.</a:t>
            </a:r>
            <a:endParaRPr lang="en-US" sz="1264" dirty="0"/>
          </a:p>
        </p:txBody>
      </p:sp>
      <p:sp>
        <p:nvSpPr>
          <p:cNvPr id="9" name="8773c9f3-88f0-4ca5-b4b1-74f6cbb7c250"/>
          <p:cNvSpPr/>
          <p:nvPr/>
        </p:nvSpPr>
        <p:spPr>
          <a:xfrm>
            <a:off x="400050" y="2423160"/>
            <a:ext cx="8343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Maior que Zero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conta itens com saldo.</a:t>
            </a:r>
            <a:endParaRPr lang="en-US" sz="1264" dirty="0"/>
          </a:p>
        </p:txBody>
      </p:sp>
      <p:sp>
        <p:nvSpPr>
          <p:cNvPr id="10" name="f36eedc2-9daf-4770-b5ce-61be11ca9739"/>
          <p:cNvSpPr/>
          <p:nvPr/>
        </p:nvSpPr>
        <p:spPr>
          <a:xfrm>
            <a:off x="400050" y="3211830"/>
            <a:ext cx="8343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Acima da Média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localiza pedidos grandes.</a:t>
            </a:r>
            <a:endParaRPr lang="en-US" sz="1264" dirty="0"/>
          </a:p>
        </p:txBody>
      </p:sp>
      <p:sp>
        <p:nvSpPr>
          <p:cNvPr id="11" name="0c442915-1dee-4c63-8eaf-9d4ba505805f"/>
          <p:cNvSpPr/>
          <p:nvPr/>
        </p:nvSpPr>
        <p:spPr>
          <a:xfrm>
            <a:off x="400050" y="4000500"/>
            <a:ext cx="8343900" cy="37947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Diferente de Vazio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: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conta cadastros preenchidos.</a:t>
            </a:r>
            <a:endParaRPr lang="en-US" sz="1264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17f3306-faaf-48ec-98b8-98a32f04a687" descr="/home/forge/chalkie-production-workers-1/releases/77481629/backend/storage/app/render-specs/4924aa3c-fe77-4d3e-a3a8-c48009c29c46/img_39a704cc262af7cecac3c71947078da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b966d78c-ab37-4ed5-aff2-63ffc42fd89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Consolidação: Função SOMASE</a:t>
            </a:r>
            <a:endParaRPr lang="en-US" sz="2246" dirty="0"/>
          </a:p>
        </p:txBody>
      </p:sp>
      <p:sp>
        <p:nvSpPr>
          <p:cNvPr id="4" name="e2c4f671-4845-4b22-a2a3-b5fdb12f2eba"/>
          <p:cNvSpPr/>
          <p:nvPr/>
        </p:nvSpPr>
        <p:spPr>
          <a:xfrm>
            <a:off x="4286250" y="868680"/>
            <a:ext cx="252603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AGREGAÇÃO DE DADOS</a:t>
            </a:r>
            <a:endParaRPr lang="en-US" sz="842" dirty="0"/>
          </a:p>
        </p:txBody>
      </p:sp>
      <p:sp>
        <p:nvSpPr>
          <p:cNvPr id="5" name="429f7b79-f992-47e6-8c75-0dd1cdd170ee"/>
          <p:cNvSpPr/>
          <p:nvPr/>
        </p:nvSpPr>
        <p:spPr>
          <a:xfrm>
            <a:off x="4286250" y="1177290"/>
            <a:ext cx="4572000" cy="15316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função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SOMASE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soma valores numéricos apenas das linhas que atendem a uma condição determinada.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É a base para demonstrativos financeiros e relatórios de vendas por filial.</a:t>
            </a:r>
            <a:endParaRPr lang="en-US" sz="1264" dirty="0"/>
          </a:p>
        </p:txBody>
      </p:sp>
      <p:sp>
        <p:nvSpPr>
          <p:cNvPr id="6" name="db6425d8-ee62-415b-a316-bf8a216c8879_card"/>
          <p:cNvSpPr/>
          <p:nvPr/>
        </p:nvSpPr>
        <p:spPr>
          <a:xfrm>
            <a:off x="4286250" y="2823210"/>
            <a:ext cx="45720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db6425d8-ee62-415b-a316-bf8a216c8879_emoji"/>
          <p:cNvSpPr/>
          <p:nvPr/>
        </p:nvSpPr>
        <p:spPr>
          <a:xfrm>
            <a:off x="4400550" y="297180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db6425d8-ee62-415b-a316-bf8a216c8879_text"/>
          <p:cNvSpPr/>
          <p:nvPr/>
        </p:nvSpPr>
        <p:spPr>
          <a:xfrm>
            <a:off x="4766310" y="2937510"/>
            <a:ext cx="39776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Sintaxe: =SOMASE(intervalo_critério; critérios; [intervalo_soma])</a:t>
            </a:r>
            <a:endParaRPr lang="en-US" sz="112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1a3c62f-571a-48f4-a062-c1611abd542d"/>
          <p:cNvSpPr/>
          <p:nvPr/>
        </p:nvSpPr>
        <p:spPr>
          <a:xfrm>
            <a:off x="285750" y="61722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Comparando CONT.SE e SOMASE</a:t>
            </a:r>
            <a:endParaRPr lang="en-US" sz="2246" dirty="0"/>
          </a:p>
        </p:txBody>
      </p:sp>
      <p:sp>
        <p:nvSpPr>
          <p:cNvPr id="3" name="30b0f07b-36a9-48cb-b752-abb447e02826"/>
          <p:cNvSpPr/>
          <p:nvPr/>
        </p:nvSpPr>
        <p:spPr>
          <a:xfrm>
            <a:off x="285750" y="124587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CONT.SE (Frequência)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Responde à pergunta: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Quantas vezes?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Ideal para contar número de notas fiscais emitidas, clientes ativos ou produtos devolvidos.</a:t>
            </a:r>
            <a:endParaRPr lang="en-US" sz="1544" dirty="0"/>
          </a:p>
        </p:txBody>
      </p:sp>
      <p:sp>
        <p:nvSpPr>
          <p:cNvPr id="4" name="faeca696-f89d-43a1-b31b-732510754846_card"/>
          <p:cNvSpPr/>
          <p:nvPr/>
        </p:nvSpPr>
        <p:spPr>
          <a:xfrm>
            <a:off x="285750" y="301752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5" name="faeca696-f89d-43a1-b31b-732510754846_emoji"/>
          <p:cNvSpPr/>
          <p:nvPr/>
        </p:nvSpPr>
        <p:spPr>
          <a:xfrm>
            <a:off x="400050" y="31661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6" name="faeca696-f89d-43a1-b31b-732510754846_text"/>
          <p:cNvSpPr/>
          <p:nvPr/>
        </p:nvSpPr>
        <p:spPr>
          <a:xfrm>
            <a:off x="765810" y="313182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=CONT.SE(Região; "Sul") → Retorna 42 pedidos realizados.</a:t>
            </a:r>
            <a:endParaRPr lang="en-US" sz="1123" dirty="0"/>
          </a:p>
        </p:txBody>
      </p:sp>
      <p:sp>
        <p:nvSpPr>
          <p:cNvPr id="7" name="014b27a2-2047-4e1c-9d89-f61c59c0cfee"/>
          <p:cNvSpPr/>
          <p:nvPr/>
        </p:nvSpPr>
        <p:spPr>
          <a:xfrm>
            <a:off x="4652010" y="1245870"/>
            <a:ext cx="4194810" cy="18516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SOMASE (Volume Financeiro)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Responde à pergunta: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Quanto gerou?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Ideal para acumular receita total, volume de despesas ou peso total de itens expedidos.</a:t>
            </a:r>
            <a:endParaRPr lang="en-US" sz="1544" dirty="0"/>
          </a:p>
        </p:txBody>
      </p:sp>
      <p:sp>
        <p:nvSpPr>
          <p:cNvPr id="8" name="51136d70-c246-48f0-b0fe-d8dff41f8fdc_card"/>
          <p:cNvSpPr/>
          <p:nvPr/>
        </p:nvSpPr>
        <p:spPr>
          <a:xfrm>
            <a:off x="4652010" y="3017520"/>
            <a:ext cx="4194810" cy="1125601"/>
          </a:xfrm>
          <a:prstGeom prst="roundRect">
            <a:avLst>
              <a:gd name="adj" fmla="val 8124"/>
            </a:avLst>
          </a:prstGeom>
          <a:solidFill>
            <a:srgbClr val="5AC8A5">
              <a:alpha val="14902"/>
            </a:srgbClr>
          </a:solidFill>
          <a:ln w="11430">
            <a:solidFill>
              <a:srgbClr val="084D36">
                <a:alpha val="20000"/>
              </a:srgbClr>
            </a:solidFill>
            <a:prstDash val="solid"/>
          </a:ln>
        </p:spPr>
      </p:sp>
      <p:sp>
        <p:nvSpPr>
          <p:cNvPr id="9" name="51136d70-c246-48f0-b0fe-d8dff41f8fdc_emoji"/>
          <p:cNvSpPr/>
          <p:nvPr/>
        </p:nvSpPr>
        <p:spPr>
          <a:xfrm>
            <a:off x="4766310" y="316611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🔍</a:t>
            </a:r>
            <a:endParaRPr lang="en-US" sz="2160" dirty="0"/>
          </a:p>
        </p:txBody>
      </p:sp>
      <p:sp>
        <p:nvSpPr>
          <p:cNvPr id="10" name="51136d70-c246-48f0-b0fe-d8dff41f8fdc_text"/>
          <p:cNvSpPr/>
          <p:nvPr/>
        </p:nvSpPr>
        <p:spPr>
          <a:xfrm>
            <a:off x="5132070" y="3131820"/>
            <a:ext cx="360045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Exemplo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9FE1CB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=SOMASE(Região; "Sul"; Faturamento) → Retorna R$ 85.000.</a:t>
            </a:r>
            <a:endParaRPr lang="en-US" sz="1123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315b13a-7669-4a43-98c9-5ca36ef52a92" descr="/home/forge/chalkie-production-workers-1/releases/77481629/backend/storage/app/render-specs/4924aa3c-fe77-4d3e-a3a8-c48009c29c46/img_904f4965a6dccd3d739c15e7b944b96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708a2d40-90cd-4b2b-abcd-8416bac1813e"/>
          <p:cNvSpPr/>
          <p:nvPr/>
        </p:nvSpPr>
        <p:spPr>
          <a:xfrm>
            <a:off x="285750" y="166878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Casos Práticos no Mercado</a:t>
            </a:r>
            <a:endParaRPr lang="en-US" sz="2246" dirty="0"/>
          </a:p>
        </p:txBody>
      </p:sp>
      <p:sp>
        <p:nvSpPr>
          <p:cNvPr id="4" name="8cde7bb8-2447-4097-b916-d57e5c5babe8"/>
          <p:cNvSpPr/>
          <p:nvPr/>
        </p:nvSpPr>
        <p:spPr>
          <a:xfrm>
            <a:off x="285750" y="2297430"/>
            <a:ext cx="5143500" cy="9555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Grandes redes varejistas utilizam exatamente essas funções para cruzar cadastros de clientes com cupons fiscais diariamente.</a:t>
            </a:r>
            <a:endParaRPr lang="en-US" sz="1264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35419e1-134b-48fa-8448-01bb00cf1db4" descr="/home/forge/chalkie-production-workers-1/releases/77481629/backend/storage/app/render-specs/4924aa3c-fe77-4d3e-a3a8-c48009c29c46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3" name="026edef1-bdb1-4d69-a138-68bfbf9c5bc8" descr="/home/forge/chalkie-production-workers-1/releases/77481629/backend/storage/app/render-specs/4924aa3c-fe77-4d3e-a3a8-c48009c29c46/img_eeb7810cd2b9b6f80c74e1f6dce8d53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4" name="559647b1-b646-4f11-a1ab-1d03733bede7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 1: Cruzando Cadastros</a:t>
            </a:r>
            <a:endParaRPr lang="en-US" sz="2246" dirty="0"/>
          </a:p>
        </p:txBody>
      </p:sp>
      <p:sp>
        <p:nvSpPr>
          <p:cNvPr id="5" name="14219453-fd70-41e2-8055-ac64cb0c4608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preencher o Preço_Unit na célula D2: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=SEERRO(PROCV(B2; 'Base Produtos'!$G:$I; 3; 0); 0)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Esta fórmula busca o ID_Produto (B2) na base de produtos, retornando a coluna 3 (Preço_Tabela). O parâmetro 0 garante busca exata, e SEERRO retorna 0 caso não encontre o item.</a:t>
            </a:r>
            <a:endParaRPr lang="en-US" sz="1264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73185ebb-cd89-42c9-840e-f28841377c44" descr="/home/forge/chalkie-production-workers-1/releases/77481629/backend/storage/app/render-specs/4924aa3c-fe77-4d3e-a3a8-c48009c29c46/img_7677b11f73f7cfab11e8b2dce8a98bb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00100"/>
            <a:ext cx="3829050" cy="4057650"/>
          </a:xfrm>
          <a:prstGeom prst="roundRect">
            <a:avLst>
              <a:gd name="adj" fmla="val 3582"/>
            </a:avLst>
          </a:prstGeom>
        </p:spPr>
      </p:pic>
      <p:sp>
        <p:nvSpPr>
          <p:cNvPr id="3" name="d317e857-e41b-4928-a319-a5f454929c58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Solução: Prática 1</a:t>
            </a:r>
            <a:endParaRPr lang="en-US" sz="2246" dirty="0"/>
          </a:p>
        </p:txBody>
      </p:sp>
      <p:sp>
        <p:nvSpPr>
          <p:cNvPr id="4" name="45fb089b-fd93-43b1-a8be-cec8db903064"/>
          <p:cNvSpPr/>
          <p:nvPr/>
        </p:nvSpPr>
        <p:spPr>
          <a:xfrm>
            <a:off x="4286250" y="868680"/>
            <a:ext cx="192024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ESTUDO DE CASO</a:t>
            </a:r>
            <a:endParaRPr lang="en-US" sz="842" dirty="0"/>
          </a:p>
        </p:txBody>
      </p:sp>
      <p:sp>
        <p:nvSpPr>
          <p:cNvPr id="5" name="39206518-0016-44af-aeef-1a8023fe5679"/>
          <p:cNvSpPr/>
          <p:nvPr/>
        </p:nvSpPr>
        <p:spPr>
          <a:xfrm>
            <a:off x="4286250" y="1177290"/>
            <a:ext cx="4572000" cy="11475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Análise da Fórmula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 solução profissional combina a busca exata com o tratamento preventivo de dados:</a:t>
            </a:r>
            <a:endParaRPr lang="en-US" sz="1544" dirty="0"/>
          </a:p>
        </p:txBody>
      </p:sp>
      <p:sp>
        <p:nvSpPr>
          <p:cNvPr id="6" name="9169a816-cd6d-4a8b-aacc-8241937a2b51_card"/>
          <p:cNvSpPr/>
          <p:nvPr/>
        </p:nvSpPr>
        <p:spPr>
          <a:xfrm>
            <a:off x="4286250" y="2628900"/>
            <a:ext cx="457200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7" name="9169a816-cd6d-4a8b-aacc-8241937a2b51_emoji"/>
          <p:cNvSpPr/>
          <p:nvPr/>
        </p:nvSpPr>
        <p:spPr>
          <a:xfrm>
            <a:off x="4400550" y="27774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8" name="9169a816-cd6d-4a8b-aacc-8241937a2b51_text"/>
          <p:cNvSpPr/>
          <p:nvPr/>
        </p:nvSpPr>
        <p:spPr>
          <a:xfrm>
            <a:off x="4766310" y="2743200"/>
            <a:ext cx="3977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Retornar 0 em vez de texto permite que a coluna Total (=C2*D2) continue calculando sem quebrar a planilha.</a:t>
            </a:r>
            <a:endParaRPr lang="en-US" sz="1123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17bf531-6ad5-4395-a211-f228f67c943e" descr="/home/forge/chalkie-production-workers-1/releases/77481629/backend/storage/app/render-specs/4924aa3c-fe77-4d3e-a3a8-c48009c29c46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3" name="0d347d77-478e-46e5-9684-a72ff1e4cc45" descr="/home/forge/chalkie-production-workers-1/releases/77481629/backend/storage/app/render-specs/4924aa3c-fe77-4d3e-a3a8-c48009c29c46/img_36a537731dca9b1fd0dff6dcd3ceb231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4" name="68e429df-34b4-407b-9e10-87bec3b42613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 2: Análise por Categoria</a:t>
            </a:r>
            <a:endParaRPr lang="en-US" sz="2246" dirty="0"/>
          </a:p>
        </p:txBody>
      </p:sp>
      <p:sp>
        <p:nvSpPr>
          <p:cNvPr id="5" name="6c2e4462-eb2a-48b9-8202-93576b4ce5cf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Distribuidora de alimentos: análise de faturamento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Coluna C: Categoria | Coluna E: Valor Total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Contar transações de "Bebidas":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=CONT.SE(C:C; "Bebidas")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Receita total de "Laticínios":</a:t>
            </a:r>
            <a:endParaRPr lang="en-US" sz="126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=SOMASE(C:C; "Laticínios"; E:E)</a:t>
            </a:r>
            <a:endParaRPr lang="en-US" sz="1264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da31507-f162-4d46-90bd-9e44f1c13503"/>
          <p:cNvSpPr/>
          <p:nvPr/>
        </p:nvSpPr>
        <p:spPr>
          <a:xfrm>
            <a:off x="285750" y="52578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Solução: Prática 2</a:t>
            </a:r>
            <a:endParaRPr lang="en-US" sz="2246" dirty="0"/>
          </a:p>
        </p:txBody>
      </p:sp>
      <p:sp>
        <p:nvSpPr>
          <p:cNvPr id="3" name="76655fae-0eb9-4677-819e-b4de740d8fa8"/>
          <p:cNvSpPr/>
          <p:nvPr/>
        </p:nvSpPr>
        <p:spPr>
          <a:xfrm>
            <a:off x="285750" y="115443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1. Contagem de Vendas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Excel verifica linha por linha no intervalo C2:C200 e incrementa o contador cada vez que encontra o termo.</a:t>
            </a:r>
            <a:endParaRPr lang="en-US" sz="1544" dirty="0"/>
          </a:p>
        </p:txBody>
      </p:sp>
      <p:sp>
        <p:nvSpPr>
          <p:cNvPr id="4" name="bb84646b-b84d-4848-a021-f395e7e2a946_card"/>
          <p:cNvSpPr/>
          <p:nvPr/>
        </p:nvSpPr>
        <p:spPr>
          <a:xfrm>
            <a:off x="285750" y="285750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5" name="bb84646b-b84d-4848-a021-f395e7e2a946_emoji"/>
          <p:cNvSpPr/>
          <p:nvPr/>
        </p:nvSpPr>
        <p:spPr>
          <a:xfrm>
            <a:off x="400050" y="300609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6" name="bb84646b-b84d-4848-a021-f395e7e2a946_text"/>
          <p:cNvSpPr/>
          <p:nvPr/>
        </p:nvSpPr>
        <p:spPr>
          <a:xfrm>
            <a:off x="765810" y="2971800"/>
            <a:ext cx="360045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critério entre aspas garante que o Excel procure exatamente o texto.</a:t>
            </a:r>
            <a:endParaRPr lang="en-US" sz="1123" dirty="0"/>
          </a:p>
        </p:txBody>
      </p:sp>
      <p:sp>
        <p:nvSpPr>
          <p:cNvPr id="7" name="51fc4c44-74c4-4c4d-bd38-b1621e235c79"/>
          <p:cNvSpPr/>
          <p:nvPr/>
        </p:nvSpPr>
        <p:spPr>
          <a:xfrm>
            <a:off x="4652010" y="1154430"/>
            <a:ext cx="4194810" cy="149961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2. Receita de Laticínios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 critério é testado na coluna de categorias (C), mas o somatório é aplicado na coluna de valores (E).</a:t>
            </a:r>
            <a:endParaRPr lang="en-US" sz="1544" dirty="0"/>
          </a:p>
        </p:txBody>
      </p:sp>
      <p:sp>
        <p:nvSpPr>
          <p:cNvPr id="8" name="9a25b2ac-82a5-440f-8ff1-f70756fbe199_card"/>
          <p:cNvSpPr/>
          <p:nvPr/>
        </p:nvSpPr>
        <p:spPr>
          <a:xfrm>
            <a:off x="4652010" y="2606040"/>
            <a:ext cx="4194810" cy="1380744"/>
          </a:xfrm>
          <a:prstGeom prst="roundRect">
            <a:avLst>
              <a:gd name="adj" fmla="val 6623"/>
            </a:avLst>
          </a:prstGeom>
          <a:solidFill>
            <a:srgbClr val="FAC873">
              <a:alpha val="14902"/>
            </a:srgbClr>
          </a:solidFill>
          <a:ln w="11430">
            <a:solidFill>
              <a:srgbClr val="573B06">
                <a:alpha val="20000"/>
              </a:srgbClr>
            </a:solidFill>
            <a:prstDash val="solid"/>
          </a:ln>
        </p:spPr>
      </p:sp>
      <p:sp>
        <p:nvSpPr>
          <p:cNvPr id="9" name="9a25b2ac-82a5-440f-8ff1-f70756fbe199_emoji"/>
          <p:cNvSpPr/>
          <p:nvPr/>
        </p:nvSpPr>
        <p:spPr>
          <a:xfrm>
            <a:off x="4766310" y="275463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🔑</a:t>
            </a:r>
            <a:endParaRPr lang="en-US" sz="2160" dirty="0"/>
          </a:p>
        </p:txBody>
      </p:sp>
      <p:sp>
        <p:nvSpPr>
          <p:cNvPr id="10" name="9a25b2ac-82a5-440f-8ff1-f70756fbe199_text"/>
          <p:cNvSpPr/>
          <p:nvPr/>
        </p:nvSpPr>
        <p:spPr>
          <a:xfrm>
            <a:off x="5132070" y="2720340"/>
            <a:ext cx="360045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Ponto-chave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FAC775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Os intervalos de critério e de soma precisam ter o mesmo número de linhas.</a:t>
            </a:r>
            <a:endParaRPr lang="en-US" sz="1123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92613f-b3f9-450c-add8-50d5093623bc" descr="/home/forge/chalkie-production-workers-1/releases/77481629/backend/storage/app/render-specs/4924aa3c-fe77-4d3e-a3a8-c48009c29c46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pic>
        <p:nvPicPr>
          <p:cNvPr id="3" name="a0f6d429-e0bb-4f4e-9af1-2b3095438c7b" descr="/home/forge/chalkie-production-workers-1/releases/77481629/backend/storage/app/render-specs/4924aa3c-fe77-4d3e-a3a8-c48009c29c46/img_e4f2621fe73a9da8a0517041634dbab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" y="1657350"/>
            <a:ext cx="2834640" cy="2194560"/>
          </a:xfrm>
          <a:prstGeom prst="roundRect">
            <a:avLst>
              <a:gd name="adj" fmla="val 6250"/>
            </a:avLst>
          </a:prstGeom>
        </p:spPr>
      </p:pic>
      <p:sp>
        <p:nvSpPr>
          <p:cNvPr id="4" name="b9072ce6-4c2d-49ed-9884-6efe1e96f6f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Discussão: PROCV ou ÍNDICE?</a:t>
            </a:r>
            <a:endParaRPr lang="en-US" sz="2246" dirty="0"/>
          </a:p>
        </p:txBody>
      </p:sp>
      <p:sp>
        <p:nvSpPr>
          <p:cNvPr id="5" name="34a8daec-4bd1-4f06-a566-5bfdbbda163d"/>
          <p:cNvSpPr/>
          <p:nvPr/>
        </p:nvSpPr>
        <p:spPr>
          <a:xfrm>
            <a:off x="4297680" y="1828800"/>
            <a:ext cx="37261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que situações em um ambiente empresarial você recomendaria abandonar o PROCV e adotar definitivamente a dupla ÍNDICE + CORRESPONDÊNCIA?</a:t>
            </a:r>
            <a:endParaRPr lang="en-US" sz="1264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a92613f-b3f9-450c-add8-50d5093623bc" descr="/home/forge/chalkie-production-workers-1/releases/77481629/backend/storage/app/render-specs/4924aa3c-fe77-4d3e-a3a8-c48009c29c46/img_88f2cf22d50efe57d124336ea25cb3a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651510"/>
            <a:ext cx="8332470" cy="4309110"/>
          </a:xfrm>
          <a:prstGeom prst="roundRect">
            <a:avLst>
              <a:gd name="adj" fmla="val 3183"/>
            </a:avLst>
          </a:prstGeom>
        </p:spPr>
      </p:pic>
      <p:sp>
        <p:nvSpPr>
          <p:cNvPr id="3" name="b9072ce6-4c2d-49ed-9884-6efe1e96f6f0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Discussão: PROCV ou ÍNDICE?</a:t>
            </a:r>
            <a:endParaRPr lang="en-US" sz="2246" dirty="0"/>
          </a:p>
        </p:txBody>
      </p:sp>
      <p:sp>
        <p:nvSpPr>
          <p:cNvPr id="4" name="2e8fe039-1707-4a32-a3cb-d9aa8c6900e7"/>
          <p:cNvSpPr/>
          <p:nvPr/>
        </p:nvSpPr>
        <p:spPr>
          <a:xfrm>
            <a:off x="982980" y="1657350"/>
            <a:ext cx="7040880" cy="19888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poderia ter dito...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Quando a coluna pesquisada estiver à direita do resultado.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Em bases grandes, onde inserir colunas quebra o índice do PROCV.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consultas bidirecionais em linhas e colunas.</a:t>
            </a:r>
            <a:endParaRPr lang="en-US" sz="1264" dirty="0"/>
          </a:p>
          <a:p>
            <a:pPr algn="ctr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Para maior velocidade em planilhas com milhares de linhas.</a:t>
            </a:r>
            <a:endParaRPr lang="en-US" sz="1264" dirty="0"/>
          </a:p>
        </p:txBody>
      </p:sp>
      <p:sp>
        <p:nvSpPr>
          <p:cNvPr id="5" name="fae31684-2ad6-4f3f-8402-a984ac53f59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r" indent="0" marL="0">
              <a:lnSpc>
                <a:spcPts val="4464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808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✅</a:t>
            </a:r>
            <a:endParaRPr lang="en-US" sz="2808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81239922-8639-4a01-b566-23ef806da03d" descr="/home/forge/chalkie-production-workers-1/releases/77481629/backend/storage/app/render-specs/4924aa3c-fe77-4d3e-a3a8-c48009c29c46/img_b8e2e30cbb6ba10a8acb00af0ff4be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oundRect">
            <a:avLst>
              <a:gd name="adj" fmla="val 2667"/>
            </a:avLst>
          </a:prstGeom>
        </p:spPr>
      </p:pic>
      <p:pic>
        <p:nvPicPr>
          <p:cNvPr id="3" name="51b77874-a441-4b12-83ac-c4850b0b7700" descr="/home/forge/chalkie-production-workers-1/releases/77481629/backend/storage/app/render-specs/4924aa3c-fe77-4d3e-a3a8-c48009c29c46/img_c63d79b9b405e20639144325fd6ea47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908810"/>
            <a:ext cx="2697480" cy="2331720"/>
          </a:xfrm>
          <a:prstGeom prst="roundRect">
            <a:avLst>
              <a:gd name="adj" fmla="val 5882"/>
            </a:avLst>
          </a:prstGeom>
        </p:spPr>
      </p:pic>
      <p:sp>
        <p:nvSpPr>
          <p:cNvPr id="4" name="7c947b45-3818-409d-bd7e-028d1fb1aabc"/>
          <p:cNvSpPr/>
          <p:nvPr/>
        </p:nvSpPr>
        <p:spPr>
          <a:xfrm>
            <a:off x="285750" y="171450"/>
            <a:ext cx="8572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Prática 3: Relatório Gerencial</a:t>
            </a:r>
            <a:endParaRPr lang="en-US" sz="2246" dirty="0"/>
          </a:p>
        </p:txBody>
      </p:sp>
      <p:sp>
        <p:nvSpPr>
          <p:cNvPr id="5" name="93dc503f-389a-4e05-8d66-a7f2c4e5db08"/>
          <p:cNvSpPr/>
          <p:nvPr/>
        </p:nvSpPr>
        <p:spPr>
          <a:xfrm>
            <a:off x="3806190" y="1440180"/>
            <a:ext cx="4194810" cy="31203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040F0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Você é responsável pelo fechamento mensal: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Base de estoque em A2:D100 (Cód, Item, Categoria, Saldo).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tabela resumo, use SE na coluna 'Status':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Saldo &lt; 10: "Crítico"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Saldo &lt;= 30: "Atenção"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Char char="•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Saldo &gt; 30: "Normal"</a:t>
            </a:r>
            <a:endParaRPr lang="en-US" sz="1264" dirty="0"/>
          </a:p>
          <a:p>
            <a:pPr algn="l" marL="228600" indent="-68580">
              <a:lnSpc>
                <a:spcPts val="2009"/>
              </a:lnSpc>
              <a:spcBef>
                <a:spcPts val="225"/>
              </a:spcBef>
              <a:spcAft>
                <a:spcPts val="225"/>
              </a:spcAft>
              <a:buSzPct val="100000"/>
              <a:buFont typeface="+mj-lt"/>
              <a:buAutoNum type="arabicPeriod" startAt="1"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Calcule o total "Crítico" com CONT.SE.</a:t>
            </a:r>
            <a:endParaRPr lang="en-US" sz="1264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35f40f2-4133-4658-a74c-41fba5878f3f" descr="/home/forge/chalkie-production-workers-1/releases/77481629/backend/storage/app/render-specs/4924aa3c-fe77-4d3e-a3a8-c48009c29c46/img_6108ed241feef8d28c9027f1ee7ce85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850" y="0"/>
            <a:ext cx="3486150" cy="5143500"/>
          </a:xfrm>
          <a:prstGeom prst="roundRect">
            <a:avLst>
              <a:gd name="adj" fmla="val 3934"/>
            </a:avLst>
          </a:prstGeom>
        </p:spPr>
      </p:pic>
      <p:sp>
        <p:nvSpPr>
          <p:cNvPr id="3" name="b9da2916-70d1-49e4-b447-5b7121dae3f3"/>
          <p:cNvSpPr/>
          <p:nvPr/>
        </p:nvSpPr>
        <p:spPr>
          <a:xfrm>
            <a:off x="285750" y="171450"/>
            <a:ext cx="5143500" cy="60350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3571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246" b="1" dirty="0">
                <a:solidFill>
                  <a:srgbClr val="E8C85A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Síntese e Próxima Aula</a:t>
            </a:r>
            <a:endParaRPr lang="en-US" sz="2246" dirty="0"/>
          </a:p>
        </p:txBody>
      </p:sp>
      <p:sp>
        <p:nvSpPr>
          <p:cNvPr id="4" name="bc713331-8a4e-4ece-b0d3-e50a73701d3b"/>
          <p:cNvSpPr/>
          <p:nvPr/>
        </p:nvSpPr>
        <p:spPr>
          <a:xfrm>
            <a:off x="285750" y="868680"/>
            <a:ext cx="1783080" cy="262890"/>
          </a:xfrm>
          <a:prstGeom prst="roundRect">
            <a:avLst>
              <a:gd name="adj" fmla="val 17391"/>
            </a:avLst>
          </a:prstGeom>
          <a:solidFill>
            <a:srgbClr val="7EB5A6"/>
          </a:solidFill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42" b="1" dirty="0">
                <a:solidFill>
                  <a:srgbClr val="FFFFF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ENCERRAMENTO</a:t>
            </a:r>
            <a:endParaRPr lang="en-US" sz="842" dirty="0"/>
          </a:p>
        </p:txBody>
      </p:sp>
      <p:sp>
        <p:nvSpPr>
          <p:cNvPr id="5" name="f67ff6e1-f9ea-4029-9cfb-a5d075da2331"/>
          <p:cNvSpPr/>
          <p:nvPr/>
        </p:nvSpPr>
        <p:spPr>
          <a:xfrm>
            <a:off x="285750" y="1177290"/>
            <a:ext cx="5143500" cy="25557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algn="l" indent="0" marL="0">
              <a:lnSpc>
                <a:spcPts val="2455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54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Habilidades Conquistadas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Hoje você aprendeu a cruzar dados com segurança, tratar erros de buscas e criar métricas de agregação condicionais para relatórios gerenciais.</a:t>
            </a:r>
            <a:endParaRPr lang="en-US" sz="1544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Na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Aula 6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, avançaremos para 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b="1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Tabelas Dinâmicas e Gráficos Interativos</a:t>
            </a:r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E8E4DF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 para transformar esses números em painéis executivos!</a:t>
            </a:r>
            <a:endParaRPr lang="en-US" sz="1544" dirty="0"/>
          </a:p>
        </p:txBody>
      </p:sp>
      <p:sp>
        <p:nvSpPr>
          <p:cNvPr id="6" name="3e4f4a3b-bd66-4048-9b3e-0bc73ce4aa55_card"/>
          <p:cNvSpPr/>
          <p:nvPr/>
        </p:nvSpPr>
        <p:spPr>
          <a:xfrm>
            <a:off x="285750" y="3714750"/>
            <a:ext cx="5143500" cy="1125601"/>
          </a:xfrm>
          <a:prstGeom prst="roundRect">
            <a:avLst>
              <a:gd name="adj" fmla="val 8124"/>
            </a:avLst>
          </a:prstGeom>
          <a:solidFill>
            <a:srgbClr val="82B4EB">
              <a:alpha val="14902"/>
            </a:srgbClr>
          </a:solidFill>
          <a:ln w="11430">
            <a:solidFill>
              <a:srgbClr val="0B2F50">
                <a:alpha val="20000"/>
              </a:srgbClr>
            </a:solidFill>
            <a:prstDash val="solid"/>
          </a:ln>
        </p:spPr>
      </p:sp>
      <p:sp>
        <p:nvSpPr>
          <p:cNvPr id="7" name="3e4f4a3b-bd66-4048-9b3e-0bc73ce4aa55_emoji"/>
          <p:cNvSpPr/>
          <p:nvPr/>
        </p:nvSpPr>
        <p:spPr>
          <a:xfrm>
            <a:off x="400050" y="3863340"/>
            <a:ext cx="36576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60" dirty="0">
                <a:solidFill>
                  <a:srgbClr val="000000"/>
                </a:solidFill>
              </a:rPr>
              <a:t>🧠</a:t>
            </a:r>
            <a:endParaRPr lang="en-US" sz="2160" dirty="0"/>
          </a:p>
        </p:txBody>
      </p:sp>
      <p:sp>
        <p:nvSpPr>
          <p:cNvPr id="8" name="3e4f4a3b-bd66-4048-9b3e-0bc73ce4aa55_text"/>
          <p:cNvSpPr/>
          <p:nvPr/>
        </p:nvSpPr>
        <p:spPr>
          <a:xfrm>
            <a:off x="765810" y="3829050"/>
            <a:ext cx="4549140" cy="897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6"/>
              </a:lnSpc>
              <a:spcBef>
                <a:spcPts val="270"/>
              </a:spcBef>
              <a:spcAft>
                <a:spcPts val="270"/>
              </a:spcAft>
              <a:buNone/>
            </a:pPr>
            <a:r>
              <a:rPr lang="en-US" sz="1123" b="1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Lembre-se</a:t>
            </a:r>
            <a:endParaRPr lang="en-US" sz="1123" dirty="0"/>
          </a:p>
          <a:p>
            <a:pPr algn="l" indent="0" marL="0">
              <a:lnSpc>
                <a:spcPts val="2009"/>
              </a:lnSpc>
              <a:spcBef>
                <a:spcPts val="360"/>
              </a:spcBef>
              <a:spcAft>
                <a:spcPts val="360"/>
              </a:spcAft>
              <a:buNone/>
            </a:pPr>
            <a:r>
              <a:rPr lang="en-US" sz="1264" dirty="0">
                <a:solidFill>
                  <a:srgbClr val="B5D4F4"/>
                </a:solidFill>
                <a:latin typeface="Dyslexie" pitchFamily="34" charset="0"/>
                <a:ea typeface="Dyslexie" pitchFamily="34" charset="-122"/>
                <a:cs typeface="Dyslexie" pitchFamily="34" charset="-120"/>
              </a:rPr>
              <a:t>Pratique as combinações em arquivos reais para fixar a sintaxe dos argumentos.</a:t>
            </a:r>
            <a:endParaRPr lang="en-US" sz="112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 Avançado: Funções Complexas e Busca</dc:title>
  <dc:subject>PptxGenJS Presentation</dc:subject>
  <dc:creator>PptxGenJS</dc:creator>
  <cp:lastModifiedBy>PptxGenJS</cp:lastModifiedBy>
  <cp:revision>1</cp:revision>
  <dcterms:created xsi:type="dcterms:W3CDTF">2026-09-11T11:20:05Z</dcterms:created>
  <dcterms:modified xsi:type="dcterms:W3CDTF">2026-09-11T11:20:05Z</dcterms:modified>
</cp:coreProperties>
</file>