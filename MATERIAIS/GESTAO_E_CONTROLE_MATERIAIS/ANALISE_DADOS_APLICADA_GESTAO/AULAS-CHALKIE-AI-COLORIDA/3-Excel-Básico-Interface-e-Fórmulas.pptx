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5143500" cy="9144000"/>
  <p:embeddedFontLst>
    <p:embeddedFont>
      <p:font typeface="Dyslexie" panose="020B0604020202020204" charset="0"/>
      <p:regular r:id="rId44"/>
      <p:bold r:id="rId4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823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tMwnPqC-9oQ?feature=oembed" TargetMode="External"/><Relationship Id="rId6" Type="http://schemas.openxmlformats.org/officeDocument/2006/relationships/image" Target="../media/image17.jpg"/><Relationship Id="rId5" Type="http://schemas.openxmlformats.org/officeDocument/2006/relationships/hyperlink" Target="https://www.youtube.com/watch?v=tMwnPqC-9oQ" TargetMode="Externa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4b11abf-8463-46ff-9acb-939539442cd4" descr="/home/forge/chalkie-production-workers-1/releases/77481629/backend/storage/app/render-specs/1186dccf-d15e-443e-bc35-b12d415255e8/img_66764193263a872c55234779683edb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3" name="57559723-e80c-4c3b-957c-5927699d7bfe"/>
          <p:cNvSpPr/>
          <p:nvPr/>
        </p:nvSpPr>
        <p:spPr>
          <a:xfrm>
            <a:off x="4914900" y="1257300"/>
            <a:ext cx="382905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401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Excel Básico: Interface e Fórmulas</a:t>
            </a:r>
            <a:endParaRPr lang="en-US" sz="2527" dirty="0"/>
          </a:p>
        </p:txBody>
      </p:sp>
      <p:sp>
        <p:nvSpPr>
          <p:cNvPr id="4" name="cbb0ce17-f422-48e4-8b1e-c27d50c5a015"/>
          <p:cNvSpPr/>
          <p:nvPr/>
        </p:nvSpPr>
        <p:spPr>
          <a:xfrm>
            <a:off x="4914900" y="2960370"/>
            <a:ext cx="382905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Dominando a interface, operações essenciais e automação no Excel.</a:t>
            </a:r>
            <a:endParaRPr lang="en-US" sz="126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b386b93-81d8-4f99-9c0b-29ec4b33f145" descr="/home/forge/chalkie-production-workers-1/releases/77481629/backend/storage/app/render-specs/1186dccf-d15e-443e-bc35-b12d415255e8/img_6df3b3e9ce75c2bcb39c6039c7dbdb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7c2e7725-f1ff-4de3-9457-43780e90cebd"/>
          <p:cNvSpPr/>
          <p:nvPr/>
        </p:nvSpPr>
        <p:spPr>
          <a:xfrm>
            <a:off x="285750" y="156591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Imagine Calcular Mil Salários Manualmente</a:t>
            </a:r>
            <a:endParaRPr lang="en-US" sz="2246" dirty="0"/>
          </a:p>
        </p:txBody>
      </p:sp>
      <p:sp>
        <p:nvSpPr>
          <p:cNvPr id="4" name="727f8afb-f213-4984-8125-4a4464e0035a"/>
          <p:cNvSpPr/>
          <p:nvPr/>
        </p:nvSpPr>
        <p:spPr>
          <a:xfrm>
            <a:off x="285750" y="265176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Como gestores calculavam impostos e folhas de pagamento antes dos softwares automáticos?</a:t>
            </a:r>
            <a:endParaRPr lang="en-US" sz="126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9bc6f7b-aab3-4aa2-85b6-40d9f15ef022" descr="/home/forge/chalkie-production-workers-1/releases/77481629/backend/storage/app/render-specs/1186dccf-d15e-443e-bc35-b12d415255e8/img_79bb55d5e52090bd9f3801f571c10d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757d91e7-1ff5-4e10-8048-7fb111b80362"/>
          <p:cNvSpPr/>
          <p:nvPr/>
        </p:nvSpPr>
        <p:spPr>
          <a:xfrm>
            <a:off x="4286250" y="800100"/>
            <a:ext cx="4572000" cy="92583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4" name="e340f916-3785-44f5-89a6-4163d8f5ac08"/>
          <p:cNvSpPr/>
          <p:nvPr/>
        </p:nvSpPr>
        <p:spPr>
          <a:xfrm>
            <a:off x="4400550" y="108585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5" name="2185d54e-6f35-41e2-94fa-40a6aa9a0876"/>
          <p:cNvSpPr/>
          <p:nvPr/>
        </p:nvSpPr>
        <p:spPr>
          <a:xfrm>
            <a:off x="4286250" y="1840230"/>
            <a:ext cx="4572000" cy="92583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6" name="c599aae3-c193-4dae-ab8d-63a4ceab61b7"/>
          <p:cNvSpPr/>
          <p:nvPr/>
        </p:nvSpPr>
        <p:spPr>
          <a:xfrm>
            <a:off x="4400550" y="212598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7" name="748d61e6-c54b-41fe-b125-526a9549815e"/>
          <p:cNvSpPr/>
          <p:nvPr/>
        </p:nvSpPr>
        <p:spPr>
          <a:xfrm>
            <a:off x="4286250" y="2880360"/>
            <a:ext cx="4572000" cy="92583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8" name="534d8cc9-71e3-42e1-a580-8f41c2c7e665"/>
          <p:cNvSpPr/>
          <p:nvPr/>
        </p:nvSpPr>
        <p:spPr>
          <a:xfrm>
            <a:off x="4400550" y="316611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9" name="655c29e0-d5c7-4b72-bc22-ab43991d012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Objetivos da Nossa Aula</a:t>
            </a:r>
            <a:endParaRPr lang="en-US" sz="2246" dirty="0"/>
          </a:p>
        </p:txBody>
      </p:sp>
      <p:sp>
        <p:nvSpPr>
          <p:cNvPr id="10" name="3c9658f5-c7e4-4043-872b-97f9740cc07f"/>
          <p:cNvSpPr/>
          <p:nvPr/>
        </p:nvSpPr>
        <p:spPr>
          <a:xfrm>
            <a:off x="4400550" y="108585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1264" dirty="0"/>
          </a:p>
        </p:txBody>
      </p:sp>
      <p:sp>
        <p:nvSpPr>
          <p:cNvPr id="11" name="bd0f3468-a9a7-41b2-906b-50330b459777"/>
          <p:cNvSpPr/>
          <p:nvPr/>
        </p:nvSpPr>
        <p:spPr>
          <a:xfrm>
            <a:off x="4834890" y="914400"/>
            <a:ext cx="3909060" cy="697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Dominar interface, células e navegação no Excel.</a:t>
            </a:r>
            <a:endParaRPr lang="en-US" sz="1264" dirty="0"/>
          </a:p>
        </p:txBody>
      </p:sp>
      <p:sp>
        <p:nvSpPr>
          <p:cNvPr id="12" name="be687118-19d0-4ac9-b18f-b024be397727"/>
          <p:cNvSpPr/>
          <p:nvPr/>
        </p:nvSpPr>
        <p:spPr>
          <a:xfrm>
            <a:off x="4400550" y="212598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1264" dirty="0"/>
          </a:p>
        </p:txBody>
      </p:sp>
      <p:sp>
        <p:nvSpPr>
          <p:cNvPr id="13" name="4b1e8ada-263a-46a5-aca7-c49eb0439d99"/>
          <p:cNvSpPr/>
          <p:nvPr/>
        </p:nvSpPr>
        <p:spPr>
          <a:xfrm>
            <a:off x="4834890" y="1954530"/>
            <a:ext cx="3909060" cy="697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Criar fórmulas e usar funções de cálculo básicas.</a:t>
            </a:r>
            <a:endParaRPr lang="en-US" sz="1264" dirty="0"/>
          </a:p>
        </p:txBody>
      </p:sp>
      <p:sp>
        <p:nvSpPr>
          <p:cNvPr id="14" name="80e7aec7-7c0a-4e15-b08f-77d601a4e59f"/>
          <p:cNvSpPr/>
          <p:nvPr/>
        </p:nvSpPr>
        <p:spPr>
          <a:xfrm>
            <a:off x="4400550" y="316611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1264" dirty="0"/>
          </a:p>
        </p:txBody>
      </p:sp>
      <p:sp>
        <p:nvSpPr>
          <p:cNvPr id="15" name="587c2b8f-a6f3-4177-a290-c0877b5d3303"/>
          <p:cNvSpPr/>
          <p:nvPr/>
        </p:nvSpPr>
        <p:spPr>
          <a:xfrm>
            <a:off x="4834890" y="2994660"/>
            <a:ext cx="3909060" cy="697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Aplicar referências e a função SE para decisões.</a:t>
            </a:r>
            <a:endParaRPr lang="en-US" sz="1264" dirty="0"/>
          </a:p>
        </p:txBody>
      </p:sp>
      <p:sp>
        <p:nvSpPr>
          <p:cNvPr id="16" name="2d85cdb7-a059-4370-8e00-aa6c61a73b25_card"/>
          <p:cNvSpPr/>
          <p:nvPr/>
        </p:nvSpPr>
        <p:spPr>
          <a:xfrm>
            <a:off x="4286250" y="394335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17" name="2d85cdb7-a059-4370-8e00-aa6c61a73b25_emoji"/>
          <p:cNvSpPr/>
          <p:nvPr/>
        </p:nvSpPr>
        <p:spPr>
          <a:xfrm>
            <a:off x="4400550" y="40919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18" name="2d85cdb7-a059-4370-8e00-aa6c61a73b25_text"/>
          <p:cNvSpPr/>
          <p:nvPr/>
        </p:nvSpPr>
        <p:spPr>
          <a:xfrm>
            <a:off x="4766310" y="405765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final, você criará uma folha de pagamento automatizada.</a:t>
            </a:r>
            <a:endParaRPr lang="en-US" sz="112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cb276aa-b34f-45a0-abd3-c3ae6fba57ac" descr="/home/forge/chalkie-production-workers-1/releases/77481629/backend/storage/app/render-specs/1186dccf-d15e-443e-bc35-b12d415255e8/img_b03cc66850c9a08442e9501c3d3ee8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a804ca06-3f77-42b7-80f8-ae50906f2cb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Recapitulação: Estatística e Gestão</a:t>
            </a:r>
            <a:endParaRPr lang="en-US" sz="2246" dirty="0"/>
          </a:p>
        </p:txBody>
      </p:sp>
      <p:sp>
        <p:nvSpPr>
          <p:cNvPr id="4" name="1ce0a660-4ca9-4228-a32c-8f500dd07896"/>
          <p:cNvSpPr/>
          <p:nvPr/>
        </p:nvSpPr>
        <p:spPr>
          <a:xfrm>
            <a:off x="285750" y="80010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Medidas em Decisões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Nas aulas anteriores, vimos ferramentas estatísticas: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 e Mediana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identificam centros de custos e vendas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Desvio Padrão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quantifica riscos e dispersão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Variações Percentuais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medem crescimento e margens</a:t>
            </a:r>
            <a:endParaRPr lang="en-US" sz="1544" dirty="0"/>
          </a:p>
        </p:txBody>
      </p:sp>
      <p:sp>
        <p:nvSpPr>
          <p:cNvPr id="5" name="120cd8e1-6d0f-4377-b18a-9c31a482df52_card"/>
          <p:cNvSpPr/>
          <p:nvPr/>
        </p:nvSpPr>
        <p:spPr>
          <a:xfrm>
            <a:off x="285750" y="37604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6" name="120cd8e1-6d0f-4377-b18a-9c31a482df52_emoji"/>
          <p:cNvSpPr/>
          <p:nvPr/>
        </p:nvSpPr>
        <p:spPr>
          <a:xfrm>
            <a:off x="400050" y="39090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120cd8e1-6d0f-4377-b18a-9c31a482df52_text"/>
          <p:cNvSpPr/>
          <p:nvPr/>
        </p:nvSpPr>
        <p:spPr>
          <a:xfrm>
            <a:off x="765810" y="38747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Excel torna essas análises instantâneas e dinâmicas.</a:t>
            </a:r>
            <a:endParaRPr lang="en-US" sz="112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9b9b327-70cd-4261-b630-08eb12df0db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Revisão Estatística</a:t>
            </a:r>
            <a:endParaRPr lang="en-US" sz="2246" dirty="0"/>
          </a:p>
        </p:txBody>
      </p:sp>
      <p:sp>
        <p:nvSpPr>
          <p:cNvPr id="3" name="78570ac3-0796-48dc-8d0a-83c53fe0490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o faturamento de uma loja sobe de R$ 10.000 para R$ 12.500, qual foi a variação percentual?</a:t>
            </a:r>
            <a:endParaRPr lang="en-US" sz="1264" dirty="0"/>
          </a:p>
        </p:txBody>
      </p:sp>
      <p:sp>
        <p:nvSpPr>
          <p:cNvPr id="4" name="948f7055-83d4-4dcd-9d76-b885c717c6af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a33aabed-29bc-494b-9bdd-5a122c4a768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+15%</a:t>
            </a:r>
            <a:endParaRPr lang="en-US" sz="1264" dirty="0"/>
          </a:p>
        </p:txBody>
      </p:sp>
      <p:sp>
        <p:nvSpPr>
          <p:cNvPr id="6" name="cbbcdc0f-dd71-41b6-ad6d-38a0b9f9a54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f2dd08fd-8d6a-41c9-b2b3-065e583266b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+12,5%</a:t>
            </a:r>
            <a:endParaRPr lang="en-US" sz="1264" dirty="0"/>
          </a:p>
        </p:txBody>
      </p:sp>
      <p:sp>
        <p:nvSpPr>
          <p:cNvPr id="8" name="674b074d-366d-41dc-8335-476c93c979dd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f17da516-1a6f-43c2-be70-b9dbba7d43a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+20%</a:t>
            </a:r>
            <a:endParaRPr lang="en-US" sz="1264" dirty="0"/>
          </a:p>
        </p:txBody>
      </p:sp>
      <p:sp>
        <p:nvSpPr>
          <p:cNvPr id="10" name="d396679f-b45d-420f-b57e-d30edcd3715d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84110505-11a3-4df6-a6a8-63c38a4f3d5f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+25%</a:t>
            </a:r>
            <a:endParaRPr lang="en-US" sz="126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9b9b327-70cd-4261-b630-08eb12df0db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Revisão Estatística</a:t>
            </a:r>
            <a:endParaRPr lang="en-US" sz="2246" dirty="0"/>
          </a:p>
        </p:txBody>
      </p:sp>
      <p:sp>
        <p:nvSpPr>
          <p:cNvPr id="3" name="78570ac3-0796-48dc-8d0a-83c53fe0490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o faturamento de uma loja sobe de R$ 10.000 para R$ 12.500, qual foi a variação percentual?</a:t>
            </a:r>
            <a:endParaRPr lang="en-US" sz="1264" dirty="0"/>
          </a:p>
        </p:txBody>
      </p:sp>
      <p:sp>
        <p:nvSpPr>
          <p:cNvPr id="4" name="948f7055-83d4-4dcd-9d76-b885c717c6af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a33aabed-29bc-494b-9bdd-5a122c4a768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+15%</a:t>
            </a:r>
            <a:endParaRPr lang="en-US" sz="1264" dirty="0"/>
          </a:p>
        </p:txBody>
      </p:sp>
      <p:sp>
        <p:nvSpPr>
          <p:cNvPr id="6" name="cbbcdc0f-dd71-41b6-ad6d-38a0b9f9a54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f2dd08fd-8d6a-41c9-b2b3-065e583266b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+12,5%</a:t>
            </a:r>
            <a:endParaRPr lang="en-US" sz="1264" dirty="0"/>
          </a:p>
        </p:txBody>
      </p:sp>
      <p:sp>
        <p:nvSpPr>
          <p:cNvPr id="8" name="674b074d-366d-41dc-8335-476c93c979dd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f17da516-1a6f-43c2-be70-b9dbba7d43a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+20%</a:t>
            </a:r>
            <a:endParaRPr lang="en-US" sz="1264" dirty="0"/>
          </a:p>
        </p:txBody>
      </p:sp>
      <p:sp>
        <p:nvSpPr>
          <p:cNvPr id="10" name="d396679f-b45d-420f-b57e-d30edcd3715d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84110505-11a3-4df6-a6a8-63c38a4f3d5f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+25%</a:t>
            </a:r>
            <a:endParaRPr lang="en-US" sz="1264" dirty="0"/>
          </a:p>
        </p:txBody>
      </p:sp>
      <p:sp>
        <p:nvSpPr>
          <p:cNvPr id="12" name="4478ef49-960b-4f19-b106-bcbccf4562f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df11dc7b-c6eb-407a-b5f7-1672ed2538f7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5486cc-aa16-4467-9e6a-7ae13e6e2be9" descr="/home/forge/chalkie-production-workers-1/releases/77481629/backend/storage/app/render-specs/1186dccf-d15e-443e-bc35-b12d415255e8/img_37b5dc881b226a82c4183c2387024f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3f5abff3-a61c-4967-bac2-854b54193168" descr="/home/forge/chalkie-production-workers-1/releases/77481629/backend/storage/app/render-specs/1186dccf-d15e-443e-bc35-b12d415255e8/img_06bca5547a214b5c019d88525aec0f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74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1316a213-b3e7-4ac0-ba3f-38f2dae4c74c" descr="/home/forge/chalkie-production-workers-1/releases/77481629/backend/storage/app/render-specs/1186dccf-d15e-443e-bc35-b12d415255e8/img_75fd7fc9d86915d38c55fbf43721a3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de3d632a-6635-4be3-8c62-61a9a28e7721" descr="/home/forge/chalkie-production-workers-1/releases/77481629/backend/storage/app/render-specs/1186dccf-d15e-443e-bc35-b12d415255e8/img_3b986ba18d8d2d659033cdf0b9b359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229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9a704879-b704-404f-ae88-9ef5782589f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Vocabulário Fundamental do Excel</a:t>
            </a:r>
            <a:endParaRPr lang="en-US" sz="2246" dirty="0"/>
          </a:p>
        </p:txBody>
      </p:sp>
      <p:sp>
        <p:nvSpPr>
          <p:cNvPr id="7" name="fc204657-07cc-4fc2-8cf7-bcee16ca625a"/>
          <p:cNvSpPr/>
          <p:nvPr/>
        </p:nvSpPr>
        <p:spPr>
          <a:xfrm>
            <a:off x="285750" y="342900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Célula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Interseção de linha e coluna, identificada por letra e número (ex.: B4).</a:t>
            </a:r>
            <a:endParaRPr lang="en-US" sz="1264" dirty="0"/>
          </a:p>
        </p:txBody>
      </p:sp>
      <p:sp>
        <p:nvSpPr>
          <p:cNvPr id="8" name="8dfead98-1445-4059-abfa-571cc8b3f9bb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Planilha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Área de trabalho composta por milhões de células organizadas.</a:t>
            </a:r>
            <a:endParaRPr lang="en-US" sz="1264" dirty="0"/>
          </a:p>
        </p:txBody>
      </p:sp>
      <p:sp>
        <p:nvSpPr>
          <p:cNvPr id="9" name="aaf86617-c388-4f29-b5cf-b93081a0ccad"/>
          <p:cNvSpPr/>
          <p:nvPr/>
        </p:nvSpPr>
        <p:spPr>
          <a:xfrm>
            <a:off x="4686300" y="342900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Fórmula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Expressão para calcular valores, iniciada obrigatoriamente por sinal de igual.</a:t>
            </a:r>
            <a:endParaRPr lang="en-US" sz="1264" dirty="0"/>
          </a:p>
        </p:txBody>
      </p:sp>
      <p:sp>
        <p:nvSpPr>
          <p:cNvPr id="10" name="aff88708-261e-45f8-ab20-e9e144dfebad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Sintaxe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Regra gramatical para escrita de funções e seus argumentos.</a:t>
            </a:r>
            <a:endParaRPr lang="en-US" sz="126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ce0bb31-0ec4-452a-b75e-c1ffb3bd13c4" descr="/home/forge/chalkie-production-workers-1/releases/77481629/backend/storage/app/render-specs/1186dccf-d15e-443e-bc35-b12d415255e8/img_09d74a28400d87d6858d3b156571d0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5453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becc2bb2-9e0e-4216-a5e5-f556e8349f53"/>
          <p:cNvSpPr/>
          <p:nvPr/>
        </p:nvSpPr>
        <p:spPr>
          <a:xfrm>
            <a:off x="285750" y="22631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Estrutura da Interface</a:t>
            </a:r>
            <a:endParaRPr lang="en-US" sz="2246" dirty="0"/>
          </a:p>
        </p:txBody>
      </p:sp>
      <p:sp>
        <p:nvSpPr>
          <p:cNvPr id="4" name="2dd7f6d8-f589-470e-928e-bd6f2e0c7644"/>
          <p:cNvSpPr/>
          <p:nvPr/>
        </p:nvSpPr>
        <p:spPr>
          <a:xfrm>
            <a:off x="285750" y="289179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tela do Excel organiza ferramentas em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Guias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superiores (Página Inicial, Inserir, Fórmulas) e reúne comandos na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Faixa de Opções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</p:txBody>
      </p:sp>
      <p:sp>
        <p:nvSpPr>
          <p:cNvPr id="5" name="ab27bfa9-2b5a-4036-905c-bde1451c8a1a"/>
          <p:cNvSpPr/>
          <p:nvPr/>
        </p:nvSpPr>
        <p:spPr>
          <a:xfrm>
            <a:off x="285750" y="370332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Logo abaixo da faixa, 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Barra de Fórmulas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exibe o conteúdo exato ou equação da célula ativa, permitindo edições rápidas com precisão cirúrgica.</a:t>
            </a:r>
            <a:endParaRPr lang="en-US" sz="126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b61d469-6955-4a7e-bd34-4e7ce986da3b" descr="/home/forge/chalkie-production-workers-1/releases/77481629/backend/storage/app/render-specs/1186dccf-d15e-443e-bc35-b12d415255e8/img_0578db8ef4dc7bd911b03fea29b267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1153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b605f8ac-cf16-4f91-9337-5e97bb1786d7" descr="/home/forge/chalkie-production-workers-1/releases/77481629/backend/storage/app/render-specs/1186dccf-d15e-443e-bc35-b12d415255e8/img_ea276f74da8288e0a90d1cc6e42064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1153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ccfff66e-395e-4a02-9e51-b77d6473a957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Colunas, Linhas e Abas</a:t>
            </a:r>
            <a:endParaRPr lang="en-US" sz="2246" dirty="0"/>
          </a:p>
        </p:txBody>
      </p:sp>
      <p:sp>
        <p:nvSpPr>
          <p:cNvPr id="5" name="01b9a477-8f25-4cc4-9081-e0c724f07cb1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Colunas e Linhas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Colunas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verticais recebem letras (A, B, C...).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horizontais recebem números (1, 2, 3...). O cruzamento gera o endereço único da célula.</a:t>
            </a:r>
            <a:endParaRPr lang="en-US" sz="1544" dirty="0"/>
          </a:p>
        </p:txBody>
      </p:sp>
      <p:sp>
        <p:nvSpPr>
          <p:cNvPr id="6" name="5c0b495a-841a-4ebd-a918-86d56890f1d7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Pastas e Abas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arquivo é uma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Pasta de Trabalho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podendo abrigar múltiplas abas organizadas por departamentos como Vendas, Custos e RH.</a:t>
            </a:r>
            <a:endParaRPr lang="en-US" sz="154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ce31fed-b422-4c45-871f-3e647adf8a89" descr="/home/forge/chalkie-production-workers-1/releases/77481629/backend/storage/app/render-specs/1186dccf-d15e-443e-bc35-b12d415255e8/img_2f0c594a168c79d11bc45a5acfac52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bc05c162-9b15-4769-9196-1980c15226d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Entrada e Tipos de Dados</a:t>
            </a:r>
            <a:endParaRPr lang="en-US" sz="2246" dirty="0"/>
          </a:p>
        </p:txBody>
      </p:sp>
      <p:sp>
        <p:nvSpPr>
          <p:cNvPr id="4" name="d3a9ac89-b9a4-4bcc-94e9-8a77f9f22db3"/>
          <p:cNvSpPr/>
          <p:nvPr/>
        </p:nvSpPr>
        <p:spPr>
          <a:xfrm>
            <a:off x="285750" y="80010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Excel classifica as informações inseridas automaticamente: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Textos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alinhados automaticamente à esquerda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Números e Datas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alinhados automaticamente à direita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Valores Lógicos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termos VERDADEIRO ou FALSO centralizados</a:t>
            </a:r>
            <a:endParaRPr lang="en-US" sz="1264" dirty="0"/>
          </a:p>
        </p:txBody>
      </p:sp>
      <p:sp>
        <p:nvSpPr>
          <p:cNvPr id="5" name="2e7efb29-9a2d-46a8-b93a-1729ad7567d1_card"/>
          <p:cNvSpPr/>
          <p:nvPr/>
        </p:nvSpPr>
        <p:spPr>
          <a:xfrm>
            <a:off x="285750" y="338328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2e7efb29-9a2d-46a8-b93a-1729ad7567d1_emoji"/>
          <p:cNvSpPr/>
          <p:nvPr/>
        </p:nvSpPr>
        <p:spPr>
          <a:xfrm>
            <a:off x="400050" y="35318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2e7efb29-9a2d-46a8-b93a-1729ad7567d1_text"/>
          <p:cNvSpPr/>
          <p:nvPr/>
        </p:nvSpPr>
        <p:spPr>
          <a:xfrm>
            <a:off x="765810" y="349758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 número ficar alinhado à esquerda, o Excel o interpretou como texto e não fará contas!</a:t>
            </a:r>
            <a:endParaRPr lang="en-US" sz="112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11a82d5-0780-4605-b53a-4b1afe48129e" descr="/home/forge/chalkie-production-workers-1/releases/77481629/backend/storage/app/render-specs/1186dccf-d15e-443e-bc35-b12d415255e8/img_ea1e25aca3048e7544dbd1a4b68337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485900"/>
            <a:ext cx="270891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c3944b18-8954-4160-a7e7-5aa89216d5f1" descr="/home/forge/chalkie-production-workers-1/releases/77481629/backend/storage/app/render-specs/1186dccf-d15e-443e-bc35-b12d415255e8/img_4a8ad9a8f8e04fa5f71118aee4d115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260" y="914400"/>
            <a:ext cx="270891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cc3d99c6-cdb3-4aa3-90ee-099d15a4903b" descr="/home/forge/chalkie-production-workers-1/releases/77481629/backend/storage/app/render-specs/1186dccf-d15e-443e-bc35-b12d415255e8/img_77e7a7b855a3a051f51873865f97d7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9340" y="1485900"/>
            <a:ext cx="270891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455b9bc0-39ac-4271-951d-0622d427afb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Essencial de Células</a:t>
            </a:r>
            <a:endParaRPr lang="en-US" sz="2246" dirty="0"/>
          </a:p>
        </p:txBody>
      </p:sp>
      <p:sp>
        <p:nvSpPr>
          <p:cNvPr id="6" name="1de1ad5c-3715-4dc9-acb8-7ccfddfb96ee"/>
          <p:cNvSpPr/>
          <p:nvPr/>
        </p:nvSpPr>
        <p:spPr>
          <a:xfrm>
            <a:off x="285750" y="3314700"/>
            <a:ext cx="27089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Moeda / Contábil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 valores com símbolo R$ e duas casas decimais padronizadas.</a:t>
            </a:r>
            <a:endParaRPr lang="en-US" sz="1544" dirty="0"/>
          </a:p>
        </p:txBody>
      </p:sp>
      <p:sp>
        <p:nvSpPr>
          <p:cNvPr id="7" name="bc89c50d-6fce-4a73-88d7-bd7ea4e19c06"/>
          <p:cNvSpPr/>
          <p:nvPr/>
        </p:nvSpPr>
        <p:spPr>
          <a:xfrm>
            <a:off x="3223260" y="2743200"/>
            <a:ext cx="27089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Porcentagem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Multiplica a fração por 100 e exibe o símbolo % (ex.: 0,15 vira 15%).</a:t>
            </a:r>
            <a:endParaRPr lang="en-US" sz="1544" dirty="0"/>
          </a:p>
        </p:txBody>
      </p:sp>
      <p:sp>
        <p:nvSpPr>
          <p:cNvPr id="8" name="a5f35670-196e-4368-b9d2-8415940a50e6"/>
          <p:cNvSpPr/>
          <p:nvPr/>
        </p:nvSpPr>
        <p:spPr>
          <a:xfrm>
            <a:off x="6149340" y="3314700"/>
            <a:ext cx="27089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Bordas e Cores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Destacam títulos e totais, separando dados brutos de resultados gerenciais.</a:t>
            </a:r>
            <a:endParaRPr lang="en-US" sz="154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8f4018-a694-4990-aa50-04e4fe72e7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Visão Geral: Excel na Prática</a:t>
            </a:r>
            <a:endParaRPr lang="en-US" sz="2246" dirty="0"/>
          </a:p>
        </p:txBody>
      </p:sp>
      <p:sp>
        <p:nvSpPr>
          <p:cNvPr id="3" name="f527ab9a-217e-48c8-8812-05dce07f28ef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Aprenda: cursores, seleção de intervalos e organização de planilhas.</a:t>
            </a:r>
            <a:endParaRPr lang="en-US" sz="1264" dirty="0"/>
          </a:p>
        </p:txBody>
      </p:sp>
      <p:pic>
        <p:nvPicPr>
          <p:cNvPr id="4" name="8a801b20-d23a-41de-8620-35df0c862742" descr="/home/forge/chalkie-production-workers-1/releases/77481629/backend/storage/app/render-specs/1186dccf-d15e-443e-bc35-b12d415255e8/poster_tMwnPqC-9oQ.jpg">
            <a:hlinkClick r:id="rId5"/>
          </p:cNvPr>
          <p:cNvPicPr>
            <a:picLocks noChangeAspect="1"/>
          </p:cNvPicPr>
          <p:nvPr>
            <a:videoFile r:link="rId1"/>
            <p:extLst>
              <p:ext uri="{C809E66F-F1BF-436E-b5F7-EEA9579F0CBA}">
                <p15:webVideoPr xmlns:p15="http://schemas.microsoft.com/office/powerpoint/2012/main" xmlns="" embeddedHtml="&lt;iframe width=&quot;560&quot; height=&quot;315&quot; src=&quot;https://www.youtube.com/embed/tMwnPqC-9oQ?feature=oembed&quot; frameborder=&quot;0&quot; allowfullscreen=&quot;&quot;&gt;&lt;/iframe&gt;" h="315" w="560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463040" y="1360170"/>
            <a:ext cx="6217920" cy="34975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7f432ea-3ece-4c5d-b2fe-665d6abf9acd" descr="/home/forge/chalkie-production-workers-1/releases/77481629/backend/storage/app/render-specs/1186dccf-d15e-443e-bc35-b12d415255e8/img_6a0ba8addf90ac018be8c753ef55c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281be9bd-82c8-4061-97ef-4ec91d59860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Construindo Fórmulas Básicas</a:t>
            </a:r>
            <a:endParaRPr lang="en-US" sz="2246" dirty="0"/>
          </a:p>
        </p:txBody>
      </p:sp>
      <p:sp>
        <p:nvSpPr>
          <p:cNvPr id="4" name="6cf39ccd-9808-4960-b2f2-ddbc4eb34bf0"/>
          <p:cNvSpPr/>
          <p:nvPr/>
        </p:nvSpPr>
        <p:spPr>
          <a:xfrm>
            <a:off x="4286250" y="80010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Toda fórmula no Excel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deve começar com o sinal de igual (=)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 Sem ele, o programa entende o cálculo como texto comum.</a:t>
            </a:r>
            <a:endParaRPr lang="en-US" sz="1264" dirty="0"/>
          </a:p>
        </p:txBody>
      </p:sp>
      <p:sp>
        <p:nvSpPr>
          <p:cNvPr id="5" name="7885a344-fcd2-45fc-937e-5d83a33fc539"/>
          <p:cNvSpPr/>
          <p:nvPr/>
        </p:nvSpPr>
        <p:spPr>
          <a:xfrm>
            <a:off x="4286250" y="186309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vez de somar números fixos (=10+20), somamos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referências de células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(=A1+B1). Assim, o resultado atualiza sozinho quando os valores mudam!</a:t>
            </a:r>
            <a:endParaRPr lang="en-US" sz="1264" dirty="0"/>
          </a:p>
        </p:txBody>
      </p:sp>
      <p:sp>
        <p:nvSpPr>
          <p:cNvPr id="6" name="1ff6bd88-0d54-4858-9750-088345b3b004_card"/>
          <p:cNvSpPr/>
          <p:nvPr/>
        </p:nvSpPr>
        <p:spPr>
          <a:xfrm>
            <a:off x="4286250" y="31889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1ff6bd88-0d54-4858-9750-088345b3b004_emoji"/>
          <p:cNvSpPr/>
          <p:nvPr/>
        </p:nvSpPr>
        <p:spPr>
          <a:xfrm>
            <a:off x="4400550" y="33375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1ff6bd88-0d54-4858-9750-088345b3b004_text"/>
          <p:cNvSpPr/>
          <p:nvPr/>
        </p:nvSpPr>
        <p:spPr>
          <a:xfrm>
            <a:off x="4766310" y="33032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sinal de igual avisa o Excel: 'prepare-se para calcular!'</a:t>
            </a:r>
            <a:endParaRPr lang="en-US" sz="112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80b9f85-667f-4d68-9301-f6fc87b09d1f" descr="/home/forge/chalkie-production-workers-1/releases/77481629/backend/storage/app/render-specs/1186dccf-d15e-443e-bc35-b12d415255e8/img_fbab166393fd9ce04624943a2361aa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6cc7aca7-7498-4753-b905-9f4f0cd13cb2" descr="/home/forge/chalkie-production-workers-1/releases/77481629/backend/storage/app/render-specs/1186dccf-d15e-443e-bc35-b12d415255e8/img_930cf4742e06f6159e3d20a1214eca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5a48446a-c7f2-4b01-97de-18de1748a5c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Operadores Aritméticos no Teclado</a:t>
            </a:r>
            <a:endParaRPr lang="en-US" sz="2246" dirty="0"/>
          </a:p>
        </p:txBody>
      </p:sp>
      <p:sp>
        <p:nvSpPr>
          <p:cNvPr id="5" name="45577466-303d-4400-aa12-264f1e18d640"/>
          <p:cNvSpPr/>
          <p:nvPr/>
        </p:nvSpPr>
        <p:spPr>
          <a:xfrm>
            <a:off x="285750" y="299466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Soma e Subtração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Adição: sinal  (ex.: )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Subtração: sinal  (ex.: 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Utilizados para calcular receitas totais e descontos sobre produtos.</a:t>
            </a:r>
            <a:endParaRPr lang="en-US" sz="1544" dirty="0"/>
          </a:p>
        </p:txBody>
      </p:sp>
      <p:sp>
        <p:nvSpPr>
          <p:cNvPr id="6" name="4492009e-9cb9-445e-b0c4-d07d0c92b88b"/>
          <p:cNvSpPr/>
          <p:nvPr/>
        </p:nvSpPr>
        <p:spPr>
          <a:xfrm>
            <a:off x="4652010" y="299466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Multiplicação e Divisão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Multiplicação: asterisco  (ex.: )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Divisão: barra  (ex.: 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Utilizados para precificação unitária e cálculo de taxas mensais.</a:t>
            </a:r>
            <a:endParaRPr lang="en-US" sz="154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f06346b-f14a-478a-b75b-2b0444e0d5bc" descr="/home/forge/chalkie-production-workers-1/releases/77481629/backend/storage/app/render-specs/1186dccf-d15e-443e-bc35-b12d415255e8/img_c88bc7e07dea08f4f5dcce28185e13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69dc9314-bf5c-4e8c-a819-27c55a37989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Precedência Operatória no Excel</a:t>
            </a:r>
            <a:endParaRPr lang="en-US" sz="2246" dirty="0"/>
          </a:p>
        </p:txBody>
      </p:sp>
      <p:sp>
        <p:nvSpPr>
          <p:cNvPr id="4" name="444499b6-5791-4604-b722-01650b429859"/>
          <p:cNvSpPr/>
          <p:nvPr/>
        </p:nvSpPr>
        <p:spPr>
          <a:xfrm>
            <a:off x="285750" y="80010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Assim como na matemática escolar, o Excel respeita ordens rigorosas: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Parênteses 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Multiplicação  e Divisão 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Adição  e Subtração </a:t>
            </a:r>
            <a:endParaRPr lang="en-US" sz="1264" dirty="0"/>
          </a:p>
        </p:txBody>
      </p:sp>
      <p:sp>
        <p:nvSpPr>
          <p:cNvPr id="5" name="fa0f3924-7f0a-4ed8-8ec6-796703317fd9_card"/>
          <p:cNvSpPr/>
          <p:nvPr/>
        </p:nvSpPr>
        <p:spPr>
          <a:xfrm>
            <a:off x="285750" y="261747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fa0f3924-7f0a-4ed8-8ec6-796703317fd9_emoji"/>
          <p:cNvSpPr/>
          <p:nvPr/>
        </p:nvSpPr>
        <p:spPr>
          <a:xfrm>
            <a:off x="400050" y="27660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fa0f3924-7f0a-4ed8-8ec6-796703317fd9_text"/>
          <p:cNvSpPr/>
          <p:nvPr/>
        </p:nvSpPr>
        <p:spPr>
          <a:xfrm>
            <a:off x="765810" y="273177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fórmula =10+5*2 resulta em 20. Se você desejava somar antes, use =(10+5)*2 para obter 30.</a:t>
            </a:r>
            <a:endParaRPr lang="en-US" sz="112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15b5f1f-88e3-4663-8340-29f12b85fbe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Checando a Lógica de Fórmulas</a:t>
            </a:r>
            <a:endParaRPr lang="en-US" sz="2246" dirty="0"/>
          </a:p>
        </p:txBody>
      </p:sp>
      <p:sp>
        <p:nvSpPr>
          <p:cNvPr id="3" name="f7c810ec-50e0-4788-a7e2-e56df6fb514f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f7c810ec-50e0-4788-a7e2-e56df6fb514f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No Excel, a expressão =5+2*10 resulta em 70.</a:t>
            </a:r>
            <a:endParaRPr lang="en-US" sz="1264" dirty="0"/>
          </a:p>
        </p:txBody>
      </p:sp>
      <p:sp>
        <p:nvSpPr>
          <p:cNvPr id="5" name="110fc05e-002a-4f84-962a-54615baefcb0"/>
          <p:cNvSpPr/>
          <p:nvPr/>
        </p:nvSpPr>
        <p:spPr>
          <a:xfrm>
            <a:off x="1774613" y="2628900"/>
            <a:ext cx="2511637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729ef5fc-b7c7-412e-b282-0febe0aa22a2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9ceb2768-7260-4d41-b6ea-6aaa7bffb967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🤔 </a:t>
            </a:r>
            <a:r>
              <a:rPr lang="en-US" sz="1264" i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Prepare-se para explicar o seu raciocínio.</a:t>
            </a:r>
            <a:endParaRPr lang="en-US" sz="126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15b5f1f-88e3-4663-8340-29f12b85fbe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Checando a Lógica de Fórmulas</a:t>
            </a:r>
            <a:endParaRPr lang="en-US" sz="2246" dirty="0"/>
          </a:p>
        </p:txBody>
      </p:sp>
      <p:sp>
        <p:nvSpPr>
          <p:cNvPr id="3" name="f7c810ec-50e0-4788-a7e2-e56df6fb514f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f7c810ec-50e0-4788-a7e2-e56df6fb514f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No Excel, a expressão =5+2*10 resulta em 70.</a:t>
            </a:r>
            <a:endParaRPr lang="en-US" sz="1264" dirty="0"/>
          </a:p>
        </p:txBody>
      </p:sp>
      <p:sp>
        <p:nvSpPr>
          <p:cNvPr id="5" name="110fc05e-002a-4f84-962a-54615baefcb0"/>
          <p:cNvSpPr/>
          <p:nvPr/>
        </p:nvSpPr>
        <p:spPr>
          <a:xfrm>
            <a:off x="1822027" y="2628900"/>
            <a:ext cx="2464223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729ef5fc-b7c7-412e-b282-0febe0aa22a2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c858b6b1-038d-4072-acb5-69e5930557e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8" name="a1f926f4-46be-4a7e-b4b3-9030477ab6b0_card"/>
          <p:cNvSpPr/>
          <p:nvPr/>
        </p:nvSpPr>
        <p:spPr>
          <a:xfrm>
            <a:off x="457200" y="3657600"/>
            <a:ext cx="8229600" cy="870458"/>
          </a:xfrm>
          <a:prstGeom prst="roundRect">
            <a:avLst>
              <a:gd name="adj" fmla="val 10505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9" name="a1f926f4-46be-4a7e-b4b3-9030477ab6b0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0" name="a1f926f4-46be-4a7e-b4b3-9030477ab6b0_text"/>
          <p:cNvSpPr/>
          <p:nvPr/>
        </p:nvSpPr>
        <p:spPr>
          <a:xfrm>
            <a:off x="937260" y="3771900"/>
            <a:ext cx="7635240" cy="641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é isso?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multiplicação é calculada antes da soma: 2*10=20, depois 5+20=25.</a:t>
            </a:r>
            <a:endParaRPr lang="en-US" sz="1123" dirty="0"/>
          </a:p>
        </p:txBody>
      </p:sp>
      <p:sp>
        <p:nvSpPr>
          <p:cNvPr id="11" name="310b51c4-8658-4c79-96f2-76ff182fb0da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55fbf00-6fef-4825-80c9-5b72e97d2562" descr="/home/forge/chalkie-production-workers-1/releases/77481629/backend/storage/app/render-specs/1186dccf-d15e-443e-bc35-b12d415255e8/img_542ce206d18404150c42aa85265fdc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725930"/>
            <a:ext cx="85725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3" name="d3675443-7595-4826-851d-b6e8c8457ce7"/>
          <p:cNvSpPr/>
          <p:nvPr/>
        </p:nvSpPr>
        <p:spPr>
          <a:xfrm>
            <a:off x="285750" y="2857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SOMA (SUM)</a:t>
            </a:r>
            <a:endParaRPr lang="en-US" sz="2246" dirty="0"/>
          </a:p>
        </p:txBody>
      </p:sp>
      <p:sp>
        <p:nvSpPr>
          <p:cNvPr id="4" name="c6044345-e0c7-4e1f-8c27-3b22b7b4585c"/>
          <p:cNvSpPr/>
          <p:nvPr/>
        </p:nvSpPr>
        <p:spPr>
          <a:xfrm>
            <a:off x="285750" y="9144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SOMA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totaliza rapidamente centenas de números sem a necessidade de digitar operador por operador.</a:t>
            </a:r>
            <a:endParaRPr lang="en-US" sz="1264" dirty="0"/>
          </a:p>
        </p:txBody>
      </p:sp>
      <p:sp>
        <p:nvSpPr>
          <p:cNvPr id="5" name="b312b6e9-ff15-4e6a-834c-6cc0335e5590"/>
          <p:cNvSpPr/>
          <p:nvPr/>
        </p:nvSpPr>
        <p:spPr>
          <a:xfrm>
            <a:off x="285750" y="392049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sintaxe  utiliza dois pontos () para indicar um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intervalo contínuo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somando da célula B2 até a célula B6.</a:t>
            </a:r>
            <a:endParaRPr lang="en-US" sz="126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2a36d4c-3a82-4c2f-892f-0453a71529c8" descr="/home/forge/chalkie-production-workers-1/releases/77481629/backend/storage/app/render-specs/1186dccf-d15e-443e-bc35-b12d415255e8/img_3d3b8ab4664e65e4097855e9e7a870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e2bb4fef-fcc2-46fb-bcbc-d7f98c96a4f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MÉDIA (AVERAGE)</a:t>
            </a:r>
            <a:endParaRPr lang="en-US" sz="2246" dirty="0"/>
          </a:p>
        </p:txBody>
      </p:sp>
      <p:sp>
        <p:nvSpPr>
          <p:cNvPr id="4" name="391095f9-3fdd-4d1b-ab42-4d3af50a03dd"/>
          <p:cNvSpPr/>
          <p:nvPr/>
        </p:nvSpPr>
        <p:spPr>
          <a:xfrm>
            <a:off x="4286250" y="80010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soma todos os valores do intervalo selecionado e divide a soma pela quantidade de elementos numéricos preenchidos.</a:t>
            </a:r>
            <a:endParaRPr lang="en-US" sz="1264" dirty="0"/>
          </a:p>
        </p:txBody>
      </p:sp>
      <p:sp>
        <p:nvSpPr>
          <p:cNvPr id="5" name="b08cd10b-5bb5-4d66-b9ed-9955cc39ae63_card"/>
          <p:cNvSpPr/>
          <p:nvPr/>
        </p:nvSpPr>
        <p:spPr>
          <a:xfrm>
            <a:off x="4286250" y="2125980"/>
            <a:ext cx="4572000" cy="1635887"/>
          </a:xfrm>
          <a:prstGeom prst="roundRect">
            <a:avLst>
              <a:gd name="adj" fmla="val 5590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6" name="b08cd10b-5bb5-4d66-b9ed-9955cc39ae63_emoji"/>
          <p:cNvSpPr/>
          <p:nvPr/>
        </p:nvSpPr>
        <p:spPr>
          <a:xfrm>
            <a:off x="4400550" y="22745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b08cd10b-5bb5-4d66-b9ed-9955cc39ae63_text"/>
          <p:cNvSpPr/>
          <p:nvPr/>
        </p:nvSpPr>
        <p:spPr>
          <a:xfrm>
            <a:off x="4766310" y="2240280"/>
            <a:ext cx="3977640" cy="1407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as notas de um aluno em C2, C3 e C4 forem 8, 7 e 9, a fórmula =MÉDIA(C2:C4) retornará automaticamente 8.</a:t>
            </a:r>
            <a:endParaRPr lang="en-US" sz="1123" dirty="0"/>
          </a:p>
        </p:txBody>
      </p:sp>
      <p:sp>
        <p:nvSpPr>
          <p:cNvPr id="8" name="920ce727-6d82-4e99-8f15-6a7059fc4a6c"/>
          <p:cNvSpPr/>
          <p:nvPr/>
        </p:nvSpPr>
        <p:spPr>
          <a:xfrm>
            <a:off x="4286250" y="388620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Células vazias são desconsideradas no divisor, preservando a exatidão estatística do indicador.</a:t>
            </a:r>
            <a:endParaRPr lang="en-US" sz="126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8f97ebd-7b15-49ae-bcd4-26ae98fe8ba7" descr="/home/forge/chalkie-production-workers-1/releases/77481629/backend/storage/app/render-specs/1186dccf-d15e-443e-bc35-b12d415255e8/img_b4e9a2ac2ef733fc3fdcfcda83f1d5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05c2fc68-b734-4d4d-9960-4a8b3a31eb8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CONT.VALORES (COUNTA)</a:t>
            </a:r>
            <a:endParaRPr lang="en-US" sz="2246" dirty="0"/>
          </a:p>
        </p:txBody>
      </p:sp>
      <p:sp>
        <p:nvSpPr>
          <p:cNvPr id="4" name="2f692491-c313-4bba-9a60-2673d40a4dd9"/>
          <p:cNvSpPr/>
          <p:nvPr/>
        </p:nvSpPr>
        <p:spPr>
          <a:xfrm>
            <a:off x="285750" y="80010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Enquanto a função  computa apenas dígitos numéricos, a função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CONT.VALORES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contabiliza qualquer célula preenchida com texto ou número.</a:t>
            </a:r>
            <a:endParaRPr lang="en-US" sz="1264" dirty="0"/>
          </a:p>
        </p:txBody>
      </p:sp>
      <p:sp>
        <p:nvSpPr>
          <p:cNvPr id="5" name="7cd82c17-1840-4517-8027-731c66d94885_card"/>
          <p:cNvSpPr/>
          <p:nvPr/>
        </p:nvSpPr>
        <p:spPr>
          <a:xfrm>
            <a:off x="285750" y="212598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6" name="7cd82c17-1840-4517-8027-731c66d94885_emoji"/>
          <p:cNvSpPr/>
          <p:nvPr/>
        </p:nvSpPr>
        <p:spPr>
          <a:xfrm>
            <a:off x="400050" y="22745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7cd82c17-1840-4517-8027-731c66d94885_text"/>
          <p:cNvSpPr/>
          <p:nvPr/>
        </p:nvSpPr>
        <p:spPr>
          <a:xfrm>
            <a:off x="765810" y="224028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Ideal para saber quantos funcionários estão cadastrados em uma lista pelo nome na coluna A.</a:t>
            </a:r>
            <a:endParaRPr lang="en-US" sz="1123" dirty="0"/>
          </a:p>
        </p:txBody>
      </p:sp>
      <p:sp>
        <p:nvSpPr>
          <p:cNvPr id="8" name="e4ecf284-8eac-4723-a538-477f42476d06"/>
          <p:cNvSpPr/>
          <p:nvPr/>
        </p:nvSpPr>
        <p:spPr>
          <a:xfrm>
            <a:off x="285750" y="3623310"/>
            <a:ext cx="45720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Sintaxe: . Células em branco são ignoradas.</a:t>
            </a:r>
            <a:endParaRPr lang="en-US" sz="126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99a5a33-f654-41d9-9957-d9a58cb14df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 a Passo da Função</a:t>
            </a:r>
            <a:endParaRPr lang="en-US" sz="2246" dirty="0"/>
          </a:p>
        </p:txBody>
      </p:sp>
      <p:sp>
        <p:nvSpPr>
          <p:cNvPr id="3" name="fd6a0044-f01a-4622-b43a-89cf2d02c309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passos corretos para calcular a média de uma coluna de vendas:</a:t>
            </a:r>
            <a:endParaRPr lang="en-US" sz="1264" dirty="0"/>
          </a:p>
        </p:txBody>
      </p:sp>
      <p:sp>
        <p:nvSpPr>
          <p:cNvPr id="4" name="9d50affe-522e-41a9-8d2c-387a0040c315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Clique na célula onde o resultado final deve aparecer</a:t>
            </a:r>
            <a:endParaRPr lang="en-US" sz="1264" dirty="0"/>
          </a:p>
        </p:txBody>
      </p:sp>
      <p:sp>
        <p:nvSpPr>
          <p:cNvPr id="5" name="b4aff047-4caf-4a74-8324-788e3a012fa2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Selecione com o mouse o intervalo de dados desejado (ex.: B2:B10)</a:t>
            </a:r>
            <a:endParaRPr lang="en-US" sz="1264" dirty="0"/>
          </a:p>
        </p:txBody>
      </p:sp>
      <p:sp>
        <p:nvSpPr>
          <p:cNvPr id="6" name="dc096db2-2793-4d49-93a4-205f317bf0bf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Digite o sinal de igual seguido do nome da função: =MÉDIA(</a:t>
            </a:r>
            <a:endParaRPr lang="en-US" sz="1264" dirty="0"/>
          </a:p>
        </p:txBody>
      </p:sp>
      <p:sp>
        <p:nvSpPr>
          <p:cNvPr id="7" name="f5e08d0f-1681-49c9-899b-89c2d0c6bd17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Feche os parênteses ) e pressione a tecla Enter</a:t>
            </a:r>
            <a:endParaRPr lang="en-US" sz="126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99a5a33-f654-41d9-9957-d9a58cb14df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 a Passo da Função</a:t>
            </a:r>
            <a:endParaRPr lang="en-US" sz="2246" dirty="0"/>
          </a:p>
        </p:txBody>
      </p:sp>
      <p:sp>
        <p:nvSpPr>
          <p:cNvPr id="3" name="fd6a0044-f01a-4622-b43a-89cf2d02c309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passos corretos para calcular a média de uma coluna de vendas:</a:t>
            </a:r>
            <a:endParaRPr lang="en-US" sz="1264" dirty="0"/>
          </a:p>
        </p:txBody>
      </p:sp>
      <p:sp>
        <p:nvSpPr>
          <p:cNvPr id="4" name="9d50affe-522e-41a9-8d2c-387a0040c315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Clique na célula onde o resultado final deve aparecer</a:t>
            </a:r>
            <a:endParaRPr lang="en-US" sz="1264" dirty="0"/>
          </a:p>
        </p:txBody>
      </p:sp>
      <p:sp>
        <p:nvSpPr>
          <p:cNvPr id="5" name="b4aff047-4caf-4a74-8324-788e3a012fa2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Selecione com o mouse o intervalo de dados desejado (ex.: B2:B10)</a:t>
            </a:r>
            <a:endParaRPr lang="en-US" sz="1264" dirty="0"/>
          </a:p>
        </p:txBody>
      </p:sp>
      <p:sp>
        <p:nvSpPr>
          <p:cNvPr id="6" name="dc096db2-2793-4d49-93a4-205f317bf0bf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Digite o sinal de igual seguido do nome da função: =MÉDIA(</a:t>
            </a:r>
            <a:endParaRPr lang="en-US" sz="1264" dirty="0"/>
          </a:p>
        </p:txBody>
      </p:sp>
      <p:sp>
        <p:nvSpPr>
          <p:cNvPr id="7" name="f5e08d0f-1681-49c9-899b-89c2d0c6bd17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Feche os parênteses ) e pressione a tecla Enter</a:t>
            </a:r>
            <a:endParaRPr lang="en-US" sz="1264" dirty="0"/>
          </a:p>
        </p:txBody>
      </p:sp>
      <p:sp>
        <p:nvSpPr>
          <p:cNvPr id="8" name="b4df426a-426d-4b70-96a1-ef6751e35c0e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9" name="ad8cb6a0-8cdf-425f-a244-9299d3517a17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913" dirty="0"/>
          </a:p>
        </p:txBody>
      </p:sp>
      <p:sp>
        <p:nvSpPr>
          <p:cNvPr id="10" name="cea5d7eb-293c-4da8-be44-82463cac5673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913" dirty="0"/>
          </a:p>
        </p:txBody>
      </p:sp>
      <p:sp>
        <p:nvSpPr>
          <p:cNvPr id="11" name="4ef09715-5ecb-4489-a000-b5a1654cd620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913" dirty="0"/>
          </a:p>
        </p:txBody>
      </p:sp>
      <p:sp>
        <p:nvSpPr>
          <p:cNvPr id="12" name="6462b052-7159-4a4d-8be0-156af76809fa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91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3a31145-04de-41b2-a10b-0487fafea61d" descr="/home/forge/chalkie-production-workers-1/releases/77481629/backend/storage/app/render-specs/1186dccf-d15e-443e-bc35-b12d415255e8/img_ff32350a738071b66eea9a6066679f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46596298-3966-4363-bb35-ae214f69e728"/>
          <p:cNvSpPr/>
          <p:nvPr/>
        </p:nvSpPr>
        <p:spPr>
          <a:xfrm>
            <a:off x="285750" y="22631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Lógica Condicional: A Função SE</a:t>
            </a:r>
            <a:endParaRPr lang="en-US" sz="2246" dirty="0"/>
          </a:p>
        </p:txBody>
      </p:sp>
      <p:sp>
        <p:nvSpPr>
          <p:cNvPr id="4" name="21c6deea-7a4d-4272-bae5-628e9d78eee7"/>
          <p:cNvSpPr/>
          <p:nvPr/>
        </p:nvSpPr>
        <p:spPr>
          <a:xfrm>
            <a:off x="285750" y="289179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gestão empresarial, decisões dependem de regras: 'se a meta for atingida, pague bônus; caso contrário, não pague'.</a:t>
            </a:r>
            <a:endParaRPr lang="en-US" sz="1264" dirty="0"/>
          </a:p>
        </p:txBody>
      </p:sp>
      <p:sp>
        <p:nvSpPr>
          <p:cNvPr id="5" name="ca9726db-62c0-4c5d-9b55-d2b8e086b74b"/>
          <p:cNvSpPr/>
          <p:nvPr/>
        </p:nvSpPr>
        <p:spPr>
          <a:xfrm>
            <a:off x="285750" y="370332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avalia uma condição lógica. Se for verdadeira, executa uma ação; se for falsa, executa um caminho alternativo definido por você.</a:t>
            </a:r>
            <a:endParaRPr lang="en-US" sz="126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ab56178-50e7-4271-81fb-b8359f51bf24" descr="/home/forge/chalkie-production-workers-1/releases/77481629/backend/storage/app/render-specs/1186dccf-d15e-443e-bc35-b12d415255e8/img_73589dd12466f9a2b17625927f6212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372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efed4cd3-a878-47ee-a4d2-747ede48976d" descr="/home/forge/chalkie-production-workers-1/releases/77481629/backend/storage/app/render-specs/1186dccf-d15e-443e-bc35-b12d415255e8/img_5b4bd6b0597a631b0947821b3389b9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9372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b81b8104-71b3-49ee-89f0-6f1b43bdb34c"/>
          <p:cNvSpPr/>
          <p:nvPr/>
        </p:nvSpPr>
        <p:spPr>
          <a:xfrm>
            <a:off x="285750" y="30861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Estrutura da Função SE</a:t>
            </a:r>
            <a:endParaRPr lang="en-US" sz="2246" dirty="0"/>
          </a:p>
        </p:txBody>
      </p:sp>
      <p:sp>
        <p:nvSpPr>
          <p:cNvPr id="5" name="ee74b5e6-d585-43a8-9f89-4fbac00689c4"/>
          <p:cNvSpPr/>
          <p:nvPr/>
        </p:nvSpPr>
        <p:spPr>
          <a:xfrm>
            <a:off x="285750" y="313182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Os 3 Argumentos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sintaxe exige três elementos separados por ponto e vírgula:</a:t>
            </a:r>
            <a:endParaRPr lang="en-US" sz="1544" dirty="0"/>
          </a:p>
        </p:txBody>
      </p:sp>
      <p:sp>
        <p:nvSpPr>
          <p:cNvPr id="6" name="0026a048-f562-4185-8777-03d4ddfe8f7c"/>
          <p:cNvSpPr/>
          <p:nvPr/>
        </p:nvSpPr>
        <p:spPr>
          <a:xfrm>
            <a:off x="4652010" y="31318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 Prático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a nota em B2 for maior ou igual a 7, exibe 'Aprovado'; caso contrário, exibe 'Recuperação'.</a:t>
            </a:r>
            <a:endParaRPr lang="en-US" sz="154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91111ef-5b54-40a1-9d7a-7db53bd7ca4e" descr="/home/forge/chalkie-production-workers-1/releases/77481629/backend/storage/app/render-specs/1186dccf-d15e-443e-bc35-b12d415255e8/img_49286937514a95d5b9bd426c7f9d17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da596a72-302d-4723-8819-a1e6d4c9c01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Operadores de Comparação Lógica</a:t>
            </a:r>
            <a:endParaRPr lang="en-US" sz="2246" dirty="0"/>
          </a:p>
        </p:txBody>
      </p:sp>
      <p:sp>
        <p:nvSpPr>
          <p:cNvPr id="4" name="7825925b-c694-4cf9-aaf9-dc8974703596"/>
          <p:cNvSpPr/>
          <p:nvPr/>
        </p:nvSpPr>
        <p:spPr>
          <a:xfrm>
            <a:off x="285750" y="80010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montar o teste lógico no primeiro argumento, usamos os operadores comparativos: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Maior que: 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Menor que: 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Maior ou igual: 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Menor ou igual: 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Igual:  e Diferente: </a:t>
            </a:r>
            <a:endParaRPr lang="en-US" sz="1264" dirty="0"/>
          </a:p>
        </p:txBody>
      </p:sp>
      <p:sp>
        <p:nvSpPr>
          <p:cNvPr id="5" name="3767719f-3296-4d9b-971a-eb7c3233dd1d_card"/>
          <p:cNvSpPr/>
          <p:nvPr/>
        </p:nvSpPr>
        <p:spPr>
          <a:xfrm>
            <a:off x="285750" y="349758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3767719f-3296-4d9b-971a-eb7c3233dd1d_emoji"/>
          <p:cNvSpPr/>
          <p:nvPr/>
        </p:nvSpPr>
        <p:spPr>
          <a:xfrm>
            <a:off x="400050" y="36461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3767719f-3296-4d9b-971a-eb7c3233dd1d_text"/>
          <p:cNvSpPr/>
          <p:nvPr/>
        </p:nvSpPr>
        <p:spPr>
          <a:xfrm>
            <a:off x="765810" y="361188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Sempre que o resultado de texto for fixo, escreva-o entre aspas duplas ("Bônus").</a:t>
            </a:r>
            <a:endParaRPr lang="en-US" sz="1123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5e0ab2d-d732-47c5-86fe-1b56600e63d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Análise de Fórmulas com SE</a:t>
            </a:r>
            <a:endParaRPr lang="en-US" sz="2246" dirty="0"/>
          </a:p>
        </p:txBody>
      </p:sp>
      <p:sp>
        <p:nvSpPr>
          <p:cNvPr id="3" name="4e9ba02c-6e82-4b16-bcdb-df356e3c0ed9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Avaliando a fórmula =SE(C2&gt;5000; C2*0,1; 0), quais afirmativas são verdadeiras?</a:t>
            </a:r>
            <a:endParaRPr lang="en-US" sz="1264" dirty="0"/>
          </a:p>
        </p:txBody>
      </p:sp>
      <p:sp>
        <p:nvSpPr>
          <p:cNvPr id="4" name="ede82349-5a38-46e9-8942-ae4df55999ec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5b45f70b-ca14-45bc-98ef-a6bd80dad4e1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C2 for igual a 6.000, o resultado retornado será 600</a:t>
            </a:r>
            <a:endParaRPr lang="en-US" sz="1264" dirty="0"/>
          </a:p>
        </p:txBody>
      </p:sp>
      <p:sp>
        <p:nvSpPr>
          <p:cNvPr id="6" name="271d6273-e56a-4aa7-834e-738f8075f94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6598d902-eca9-4deb-ae79-4db35123c9d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fórmula apresenta erro de sintaxe por não conter textos entre aspas</a:t>
            </a:r>
            <a:endParaRPr lang="en-US" sz="1264" dirty="0"/>
          </a:p>
        </p:txBody>
      </p:sp>
      <p:sp>
        <p:nvSpPr>
          <p:cNvPr id="8" name="a1d61970-3d86-40f6-b85c-42a29effbdf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ae1e6145-2135-402c-8fee-75b42172acb5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C2 for igual a 4.500, o resultado retornado será 0</a:t>
            </a:r>
            <a:endParaRPr lang="en-US" sz="1264" dirty="0"/>
          </a:p>
        </p:txBody>
      </p:sp>
      <p:sp>
        <p:nvSpPr>
          <p:cNvPr id="10" name="63ecaa8c-e0c5-4d0c-a3eb-01c77ea6e09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209aa646-8f97-4ab3-96be-e2f5f0d1248a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C2 for exatamente 5.000, o resultado calculado será 500</a:t>
            </a:r>
            <a:endParaRPr lang="en-US" sz="126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5e0ab2d-d732-47c5-86fe-1b56600e63d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Análise de Fórmulas com SE</a:t>
            </a:r>
            <a:endParaRPr lang="en-US" sz="2246" dirty="0"/>
          </a:p>
        </p:txBody>
      </p:sp>
      <p:sp>
        <p:nvSpPr>
          <p:cNvPr id="3" name="4e9ba02c-6e82-4b16-bcdb-df356e3c0ed9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Avaliando a fórmula =SE(C2&gt;5000; C2*0,1; 0), quais afirmativas são verdadeiras?</a:t>
            </a:r>
            <a:endParaRPr lang="en-US" sz="1264" dirty="0"/>
          </a:p>
        </p:txBody>
      </p:sp>
      <p:sp>
        <p:nvSpPr>
          <p:cNvPr id="4" name="ede82349-5a38-46e9-8942-ae4df55999ec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5b45f70b-ca14-45bc-98ef-a6bd80dad4e1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C2 for igual a 6.000, o resultado retornado será 600</a:t>
            </a:r>
            <a:endParaRPr lang="en-US" sz="1264" dirty="0"/>
          </a:p>
        </p:txBody>
      </p:sp>
      <p:sp>
        <p:nvSpPr>
          <p:cNvPr id="6" name="271d6273-e56a-4aa7-834e-738f8075f94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6598d902-eca9-4deb-ae79-4db35123c9d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fórmula apresenta erro de sintaxe por não conter textos entre aspas</a:t>
            </a:r>
            <a:endParaRPr lang="en-US" sz="1264" dirty="0"/>
          </a:p>
        </p:txBody>
      </p:sp>
      <p:sp>
        <p:nvSpPr>
          <p:cNvPr id="8" name="a1d61970-3d86-40f6-b85c-42a29effbdf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ae1e6145-2135-402c-8fee-75b42172acb5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C2 for igual a 4.500, o resultado retornado será 0</a:t>
            </a:r>
            <a:endParaRPr lang="en-US" sz="1264" dirty="0"/>
          </a:p>
        </p:txBody>
      </p:sp>
      <p:sp>
        <p:nvSpPr>
          <p:cNvPr id="10" name="63ecaa8c-e0c5-4d0c-a3eb-01c77ea6e09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209aa646-8f97-4ab3-96be-e2f5f0d1248a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C2 for exatamente 5.000, o resultado calculado será 500</a:t>
            </a:r>
            <a:endParaRPr lang="en-US" sz="1264" dirty="0"/>
          </a:p>
        </p:txBody>
      </p:sp>
      <p:sp>
        <p:nvSpPr>
          <p:cNvPr id="12" name="23279e78-8707-4210-98e7-338d6b46086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fef54e19-a4b6-4660-8389-e2c60797adfa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  <p:sp>
        <p:nvSpPr>
          <p:cNvPr id="14" name="6fad33a7-abbf-42de-b46a-910c53215770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d4bcf44-3b85-4db2-8182-82ae7e731e91" descr="/home/forge/chalkie-production-workers-1/releases/77481629/backend/storage/app/render-specs/1186dccf-d15e-443e-bc35-b12d415255e8/img_9b9ce6789cf74399be12a289adb32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6e4ebe77-fd25-4853-9143-a1f7d1d6c75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Referências Relativas no Excel</a:t>
            </a:r>
            <a:endParaRPr lang="en-US" sz="2246" dirty="0"/>
          </a:p>
        </p:txBody>
      </p:sp>
      <p:sp>
        <p:nvSpPr>
          <p:cNvPr id="4" name="b7c8d4e4-7496-4195-832e-45eec25ba4bf"/>
          <p:cNvSpPr/>
          <p:nvPr/>
        </p:nvSpPr>
        <p:spPr>
          <a:xfrm>
            <a:off x="4286250" y="80010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padrão, as referências no Excel são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relativas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 Quando você escreve  e arrasta a fórmula para baixo, ela ajusta automaticamente para .</a:t>
            </a:r>
            <a:endParaRPr lang="en-US" sz="1264" dirty="0"/>
          </a:p>
        </p:txBody>
      </p:sp>
      <p:sp>
        <p:nvSpPr>
          <p:cNvPr id="5" name="e3e0a5ce-f498-43ac-a768-f8b5d2ab6155_card"/>
          <p:cNvSpPr/>
          <p:nvPr/>
        </p:nvSpPr>
        <p:spPr>
          <a:xfrm>
            <a:off x="4286250" y="212598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6" name="e3e0a5ce-f498-43ac-a768-f8b5d2ab6155_emoji"/>
          <p:cNvSpPr/>
          <p:nvPr/>
        </p:nvSpPr>
        <p:spPr>
          <a:xfrm>
            <a:off x="4400550" y="22745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e3e0a5ce-f498-43ac-a768-f8b5d2ab6155_text"/>
          <p:cNvSpPr/>
          <p:nvPr/>
        </p:nvSpPr>
        <p:spPr>
          <a:xfrm>
            <a:off x="4766310" y="224028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Excel memoriza a posição proporcional: 'multiplique as duas células à minha esquerda'.</a:t>
            </a:r>
            <a:endParaRPr lang="en-US" sz="1123" dirty="0"/>
          </a:p>
        </p:txBody>
      </p:sp>
      <p:sp>
        <p:nvSpPr>
          <p:cNvPr id="8" name="7dbedc42-c9c5-4c2e-af09-16d17e3902e4"/>
          <p:cNvSpPr/>
          <p:nvPr/>
        </p:nvSpPr>
        <p:spPr>
          <a:xfrm>
            <a:off x="4286250" y="362331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Essa característica economiza horas de trabalho repetitivo em listas com milhares de linhas.</a:t>
            </a:r>
            <a:endParaRPr lang="en-US" sz="126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0dd0d07-5a43-4253-8de8-99b4ab68adaf" descr="/home/forge/chalkie-production-workers-1/releases/77481629/backend/storage/app/render-specs/1186dccf-d15e-443e-bc35-b12d415255e8/img_665c600a848bff4026136ecdbb316b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caead332-1c19-4a74-9315-10dae94befa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Desafio da Taxa Fixa</a:t>
            </a:r>
            <a:endParaRPr lang="en-US" sz="2246" dirty="0"/>
          </a:p>
        </p:txBody>
      </p:sp>
      <p:sp>
        <p:nvSpPr>
          <p:cNvPr id="4" name="33247905-93c1-4dd0-86fe-d59af879aa38"/>
          <p:cNvSpPr/>
          <p:nvPr/>
        </p:nvSpPr>
        <p:spPr>
          <a:xfrm>
            <a:off x="285750" y="80010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Imagine calcular o imposto de vários produtos multiplicando cada valor pela taxa fixa de 10% localizada isoladamente na célula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F1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</p:txBody>
      </p:sp>
      <p:sp>
        <p:nvSpPr>
          <p:cNvPr id="5" name="56f2638d-c27d-411f-8504-333c46726dad"/>
          <p:cNvSpPr/>
          <p:nvPr/>
        </p:nvSpPr>
        <p:spPr>
          <a:xfrm>
            <a:off x="285750" y="212598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você arrastar  para baixo, a próxima linha buscará . Como F2 está vazia, o resultado será zero!</a:t>
            </a:r>
            <a:endParaRPr lang="en-US" sz="1264" dirty="0"/>
          </a:p>
        </p:txBody>
      </p:sp>
      <p:sp>
        <p:nvSpPr>
          <p:cNvPr id="6" name="e7d16ce9-d396-4f24-9d66-8f5453007a41_card"/>
          <p:cNvSpPr/>
          <p:nvPr/>
        </p:nvSpPr>
        <p:spPr>
          <a:xfrm>
            <a:off x="285750" y="318897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e7d16ce9-d396-4f24-9d66-8f5453007a41_emoji"/>
          <p:cNvSpPr/>
          <p:nvPr/>
        </p:nvSpPr>
        <p:spPr>
          <a:xfrm>
            <a:off x="400050" y="33375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8" name="e7d16ce9-d396-4f24-9d66-8f5453007a41_text"/>
          <p:cNvSpPr/>
          <p:nvPr/>
        </p:nvSpPr>
        <p:spPr>
          <a:xfrm>
            <a:off x="765810" y="330327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Precisamos travar a referência da célula F1 para que ela não se desloque!</a:t>
            </a:r>
            <a:endParaRPr lang="en-US" sz="112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52dbfc4-d08b-47f5-b353-b3351a31fe45" descr="/home/forge/chalkie-production-workers-1/releases/77481629/backend/storage/app/render-specs/1186dccf-d15e-443e-bc35-b12d415255e8/img_c507fbdfe83ac9f386d9e922a85e18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c3a1bc14-295a-412d-888f-0ee330ba46c9" descr="/home/forge/chalkie-production-workers-1/releases/77481629/backend/storage/app/render-specs/1186dccf-d15e-443e-bc35-b12d415255e8/img_58d893eb3ce14f566d19c0e157fd8a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4be67d65-7bf1-4652-8cfb-c09b4d2e2f6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Referências Absolutas e o Cifrão</a:t>
            </a:r>
            <a:endParaRPr lang="en-US" sz="2246" dirty="0"/>
          </a:p>
        </p:txBody>
      </p:sp>
      <p:sp>
        <p:nvSpPr>
          <p:cNvPr id="5" name="b3fef7e0-13e0-4942-8a0b-f830c14e4fc8"/>
          <p:cNvSpPr/>
          <p:nvPr/>
        </p:nvSpPr>
        <p:spPr>
          <a:xfrm>
            <a:off x="285750" y="299466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Símbolo Cifrão ($)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cifrão fixa a célula de cálculo: .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arrastar, a fórmula vira , mantendo a taxa correta.</a:t>
            </a:r>
            <a:endParaRPr lang="en-US" sz="1544" dirty="0"/>
          </a:p>
        </p:txBody>
      </p:sp>
      <p:sp>
        <p:nvSpPr>
          <p:cNvPr id="6" name="0b6d09b7-4009-4399-aaad-0fffdf44be98"/>
          <p:cNvSpPr/>
          <p:nvPr/>
        </p:nvSpPr>
        <p:spPr>
          <a:xfrm>
            <a:off x="465201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Atalho Mágico F4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digitar uma célula na fórmula, pressione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F4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Excel insere automaticamente os cifrões na referência.</a:t>
            </a:r>
            <a:endParaRPr lang="en-US" sz="154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6d8351-d31e-4468-b8d2-f730d6fa60e1" descr="/home/forge/chalkie-production-workers-1/releases/77481629/backend/storage/app/render-specs/1186dccf-d15e-443e-bc35-b12d415255e8/img_4f256d999668ca16192d56ffc99fb1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8dec9b65-162b-41e4-96a8-1293420f7cc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Alça de Preenchimento Rápido</a:t>
            </a:r>
            <a:endParaRPr lang="en-US" sz="2246" dirty="0"/>
          </a:p>
        </p:txBody>
      </p:sp>
      <p:sp>
        <p:nvSpPr>
          <p:cNvPr id="4" name="41e6fc08-325b-4ab0-99a4-4670b12dec5c"/>
          <p:cNvSpPr/>
          <p:nvPr/>
        </p:nvSpPr>
        <p:spPr>
          <a:xfrm>
            <a:off x="4286250" y="80010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No canto inferior direito da célula ativa, existe um pequeno quadrado verde chamado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Alça de Preenchimento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</p:txBody>
      </p:sp>
      <p:sp>
        <p:nvSpPr>
          <p:cNvPr id="5" name="17e0e5e2-cae3-41d3-98a9-df6095515583"/>
          <p:cNvSpPr/>
          <p:nvPr/>
        </p:nvSpPr>
        <p:spPr>
          <a:xfrm>
            <a:off x="4286250" y="186309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clicar e arrastar (ou dar um duplo clique), o Excel copia fórmulas ou gera sequências lógicas (dias da semana, meses, datas).</a:t>
            </a:r>
            <a:endParaRPr lang="en-US" sz="1264" dirty="0"/>
          </a:p>
        </p:txBody>
      </p:sp>
      <p:sp>
        <p:nvSpPr>
          <p:cNvPr id="6" name="5b791130-3717-4e21-87d5-9312763deb9a_card"/>
          <p:cNvSpPr/>
          <p:nvPr/>
        </p:nvSpPr>
        <p:spPr>
          <a:xfrm>
            <a:off x="4286250" y="318897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AFAAEC">
              <a:alpha val="14902"/>
            </a:srgbClr>
          </a:solidFill>
          <a:ln w="11430">
            <a:solidFill>
              <a:srgbClr val="08044D">
                <a:alpha val="20000"/>
              </a:srgbClr>
            </a:solidFill>
            <a:prstDash val="solid"/>
          </a:ln>
        </p:spPr>
      </p:sp>
      <p:sp>
        <p:nvSpPr>
          <p:cNvPr id="7" name="5b791130-3717-4e21-87d5-9312763deb9a_emoji"/>
          <p:cNvSpPr/>
          <p:nvPr/>
        </p:nvSpPr>
        <p:spPr>
          <a:xfrm>
            <a:off x="4400550" y="33375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🤯</a:t>
            </a:r>
            <a:endParaRPr lang="en-US" sz="2160" dirty="0"/>
          </a:p>
        </p:txBody>
      </p:sp>
      <p:sp>
        <p:nvSpPr>
          <p:cNvPr id="8" name="5b791130-3717-4e21-87d5-9312763deb9a_text"/>
          <p:cNvSpPr/>
          <p:nvPr/>
        </p:nvSpPr>
        <p:spPr>
          <a:xfrm>
            <a:off x="4766310" y="330327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CECBF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Curiosidade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CECBF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duplo clique na alça propaga o cálculo até a última linha preenchida da tabela vizinha!</a:t>
            </a:r>
            <a:endParaRPr lang="en-US" sz="1123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cab0bb-1c8a-47fa-bf61-a0b306f0c7dc" descr="/home/forge/chalkie-production-workers-1/releases/77481629/backend/storage/app/render-specs/1186dccf-d15e-443e-bc35-b12d415255e8/img_e02f2ef6d32bd92781c93fe7be6bd3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07bac9f4-0e44-44ec-b1ea-2e04ffe5552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Poder do Preenchimento Relâmpago</a:t>
            </a:r>
            <a:endParaRPr lang="en-US" sz="2246" dirty="0"/>
          </a:p>
        </p:txBody>
      </p:sp>
      <p:sp>
        <p:nvSpPr>
          <p:cNvPr id="4" name="de969288-e4b7-4c85-96b1-f00da75be25c"/>
          <p:cNvSpPr/>
          <p:nvPr/>
        </p:nvSpPr>
        <p:spPr>
          <a:xfrm>
            <a:off x="285750" y="80010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Preenchimento Relâmpago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(atalho ) reconhece padrões de texto e replica transformações instantaneamente.</a:t>
            </a:r>
            <a:endParaRPr lang="en-US" sz="1264" dirty="0"/>
          </a:p>
        </p:txBody>
      </p:sp>
      <p:sp>
        <p:nvSpPr>
          <p:cNvPr id="5" name="5e1fab6b-193c-4e7e-bc06-e9081ca38ea3_card"/>
          <p:cNvSpPr/>
          <p:nvPr/>
        </p:nvSpPr>
        <p:spPr>
          <a:xfrm>
            <a:off x="285750" y="1863090"/>
            <a:ext cx="4572000" cy="1635887"/>
          </a:xfrm>
          <a:prstGeom prst="roundRect">
            <a:avLst>
              <a:gd name="adj" fmla="val 5590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6" name="5e1fab6b-193c-4e7e-bc06-e9081ca38ea3_emoji"/>
          <p:cNvSpPr/>
          <p:nvPr/>
        </p:nvSpPr>
        <p:spPr>
          <a:xfrm>
            <a:off x="400050" y="20116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5e1fab6b-193c-4e7e-bc06-e9081ca38ea3_text"/>
          <p:cNvSpPr/>
          <p:nvPr/>
        </p:nvSpPr>
        <p:spPr>
          <a:xfrm>
            <a:off x="765810" y="1977390"/>
            <a:ext cx="3977640" cy="1407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a coluna A possui 'Lucas Silva', digite 'Lucas' na coluna B e aperte Ctrl+E: o Excel extrairá todos os primeiros nomes sozinhos.</a:t>
            </a:r>
            <a:endParaRPr lang="en-US" sz="1123" dirty="0"/>
          </a:p>
        </p:txBody>
      </p:sp>
      <p:sp>
        <p:nvSpPr>
          <p:cNvPr id="8" name="61d019c5-ca52-4f80-a98a-4db05b6de6a3"/>
          <p:cNvSpPr/>
          <p:nvPr/>
        </p:nvSpPr>
        <p:spPr>
          <a:xfrm>
            <a:off x="285750" y="3623310"/>
            <a:ext cx="45720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Funciona para formatar CPFs, separar sobrenomes ou concatenar códigos empresariais.</a:t>
            </a:r>
            <a:endParaRPr lang="en-US" sz="1264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5373a58-12b6-43e2-987e-b01c60244ac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Fixando Conceitos e Atalhos</a:t>
            </a:r>
            <a:endParaRPr lang="en-US" sz="2246" dirty="0"/>
          </a:p>
        </p:txBody>
      </p:sp>
      <p:sp>
        <p:nvSpPr>
          <p:cNvPr id="3" name="ca70ac2e-d4ff-47d2-bb2b-41c486b6b42e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30c246d4-14eb-4d78-9697-2385bc234265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 e Vírgula (;)</a:t>
            </a:r>
            <a:endParaRPr lang="en-US" sz="1404" dirty="0"/>
          </a:p>
        </p:txBody>
      </p:sp>
      <p:sp>
        <p:nvSpPr>
          <p:cNvPr id="5" name="815772c4-5a51-4d3d-9429-d427ce476d59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Dois Pontos (:)</a:t>
            </a:r>
            <a:endParaRPr lang="en-US" sz="1404" dirty="0"/>
          </a:p>
        </p:txBody>
      </p:sp>
      <p:sp>
        <p:nvSpPr>
          <p:cNvPr id="6" name="a3277b6f-8aa1-47fa-af2a-d4d80844fb14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E</a:t>
            </a:r>
            <a:endParaRPr lang="en-US" sz="1404" dirty="0"/>
          </a:p>
        </p:txBody>
      </p:sp>
      <p:sp>
        <p:nvSpPr>
          <p:cNvPr id="7" name="dc87f748-9854-46e6-a863-95905be868a7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F4</a:t>
            </a:r>
            <a:endParaRPr lang="en-US" sz="1404" dirty="0"/>
          </a:p>
        </p:txBody>
      </p:sp>
      <p:sp>
        <p:nvSpPr>
          <p:cNvPr id="8" name="66aa62b7-ade7-45e7-8d26-d9978ae9c722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Atalho que insere cifrões para fixar uma referência absoluta</a:t>
            </a:r>
            <a:endParaRPr lang="en-US" sz="1264" dirty="0"/>
          </a:p>
        </p:txBody>
      </p:sp>
      <p:sp>
        <p:nvSpPr>
          <p:cNvPr id="9" name="280a3da9-bf0f-4a9d-9f6d-c6be0373d682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Operador que indica intervalo contínuo do início ao fim</a:t>
            </a:r>
            <a:endParaRPr lang="en-US" sz="1264" dirty="0"/>
          </a:p>
        </p:txBody>
      </p:sp>
      <p:sp>
        <p:nvSpPr>
          <p:cNvPr id="10" name="35a39332-df56-4f08-8634-d6344ecfd77f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Atalho do Preenchimento Relâmpago para reconhecer padrões</a:t>
            </a:r>
            <a:endParaRPr lang="en-US" sz="1264" dirty="0"/>
          </a:p>
        </p:txBody>
      </p:sp>
      <p:sp>
        <p:nvSpPr>
          <p:cNvPr id="11" name="b37778c7-4f41-4de0-b1d5-7d7f343084d0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Separador individual de argumentos dentro de uma função</a:t>
            </a:r>
            <a:endParaRPr lang="en-US" sz="1264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5373a58-12b6-43e2-987e-b01c60244ac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Fixando Conceitos e Atalhos</a:t>
            </a:r>
            <a:endParaRPr lang="en-US" sz="2246" dirty="0"/>
          </a:p>
        </p:txBody>
      </p:sp>
      <p:sp>
        <p:nvSpPr>
          <p:cNvPr id="3" name="ca70ac2e-d4ff-47d2-bb2b-41c486b6b42e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30c246d4-14eb-4d78-9697-2385bc234265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09E9E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 e Vírgula (;)</a:t>
            </a:r>
            <a:endParaRPr lang="en-US" sz="1404" dirty="0"/>
          </a:p>
        </p:txBody>
      </p:sp>
      <p:sp>
        <p:nvSpPr>
          <p:cNvPr id="5" name="815772c4-5a51-4d3d-9429-d427ce476d59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90368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Dois Pontos (:)</a:t>
            </a:r>
            <a:endParaRPr lang="en-US" sz="1404" dirty="0"/>
          </a:p>
        </p:txBody>
      </p:sp>
      <p:sp>
        <p:nvSpPr>
          <p:cNvPr id="6" name="a3277b6f-8aa1-47fa-af2a-d4d80844fb14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68C45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E</a:t>
            </a:r>
            <a:endParaRPr lang="en-US" sz="1404" dirty="0"/>
          </a:p>
        </p:txBody>
      </p:sp>
      <p:sp>
        <p:nvSpPr>
          <p:cNvPr id="7" name="dc87f748-9854-46e6-a863-95905be868a7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579A9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F4</a:t>
            </a:r>
            <a:endParaRPr lang="en-US" sz="1404" dirty="0"/>
          </a:p>
        </p:txBody>
      </p:sp>
      <p:sp>
        <p:nvSpPr>
          <p:cNvPr id="8" name="66aa62b7-ade7-45e7-8d26-d9978ae9c722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Atalho que insere cifrões para fixar uma referência absoluta</a:t>
            </a:r>
            <a:endParaRPr lang="en-US" sz="1264" dirty="0"/>
          </a:p>
        </p:txBody>
      </p:sp>
      <p:sp>
        <p:nvSpPr>
          <p:cNvPr id="9" name="280a3da9-bf0f-4a9d-9f6d-c6be0373d682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Operador que indica intervalo contínuo do início ao fim</a:t>
            </a:r>
            <a:endParaRPr lang="en-US" sz="1264" dirty="0"/>
          </a:p>
        </p:txBody>
      </p:sp>
      <p:sp>
        <p:nvSpPr>
          <p:cNvPr id="10" name="35a39332-df56-4f08-8634-d6344ecfd77f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Atalho do Preenchimento Relâmpago para reconhecer padrões</a:t>
            </a:r>
            <a:endParaRPr lang="en-US" sz="1264" dirty="0"/>
          </a:p>
        </p:txBody>
      </p:sp>
      <p:sp>
        <p:nvSpPr>
          <p:cNvPr id="11" name="b37778c7-4f41-4de0-b1d5-7d7f343084d0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Separador individual de argumentos dentro de uma função</a:t>
            </a:r>
            <a:endParaRPr lang="en-US" sz="1264" dirty="0"/>
          </a:p>
        </p:txBody>
      </p:sp>
      <p:sp>
        <p:nvSpPr>
          <p:cNvPr id="12" name="3e7bd824-c213-4c75-9877-be76cead85c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connector-53bd068d-4e95-49da-a5e9-6f4c296eee03-0"/>
          <p:cNvSpPr/>
          <p:nvPr/>
        </p:nvSpPr>
        <p:spPr>
          <a:xfrm>
            <a:off x="2571750" y="1623060"/>
            <a:ext cx="994410" cy="2720340"/>
          </a:xfrm>
          <a:prstGeom prst="line">
            <a:avLst/>
          </a:prstGeom>
          <a:noFill/>
          <a:ln w="28575">
            <a:solidFill>
              <a:srgbClr val="409E9E"/>
            </a:solidFill>
            <a:prstDash val="solid"/>
          </a:ln>
        </p:spPr>
      </p:sp>
      <p:sp>
        <p:nvSpPr>
          <p:cNvPr id="14" name="connector-53bd068d-4e95-49da-a5e9-6f4c296eee03-1"/>
          <p:cNvSpPr/>
          <p:nvPr/>
        </p:nvSpPr>
        <p:spPr>
          <a:xfrm flipV="1">
            <a:off x="2571750" y="2514600"/>
            <a:ext cx="994410" cy="22860"/>
          </a:xfrm>
          <a:prstGeom prst="line">
            <a:avLst/>
          </a:prstGeom>
          <a:noFill/>
          <a:ln w="28575">
            <a:solidFill>
              <a:srgbClr val="D90368"/>
            </a:solidFill>
            <a:prstDash val="solid"/>
          </a:ln>
        </p:spPr>
      </p:sp>
      <p:sp>
        <p:nvSpPr>
          <p:cNvPr id="15" name="connector-53bd068d-4e95-49da-a5e9-6f4c296eee03-2"/>
          <p:cNvSpPr/>
          <p:nvPr/>
        </p:nvSpPr>
        <p:spPr>
          <a:xfrm flipV="1">
            <a:off x="2571750" y="3429000"/>
            <a:ext cx="994410" cy="22860"/>
          </a:xfrm>
          <a:prstGeom prst="line">
            <a:avLst/>
          </a:prstGeom>
          <a:noFill/>
          <a:ln w="28575">
            <a:solidFill>
              <a:srgbClr val="D68C45"/>
            </a:solidFill>
            <a:prstDash val="solid"/>
          </a:ln>
        </p:spPr>
      </p:sp>
      <p:sp>
        <p:nvSpPr>
          <p:cNvPr id="16" name="connector-53bd068d-4e95-49da-a5e9-6f4c296eee03-3"/>
          <p:cNvSpPr/>
          <p:nvPr/>
        </p:nvSpPr>
        <p:spPr>
          <a:xfrm flipV="1">
            <a:off x="2571750" y="1600200"/>
            <a:ext cx="994410" cy="2766060"/>
          </a:xfrm>
          <a:prstGeom prst="line">
            <a:avLst/>
          </a:prstGeom>
          <a:noFill/>
          <a:ln w="28575">
            <a:solidFill>
              <a:srgbClr val="4579A9"/>
            </a:solidFill>
            <a:prstDash val="solid"/>
          </a:ln>
        </p:spPr>
      </p:sp>
      <p:sp>
        <p:nvSpPr>
          <p:cNvPr id="17" name="d66194b3-f6a3-419d-b762-0d4831e80fe5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09E9E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</a:t>
            </a:r>
            <a:endParaRPr lang="en-US" sz="913" dirty="0"/>
          </a:p>
        </p:txBody>
      </p:sp>
      <p:sp>
        <p:nvSpPr>
          <p:cNvPr id="18" name="f6f328bd-0626-4aae-a593-1d8a94ac5998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90368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</a:t>
            </a:r>
            <a:endParaRPr lang="en-US" sz="913" dirty="0"/>
          </a:p>
        </p:txBody>
      </p:sp>
      <p:sp>
        <p:nvSpPr>
          <p:cNvPr id="19" name="baf44396-296e-4431-a747-fc30bee41697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</a:t>
            </a:r>
            <a:endParaRPr lang="en-US" sz="913" dirty="0"/>
          </a:p>
        </p:txBody>
      </p:sp>
      <p:sp>
        <p:nvSpPr>
          <p:cNvPr id="20" name="d3e90c3a-0836-413c-906d-71a5e5fe146c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579A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</a:t>
            </a:r>
            <a:endParaRPr lang="en-US" sz="913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3a4238a-a1c0-45f1-9d41-fb1c4b7be693" descr="/home/forge/chalkie-production-workers-1/releases/77481629/backend/storage/app/render-specs/1186dccf-d15e-443e-bc35-b12d415255e8/img_8e8c95cd62039888239a5fc6d288b0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3ae09580-277c-44c0-a1d4-d19b7b7a7750"/>
          <p:cNvSpPr/>
          <p:nvPr/>
        </p:nvSpPr>
        <p:spPr>
          <a:xfrm>
            <a:off x="285750" y="22631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Oficina Prática: Folha de Pagamento</a:t>
            </a:r>
            <a:endParaRPr lang="en-US" sz="2246" dirty="0"/>
          </a:p>
        </p:txBody>
      </p:sp>
      <p:sp>
        <p:nvSpPr>
          <p:cNvPr id="4" name="89432d2f-84fb-4a2f-b374-0016807153e5"/>
          <p:cNvSpPr/>
          <p:nvPr/>
        </p:nvSpPr>
        <p:spPr>
          <a:xfrm>
            <a:off x="285750" y="289179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Chegou a hora de consolidar o conhecimento unindo estrutura, fórmulas matemáticas e tomada de decisão em um caso real de RH.</a:t>
            </a:r>
            <a:endParaRPr lang="en-US" sz="1264" dirty="0"/>
          </a:p>
        </p:txBody>
      </p:sp>
      <p:sp>
        <p:nvSpPr>
          <p:cNvPr id="5" name="cc7f1efb-f9d8-459e-958b-7c69b7b0b497"/>
          <p:cNvSpPr/>
          <p:nvPr/>
        </p:nvSpPr>
        <p:spPr>
          <a:xfrm>
            <a:off x="285750" y="370332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Vamos construir uma folha de pagamentos automatizada com salários brutos, descontos de INSS, bônus condicional e salário líquido.</a:t>
            </a:r>
            <a:endParaRPr lang="en-US" sz="1264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f16a22a-b68f-45c9-a824-ddf42069daf0"/>
          <p:cNvSpPr/>
          <p:nvPr/>
        </p:nvSpPr>
        <p:spPr>
          <a:xfrm>
            <a:off x="171450" y="914400"/>
            <a:ext cx="293751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3" name="6896a05b-d868-46f4-98fd-c271128e6025"/>
          <p:cNvSpPr/>
          <p:nvPr/>
        </p:nvSpPr>
        <p:spPr>
          <a:xfrm>
            <a:off x="3108960" y="914400"/>
            <a:ext cx="293751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4" name="5e5abd7b-b84e-4c08-9330-05ef917ef759"/>
          <p:cNvSpPr/>
          <p:nvPr/>
        </p:nvSpPr>
        <p:spPr>
          <a:xfrm>
            <a:off x="6035040" y="914400"/>
            <a:ext cx="293751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a10f1f76-3cfe-41dc-a1a3-d3b83024f2e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 1: Estrutura da Planilha</a:t>
            </a:r>
            <a:endParaRPr lang="en-US" sz="2246" dirty="0"/>
          </a:p>
        </p:txBody>
      </p:sp>
      <p:sp>
        <p:nvSpPr>
          <p:cNvPr id="6" name="46a2570e-20c0-46ac-a391-4d656275abdc"/>
          <p:cNvSpPr/>
          <p:nvPr/>
        </p:nvSpPr>
        <p:spPr>
          <a:xfrm>
            <a:off x="285750" y="1371600"/>
            <a:ext cx="270891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Defina os cabeçalhos das colunas: Funcionário, Salário Bruto, Vendas, INSS, Bônus e Líquido.</a:t>
            </a:r>
            <a:endParaRPr lang="en-US" sz="1264" dirty="0"/>
          </a:p>
        </p:txBody>
      </p:sp>
      <p:sp>
        <p:nvSpPr>
          <p:cNvPr id="7" name="35f903dd-7ec2-465b-a1ce-4277a285278b"/>
          <p:cNvSpPr/>
          <p:nvPr/>
        </p:nvSpPr>
        <p:spPr>
          <a:xfrm>
            <a:off x="3223260" y="1371600"/>
            <a:ext cx="270891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Cadastre os valores na célula isolada H1: coloque a taxa fixa do INSS em 11% (0,11).</a:t>
            </a:r>
            <a:endParaRPr lang="en-US" sz="1264" dirty="0"/>
          </a:p>
        </p:txBody>
      </p:sp>
      <p:sp>
        <p:nvSpPr>
          <p:cNvPr id="8" name="7fabaf92-16e8-4f85-9e72-28565c82371c"/>
          <p:cNvSpPr/>
          <p:nvPr/>
        </p:nvSpPr>
        <p:spPr>
          <a:xfrm>
            <a:off x="6149340" y="1371600"/>
            <a:ext cx="270891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Formate todas as colunas de valores monetários utilizando o formato Moeda (R$).</a:t>
            </a:r>
            <a:endParaRPr lang="en-US" sz="1264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5ca1be3-6eb8-4c0b-bb85-8dd3d8eeecb7" descr="/home/forge/chalkie-production-workers-1/releases/77481629/backend/storage/app/render-specs/1186dccf-d15e-443e-bc35-b12d415255e8/img_98430f39925d00acb56f7c95a3ea00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714730d1-0831-490f-b29b-afc0d434a773" descr="/home/forge/chalkie-production-workers-1/releases/77481629/backend/storage/app/render-specs/1186dccf-d15e-443e-bc35-b12d415255e8/img_f27f8d6deaf9c244d65002c029bbc9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b2d566f2-6a58-4f82-a6cc-b0c0ec24400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 2: Fórmulas Automatizadas</a:t>
            </a:r>
            <a:endParaRPr lang="en-US" sz="2246" dirty="0"/>
          </a:p>
        </p:txBody>
      </p:sp>
      <p:sp>
        <p:nvSpPr>
          <p:cNvPr id="5" name="610ede2e-0034-4a44-9446-16011fbab839"/>
          <p:cNvSpPr/>
          <p:nvPr/>
        </p:nvSpPr>
        <p:spPr>
          <a:xfrm>
            <a:off x="285750" y="299466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Cálculo do INSS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coluna D, digite .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Usamos a referência absoluta  para travar a taxa ao arrastar a fórmula.</a:t>
            </a:r>
            <a:endParaRPr lang="en-US" sz="1544" dirty="0"/>
          </a:p>
        </p:txBody>
      </p:sp>
      <p:sp>
        <p:nvSpPr>
          <p:cNvPr id="6" name="5d76d9bb-a233-4773-b359-15d2b3c38bb4"/>
          <p:cNvSpPr/>
          <p:nvPr/>
        </p:nvSpPr>
        <p:spPr>
          <a:xfrm>
            <a:off x="4652010" y="299466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Bônus por Vendas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coluna E, use a função .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Vendas de R$ 10.000 ou mais ganham R$ 500 de bônus; abaixo disso, recebem zero.</a:t>
            </a:r>
            <a:endParaRPr lang="en-US" sz="1544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cde6038-a77d-4df9-a137-c30cf76eb89d" descr="/home/forge/chalkie-production-workers-1/releases/77481629/backend/storage/app/render-specs/1186dccf-d15e-443e-bc35-b12d415255e8/img_89447f895e8651d0f1462ca5133cb2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c08fc9f2-b667-41ae-9df3-1052945b05b3" descr="/home/forge/chalkie-production-workers-1/releases/77481629/backend/storage/app/render-specs/1186dccf-d15e-443e-bc35-b12d415255e8/img_3e6d2503ecf8628061792e50ef10e2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3d1f221b-d70c-4d70-ba6f-543d41465d3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 3: Salário Líquido e Totais</a:t>
            </a:r>
            <a:endParaRPr lang="en-US" sz="2246" dirty="0"/>
          </a:p>
        </p:txBody>
      </p:sp>
      <p:sp>
        <p:nvSpPr>
          <p:cNvPr id="5" name="67c1a870-bfb9-4201-8ed5-dfa3c23e52ac"/>
          <p:cNvSpPr/>
          <p:nvPr/>
        </p:nvSpPr>
        <p:spPr>
          <a:xfrm>
            <a:off x="28575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Salário Líquido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coluna F (Líquido), monte a fórmula aritmética: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Salário Bruto menos o desconto do INSS mais o bônus conquistado no mês.</a:t>
            </a:r>
            <a:endParaRPr lang="en-US" sz="1544" dirty="0"/>
          </a:p>
        </p:txBody>
      </p:sp>
      <p:sp>
        <p:nvSpPr>
          <p:cNvPr id="6" name="294feff0-5c73-4bd4-b555-b6d7f4d48fb2"/>
          <p:cNvSpPr/>
          <p:nvPr/>
        </p:nvSpPr>
        <p:spPr>
          <a:xfrm>
            <a:off x="4652010" y="299466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Totais da Empresa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última linha de resumo: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Custo total: 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Salário médio: 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Funcionários: </a:t>
            </a:r>
            <a:endParaRPr lang="en-US" sz="1544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7730c60-474f-4a97-afd5-b7351711ff31" descr="/home/forge/chalkie-production-workers-1/releases/77481629/backend/storage/app/render-specs/1186dccf-d15e-443e-bc35-b12d415255e8/img_b8e2e30cbb6ba10a8acb00af0ff4be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sp>
        <p:nvSpPr>
          <p:cNvPr id="3" name="289260d1-9b47-44c4-8e10-c38daacc8a0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Desafio Prático de Gestão</a:t>
            </a:r>
            <a:endParaRPr lang="en-US" sz="2246" dirty="0"/>
          </a:p>
        </p:txBody>
      </p:sp>
      <p:sp>
        <p:nvSpPr>
          <p:cNvPr id="4" name="68bb92c4-b035-4078-99bc-8aacc0574b09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Abra a planilha e execute o projeto de folha de pagamento: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Crie tabela com 5 funcionários, salários e vendas.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Em H1, insira 11% e calcule o INSS usando ($H$1).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Aplique bônus: se vendas &gt; 8.000, pague 400.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Calcule o Salário Líquido, média e total da folha.</a:t>
            </a:r>
            <a:endParaRPr lang="en-US" sz="1264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4c3a19-56c2-447f-a854-1339229014b4" descr="/home/forge/chalkie-production-workers-1/releases/77481629/backend/storage/app/render-specs/1186dccf-d15e-443e-bc35-b12d415255e8/img_88f2cf22d50efe57d124336ea25cb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3" name="70e18b5e-776e-45d8-a58a-b61041dfdf5c" descr="/home/forge/chalkie-production-workers-1/releases/77481629/backend/storage/app/render-specs/1186dccf-d15e-443e-bc35-b12d415255e8/img_b1a7e6c6eb7316a25e97bdc45c8446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4" name="eb757a0c-2776-412d-9f2a-bd3fb4337d3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Eficiência e Riscos</a:t>
            </a:r>
            <a:endParaRPr lang="en-US" sz="2246" dirty="0"/>
          </a:p>
        </p:txBody>
      </p:sp>
      <p:sp>
        <p:nvSpPr>
          <p:cNvPr id="5" name="5634bc20-b831-43d7-8f26-4d99a60d9ac8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erros em referências absolutas ou de fórmulas no Excel podem gerar grandes prejuízos para a administração de uma empresa?</a:t>
            </a:r>
            <a:endParaRPr lang="en-US" sz="1264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4c3a19-56c2-447f-a854-1339229014b4" descr="/home/forge/chalkie-production-workers-1/releases/77481629/backend/storage/app/render-specs/1186dccf-d15e-443e-bc35-b12d415255e8/img_88f2cf22d50efe57d124336ea25cb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3" name="eb757a0c-2776-412d-9f2a-bd3fb4337d3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Eficiência e Riscos</a:t>
            </a:r>
            <a:endParaRPr lang="en-US" sz="2246" dirty="0"/>
          </a:p>
        </p:txBody>
      </p:sp>
      <p:sp>
        <p:nvSpPr>
          <p:cNvPr id="4" name="9c052017-fc53-4b55-abac-d2337d064913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poderia ter dito...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fórmula incorreta pode se propagar para milhares de linhas despercebida.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Isso acarreta pagamentos indevidos, erros tributários e distorção em relatórios que embasam decisões estratégicas da diretoria.</a:t>
            </a:r>
            <a:endParaRPr lang="en-US" sz="1264" dirty="0"/>
          </a:p>
        </p:txBody>
      </p:sp>
      <p:sp>
        <p:nvSpPr>
          <p:cNvPr id="5" name="d3486c4e-50b8-4e67-aa39-10c33dc9fdc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2217</Words>
  <Application>Microsoft Office PowerPoint</Application>
  <PresentationFormat>Apresentação no Ecrã (16:9)</PresentationFormat>
  <Paragraphs>318</Paragraphs>
  <Slides>41</Slides>
  <Notes>41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41</vt:i4>
      </vt:variant>
    </vt:vector>
  </HeadingPairs>
  <TitlesOfParts>
    <vt:vector size="44" baseType="lpstr">
      <vt:lpstr>Dyslexie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Básico: Interface e Fórmulas</dc:title>
  <dc:subject>PptxGenJS Presentation</dc:subject>
  <dc:creator>PptxGenJS</dc:creator>
  <cp:lastModifiedBy>Gelvazio Camargo - HOTMAIL</cp:lastModifiedBy>
  <cp:revision>3</cp:revision>
  <dcterms:created xsi:type="dcterms:W3CDTF">2026-09-11T11:20:06Z</dcterms:created>
  <dcterms:modified xsi:type="dcterms:W3CDTF">2026-09-14T11:50:27Z</dcterms:modified>
</cp:coreProperties>
</file>