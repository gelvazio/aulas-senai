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embeddedFontLst>
    <p:embeddedFont>
      <p:font typeface="Dyslexie"/>
      <p:regular r:id="rId48"/>
      <p:bold r:id="rId4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openxmlformats.org/officeDocument/2006/relationships/font" Target="fonts/font1.fntdata"/><Relationship Id="rId4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iu9C1KYB6RU" TargetMode="External"/><Relationship Id="rId1" Type="http://schemas.openxmlformats.org/officeDocument/2006/relationships/image" Target="../media/Slide-22-image-1.jpeg"/><Relationship Id="rId2" Type="http://schemas.openxmlformats.org/officeDocument/2006/relationships/image" Target="../media/image-22-2.jpg"/><Relationship Id="rId4" Type="http://schemas.openxmlformats.org/officeDocument/2006/relationships/slideLayout" Target="../slideLayouts/slideLayout1.xml"/><Relationship Id="rId5" Type="http://schemas.openxmlformats.org/officeDocument/2006/relationships/notesSlide" Target="../notesSlides/notesSlide22.xml"/><Relationship Id="rId6" Type="http://schemas.openxmlformats.org/officeDocument/2006/relationships/video" Target="https://www.youtube.com/embed/iu9C1KYB6RU?feature=oembed" TargetMode="Externa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jpe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jpe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jpe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jpe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jpe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6bb8c5c1-d3a6-4d45-9706-423915862d46" descr="/home/forge/chalkie-production-workers-1/releases/77481629/backend/storage/app/render-specs/5dac6ab7-4967-4c82-be18-2b0e49610a6a/img_0443e6223c6975c3a6692ba9484a6241.png">    </p:cNvPr>
          <p:cNvPicPr>
            <a:picLocks noChangeAspect="1"/>
          </p:cNvPicPr>
          <p:nvPr/>
        </p:nvPicPr>
        <p:blipFill>
          <a:blip r:embed="rId2"/>
          <a:stretch>
            <a:fillRect/>
          </a:stretch>
        </p:blipFill>
        <p:spPr>
          <a:xfrm>
            <a:off x="937260" y="742950"/>
            <a:ext cx="3657600" cy="3657600"/>
          </a:xfrm>
          <a:prstGeom prst="roundRect">
            <a:avLst>
              <a:gd name="adj" fmla="val 3750"/>
            </a:avLst>
          </a:prstGeom>
        </p:spPr>
      </p:pic>
      <p:sp>
        <p:nvSpPr>
          <p:cNvPr id="3" name="54cf403f-6220-4668-bf82-462ed1bf6407"/>
          <p:cNvSpPr/>
          <p:nvPr/>
        </p:nvSpPr>
        <p:spPr>
          <a:xfrm>
            <a:off x="4914900" y="1257300"/>
            <a:ext cx="3829050" cy="1819656"/>
          </a:xfrm>
          <a:prstGeom prst="rect">
            <a:avLst/>
          </a:prstGeom>
          <a:noFill/>
          <a:ln/>
        </p:spPr>
        <p:txBody>
          <a:bodyPr wrap="square" lIns="45720" tIns="45720" rIns="45720" bIns="45720" rtlCol="0" anchor="t"/>
          <a:lstStyle/>
          <a:p>
            <a:pPr algn="l" indent="0" marL="0">
              <a:lnSpc>
                <a:spcPts val="4018"/>
              </a:lnSpc>
              <a:spcBef>
                <a:spcPts val="450"/>
              </a:spcBef>
              <a:spcAft>
                <a:spcPts val="450"/>
              </a:spcAft>
              <a:buNone/>
            </a:pPr>
            <a:r>
              <a:rPr lang="en-US" sz="2527" b="1" dirty="0">
                <a:solidFill>
                  <a:srgbClr val="E8C85A"/>
                </a:solidFill>
                <a:latin typeface="Dyslexie" pitchFamily="34" charset="0"/>
                <a:ea typeface="Dyslexie" pitchFamily="34" charset="-122"/>
                <a:cs typeface="Dyslexie" pitchFamily="34" charset="-120"/>
              </a:rPr>
              <a:t>Excel Avançado: Tabelas Dinâmicas e Gráficos</a:t>
            </a:r>
            <a:endParaRPr lang="en-US" sz="2527" dirty="0"/>
          </a:p>
        </p:txBody>
      </p:sp>
      <p:sp>
        <p:nvSpPr>
          <p:cNvPr id="4" name="b1fe06e2-143e-4269-a574-8918ea5724d3"/>
          <p:cNvSpPr/>
          <p:nvPr/>
        </p:nvSpPr>
        <p:spPr>
          <a:xfrm>
            <a:off x="4914900" y="2960370"/>
            <a:ext cx="382905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Transformando dados brutos em inteligência visual para gestão.</a:t>
            </a:r>
            <a:endParaRPr lang="en-US" sz="126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1e1870ca-3870-4667-bea9-b31bfc4ed514" descr="/home/forge/chalkie-production-workers-1/releases/77481629/backend/storage/app/render-specs/5dac6ab7-4967-4c82-be18-2b0e49610a6a/img_acc568fa937d173a5581dd9818f9b8dd.png">    </p:cNvPr>
          <p:cNvPicPr>
            <a:picLocks noChangeAspect="1"/>
          </p:cNvPicPr>
          <p:nvPr/>
        </p:nvPicPr>
        <p:blipFill>
          <a:blip r:embed="rId2"/>
          <a:stretch>
            <a:fillRect/>
          </a:stretch>
        </p:blipFill>
        <p:spPr>
          <a:xfrm>
            <a:off x="5657850" y="0"/>
            <a:ext cx="3486150" cy="5143500"/>
          </a:xfrm>
          <a:prstGeom prst="roundRect">
            <a:avLst>
              <a:gd name="adj" fmla="val 3934"/>
            </a:avLst>
          </a:prstGeom>
        </p:spPr>
      </p:pic>
      <p:sp>
        <p:nvSpPr>
          <p:cNvPr id="3" name="a4a64397-2d18-4817-94cf-24c4fe9021cb"/>
          <p:cNvSpPr/>
          <p:nvPr/>
        </p:nvSpPr>
        <p:spPr>
          <a:xfrm>
            <a:off x="285750" y="1405890"/>
            <a:ext cx="5143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O Mistério de Mil Linhas</a:t>
            </a:r>
            <a:endParaRPr lang="en-US" sz="2246" dirty="0"/>
          </a:p>
        </p:txBody>
      </p:sp>
      <p:sp>
        <p:nvSpPr>
          <p:cNvPr id="4" name="d58df374-ef2e-421c-9937-bd68f83eaac6"/>
          <p:cNvSpPr/>
          <p:nvPr/>
        </p:nvSpPr>
        <p:spPr>
          <a:xfrm>
            <a:off x="285750" y="2034540"/>
            <a:ext cx="5143500" cy="1531620"/>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Imagine receber uma planilha com dez mil vendas do ano inteiro. O diretor entra na sala e pede agora o total vendido em cada região, mês a mês. Você somaria linha por linha com calculadora ou resolveria tudo em dois cliques?</a:t>
            </a:r>
            <a:endParaRPr lang="en-US" sz="126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0af057ea-9062-45b8-ad35-ee82bf639ab7" descr="/home/forge/chalkie-production-workers-1/releases/77481629/backend/storage/app/render-specs/5dac6ab7-4967-4c82-be18-2b0e49610a6a/img_5b595dc8e53e7fcabd5f1cf5b8bb89b6.png">    </p:cNvPr>
          <p:cNvPicPr>
            <a:picLocks noChangeAspect="1"/>
          </p:cNvPicPr>
          <p:nvPr/>
        </p:nvPicPr>
        <p:blipFill>
          <a:blip r:embed="rId2"/>
          <a:stretch>
            <a:fillRect/>
          </a:stretch>
        </p:blipFill>
        <p:spPr>
          <a:xfrm>
            <a:off x="285750" y="800100"/>
            <a:ext cx="3829050" cy="4057650"/>
          </a:xfrm>
          <a:prstGeom prst="roundRect">
            <a:avLst>
              <a:gd name="adj" fmla="val 3582"/>
            </a:avLst>
          </a:prstGeom>
        </p:spPr>
      </p:pic>
      <p:sp>
        <p:nvSpPr>
          <p:cNvPr id="3" name="8c4639bc-b4ab-451e-9f67-15f9a1695101"/>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Objetivos da Aula de Hoje</a:t>
            </a:r>
            <a:endParaRPr lang="en-US" sz="2246" dirty="0"/>
          </a:p>
        </p:txBody>
      </p:sp>
      <p:sp>
        <p:nvSpPr>
          <p:cNvPr id="4" name="f051f243-64b4-439a-ab25-42c34e7efbd2"/>
          <p:cNvSpPr/>
          <p:nvPr/>
        </p:nvSpPr>
        <p:spPr>
          <a:xfrm>
            <a:off x="4286250" y="800100"/>
            <a:ext cx="4572000" cy="1243584"/>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Neste encontro avançado, você vai dominar ferramentas essenciais de visualização e análise rápida:</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Estruturar Tabelas Dinâmicas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com filtros, grupos e cálculos rápidos.</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Conectar Segmentações de Dados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para criar relatórios interativos e ágeis.</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Construir Gráficos Dinâmicos e Combinados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com múltiplos eixos visuais.</a:t>
            </a:r>
            <a:endParaRPr lang="en-US" sz="126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d495e2d4-1718-4765-aef2-4bf63362dca8" descr="/home/forge/chalkie-production-workers-1/releases/77481629/backend/storage/app/render-specs/5dac6ab7-4967-4c82-be18-2b0e49610a6a/img_8f1c7388854a03577493dcd50e769961.png">    </p:cNvPr>
          <p:cNvPicPr>
            <a:picLocks noChangeAspect="1"/>
          </p:cNvPicPr>
          <p:nvPr/>
        </p:nvPicPr>
        <p:blipFill>
          <a:blip r:embed="rId2"/>
          <a:stretch>
            <a:fillRect/>
          </a:stretch>
        </p:blipFill>
        <p:spPr>
          <a:xfrm>
            <a:off x="285750" y="1600200"/>
            <a:ext cx="1977390" cy="1714500"/>
          </a:xfrm>
          <a:prstGeom prst="roundRect">
            <a:avLst>
              <a:gd name="adj" fmla="val 8000"/>
            </a:avLst>
          </a:prstGeom>
        </p:spPr>
      </p:pic>
      <p:pic>
        <p:nvPicPr>
          <p:cNvPr id="3" name="1ba3a42a-dbd9-48f7-bfcc-003fdcbef449" descr="/home/forge/chalkie-production-workers-1/releases/77481629/backend/storage/app/render-specs/5dac6ab7-4967-4c82-be18-2b0e49610a6a/img_c30b3976f64bd1cc25f717167e49a808.png">    </p:cNvPr>
          <p:cNvPicPr>
            <a:picLocks noChangeAspect="1"/>
          </p:cNvPicPr>
          <p:nvPr/>
        </p:nvPicPr>
        <p:blipFill>
          <a:blip r:embed="rId3"/>
          <a:stretch>
            <a:fillRect/>
          </a:stretch>
        </p:blipFill>
        <p:spPr>
          <a:xfrm>
            <a:off x="2491740" y="914400"/>
            <a:ext cx="1977390" cy="1714500"/>
          </a:xfrm>
          <a:prstGeom prst="roundRect">
            <a:avLst>
              <a:gd name="adj" fmla="val 8000"/>
            </a:avLst>
          </a:prstGeom>
        </p:spPr>
      </p:pic>
      <p:pic>
        <p:nvPicPr>
          <p:cNvPr id="4" name="4289b312-64e2-4971-8277-a7e5a6042356" descr="/home/forge/chalkie-production-workers-1/releases/77481629/backend/storage/app/render-specs/5dac6ab7-4967-4c82-be18-2b0e49610a6a/img_55e7342eec795905c307f5124d3d447f.png">    </p:cNvPr>
          <p:cNvPicPr>
            <a:picLocks noChangeAspect="1"/>
          </p:cNvPicPr>
          <p:nvPr/>
        </p:nvPicPr>
        <p:blipFill>
          <a:blip r:embed="rId4"/>
          <a:stretch>
            <a:fillRect/>
          </a:stretch>
        </p:blipFill>
        <p:spPr>
          <a:xfrm>
            <a:off x="4686300" y="1600200"/>
            <a:ext cx="1977390" cy="1714500"/>
          </a:xfrm>
          <a:prstGeom prst="roundRect">
            <a:avLst>
              <a:gd name="adj" fmla="val 8000"/>
            </a:avLst>
          </a:prstGeom>
        </p:spPr>
      </p:pic>
      <p:pic>
        <p:nvPicPr>
          <p:cNvPr id="5" name="5376e7be-c7d2-459e-8d22-6ff280624bf5" descr="/home/forge/chalkie-production-workers-1/releases/77481629/backend/storage/app/render-specs/5dac6ab7-4967-4c82-be18-2b0e49610a6a/img_98a21831e1a5a4fb4d33059c59ed4e7c.png">    </p:cNvPr>
          <p:cNvPicPr>
            <a:picLocks noChangeAspect="1"/>
          </p:cNvPicPr>
          <p:nvPr/>
        </p:nvPicPr>
        <p:blipFill>
          <a:blip r:embed="rId5"/>
          <a:stretch>
            <a:fillRect/>
          </a:stretch>
        </p:blipFill>
        <p:spPr>
          <a:xfrm>
            <a:off x="6892290" y="914400"/>
            <a:ext cx="1977390" cy="1714500"/>
          </a:xfrm>
          <a:prstGeom prst="roundRect">
            <a:avLst>
              <a:gd name="adj" fmla="val 8000"/>
            </a:avLst>
          </a:prstGeom>
        </p:spPr>
      </p:pic>
      <p:sp>
        <p:nvSpPr>
          <p:cNvPr id="6" name="37ce8408-792e-43a3-89e6-54a2b67bcb02"/>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Vocabulário Essencial de Análise</a:t>
            </a:r>
            <a:endParaRPr lang="en-US" sz="2246" dirty="0"/>
          </a:p>
        </p:txBody>
      </p:sp>
      <p:sp>
        <p:nvSpPr>
          <p:cNvPr id="7" name="e362fdaa-594a-4d2f-a570-1e12b58ac0d2"/>
          <p:cNvSpPr/>
          <p:nvPr/>
        </p:nvSpPr>
        <p:spPr>
          <a:xfrm>
            <a:off x="285750" y="3429000"/>
            <a:ext cx="1977390" cy="1243584"/>
          </a:xfrm>
          <a:prstGeom prst="rect">
            <a:avLst/>
          </a:prstGeom>
          <a:noFill/>
          <a:ln/>
        </p:spPr>
        <p:txBody>
          <a:bodyPr wrap="square" lIns="45720" tIns="45720" rIns="45720" bIns="45720" rtlCol="0" anchor="t"/>
          <a:lstStyle/>
          <a:p>
            <a:pPr algn="ctr"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Dinâmica</a:t>
            </a:r>
            <a:pPr algn="ctr"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 Reorganiza campos instantaneamente sem alterar a base original.</a:t>
            </a:r>
            <a:endParaRPr lang="en-US" sz="1264" dirty="0"/>
          </a:p>
        </p:txBody>
      </p:sp>
      <p:sp>
        <p:nvSpPr>
          <p:cNvPr id="8" name="10934b00-263f-4693-a52a-0dc1a51de1e1"/>
          <p:cNvSpPr/>
          <p:nvPr/>
        </p:nvSpPr>
        <p:spPr>
          <a:xfrm>
            <a:off x="2491740" y="2743200"/>
            <a:ext cx="1977390" cy="1243584"/>
          </a:xfrm>
          <a:prstGeom prst="rect">
            <a:avLst/>
          </a:prstGeom>
          <a:noFill/>
          <a:ln/>
        </p:spPr>
        <p:txBody>
          <a:bodyPr wrap="square" lIns="45720" tIns="45720" rIns="45720" bIns="45720" rtlCol="0" anchor="t"/>
          <a:lstStyle/>
          <a:p>
            <a:pPr algn="ctr"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Gráfico</a:t>
            </a:r>
            <a:pPr algn="ctr"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 Representação geométrica que revela tendências e comparações.</a:t>
            </a:r>
            <a:endParaRPr lang="en-US" sz="1264" dirty="0"/>
          </a:p>
        </p:txBody>
      </p:sp>
      <p:sp>
        <p:nvSpPr>
          <p:cNvPr id="9" name="3936657d-2074-4496-9864-d7bb5e459b4b"/>
          <p:cNvSpPr/>
          <p:nvPr/>
        </p:nvSpPr>
        <p:spPr>
          <a:xfrm>
            <a:off x="4686300" y="3429000"/>
            <a:ext cx="1977390" cy="1243584"/>
          </a:xfrm>
          <a:prstGeom prst="rect">
            <a:avLst/>
          </a:prstGeom>
          <a:noFill/>
          <a:ln/>
        </p:spPr>
        <p:txBody>
          <a:bodyPr wrap="square" lIns="45720" tIns="45720" rIns="45720" bIns="45720" rtlCol="0" anchor="t"/>
          <a:lstStyle/>
          <a:p>
            <a:pPr algn="ctr"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Segmentação</a:t>
            </a:r>
            <a:pPr algn="ctr"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 Filtro visual com botões para refinar relatórios dinâmicos.</a:t>
            </a:r>
            <a:endParaRPr lang="en-US" sz="1264" dirty="0"/>
          </a:p>
        </p:txBody>
      </p:sp>
      <p:sp>
        <p:nvSpPr>
          <p:cNvPr id="10" name="adaaf595-1d87-4a1a-861d-dbb4034c8aea"/>
          <p:cNvSpPr/>
          <p:nvPr/>
        </p:nvSpPr>
        <p:spPr>
          <a:xfrm>
            <a:off x="6892290" y="2743200"/>
            <a:ext cx="1977390" cy="1243584"/>
          </a:xfrm>
          <a:prstGeom prst="rect">
            <a:avLst/>
          </a:prstGeom>
          <a:noFill/>
          <a:ln/>
        </p:spPr>
        <p:txBody>
          <a:bodyPr wrap="square" lIns="45720" tIns="45720" rIns="45720" bIns="45720" rtlCol="0" anchor="t"/>
          <a:lstStyle/>
          <a:p>
            <a:pPr algn="ctr"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Agrupamento</a:t>
            </a:r>
            <a:pPr algn="ctr"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 União de dados em blocos temporais ou faixas de valores.</a:t>
            </a:r>
            <a:endParaRPr lang="en-US" sz="126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b806067a-670d-40f9-9faf-2114b638f6d3" descr="/home/forge/chalkie-production-workers-1/releases/77481629/backend/storage/app/render-specs/5dac6ab7-4967-4c82-be18-2b0e49610a6a/img_86bec73e4a0100ccc66cbd2e78a957b7.png">    </p:cNvPr>
          <p:cNvPicPr>
            <a:picLocks noChangeAspect="1"/>
          </p:cNvPicPr>
          <p:nvPr/>
        </p:nvPicPr>
        <p:blipFill>
          <a:blip r:embed="rId2"/>
          <a:stretch>
            <a:fillRect/>
          </a:stretch>
        </p:blipFill>
        <p:spPr>
          <a:xfrm>
            <a:off x="5657850" y="0"/>
            <a:ext cx="3486150" cy="5143500"/>
          </a:xfrm>
          <a:prstGeom prst="roundRect">
            <a:avLst>
              <a:gd name="adj" fmla="val 3934"/>
            </a:avLst>
          </a:prstGeom>
        </p:spPr>
      </p:pic>
      <p:sp>
        <p:nvSpPr>
          <p:cNvPr id="3" name="e087002e-081a-4db8-b771-a566abdd8a23"/>
          <p:cNvSpPr/>
          <p:nvPr/>
        </p:nvSpPr>
        <p:spPr>
          <a:xfrm>
            <a:off x="285750" y="171450"/>
            <a:ext cx="5143500" cy="1115568"/>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Recapitulação: Busca e Agregações</a:t>
            </a:r>
            <a:endParaRPr lang="en-US" sz="2246" dirty="0"/>
          </a:p>
        </p:txBody>
      </p:sp>
      <p:sp>
        <p:nvSpPr>
          <p:cNvPr id="4" name="45fc5dca-ee4e-4de9-9c83-3bc9fea197a4"/>
          <p:cNvSpPr/>
          <p:nvPr/>
        </p:nvSpPr>
        <p:spPr>
          <a:xfrm>
            <a:off x="285750" y="125730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Revisão de busca e agregação condicional:</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PROCV: Busca vertical à direita.</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ÍNDICE/CORRESPONDÊNCIA: Busca bidirecional flexível.</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SOMASE/CONT.SE: Agregações por regras.</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SEERRO: Tratamento de erros em fórmulas.</a:t>
            </a:r>
            <a:endParaRPr lang="en-US" sz="1264" dirty="0"/>
          </a:p>
        </p:txBody>
      </p:sp>
      <p:sp>
        <p:nvSpPr>
          <p:cNvPr id="5" name="4fb625f4-5e5d-453f-b119-bb0e0a1cf6a7_card"/>
          <p:cNvSpPr/>
          <p:nvPr/>
        </p:nvSpPr>
        <p:spPr>
          <a:xfrm>
            <a:off x="285750" y="3383280"/>
            <a:ext cx="5143500" cy="1380744"/>
          </a:xfrm>
          <a:prstGeom prst="roundRect">
            <a:avLst>
              <a:gd name="adj" fmla="val 6623"/>
            </a:avLst>
          </a:prstGeom>
          <a:solidFill>
            <a:srgbClr val="82B4EB">
              <a:alpha val="14902"/>
            </a:srgbClr>
          </a:solidFill>
          <a:ln w="11430">
            <a:solidFill>
              <a:srgbClr val="0B2F50">
                <a:alpha val="20000"/>
              </a:srgbClr>
            </a:solidFill>
            <a:prstDash val="solid"/>
          </a:ln>
        </p:spPr>
      </p:sp>
      <p:sp>
        <p:nvSpPr>
          <p:cNvPr id="6" name="4fb625f4-5e5d-453f-b119-bb0e0a1cf6a7_emoji"/>
          <p:cNvSpPr/>
          <p:nvPr/>
        </p:nvSpPr>
        <p:spPr>
          <a:xfrm>
            <a:off x="400050" y="353187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4fb625f4-5e5d-453f-b119-bb0e0a1cf6a7_text"/>
          <p:cNvSpPr/>
          <p:nvPr/>
        </p:nvSpPr>
        <p:spPr>
          <a:xfrm>
            <a:off x="765810" y="3497580"/>
            <a:ext cx="4549140" cy="1152144"/>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B5D4F4"/>
                </a:solidFill>
                <a:latin typeface="Dyslexie" pitchFamily="34" charset="0"/>
                <a:ea typeface="Dyslexie" pitchFamily="34" charset="-122"/>
                <a:cs typeface="Dyslexie" pitchFamily="34" charset="-120"/>
              </a:rPr>
              <a:t>Lembre-se</a:t>
            </a:r>
            <a:endParaRPr lang="en-US" sz="1123" dirty="0"/>
          </a:p>
          <a:p>
            <a:pPr algn="l" indent="0" marL="0">
              <a:lnSpc>
                <a:spcPts val="2009"/>
              </a:lnSpc>
              <a:spcBef>
                <a:spcPts val="360"/>
              </a:spcBef>
              <a:spcAft>
                <a:spcPts val="360"/>
              </a:spcAft>
              <a:buNone/>
            </a:pPr>
            <a:r>
              <a:rPr lang="en-US" sz="1264" dirty="0">
                <a:solidFill>
                  <a:srgbClr val="B5D4F4"/>
                </a:solidFill>
                <a:latin typeface="Dyslexie" pitchFamily="34" charset="0"/>
                <a:ea typeface="Dyslexie" pitchFamily="34" charset="-122"/>
                <a:cs typeface="Dyslexie" pitchFamily="34" charset="-120"/>
              </a:rPr>
              <a:t>Buscas operam célula a célula; tabelas dinâmicas resumem centenas de categorias instantaneamente.</a:t>
            </a:r>
            <a:endParaRPr lang="en-US" sz="112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5fe1687e-51ee-495e-ad6a-bd3404348669" descr="/home/forge/chalkie-production-workers-1/releases/77481629/backend/storage/app/render-specs/5dac6ab7-4967-4c82-be18-2b0e49610a6a/img_74db676abbf9321227487417a15623c8.png">    </p:cNvPr>
          <p:cNvPicPr>
            <a:picLocks noChangeAspect="1"/>
          </p:cNvPicPr>
          <p:nvPr/>
        </p:nvPicPr>
        <p:blipFill>
          <a:blip r:embed="rId2"/>
          <a:stretch>
            <a:fillRect/>
          </a:stretch>
        </p:blipFill>
        <p:spPr>
          <a:xfrm>
            <a:off x="7349490" y="-91440"/>
            <a:ext cx="1828800" cy="1828800"/>
          </a:xfrm>
          <a:prstGeom prst="roundRect">
            <a:avLst>
              <a:gd name="adj" fmla="val 7500"/>
            </a:avLst>
          </a:prstGeom>
        </p:spPr>
      </p:pic>
      <p:sp>
        <p:nvSpPr>
          <p:cNvPr id="3" name="455388f1-952b-4948-9990-47f7e8335655"/>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Quiz Rápido: Busca e Erros</a:t>
            </a:r>
            <a:endParaRPr lang="en-US" sz="2246" dirty="0"/>
          </a:p>
        </p:txBody>
      </p:sp>
      <p:sp>
        <p:nvSpPr>
          <p:cNvPr id="4" name="5829a0d3-1948-4a7f-8fee-13605413751f"/>
          <p:cNvSpPr/>
          <p:nvPr/>
        </p:nvSpPr>
        <p:spPr>
          <a:xfrm>
            <a:off x="285750" y="1143000"/>
            <a:ext cx="8572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b="1" dirty="0">
                <a:solidFill>
                  <a:srgbClr val="7EB5A6"/>
                </a:solidFill>
                <a:latin typeface="Dyslexie" pitchFamily="34" charset="0"/>
                <a:ea typeface="Dyslexie" pitchFamily="34" charset="-122"/>
                <a:cs typeface="Dyslexie" pitchFamily="34" charset="-120"/>
              </a:rPr>
              <a:t>Pergunta 1:</a:t>
            </a:r>
            <a:endParaRPr lang="en-US" sz="1264" dirty="0"/>
          </a:p>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Qual função evita que fórmulas mostrem erros como #N/D ou #VALOR! na planilha?</a:t>
            </a:r>
            <a:endParaRPr lang="en-US" sz="1264" dirty="0"/>
          </a:p>
        </p:txBody>
      </p:sp>
      <p:sp>
        <p:nvSpPr>
          <p:cNvPr id="5" name="d056a023-88d5-4bd6-af92-71ef150c7e9d"/>
          <p:cNvSpPr/>
          <p:nvPr/>
        </p:nvSpPr>
        <p:spPr>
          <a:xfrm>
            <a:off x="285750" y="2286000"/>
            <a:ext cx="8572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b="1" dirty="0">
                <a:solidFill>
                  <a:srgbClr val="7EB5A6"/>
                </a:solidFill>
                <a:latin typeface="Dyslexie" pitchFamily="34" charset="0"/>
                <a:ea typeface="Dyslexie" pitchFamily="34" charset="-122"/>
                <a:cs typeface="Dyslexie" pitchFamily="34" charset="-120"/>
              </a:rPr>
              <a:t>Pergunta 2:</a:t>
            </a:r>
            <a:endParaRPr lang="en-US" sz="1264" dirty="0"/>
          </a:p>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Por que a combinação ÍNDICE e CORRESPONDÊNCIA é mais versátil que o PROCV?</a:t>
            </a:r>
            <a:endParaRPr lang="en-US" sz="1264" dirty="0"/>
          </a:p>
        </p:txBody>
      </p:sp>
      <p:sp>
        <p:nvSpPr>
          <p:cNvPr id="6" name="1cb76afd-e2c4-44bf-be20-b20c52ab2150"/>
          <p:cNvSpPr/>
          <p:nvPr/>
        </p:nvSpPr>
        <p:spPr>
          <a:xfrm>
            <a:off x="285750" y="3429000"/>
            <a:ext cx="8572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b="1" dirty="0">
                <a:solidFill>
                  <a:srgbClr val="7EB5A6"/>
                </a:solidFill>
                <a:latin typeface="Dyslexie" pitchFamily="34" charset="0"/>
                <a:ea typeface="Dyslexie" pitchFamily="34" charset="-122"/>
                <a:cs typeface="Dyslexie" pitchFamily="34" charset="-120"/>
              </a:rPr>
              <a:t>Pergunta 3:</a:t>
            </a:r>
            <a:endParaRPr lang="en-US" sz="1264" dirty="0"/>
          </a:p>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Qual função usamos para somar vendas apenas quando o vendedor for 'Lucas'?</a:t>
            </a:r>
            <a:endParaRPr lang="en-US" sz="126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455388f1-952b-4948-9990-47f7e8335655"/>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Quiz Rápido: Busca e Erros</a:t>
            </a:r>
            <a:endParaRPr lang="en-US" sz="2246" dirty="0"/>
          </a:p>
        </p:txBody>
      </p:sp>
      <p:sp>
        <p:nvSpPr>
          <p:cNvPr id="3" name="fe6fd859-2240-4e1e-9cce-c88bf6f51662"/>
          <p:cNvSpPr/>
          <p:nvPr/>
        </p:nvSpPr>
        <p:spPr>
          <a:xfrm>
            <a:off x="285750" y="1143000"/>
            <a:ext cx="8572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b="1" dirty="0">
                <a:solidFill>
                  <a:srgbClr val="7EB5A6"/>
                </a:solidFill>
                <a:latin typeface="Dyslexie" pitchFamily="34" charset="0"/>
                <a:ea typeface="Dyslexie" pitchFamily="34" charset="-122"/>
                <a:cs typeface="Dyslexie" pitchFamily="34" charset="-120"/>
              </a:rPr>
              <a:t>Resposta 1:</a:t>
            </a:r>
            <a:endParaRPr lang="en-US" sz="1264" dirty="0"/>
          </a:p>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A função SEERRO (ou IFERROR).</a:t>
            </a:r>
            <a:endParaRPr lang="en-US" sz="1264" dirty="0"/>
          </a:p>
        </p:txBody>
      </p:sp>
      <p:sp>
        <p:nvSpPr>
          <p:cNvPr id="4" name="2ee9329e-2b77-4fd4-ae81-45b0177851d9"/>
          <p:cNvSpPr/>
          <p:nvPr/>
        </p:nvSpPr>
        <p:spPr>
          <a:xfrm>
            <a:off x="285750" y="2286000"/>
            <a:ext cx="8572500" cy="955548"/>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b="1" dirty="0">
                <a:solidFill>
                  <a:srgbClr val="7EB5A6"/>
                </a:solidFill>
                <a:latin typeface="Dyslexie" pitchFamily="34" charset="0"/>
                <a:ea typeface="Dyslexie" pitchFamily="34" charset="-122"/>
                <a:cs typeface="Dyslexie" pitchFamily="34" charset="-120"/>
              </a:rPr>
              <a:t>Resposta 2:</a:t>
            </a:r>
            <a:endParaRPr lang="en-US" sz="1264" dirty="0"/>
          </a:p>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Porque ela permite buscar valores em qualquer direção, inclusive à esquerda da coluna de pesquisa.</a:t>
            </a:r>
            <a:endParaRPr lang="en-US" sz="1264" dirty="0"/>
          </a:p>
        </p:txBody>
      </p:sp>
      <p:sp>
        <p:nvSpPr>
          <p:cNvPr id="5" name="084b55b4-96a8-4fdf-a801-b395a6b72338"/>
          <p:cNvSpPr/>
          <p:nvPr/>
        </p:nvSpPr>
        <p:spPr>
          <a:xfrm>
            <a:off x="285750" y="3429000"/>
            <a:ext cx="8572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b="1" dirty="0">
                <a:solidFill>
                  <a:srgbClr val="7EB5A6"/>
                </a:solidFill>
                <a:latin typeface="Dyslexie" pitchFamily="34" charset="0"/>
                <a:ea typeface="Dyslexie" pitchFamily="34" charset="-122"/>
                <a:cs typeface="Dyslexie" pitchFamily="34" charset="-120"/>
              </a:rPr>
              <a:t>Resposta 3:</a:t>
            </a:r>
            <a:endParaRPr lang="en-US" sz="1264" dirty="0"/>
          </a:p>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A função SOMASE (ou SUMIF).</a:t>
            </a:r>
            <a:endParaRPr lang="en-US" sz="1264" dirty="0"/>
          </a:p>
        </p:txBody>
      </p:sp>
      <p:sp>
        <p:nvSpPr>
          <p:cNvPr id="6" name="f069aef5-7541-43d8-bc5a-e72155ec3127"/>
          <p:cNvSpPr/>
          <p:nvPr/>
        </p:nvSpPr>
        <p:spPr>
          <a:xfrm>
            <a:off x="8366760" y="342900"/>
            <a:ext cx="548640" cy="548640"/>
          </a:xfrm>
          <a:prstGeom prst="rect">
            <a:avLst/>
          </a:prstGeom>
          <a:noFill/>
          <a:ln/>
        </p:spPr>
        <p:txBody>
          <a:bodyPr wrap="square" lIns="45720" tIns="45720" rIns="45720" bIns="45720" rtlCol="0" anchor="ctr"/>
          <a:lstStyle/>
          <a:p>
            <a:pPr algn="r" indent="0" marL="0">
              <a:lnSpc>
                <a:spcPts val="4464"/>
              </a:lnSpc>
              <a:spcBef>
                <a:spcPts val="450"/>
              </a:spcBef>
              <a:spcAft>
                <a:spcPts val="450"/>
              </a:spcAft>
              <a:buNone/>
            </a:pPr>
            <a:r>
              <a:rPr lang="en-US" sz="2808" dirty="0">
                <a:solidFill>
                  <a:srgbClr val="E8E4DF"/>
                </a:solidFill>
                <a:latin typeface="Dyslexie" pitchFamily="34" charset="0"/>
                <a:ea typeface="Dyslexie" pitchFamily="34" charset="-122"/>
                <a:cs typeface="Dyslexie" pitchFamily="34" charset="-120"/>
              </a:rPr>
              <a:t>✅</a:t>
            </a:r>
            <a:endParaRPr lang="en-US" sz="280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3d642656-5c31-4e06-b5b8-91f00f54048c" descr="/home/forge/chalkie-production-workers-1/releases/77481629/backend/storage/app/render-specs/5dac6ab7-4967-4c82-be18-2b0e49610a6a/img_d53557e7caec3d285757fea5f50a7215.png">    </p:cNvPr>
          <p:cNvPicPr>
            <a:picLocks noChangeAspect="1"/>
          </p:cNvPicPr>
          <p:nvPr/>
        </p:nvPicPr>
        <p:blipFill>
          <a:blip r:embed="rId2"/>
          <a:stretch>
            <a:fillRect/>
          </a:stretch>
        </p:blipFill>
        <p:spPr>
          <a:xfrm>
            <a:off x="5029200" y="800100"/>
            <a:ext cx="3829050" cy="4057650"/>
          </a:xfrm>
          <a:prstGeom prst="roundRect">
            <a:avLst>
              <a:gd name="adj" fmla="val 3582"/>
            </a:avLst>
          </a:prstGeom>
        </p:spPr>
      </p:pic>
      <p:sp>
        <p:nvSpPr>
          <p:cNvPr id="3" name="f9f3e696-3d69-4b4e-a856-b70a121d6c60"/>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O que é uma Tabela Dinâmica?</a:t>
            </a:r>
            <a:endParaRPr lang="en-US" sz="2246" dirty="0"/>
          </a:p>
        </p:txBody>
      </p:sp>
      <p:sp>
        <p:nvSpPr>
          <p:cNvPr id="4" name="63602fa0-f8de-4802-9c0a-099b8925e128"/>
          <p:cNvSpPr/>
          <p:nvPr/>
        </p:nvSpPr>
        <p:spPr>
          <a:xfrm>
            <a:off x="285750" y="800100"/>
            <a:ext cx="4572000" cy="210769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A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Tabela Dinâmica</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(Pivot Table) é uma ferramenta do Excel capaz de resumir, calcular e analisar dados automaticamente. Ela permite agrupar informações dispersas em categorias claras, calcular somas, médias ou contagens sem exigir a digitação manual de dezenas de fórmulas.</a:t>
            </a:r>
            <a:endParaRPr lang="en-US" sz="1264" dirty="0"/>
          </a:p>
        </p:txBody>
      </p:sp>
      <p:sp>
        <p:nvSpPr>
          <p:cNvPr id="5" name="0772eb0d-dcaf-4c89-837d-948201a787af_card"/>
          <p:cNvSpPr/>
          <p:nvPr/>
        </p:nvSpPr>
        <p:spPr>
          <a:xfrm>
            <a:off x="285750" y="2891790"/>
            <a:ext cx="4572000" cy="1380744"/>
          </a:xfrm>
          <a:prstGeom prst="roundRect">
            <a:avLst>
              <a:gd name="adj" fmla="val 6623"/>
            </a:avLst>
          </a:prstGeom>
          <a:solidFill>
            <a:srgbClr val="FAC873">
              <a:alpha val="14902"/>
            </a:srgbClr>
          </a:solidFill>
          <a:ln w="11430">
            <a:solidFill>
              <a:srgbClr val="573B06">
                <a:alpha val="20000"/>
              </a:srgbClr>
            </a:solidFill>
            <a:prstDash val="solid"/>
          </a:ln>
        </p:spPr>
      </p:sp>
      <p:sp>
        <p:nvSpPr>
          <p:cNvPr id="6" name="0772eb0d-dcaf-4c89-837d-948201a787af_emoji"/>
          <p:cNvSpPr/>
          <p:nvPr/>
        </p:nvSpPr>
        <p:spPr>
          <a:xfrm>
            <a:off x="400050" y="304038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0772eb0d-dcaf-4c89-837d-948201a787af_text"/>
          <p:cNvSpPr/>
          <p:nvPr/>
        </p:nvSpPr>
        <p:spPr>
          <a:xfrm>
            <a:off x="765810" y="3006090"/>
            <a:ext cx="3977640" cy="1152144"/>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FAC775"/>
                </a:solidFill>
                <a:latin typeface="Dyslexie" pitchFamily="34" charset="0"/>
                <a:ea typeface="Dyslexie" pitchFamily="34" charset="-122"/>
                <a:cs typeface="Dyslexie" pitchFamily="34" charset="-120"/>
              </a:rPr>
              <a:t>Ponto-chave</a:t>
            </a:r>
            <a:endParaRPr lang="en-US" sz="1123" dirty="0"/>
          </a:p>
          <a:p>
            <a:pPr algn="l" indent="0" marL="0">
              <a:lnSpc>
                <a:spcPts val="2009"/>
              </a:lnSpc>
              <a:spcBef>
                <a:spcPts val="360"/>
              </a:spcBef>
              <a:spcAft>
                <a:spcPts val="360"/>
              </a:spcAft>
              <a:buNone/>
            </a:pPr>
            <a:r>
              <a:rPr lang="en-US" sz="1264" dirty="0">
                <a:solidFill>
                  <a:srgbClr val="FAC775"/>
                </a:solidFill>
                <a:latin typeface="Dyslexie" pitchFamily="34" charset="0"/>
                <a:ea typeface="Dyslexie" pitchFamily="34" charset="-122"/>
                <a:cs typeface="Dyslexie" pitchFamily="34" charset="-120"/>
              </a:rPr>
              <a:t>Ela nunca apaga nem modifica seus dados originais: funciona como uma lente analítica que lê a base bruta.</a:t>
            </a:r>
            <a:endParaRPr lang="en-US" sz="112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9ac8593a-025d-416a-8a76-136b46138596" descr="/home/forge/chalkie-production-workers-1/releases/77481629/backend/storage/app/render-specs/5dac6ab7-4967-4c82-be18-2b0e49610a6a/img_e8ab7a14beba4cebac18685e1fca7e9e.png">    </p:cNvPr>
          <p:cNvPicPr>
            <a:picLocks noChangeAspect="1"/>
          </p:cNvPicPr>
          <p:nvPr/>
        </p:nvPicPr>
        <p:blipFill>
          <a:blip r:embed="rId2"/>
          <a:stretch>
            <a:fillRect/>
          </a:stretch>
        </p:blipFill>
        <p:spPr>
          <a:xfrm>
            <a:off x="5029200" y="800100"/>
            <a:ext cx="3829050" cy="4057650"/>
          </a:xfrm>
          <a:prstGeom prst="roundRect">
            <a:avLst>
              <a:gd name="adj" fmla="val 3582"/>
            </a:avLst>
          </a:prstGeom>
        </p:spPr>
      </p:pic>
      <p:sp>
        <p:nvSpPr>
          <p:cNvPr id="3" name="8a065fa0-802f-4d67-b4c8-7b1198f7400a"/>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Requisitos da Base Bruta</a:t>
            </a:r>
            <a:endParaRPr lang="en-US" sz="2246" dirty="0"/>
          </a:p>
        </p:txBody>
      </p:sp>
      <p:sp>
        <p:nvSpPr>
          <p:cNvPr id="4" name="10ace7f8-4c4b-4165-a065-464b904e1a53"/>
          <p:cNvSpPr/>
          <p:nvPr/>
        </p:nvSpPr>
        <p:spPr>
          <a:xfrm>
            <a:off x="285750" y="800100"/>
            <a:ext cx="4572000" cy="955548"/>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Para criar tabelas dinâmicas, a base deve seguir regras de higiene cadastral:</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Cabeçalhos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Cada coluna deve ter um nome único.</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Sem linhas vazias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Linhas em branco partem a seleção.</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Uma informação por coluna</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Datas, valores e textos em colunas próprias.</a:t>
            </a:r>
            <a:endParaRPr lang="en-US" sz="1264" dirty="0"/>
          </a:p>
        </p:txBody>
      </p:sp>
      <p:sp>
        <p:nvSpPr>
          <p:cNvPr id="5" name="91413fc9-2977-4389-94dc-2cd603fbc790_card"/>
          <p:cNvSpPr/>
          <p:nvPr/>
        </p:nvSpPr>
        <p:spPr>
          <a:xfrm>
            <a:off x="285750" y="3383280"/>
            <a:ext cx="4572000" cy="1125601"/>
          </a:xfrm>
          <a:prstGeom prst="roundRect">
            <a:avLst>
              <a:gd name="adj" fmla="val 8124"/>
            </a:avLst>
          </a:prstGeom>
          <a:solidFill>
            <a:srgbClr val="F09696">
              <a:alpha val="14902"/>
            </a:srgbClr>
          </a:solidFill>
          <a:ln w="11430">
            <a:solidFill>
              <a:srgbClr val="460606">
                <a:alpha val="20000"/>
              </a:srgbClr>
            </a:solidFill>
            <a:prstDash val="solid"/>
          </a:ln>
        </p:spPr>
      </p:sp>
      <p:sp>
        <p:nvSpPr>
          <p:cNvPr id="6" name="91413fc9-2977-4389-94dc-2cd603fbc790_emoji"/>
          <p:cNvSpPr/>
          <p:nvPr/>
        </p:nvSpPr>
        <p:spPr>
          <a:xfrm>
            <a:off x="400050" y="353187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91413fc9-2977-4389-94dc-2cd603fbc790_text"/>
          <p:cNvSpPr/>
          <p:nvPr/>
        </p:nvSpPr>
        <p:spPr>
          <a:xfrm>
            <a:off x="765810" y="3497580"/>
            <a:ext cx="3977640" cy="897001"/>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F7C1C1"/>
                </a:solidFill>
                <a:latin typeface="Dyslexie" pitchFamily="34" charset="0"/>
                <a:ea typeface="Dyslexie" pitchFamily="34" charset="-122"/>
                <a:cs typeface="Dyslexie" pitchFamily="34" charset="-120"/>
              </a:rPr>
              <a:t>Atenção</a:t>
            </a:r>
            <a:endParaRPr lang="en-US" sz="1123" dirty="0"/>
          </a:p>
          <a:p>
            <a:pPr algn="l" indent="0" marL="0">
              <a:lnSpc>
                <a:spcPts val="2009"/>
              </a:lnSpc>
              <a:spcBef>
                <a:spcPts val="360"/>
              </a:spcBef>
              <a:spcAft>
                <a:spcPts val="360"/>
              </a:spcAft>
              <a:buNone/>
            </a:pPr>
            <a:r>
              <a:rPr lang="en-US" sz="1264" dirty="0">
                <a:solidFill>
                  <a:srgbClr val="F7C1C1"/>
                </a:solidFill>
                <a:latin typeface="Dyslexie" pitchFamily="34" charset="0"/>
                <a:ea typeface="Dyslexie" pitchFamily="34" charset="-122"/>
                <a:cs typeface="Dyslexie" pitchFamily="34" charset="-120"/>
              </a:rPr>
              <a:t>Células mescladas quebram a Tabela Dinâmica. Mantenha os dados limpos!</a:t>
            </a:r>
            <a:endParaRPr lang="en-US" sz="112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0def2f10-19cb-4d82-b02b-1e8ed80bff19" descr="/home/forge/chalkie-production-workers-1/releases/77481629/backend/storage/app/render-specs/5dac6ab7-4967-4c82-be18-2b0e49610a6a/img_477412629cd8c5f6ec0c959d4d581a5d.png">    </p:cNvPr>
          <p:cNvPicPr>
            <a:picLocks noChangeAspect="1"/>
          </p:cNvPicPr>
          <p:nvPr/>
        </p:nvPicPr>
        <p:blipFill>
          <a:blip r:embed="rId2"/>
          <a:stretch>
            <a:fillRect/>
          </a:stretch>
        </p:blipFill>
        <p:spPr>
          <a:xfrm>
            <a:off x="285750" y="800100"/>
            <a:ext cx="4194810" cy="2057400"/>
          </a:xfrm>
          <a:prstGeom prst="roundRect">
            <a:avLst>
              <a:gd name="adj" fmla="val 6667"/>
            </a:avLst>
          </a:prstGeom>
        </p:spPr>
      </p:pic>
      <p:pic>
        <p:nvPicPr>
          <p:cNvPr id="3" name="f8957e8c-c48d-484c-a260-a0e7c8dee67b" descr="/home/forge/chalkie-production-workers-1/releases/77481629/backend/storage/app/render-specs/5dac6ab7-4967-4c82-be18-2b0e49610a6a/img_7c43bece712d78f41de18f4c20885d0f.png">    </p:cNvPr>
          <p:cNvPicPr>
            <a:picLocks noChangeAspect="1"/>
          </p:cNvPicPr>
          <p:nvPr/>
        </p:nvPicPr>
        <p:blipFill>
          <a:blip r:embed="rId3"/>
          <a:stretch>
            <a:fillRect/>
          </a:stretch>
        </p:blipFill>
        <p:spPr>
          <a:xfrm>
            <a:off x="4652010" y="800100"/>
            <a:ext cx="4194810" cy="2057400"/>
          </a:xfrm>
          <a:prstGeom prst="roundRect">
            <a:avLst>
              <a:gd name="adj" fmla="val 6667"/>
            </a:avLst>
          </a:prstGeom>
        </p:spPr>
      </p:pic>
      <p:sp>
        <p:nvSpPr>
          <p:cNvPr id="4" name="2e721120-a5b1-4f0b-9bf9-9a674d21a99f"/>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Os Quatro Quadrantes Mágicos</a:t>
            </a:r>
            <a:endParaRPr lang="en-US" sz="2246" dirty="0"/>
          </a:p>
        </p:txBody>
      </p:sp>
      <p:sp>
        <p:nvSpPr>
          <p:cNvPr id="5" name="f4de8a45-6a63-431f-b93a-beaa34048e39"/>
          <p:cNvSpPr/>
          <p:nvPr/>
        </p:nvSpPr>
        <p:spPr>
          <a:xfrm>
            <a:off x="285750" y="2994660"/>
            <a:ext cx="4194810" cy="795528"/>
          </a:xfrm>
          <a:prstGeom prst="rect">
            <a:avLst/>
          </a:prstGeom>
          <a:noFill/>
          <a:ln/>
        </p:spPr>
        <p:txBody>
          <a:bodyPr wrap="square" lIns="45720" tIns="45720" rIns="45720" bIns="45720" rtlCol="0" anchor="t"/>
          <a:lstStyle/>
          <a:p>
            <a:pPr algn="l" indent="0" marL="0">
              <a:lnSpc>
                <a:spcPts val="2455"/>
              </a:lnSpc>
              <a:spcBef>
                <a:spcPts val="360"/>
              </a:spcBef>
              <a:spcAft>
                <a:spcPts val="360"/>
              </a:spcAft>
              <a:buNone/>
            </a:pPr>
            <a:r>
              <a:rPr lang="en-US" sz="1544" b="1" dirty="0">
                <a:solidFill>
                  <a:srgbClr val="E8E4DF"/>
                </a:solidFill>
                <a:latin typeface="Dyslexie" pitchFamily="34" charset="0"/>
                <a:ea typeface="Dyslexie" pitchFamily="34" charset="-122"/>
                <a:cs typeface="Dyslexie" pitchFamily="34" charset="-120"/>
              </a:rPr>
              <a:t>Linhas e Colunas</a:t>
            </a:r>
            <a:endParaRPr lang="en-US" sz="154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Linhas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Define categorias verticais, como Região ou Vendedor.</a:t>
            </a:r>
            <a:endParaRPr lang="en-US" sz="154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Colunas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Espalha subcategorias horizontalmente, como Meses ou Pagamento.</a:t>
            </a:r>
            <a:endParaRPr lang="en-US" sz="1544" dirty="0"/>
          </a:p>
        </p:txBody>
      </p:sp>
      <p:sp>
        <p:nvSpPr>
          <p:cNvPr id="6" name="8aca2c46-6b67-4b11-a3dd-2169afc50b9c"/>
          <p:cNvSpPr/>
          <p:nvPr/>
        </p:nvSpPr>
        <p:spPr>
          <a:xfrm>
            <a:off x="4652010" y="2994660"/>
            <a:ext cx="4194810" cy="795528"/>
          </a:xfrm>
          <a:prstGeom prst="rect">
            <a:avLst/>
          </a:prstGeom>
          <a:noFill/>
          <a:ln/>
        </p:spPr>
        <p:txBody>
          <a:bodyPr wrap="square" lIns="45720" tIns="45720" rIns="45720" bIns="45720" rtlCol="0" anchor="t"/>
          <a:lstStyle/>
          <a:p>
            <a:pPr algn="l" indent="0" marL="0">
              <a:lnSpc>
                <a:spcPts val="2455"/>
              </a:lnSpc>
              <a:spcBef>
                <a:spcPts val="360"/>
              </a:spcBef>
              <a:spcAft>
                <a:spcPts val="360"/>
              </a:spcAft>
              <a:buNone/>
            </a:pPr>
            <a:r>
              <a:rPr lang="en-US" sz="1544" b="1" dirty="0">
                <a:solidFill>
                  <a:srgbClr val="E8E4DF"/>
                </a:solidFill>
                <a:latin typeface="Dyslexie" pitchFamily="34" charset="0"/>
                <a:ea typeface="Dyslexie" pitchFamily="34" charset="-122"/>
                <a:cs typeface="Dyslexie" pitchFamily="34" charset="-120"/>
              </a:rPr>
              <a:t>Valores e Filtros</a:t>
            </a:r>
            <a:endParaRPr lang="en-US" sz="154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Valores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Onde entram números para cálculo (Soma, Média, Contagem).</a:t>
            </a:r>
            <a:endParaRPr lang="en-US" sz="154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Filtros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Campo no topo para restringir a análise por filial ou ano.</a:t>
            </a:r>
            <a:endParaRPr lang="en-US" sz="154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8a041ad-b859-436f-80da-f6a068e0e519"/>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Teste seu Raciocínio de Estrutura</a:t>
            </a:r>
            <a:endParaRPr lang="en-US" sz="2246" dirty="0"/>
          </a:p>
        </p:txBody>
      </p:sp>
      <p:sp>
        <p:nvSpPr>
          <p:cNvPr id="3" name="fd1eddb0-5288-4a08-a602-76a8c32a1534"/>
          <p:cNvSpPr/>
          <p:nvPr/>
        </p:nvSpPr>
        <p:spPr>
          <a:xfrm>
            <a:off x="285750" y="685800"/>
            <a:ext cx="8572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Se você quer ver o faturamento total por categoria de produto, onde deve colocar o campo 'Valor' e o campo 'Categoria'?</a:t>
            </a:r>
            <a:endParaRPr lang="en-US" sz="1264" dirty="0"/>
          </a:p>
        </p:txBody>
      </p:sp>
      <p:sp>
        <p:nvSpPr>
          <p:cNvPr id="4" name="3886238a-caa6-4d5b-a561-cb5681fa81d2"/>
          <p:cNvSpPr/>
          <p:nvPr/>
        </p:nvSpPr>
        <p:spPr>
          <a:xfrm>
            <a:off x="285750" y="165735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1.</a:t>
            </a:r>
            <a:endParaRPr lang="en-US" sz="1966" dirty="0"/>
          </a:p>
        </p:txBody>
      </p:sp>
      <p:sp>
        <p:nvSpPr>
          <p:cNvPr id="5" name="3884f08d-b142-4836-a502-76ed364f688a"/>
          <p:cNvSpPr/>
          <p:nvPr/>
        </p:nvSpPr>
        <p:spPr>
          <a:xfrm>
            <a:off x="857250" y="165735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Categoria em Linhas e Valor em Valores</a:t>
            </a:r>
            <a:endParaRPr lang="en-US" sz="1264" dirty="0"/>
          </a:p>
        </p:txBody>
      </p:sp>
      <p:sp>
        <p:nvSpPr>
          <p:cNvPr id="6" name="f529b329-cdf5-4dcb-952a-591663191358"/>
          <p:cNvSpPr/>
          <p:nvPr/>
        </p:nvSpPr>
        <p:spPr>
          <a:xfrm>
            <a:off x="285750" y="251460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2.</a:t>
            </a:r>
            <a:endParaRPr lang="en-US" sz="1966" dirty="0"/>
          </a:p>
        </p:txBody>
      </p:sp>
      <p:sp>
        <p:nvSpPr>
          <p:cNvPr id="7" name="2126af7a-aedf-4d8c-a88a-224fc2234765"/>
          <p:cNvSpPr/>
          <p:nvPr/>
        </p:nvSpPr>
        <p:spPr>
          <a:xfrm>
            <a:off x="857250" y="251460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Valor em Linhas e Categoria em Colunas</a:t>
            </a:r>
            <a:endParaRPr lang="en-US" sz="1264" dirty="0"/>
          </a:p>
        </p:txBody>
      </p:sp>
      <p:sp>
        <p:nvSpPr>
          <p:cNvPr id="8" name="032b52cd-ea88-4d5c-b494-494b5a710d3b"/>
          <p:cNvSpPr/>
          <p:nvPr/>
        </p:nvSpPr>
        <p:spPr>
          <a:xfrm>
            <a:off x="285750" y="337185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3.</a:t>
            </a:r>
            <a:endParaRPr lang="en-US" sz="1966" dirty="0"/>
          </a:p>
        </p:txBody>
      </p:sp>
      <p:sp>
        <p:nvSpPr>
          <p:cNvPr id="9" name="c35a1ebe-af60-4dac-ba4b-c3d1cccbeab5"/>
          <p:cNvSpPr/>
          <p:nvPr/>
        </p:nvSpPr>
        <p:spPr>
          <a:xfrm>
            <a:off x="857250" y="337185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Ambos os campos na área de Filtros</a:t>
            </a:r>
            <a:endParaRPr lang="en-US" sz="1264" dirty="0"/>
          </a:p>
        </p:txBody>
      </p:sp>
      <p:sp>
        <p:nvSpPr>
          <p:cNvPr id="10" name="24fed311-ddbb-448a-bc4d-ba1b1a6e3454"/>
          <p:cNvSpPr/>
          <p:nvPr/>
        </p:nvSpPr>
        <p:spPr>
          <a:xfrm>
            <a:off x="285750" y="422910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4.</a:t>
            </a:r>
            <a:endParaRPr lang="en-US" sz="1966" dirty="0"/>
          </a:p>
        </p:txBody>
      </p:sp>
      <p:sp>
        <p:nvSpPr>
          <p:cNvPr id="11" name="3984c032-b88d-4dc5-a83d-a5b151844ac5"/>
          <p:cNvSpPr/>
          <p:nvPr/>
        </p:nvSpPr>
        <p:spPr>
          <a:xfrm>
            <a:off x="857250" y="422910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Categoria em Valores e Valor em Linhas</a:t>
            </a:r>
            <a:endParaRPr lang="en-US" sz="126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8a041ad-b859-436f-80da-f6a068e0e519"/>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Teste seu Raciocínio de Estrutura</a:t>
            </a:r>
            <a:endParaRPr lang="en-US" sz="2246" dirty="0"/>
          </a:p>
        </p:txBody>
      </p:sp>
      <p:sp>
        <p:nvSpPr>
          <p:cNvPr id="3" name="fd1eddb0-5288-4a08-a602-76a8c32a1534"/>
          <p:cNvSpPr/>
          <p:nvPr/>
        </p:nvSpPr>
        <p:spPr>
          <a:xfrm>
            <a:off x="285750" y="685800"/>
            <a:ext cx="8572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Se você quer ver o faturamento total por categoria de produto, onde deve colocar o campo 'Valor' e o campo 'Categoria'?</a:t>
            </a:r>
            <a:endParaRPr lang="en-US" sz="1264" dirty="0"/>
          </a:p>
        </p:txBody>
      </p:sp>
      <p:sp>
        <p:nvSpPr>
          <p:cNvPr id="4" name="3886238a-caa6-4d5b-a561-cb5681fa81d2"/>
          <p:cNvSpPr/>
          <p:nvPr/>
        </p:nvSpPr>
        <p:spPr>
          <a:xfrm>
            <a:off x="285750" y="165735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1.</a:t>
            </a:r>
            <a:endParaRPr lang="en-US" sz="1966" dirty="0"/>
          </a:p>
        </p:txBody>
      </p:sp>
      <p:sp>
        <p:nvSpPr>
          <p:cNvPr id="5" name="3884f08d-b142-4836-a502-76ed364f688a"/>
          <p:cNvSpPr/>
          <p:nvPr/>
        </p:nvSpPr>
        <p:spPr>
          <a:xfrm>
            <a:off x="857250" y="1657350"/>
            <a:ext cx="8001000" cy="685800"/>
          </a:xfrm>
          <a:prstGeom prst="roundRect">
            <a:avLst>
              <a:gd name="adj" fmla="val 16667"/>
            </a:avLst>
          </a:prstGeom>
          <a:solidFill>
            <a:srgbClr val="F4F9FC"/>
          </a:solidFill>
          <a:ln w="45720">
            <a:solidFill>
              <a:srgbClr val="2C6E49"/>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Categoria em Linhas e Valor em Valores</a:t>
            </a:r>
            <a:endParaRPr lang="en-US" sz="1264" dirty="0"/>
          </a:p>
        </p:txBody>
      </p:sp>
      <p:sp>
        <p:nvSpPr>
          <p:cNvPr id="6" name="f529b329-cdf5-4dcb-952a-591663191358"/>
          <p:cNvSpPr/>
          <p:nvPr/>
        </p:nvSpPr>
        <p:spPr>
          <a:xfrm>
            <a:off x="285750" y="251460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2.</a:t>
            </a:r>
            <a:endParaRPr lang="en-US" sz="1966" dirty="0"/>
          </a:p>
        </p:txBody>
      </p:sp>
      <p:sp>
        <p:nvSpPr>
          <p:cNvPr id="7" name="2126af7a-aedf-4d8c-a88a-224fc2234765"/>
          <p:cNvSpPr/>
          <p:nvPr/>
        </p:nvSpPr>
        <p:spPr>
          <a:xfrm>
            <a:off x="857250" y="251460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Valor em Linhas e Categoria em Colunas</a:t>
            </a:r>
            <a:endParaRPr lang="en-US" sz="1264" dirty="0"/>
          </a:p>
        </p:txBody>
      </p:sp>
      <p:sp>
        <p:nvSpPr>
          <p:cNvPr id="8" name="032b52cd-ea88-4d5c-b494-494b5a710d3b"/>
          <p:cNvSpPr/>
          <p:nvPr/>
        </p:nvSpPr>
        <p:spPr>
          <a:xfrm>
            <a:off x="285750" y="337185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3.</a:t>
            </a:r>
            <a:endParaRPr lang="en-US" sz="1966" dirty="0"/>
          </a:p>
        </p:txBody>
      </p:sp>
      <p:sp>
        <p:nvSpPr>
          <p:cNvPr id="9" name="c35a1ebe-af60-4dac-ba4b-c3d1cccbeab5"/>
          <p:cNvSpPr/>
          <p:nvPr/>
        </p:nvSpPr>
        <p:spPr>
          <a:xfrm>
            <a:off x="857250" y="337185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Ambos os campos na área de Filtros</a:t>
            </a:r>
            <a:endParaRPr lang="en-US" sz="1264" dirty="0"/>
          </a:p>
        </p:txBody>
      </p:sp>
      <p:sp>
        <p:nvSpPr>
          <p:cNvPr id="10" name="24fed311-ddbb-448a-bc4d-ba1b1a6e3454"/>
          <p:cNvSpPr/>
          <p:nvPr/>
        </p:nvSpPr>
        <p:spPr>
          <a:xfrm>
            <a:off x="285750" y="422910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4.</a:t>
            </a:r>
            <a:endParaRPr lang="en-US" sz="1966" dirty="0"/>
          </a:p>
        </p:txBody>
      </p:sp>
      <p:sp>
        <p:nvSpPr>
          <p:cNvPr id="11" name="3984c032-b88d-4dc5-a83d-a5b151844ac5"/>
          <p:cNvSpPr/>
          <p:nvPr/>
        </p:nvSpPr>
        <p:spPr>
          <a:xfrm>
            <a:off x="857250" y="422910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Categoria em Valores e Valor em Linhas</a:t>
            </a:r>
            <a:endParaRPr lang="en-US" sz="1264" dirty="0"/>
          </a:p>
        </p:txBody>
      </p:sp>
      <p:sp>
        <p:nvSpPr>
          <p:cNvPr id="12" name="9dbadb54-7d82-4f07-b0bf-485963624397"/>
          <p:cNvSpPr/>
          <p:nvPr/>
        </p:nvSpPr>
        <p:spPr>
          <a:xfrm>
            <a:off x="8366760" y="342900"/>
            <a:ext cx="548640" cy="548640"/>
          </a:xfrm>
          <a:prstGeom prst="rect">
            <a:avLst/>
          </a:prstGeom>
          <a:noFill/>
          <a:ln/>
        </p:spPr>
        <p:txBody>
          <a:bodyPr wrap="square" lIns="45720" tIns="45720" rIns="45720" bIns="45720" rtlCol="0" anchor="ctr"/>
          <a:lstStyle/>
          <a:p>
            <a:pPr algn="r" indent="0" marL="0">
              <a:lnSpc>
                <a:spcPts val="4464"/>
              </a:lnSpc>
              <a:spcBef>
                <a:spcPts val="450"/>
              </a:spcBef>
              <a:spcAft>
                <a:spcPts val="450"/>
              </a:spcAft>
              <a:buNone/>
            </a:pPr>
            <a:r>
              <a:rPr lang="en-US" sz="2808" dirty="0">
                <a:solidFill>
                  <a:srgbClr val="E8E4DF"/>
                </a:solidFill>
                <a:latin typeface="Dyslexie" pitchFamily="34" charset="0"/>
                <a:ea typeface="Dyslexie" pitchFamily="34" charset="-122"/>
                <a:cs typeface="Dyslexie" pitchFamily="34" charset="-120"/>
              </a:rPr>
              <a:t>✅</a:t>
            </a:r>
            <a:endParaRPr lang="en-US" sz="2808" dirty="0"/>
          </a:p>
        </p:txBody>
      </p:sp>
      <p:sp>
        <p:nvSpPr>
          <p:cNvPr id="13" name="03f50dfa-b7ad-40be-b0ed-f36338b719c8"/>
          <p:cNvSpPr/>
          <p:nvPr/>
        </p:nvSpPr>
        <p:spPr>
          <a:xfrm>
            <a:off x="8721090" y="1520190"/>
            <a:ext cx="274320" cy="274320"/>
          </a:xfrm>
          <a:prstGeom prst="roundRect">
            <a:avLst>
              <a:gd name="adj" fmla="val 25000"/>
            </a:avLst>
          </a:prstGeom>
          <a:solidFill>
            <a:srgbClr val="2C6E49"/>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a:t>
            </a:r>
            <a:endParaRPr lang="en-US" sz="913"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86baf755-efd8-4970-91a0-574e47465c14" descr="/home/forge/chalkie-production-workers-1/releases/77481629/backend/storage/app/render-specs/5dac6ab7-4967-4c82-be18-2b0e49610a6a/img_5914c147534b75110e3cb180072179fe.png">    </p:cNvPr>
          <p:cNvPicPr>
            <a:picLocks noChangeAspect="1"/>
          </p:cNvPicPr>
          <p:nvPr/>
        </p:nvPicPr>
        <p:blipFill>
          <a:blip r:embed="rId2"/>
          <a:stretch>
            <a:fillRect/>
          </a:stretch>
        </p:blipFill>
        <p:spPr>
          <a:xfrm>
            <a:off x="0" y="0"/>
            <a:ext cx="3486150" cy="5143500"/>
          </a:xfrm>
          <a:prstGeom prst="roundRect">
            <a:avLst>
              <a:gd name="adj" fmla="val 3934"/>
            </a:avLst>
          </a:prstGeom>
        </p:spPr>
      </p:pic>
      <p:sp>
        <p:nvSpPr>
          <p:cNvPr id="3" name="2d49fc07-6546-4cf7-b63c-80ac3c2006eb"/>
          <p:cNvSpPr/>
          <p:nvPr/>
        </p:nvSpPr>
        <p:spPr>
          <a:xfrm>
            <a:off x="3714750" y="514350"/>
            <a:ext cx="5143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Passo a Passo de Criação</a:t>
            </a:r>
            <a:endParaRPr lang="en-US" sz="2246" dirty="0"/>
          </a:p>
        </p:txBody>
      </p:sp>
      <p:sp>
        <p:nvSpPr>
          <p:cNvPr id="4" name="e065a5ef-b404-4fe8-afe6-f74dc82b123b"/>
          <p:cNvSpPr/>
          <p:nvPr/>
        </p:nvSpPr>
        <p:spPr>
          <a:xfrm>
            <a:off x="3714750" y="114300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Crie tabelas dinâmicas em 4 passos:</a:t>
            </a:r>
            <a:endParaRPr lang="en-US" sz="1264" dirty="0"/>
          </a:p>
          <a:p>
            <a:pPr algn="l" marL="228600" indent="-68580">
              <a:lnSpc>
                <a:spcPts val="2009"/>
              </a:lnSpc>
              <a:spcBef>
                <a:spcPts val="225"/>
              </a:spcBef>
              <a:spcAft>
                <a:spcPts val="225"/>
              </a:spcAft>
              <a:buSzPct val="100000"/>
              <a:buFont typeface="+mj-lt"/>
              <a:buAutoNum type="arabicPeriod" startAt="1"/>
            </a:pPr>
            <a:r>
              <a:rPr lang="en-US" sz="1264" dirty="0">
                <a:solidFill>
                  <a:srgbClr val="E8E4DF"/>
                </a:solidFill>
                <a:latin typeface="Dyslexie" pitchFamily="34" charset="0"/>
                <a:ea typeface="Dyslexie" pitchFamily="34" charset="-122"/>
                <a:cs typeface="Dyslexie" pitchFamily="34" charset="-120"/>
              </a:rPr>
              <a:t>Selecione uma célula da base de dados.</a:t>
            </a:r>
            <a:endParaRPr lang="en-US" sz="1264" dirty="0"/>
          </a:p>
          <a:p>
            <a:pPr algn="l" marL="228600" indent="-68580">
              <a:lnSpc>
                <a:spcPts val="2009"/>
              </a:lnSpc>
              <a:spcBef>
                <a:spcPts val="225"/>
              </a:spcBef>
              <a:spcAft>
                <a:spcPts val="225"/>
              </a:spcAft>
              <a:buSzPct val="100000"/>
              <a:buFont typeface="+mj-lt"/>
              <a:buAutoNum type="arabicPeriod" startAt="1"/>
            </a:pPr>
            <a:r>
              <a:rPr lang="en-US" sz="1264" dirty="0">
                <a:solidFill>
                  <a:srgbClr val="E8E4DF"/>
                </a:solidFill>
                <a:latin typeface="Dyslexie" pitchFamily="34" charset="0"/>
                <a:ea typeface="Dyslexie" pitchFamily="34" charset="-122"/>
                <a:cs typeface="Dyslexie" pitchFamily="34" charset="-120"/>
              </a:rPr>
              <a:t>Vá em </a:t>
            </a:r>
            <a:pPr algn="l" indent="0" marL="0">
              <a:lnSpc>
                <a:spcPts val="2009"/>
              </a:lnSpc>
              <a:spcBef>
                <a:spcPts val="225"/>
              </a:spcBef>
              <a:spcAft>
                <a:spcPts val="225"/>
              </a:spcAft>
              <a:buNone/>
            </a:pPr>
            <a:r>
              <a:rPr lang="en-US" sz="1264" b="1" dirty="0">
                <a:solidFill>
                  <a:srgbClr val="E8E4DF"/>
                </a:solidFill>
                <a:latin typeface="Dyslexie" pitchFamily="34" charset="0"/>
                <a:ea typeface="Dyslexie" pitchFamily="34" charset="-122"/>
                <a:cs typeface="Dyslexie" pitchFamily="34" charset="-120"/>
              </a:rPr>
              <a:t>Inserir</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&gt; </a:t>
            </a:r>
            <a:pPr algn="l" indent="0" marL="0">
              <a:lnSpc>
                <a:spcPts val="2009"/>
              </a:lnSpc>
              <a:spcBef>
                <a:spcPts val="225"/>
              </a:spcBef>
              <a:spcAft>
                <a:spcPts val="225"/>
              </a:spcAft>
              <a:buNone/>
            </a:pPr>
            <a:r>
              <a:rPr lang="en-US" sz="1264" b="1" dirty="0">
                <a:solidFill>
                  <a:srgbClr val="E8E4DF"/>
                </a:solidFill>
                <a:latin typeface="Dyslexie" pitchFamily="34" charset="0"/>
                <a:ea typeface="Dyslexie" pitchFamily="34" charset="-122"/>
                <a:cs typeface="Dyslexie" pitchFamily="34" charset="-120"/>
              </a:rPr>
              <a:t>Tabela Dinâmica</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a:t>
            </a:r>
            <a:endParaRPr lang="en-US" sz="1264" dirty="0"/>
          </a:p>
          <a:p>
            <a:pPr algn="l" marL="228600" indent="-68580">
              <a:lnSpc>
                <a:spcPts val="2009"/>
              </a:lnSpc>
              <a:spcBef>
                <a:spcPts val="225"/>
              </a:spcBef>
              <a:spcAft>
                <a:spcPts val="225"/>
              </a:spcAft>
              <a:buSzPct val="100000"/>
              <a:buFont typeface="+mj-lt"/>
              <a:buAutoNum type="arabicPeriod" startAt="1"/>
            </a:pPr>
            <a:r>
              <a:rPr lang="en-US" sz="1264" dirty="0">
                <a:solidFill>
                  <a:srgbClr val="E8E4DF"/>
                </a:solidFill>
                <a:latin typeface="Dyslexie" pitchFamily="34" charset="0"/>
                <a:ea typeface="Dyslexie" pitchFamily="34" charset="-122"/>
                <a:cs typeface="Dyslexie" pitchFamily="34" charset="-120"/>
              </a:rPr>
              <a:t>Confirme o intervalo e escolha </a:t>
            </a:r>
            <a:pPr algn="l" indent="0" marL="0">
              <a:lnSpc>
                <a:spcPts val="2009"/>
              </a:lnSpc>
              <a:spcBef>
                <a:spcPts val="225"/>
              </a:spcBef>
              <a:spcAft>
                <a:spcPts val="225"/>
              </a:spcAft>
              <a:buNone/>
            </a:pPr>
            <a:r>
              <a:rPr lang="en-US" sz="1264" i="1" dirty="0">
                <a:solidFill>
                  <a:srgbClr val="E8E4DF"/>
                </a:solidFill>
                <a:latin typeface="Dyslexie" pitchFamily="34" charset="0"/>
                <a:ea typeface="Dyslexie" pitchFamily="34" charset="-122"/>
                <a:cs typeface="Dyslexie" pitchFamily="34" charset="-120"/>
              </a:rPr>
              <a:t>Nova Planilha</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a:t>
            </a:r>
            <a:endParaRPr lang="en-US" sz="1264" dirty="0"/>
          </a:p>
          <a:p>
            <a:pPr algn="l" marL="228600" indent="-68580">
              <a:lnSpc>
                <a:spcPts val="2009"/>
              </a:lnSpc>
              <a:spcBef>
                <a:spcPts val="225"/>
              </a:spcBef>
              <a:spcAft>
                <a:spcPts val="225"/>
              </a:spcAft>
              <a:buSzPct val="100000"/>
              <a:buFont typeface="+mj-lt"/>
              <a:buAutoNum type="arabicPeriod" startAt="1"/>
            </a:pPr>
            <a:r>
              <a:rPr lang="en-US" sz="1264" dirty="0">
                <a:solidFill>
                  <a:srgbClr val="E8E4DF"/>
                </a:solidFill>
                <a:latin typeface="Dyslexie" pitchFamily="34" charset="0"/>
                <a:ea typeface="Dyslexie" pitchFamily="34" charset="-122"/>
                <a:cs typeface="Dyslexie" pitchFamily="34" charset="-120"/>
              </a:rPr>
              <a:t>Arraste campos para os quatro quadrantes.</a:t>
            </a:r>
            <a:endParaRPr lang="en-US" sz="1264" dirty="0"/>
          </a:p>
        </p:txBody>
      </p:sp>
      <p:sp>
        <p:nvSpPr>
          <p:cNvPr id="5" name="bbd82117-5493-4148-bab2-32ce551b148c_card"/>
          <p:cNvSpPr/>
          <p:nvPr/>
        </p:nvSpPr>
        <p:spPr>
          <a:xfrm>
            <a:off x="3714750" y="3017520"/>
            <a:ext cx="5143500" cy="1380744"/>
          </a:xfrm>
          <a:prstGeom prst="roundRect">
            <a:avLst>
              <a:gd name="adj" fmla="val 6623"/>
            </a:avLst>
          </a:prstGeom>
          <a:solidFill>
            <a:srgbClr val="5AC8A5">
              <a:alpha val="14902"/>
            </a:srgbClr>
          </a:solidFill>
          <a:ln w="11430">
            <a:solidFill>
              <a:srgbClr val="084D36">
                <a:alpha val="20000"/>
              </a:srgbClr>
            </a:solidFill>
            <a:prstDash val="solid"/>
          </a:ln>
        </p:spPr>
      </p:sp>
      <p:sp>
        <p:nvSpPr>
          <p:cNvPr id="6" name="bbd82117-5493-4148-bab2-32ce551b148c_emoji"/>
          <p:cNvSpPr/>
          <p:nvPr/>
        </p:nvSpPr>
        <p:spPr>
          <a:xfrm>
            <a:off x="3829050" y="316611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bbd82117-5493-4148-bab2-32ce551b148c_text"/>
          <p:cNvSpPr/>
          <p:nvPr/>
        </p:nvSpPr>
        <p:spPr>
          <a:xfrm>
            <a:off x="4194810" y="3131820"/>
            <a:ext cx="4549140" cy="1152144"/>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9FE1CB"/>
                </a:solidFill>
                <a:latin typeface="Dyslexie" pitchFamily="34" charset="0"/>
                <a:ea typeface="Dyslexie" pitchFamily="34" charset="-122"/>
                <a:cs typeface="Dyslexie" pitchFamily="34" charset="-120"/>
              </a:rPr>
              <a:t>Exemplo</a:t>
            </a:r>
            <a:endParaRPr lang="en-US" sz="1123" dirty="0"/>
          </a:p>
          <a:p>
            <a:pPr algn="l" indent="0" marL="0">
              <a:lnSpc>
                <a:spcPts val="2009"/>
              </a:lnSpc>
              <a:spcBef>
                <a:spcPts val="360"/>
              </a:spcBef>
              <a:spcAft>
                <a:spcPts val="360"/>
              </a:spcAft>
              <a:buNone/>
            </a:pPr>
            <a:r>
              <a:rPr lang="en-US" sz="1264" dirty="0">
                <a:solidFill>
                  <a:srgbClr val="9FE1CB"/>
                </a:solidFill>
                <a:latin typeface="Dyslexie" pitchFamily="34" charset="0"/>
                <a:ea typeface="Dyslexie" pitchFamily="34" charset="-122"/>
                <a:cs typeface="Dyslexie" pitchFamily="34" charset="-120"/>
              </a:rPr>
              <a:t>Ao arrastar 'Cliente' para Linhas e 'Total' para Valores, o Excel consolida compras por cliente instantaneamente.</a:t>
            </a:r>
            <a:endParaRPr lang="en-US" sz="1123"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b8f0c196-2d30-4705-8bfb-4036225795d6" descr="/home/forge/chalkie-production-workers-1/releases/77481629/backend/storage/app/render-specs/5dac6ab7-4967-4c82-be18-2b0e49610a6a/img_bb2095b7177a51e2302feb4f2dbf8093.png">    </p:cNvPr>
          <p:cNvPicPr>
            <a:picLocks noChangeAspect="1"/>
          </p:cNvPicPr>
          <p:nvPr/>
        </p:nvPicPr>
        <p:blipFill>
          <a:blip r:embed="rId2"/>
          <a:stretch>
            <a:fillRect/>
          </a:stretch>
        </p:blipFill>
        <p:spPr>
          <a:xfrm>
            <a:off x="5029200" y="800100"/>
            <a:ext cx="3829050" cy="4057650"/>
          </a:xfrm>
          <a:prstGeom prst="roundRect">
            <a:avLst>
              <a:gd name="adj" fmla="val 3582"/>
            </a:avLst>
          </a:prstGeom>
        </p:spPr>
      </p:pic>
      <p:sp>
        <p:nvSpPr>
          <p:cNvPr id="3" name="dd7ec2e7-325f-4126-a2eb-ab4a60097802"/>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Configuração do Campo de Valor</a:t>
            </a:r>
            <a:endParaRPr lang="en-US" sz="2246" dirty="0"/>
          </a:p>
        </p:txBody>
      </p:sp>
      <p:sp>
        <p:nvSpPr>
          <p:cNvPr id="4" name="2731fd7c-f3c3-4b50-a831-95250e83a109"/>
          <p:cNvSpPr/>
          <p:nvPr/>
        </p:nvSpPr>
        <p:spPr>
          <a:xfrm>
            <a:off x="285750" y="800100"/>
            <a:ext cx="4572000" cy="955548"/>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O Excel soma números e conta textos por padrão. Altere a operação facilmente:</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Média</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Avalia tíquete médio ou preço praticado.</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Contagem</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Descobre a quantidade de pedidos emitidos.</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Máximo/Mínimo</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Revela picos de venda e menores transações.</a:t>
            </a:r>
            <a:endParaRPr lang="en-US" sz="1264" dirty="0"/>
          </a:p>
        </p:txBody>
      </p:sp>
      <p:sp>
        <p:nvSpPr>
          <p:cNvPr id="5" name="5d664054-1c8e-438c-bf10-6d679d56a701_card"/>
          <p:cNvSpPr/>
          <p:nvPr/>
        </p:nvSpPr>
        <p:spPr>
          <a:xfrm>
            <a:off x="285750" y="3383280"/>
            <a:ext cx="4572000" cy="1380744"/>
          </a:xfrm>
          <a:prstGeom prst="roundRect">
            <a:avLst>
              <a:gd name="adj" fmla="val 6623"/>
            </a:avLst>
          </a:prstGeom>
          <a:solidFill>
            <a:srgbClr val="82B4EB">
              <a:alpha val="14902"/>
            </a:srgbClr>
          </a:solidFill>
          <a:ln w="11430">
            <a:solidFill>
              <a:srgbClr val="0B2F50">
                <a:alpha val="20000"/>
              </a:srgbClr>
            </a:solidFill>
            <a:prstDash val="solid"/>
          </a:ln>
        </p:spPr>
      </p:sp>
      <p:sp>
        <p:nvSpPr>
          <p:cNvPr id="6" name="5d664054-1c8e-438c-bf10-6d679d56a701_emoji"/>
          <p:cNvSpPr/>
          <p:nvPr/>
        </p:nvSpPr>
        <p:spPr>
          <a:xfrm>
            <a:off x="400050" y="353187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5d664054-1c8e-438c-bf10-6d679d56a701_text"/>
          <p:cNvSpPr/>
          <p:nvPr/>
        </p:nvSpPr>
        <p:spPr>
          <a:xfrm>
            <a:off x="765810" y="3497580"/>
            <a:ext cx="3977640" cy="1152144"/>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B5D4F4"/>
                </a:solidFill>
                <a:latin typeface="Dyslexie" pitchFamily="34" charset="0"/>
                <a:ea typeface="Dyslexie" pitchFamily="34" charset="-122"/>
                <a:cs typeface="Dyslexie" pitchFamily="34" charset="-120"/>
              </a:rPr>
              <a:t>Lembre-se</a:t>
            </a:r>
            <a:endParaRPr lang="en-US" sz="1123" dirty="0"/>
          </a:p>
          <a:p>
            <a:pPr algn="l" indent="0" marL="0">
              <a:lnSpc>
                <a:spcPts val="2009"/>
              </a:lnSpc>
              <a:spcBef>
                <a:spcPts val="360"/>
              </a:spcBef>
              <a:spcAft>
                <a:spcPts val="360"/>
              </a:spcAft>
              <a:buNone/>
            </a:pPr>
            <a:r>
              <a:rPr lang="en-US" sz="1264" dirty="0">
                <a:solidFill>
                  <a:srgbClr val="B5D4F4"/>
                </a:solidFill>
                <a:latin typeface="Dyslexie" pitchFamily="34" charset="0"/>
                <a:ea typeface="Dyslexie" pitchFamily="34" charset="-122"/>
                <a:cs typeface="Dyslexie" pitchFamily="34" charset="-120"/>
              </a:rPr>
              <a:t>Clique com o botão direito em um número e use 'Resumir Valores Por' para alternar o cálculo.</a:t>
            </a:r>
            <a:endParaRPr lang="en-US" sz="1123"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b5506ff-7bff-414f-be57-0143ec397880" descr="/home/forge/chalkie-production-workers-1/releases/77481629/backend/storage/app/render-specs/5dac6ab7-4967-4c82-be18-2b0e49610a6a/img_32f4a80143f38faa7ab375c0f1b5005f.png">    </p:cNvPr>
          <p:cNvPicPr>
            <a:picLocks noChangeAspect="1"/>
          </p:cNvPicPr>
          <p:nvPr/>
        </p:nvPicPr>
        <p:blipFill>
          <a:blip r:embed="rId2"/>
          <a:stretch>
            <a:fillRect/>
          </a:stretch>
        </p:blipFill>
        <p:spPr>
          <a:xfrm>
            <a:off x="0" y="0"/>
            <a:ext cx="9144000" cy="1828800"/>
          </a:xfrm>
          <a:prstGeom prst="roundRect">
            <a:avLst>
              <a:gd name="adj" fmla="val 7500"/>
            </a:avLst>
          </a:prstGeom>
        </p:spPr>
      </p:pic>
      <p:sp>
        <p:nvSpPr>
          <p:cNvPr id="3" name="1e332733-f7df-4e70-b201-a511d4a4ca9e"/>
          <p:cNvSpPr/>
          <p:nvPr/>
        </p:nvSpPr>
        <p:spPr>
          <a:xfrm>
            <a:off x="285750" y="192024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Agrupamento de Datas e Horas</a:t>
            </a:r>
            <a:endParaRPr lang="en-US" sz="2246" dirty="0"/>
          </a:p>
        </p:txBody>
      </p:sp>
      <p:sp>
        <p:nvSpPr>
          <p:cNvPr id="4" name="9c0c9f97-45f6-49b2-a5ba-090661bb9482"/>
          <p:cNvSpPr/>
          <p:nvPr/>
        </p:nvSpPr>
        <p:spPr>
          <a:xfrm>
            <a:off x="285750" y="2548890"/>
            <a:ext cx="8572500" cy="955548"/>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Bases operacionais registram vendas diárias com dia, mês e ano. Em vez de ler centenas de datas soltas, use o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Agrupamento Automático</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do Excel. Ele organiza transações em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Meses</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Trimestres</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e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Anos</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automaticamente.</a:t>
            </a:r>
            <a:endParaRPr lang="en-US" sz="1264" dirty="0"/>
          </a:p>
        </p:txBody>
      </p:sp>
      <p:sp>
        <p:nvSpPr>
          <p:cNvPr id="5" name="696c3596-5ab7-4bc1-a0c6-05a3fe292978_card"/>
          <p:cNvSpPr/>
          <p:nvPr/>
        </p:nvSpPr>
        <p:spPr>
          <a:xfrm>
            <a:off x="285750" y="3611880"/>
            <a:ext cx="8572500" cy="1125601"/>
          </a:xfrm>
          <a:prstGeom prst="roundRect">
            <a:avLst>
              <a:gd name="adj" fmla="val 8124"/>
            </a:avLst>
          </a:prstGeom>
          <a:solidFill>
            <a:srgbClr val="FAC873">
              <a:alpha val="14902"/>
            </a:srgbClr>
          </a:solidFill>
          <a:ln w="11430">
            <a:solidFill>
              <a:srgbClr val="573B06">
                <a:alpha val="20000"/>
              </a:srgbClr>
            </a:solidFill>
            <a:prstDash val="solid"/>
          </a:ln>
        </p:spPr>
      </p:sp>
      <p:sp>
        <p:nvSpPr>
          <p:cNvPr id="6" name="696c3596-5ab7-4bc1-a0c6-05a3fe292978_emoji"/>
          <p:cNvSpPr/>
          <p:nvPr/>
        </p:nvSpPr>
        <p:spPr>
          <a:xfrm>
            <a:off x="400050" y="376047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696c3596-5ab7-4bc1-a0c6-05a3fe292978_text"/>
          <p:cNvSpPr/>
          <p:nvPr/>
        </p:nvSpPr>
        <p:spPr>
          <a:xfrm>
            <a:off x="765810" y="3726180"/>
            <a:ext cx="7978140" cy="897001"/>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FAC775"/>
                </a:solidFill>
                <a:latin typeface="Dyslexie" pitchFamily="34" charset="0"/>
                <a:ea typeface="Dyslexie" pitchFamily="34" charset="-122"/>
                <a:cs typeface="Dyslexie" pitchFamily="34" charset="-120"/>
              </a:rPr>
              <a:t>Ponto-chave</a:t>
            </a:r>
            <a:endParaRPr lang="en-US" sz="1123" dirty="0"/>
          </a:p>
          <a:p>
            <a:pPr algn="l" indent="0" marL="0">
              <a:lnSpc>
                <a:spcPts val="2009"/>
              </a:lnSpc>
              <a:spcBef>
                <a:spcPts val="360"/>
              </a:spcBef>
              <a:spcAft>
                <a:spcPts val="360"/>
              </a:spcAft>
              <a:buNone/>
            </a:pPr>
            <a:r>
              <a:rPr lang="en-US" sz="1264" dirty="0">
                <a:solidFill>
                  <a:srgbClr val="FAC775"/>
                </a:solidFill>
                <a:latin typeface="Dyslexie" pitchFamily="34" charset="0"/>
                <a:ea typeface="Dyslexie" pitchFamily="34" charset="-122"/>
                <a:cs typeface="Dyslexie" pitchFamily="34" charset="-120"/>
              </a:rPr>
              <a:t>Clique em qualquer data da tabela dinâmica, aperte o botão direito e selecione 'Agrupar'. Marque Meses e Trimestres para obter resumos sazonais.</a:t>
            </a:r>
            <a:endParaRPr lang="en-US" sz="1123"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49a0ff18-2698-4db4-ac3b-d2061e3559f1" descr="/home/forge/chalkie-production-workers-1/releases/77481629/backend/storage/app/render-specs/5dac6ab7-4967-4c82-be18-2b0e49610a6a/img_5c94b85296f7275a48f9c3ebcf17c53f.png">    </p:cNvPr>
          <p:cNvPicPr>
            <a:picLocks noChangeAspect="1"/>
          </p:cNvPicPr>
          <p:nvPr/>
        </p:nvPicPr>
        <p:blipFill>
          <a:blip r:embed="rId2"/>
          <a:stretch>
            <a:fillRect/>
          </a:stretch>
        </p:blipFill>
        <p:spPr>
          <a:xfrm>
            <a:off x="285750" y="800100"/>
            <a:ext cx="3829050" cy="4057650"/>
          </a:xfrm>
          <a:prstGeom prst="roundRect">
            <a:avLst>
              <a:gd name="adj" fmla="val 3582"/>
            </a:avLst>
          </a:prstGeom>
        </p:spPr>
      </p:pic>
      <p:sp>
        <p:nvSpPr>
          <p:cNvPr id="3" name="3d652d1c-c53b-439f-8c4f-ba5f1cfae304"/>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Ordenação e Filtros Rápidos</a:t>
            </a:r>
            <a:endParaRPr lang="en-US" sz="2246" dirty="0"/>
          </a:p>
        </p:txBody>
      </p:sp>
      <p:sp>
        <p:nvSpPr>
          <p:cNvPr id="4" name="4af94d5d-0c96-440d-9305-6b46aa6519b7"/>
          <p:cNvSpPr/>
          <p:nvPr/>
        </p:nvSpPr>
        <p:spPr>
          <a:xfrm>
            <a:off x="4286250" y="800100"/>
            <a:ext cx="4572000" cy="1243584"/>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Apresentar dados desordenados dificulta a tomada de decisão. As tabelas dinâmicas permitem hierarquizar respostas:</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Mais Vendidos ao Topo</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Ordene o campo de valores de forma Decrescente (Z-A).</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Filtro dos 10 Primeiros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Isole apenas os clientes ou produtos líderes.</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Filtro por Rótulo</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Mostre apenas registros que contenham palavras específicas.</a:t>
            </a:r>
            <a:endParaRPr lang="en-US" sz="1264"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526a3ce1-5ab0-4f01-879b-2e05613695e2"/>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Checando o Agrupamento</a:t>
            </a:r>
            <a:endParaRPr lang="en-US" sz="2246" dirty="0"/>
          </a:p>
        </p:txBody>
      </p:sp>
      <p:sp>
        <p:nvSpPr>
          <p:cNvPr id="3" name="6257f7a7-7e81-48c5-b6e4-62c775c77336-shadow"/>
          <p:cNvSpPr/>
          <p:nvPr/>
        </p:nvSpPr>
        <p:spPr>
          <a:xfrm>
            <a:off x="914400" y="1234440"/>
            <a:ext cx="7372350" cy="1143000"/>
          </a:xfrm>
          <a:prstGeom prst="roundRect">
            <a:avLst>
              <a:gd name="adj" fmla="val 10000"/>
            </a:avLst>
          </a:prstGeom>
          <a:solidFill>
            <a:srgbClr val="000000"/>
          </a:solidFill>
          <a:ln/>
        </p:spPr>
      </p:sp>
      <p:sp>
        <p:nvSpPr>
          <p:cNvPr id="4" name="6257f7a7-7e81-48c5-b6e4-62c775c77336"/>
          <p:cNvSpPr/>
          <p:nvPr/>
        </p:nvSpPr>
        <p:spPr>
          <a:xfrm>
            <a:off x="822960" y="1143000"/>
            <a:ext cx="7372350" cy="1143000"/>
          </a:xfrm>
          <a:prstGeom prst="roundRect">
            <a:avLst>
              <a:gd name="adj" fmla="val 10000"/>
            </a:avLst>
          </a:prstGeom>
          <a:solidFill>
            <a:srgbClr val="F4F9FC"/>
          </a:solidFill>
          <a:ln w="45720">
            <a:solidFill>
              <a:srgbClr val="000000"/>
            </a:solidFill>
          </a:ln>
        </p:spPr>
        <p:txBody>
          <a:bodyPr wrap="square" lIns="102870" tIns="102870" rIns="102870" bIns="102870" rtlCol="0" anchor="ctr"/>
          <a:lstStyle/>
          <a:p>
            <a:pPr algn="ctr"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Se você agrupar datas por Mês na tabela dinâmica, a base de dados original terá suas datas apagadas para sempre.</a:t>
            </a:r>
            <a:endParaRPr lang="en-US" sz="1264" dirty="0"/>
          </a:p>
        </p:txBody>
      </p:sp>
      <p:sp>
        <p:nvSpPr>
          <p:cNvPr id="5" name="ad1442ca-7a9f-46c8-981d-42ed6d04427b"/>
          <p:cNvSpPr/>
          <p:nvPr/>
        </p:nvSpPr>
        <p:spPr>
          <a:xfrm>
            <a:off x="2571750" y="2628900"/>
            <a:ext cx="1714500" cy="800100"/>
          </a:xfrm>
          <a:prstGeom prst="roundRect">
            <a:avLst>
              <a:gd name="adj" fmla="val 17143"/>
            </a:avLst>
          </a:prstGeom>
          <a:solidFill>
            <a:srgbClr val="FFFFFF"/>
          </a:solidFill>
          <a:ln w="45720">
            <a:solidFill>
              <a:srgbClr val="000000"/>
            </a:solidFill>
          </a:ln>
        </p:spPr>
        <p:txBody>
          <a:bodyPr wrap="square" lIns="91440" tIns="91440" rIns="91440" bIns="91440" rtlCol="0" anchor="ctr"/>
          <a:lstStyle/>
          <a:p>
            <a:pPr algn="ctr" indent="0" marL="0">
              <a:lnSpc>
                <a:spcPts val="2902"/>
              </a:lnSpc>
              <a:spcBef>
                <a:spcPts val="450"/>
              </a:spcBef>
              <a:spcAft>
                <a:spcPts val="450"/>
              </a:spcAft>
              <a:buNone/>
            </a:pPr>
            <a:r>
              <a:rPr lang="en-US" sz="1825" dirty="0">
                <a:solidFill>
                  <a:srgbClr val="040F0F"/>
                </a:solidFill>
                <a:latin typeface="Dyslexie" pitchFamily="34" charset="0"/>
                <a:ea typeface="Dyslexie" pitchFamily="34" charset="-122"/>
                <a:cs typeface="Dyslexie" pitchFamily="34" charset="-120"/>
              </a:rPr>
              <a:t>👍 </a:t>
            </a:r>
            <a:pPr algn="ctr" indent="0" marL="0">
              <a:lnSpc>
                <a:spcPts val="2902"/>
              </a:lnSpc>
              <a:spcBef>
                <a:spcPts val="450"/>
              </a:spcBef>
              <a:spcAft>
                <a:spcPts val="450"/>
              </a:spcAft>
              <a:buNone/>
            </a:pPr>
            <a:r>
              <a:rPr lang="en-US" sz="1825" b="1" dirty="0">
                <a:solidFill>
                  <a:srgbClr val="040F0F"/>
                </a:solidFill>
                <a:latin typeface="Dyslexie" pitchFamily="34" charset="0"/>
                <a:ea typeface="Dyslexie" pitchFamily="34" charset="-122"/>
                <a:cs typeface="Dyslexie" pitchFamily="34" charset="-120"/>
              </a:rPr>
              <a:t>VERDADEIRO</a:t>
            </a:r>
            <a:endParaRPr lang="en-US" sz="1825" dirty="0"/>
          </a:p>
        </p:txBody>
      </p:sp>
      <p:sp>
        <p:nvSpPr>
          <p:cNvPr id="6" name="9ffb08ff-8a26-4e13-a216-b86cc8edf950"/>
          <p:cNvSpPr/>
          <p:nvPr/>
        </p:nvSpPr>
        <p:spPr>
          <a:xfrm>
            <a:off x="4857750" y="2628900"/>
            <a:ext cx="1714500" cy="800100"/>
          </a:xfrm>
          <a:prstGeom prst="roundRect">
            <a:avLst>
              <a:gd name="adj" fmla="val 17143"/>
            </a:avLst>
          </a:prstGeom>
          <a:solidFill>
            <a:srgbClr val="FFFFFF"/>
          </a:solidFill>
          <a:ln w="45720">
            <a:solidFill>
              <a:srgbClr val="000000"/>
            </a:solidFill>
          </a:ln>
        </p:spPr>
        <p:txBody>
          <a:bodyPr wrap="square" lIns="91440" tIns="91440" rIns="91440" bIns="91440" rtlCol="0" anchor="ctr"/>
          <a:lstStyle/>
          <a:p>
            <a:pPr algn="ctr" indent="0" marL="0">
              <a:lnSpc>
                <a:spcPts val="2902"/>
              </a:lnSpc>
              <a:spcBef>
                <a:spcPts val="450"/>
              </a:spcBef>
              <a:spcAft>
                <a:spcPts val="450"/>
              </a:spcAft>
              <a:buNone/>
            </a:pPr>
            <a:r>
              <a:rPr lang="en-US" sz="1825" dirty="0">
                <a:solidFill>
                  <a:srgbClr val="040F0F"/>
                </a:solidFill>
                <a:latin typeface="Dyslexie" pitchFamily="34" charset="0"/>
                <a:ea typeface="Dyslexie" pitchFamily="34" charset="-122"/>
                <a:cs typeface="Dyslexie" pitchFamily="34" charset="-120"/>
              </a:rPr>
              <a:t>👎 </a:t>
            </a:r>
            <a:pPr algn="ctr" indent="0" marL="0">
              <a:lnSpc>
                <a:spcPts val="2902"/>
              </a:lnSpc>
              <a:spcBef>
                <a:spcPts val="450"/>
              </a:spcBef>
              <a:spcAft>
                <a:spcPts val="450"/>
              </a:spcAft>
              <a:buNone/>
            </a:pPr>
            <a:r>
              <a:rPr lang="en-US" sz="1825" b="1" dirty="0">
                <a:solidFill>
                  <a:srgbClr val="040F0F"/>
                </a:solidFill>
                <a:latin typeface="Dyslexie" pitchFamily="34" charset="0"/>
                <a:ea typeface="Dyslexie" pitchFamily="34" charset="-122"/>
                <a:cs typeface="Dyslexie" pitchFamily="34" charset="-120"/>
              </a:rPr>
              <a:t>FALSO</a:t>
            </a:r>
            <a:endParaRPr lang="en-US" sz="1825" dirty="0"/>
          </a:p>
        </p:txBody>
      </p:sp>
      <p:sp>
        <p:nvSpPr>
          <p:cNvPr id="7" name="e3236267-227f-4d7c-9100-5cc3047860d6"/>
          <p:cNvSpPr/>
          <p:nvPr/>
        </p:nvSpPr>
        <p:spPr>
          <a:xfrm>
            <a:off x="2571750" y="3714750"/>
            <a:ext cx="5715000" cy="457200"/>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7EB5A6"/>
                </a:solidFill>
                <a:latin typeface="Dyslexie" pitchFamily="34" charset="0"/>
                <a:ea typeface="Dyslexie" pitchFamily="34" charset="-122"/>
                <a:cs typeface="Dyslexie" pitchFamily="34" charset="-120"/>
              </a:rPr>
              <a:t>🤔 </a:t>
            </a:r>
            <a:pPr algn="l" indent="0" marL="0">
              <a:lnSpc>
                <a:spcPts val="2009"/>
              </a:lnSpc>
              <a:spcBef>
                <a:spcPts val="360"/>
              </a:spcBef>
              <a:spcAft>
                <a:spcPts val="360"/>
              </a:spcAft>
              <a:buNone/>
            </a:pPr>
            <a:r>
              <a:rPr lang="en-US" sz="1264" i="1" dirty="0">
                <a:solidFill>
                  <a:srgbClr val="7EB5A6"/>
                </a:solidFill>
                <a:latin typeface="Dyslexie" pitchFamily="34" charset="0"/>
                <a:ea typeface="Dyslexie" pitchFamily="34" charset="-122"/>
                <a:cs typeface="Dyslexie" pitchFamily="34" charset="-120"/>
              </a:rPr>
              <a:t>Prepare-se para explicar o seu raciocínio.</a:t>
            </a:r>
            <a:endParaRPr lang="en-US" sz="1264"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526a3ce1-5ab0-4f01-879b-2e05613695e2"/>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Checando o Agrupamento</a:t>
            </a:r>
            <a:endParaRPr lang="en-US" sz="2246" dirty="0"/>
          </a:p>
        </p:txBody>
      </p:sp>
      <p:sp>
        <p:nvSpPr>
          <p:cNvPr id="3" name="6257f7a7-7e81-48c5-b6e4-62c775c77336-shadow"/>
          <p:cNvSpPr/>
          <p:nvPr/>
        </p:nvSpPr>
        <p:spPr>
          <a:xfrm>
            <a:off x="914400" y="1234440"/>
            <a:ext cx="7372350" cy="1143000"/>
          </a:xfrm>
          <a:prstGeom prst="roundRect">
            <a:avLst>
              <a:gd name="adj" fmla="val 10000"/>
            </a:avLst>
          </a:prstGeom>
          <a:solidFill>
            <a:srgbClr val="000000"/>
          </a:solidFill>
          <a:ln/>
        </p:spPr>
      </p:sp>
      <p:sp>
        <p:nvSpPr>
          <p:cNvPr id="4" name="6257f7a7-7e81-48c5-b6e4-62c775c77336"/>
          <p:cNvSpPr/>
          <p:nvPr/>
        </p:nvSpPr>
        <p:spPr>
          <a:xfrm>
            <a:off x="822960" y="1143000"/>
            <a:ext cx="7372350" cy="1143000"/>
          </a:xfrm>
          <a:prstGeom prst="roundRect">
            <a:avLst>
              <a:gd name="adj" fmla="val 10000"/>
            </a:avLst>
          </a:prstGeom>
          <a:solidFill>
            <a:srgbClr val="F4F9FC"/>
          </a:solidFill>
          <a:ln w="45720">
            <a:solidFill>
              <a:srgbClr val="000000"/>
            </a:solidFill>
          </a:ln>
        </p:spPr>
        <p:txBody>
          <a:bodyPr wrap="square" lIns="102870" tIns="102870" rIns="102870" bIns="102870" rtlCol="0" anchor="ctr"/>
          <a:lstStyle/>
          <a:p>
            <a:pPr algn="ctr"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Se você agrupar datas por Mês na tabela dinâmica, a base de dados original terá suas datas apagadas para sempre.</a:t>
            </a:r>
            <a:endParaRPr lang="en-US" sz="1264" dirty="0"/>
          </a:p>
        </p:txBody>
      </p:sp>
      <p:sp>
        <p:nvSpPr>
          <p:cNvPr id="5" name="ad1442ca-7a9f-46c8-981d-42ed6d04427b"/>
          <p:cNvSpPr/>
          <p:nvPr/>
        </p:nvSpPr>
        <p:spPr>
          <a:xfrm>
            <a:off x="2571750" y="2628900"/>
            <a:ext cx="1714500" cy="800100"/>
          </a:xfrm>
          <a:prstGeom prst="roundRect">
            <a:avLst>
              <a:gd name="adj" fmla="val 17143"/>
            </a:avLst>
          </a:prstGeom>
          <a:solidFill>
            <a:srgbClr val="FFFFFF"/>
          </a:solidFill>
          <a:ln w="45720">
            <a:solidFill>
              <a:srgbClr val="000000"/>
            </a:solidFill>
          </a:ln>
        </p:spPr>
        <p:txBody>
          <a:bodyPr wrap="square" lIns="91440" tIns="91440" rIns="91440" bIns="91440" rtlCol="0" anchor="ctr"/>
          <a:lstStyle/>
          <a:p>
            <a:pPr algn="ctr" indent="0" marL="0">
              <a:lnSpc>
                <a:spcPts val="2902"/>
              </a:lnSpc>
              <a:spcBef>
                <a:spcPts val="450"/>
              </a:spcBef>
              <a:spcAft>
                <a:spcPts val="450"/>
              </a:spcAft>
              <a:buNone/>
            </a:pPr>
            <a:r>
              <a:rPr lang="en-US" sz="1825" dirty="0">
                <a:solidFill>
                  <a:srgbClr val="040F0F"/>
                </a:solidFill>
                <a:latin typeface="Dyslexie" pitchFamily="34" charset="0"/>
                <a:ea typeface="Dyslexie" pitchFamily="34" charset="-122"/>
                <a:cs typeface="Dyslexie" pitchFamily="34" charset="-120"/>
              </a:rPr>
              <a:t>👍 </a:t>
            </a:r>
            <a:pPr algn="ctr" indent="0" marL="0">
              <a:lnSpc>
                <a:spcPts val="2902"/>
              </a:lnSpc>
              <a:spcBef>
                <a:spcPts val="450"/>
              </a:spcBef>
              <a:spcAft>
                <a:spcPts val="450"/>
              </a:spcAft>
              <a:buNone/>
            </a:pPr>
            <a:r>
              <a:rPr lang="en-US" sz="1825" b="1" dirty="0">
                <a:solidFill>
                  <a:srgbClr val="040F0F"/>
                </a:solidFill>
                <a:latin typeface="Dyslexie" pitchFamily="34" charset="0"/>
                <a:ea typeface="Dyslexie" pitchFamily="34" charset="-122"/>
                <a:cs typeface="Dyslexie" pitchFamily="34" charset="-120"/>
              </a:rPr>
              <a:t>VERDADEIRO</a:t>
            </a:r>
            <a:endParaRPr lang="en-US" sz="1825" dirty="0"/>
          </a:p>
        </p:txBody>
      </p:sp>
      <p:sp>
        <p:nvSpPr>
          <p:cNvPr id="6" name="9ffb08ff-8a26-4e13-a216-b86cc8edf950"/>
          <p:cNvSpPr/>
          <p:nvPr/>
        </p:nvSpPr>
        <p:spPr>
          <a:xfrm>
            <a:off x="4857750" y="2628900"/>
            <a:ext cx="1714500" cy="800100"/>
          </a:xfrm>
          <a:prstGeom prst="roundRect">
            <a:avLst>
              <a:gd name="adj" fmla="val 17143"/>
            </a:avLst>
          </a:prstGeom>
          <a:solidFill>
            <a:srgbClr val="FFFFFF"/>
          </a:solidFill>
          <a:ln w="45720">
            <a:solidFill>
              <a:srgbClr val="2C6E49"/>
            </a:solidFill>
          </a:ln>
        </p:spPr>
        <p:txBody>
          <a:bodyPr wrap="square" lIns="91440" tIns="91440" rIns="91440" bIns="91440" rtlCol="0" anchor="ctr"/>
          <a:lstStyle/>
          <a:p>
            <a:pPr algn="ctr" indent="0" marL="0">
              <a:lnSpc>
                <a:spcPts val="2902"/>
              </a:lnSpc>
              <a:spcBef>
                <a:spcPts val="450"/>
              </a:spcBef>
              <a:spcAft>
                <a:spcPts val="450"/>
              </a:spcAft>
              <a:buNone/>
            </a:pPr>
            <a:r>
              <a:rPr lang="en-US" sz="1825" dirty="0">
                <a:solidFill>
                  <a:srgbClr val="040F0F"/>
                </a:solidFill>
                <a:latin typeface="Dyslexie" pitchFamily="34" charset="0"/>
                <a:ea typeface="Dyslexie" pitchFamily="34" charset="-122"/>
                <a:cs typeface="Dyslexie" pitchFamily="34" charset="-120"/>
              </a:rPr>
              <a:t>👎 </a:t>
            </a:r>
            <a:pPr algn="ctr" indent="0" marL="0">
              <a:lnSpc>
                <a:spcPts val="2902"/>
              </a:lnSpc>
              <a:spcBef>
                <a:spcPts val="450"/>
              </a:spcBef>
              <a:spcAft>
                <a:spcPts val="450"/>
              </a:spcAft>
              <a:buNone/>
            </a:pPr>
            <a:r>
              <a:rPr lang="en-US" sz="1825" b="1" dirty="0">
                <a:solidFill>
                  <a:srgbClr val="040F0F"/>
                </a:solidFill>
                <a:latin typeface="Dyslexie" pitchFamily="34" charset="0"/>
                <a:ea typeface="Dyslexie" pitchFamily="34" charset="-122"/>
                <a:cs typeface="Dyslexie" pitchFamily="34" charset="-120"/>
              </a:rPr>
              <a:t>FALSO</a:t>
            </a:r>
            <a:endParaRPr lang="en-US" sz="1825" dirty="0"/>
          </a:p>
        </p:txBody>
      </p:sp>
      <p:sp>
        <p:nvSpPr>
          <p:cNvPr id="7" name="27e87333-4c83-49e7-8b49-44f5f376810f"/>
          <p:cNvSpPr/>
          <p:nvPr/>
        </p:nvSpPr>
        <p:spPr>
          <a:xfrm>
            <a:off x="8366760" y="342900"/>
            <a:ext cx="548640" cy="548640"/>
          </a:xfrm>
          <a:prstGeom prst="rect">
            <a:avLst/>
          </a:prstGeom>
          <a:noFill/>
          <a:ln/>
        </p:spPr>
        <p:txBody>
          <a:bodyPr wrap="square" lIns="45720" tIns="45720" rIns="45720" bIns="45720" rtlCol="0" anchor="ctr"/>
          <a:lstStyle/>
          <a:p>
            <a:pPr algn="r" indent="0" marL="0">
              <a:lnSpc>
                <a:spcPts val="4464"/>
              </a:lnSpc>
              <a:spcBef>
                <a:spcPts val="450"/>
              </a:spcBef>
              <a:spcAft>
                <a:spcPts val="450"/>
              </a:spcAft>
              <a:buNone/>
            </a:pPr>
            <a:r>
              <a:rPr lang="en-US" sz="2808" dirty="0">
                <a:solidFill>
                  <a:srgbClr val="E8E4DF"/>
                </a:solidFill>
                <a:latin typeface="Dyslexie" pitchFamily="34" charset="0"/>
                <a:ea typeface="Dyslexie" pitchFamily="34" charset="-122"/>
                <a:cs typeface="Dyslexie" pitchFamily="34" charset="-120"/>
              </a:rPr>
              <a:t>✅</a:t>
            </a:r>
            <a:endParaRPr lang="en-US" sz="2808" dirty="0"/>
          </a:p>
        </p:txBody>
      </p:sp>
      <p:sp>
        <p:nvSpPr>
          <p:cNvPr id="8" name="3d4a3f43-08c1-420d-86bd-6aade2ea32c3_card"/>
          <p:cNvSpPr/>
          <p:nvPr/>
        </p:nvSpPr>
        <p:spPr>
          <a:xfrm>
            <a:off x="457200" y="3657600"/>
            <a:ext cx="8229600" cy="1125601"/>
          </a:xfrm>
          <a:prstGeom prst="roundRect">
            <a:avLst>
              <a:gd name="adj" fmla="val 8124"/>
            </a:avLst>
          </a:prstGeom>
          <a:solidFill>
            <a:srgbClr val="FAC873">
              <a:alpha val="14902"/>
            </a:srgbClr>
          </a:solidFill>
          <a:ln w="11430">
            <a:solidFill>
              <a:srgbClr val="573B06">
                <a:alpha val="20000"/>
              </a:srgbClr>
            </a:solidFill>
            <a:prstDash val="solid"/>
          </a:ln>
        </p:spPr>
      </p:sp>
      <p:sp>
        <p:nvSpPr>
          <p:cNvPr id="9" name="3d4a3f43-08c1-420d-86bd-6aade2ea32c3_emoji"/>
          <p:cNvSpPr/>
          <p:nvPr/>
        </p:nvSpPr>
        <p:spPr>
          <a:xfrm>
            <a:off x="571500" y="380619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10" name="3d4a3f43-08c1-420d-86bd-6aade2ea32c3_text"/>
          <p:cNvSpPr/>
          <p:nvPr/>
        </p:nvSpPr>
        <p:spPr>
          <a:xfrm>
            <a:off x="937260" y="3771900"/>
            <a:ext cx="7635240" cy="897001"/>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E8C85A"/>
                </a:solidFill>
                <a:latin typeface="Dyslexie" pitchFamily="34" charset="0"/>
                <a:ea typeface="Dyslexie" pitchFamily="34" charset="-122"/>
                <a:cs typeface="Dyslexie" pitchFamily="34" charset="-120"/>
              </a:rPr>
              <a:t>Por que é isso?</a:t>
            </a:r>
            <a:endParaRPr lang="en-US" sz="1123" dirty="0"/>
          </a:p>
          <a:p>
            <a:pPr algn="l" indent="0" marL="0">
              <a:lnSpc>
                <a:spcPts val="2009"/>
              </a:lnSpc>
              <a:spcBef>
                <a:spcPts val="360"/>
              </a:spcBef>
              <a:spcAft>
                <a:spcPts val="360"/>
              </a:spcAft>
              <a:buNone/>
            </a:pPr>
            <a:r>
              <a:rPr lang="en-US" sz="1264" dirty="0">
                <a:solidFill>
                  <a:srgbClr val="FAC775"/>
                </a:solidFill>
                <a:latin typeface="Dyslexie" pitchFamily="34" charset="0"/>
                <a:ea typeface="Dyslexie" pitchFamily="34" charset="-122"/>
                <a:cs typeface="Dyslexie" pitchFamily="34" charset="-120"/>
              </a:rPr>
              <a:t>A tabela dinâmica apenas exibe uma visão consolidada, preservando todas as datas originais da base intactas.</a:t>
            </a:r>
            <a:endParaRPr lang="en-US" sz="1123" dirty="0"/>
          </a:p>
        </p:txBody>
      </p:sp>
      <p:sp>
        <p:nvSpPr>
          <p:cNvPr id="11" name="3e1cb789-310e-4b96-acd3-09f50b87dc82"/>
          <p:cNvSpPr/>
          <p:nvPr/>
        </p:nvSpPr>
        <p:spPr>
          <a:xfrm>
            <a:off x="6435090" y="2491740"/>
            <a:ext cx="274320" cy="274320"/>
          </a:xfrm>
          <a:prstGeom prst="roundRect">
            <a:avLst>
              <a:gd name="adj" fmla="val 25000"/>
            </a:avLst>
          </a:prstGeom>
          <a:solidFill>
            <a:srgbClr val="2C6E49"/>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a:t>
            </a:r>
            <a:endParaRPr lang="en-US" sz="913"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8c7cd16e-785b-445a-b3af-fba8970f9195" descr="/home/forge/chalkie-production-workers-1/releases/77481629/backend/storage/app/render-specs/5dac6ab7-4967-4c82-be18-2b0e49610a6a/img_aa1d51f69701bf963562e7c967f0834b.png">    </p:cNvPr>
          <p:cNvPicPr>
            <a:picLocks noChangeAspect="1"/>
          </p:cNvPicPr>
          <p:nvPr/>
        </p:nvPicPr>
        <p:blipFill>
          <a:blip r:embed="rId2"/>
          <a:stretch>
            <a:fillRect/>
          </a:stretch>
        </p:blipFill>
        <p:spPr>
          <a:xfrm>
            <a:off x="5657850" y="0"/>
            <a:ext cx="3486150" cy="5143500"/>
          </a:xfrm>
          <a:prstGeom prst="roundRect">
            <a:avLst>
              <a:gd name="adj" fmla="val 3934"/>
            </a:avLst>
          </a:prstGeom>
        </p:spPr>
      </p:pic>
      <p:sp>
        <p:nvSpPr>
          <p:cNvPr id="3" name="cf701049-6c03-4a2d-82f9-5cfa94fce656"/>
          <p:cNvSpPr/>
          <p:nvPr/>
        </p:nvSpPr>
        <p:spPr>
          <a:xfrm>
            <a:off x="285750" y="308610"/>
            <a:ext cx="5143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Campos Calculados na Tabela</a:t>
            </a:r>
            <a:endParaRPr lang="en-US" sz="2246" dirty="0"/>
          </a:p>
        </p:txBody>
      </p:sp>
      <p:sp>
        <p:nvSpPr>
          <p:cNvPr id="4" name="2eeb1c9d-6030-4b5d-adaf-e9dec40f8f8a"/>
          <p:cNvSpPr/>
          <p:nvPr/>
        </p:nvSpPr>
        <p:spPr>
          <a:xfrm>
            <a:off x="285750" y="139446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Calcule comissões de 5% sem alterar a base:</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O </a:t>
            </a:r>
            <a:pPr algn="l" indent="0" marL="0">
              <a:lnSpc>
                <a:spcPts val="2009"/>
              </a:lnSpc>
              <a:spcBef>
                <a:spcPts val="225"/>
              </a:spcBef>
              <a:spcAft>
                <a:spcPts val="225"/>
              </a:spcAft>
              <a:buNone/>
            </a:pPr>
            <a:r>
              <a:rPr lang="en-US" sz="1264" b="1" dirty="0">
                <a:solidFill>
                  <a:srgbClr val="E8E4DF"/>
                </a:solidFill>
                <a:latin typeface="Dyslexie" pitchFamily="34" charset="0"/>
                <a:ea typeface="Dyslexie" pitchFamily="34" charset="-122"/>
                <a:cs typeface="Dyslexie" pitchFamily="34" charset="-120"/>
              </a:rPr>
              <a:t>Campo Calculado</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cria variáveis na tabela dinâmica.</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Vá em </a:t>
            </a:r>
            <a:pPr algn="l" indent="0" marL="0">
              <a:lnSpc>
                <a:spcPts val="2009"/>
              </a:lnSpc>
              <a:spcBef>
                <a:spcPts val="225"/>
              </a:spcBef>
              <a:spcAft>
                <a:spcPts val="225"/>
              </a:spcAft>
              <a:buNone/>
            </a:pPr>
            <a:r>
              <a:rPr lang="en-US" sz="1264" i="1" dirty="0">
                <a:solidFill>
                  <a:srgbClr val="E8E4DF"/>
                </a:solidFill>
                <a:latin typeface="Dyslexie" pitchFamily="34" charset="0"/>
                <a:ea typeface="Dyslexie" pitchFamily="34" charset="-122"/>
                <a:cs typeface="Dyslexie" pitchFamily="34" charset="-120"/>
              </a:rPr>
              <a:t>Análise de Tabela Dinâmica</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&gt; </a:t>
            </a:r>
            <a:pPr algn="l" indent="0" marL="0">
              <a:lnSpc>
                <a:spcPts val="2009"/>
              </a:lnSpc>
              <a:spcBef>
                <a:spcPts val="225"/>
              </a:spcBef>
              <a:spcAft>
                <a:spcPts val="225"/>
              </a:spcAft>
              <a:buNone/>
            </a:pPr>
            <a:r>
              <a:rPr lang="en-US" sz="1264" i="1" dirty="0">
                <a:solidFill>
                  <a:srgbClr val="E8E4DF"/>
                </a:solidFill>
                <a:latin typeface="Dyslexie" pitchFamily="34" charset="0"/>
                <a:ea typeface="Dyslexie" pitchFamily="34" charset="-122"/>
                <a:cs typeface="Dyslexie" pitchFamily="34" charset="-120"/>
              </a:rPr>
              <a:t>Campos, Itens e Conjuntos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&gt; </a:t>
            </a:r>
            <a:pPr algn="l" indent="0" marL="0">
              <a:lnSpc>
                <a:spcPts val="2009"/>
              </a:lnSpc>
              <a:spcBef>
                <a:spcPts val="225"/>
              </a:spcBef>
              <a:spcAft>
                <a:spcPts val="225"/>
              </a:spcAft>
              <a:buNone/>
            </a:pPr>
            <a:r>
              <a:rPr lang="en-US" sz="1264" i="1" dirty="0">
                <a:solidFill>
                  <a:srgbClr val="E8E4DF"/>
                </a:solidFill>
                <a:latin typeface="Dyslexie" pitchFamily="34" charset="0"/>
                <a:ea typeface="Dyslexie" pitchFamily="34" charset="-122"/>
                <a:cs typeface="Dyslexie" pitchFamily="34" charset="-120"/>
              </a:rPr>
              <a:t>Campo Calculado</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Use a fórmula: </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a:t>
            </a:r>
            <a:endParaRPr lang="en-US" sz="1264" dirty="0"/>
          </a:p>
        </p:txBody>
      </p:sp>
      <p:sp>
        <p:nvSpPr>
          <p:cNvPr id="5" name="7ce27476-23b3-4d46-9c57-b0707189fa6e_card"/>
          <p:cNvSpPr/>
          <p:nvPr/>
        </p:nvSpPr>
        <p:spPr>
          <a:xfrm>
            <a:off x="285750" y="3463290"/>
            <a:ext cx="5143500" cy="1125601"/>
          </a:xfrm>
          <a:prstGeom prst="roundRect">
            <a:avLst>
              <a:gd name="adj" fmla="val 8124"/>
            </a:avLst>
          </a:prstGeom>
          <a:solidFill>
            <a:srgbClr val="AFAAEC">
              <a:alpha val="14902"/>
            </a:srgbClr>
          </a:solidFill>
          <a:ln w="11430">
            <a:solidFill>
              <a:srgbClr val="08044D">
                <a:alpha val="20000"/>
              </a:srgbClr>
            </a:solidFill>
            <a:prstDash val="solid"/>
          </a:ln>
        </p:spPr>
      </p:sp>
      <p:sp>
        <p:nvSpPr>
          <p:cNvPr id="6" name="7ce27476-23b3-4d46-9c57-b0707189fa6e_emoji"/>
          <p:cNvSpPr/>
          <p:nvPr/>
        </p:nvSpPr>
        <p:spPr>
          <a:xfrm>
            <a:off x="400050" y="361188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7ce27476-23b3-4d46-9c57-b0707189fa6e_text"/>
          <p:cNvSpPr/>
          <p:nvPr/>
        </p:nvSpPr>
        <p:spPr>
          <a:xfrm>
            <a:off x="765810" y="3577590"/>
            <a:ext cx="4549140" cy="897001"/>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CECBF6"/>
                </a:solidFill>
                <a:latin typeface="Dyslexie" pitchFamily="34" charset="0"/>
                <a:ea typeface="Dyslexie" pitchFamily="34" charset="-122"/>
                <a:cs typeface="Dyslexie" pitchFamily="34" charset="-120"/>
              </a:rPr>
              <a:t>Curiosidade</a:t>
            </a:r>
            <a:endParaRPr lang="en-US" sz="1123" dirty="0"/>
          </a:p>
          <a:p>
            <a:pPr algn="l" indent="0" marL="0">
              <a:lnSpc>
                <a:spcPts val="2009"/>
              </a:lnSpc>
              <a:spcBef>
                <a:spcPts val="360"/>
              </a:spcBef>
              <a:spcAft>
                <a:spcPts val="360"/>
              </a:spcAft>
              <a:buNone/>
            </a:pPr>
            <a:r>
              <a:rPr lang="en-US" sz="1264" dirty="0">
                <a:solidFill>
                  <a:srgbClr val="CECBF6"/>
                </a:solidFill>
                <a:latin typeface="Dyslexie" pitchFamily="34" charset="0"/>
                <a:ea typeface="Dyslexie" pitchFamily="34" charset="-122"/>
                <a:cs typeface="Dyslexie" pitchFamily="34" charset="-120"/>
              </a:rPr>
              <a:t>O campo calculado atualiza-se ao inserir novos dados na base.</a:t>
            </a:r>
            <a:endParaRPr lang="en-US" sz="1123"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992a3087-b7ee-4922-8005-38793b673c2f" descr="/home/forge/chalkie-production-workers-1/releases/77481629/backend/storage/app/render-specs/5dac6ab7-4967-4c82-be18-2b0e49610a6a/img_e362004820fa1baf8452128dcb4964dd.png">    </p:cNvPr>
          <p:cNvPicPr>
            <a:picLocks noChangeAspect="1"/>
          </p:cNvPicPr>
          <p:nvPr/>
        </p:nvPicPr>
        <p:blipFill>
          <a:blip r:embed="rId2"/>
          <a:stretch>
            <a:fillRect/>
          </a:stretch>
        </p:blipFill>
        <p:spPr>
          <a:xfrm>
            <a:off x="285750" y="800100"/>
            <a:ext cx="3829050" cy="4057650"/>
          </a:xfrm>
          <a:prstGeom prst="roundRect">
            <a:avLst>
              <a:gd name="adj" fmla="val 3582"/>
            </a:avLst>
          </a:prstGeom>
        </p:spPr>
      </p:pic>
      <p:sp>
        <p:nvSpPr>
          <p:cNvPr id="3" name="bf41e8f2-fa7e-4234-8ca9-5631b8a062b9"/>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Segmentação de Dados (Slicers)</a:t>
            </a:r>
            <a:endParaRPr lang="en-US" sz="2246" dirty="0"/>
          </a:p>
        </p:txBody>
      </p:sp>
      <p:sp>
        <p:nvSpPr>
          <p:cNvPr id="4" name="8e704efe-aaab-4ca2-9656-3b8e25c05ddc"/>
          <p:cNvSpPr/>
          <p:nvPr/>
        </p:nvSpPr>
        <p:spPr>
          <a:xfrm>
            <a:off x="4286250" y="800100"/>
            <a:ext cx="4572000" cy="1243584"/>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A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Segmentação de Dados</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substitui os filtros suspensos tradicionais por blocos de botões táteis e visuais:</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Cada botão representa uma categoria da sua coluna.</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Clicar em um botão filtra instantaneamente o relatório.</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Segurando a tecla </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é possível selecionar múltiplos botões.</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Botões cinzas sem realce indicam categorias sem movimentação.</a:t>
            </a:r>
            <a:endParaRPr lang="en-US" sz="1264"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d18511ad-52ae-49fb-b739-a084b9825c80" descr="/home/forge/chalkie-production-workers-1/releases/77481629/backend/storage/app/render-specs/5dac6ab7-4967-4c82-be18-2b0e49610a6a/img_abf63bdc10d256a43a814c5920aff888.png">    </p:cNvPr>
          <p:cNvPicPr>
            <a:picLocks noChangeAspect="1"/>
          </p:cNvPicPr>
          <p:nvPr/>
        </p:nvPicPr>
        <p:blipFill>
          <a:blip r:embed="rId2"/>
          <a:stretch>
            <a:fillRect/>
          </a:stretch>
        </p:blipFill>
        <p:spPr>
          <a:xfrm>
            <a:off x="285750" y="800100"/>
            <a:ext cx="4194810" cy="2057400"/>
          </a:xfrm>
          <a:prstGeom prst="roundRect">
            <a:avLst>
              <a:gd name="adj" fmla="val 6667"/>
            </a:avLst>
          </a:prstGeom>
        </p:spPr>
      </p:pic>
      <p:pic>
        <p:nvPicPr>
          <p:cNvPr id="3" name="6b19e886-0b1f-477c-90df-b074c49a2431" descr="/home/forge/chalkie-production-workers-1/releases/77481629/backend/storage/app/render-specs/5dac6ab7-4967-4c82-be18-2b0e49610a6a/img_11e4ec8bfcd74688a3d1a82e5cfcadce.png">    </p:cNvPr>
          <p:cNvPicPr>
            <a:picLocks noChangeAspect="1"/>
          </p:cNvPicPr>
          <p:nvPr/>
        </p:nvPicPr>
        <p:blipFill>
          <a:blip r:embed="rId3"/>
          <a:stretch>
            <a:fillRect/>
          </a:stretch>
        </p:blipFill>
        <p:spPr>
          <a:xfrm>
            <a:off x="4652010" y="800100"/>
            <a:ext cx="4194810" cy="2057400"/>
          </a:xfrm>
          <a:prstGeom prst="roundRect">
            <a:avLst>
              <a:gd name="adj" fmla="val 6667"/>
            </a:avLst>
          </a:prstGeom>
        </p:spPr>
      </p:pic>
      <p:sp>
        <p:nvSpPr>
          <p:cNvPr id="4" name="fc880bb9-fe17-4046-9cd6-5ad477b146ae"/>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Aplicação: Vendas e Estoque</a:t>
            </a:r>
            <a:endParaRPr lang="en-US" sz="2246" dirty="0"/>
          </a:p>
        </p:txBody>
      </p:sp>
      <p:sp>
        <p:nvSpPr>
          <p:cNvPr id="5" name="37c435a7-665c-400d-85f8-c3a3c55a9124"/>
          <p:cNvSpPr/>
          <p:nvPr/>
        </p:nvSpPr>
        <p:spPr>
          <a:xfrm>
            <a:off x="285750" y="2994660"/>
            <a:ext cx="4194810" cy="795528"/>
          </a:xfrm>
          <a:prstGeom prst="rect">
            <a:avLst/>
          </a:prstGeom>
          <a:noFill/>
          <a:ln/>
        </p:spPr>
        <p:txBody>
          <a:bodyPr wrap="square" lIns="45720" tIns="45720" rIns="45720" bIns="45720" rtlCol="0" anchor="t"/>
          <a:lstStyle/>
          <a:p>
            <a:pPr algn="l" indent="0" marL="0">
              <a:lnSpc>
                <a:spcPts val="2455"/>
              </a:lnSpc>
              <a:spcBef>
                <a:spcPts val="360"/>
              </a:spcBef>
              <a:spcAft>
                <a:spcPts val="360"/>
              </a:spcAft>
              <a:buNone/>
            </a:pPr>
            <a:r>
              <a:rPr lang="en-US" sz="1544" b="1" dirty="0">
                <a:solidFill>
                  <a:srgbClr val="E8E4DF"/>
                </a:solidFill>
                <a:latin typeface="Dyslexie" pitchFamily="34" charset="0"/>
                <a:ea typeface="Dyslexie" pitchFamily="34" charset="-122"/>
                <a:cs typeface="Dyslexie" pitchFamily="34" charset="-120"/>
              </a:rPr>
              <a:t>Controle de Estoque</a:t>
            </a:r>
            <a:endParaRPr lang="en-US" sz="154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Giro</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Pedidos por lote.</a:t>
            </a:r>
            <a:endParaRPr lang="en-US" sz="154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Reposição</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Estoque mínimo.</a:t>
            </a:r>
            <a:endParaRPr lang="en-US" sz="154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Custo</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Unidades x custo unitário.</a:t>
            </a:r>
            <a:endParaRPr lang="en-US" sz="1544" dirty="0"/>
          </a:p>
        </p:txBody>
      </p:sp>
      <p:sp>
        <p:nvSpPr>
          <p:cNvPr id="6" name="e0fd0bf2-6247-4211-b405-678aa63a909b"/>
          <p:cNvSpPr/>
          <p:nvPr/>
        </p:nvSpPr>
        <p:spPr>
          <a:xfrm>
            <a:off x="4652010" y="2994660"/>
            <a:ext cx="4194810" cy="795528"/>
          </a:xfrm>
          <a:prstGeom prst="rect">
            <a:avLst/>
          </a:prstGeom>
          <a:noFill/>
          <a:ln/>
        </p:spPr>
        <p:txBody>
          <a:bodyPr wrap="square" lIns="45720" tIns="45720" rIns="45720" bIns="45720" rtlCol="0" anchor="t"/>
          <a:lstStyle/>
          <a:p>
            <a:pPr algn="l" indent="0" marL="0">
              <a:lnSpc>
                <a:spcPts val="2455"/>
              </a:lnSpc>
              <a:spcBef>
                <a:spcPts val="360"/>
              </a:spcBef>
              <a:spcAft>
                <a:spcPts val="360"/>
              </a:spcAft>
              <a:buNone/>
            </a:pPr>
            <a:r>
              <a:rPr lang="en-US" sz="1544" b="1" dirty="0">
                <a:solidFill>
                  <a:srgbClr val="E8E4DF"/>
                </a:solidFill>
                <a:latin typeface="Dyslexie" pitchFamily="34" charset="0"/>
                <a:ea typeface="Dyslexie" pitchFamily="34" charset="-122"/>
                <a:cs typeface="Dyslexie" pitchFamily="34" charset="-120"/>
              </a:rPr>
              <a:t>Performance Comercial</a:t>
            </a:r>
            <a:endParaRPr lang="en-US" sz="154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Vendas</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Metas batidas.</a:t>
            </a:r>
            <a:endParaRPr lang="en-US" sz="154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Mix</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Categorias mais rentáveis.</a:t>
            </a:r>
            <a:endParaRPr lang="en-US" sz="154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Concentração</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Cidades com maior faturamento.</a:t>
            </a:r>
            <a:endParaRPr lang="en-US" sz="1544"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c02a5499-9669-4b34-80c2-2e747c86aed8"/>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Vídeo: Tabelas Dinâmicas na Prática</a:t>
            </a:r>
            <a:endParaRPr lang="en-US" sz="2246" dirty="0"/>
          </a:p>
        </p:txBody>
      </p:sp>
      <p:sp>
        <p:nvSpPr>
          <p:cNvPr id="3" name="2316230f-7cfe-4e81-b845-2d2742681745"/>
          <p:cNvSpPr/>
          <p:nvPr/>
        </p:nvSpPr>
        <p:spPr>
          <a:xfrm>
            <a:off x="285750" y="800100"/>
            <a:ext cx="8572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Crie tabelas dinâmicas com dados brutos. Mova campos entre linhas e colunas para mudar a perspectiva do relatório.</a:t>
            </a:r>
            <a:endParaRPr lang="en-US" sz="1264" dirty="0"/>
          </a:p>
        </p:txBody>
      </p:sp>
      <p:pic>
        <p:nvPicPr>
          <p:cNvPr id="4" name="f3b5dd4a-c003-464d-9966-f9ab3a746941" descr="/home/forge/chalkie-production-workers-1/releases/77481629/backend/storage/app/render-specs/5dac6ab7-4967-4c82-be18-2b0e49610a6a/poster_iu9C1KYB6RU.jpg">
            <a:hlinkClick r:id="rId3" tooltip=""/>
          </p:cNvPr>
          <p:cNvPicPr>
            <a:picLocks noChangeAspect="1"/>
          </p:cNvPicPr>
          <p:nvPr>
            <a:videoFile r:link="rId6"/>
            <p:extLst>
              <p:ext uri="{DAA4B4D4-6D71-4841-9C94-3DE7FCFB9230}">
                <p14:media xmlns:p14="http://schemas.microsoft.com/office/powerpoint/2010/main"/>
              </p:ext>
              <p:ext uri="{C809E66F-F1BF-436E-b5F7-EEA9579F0CBA}">
                <p15:webVideoPr xmlns:p15="http://schemas.microsoft.com/office/powerpoint/2012/main" embeddedHtml="&lt;iframe width=&quot;560&quot; height=&quot;315&quot; src=&quot;https://www.youtube.com/embed/iu9C1KYB6RU?feature=oembed&quot; frameborder=&quot;0&quot; allowfullscreen=&quot;&quot;&gt;&lt;/iframe&gt;" h="315" w="560"/>
              </p:ext>
            </p:extLst>
          </p:nvPr>
        </p:nvPicPr>
        <p:blipFill>
          <a:blip r:embed="rId2"/>
          <a:stretch>
            <a:fillRect/>
          </a:stretch>
        </p:blipFill>
        <p:spPr>
          <a:xfrm>
            <a:off x="1691640" y="1611630"/>
            <a:ext cx="5760720" cy="32461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eb9fa69-8df1-4edd-88e1-3d632e16d8d6"/>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Ordem de Montagem do Relatório</a:t>
            </a:r>
            <a:endParaRPr lang="en-US" sz="2246" dirty="0"/>
          </a:p>
        </p:txBody>
      </p:sp>
      <p:sp>
        <p:nvSpPr>
          <p:cNvPr id="3" name="3ddca165-9757-48be-baf5-169bc158f68e"/>
          <p:cNvSpPr/>
          <p:nvPr/>
        </p:nvSpPr>
        <p:spPr>
          <a:xfrm>
            <a:off x="285750" y="685800"/>
            <a:ext cx="8572500" cy="379476"/>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Qual é a sequência correta para montar uma análise dinâmica estruturada no Excel?</a:t>
            </a:r>
            <a:endParaRPr lang="en-US" sz="1264" dirty="0"/>
          </a:p>
        </p:txBody>
      </p:sp>
      <p:sp>
        <p:nvSpPr>
          <p:cNvPr id="4" name="412e1354-2cfc-4e85-92fe-5cf22f5d09f3"/>
          <p:cNvSpPr/>
          <p:nvPr/>
        </p:nvSpPr>
        <p:spPr>
          <a:xfrm>
            <a:off x="1714500" y="1657350"/>
            <a:ext cx="5715000" cy="617220"/>
          </a:xfrm>
          <a:prstGeom prst="roundRect">
            <a:avLst>
              <a:gd name="adj" fmla="val 18519"/>
            </a:avLst>
          </a:prstGeom>
          <a:solidFill>
            <a:srgbClr val="F4F9FC"/>
          </a:solidFill>
          <a:ln w="34290">
            <a:solidFill>
              <a:srgbClr val="000000"/>
            </a:solidFill>
          </a:ln>
        </p:spPr>
        <p:txBody>
          <a:bodyPr wrap="square" lIns="80010" tIns="80010" rIns="80010" bIns="80010" rtlCol="0" anchor="ctr"/>
          <a:lstStyle/>
          <a:p>
            <a:pPr algn="ctr" indent="0" marL="0">
              <a:lnSpc>
                <a:spcPts val="2009"/>
              </a:lnSpc>
              <a:spcBef>
                <a:spcPts val="360"/>
              </a:spcBef>
              <a:spcAft>
                <a:spcPts val="360"/>
              </a:spcAft>
              <a:buNone/>
            </a:pPr>
            <a:r>
              <a:rPr lang="en-US" sz="1264" b="1" dirty="0">
                <a:solidFill>
                  <a:srgbClr val="040F0F"/>
                </a:solidFill>
                <a:latin typeface="Dyslexie" pitchFamily="34" charset="0"/>
                <a:ea typeface="Dyslexie" pitchFamily="34" charset="-122"/>
                <a:cs typeface="Dyslexie" pitchFamily="34" charset="-120"/>
              </a:rPr>
              <a:t>Clicar em Inserir Tabela Dinâmica e abrir nova planilha</a:t>
            </a:r>
            <a:endParaRPr lang="en-US" sz="1264" dirty="0"/>
          </a:p>
        </p:txBody>
      </p:sp>
      <p:sp>
        <p:nvSpPr>
          <p:cNvPr id="5" name="621d1e57-e6f3-4393-9790-ec8ac13b9961"/>
          <p:cNvSpPr/>
          <p:nvPr/>
        </p:nvSpPr>
        <p:spPr>
          <a:xfrm>
            <a:off x="1714500" y="2400300"/>
            <a:ext cx="5715000" cy="617220"/>
          </a:xfrm>
          <a:prstGeom prst="roundRect">
            <a:avLst>
              <a:gd name="adj" fmla="val 18519"/>
            </a:avLst>
          </a:prstGeom>
          <a:solidFill>
            <a:srgbClr val="F4F9FC"/>
          </a:solidFill>
          <a:ln w="34290">
            <a:solidFill>
              <a:srgbClr val="000000"/>
            </a:solidFill>
          </a:ln>
        </p:spPr>
        <p:txBody>
          <a:bodyPr wrap="square" lIns="80010" tIns="80010" rIns="80010" bIns="80010" rtlCol="0" anchor="ctr"/>
          <a:lstStyle/>
          <a:p>
            <a:pPr algn="ctr" indent="0" marL="0">
              <a:lnSpc>
                <a:spcPts val="2009"/>
              </a:lnSpc>
              <a:spcBef>
                <a:spcPts val="360"/>
              </a:spcBef>
              <a:spcAft>
                <a:spcPts val="360"/>
              </a:spcAft>
              <a:buNone/>
            </a:pPr>
            <a:r>
              <a:rPr lang="en-US" sz="1264" b="1" dirty="0">
                <a:solidFill>
                  <a:srgbClr val="040F0F"/>
                </a:solidFill>
                <a:latin typeface="Dyslexie" pitchFamily="34" charset="0"/>
                <a:ea typeface="Dyslexie" pitchFamily="34" charset="-122"/>
                <a:cs typeface="Dyslexie" pitchFamily="34" charset="-120"/>
              </a:rPr>
              <a:t>Garantir cabeçalhos e ausência de células mescladas na base</a:t>
            </a:r>
            <a:endParaRPr lang="en-US" sz="1264" dirty="0"/>
          </a:p>
        </p:txBody>
      </p:sp>
      <p:sp>
        <p:nvSpPr>
          <p:cNvPr id="6" name="30a65a25-4377-44b5-9e69-d00c9a84da90"/>
          <p:cNvSpPr/>
          <p:nvPr/>
        </p:nvSpPr>
        <p:spPr>
          <a:xfrm>
            <a:off x="1714500" y="3143250"/>
            <a:ext cx="5715000" cy="617220"/>
          </a:xfrm>
          <a:prstGeom prst="roundRect">
            <a:avLst>
              <a:gd name="adj" fmla="val 18519"/>
            </a:avLst>
          </a:prstGeom>
          <a:solidFill>
            <a:srgbClr val="F4F9FC"/>
          </a:solidFill>
          <a:ln w="34290">
            <a:solidFill>
              <a:srgbClr val="000000"/>
            </a:solidFill>
          </a:ln>
        </p:spPr>
        <p:txBody>
          <a:bodyPr wrap="square" lIns="80010" tIns="80010" rIns="80010" bIns="80010" rtlCol="0" anchor="ctr"/>
          <a:lstStyle/>
          <a:p>
            <a:pPr algn="ctr" indent="0" marL="0">
              <a:lnSpc>
                <a:spcPts val="2009"/>
              </a:lnSpc>
              <a:spcBef>
                <a:spcPts val="360"/>
              </a:spcBef>
              <a:spcAft>
                <a:spcPts val="360"/>
              </a:spcAft>
              <a:buNone/>
            </a:pPr>
            <a:r>
              <a:rPr lang="en-US" sz="1264" b="1" dirty="0">
                <a:solidFill>
                  <a:srgbClr val="040F0F"/>
                </a:solidFill>
                <a:latin typeface="Dyslexie" pitchFamily="34" charset="0"/>
                <a:ea typeface="Dyslexie" pitchFamily="34" charset="-122"/>
                <a:cs typeface="Dyslexie" pitchFamily="34" charset="-120"/>
              </a:rPr>
              <a:t>Inserir Segmentação de Dados para navegação interativa</a:t>
            </a:r>
            <a:endParaRPr lang="en-US" sz="1264" dirty="0"/>
          </a:p>
        </p:txBody>
      </p:sp>
      <p:sp>
        <p:nvSpPr>
          <p:cNvPr id="7" name="ef703338-3e36-4bbb-9b56-f8aa0a0a990c"/>
          <p:cNvSpPr/>
          <p:nvPr/>
        </p:nvSpPr>
        <p:spPr>
          <a:xfrm>
            <a:off x="1714500" y="3886200"/>
            <a:ext cx="5715000" cy="617220"/>
          </a:xfrm>
          <a:prstGeom prst="roundRect">
            <a:avLst>
              <a:gd name="adj" fmla="val 18519"/>
            </a:avLst>
          </a:prstGeom>
          <a:solidFill>
            <a:srgbClr val="F4F9FC"/>
          </a:solidFill>
          <a:ln w="34290">
            <a:solidFill>
              <a:srgbClr val="000000"/>
            </a:solidFill>
          </a:ln>
        </p:spPr>
        <p:txBody>
          <a:bodyPr wrap="square" lIns="80010" tIns="80010" rIns="80010" bIns="80010" rtlCol="0" anchor="ctr"/>
          <a:lstStyle/>
          <a:p>
            <a:pPr algn="ctr" indent="0" marL="0">
              <a:lnSpc>
                <a:spcPts val="2009"/>
              </a:lnSpc>
              <a:spcBef>
                <a:spcPts val="360"/>
              </a:spcBef>
              <a:spcAft>
                <a:spcPts val="360"/>
              </a:spcAft>
              <a:buNone/>
            </a:pPr>
            <a:r>
              <a:rPr lang="en-US" sz="1264" b="1" dirty="0">
                <a:solidFill>
                  <a:srgbClr val="040F0F"/>
                </a:solidFill>
                <a:latin typeface="Dyslexie" pitchFamily="34" charset="0"/>
                <a:ea typeface="Dyslexie" pitchFamily="34" charset="-122"/>
                <a:cs typeface="Dyslexie" pitchFamily="34" charset="-120"/>
              </a:rPr>
              <a:t>Arrastar dimensões para Linhas e métricas para Valores</a:t>
            </a:r>
            <a:endParaRPr lang="en-US" sz="1264"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eb9fa69-8df1-4edd-88e1-3d632e16d8d6"/>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Ordem de Montagem do Relatório</a:t>
            </a:r>
            <a:endParaRPr lang="en-US" sz="2246" dirty="0"/>
          </a:p>
        </p:txBody>
      </p:sp>
      <p:sp>
        <p:nvSpPr>
          <p:cNvPr id="3" name="3ddca165-9757-48be-baf5-169bc158f68e"/>
          <p:cNvSpPr/>
          <p:nvPr/>
        </p:nvSpPr>
        <p:spPr>
          <a:xfrm>
            <a:off x="285750" y="685800"/>
            <a:ext cx="8572500" cy="379476"/>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Qual é a sequência correta para montar uma análise dinâmica estruturada no Excel?</a:t>
            </a:r>
            <a:endParaRPr lang="en-US" sz="1264" dirty="0"/>
          </a:p>
        </p:txBody>
      </p:sp>
      <p:sp>
        <p:nvSpPr>
          <p:cNvPr id="4" name="412e1354-2cfc-4e85-92fe-5cf22f5d09f3"/>
          <p:cNvSpPr/>
          <p:nvPr/>
        </p:nvSpPr>
        <p:spPr>
          <a:xfrm>
            <a:off x="1714500" y="2400300"/>
            <a:ext cx="5715000" cy="617220"/>
          </a:xfrm>
          <a:prstGeom prst="roundRect">
            <a:avLst>
              <a:gd name="adj" fmla="val 18519"/>
            </a:avLst>
          </a:prstGeom>
          <a:solidFill>
            <a:srgbClr val="F4F9FC"/>
          </a:solidFill>
          <a:ln w="34290">
            <a:solidFill>
              <a:srgbClr val="000000"/>
            </a:solidFill>
          </a:ln>
        </p:spPr>
        <p:txBody>
          <a:bodyPr wrap="square" lIns="80010" tIns="80010" rIns="80010" bIns="80010" rtlCol="0" anchor="ctr"/>
          <a:lstStyle/>
          <a:p>
            <a:pPr algn="ctr" indent="0" marL="0">
              <a:lnSpc>
                <a:spcPts val="2009"/>
              </a:lnSpc>
              <a:spcBef>
                <a:spcPts val="360"/>
              </a:spcBef>
              <a:spcAft>
                <a:spcPts val="360"/>
              </a:spcAft>
              <a:buNone/>
            </a:pPr>
            <a:r>
              <a:rPr lang="en-US" sz="1264" b="1" dirty="0">
                <a:solidFill>
                  <a:srgbClr val="040F0F"/>
                </a:solidFill>
                <a:latin typeface="Dyslexie" pitchFamily="34" charset="0"/>
                <a:ea typeface="Dyslexie" pitchFamily="34" charset="-122"/>
                <a:cs typeface="Dyslexie" pitchFamily="34" charset="-120"/>
              </a:rPr>
              <a:t>Clicar em Inserir Tabela Dinâmica e abrir nova planilha</a:t>
            </a:r>
            <a:endParaRPr lang="en-US" sz="1264" dirty="0"/>
          </a:p>
        </p:txBody>
      </p:sp>
      <p:sp>
        <p:nvSpPr>
          <p:cNvPr id="5" name="621d1e57-e6f3-4393-9790-ec8ac13b9961"/>
          <p:cNvSpPr/>
          <p:nvPr/>
        </p:nvSpPr>
        <p:spPr>
          <a:xfrm>
            <a:off x="1714500" y="1657350"/>
            <a:ext cx="5715000" cy="617220"/>
          </a:xfrm>
          <a:prstGeom prst="roundRect">
            <a:avLst>
              <a:gd name="adj" fmla="val 18519"/>
            </a:avLst>
          </a:prstGeom>
          <a:solidFill>
            <a:srgbClr val="F4F9FC"/>
          </a:solidFill>
          <a:ln w="34290">
            <a:solidFill>
              <a:srgbClr val="000000"/>
            </a:solidFill>
          </a:ln>
        </p:spPr>
        <p:txBody>
          <a:bodyPr wrap="square" lIns="80010" tIns="80010" rIns="80010" bIns="80010" rtlCol="0" anchor="ctr"/>
          <a:lstStyle/>
          <a:p>
            <a:pPr algn="ctr" indent="0" marL="0">
              <a:lnSpc>
                <a:spcPts val="2009"/>
              </a:lnSpc>
              <a:spcBef>
                <a:spcPts val="360"/>
              </a:spcBef>
              <a:spcAft>
                <a:spcPts val="360"/>
              </a:spcAft>
              <a:buNone/>
            </a:pPr>
            <a:r>
              <a:rPr lang="en-US" sz="1264" b="1" dirty="0">
                <a:solidFill>
                  <a:srgbClr val="040F0F"/>
                </a:solidFill>
                <a:latin typeface="Dyslexie" pitchFamily="34" charset="0"/>
                <a:ea typeface="Dyslexie" pitchFamily="34" charset="-122"/>
                <a:cs typeface="Dyslexie" pitchFamily="34" charset="-120"/>
              </a:rPr>
              <a:t>Garantir cabeçalhos e ausência de células mescladas na base</a:t>
            </a:r>
            <a:endParaRPr lang="en-US" sz="1264" dirty="0"/>
          </a:p>
        </p:txBody>
      </p:sp>
      <p:sp>
        <p:nvSpPr>
          <p:cNvPr id="6" name="30a65a25-4377-44b5-9e69-d00c9a84da90"/>
          <p:cNvSpPr/>
          <p:nvPr/>
        </p:nvSpPr>
        <p:spPr>
          <a:xfrm>
            <a:off x="1714500" y="3886200"/>
            <a:ext cx="5715000" cy="617220"/>
          </a:xfrm>
          <a:prstGeom prst="roundRect">
            <a:avLst>
              <a:gd name="adj" fmla="val 18519"/>
            </a:avLst>
          </a:prstGeom>
          <a:solidFill>
            <a:srgbClr val="F4F9FC"/>
          </a:solidFill>
          <a:ln w="34290">
            <a:solidFill>
              <a:srgbClr val="000000"/>
            </a:solidFill>
          </a:ln>
        </p:spPr>
        <p:txBody>
          <a:bodyPr wrap="square" lIns="80010" tIns="80010" rIns="80010" bIns="80010" rtlCol="0" anchor="ctr"/>
          <a:lstStyle/>
          <a:p>
            <a:pPr algn="ctr" indent="0" marL="0">
              <a:lnSpc>
                <a:spcPts val="2009"/>
              </a:lnSpc>
              <a:spcBef>
                <a:spcPts val="360"/>
              </a:spcBef>
              <a:spcAft>
                <a:spcPts val="360"/>
              </a:spcAft>
              <a:buNone/>
            </a:pPr>
            <a:r>
              <a:rPr lang="en-US" sz="1264" b="1" dirty="0">
                <a:solidFill>
                  <a:srgbClr val="040F0F"/>
                </a:solidFill>
                <a:latin typeface="Dyslexie" pitchFamily="34" charset="0"/>
                <a:ea typeface="Dyslexie" pitchFamily="34" charset="-122"/>
                <a:cs typeface="Dyslexie" pitchFamily="34" charset="-120"/>
              </a:rPr>
              <a:t>Inserir Segmentação de Dados para navegação interativa</a:t>
            </a:r>
            <a:endParaRPr lang="en-US" sz="1264" dirty="0"/>
          </a:p>
        </p:txBody>
      </p:sp>
      <p:sp>
        <p:nvSpPr>
          <p:cNvPr id="7" name="ef703338-3e36-4bbb-9b56-f8aa0a0a990c"/>
          <p:cNvSpPr/>
          <p:nvPr/>
        </p:nvSpPr>
        <p:spPr>
          <a:xfrm>
            <a:off x="1714500" y="3143250"/>
            <a:ext cx="5715000" cy="617220"/>
          </a:xfrm>
          <a:prstGeom prst="roundRect">
            <a:avLst>
              <a:gd name="adj" fmla="val 18519"/>
            </a:avLst>
          </a:prstGeom>
          <a:solidFill>
            <a:srgbClr val="F4F9FC"/>
          </a:solidFill>
          <a:ln w="34290">
            <a:solidFill>
              <a:srgbClr val="000000"/>
            </a:solidFill>
          </a:ln>
        </p:spPr>
        <p:txBody>
          <a:bodyPr wrap="square" lIns="80010" tIns="80010" rIns="80010" bIns="80010" rtlCol="0" anchor="ctr"/>
          <a:lstStyle/>
          <a:p>
            <a:pPr algn="ctr" indent="0" marL="0">
              <a:lnSpc>
                <a:spcPts val="2009"/>
              </a:lnSpc>
              <a:spcBef>
                <a:spcPts val="360"/>
              </a:spcBef>
              <a:spcAft>
                <a:spcPts val="360"/>
              </a:spcAft>
              <a:buNone/>
            </a:pPr>
            <a:r>
              <a:rPr lang="en-US" sz="1264" b="1" dirty="0">
                <a:solidFill>
                  <a:srgbClr val="040F0F"/>
                </a:solidFill>
                <a:latin typeface="Dyslexie" pitchFamily="34" charset="0"/>
                <a:ea typeface="Dyslexie" pitchFamily="34" charset="-122"/>
                <a:cs typeface="Dyslexie" pitchFamily="34" charset="-120"/>
              </a:rPr>
              <a:t>Arrastar dimensões para Linhas e métricas para Valores</a:t>
            </a:r>
            <a:endParaRPr lang="en-US" sz="1264" dirty="0"/>
          </a:p>
        </p:txBody>
      </p:sp>
      <p:sp>
        <p:nvSpPr>
          <p:cNvPr id="8" name="f98702a3-a692-446e-a49a-056f71a85460"/>
          <p:cNvSpPr/>
          <p:nvPr/>
        </p:nvSpPr>
        <p:spPr>
          <a:xfrm>
            <a:off x="8366760" y="342900"/>
            <a:ext cx="548640" cy="548640"/>
          </a:xfrm>
          <a:prstGeom prst="rect">
            <a:avLst/>
          </a:prstGeom>
          <a:noFill/>
          <a:ln/>
        </p:spPr>
        <p:txBody>
          <a:bodyPr wrap="square" lIns="45720" tIns="45720" rIns="45720" bIns="45720" rtlCol="0" anchor="ctr"/>
          <a:lstStyle/>
          <a:p>
            <a:pPr algn="r" indent="0" marL="0">
              <a:lnSpc>
                <a:spcPts val="4464"/>
              </a:lnSpc>
              <a:spcBef>
                <a:spcPts val="450"/>
              </a:spcBef>
              <a:spcAft>
                <a:spcPts val="450"/>
              </a:spcAft>
              <a:buNone/>
            </a:pPr>
            <a:r>
              <a:rPr lang="en-US" sz="2808" dirty="0">
                <a:solidFill>
                  <a:srgbClr val="E8E4DF"/>
                </a:solidFill>
                <a:latin typeface="Dyslexie" pitchFamily="34" charset="0"/>
                <a:ea typeface="Dyslexie" pitchFamily="34" charset="-122"/>
                <a:cs typeface="Dyslexie" pitchFamily="34" charset="-120"/>
              </a:rPr>
              <a:t>✅</a:t>
            </a:r>
            <a:endParaRPr lang="en-US" sz="2808" dirty="0"/>
          </a:p>
        </p:txBody>
      </p:sp>
      <p:sp>
        <p:nvSpPr>
          <p:cNvPr id="9" name="bc91fa97-5887-4155-b375-bd570129a4f8"/>
          <p:cNvSpPr/>
          <p:nvPr/>
        </p:nvSpPr>
        <p:spPr>
          <a:xfrm>
            <a:off x="7292340" y="1520190"/>
            <a:ext cx="274320" cy="274320"/>
          </a:xfrm>
          <a:prstGeom prst="roundRect">
            <a:avLst>
              <a:gd name="adj" fmla="val 25000"/>
            </a:avLst>
          </a:prstGeom>
          <a:solidFill>
            <a:srgbClr val="000000"/>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1</a:t>
            </a:r>
            <a:endParaRPr lang="en-US" sz="913" dirty="0"/>
          </a:p>
        </p:txBody>
      </p:sp>
      <p:sp>
        <p:nvSpPr>
          <p:cNvPr id="10" name="ff57143b-30c7-4503-96c3-5de170254c02"/>
          <p:cNvSpPr/>
          <p:nvPr/>
        </p:nvSpPr>
        <p:spPr>
          <a:xfrm>
            <a:off x="7292340" y="2263140"/>
            <a:ext cx="274320" cy="274320"/>
          </a:xfrm>
          <a:prstGeom prst="roundRect">
            <a:avLst>
              <a:gd name="adj" fmla="val 25000"/>
            </a:avLst>
          </a:prstGeom>
          <a:solidFill>
            <a:srgbClr val="000000"/>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2</a:t>
            </a:r>
            <a:endParaRPr lang="en-US" sz="913" dirty="0"/>
          </a:p>
        </p:txBody>
      </p:sp>
      <p:sp>
        <p:nvSpPr>
          <p:cNvPr id="11" name="33f4529e-ec9a-49d7-bcd4-658524d13a7d"/>
          <p:cNvSpPr/>
          <p:nvPr/>
        </p:nvSpPr>
        <p:spPr>
          <a:xfrm>
            <a:off x="7292340" y="3006090"/>
            <a:ext cx="274320" cy="274320"/>
          </a:xfrm>
          <a:prstGeom prst="roundRect">
            <a:avLst>
              <a:gd name="adj" fmla="val 25000"/>
            </a:avLst>
          </a:prstGeom>
          <a:solidFill>
            <a:srgbClr val="000000"/>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3</a:t>
            </a:r>
            <a:endParaRPr lang="en-US" sz="913" dirty="0"/>
          </a:p>
        </p:txBody>
      </p:sp>
      <p:sp>
        <p:nvSpPr>
          <p:cNvPr id="12" name="d08484cd-5123-4a62-a92c-adc91ebcf3c8"/>
          <p:cNvSpPr/>
          <p:nvPr/>
        </p:nvSpPr>
        <p:spPr>
          <a:xfrm>
            <a:off x="7292340" y="3749040"/>
            <a:ext cx="274320" cy="274320"/>
          </a:xfrm>
          <a:prstGeom prst="roundRect">
            <a:avLst>
              <a:gd name="adj" fmla="val 25000"/>
            </a:avLst>
          </a:prstGeom>
          <a:solidFill>
            <a:srgbClr val="000000"/>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4</a:t>
            </a:r>
            <a:endParaRPr lang="en-US" sz="913"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ff96d331-92cf-4960-91a9-e571e287cdba" descr="/home/forge/chalkie-production-workers-1/releases/77481629/backend/storage/app/render-specs/5dac6ab7-4967-4c82-be18-2b0e49610a6a/img_320046837d151b56e44d2456e24d905d.png">    </p:cNvPr>
          <p:cNvPicPr>
            <a:picLocks noChangeAspect="1"/>
          </p:cNvPicPr>
          <p:nvPr/>
        </p:nvPicPr>
        <p:blipFill>
          <a:blip r:embed="rId2"/>
          <a:stretch>
            <a:fillRect/>
          </a:stretch>
        </p:blipFill>
        <p:spPr>
          <a:xfrm>
            <a:off x="5029200" y="800100"/>
            <a:ext cx="3829050" cy="4057650"/>
          </a:xfrm>
          <a:prstGeom prst="roundRect">
            <a:avLst>
              <a:gd name="adj" fmla="val 3582"/>
            </a:avLst>
          </a:prstGeom>
        </p:spPr>
      </p:pic>
      <p:sp>
        <p:nvSpPr>
          <p:cNvPr id="3" name="2531e7b0-5a64-4364-a677-318e5dd8aa64"/>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Visualização de Dados: Por que Gráficos?</a:t>
            </a:r>
            <a:endParaRPr lang="en-US" sz="2246" dirty="0"/>
          </a:p>
        </p:txBody>
      </p:sp>
      <p:sp>
        <p:nvSpPr>
          <p:cNvPr id="4" name="0dc16a5b-3d34-4b5c-bde8-7e6fc171a25b"/>
          <p:cNvSpPr/>
          <p:nvPr/>
        </p:nvSpPr>
        <p:spPr>
          <a:xfrm>
            <a:off x="285750" y="800100"/>
            <a:ext cx="4572000" cy="1819656"/>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O cérebro humano processa formas, cores e tamanhos muito mais rápido do que lê tabelas repletas de números. Um gráfico bem escolhido comunica em poucos segundos se as metas foram batidas, se há perdas em um setor ou se o faturamento está crescendo.</a:t>
            </a:r>
            <a:endParaRPr lang="en-US" sz="1264" dirty="0"/>
          </a:p>
        </p:txBody>
      </p:sp>
      <p:sp>
        <p:nvSpPr>
          <p:cNvPr id="5" name="82d3bf2c-2607-4318-9461-d8db6f121b78_card"/>
          <p:cNvSpPr/>
          <p:nvPr/>
        </p:nvSpPr>
        <p:spPr>
          <a:xfrm>
            <a:off x="285750" y="2891790"/>
            <a:ext cx="4572000" cy="1380744"/>
          </a:xfrm>
          <a:prstGeom prst="roundRect">
            <a:avLst>
              <a:gd name="adj" fmla="val 6623"/>
            </a:avLst>
          </a:prstGeom>
          <a:solidFill>
            <a:srgbClr val="82B4EB">
              <a:alpha val="14902"/>
            </a:srgbClr>
          </a:solidFill>
          <a:ln w="11430">
            <a:solidFill>
              <a:srgbClr val="0B2F50">
                <a:alpha val="20000"/>
              </a:srgbClr>
            </a:solidFill>
            <a:prstDash val="solid"/>
          </a:ln>
        </p:spPr>
      </p:sp>
      <p:sp>
        <p:nvSpPr>
          <p:cNvPr id="6" name="82d3bf2c-2607-4318-9461-d8db6f121b78_emoji"/>
          <p:cNvSpPr/>
          <p:nvPr/>
        </p:nvSpPr>
        <p:spPr>
          <a:xfrm>
            <a:off x="400050" y="304038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82d3bf2c-2607-4318-9461-d8db6f121b78_text"/>
          <p:cNvSpPr/>
          <p:nvPr/>
        </p:nvSpPr>
        <p:spPr>
          <a:xfrm>
            <a:off x="765810" y="3006090"/>
            <a:ext cx="3977640" cy="1152144"/>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B5D4F4"/>
                </a:solidFill>
                <a:latin typeface="Dyslexie" pitchFamily="34" charset="0"/>
                <a:ea typeface="Dyslexie" pitchFamily="34" charset="-122"/>
                <a:cs typeface="Dyslexie" pitchFamily="34" charset="-120"/>
              </a:rPr>
              <a:t>Lembre-se</a:t>
            </a:r>
            <a:endParaRPr lang="en-US" sz="1123" dirty="0"/>
          </a:p>
          <a:p>
            <a:pPr algn="l" indent="0" marL="0">
              <a:lnSpc>
                <a:spcPts val="2009"/>
              </a:lnSpc>
              <a:spcBef>
                <a:spcPts val="360"/>
              </a:spcBef>
              <a:spcAft>
                <a:spcPts val="360"/>
              </a:spcAft>
              <a:buNone/>
            </a:pPr>
            <a:r>
              <a:rPr lang="en-US" sz="1264" dirty="0">
                <a:solidFill>
                  <a:srgbClr val="B5D4F4"/>
                </a:solidFill>
                <a:latin typeface="Dyslexie" pitchFamily="34" charset="0"/>
                <a:ea typeface="Dyslexie" pitchFamily="34" charset="-122"/>
                <a:cs typeface="Dyslexie" pitchFamily="34" charset="-120"/>
              </a:rPr>
              <a:t>Um gráfico ruim distorce a realidade; um gráfico correto conduz a equipe à decisão certa.</a:t>
            </a:r>
            <a:endParaRPr lang="en-US" sz="1123"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c04d8f86-5516-46b4-8ff8-6708f05344a7" descr="/home/forge/chalkie-production-workers-1/releases/77481629/backend/storage/app/render-specs/5dac6ab7-4967-4c82-be18-2b0e49610a6a/img_05fdc9edbda23db18ff4877b2d3c98a9.png">    </p:cNvPr>
          <p:cNvPicPr>
            <a:picLocks noChangeAspect="1"/>
          </p:cNvPicPr>
          <p:nvPr/>
        </p:nvPicPr>
        <p:blipFill>
          <a:blip r:embed="rId2"/>
          <a:stretch>
            <a:fillRect/>
          </a:stretch>
        </p:blipFill>
        <p:spPr>
          <a:xfrm>
            <a:off x="285750" y="1600200"/>
            <a:ext cx="1977390" cy="1714500"/>
          </a:xfrm>
          <a:prstGeom prst="roundRect">
            <a:avLst>
              <a:gd name="adj" fmla="val 8000"/>
            </a:avLst>
          </a:prstGeom>
        </p:spPr>
      </p:pic>
      <p:pic>
        <p:nvPicPr>
          <p:cNvPr id="3" name="38e075d2-df58-4285-b9f5-3706fde4fefd" descr="/home/forge/chalkie-production-workers-1/releases/77481629/backend/storage/app/render-specs/5dac6ab7-4967-4c82-be18-2b0e49610a6a/img_2106f9a8bf7808e023f8dd932fedd4c1.png">    </p:cNvPr>
          <p:cNvPicPr>
            <a:picLocks noChangeAspect="1"/>
          </p:cNvPicPr>
          <p:nvPr/>
        </p:nvPicPr>
        <p:blipFill>
          <a:blip r:embed="rId3"/>
          <a:stretch>
            <a:fillRect/>
          </a:stretch>
        </p:blipFill>
        <p:spPr>
          <a:xfrm>
            <a:off x="2491740" y="914400"/>
            <a:ext cx="1977390" cy="1714500"/>
          </a:xfrm>
          <a:prstGeom prst="roundRect">
            <a:avLst>
              <a:gd name="adj" fmla="val 8000"/>
            </a:avLst>
          </a:prstGeom>
        </p:spPr>
      </p:pic>
      <p:pic>
        <p:nvPicPr>
          <p:cNvPr id="4" name="105257ae-9de4-4cd1-be9b-4219e8d4062e" descr="/home/forge/chalkie-production-workers-1/releases/77481629/backend/storage/app/render-specs/5dac6ab7-4967-4c82-be18-2b0e49610a6a/img_ae86220a38bc0a49b62941d59b61ab0b.png">    </p:cNvPr>
          <p:cNvPicPr>
            <a:picLocks noChangeAspect="1"/>
          </p:cNvPicPr>
          <p:nvPr/>
        </p:nvPicPr>
        <p:blipFill>
          <a:blip r:embed="rId4"/>
          <a:stretch>
            <a:fillRect/>
          </a:stretch>
        </p:blipFill>
        <p:spPr>
          <a:xfrm>
            <a:off x="4686300" y="1600200"/>
            <a:ext cx="1977390" cy="1714500"/>
          </a:xfrm>
          <a:prstGeom prst="roundRect">
            <a:avLst>
              <a:gd name="adj" fmla="val 8000"/>
            </a:avLst>
          </a:prstGeom>
        </p:spPr>
      </p:pic>
      <p:pic>
        <p:nvPicPr>
          <p:cNvPr id="5" name="f724b684-e3d4-4042-ab1b-9748d9c3d99a" descr="/home/forge/chalkie-production-workers-1/releases/77481629/backend/storage/app/render-specs/5dac6ab7-4967-4c82-be18-2b0e49610a6a/img_d6d9ddcacaec700a3ba46596d63d2791.png">    </p:cNvPr>
          <p:cNvPicPr>
            <a:picLocks noChangeAspect="1"/>
          </p:cNvPicPr>
          <p:nvPr/>
        </p:nvPicPr>
        <p:blipFill>
          <a:blip r:embed="rId5"/>
          <a:stretch>
            <a:fillRect/>
          </a:stretch>
        </p:blipFill>
        <p:spPr>
          <a:xfrm>
            <a:off x="6892290" y="914400"/>
            <a:ext cx="1977390" cy="1714500"/>
          </a:xfrm>
          <a:prstGeom prst="roundRect">
            <a:avLst>
              <a:gd name="adj" fmla="val 8000"/>
            </a:avLst>
          </a:prstGeom>
        </p:spPr>
      </p:pic>
      <p:sp>
        <p:nvSpPr>
          <p:cNvPr id="6" name="7878a179-a0c6-420e-a733-331f6aa766b1"/>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Escolhendo o Tipo Ideal de Gráfico</a:t>
            </a:r>
            <a:endParaRPr lang="en-US" sz="2246" dirty="0"/>
          </a:p>
        </p:txBody>
      </p:sp>
      <p:sp>
        <p:nvSpPr>
          <p:cNvPr id="7" name="26cc4ac3-4533-4367-864c-323827132960"/>
          <p:cNvSpPr/>
          <p:nvPr/>
        </p:nvSpPr>
        <p:spPr>
          <a:xfrm>
            <a:off x="285750" y="3429000"/>
            <a:ext cx="1977390" cy="1531620"/>
          </a:xfrm>
          <a:prstGeom prst="rect">
            <a:avLst/>
          </a:prstGeom>
          <a:noFill/>
          <a:ln/>
        </p:spPr>
        <p:txBody>
          <a:bodyPr wrap="square" lIns="45720" tIns="45720" rIns="45720" bIns="45720" rtlCol="0" anchor="t"/>
          <a:lstStyle/>
          <a:p>
            <a:pPr algn="ctr"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Colunas e Barras</a:t>
            </a:r>
            <a:pPr algn="ctr"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 Compara itens ou ranking de categorias (vendedores, filiais).</a:t>
            </a:r>
            <a:endParaRPr lang="en-US" sz="1264" dirty="0"/>
          </a:p>
        </p:txBody>
      </p:sp>
      <p:sp>
        <p:nvSpPr>
          <p:cNvPr id="8" name="f5c400df-7a48-4783-8452-fb2ec582016d"/>
          <p:cNvSpPr/>
          <p:nvPr/>
        </p:nvSpPr>
        <p:spPr>
          <a:xfrm>
            <a:off x="2491740" y="2743200"/>
            <a:ext cx="1977390" cy="1243584"/>
          </a:xfrm>
          <a:prstGeom prst="rect">
            <a:avLst/>
          </a:prstGeom>
          <a:noFill/>
          <a:ln/>
        </p:spPr>
        <p:txBody>
          <a:bodyPr wrap="square" lIns="45720" tIns="45720" rIns="45720" bIns="45720" rtlCol="0" anchor="t"/>
          <a:lstStyle/>
          <a:p>
            <a:pPr algn="ctr"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Linhas</a:t>
            </a:r>
            <a:pPr algn="ctr"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 Mostra evolução e tendências em dias, meses ou trimestres.</a:t>
            </a:r>
            <a:endParaRPr lang="en-US" sz="1264" dirty="0"/>
          </a:p>
        </p:txBody>
      </p:sp>
      <p:sp>
        <p:nvSpPr>
          <p:cNvPr id="9" name="054fa09c-77b5-40ec-a096-d16324d12cee"/>
          <p:cNvSpPr/>
          <p:nvPr/>
        </p:nvSpPr>
        <p:spPr>
          <a:xfrm>
            <a:off x="4686300" y="3429000"/>
            <a:ext cx="1977390" cy="1243584"/>
          </a:xfrm>
          <a:prstGeom prst="rect">
            <a:avLst/>
          </a:prstGeom>
          <a:noFill/>
          <a:ln/>
        </p:spPr>
        <p:txBody>
          <a:bodyPr wrap="square" lIns="45720" tIns="45720" rIns="45720" bIns="45720" rtlCol="0" anchor="t"/>
          <a:lstStyle/>
          <a:p>
            <a:pPr algn="ctr"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Pizza ou Rosca</a:t>
            </a:r>
            <a:pPr algn="ctr"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 Mostra partes de um todo (limite 4 fatias).</a:t>
            </a:r>
            <a:endParaRPr lang="en-US" sz="1264" dirty="0"/>
          </a:p>
        </p:txBody>
      </p:sp>
      <p:sp>
        <p:nvSpPr>
          <p:cNvPr id="10" name="a3b741a2-44b2-491d-a66b-b5fa0cd89d7f"/>
          <p:cNvSpPr/>
          <p:nvPr/>
        </p:nvSpPr>
        <p:spPr>
          <a:xfrm>
            <a:off x="6892290" y="2743200"/>
            <a:ext cx="1977390" cy="1243584"/>
          </a:xfrm>
          <a:prstGeom prst="rect">
            <a:avLst/>
          </a:prstGeom>
          <a:noFill/>
          <a:ln/>
        </p:spPr>
        <p:txBody>
          <a:bodyPr wrap="square" lIns="45720" tIns="45720" rIns="45720" bIns="45720" rtlCol="0" anchor="t"/>
          <a:lstStyle/>
          <a:p>
            <a:pPr algn="ctr"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Dispersão (XY)</a:t>
            </a:r>
            <a:pPr algn="ctr"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 Identifica correlação entre variáveis quantitativas.</a:t>
            </a:r>
            <a:endParaRPr lang="en-US" sz="1264"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da867769-753d-4afb-9246-9fafa3e6a060" descr="/home/forge/chalkie-production-workers-1/releases/77481629/backend/storage/app/render-specs/5dac6ab7-4967-4c82-be18-2b0e49610a6a/img_8449b1ff59c2dbd0ad94c0ca26bd5cca.png">    </p:cNvPr>
          <p:cNvPicPr>
            <a:picLocks noChangeAspect="1"/>
          </p:cNvPicPr>
          <p:nvPr/>
        </p:nvPicPr>
        <p:blipFill>
          <a:blip r:embed="rId2"/>
          <a:stretch>
            <a:fillRect/>
          </a:stretch>
        </p:blipFill>
        <p:spPr>
          <a:xfrm>
            <a:off x="5029200" y="800100"/>
            <a:ext cx="3829050" cy="4057650"/>
          </a:xfrm>
          <a:prstGeom prst="roundRect">
            <a:avLst>
              <a:gd name="adj" fmla="val 3582"/>
            </a:avLst>
          </a:prstGeom>
        </p:spPr>
      </p:pic>
      <p:sp>
        <p:nvSpPr>
          <p:cNvPr id="3" name="bf402619-439f-4caf-8ae6-e6a7971ee0c6"/>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O Poder do Gráfico Dinâmico</a:t>
            </a:r>
            <a:endParaRPr lang="en-US" sz="2246" dirty="0"/>
          </a:p>
        </p:txBody>
      </p:sp>
      <p:sp>
        <p:nvSpPr>
          <p:cNvPr id="4" name="beedfd9d-25d6-4ec0-8c61-2d87e2a2ae1a"/>
          <p:cNvSpPr/>
          <p:nvPr/>
        </p:nvSpPr>
        <p:spPr>
          <a:xfrm>
            <a:off x="285750" y="800100"/>
            <a:ext cx="4572000" cy="1243584"/>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Diferente de um gráfico tradicional estático, o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Gráfico Dinâmico</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está diretamente conectado à Tabela Dinâmica:</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Se você filtrar um item na tabela, o gráfico se altera sozinho.</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Se você alternar botões da Segmentação de Dados, as colunas sobem e descem em tempo real.</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Botões de campo integrados ao gráfico permitem expandir ou recolher períodos.</a:t>
            </a:r>
            <a:endParaRPr lang="en-US" sz="1264"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32db6fac-de0c-4c43-8e6d-f4b42d13c9a9" descr="/home/forge/chalkie-production-workers-1/releases/77481629/backend/storage/app/render-specs/5dac6ab7-4967-4c82-be18-2b0e49610a6a/img_4cabbb10deb2ffde52954e6c36a2536a.png">    </p:cNvPr>
          <p:cNvPicPr>
            <a:picLocks noChangeAspect="1"/>
          </p:cNvPicPr>
          <p:nvPr/>
        </p:nvPicPr>
        <p:blipFill>
          <a:blip r:embed="rId2"/>
          <a:stretch>
            <a:fillRect/>
          </a:stretch>
        </p:blipFill>
        <p:spPr>
          <a:xfrm>
            <a:off x="0" y="0"/>
            <a:ext cx="3486150" cy="5143500"/>
          </a:xfrm>
          <a:prstGeom prst="roundRect">
            <a:avLst>
              <a:gd name="adj" fmla="val 3934"/>
            </a:avLst>
          </a:prstGeom>
        </p:spPr>
      </p:pic>
      <p:sp>
        <p:nvSpPr>
          <p:cNvPr id="3" name="bc67aa2a-af2a-4e86-82a7-06e54a7b1a2e"/>
          <p:cNvSpPr/>
          <p:nvPr/>
        </p:nvSpPr>
        <p:spPr>
          <a:xfrm>
            <a:off x="3714750" y="285750"/>
            <a:ext cx="5143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Estilização e Clareza Visual</a:t>
            </a:r>
            <a:endParaRPr lang="en-US" sz="2246" dirty="0"/>
          </a:p>
        </p:txBody>
      </p:sp>
      <p:sp>
        <p:nvSpPr>
          <p:cNvPr id="4" name="e955957b-36d8-42c8-825c-0a7e9addda7d"/>
          <p:cNvSpPr/>
          <p:nvPr/>
        </p:nvSpPr>
        <p:spPr>
          <a:xfrm>
            <a:off x="3714750" y="914400"/>
            <a:ext cx="5143500" cy="955548"/>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Menos é mais. Aplique boas práticas de design para não cansar o leitor:</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Elimine poluição</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Retire linhas de grade e bordas pesadas.</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Contraste intencional</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Use cor marcante para o destaque e cinza para o restante.</a:t>
            </a:r>
            <a:endParaRPr lang="en-US" sz="1264" dirty="0"/>
          </a:p>
          <a:p>
            <a:pPr algn="l" marL="228600" indent="-68580">
              <a:lnSpc>
                <a:spcPts val="2009"/>
              </a:lnSpc>
              <a:spcBef>
                <a:spcPts val="225"/>
              </a:spcBef>
              <a:spcAft>
                <a:spcPts val="225"/>
              </a:spcAft>
              <a:buSzPct val="100000"/>
              <a:buChar char="•"/>
            </a:pPr>
            <a:r>
              <a:rPr lang="en-US" sz="1264" b="1" dirty="0">
                <a:solidFill>
                  <a:srgbClr val="E8E4DF"/>
                </a:solidFill>
                <a:latin typeface="Dyslexie" pitchFamily="34" charset="0"/>
                <a:ea typeface="Dyslexie" pitchFamily="34" charset="-122"/>
                <a:cs typeface="Dyslexie" pitchFamily="34" charset="-120"/>
              </a:rPr>
              <a:t>Tipografia limpa</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Mantenha títulos diretos e legíveis.</a:t>
            </a:r>
            <a:endParaRPr lang="en-US" sz="1264" dirty="0"/>
          </a:p>
        </p:txBody>
      </p:sp>
      <p:sp>
        <p:nvSpPr>
          <p:cNvPr id="5" name="6b902a0d-63e0-4c5c-8114-049c4d51c333_card"/>
          <p:cNvSpPr/>
          <p:nvPr/>
        </p:nvSpPr>
        <p:spPr>
          <a:xfrm>
            <a:off x="3714750" y="3497580"/>
            <a:ext cx="5143500" cy="1125601"/>
          </a:xfrm>
          <a:prstGeom prst="roundRect">
            <a:avLst>
              <a:gd name="adj" fmla="val 8124"/>
            </a:avLst>
          </a:prstGeom>
          <a:solidFill>
            <a:srgbClr val="F09696">
              <a:alpha val="14902"/>
            </a:srgbClr>
          </a:solidFill>
          <a:ln w="11430">
            <a:solidFill>
              <a:srgbClr val="460606">
                <a:alpha val="20000"/>
              </a:srgbClr>
            </a:solidFill>
            <a:prstDash val="solid"/>
          </a:ln>
        </p:spPr>
      </p:sp>
      <p:sp>
        <p:nvSpPr>
          <p:cNvPr id="6" name="6b902a0d-63e0-4c5c-8114-049c4d51c333_emoji"/>
          <p:cNvSpPr/>
          <p:nvPr/>
        </p:nvSpPr>
        <p:spPr>
          <a:xfrm>
            <a:off x="3829050" y="364617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6b902a0d-63e0-4c5c-8114-049c4d51c333_text"/>
          <p:cNvSpPr/>
          <p:nvPr/>
        </p:nvSpPr>
        <p:spPr>
          <a:xfrm>
            <a:off x="4194810" y="3611880"/>
            <a:ext cx="4549140" cy="897001"/>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F7C1C1"/>
                </a:solidFill>
                <a:latin typeface="Dyslexie" pitchFamily="34" charset="0"/>
                <a:ea typeface="Dyslexie" pitchFamily="34" charset="-122"/>
                <a:cs typeface="Dyslexie" pitchFamily="34" charset="-120"/>
              </a:rPr>
              <a:t>Atenção</a:t>
            </a:r>
            <a:endParaRPr lang="en-US" sz="1123" dirty="0"/>
          </a:p>
          <a:p>
            <a:pPr algn="l" indent="0" marL="0">
              <a:lnSpc>
                <a:spcPts val="2009"/>
              </a:lnSpc>
              <a:spcBef>
                <a:spcPts val="360"/>
              </a:spcBef>
              <a:spcAft>
                <a:spcPts val="360"/>
              </a:spcAft>
              <a:buNone/>
            </a:pPr>
            <a:r>
              <a:rPr lang="en-US" sz="1264" dirty="0">
                <a:solidFill>
                  <a:srgbClr val="F7C1C1"/>
                </a:solidFill>
                <a:latin typeface="Dyslexie" pitchFamily="34" charset="0"/>
                <a:ea typeface="Dyslexie" pitchFamily="34" charset="-122"/>
                <a:cs typeface="Dyslexie" pitchFamily="34" charset="-120"/>
              </a:rPr>
              <a:t>Evite efeitos 3D ou sombras exageradas. Eles distorcem as proporções dos dados!</a:t>
            </a:r>
            <a:endParaRPr lang="en-US" sz="1123"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29ccbd40-161b-45a0-8f18-3e08d8880f94" descr="/home/forge/chalkie-production-workers-1/releases/77481629/backend/storage/app/render-specs/5dac6ab7-4967-4c82-be18-2b0e49610a6a/img_1e76330fa286f5f27644cfef1c0639b0.png">    </p:cNvPr>
          <p:cNvPicPr>
            <a:picLocks noChangeAspect="1"/>
          </p:cNvPicPr>
          <p:nvPr/>
        </p:nvPicPr>
        <p:blipFill>
          <a:blip r:embed="rId2"/>
          <a:stretch>
            <a:fillRect/>
          </a:stretch>
        </p:blipFill>
        <p:spPr>
          <a:xfrm>
            <a:off x="5029200" y="800100"/>
            <a:ext cx="3829050" cy="4057650"/>
          </a:xfrm>
          <a:prstGeom prst="roundRect">
            <a:avLst>
              <a:gd name="adj" fmla="val 3582"/>
            </a:avLst>
          </a:prstGeom>
        </p:spPr>
      </p:pic>
      <p:sp>
        <p:nvSpPr>
          <p:cNvPr id="3" name="1e80a575-76c7-4867-acba-25abccd73699"/>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Inserção de Rótulos Estratégicos</a:t>
            </a:r>
            <a:endParaRPr lang="en-US" sz="2246" dirty="0"/>
          </a:p>
        </p:txBody>
      </p:sp>
      <p:sp>
        <p:nvSpPr>
          <p:cNvPr id="4" name="cce64e43-5ab7-4b46-99e1-672cd815922c"/>
          <p:cNvSpPr/>
          <p:nvPr/>
        </p:nvSpPr>
        <p:spPr>
          <a:xfrm>
            <a:off x="285750" y="800100"/>
            <a:ext cx="4572000" cy="955548"/>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Rótulos de dados informam o número exato sobre a barra ou linha:</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Quando utilizar rótulos diretos nas barras, você pode </a:t>
            </a:r>
            <a:pPr algn="l" indent="0" marL="0">
              <a:lnSpc>
                <a:spcPts val="2009"/>
              </a:lnSpc>
              <a:spcBef>
                <a:spcPts val="225"/>
              </a:spcBef>
              <a:spcAft>
                <a:spcPts val="225"/>
              </a:spcAft>
              <a:buNone/>
            </a:pPr>
            <a:r>
              <a:rPr lang="en-US" sz="1264" b="1" dirty="0">
                <a:solidFill>
                  <a:srgbClr val="E8E4DF"/>
                </a:solidFill>
                <a:latin typeface="Dyslexie" pitchFamily="34" charset="0"/>
                <a:ea typeface="Dyslexie" pitchFamily="34" charset="-122"/>
                <a:cs typeface="Dyslexie" pitchFamily="34" charset="-120"/>
              </a:rPr>
              <a:t>remover o eixo numérico vertical</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para despoluir a visualização.</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Posicione rótulos na extremidade externa para fácil leitura.</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Utilize formatação de moeda abreviada (ex: </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para tabelas grandes.</a:t>
            </a:r>
            <a:endParaRPr lang="en-US" sz="1264"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6216664-c869-4b24-8879-1d3dc7ff1480" descr="/home/forge/chalkie-production-workers-1/releases/77481629/backend/storage/app/render-specs/5dac6ab7-4967-4c82-be18-2b0e49610a6a/img_f1b5df0e78887a6aed5fa72578023b52.png">    </p:cNvPr>
          <p:cNvPicPr>
            <a:picLocks noChangeAspect="1"/>
          </p:cNvPicPr>
          <p:nvPr/>
        </p:nvPicPr>
        <p:blipFill>
          <a:blip r:embed="rId2"/>
          <a:stretch>
            <a:fillRect/>
          </a:stretch>
        </p:blipFill>
        <p:spPr>
          <a:xfrm>
            <a:off x="285750" y="800100"/>
            <a:ext cx="4194810" cy="2057400"/>
          </a:xfrm>
          <a:prstGeom prst="roundRect">
            <a:avLst>
              <a:gd name="adj" fmla="val 6667"/>
            </a:avLst>
          </a:prstGeom>
        </p:spPr>
      </p:pic>
      <p:pic>
        <p:nvPicPr>
          <p:cNvPr id="3" name="96a753c2-82a9-41a5-adbb-6887a99cc763" descr="/home/forge/chalkie-production-workers-1/releases/77481629/backend/storage/app/render-specs/5dac6ab7-4967-4c82-be18-2b0e49610a6a/img_bea4c17c6a6184744cb9c4d5710383e5.png">    </p:cNvPr>
          <p:cNvPicPr>
            <a:picLocks noChangeAspect="1"/>
          </p:cNvPicPr>
          <p:nvPr/>
        </p:nvPicPr>
        <p:blipFill>
          <a:blip r:embed="rId3"/>
          <a:stretch>
            <a:fillRect/>
          </a:stretch>
        </p:blipFill>
        <p:spPr>
          <a:xfrm>
            <a:off x="4652010" y="800100"/>
            <a:ext cx="4194810" cy="2057400"/>
          </a:xfrm>
          <a:prstGeom prst="roundRect">
            <a:avLst>
              <a:gd name="adj" fmla="val 6667"/>
            </a:avLst>
          </a:prstGeom>
        </p:spPr>
      </p:pic>
      <p:sp>
        <p:nvSpPr>
          <p:cNvPr id="4" name="9fe88dfa-51b1-4051-9f7d-3ab56fba65c9"/>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Gráficos Combinados (Eixo Duplo)</a:t>
            </a:r>
            <a:endParaRPr lang="en-US" sz="2246" dirty="0"/>
          </a:p>
        </p:txBody>
      </p:sp>
      <p:sp>
        <p:nvSpPr>
          <p:cNvPr id="5" name="8a1c10d1-e41f-4839-89c4-b086a2c3392f"/>
          <p:cNvSpPr/>
          <p:nvPr/>
        </p:nvSpPr>
        <p:spPr>
          <a:xfrm>
            <a:off x="285750" y="2994660"/>
            <a:ext cx="4194810" cy="2203704"/>
          </a:xfrm>
          <a:prstGeom prst="rect">
            <a:avLst/>
          </a:prstGeom>
          <a:noFill/>
          <a:ln/>
        </p:spPr>
        <p:txBody>
          <a:bodyPr wrap="square" lIns="45720" tIns="45720" rIns="45720" bIns="45720" rtlCol="0" anchor="t"/>
          <a:lstStyle/>
          <a:p>
            <a:pPr algn="l" indent="0" marL="0">
              <a:lnSpc>
                <a:spcPts val="2455"/>
              </a:lnSpc>
              <a:spcBef>
                <a:spcPts val="360"/>
              </a:spcBef>
              <a:spcAft>
                <a:spcPts val="360"/>
              </a:spcAft>
              <a:buNone/>
            </a:pPr>
            <a:r>
              <a:rPr lang="en-US" sz="1544" b="1" dirty="0">
                <a:solidFill>
                  <a:srgbClr val="E8E4DF"/>
                </a:solidFill>
                <a:latin typeface="Dyslexie" pitchFamily="34" charset="0"/>
                <a:ea typeface="Dyslexie" pitchFamily="34" charset="-122"/>
                <a:cs typeface="Dyslexie" pitchFamily="34" charset="-120"/>
              </a:rPr>
              <a:t>O Problema das Escalas</a:t>
            </a:r>
            <a:endParaRPr lang="en-US" sz="1544" dirty="0"/>
          </a:p>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Como comparar o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Faturamento</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(R$ 500.000) com a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Margem de Lucro</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(12%) no mesmo gráfico? A margem percentual viraria uma linha invisível grudada no chão do gráfico.</a:t>
            </a:r>
            <a:endParaRPr lang="en-US" sz="1544" dirty="0"/>
          </a:p>
        </p:txBody>
      </p:sp>
      <p:sp>
        <p:nvSpPr>
          <p:cNvPr id="6" name="df506af9-3a7e-410b-b063-a9ce28fc3c8a"/>
          <p:cNvSpPr/>
          <p:nvPr/>
        </p:nvSpPr>
        <p:spPr>
          <a:xfrm>
            <a:off x="4652010" y="2994660"/>
            <a:ext cx="4194810" cy="2203704"/>
          </a:xfrm>
          <a:prstGeom prst="rect">
            <a:avLst/>
          </a:prstGeom>
          <a:noFill/>
          <a:ln/>
        </p:spPr>
        <p:txBody>
          <a:bodyPr wrap="square" lIns="45720" tIns="45720" rIns="45720" bIns="45720" rtlCol="0" anchor="t"/>
          <a:lstStyle/>
          <a:p>
            <a:pPr algn="l" indent="0" marL="0">
              <a:lnSpc>
                <a:spcPts val="2455"/>
              </a:lnSpc>
              <a:spcBef>
                <a:spcPts val="360"/>
              </a:spcBef>
              <a:spcAft>
                <a:spcPts val="360"/>
              </a:spcAft>
              <a:buNone/>
            </a:pPr>
            <a:r>
              <a:rPr lang="en-US" sz="1544" b="1" dirty="0">
                <a:solidFill>
                  <a:srgbClr val="E8E4DF"/>
                </a:solidFill>
                <a:latin typeface="Dyslexie" pitchFamily="34" charset="0"/>
                <a:ea typeface="Dyslexie" pitchFamily="34" charset="-122"/>
                <a:cs typeface="Dyslexie" pitchFamily="34" charset="-120"/>
              </a:rPr>
              <a:t>A Solução do Eixo Secundário</a:t>
            </a:r>
            <a:endParaRPr lang="en-US" sz="1544" dirty="0"/>
          </a:p>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O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Gráfico Combinado</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insere um segundo eixo vertical à direita. As colunas leem o volume em reais à esquerda e a linha lê os percentuais à direita com total precisão.</a:t>
            </a:r>
            <a:endParaRPr lang="en-US" sz="1544"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36fe7e4-7fb7-4bbc-ab14-69b5ebfa42db"/>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Verificação: Gráficos Combinados</a:t>
            </a:r>
            <a:endParaRPr lang="en-US" sz="2246" dirty="0"/>
          </a:p>
        </p:txBody>
      </p:sp>
      <p:sp>
        <p:nvSpPr>
          <p:cNvPr id="3" name="0ef2239e-f38c-4ec2-ad16-8fee70fafafc"/>
          <p:cNvSpPr/>
          <p:nvPr/>
        </p:nvSpPr>
        <p:spPr>
          <a:xfrm>
            <a:off x="285750" y="685800"/>
            <a:ext cx="8572500" cy="379476"/>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Quando é indispensável utilizar um gráfico combinado com eixo secundário?</a:t>
            </a:r>
            <a:endParaRPr lang="en-US" sz="1264" dirty="0"/>
          </a:p>
        </p:txBody>
      </p:sp>
      <p:sp>
        <p:nvSpPr>
          <p:cNvPr id="4" name="cd273e1e-cf97-4c02-8186-d856cc2b7670"/>
          <p:cNvSpPr/>
          <p:nvPr/>
        </p:nvSpPr>
        <p:spPr>
          <a:xfrm>
            <a:off x="285750" y="165735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1.</a:t>
            </a:r>
            <a:endParaRPr lang="en-US" sz="1966" dirty="0"/>
          </a:p>
        </p:txBody>
      </p:sp>
      <p:sp>
        <p:nvSpPr>
          <p:cNvPr id="5" name="2dd8646a-f5f0-44d6-af55-a7400b46cb94"/>
          <p:cNvSpPr/>
          <p:nvPr/>
        </p:nvSpPr>
        <p:spPr>
          <a:xfrm>
            <a:off x="857250" y="165735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Ao comparar duas métricas com grandezas ou escalas muito diferentes</a:t>
            </a:r>
            <a:endParaRPr lang="en-US" sz="1264" dirty="0"/>
          </a:p>
        </p:txBody>
      </p:sp>
      <p:sp>
        <p:nvSpPr>
          <p:cNvPr id="6" name="4e825e6c-bb92-4092-9d91-446d6e12938a"/>
          <p:cNvSpPr/>
          <p:nvPr/>
        </p:nvSpPr>
        <p:spPr>
          <a:xfrm>
            <a:off x="285750" y="251460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2.</a:t>
            </a:r>
            <a:endParaRPr lang="en-US" sz="1966" dirty="0"/>
          </a:p>
        </p:txBody>
      </p:sp>
      <p:sp>
        <p:nvSpPr>
          <p:cNvPr id="7" name="1fde6361-4e81-47c6-8cde-68db0a92a4a0"/>
          <p:cNvSpPr/>
          <p:nvPr/>
        </p:nvSpPr>
        <p:spPr>
          <a:xfrm>
            <a:off x="857250" y="251460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Sempre que a tabela de origem tiver células em branco</a:t>
            </a:r>
            <a:endParaRPr lang="en-US" sz="1264" dirty="0"/>
          </a:p>
        </p:txBody>
      </p:sp>
      <p:sp>
        <p:nvSpPr>
          <p:cNvPr id="8" name="e80ad6ca-bbf9-4325-9387-5e920a641875"/>
          <p:cNvSpPr/>
          <p:nvPr/>
        </p:nvSpPr>
        <p:spPr>
          <a:xfrm>
            <a:off x="285750" y="337185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3.</a:t>
            </a:r>
            <a:endParaRPr lang="en-US" sz="1966" dirty="0"/>
          </a:p>
        </p:txBody>
      </p:sp>
      <p:sp>
        <p:nvSpPr>
          <p:cNvPr id="9" name="c06cc657-a76c-4579-b383-f06020dd93ee"/>
          <p:cNvSpPr/>
          <p:nvPr/>
        </p:nvSpPr>
        <p:spPr>
          <a:xfrm>
            <a:off x="857250" y="337185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Apenas quando o gráfico tiver mais de 20 colunas de dados</a:t>
            </a:r>
            <a:endParaRPr lang="en-US" sz="1264" dirty="0"/>
          </a:p>
        </p:txBody>
      </p:sp>
      <p:sp>
        <p:nvSpPr>
          <p:cNvPr id="10" name="c16f4a48-d0bd-4053-b616-3ac4b4409b08"/>
          <p:cNvSpPr/>
          <p:nvPr/>
        </p:nvSpPr>
        <p:spPr>
          <a:xfrm>
            <a:off x="285750" y="422910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4.</a:t>
            </a:r>
            <a:endParaRPr lang="en-US" sz="1966" dirty="0"/>
          </a:p>
        </p:txBody>
      </p:sp>
      <p:sp>
        <p:nvSpPr>
          <p:cNvPr id="11" name="90edd869-b1fe-4454-a452-644bc922b23e"/>
          <p:cNvSpPr/>
          <p:nvPr/>
        </p:nvSpPr>
        <p:spPr>
          <a:xfrm>
            <a:off x="857250" y="422910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Quando queremos transformar colunas em formato de pizza</a:t>
            </a:r>
            <a:endParaRPr lang="en-US" sz="1264"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36fe7e4-7fb7-4bbc-ab14-69b5ebfa42db"/>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Verificação: Gráficos Combinados</a:t>
            </a:r>
            <a:endParaRPr lang="en-US" sz="2246" dirty="0"/>
          </a:p>
        </p:txBody>
      </p:sp>
      <p:sp>
        <p:nvSpPr>
          <p:cNvPr id="3" name="0ef2239e-f38c-4ec2-ad16-8fee70fafafc"/>
          <p:cNvSpPr/>
          <p:nvPr/>
        </p:nvSpPr>
        <p:spPr>
          <a:xfrm>
            <a:off x="285750" y="685800"/>
            <a:ext cx="8572500" cy="379476"/>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Quando é indispensável utilizar um gráfico combinado com eixo secundário?</a:t>
            </a:r>
            <a:endParaRPr lang="en-US" sz="1264" dirty="0"/>
          </a:p>
        </p:txBody>
      </p:sp>
      <p:sp>
        <p:nvSpPr>
          <p:cNvPr id="4" name="cd273e1e-cf97-4c02-8186-d856cc2b7670"/>
          <p:cNvSpPr/>
          <p:nvPr/>
        </p:nvSpPr>
        <p:spPr>
          <a:xfrm>
            <a:off x="285750" y="165735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1.</a:t>
            </a:r>
            <a:endParaRPr lang="en-US" sz="1966" dirty="0"/>
          </a:p>
        </p:txBody>
      </p:sp>
      <p:sp>
        <p:nvSpPr>
          <p:cNvPr id="5" name="2dd8646a-f5f0-44d6-af55-a7400b46cb94"/>
          <p:cNvSpPr/>
          <p:nvPr/>
        </p:nvSpPr>
        <p:spPr>
          <a:xfrm>
            <a:off x="857250" y="1657350"/>
            <a:ext cx="8001000" cy="685800"/>
          </a:xfrm>
          <a:prstGeom prst="roundRect">
            <a:avLst>
              <a:gd name="adj" fmla="val 16667"/>
            </a:avLst>
          </a:prstGeom>
          <a:solidFill>
            <a:srgbClr val="F4F9FC"/>
          </a:solidFill>
          <a:ln w="45720">
            <a:solidFill>
              <a:srgbClr val="2C6E49"/>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Ao comparar duas métricas com grandezas ou escalas muito diferentes</a:t>
            </a:r>
            <a:endParaRPr lang="en-US" sz="1264" dirty="0"/>
          </a:p>
        </p:txBody>
      </p:sp>
      <p:sp>
        <p:nvSpPr>
          <p:cNvPr id="6" name="4e825e6c-bb92-4092-9d91-446d6e12938a"/>
          <p:cNvSpPr/>
          <p:nvPr/>
        </p:nvSpPr>
        <p:spPr>
          <a:xfrm>
            <a:off x="285750" y="251460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2.</a:t>
            </a:r>
            <a:endParaRPr lang="en-US" sz="1966" dirty="0"/>
          </a:p>
        </p:txBody>
      </p:sp>
      <p:sp>
        <p:nvSpPr>
          <p:cNvPr id="7" name="1fde6361-4e81-47c6-8cde-68db0a92a4a0"/>
          <p:cNvSpPr/>
          <p:nvPr/>
        </p:nvSpPr>
        <p:spPr>
          <a:xfrm>
            <a:off x="857250" y="251460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Sempre que a tabela de origem tiver células em branco</a:t>
            </a:r>
            <a:endParaRPr lang="en-US" sz="1264" dirty="0"/>
          </a:p>
        </p:txBody>
      </p:sp>
      <p:sp>
        <p:nvSpPr>
          <p:cNvPr id="8" name="e80ad6ca-bbf9-4325-9387-5e920a641875"/>
          <p:cNvSpPr/>
          <p:nvPr/>
        </p:nvSpPr>
        <p:spPr>
          <a:xfrm>
            <a:off x="285750" y="337185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3.</a:t>
            </a:r>
            <a:endParaRPr lang="en-US" sz="1966" dirty="0"/>
          </a:p>
        </p:txBody>
      </p:sp>
      <p:sp>
        <p:nvSpPr>
          <p:cNvPr id="9" name="c06cc657-a76c-4579-b383-f06020dd93ee"/>
          <p:cNvSpPr/>
          <p:nvPr/>
        </p:nvSpPr>
        <p:spPr>
          <a:xfrm>
            <a:off x="857250" y="337185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Apenas quando o gráfico tiver mais de 20 colunas de dados</a:t>
            </a:r>
            <a:endParaRPr lang="en-US" sz="1264" dirty="0"/>
          </a:p>
        </p:txBody>
      </p:sp>
      <p:sp>
        <p:nvSpPr>
          <p:cNvPr id="10" name="c16f4a48-d0bd-4053-b616-3ac4b4409b08"/>
          <p:cNvSpPr/>
          <p:nvPr/>
        </p:nvSpPr>
        <p:spPr>
          <a:xfrm>
            <a:off x="285750" y="4229100"/>
            <a:ext cx="525780" cy="685800"/>
          </a:xfrm>
          <a:prstGeom prst="rect">
            <a:avLst/>
          </a:prstGeom>
          <a:noFill/>
          <a:ln/>
        </p:spPr>
        <p:txBody>
          <a:bodyPr wrap="square" lIns="45720" tIns="45720" rIns="45720" bIns="45720" rtlCol="0" anchor="ctr"/>
          <a:lstStyle/>
          <a:p>
            <a:pPr algn="l" indent="0" marL="0">
              <a:lnSpc>
                <a:spcPts val="3125"/>
              </a:lnSpc>
              <a:spcBef>
                <a:spcPts val="450"/>
              </a:spcBef>
              <a:spcAft>
                <a:spcPts val="450"/>
              </a:spcAft>
              <a:buNone/>
            </a:pPr>
            <a:r>
              <a:rPr lang="en-US" sz="1966" b="1" dirty="0">
                <a:solidFill>
                  <a:srgbClr val="E8E4DF"/>
                </a:solidFill>
                <a:latin typeface="Dyslexie" pitchFamily="34" charset="0"/>
                <a:ea typeface="Dyslexie" pitchFamily="34" charset="-122"/>
                <a:cs typeface="Dyslexie" pitchFamily="34" charset="-120"/>
              </a:rPr>
              <a:t>4.</a:t>
            </a:r>
            <a:endParaRPr lang="en-US" sz="1966" dirty="0"/>
          </a:p>
        </p:txBody>
      </p:sp>
      <p:sp>
        <p:nvSpPr>
          <p:cNvPr id="11" name="90edd869-b1fe-4454-a452-644bc922b23e"/>
          <p:cNvSpPr/>
          <p:nvPr/>
        </p:nvSpPr>
        <p:spPr>
          <a:xfrm>
            <a:off x="857250" y="4229100"/>
            <a:ext cx="8001000" cy="685800"/>
          </a:xfrm>
          <a:prstGeom prst="roundRect">
            <a:avLst>
              <a:gd name="adj" fmla="val 16667"/>
            </a:avLst>
          </a:prstGeom>
          <a:solidFill>
            <a:srgbClr val="F4F9FC"/>
          </a:solidFill>
          <a:ln w="45720">
            <a:solidFill>
              <a:srgbClr val="000000"/>
            </a:solidFill>
          </a:ln>
        </p:spPr>
        <p:txBody>
          <a:bodyPr wrap="square" lIns="102870" tIns="102870" rIns="102870" bIns="10287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Quando queremos transformar colunas em formato de pizza</a:t>
            </a:r>
            <a:endParaRPr lang="en-US" sz="1264" dirty="0"/>
          </a:p>
        </p:txBody>
      </p:sp>
      <p:sp>
        <p:nvSpPr>
          <p:cNvPr id="12" name="e2716820-64fe-4e04-8cc9-4b4bc30e7fcb"/>
          <p:cNvSpPr/>
          <p:nvPr/>
        </p:nvSpPr>
        <p:spPr>
          <a:xfrm>
            <a:off x="8366760" y="342900"/>
            <a:ext cx="548640" cy="548640"/>
          </a:xfrm>
          <a:prstGeom prst="rect">
            <a:avLst/>
          </a:prstGeom>
          <a:noFill/>
          <a:ln/>
        </p:spPr>
        <p:txBody>
          <a:bodyPr wrap="square" lIns="45720" tIns="45720" rIns="45720" bIns="45720" rtlCol="0" anchor="ctr"/>
          <a:lstStyle/>
          <a:p>
            <a:pPr algn="r" indent="0" marL="0">
              <a:lnSpc>
                <a:spcPts val="4464"/>
              </a:lnSpc>
              <a:spcBef>
                <a:spcPts val="450"/>
              </a:spcBef>
              <a:spcAft>
                <a:spcPts val="450"/>
              </a:spcAft>
              <a:buNone/>
            </a:pPr>
            <a:r>
              <a:rPr lang="en-US" sz="2808" dirty="0">
                <a:solidFill>
                  <a:srgbClr val="E8E4DF"/>
                </a:solidFill>
                <a:latin typeface="Dyslexie" pitchFamily="34" charset="0"/>
                <a:ea typeface="Dyslexie" pitchFamily="34" charset="-122"/>
                <a:cs typeface="Dyslexie" pitchFamily="34" charset="-120"/>
              </a:rPr>
              <a:t>✅</a:t>
            </a:r>
            <a:endParaRPr lang="en-US" sz="2808" dirty="0"/>
          </a:p>
        </p:txBody>
      </p:sp>
      <p:sp>
        <p:nvSpPr>
          <p:cNvPr id="13" name="5e1e75ae-8d8e-4664-a9c3-13155ca0593a"/>
          <p:cNvSpPr/>
          <p:nvPr/>
        </p:nvSpPr>
        <p:spPr>
          <a:xfrm>
            <a:off x="8721090" y="1520190"/>
            <a:ext cx="274320" cy="274320"/>
          </a:xfrm>
          <a:prstGeom prst="roundRect">
            <a:avLst>
              <a:gd name="adj" fmla="val 25000"/>
            </a:avLst>
          </a:prstGeom>
          <a:solidFill>
            <a:srgbClr val="2C6E49"/>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a:t>
            </a:r>
            <a:endParaRPr lang="en-US" sz="913"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c31b4f21-ae32-4951-b29e-16e3b21a9f11" descr="/home/forge/chalkie-production-workers-1/releases/77481629/backend/storage/app/render-specs/5dac6ab7-4967-4c82-be18-2b0e49610a6a/img_a6dd46e5540ded443b990fd6391c9399.png">    </p:cNvPr>
          <p:cNvPicPr>
            <a:picLocks noChangeAspect="1"/>
          </p:cNvPicPr>
          <p:nvPr/>
        </p:nvPicPr>
        <p:blipFill>
          <a:blip r:embed="rId2"/>
          <a:stretch>
            <a:fillRect/>
          </a:stretch>
        </p:blipFill>
        <p:spPr>
          <a:xfrm>
            <a:off x="5657850" y="0"/>
            <a:ext cx="3486150" cy="5143500"/>
          </a:xfrm>
          <a:prstGeom prst="roundRect">
            <a:avLst>
              <a:gd name="adj" fmla="val 3934"/>
            </a:avLst>
          </a:prstGeom>
        </p:spPr>
      </p:pic>
      <p:sp>
        <p:nvSpPr>
          <p:cNvPr id="3" name="d27a0020-014b-49f0-83ed-216ddeed5bd3"/>
          <p:cNvSpPr/>
          <p:nvPr/>
        </p:nvSpPr>
        <p:spPr>
          <a:xfrm>
            <a:off x="285750" y="308610"/>
            <a:ext cx="5143500" cy="1115568"/>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Conectando Filtros a Múltiplos Gráficos</a:t>
            </a:r>
            <a:endParaRPr lang="en-US" sz="2246" dirty="0"/>
          </a:p>
        </p:txBody>
      </p:sp>
      <p:sp>
        <p:nvSpPr>
          <p:cNvPr id="4" name="08681e2b-945f-4045-aaab-f9fb3a418c28"/>
          <p:cNvSpPr/>
          <p:nvPr/>
        </p:nvSpPr>
        <p:spPr>
          <a:xfrm>
            <a:off x="285750" y="1394460"/>
            <a:ext cx="5143500" cy="1531620"/>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O verdadeiro poder de um painel interativo surge quando uma única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Segmentação de Dados</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comanda diversos gráficos ao mesmo tempo. Ao clicar em 'Região Sul', todos os gráficos da tela se sincronizam imediatamente para mostrar o cenário do Sul.</a:t>
            </a:r>
            <a:endParaRPr lang="en-US" sz="1264" dirty="0"/>
          </a:p>
        </p:txBody>
      </p:sp>
      <p:sp>
        <p:nvSpPr>
          <p:cNvPr id="5" name="94550fad-4244-41cd-8b91-dc9ac82bb8d1_card"/>
          <p:cNvSpPr/>
          <p:nvPr/>
        </p:nvSpPr>
        <p:spPr>
          <a:xfrm>
            <a:off x="285750" y="3223260"/>
            <a:ext cx="5143500" cy="1380744"/>
          </a:xfrm>
          <a:prstGeom prst="roundRect">
            <a:avLst>
              <a:gd name="adj" fmla="val 6623"/>
            </a:avLst>
          </a:prstGeom>
          <a:solidFill>
            <a:srgbClr val="FAC873">
              <a:alpha val="14902"/>
            </a:srgbClr>
          </a:solidFill>
          <a:ln w="11430">
            <a:solidFill>
              <a:srgbClr val="573B06">
                <a:alpha val="20000"/>
              </a:srgbClr>
            </a:solidFill>
            <a:prstDash val="solid"/>
          </a:ln>
        </p:spPr>
      </p:sp>
      <p:sp>
        <p:nvSpPr>
          <p:cNvPr id="6" name="94550fad-4244-41cd-8b91-dc9ac82bb8d1_emoji"/>
          <p:cNvSpPr/>
          <p:nvPr/>
        </p:nvSpPr>
        <p:spPr>
          <a:xfrm>
            <a:off x="400050" y="337185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94550fad-4244-41cd-8b91-dc9ac82bb8d1_text"/>
          <p:cNvSpPr/>
          <p:nvPr/>
        </p:nvSpPr>
        <p:spPr>
          <a:xfrm>
            <a:off x="765810" y="3337560"/>
            <a:ext cx="4549140" cy="1152144"/>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FAC775"/>
                </a:solidFill>
                <a:latin typeface="Dyslexie" pitchFamily="34" charset="0"/>
                <a:ea typeface="Dyslexie" pitchFamily="34" charset="-122"/>
                <a:cs typeface="Dyslexie" pitchFamily="34" charset="-120"/>
              </a:rPr>
              <a:t>Ponto-chave</a:t>
            </a:r>
            <a:endParaRPr lang="en-US" sz="1123" dirty="0"/>
          </a:p>
          <a:p>
            <a:pPr algn="l" indent="0" marL="0">
              <a:lnSpc>
                <a:spcPts val="2009"/>
              </a:lnSpc>
              <a:spcBef>
                <a:spcPts val="360"/>
              </a:spcBef>
              <a:spcAft>
                <a:spcPts val="360"/>
              </a:spcAft>
              <a:buNone/>
            </a:pPr>
            <a:r>
              <a:rPr lang="en-US" sz="1264" dirty="0">
                <a:solidFill>
                  <a:srgbClr val="FAC775"/>
                </a:solidFill>
                <a:latin typeface="Dyslexie" pitchFamily="34" charset="0"/>
                <a:ea typeface="Dyslexie" pitchFamily="34" charset="-122"/>
                <a:cs typeface="Dyslexie" pitchFamily="34" charset="-120"/>
              </a:rPr>
              <a:t>Clique na segmentação com o botão direito, selecione 'Conexões de Relatório' e marque todas as tabelas dinâmicas desejadas.</a:t>
            </a:r>
            <a:endParaRPr lang="en-US" sz="1123"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f71c85df-b0f1-466c-b225-364dddbd5632" descr="/home/forge/chalkie-production-workers-1/releases/77481629/backend/storage/app/render-specs/5dac6ab7-4967-4c82-be18-2b0e49610a6a/img_500d4ef5531f97a6d670509969bcb43e.png">    </p:cNvPr>
          <p:cNvPicPr>
            <a:picLocks noChangeAspect="1"/>
          </p:cNvPicPr>
          <p:nvPr/>
        </p:nvPicPr>
        <p:blipFill>
          <a:blip r:embed="rId2"/>
          <a:stretch>
            <a:fillRect/>
          </a:stretch>
        </p:blipFill>
        <p:spPr>
          <a:xfrm>
            <a:off x="285750" y="800100"/>
            <a:ext cx="3829050" cy="4057650"/>
          </a:xfrm>
          <a:prstGeom prst="roundRect">
            <a:avLst>
              <a:gd name="adj" fmla="val 3582"/>
            </a:avLst>
          </a:prstGeom>
        </p:spPr>
      </p:pic>
      <p:sp>
        <p:nvSpPr>
          <p:cNvPr id="3" name="7146d112-2f09-47cd-a586-c34ab29acdaa"/>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Linha do Tempo Dinâmica</a:t>
            </a:r>
            <a:endParaRPr lang="en-US" sz="2246" dirty="0"/>
          </a:p>
        </p:txBody>
      </p:sp>
      <p:sp>
        <p:nvSpPr>
          <p:cNvPr id="4" name="ba2b14c3-dbc0-47a0-a775-f8e62399b445"/>
          <p:cNvSpPr/>
          <p:nvPr/>
        </p:nvSpPr>
        <p:spPr>
          <a:xfrm>
            <a:off x="4286250" y="800100"/>
            <a:ext cx="4572000" cy="955548"/>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Além da segmentação comum, o Excel oferece a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Linha do Tempo</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para colunas contendo datas:</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Uma barra horizontal elegante com deslizador de períodos.</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Permite alternar a escala entre Anos, Trimestres, Meses e Dias.</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Basta arrastar as bordas do seletor para analisar qualquer intervalo de tempo.</a:t>
            </a:r>
            <a:endParaRPr lang="en-US" sz="1264"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01a4bf9b-47fd-4be1-92d0-46c16325584e" descr="/home/forge/chalkie-production-workers-1/releases/77481629/backend/storage/app/render-specs/5dac6ab7-4967-4c82-be18-2b0e49610a6a/img_af30eb6e3acacf53607a5a3e8bb26f33.png">    </p:cNvPr>
          <p:cNvPicPr>
            <a:picLocks noChangeAspect="1"/>
          </p:cNvPicPr>
          <p:nvPr/>
        </p:nvPicPr>
        <p:blipFill>
          <a:blip r:embed="rId2"/>
          <a:stretch>
            <a:fillRect/>
          </a:stretch>
        </p:blipFill>
        <p:spPr>
          <a:xfrm>
            <a:off x="285750" y="811530"/>
            <a:ext cx="4194810" cy="2057400"/>
          </a:xfrm>
          <a:prstGeom prst="roundRect">
            <a:avLst>
              <a:gd name="adj" fmla="val 6667"/>
            </a:avLst>
          </a:prstGeom>
        </p:spPr>
      </p:pic>
      <p:pic>
        <p:nvPicPr>
          <p:cNvPr id="3" name="d5a9490f-ba29-481e-8274-21e48c846772" descr="/home/forge/chalkie-production-workers-1/releases/77481629/backend/storage/app/render-specs/5dac6ab7-4967-4c82-be18-2b0e49610a6a/img_34aaa6114d8caf6bcb0950dcb3d4f186.png">    </p:cNvPr>
          <p:cNvPicPr>
            <a:picLocks noChangeAspect="1"/>
          </p:cNvPicPr>
          <p:nvPr/>
        </p:nvPicPr>
        <p:blipFill>
          <a:blip r:embed="rId3"/>
          <a:stretch>
            <a:fillRect/>
          </a:stretch>
        </p:blipFill>
        <p:spPr>
          <a:xfrm>
            <a:off x="4652010" y="811530"/>
            <a:ext cx="4194810" cy="2057400"/>
          </a:xfrm>
          <a:prstGeom prst="roundRect">
            <a:avLst>
              <a:gd name="adj" fmla="val 6667"/>
            </a:avLst>
          </a:prstGeom>
        </p:spPr>
      </p:pic>
      <p:sp>
        <p:nvSpPr>
          <p:cNvPr id="4" name="14cb024a-2d17-4caa-9119-85983019609e"/>
          <p:cNvSpPr/>
          <p:nvPr/>
        </p:nvSpPr>
        <p:spPr>
          <a:xfrm>
            <a:off x="285750" y="18288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Erros Comuns na Visualização</a:t>
            </a:r>
            <a:endParaRPr lang="en-US" sz="2246" dirty="0"/>
          </a:p>
        </p:txBody>
      </p:sp>
      <p:sp>
        <p:nvSpPr>
          <p:cNvPr id="5" name="afa1f7dc-e370-4786-8020-ac348d3f2c04"/>
          <p:cNvSpPr/>
          <p:nvPr/>
        </p:nvSpPr>
        <p:spPr>
          <a:xfrm>
            <a:off x="285750" y="3006090"/>
            <a:ext cx="4194810" cy="1851660"/>
          </a:xfrm>
          <a:prstGeom prst="rect">
            <a:avLst/>
          </a:prstGeom>
          <a:noFill/>
          <a:ln/>
        </p:spPr>
        <p:txBody>
          <a:bodyPr wrap="square" lIns="45720" tIns="45720" rIns="45720" bIns="45720" rtlCol="0" anchor="t"/>
          <a:lstStyle/>
          <a:p>
            <a:pPr algn="l" indent="0" marL="0">
              <a:lnSpc>
                <a:spcPts val="2455"/>
              </a:lnSpc>
              <a:spcBef>
                <a:spcPts val="360"/>
              </a:spcBef>
              <a:spcAft>
                <a:spcPts val="360"/>
              </a:spcAft>
              <a:buNone/>
            </a:pPr>
            <a:r>
              <a:rPr lang="en-US" sz="1544" b="1" dirty="0">
                <a:solidFill>
                  <a:srgbClr val="E8E4DF"/>
                </a:solidFill>
                <a:latin typeface="Dyslexie" pitchFamily="34" charset="0"/>
                <a:ea typeface="Dyslexie" pitchFamily="34" charset="-122"/>
                <a:cs typeface="Dyslexie" pitchFamily="34" charset="-120"/>
              </a:rPr>
              <a:t>O Erro da Pizza Lotada</a:t>
            </a:r>
            <a:endParaRPr lang="en-US" sz="1544" dirty="0"/>
          </a:p>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Criar gráficos de pizza com dezenas de categorias torna a leitura impossível. Gráficos circulares servem apenas para 2 a 4 fatias com contrastes claros.</a:t>
            </a:r>
            <a:endParaRPr lang="en-US" sz="1544" dirty="0"/>
          </a:p>
        </p:txBody>
      </p:sp>
      <p:sp>
        <p:nvSpPr>
          <p:cNvPr id="6" name="d9ae8f9f-48fa-4787-ad07-980432d907db"/>
          <p:cNvSpPr/>
          <p:nvPr/>
        </p:nvSpPr>
        <p:spPr>
          <a:xfrm>
            <a:off x="4652010" y="3006090"/>
            <a:ext cx="4194810" cy="1851660"/>
          </a:xfrm>
          <a:prstGeom prst="rect">
            <a:avLst/>
          </a:prstGeom>
          <a:noFill/>
          <a:ln/>
        </p:spPr>
        <p:txBody>
          <a:bodyPr wrap="square" lIns="45720" tIns="45720" rIns="45720" bIns="45720" rtlCol="0" anchor="t"/>
          <a:lstStyle/>
          <a:p>
            <a:pPr algn="l" indent="0" marL="0">
              <a:lnSpc>
                <a:spcPts val="2455"/>
              </a:lnSpc>
              <a:spcBef>
                <a:spcPts val="360"/>
              </a:spcBef>
              <a:spcAft>
                <a:spcPts val="360"/>
              </a:spcAft>
              <a:buNone/>
            </a:pPr>
            <a:r>
              <a:rPr lang="en-US" sz="1544" b="1" dirty="0">
                <a:solidFill>
                  <a:srgbClr val="E8E4DF"/>
                </a:solidFill>
                <a:latin typeface="Dyslexie" pitchFamily="34" charset="0"/>
                <a:ea typeface="Dyslexie" pitchFamily="34" charset="-122"/>
                <a:cs typeface="Dyslexie" pitchFamily="34" charset="-120"/>
              </a:rPr>
              <a:t>Eixo Truncado Desleal</a:t>
            </a:r>
            <a:endParaRPr lang="en-US" sz="1544" dirty="0"/>
          </a:p>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Começar o eixo de colunas em valores diferentes de zero distorce a proporção visual e transmite uma falsa impressão de crescimento descontrolado.</a:t>
            </a:r>
            <a:endParaRPr lang="en-US" sz="1544"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08351eac-1c1d-4906-9c68-661170696a1e" descr="/home/forge/chalkie-production-workers-1/releases/77481629/backend/storage/app/render-specs/5dac6ab7-4967-4c82-be18-2b0e49610a6a/img_ff440e51010ae32d033099a1cc82162f.png">    </p:cNvPr>
          <p:cNvPicPr>
            <a:picLocks noChangeAspect="1"/>
          </p:cNvPicPr>
          <p:nvPr/>
        </p:nvPicPr>
        <p:blipFill>
          <a:blip r:embed="rId2"/>
          <a:stretch>
            <a:fillRect/>
          </a:stretch>
        </p:blipFill>
        <p:spPr>
          <a:xfrm>
            <a:off x="5029200" y="800100"/>
            <a:ext cx="3829050" cy="4057650"/>
          </a:xfrm>
          <a:prstGeom prst="roundRect">
            <a:avLst>
              <a:gd name="adj" fmla="val 3582"/>
            </a:avLst>
          </a:prstGeom>
        </p:spPr>
      </p:pic>
      <p:sp>
        <p:nvSpPr>
          <p:cNvPr id="3" name="9d21f071-ba98-4a53-b93e-dc9407f5955e"/>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Atualização Automática de Dados</a:t>
            </a:r>
            <a:endParaRPr lang="en-US" sz="2246" dirty="0"/>
          </a:p>
        </p:txBody>
      </p:sp>
      <p:sp>
        <p:nvSpPr>
          <p:cNvPr id="4" name="27858c14-952b-4d4c-a9be-c0f698129100"/>
          <p:cNvSpPr/>
          <p:nvPr/>
        </p:nvSpPr>
        <p:spPr>
          <a:xfrm>
            <a:off x="285750" y="800100"/>
            <a:ext cx="45720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Analistas devem dominar este ponto:</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A Tabela Dinâmica usa um 'cache' de dados.</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Se alterar a base bruta, a tabela </a:t>
            </a:r>
            <a:pPr algn="l" indent="0" marL="0">
              <a:lnSpc>
                <a:spcPts val="2009"/>
              </a:lnSpc>
              <a:spcBef>
                <a:spcPts val="225"/>
              </a:spcBef>
              <a:spcAft>
                <a:spcPts val="225"/>
              </a:spcAft>
              <a:buNone/>
            </a:pPr>
            <a:r>
              <a:rPr lang="en-US" sz="1264" b="1" dirty="0">
                <a:solidFill>
                  <a:srgbClr val="E8E4DF"/>
                </a:solidFill>
                <a:latin typeface="Dyslexie" pitchFamily="34" charset="0"/>
                <a:ea typeface="Dyslexie" pitchFamily="34" charset="-122"/>
                <a:cs typeface="Dyslexie" pitchFamily="34" charset="-120"/>
              </a:rPr>
              <a:t>não atualiza sozinha</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a:t>
            </a:r>
            <a:endParaRPr lang="en-US" sz="1264" dirty="0"/>
          </a:p>
          <a:p>
            <a:pPr algn="l" marL="228600" indent="-68580">
              <a:lnSpc>
                <a:spcPts val="2009"/>
              </a:lnSpc>
              <a:spcBef>
                <a:spcPts val="225"/>
              </a:spcBef>
              <a:spcAft>
                <a:spcPts val="225"/>
              </a:spcAft>
              <a:buSzPct val="100000"/>
              <a:buChar char="•"/>
            </a:pPr>
            <a:r>
              <a:rPr lang="en-US" sz="1264" dirty="0">
                <a:solidFill>
                  <a:srgbClr val="E8E4DF"/>
                </a:solidFill>
                <a:latin typeface="Dyslexie" pitchFamily="34" charset="0"/>
                <a:ea typeface="Dyslexie" pitchFamily="34" charset="-122"/>
                <a:cs typeface="Dyslexie" pitchFamily="34" charset="-120"/>
              </a:rPr>
              <a:t>Clique com o botão direito em </a:t>
            </a:r>
            <a:pPr algn="l" indent="0" marL="0">
              <a:lnSpc>
                <a:spcPts val="2009"/>
              </a:lnSpc>
              <a:spcBef>
                <a:spcPts val="225"/>
              </a:spcBef>
              <a:spcAft>
                <a:spcPts val="225"/>
              </a:spcAft>
              <a:buNone/>
            </a:pPr>
            <a:r>
              <a:rPr lang="en-US" sz="1264" b="1" dirty="0">
                <a:solidFill>
                  <a:srgbClr val="E8E4DF"/>
                </a:solidFill>
                <a:latin typeface="Dyslexie" pitchFamily="34" charset="0"/>
                <a:ea typeface="Dyslexie" pitchFamily="34" charset="-122"/>
                <a:cs typeface="Dyslexie" pitchFamily="34" charset="-120"/>
              </a:rPr>
              <a:t>Atualizar</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 ou use </a:t>
            </a:r>
            <a:pPr algn="l" indent="0" marL="0">
              <a:lnSpc>
                <a:spcPts val="2009"/>
              </a:lnSpc>
              <a:spcBef>
                <a:spcPts val="225"/>
              </a:spcBef>
              <a:spcAft>
                <a:spcPts val="225"/>
              </a:spcAft>
              <a:buNone/>
            </a:pPr>
            <a:r>
              <a:rPr lang="en-US" sz="1264" dirty="0">
                <a:solidFill>
                  <a:srgbClr val="E8E4DF"/>
                </a:solidFill>
                <a:latin typeface="Dyslexie" pitchFamily="34" charset="0"/>
                <a:ea typeface="Dyslexie" pitchFamily="34" charset="-122"/>
                <a:cs typeface="Dyslexie" pitchFamily="34" charset="-120"/>
              </a:rPr>
              <a:t>.</a:t>
            </a:r>
            <a:endParaRPr lang="en-US" sz="1264" dirty="0"/>
          </a:p>
        </p:txBody>
      </p:sp>
      <p:sp>
        <p:nvSpPr>
          <p:cNvPr id="5" name="b05461a6-cfbc-4fe4-b649-de4849d7fc61_card"/>
          <p:cNvSpPr/>
          <p:nvPr/>
        </p:nvSpPr>
        <p:spPr>
          <a:xfrm>
            <a:off x="285750" y="3131820"/>
            <a:ext cx="4572000" cy="1635887"/>
          </a:xfrm>
          <a:prstGeom prst="roundRect">
            <a:avLst>
              <a:gd name="adj" fmla="val 5590"/>
            </a:avLst>
          </a:prstGeom>
          <a:solidFill>
            <a:srgbClr val="82B4EB">
              <a:alpha val="14902"/>
            </a:srgbClr>
          </a:solidFill>
          <a:ln w="11430">
            <a:solidFill>
              <a:srgbClr val="0B2F50">
                <a:alpha val="20000"/>
              </a:srgbClr>
            </a:solidFill>
            <a:prstDash val="solid"/>
          </a:ln>
        </p:spPr>
      </p:sp>
      <p:sp>
        <p:nvSpPr>
          <p:cNvPr id="6" name="b05461a6-cfbc-4fe4-b649-de4849d7fc61_emoji"/>
          <p:cNvSpPr/>
          <p:nvPr/>
        </p:nvSpPr>
        <p:spPr>
          <a:xfrm>
            <a:off x="400050" y="3280410"/>
            <a:ext cx="365760" cy="411480"/>
          </a:xfrm>
          <a:prstGeom prst="rect">
            <a:avLst/>
          </a:prstGeom>
          <a:noFill/>
          <a:ln/>
        </p:spPr>
        <p:txBody>
          <a:bodyPr wrap="none" lIns="0" tIns="0" rIns="0" bIns="0" rtlCol="0" anchor="t"/>
          <a:lstStyle/>
          <a:p>
            <a:pPr algn="l" indent="0" marL="0">
              <a:buNone/>
            </a:pPr>
            <a:r>
              <a:rPr lang="en-US" sz="2160" dirty="0">
                <a:solidFill>
                  <a:srgbClr val="000000"/>
                </a:solidFill>
              </a:rPr>
              <a:t>🧠</a:t>
            </a:r>
            <a:endParaRPr lang="en-US" sz="2160" dirty="0"/>
          </a:p>
        </p:txBody>
      </p:sp>
      <p:sp>
        <p:nvSpPr>
          <p:cNvPr id="7" name="b05461a6-cfbc-4fe4-b649-de4849d7fc61_text"/>
          <p:cNvSpPr/>
          <p:nvPr/>
        </p:nvSpPr>
        <p:spPr>
          <a:xfrm>
            <a:off x="765810" y="3246120"/>
            <a:ext cx="3977640" cy="1407287"/>
          </a:xfrm>
          <a:prstGeom prst="rect">
            <a:avLst/>
          </a:prstGeom>
          <a:noFill/>
          <a:ln/>
        </p:spPr>
        <p:txBody>
          <a:bodyPr wrap="square" lIns="0" tIns="0" rIns="0" bIns="0" rtlCol="0" anchor="t"/>
          <a:lstStyle/>
          <a:p>
            <a:pPr algn="l" indent="0" marL="0">
              <a:lnSpc>
                <a:spcPts val="1786"/>
              </a:lnSpc>
              <a:spcBef>
                <a:spcPts val="270"/>
              </a:spcBef>
              <a:spcAft>
                <a:spcPts val="270"/>
              </a:spcAft>
              <a:buNone/>
            </a:pPr>
            <a:r>
              <a:rPr lang="en-US" sz="1123" b="1" dirty="0">
                <a:solidFill>
                  <a:srgbClr val="B5D4F4"/>
                </a:solidFill>
                <a:latin typeface="Dyslexie" pitchFamily="34" charset="0"/>
                <a:ea typeface="Dyslexie" pitchFamily="34" charset="-122"/>
                <a:cs typeface="Dyslexie" pitchFamily="34" charset="-120"/>
              </a:rPr>
              <a:t>Lembre-se</a:t>
            </a:r>
            <a:endParaRPr lang="en-US" sz="1123" dirty="0"/>
          </a:p>
          <a:p>
            <a:pPr algn="l" indent="0" marL="0">
              <a:lnSpc>
                <a:spcPts val="2009"/>
              </a:lnSpc>
              <a:spcBef>
                <a:spcPts val="360"/>
              </a:spcBef>
              <a:spcAft>
                <a:spcPts val="360"/>
              </a:spcAft>
              <a:buNone/>
            </a:pPr>
            <a:r>
              <a:rPr lang="en-US" sz="1264" dirty="0">
                <a:solidFill>
                  <a:srgbClr val="B5D4F4"/>
                </a:solidFill>
                <a:latin typeface="Dyslexie" pitchFamily="34" charset="0"/>
                <a:ea typeface="Dyslexie" pitchFamily="34" charset="-122"/>
                <a:cs typeface="Dyslexie" pitchFamily="34" charset="-120"/>
              </a:rPr>
              <a:t>Transformar a base em Tabela Oficial (</a:t>
            </a:r>
            <a:pPr algn="l" indent="0" marL="0">
              <a:lnSpc>
                <a:spcPts val="2009"/>
              </a:lnSpc>
              <a:spcBef>
                <a:spcPts val="360"/>
              </a:spcBef>
              <a:spcAft>
                <a:spcPts val="360"/>
              </a:spcAft>
              <a:buNone/>
            </a:pPr>
            <a:r>
              <a:rPr lang="en-US" sz="1264" dirty="0">
                <a:solidFill>
                  <a:srgbClr val="B5D4F4"/>
                </a:solidFill>
                <a:latin typeface="Dyslexie" pitchFamily="34" charset="0"/>
                <a:ea typeface="Dyslexie" pitchFamily="34" charset="-122"/>
                <a:cs typeface="Dyslexie" pitchFamily="34" charset="-120"/>
              </a:rPr>
              <a:t>) faz novas linhas serem incorporadas automaticamente à fonte!</a:t>
            </a:r>
            <a:endParaRPr lang="en-US" sz="1123"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c57d9c3b-f073-40b5-b506-d6832d0f9d6e" descr="/home/forge/chalkie-production-workers-1/releases/77481629/backend/storage/app/render-specs/5dac6ab7-4967-4c82-be18-2b0e49610a6a/img_b8e2e30cbb6ba10a8acb00af0ff4be05.png">    </p:cNvPr>
          <p:cNvPicPr>
            <a:picLocks noChangeAspect="1"/>
          </p:cNvPicPr>
          <p:nvPr/>
        </p:nvPicPr>
        <p:blipFill>
          <a:blip r:embed="rId2"/>
          <a:stretch>
            <a:fillRect/>
          </a:stretch>
        </p:blipFill>
        <p:spPr>
          <a:xfrm>
            <a:off x="0" y="0"/>
            <a:ext cx="9144000" cy="5143500"/>
          </a:xfrm>
          <a:prstGeom prst="roundRect">
            <a:avLst>
              <a:gd name="adj" fmla="val 2667"/>
            </a:avLst>
          </a:prstGeom>
        </p:spPr>
      </p:pic>
      <p:pic>
        <p:nvPicPr>
          <p:cNvPr id="3" name="f1f5743a-a5ca-4871-adcc-0b999f016f90" descr="/home/forge/chalkie-production-workers-1/releases/77481629/backend/storage/app/render-specs/5dac6ab7-4967-4c82-be18-2b0e49610a6a/img_9552acfb795f223aff86bd79e870190f.png">    </p:cNvPr>
          <p:cNvPicPr>
            <a:picLocks noChangeAspect="1"/>
          </p:cNvPicPr>
          <p:nvPr/>
        </p:nvPicPr>
        <p:blipFill>
          <a:blip r:embed="rId3"/>
          <a:stretch>
            <a:fillRect/>
          </a:stretch>
        </p:blipFill>
        <p:spPr>
          <a:xfrm>
            <a:off x="960120" y="1908810"/>
            <a:ext cx="2697480" cy="2331720"/>
          </a:xfrm>
          <a:prstGeom prst="roundRect">
            <a:avLst>
              <a:gd name="adj" fmla="val 5882"/>
            </a:avLst>
          </a:prstGeom>
        </p:spPr>
      </p:pic>
      <p:sp>
        <p:nvSpPr>
          <p:cNvPr id="4" name="8d05fde9-d9b7-4d4f-86a8-8428bfa15461"/>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Atividade: Relatórios Multi-Perspectiva</a:t>
            </a:r>
            <a:endParaRPr lang="en-US" sz="2246" dirty="0"/>
          </a:p>
        </p:txBody>
      </p:sp>
      <p:sp>
        <p:nvSpPr>
          <p:cNvPr id="5" name="4994212d-6844-4fe7-8ea9-39f88a270155"/>
          <p:cNvSpPr/>
          <p:nvPr/>
        </p:nvSpPr>
        <p:spPr>
          <a:xfrm>
            <a:off x="3806190" y="1440180"/>
            <a:ext cx="4194810" cy="3120390"/>
          </a:xfrm>
          <a:prstGeom prst="rect">
            <a:avLst/>
          </a:prstGeom>
          <a:noFill/>
          <a:ln/>
        </p:spPr>
        <p:txBody>
          <a:bodyPr wrap="square" lIns="45720" tIns="45720" rIns="45720" bIns="4572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Abra a base de vendas escolares no Excel e execute estas análises:</a:t>
            </a:r>
            <a:endParaRPr lang="en-US" sz="1264" dirty="0"/>
          </a:p>
          <a:p>
            <a:pPr algn="l" marL="228600" indent="-68580">
              <a:lnSpc>
                <a:spcPts val="2009"/>
              </a:lnSpc>
              <a:spcBef>
                <a:spcPts val="225"/>
              </a:spcBef>
              <a:spcAft>
                <a:spcPts val="225"/>
              </a:spcAft>
              <a:buSzPct val="100000"/>
              <a:buFont typeface="+mj-lt"/>
              <a:buAutoNum type="arabicPeriod" startAt="1"/>
            </a:pPr>
            <a:r>
              <a:rPr lang="en-US" sz="1264" dirty="0">
                <a:solidFill>
                  <a:srgbClr val="E8E4DF"/>
                </a:solidFill>
                <a:latin typeface="Dyslexie" pitchFamily="34" charset="0"/>
                <a:ea typeface="Dyslexie" pitchFamily="34" charset="-122"/>
                <a:cs typeface="Dyslexie" pitchFamily="34" charset="-120"/>
              </a:rPr>
              <a:t>Setorial: Crie Tabela Dinâmica com Faturamento por Categoria.</a:t>
            </a:r>
            <a:endParaRPr lang="en-US" sz="1264" dirty="0"/>
          </a:p>
          <a:p>
            <a:pPr algn="l" marL="228600" indent="-68580">
              <a:lnSpc>
                <a:spcPts val="2009"/>
              </a:lnSpc>
              <a:spcBef>
                <a:spcPts val="225"/>
              </a:spcBef>
              <a:spcAft>
                <a:spcPts val="225"/>
              </a:spcAft>
              <a:buSzPct val="100000"/>
              <a:buFont typeface="+mj-lt"/>
              <a:buAutoNum type="arabicPeriod" startAt="1"/>
            </a:pPr>
            <a:r>
              <a:rPr lang="en-US" sz="1264" dirty="0">
                <a:solidFill>
                  <a:srgbClr val="E8E4DF"/>
                </a:solidFill>
                <a:latin typeface="Dyslexie" pitchFamily="34" charset="0"/>
                <a:ea typeface="Dyslexie" pitchFamily="34" charset="-122"/>
                <a:cs typeface="Dyslexie" pitchFamily="34" charset="-120"/>
              </a:rPr>
              <a:t>Temporal: Agrupe datas por Trimestre e mova para Colunas.</a:t>
            </a:r>
            <a:endParaRPr lang="en-US" sz="1264" dirty="0"/>
          </a:p>
          <a:p>
            <a:pPr algn="l" marL="228600" indent="-68580">
              <a:lnSpc>
                <a:spcPts val="2009"/>
              </a:lnSpc>
              <a:spcBef>
                <a:spcPts val="225"/>
              </a:spcBef>
              <a:spcAft>
                <a:spcPts val="225"/>
              </a:spcAft>
              <a:buSzPct val="100000"/>
              <a:buFont typeface="+mj-lt"/>
              <a:buAutoNum type="arabicPeriod" startAt="1"/>
            </a:pPr>
            <a:r>
              <a:rPr lang="en-US" sz="1264" dirty="0">
                <a:solidFill>
                  <a:srgbClr val="E8E4DF"/>
                </a:solidFill>
                <a:latin typeface="Dyslexie" pitchFamily="34" charset="0"/>
                <a:ea typeface="Dyslexie" pitchFamily="34" charset="-122"/>
                <a:cs typeface="Dyslexie" pitchFamily="34" charset="-120"/>
              </a:rPr>
              <a:t>Percentual: Exiba como '% do Total', identifique o trimestre</a:t>
            </a:r>
            <a:endParaRPr lang="en-US" sz="1264" dirty="0"/>
          </a:p>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de maior fatia e anote sua conclusão.</a:t>
            </a:r>
            <a:endParaRPr lang="en-US" sz="1264"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e9f223fc-035a-4566-a309-498d9bc74420" descr="/home/forge/chalkie-production-workers-1/releases/77481629/backend/storage/app/render-specs/5dac6ab7-4967-4c82-be18-2b0e49610a6a/img_b8e2e30cbb6ba10a8acb00af0ff4be05.png">    </p:cNvPr>
          <p:cNvPicPr>
            <a:picLocks noChangeAspect="1"/>
          </p:cNvPicPr>
          <p:nvPr/>
        </p:nvPicPr>
        <p:blipFill>
          <a:blip r:embed="rId2"/>
          <a:stretch>
            <a:fillRect/>
          </a:stretch>
        </p:blipFill>
        <p:spPr>
          <a:xfrm>
            <a:off x="0" y="0"/>
            <a:ext cx="9144000" cy="5143500"/>
          </a:xfrm>
          <a:prstGeom prst="roundRect">
            <a:avLst>
              <a:gd name="adj" fmla="val 2667"/>
            </a:avLst>
          </a:prstGeom>
        </p:spPr>
      </p:pic>
      <p:pic>
        <p:nvPicPr>
          <p:cNvPr id="3" name="e7d63517-c2e3-43ec-bd95-60f3dad1e647" descr="/home/forge/chalkie-production-workers-1/releases/77481629/backend/storage/app/render-specs/5dac6ab7-4967-4c82-be18-2b0e49610a6a/img_1dd28bac4da505371bdbf77693787ba3.png">    </p:cNvPr>
          <p:cNvPicPr>
            <a:picLocks noChangeAspect="1"/>
          </p:cNvPicPr>
          <p:nvPr/>
        </p:nvPicPr>
        <p:blipFill>
          <a:blip r:embed="rId3"/>
          <a:stretch>
            <a:fillRect/>
          </a:stretch>
        </p:blipFill>
        <p:spPr>
          <a:xfrm>
            <a:off x="960120" y="1908810"/>
            <a:ext cx="2697480" cy="2331720"/>
          </a:xfrm>
          <a:prstGeom prst="roundRect">
            <a:avLst>
              <a:gd name="adj" fmla="val 5882"/>
            </a:avLst>
          </a:prstGeom>
        </p:spPr>
      </p:pic>
      <p:sp>
        <p:nvSpPr>
          <p:cNvPr id="4" name="7a0805e6-343a-4c38-ab1d-b6a543c86499"/>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Atividade: Conjunto de Gráficos Dinâmicos</a:t>
            </a:r>
            <a:endParaRPr lang="en-US" sz="2246" dirty="0"/>
          </a:p>
        </p:txBody>
      </p:sp>
      <p:sp>
        <p:nvSpPr>
          <p:cNvPr id="5" name="f06dcc99-9263-410b-a196-9543fba5b744"/>
          <p:cNvSpPr/>
          <p:nvPr/>
        </p:nvSpPr>
        <p:spPr>
          <a:xfrm>
            <a:off x="3806190" y="1440180"/>
            <a:ext cx="4194810" cy="3120390"/>
          </a:xfrm>
          <a:prstGeom prst="rect">
            <a:avLst/>
          </a:prstGeom>
          <a:noFill/>
          <a:ln/>
        </p:spPr>
        <p:txBody>
          <a:bodyPr wrap="square" lIns="45720" tIns="45720" rIns="45720" bIns="45720" rtlCol="0" anchor="ctr"/>
          <a:lstStyle/>
          <a:p>
            <a:pPr algn="l" indent="0" marL="0">
              <a:lnSpc>
                <a:spcPts val="2009"/>
              </a:lnSpc>
              <a:spcBef>
                <a:spcPts val="360"/>
              </a:spcBef>
              <a:spcAft>
                <a:spcPts val="360"/>
              </a:spcAft>
              <a:buNone/>
            </a:pPr>
            <a:r>
              <a:rPr lang="en-US" sz="1264" dirty="0">
                <a:solidFill>
                  <a:srgbClr val="040F0F"/>
                </a:solidFill>
                <a:latin typeface="Dyslexie" pitchFamily="34" charset="0"/>
                <a:ea typeface="Dyslexie" pitchFamily="34" charset="-122"/>
                <a:cs typeface="Dyslexie" pitchFamily="34" charset="-120"/>
              </a:rPr>
              <a:t>Desenvolva a camada visual interativa:</a:t>
            </a:r>
            <a:endParaRPr lang="en-US" sz="1264" dirty="0"/>
          </a:p>
          <a:p>
            <a:pPr algn="l" marL="228600" indent="-68580">
              <a:lnSpc>
                <a:spcPts val="2009"/>
              </a:lnSpc>
              <a:spcBef>
                <a:spcPts val="225"/>
              </a:spcBef>
              <a:spcAft>
                <a:spcPts val="225"/>
              </a:spcAft>
              <a:buSzPct val="100000"/>
              <a:buFont typeface="+mj-lt"/>
              <a:buAutoNum type="arabicPeriod" startAt="1"/>
            </a:pPr>
            <a:r>
              <a:rPr lang="en-US" sz="1264" dirty="0">
                <a:solidFill>
                  <a:srgbClr val="E8E4DF"/>
                </a:solidFill>
                <a:latin typeface="Dyslexie" pitchFamily="34" charset="0"/>
                <a:ea typeface="Dyslexie" pitchFamily="34" charset="-122"/>
                <a:cs typeface="Dyslexie" pitchFamily="34" charset="-120"/>
              </a:rPr>
              <a:t>Gráfico de Barras: Exiba os 5 produtos de maior margem.</a:t>
            </a:r>
            <a:endParaRPr lang="en-US" sz="1264" dirty="0"/>
          </a:p>
          <a:p>
            <a:pPr algn="l" marL="228600" indent="-68580">
              <a:lnSpc>
                <a:spcPts val="2009"/>
              </a:lnSpc>
              <a:spcBef>
                <a:spcPts val="225"/>
              </a:spcBef>
              <a:spcAft>
                <a:spcPts val="225"/>
              </a:spcAft>
              <a:buSzPct val="100000"/>
              <a:buFont typeface="+mj-lt"/>
              <a:buAutoNum type="arabicPeriod" startAt="1"/>
            </a:pPr>
            <a:r>
              <a:rPr lang="en-US" sz="1264" dirty="0">
                <a:solidFill>
                  <a:srgbClr val="E8E4DF"/>
                </a:solidFill>
                <a:latin typeface="Dyslexie" pitchFamily="34" charset="0"/>
                <a:ea typeface="Dyslexie" pitchFamily="34" charset="-122"/>
                <a:cs typeface="Dyslexie" pitchFamily="34" charset="-120"/>
              </a:rPr>
              <a:t>Gráfico Combinado: Mostre Faturamento e % da Meta mensal.</a:t>
            </a:r>
            <a:endParaRPr lang="en-US" sz="1264" dirty="0"/>
          </a:p>
          <a:p>
            <a:pPr algn="l" marL="228600" indent="-68580">
              <a:lnSpc>
                <a:spcPts val="2009"/>
              </a:lnSpc>
              <a:spcBef>
                <a:spcPts val="225"/>
              </a:spcBef>
              <a:spcAft>
                <a:spcPts val="225"/>
              </a:spcAft>
              <a:buSzPct val="100000"/>
              <a:buFont typeface="+mj-lt"/>
              <a:buAutoNum type="arabicPeriod" startAt="1"/>
            </a:pPr>
            <a:r>
              <a:rPr lang="en-US" sz="1264" dirty="0">
                <a:solidFill>
                  <a:srgbClr val="E8E4DF"/>
                </a:solidFill>
                <a:latin typeface="Dyslexie" pitchFamily="34" charset="0"/>
                <a:ea typeface="Dyslexie" pitchFamily="34" charset="-122"/>
                <a:cs typeface="Dyslexie" pitchFamily="34" charset="-120"/>
              </a:rPr>
              <a:t>Painel Integrado: Adicione filtro por Canal de Venda.</a:t>
            </a:r>
            <a:endParaRPr lang="en-US" sz="1264"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492344b6-df77-493e-804e-c575eebd12cc"/>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Desafio de Fixação dos Conceitos</a:t>
            </a:r>
            <a:endParaRPr lang="en-US" sz="2246" dirty="0"/>
          </a:p>
        </p:txBody>
      </p:sp>
      <p:sp>
        <p:nvSpPr>
          <p:cNvPr id="3" name="75e8d5e8-96d4-4447-8bd8-b445d1d08c06"/>
          <p:cNvSpPr/>
          <p:nvPr/>
        </p:nvSpPr>
        <p:spPr>
          <a:xfrm>
            <a:off x="285750" y="742950"/>
            <a:ext cx="8572500" cy="347472"/>
          </a:xfrm>
          <a:prstGeom prst="rect">
            <a:avLst/>
          </a:prstGeom>
          <a:noFill/>
          <a:ln/>
        </p:spPr>
        <p:txBody>
          <a:bodyPr wrap="square" lIns="45720" tIns="45720" rIns="45720" bIns="45720" rtlCol="0" anchor="t"/>
          <a:lstStyle/>
          <a:p>
            <a:pPr algn="l" indent="0" marL="0">
              <a:lnSpc>
                <a:spcPts val="1786"/>
              </a:lnSpc>
              <a:spcBef>
                <a:spcPts val="270"/>
              </a:spcBef>
              <a:spcAft>
                <a:spcPts val="270"/>
              </a:spcAft>
              <a:buNone/>
            </a:pPr>
            <a:r>
              <a:rPr lang="en-US" sz="1123" dirty="0">
                <a:solidFill>
                  <a:srgbClr val="E8E4DF"/>
                </a:solidFill>
                <a:latin typeface="Dyslexie" pitchFamily="34" charset="0"/>
                <a:ea typeface="Dyslexie" pitchFamily="34" charset="-122"/>
                <a:cs typeface="Dyslexie" pitchFamily="34" charset="-120"/>
              </a:rPr>
              <a:t>Relacione as palavras com as definições</a:t>
            </a:r>
            <a:endParaRPr lang="en-US" sz="1123" dirty="0"/>
          </a:p>
        </p:txBody>
      </p:sp>
      <p:sp>
        <p:nvSpPr>
          <p:cNvPr id="4" name="23c4e55b-6ea6-4961-bd18-6c63ed1c691f"/>
          <p:cNvSpPr/>
          <p:nvPr/>
        </p:nvSpPr>
        <p:spPr>
          <a:xfrm>
            <a:off x="285750" y="1314450"/>
            <a:ext cx="2286000" cy="617220"/>
          </a:xfrm>
          <a:prstGeom prst="roundRect">
            <a:avLst>
              <a:gd name="adj" fmla="val 18519"/>
            </a:avLst>
          </a:prstGeom>
          <a:solidFill>
            <a:srgbClr val="F4F9FC"/>
          </a:solidFill>
          <a:ln w="34290">
            <a:solidFill>
              <a:srgbClr val="000000"/>
            </a:solidFill>
          </a:ln>
        </p:spPr>
        <p:txBody>
          <a:bodyPr wrap="square" lIns="68580" tIns="68580" rIns="68580" bIns="68580" rtlCol="0" anchor="ctr"/>
          <a:lstStyle/>
          <a:p>
            <a:pPr algn="ctr" indent="0" marL="0">
              <a:lnSpc>
                <a:spcPts val="2232"/>
              </a:lnSpc>
              <a:spcBef>
                <a:spcPts val="360"/>
              </a:spcBef>
              <a:spcAft>
                <a:spcPts val="360"/>
              </a:spcAft>
              <a:buNone/>
            </a:pPr>
            <a:r>
              <a:rPr lang="en-US" sz="1404" b="1" dirty="0">
                <a:solidFill>
                  <a:srgbClr val="040F0F"/>
                </a:solidFill>
                <a:latin typeface="Dyslexie" pitchFamily="34" charset="0"/>
                <a:ea typeface="Dyslexie" pitchFamily="34" charset="-122"/>
                <a:cs typeface="Dyslexie" pitchFamily="34" charset="-120"/>
              </a:rPr>
              <a:t>Gráfico Combinado</a:t>
            </a:r>
            <a:endParaRPr lang="en-US" sz="1404" dirty="0"/>
          </a:p>
        </p:txBody>
      </p:sp>
      <p:sp>
        <p:nvSpPr>
          <p:cNvPr id="5" name="8985fd11-d242-4148-89ea-50b86e87924e"/>
          <p:cNvSpPr/>
          <p:nvPr/>
        </p:nvSpPr>
        <p:spPr>
          <a:xfrm>
            <a:off x="285750" y="2228850"/>
            <a:ext cx="2286000" cy="617220"/>
          </a:xfrm>
          <a:prstGeom prst="roundRect">
            <a:avLst>
              <a:gd name="adj" fmla="val 18519"/>
            </a:avLst>
          </a:prstGeom>
          <a:solidFill>
            <a:srgbClr val="F4F9FC"/>
          </a:solidFill>
          <a:ln w="34290">
            <a:solidFill>
              <a:srgbClr val="000000"/>
            </a:solidFill>
          </a:ln>
        </p:spPr>
        <p:txBody>
          <a:bodyPr wrap="square" lIns="68580" tIns="68580" rIns="68580" bIns="68580" rtlCol="0" anchor="ctr"/>
          <a:lstStyle/>
          <a:p>
            <a:pPr algn="ctr" indent="0" marL="0">
              <a:lnSpc>
                <a:spcPts val="2232"/>
              </a:lnSpc>
              <a:spcBef>
                <a:spcPts val="360"/>
              </a:spcBef>
              <a:spcAft>
                <a:spcPts val="360"/>
              </a:spcAft>
              <a:buNone/>
            </a:pPr>
            <a:r>
              <a:rPr lang="en-US" sz="1404" b="1" dirty="0">
                <a:solidFill>
                  <a:srgbClr val="040F0F"/>
                </a:solidFill>
                <a:latin typeface="Dyslexie" pitchFamily="34" charset="0"/>
                <a:ea typeface="Dyslexie" pitchFamily="34" charset="-122"/>
                <a:cs typeface="Dyslexie" pitchFamily="34" charset="-120"/>
              </a:rPr>
              <a:t>Agrupamento</a:t>
            </a:r>
            <a:endParaRPr lang="en-US" sz="1404" dirty="0"/>
          </a:p>
        </p:txBody>
      </p:sp>
      <p:sp>
        <p:nvSpPr>
          <p:cNvPr id="6" name="cb977b08-b11b-4826-b49a-48eb253007c6"/>
          <p:cNvSpPr/>
          <p:nvPr/>
        </p:nvSpPr>
        <p:spPr>
          <a:xfrm>
            <a:off x="285750" y="3143250"/>
            <a:ext cx="2286000" cy="617220"/>
          </a:xfrm>
          <a:prstGeom prst="roundRect">
            <a:avLst>
              <a:gd name="adj" fmla="val 18519"/>
            </a:avLst>
          </a:prstGeom>
          <a:solidFill>
            <a:srgbClr val="F4F9FC"/>
          </a:solidFill>
          <a:ln w="34290">
            <a:solidFill>
              <a:srgbClr val="000000"/>
            </a:solidFill>
          </a:ln>
        </p:spPr>
        <p:txBody>
          <a:bodyPr wrap="square" lIns="68580" tIns="68580" rIns="68580" bIns="68580" rtlCol="0" anchor="ctr"/>
          <a:lstStyle/>
          <a:p>
            <a:pPr algn="ctr" indent="0" marL="0">
              <a:lnSpc>
                <a:spcPts val="2232"/>
              </a:lnSpc>
              <a:spcBef>
                <a:spcPts val="360"/>
              </a:spcBef>
              <a:spcAft>
                <a:spcPts val="360"/>
              </a:spcAft>
              <a:buNone/>
            </a:pPr>
            <a:r>
              <a:rPr lang="en-US" sz="1404" b="1" dirty="0">
                <a:solidFill>
                  <a:srgbClr val="040F0F"/>
                </a:solidFill>
                <a:latin typeface="Dyslexie" pitchFamily="34" charset="0"/>
                <a:ea typeface="Dyslexie" pitchFamily="34" charset="-122"/>
                <a:cs typeface="Dyslexie" pitchFamily="34" charset="-120"/>
              </a:rPr>
              <a:t>Tabela Dinâmica</a:t>
            </a:r>
            <a:endParaRPr lang="en-US" sz="1404" dirty="0"/>
          </a:p>
        </p:txBody>
      </p:sp>
      <p:sp>
        <p:nvSpPr>
          <p:cNvPr id="7" name="4d1cf71b-610b-48a4-8b01-9f185cda1c14"/>
          <p:cNvSpPr/>
          <p:nvPr/>
        </p:nvSpPr>
        <p:spPr>
          <a:xfrm>
            <a:off x="285750" y="4057650"/>
            <a:ext cx="2286000" cy="617220"/>
          </a:xfrm>
          <a:prstGeom prst="roundRect">
            <a:avLst>
              <a:gd name="adj" fmla="val 18519"/>
            </a:avLst>
          </a:prstGeom>
          <a:solidFill>
            <a:srgbClr val="F4F9FC"/>
          </a:solidFill>
          <a:ln w="34290">
            <a:solidFill>
              <a:srgbClr val="000000"/>
            </a:solidFill>
          </a:ln>
        </p:spPr>
        <p:txBody>
          <a:bodyPr wrap="square" lIns="68580" tIns="68580" rIns="68580" bIns="68580" rtlCol="0" anchor="ctr"/>
          <a:lstStyle/>
          <a:p>
            <a:pPr algn="ctr" indent="0" marL="0">
              <a:lnSpc>
                <a:spcPts val="2232"/>
              </a:lnSpc>
              <a:spcBef>
                <a:spcPts val="360"/>
              </a:spcBef>
              <a:spcAft>
                <a:spcPts val="360"/>
              </a:spcAft>
              <a:buNone/>
            </a:pPr>
            <a:r>
              <a:rPr lang="en-US" sz="1404" b="1" dirty="0">
                <a:solidFill>
                  <a:srgbClr val="040F0F"/>
                </a:solidFill>
                <a:latin typeface="Dyslexie" pitchFamily="34" charset="0"/>
                <a:ea typeface="Dyslexie" pitchFamily="34" charset="-122"/>
                <a:cs typeface="Dyslexie" pitchFamily="34" charset="-120"/>
              </a:rPr>
              <a:t>Segmentação de Dados</a:t>
            </a:r>
            <a:endParaRPr lang="en-US" sz="1404" dirty="0"/>
          </a:p>
        </p:txBody>
      </p:sp>
      <p:sp>
        <p:nvSpPr>
          <p:cNvPr id="8" name="328e3c84-1ac7-4e99-8b0d-d71ecb86948b"/>
          <p:cNvSpPr/>
          <p:nvPr/>
        </p:nvSpPr>
        <p:spPr>
          <a:xfrm>
            <a:off x="3829050" y="131445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Resumo interativo de base bruta capaz de condensar cálculos sem criar novas fórmulas.</a:t>
            </a:r>
            <a:endParaRPr lang="en-US" sz="1264" dirty="0"/>
          </a:p>
        </p:txBody>
      </p:sp>
      <p:sp>
        <p:nvSpPr>
          <p:cNvPr id="9" name="1a33cefc-132a-4a9d-a88a-5452989735c6"/>
          <p:cNvSpPr/>
          <p:nvPr/>
        </p:nvSpPr>
        <p:spPr>
          <a:xfrm>
            <a:off x="3829050" y="222885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Visualização que sobrepõe colunas e linhas utilizando dois eixos com escalas distintas.</a:t>
            </a:r>
            <a:endParaRPr lang="en-US" sz="1264" dirty="0"/>
          </a:p>
        </p:txBody>
      </p:sp>
      <p:sp>
        <p:nvSpPr>
          <p:cNvPr id="10" name="16462f6a-6697-4d58-ad45-5ab2ba001277"/>
          <p:cNvSpPr/>
          <p:nvPr/>
        </p:nvSpPr>
        <p:spPr>
          <a:xfrm>
            <a:off x="3829050" y="314325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Recurso que reúne datas individuais em blocos de meses, trimestres ou anos.</a:t>
            </a:r>
            <a:endParaRPr lang="en-US" sz="1264" dirty="0"/>
          </a:p>
        </p:txBody>
      </p:sp>
      <p:sp>
        <p:nvSpPr>
          <p:cNvPr id="11" name="bf2631c2-082b-4b5f-802f-757e5f1daa4a"/>
          <p:cNvSpPr/>
          <p:nvPr/>
        </p:nvSpPr>
        <p:spPr>
          <a:xfrm>
            <a:off x="3829050" y="405765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Painel com botões clicáveis para filtrar relatórios dinâmicos de forma ágil e intuitiva.</a:t>
            </a:r>
            <a:endParaRPr lang="en-US" sz="1264"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492344b6-df77-493e-804e-c575eebd12cc"/>
          <p:cNvSpPr/>
          <p:nvPr/>
        </p:nvSpPr>
        <p:spPr>
          <a:xfrm>
            <a:off x="285750" y="171450"/>
            <a:ext cx="8572500" cy="603504"/>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Desafio de Fixação dos Conceitos</a:t>
            </a:r>
            <a:endParaRPr lang="en-US" sz="2246" dirty="0"/>
          </a:p>
        </p:txBody>
      </p:sp>
      <p:sp>
        <p:nvSpPr>
          <p:cNvPr id="3" name="75e8d5e8-96d4-4447-8bd8-b445d1d08c06"/>
          <p:cNvSpPr/>
          <p:nvPr/>
        </p:nvSpPr>
        <p:spPr>
          <a:xfrm>
            <a:off x="285750" y="742950"/>
            <a:ext cx="8572500" cy="347472"/>
          </a:xfrm>
          <a:prstGeom prst="rect">
            <a:avLst/>
          </a:prstGeom>
          <a:noFill/>
          <a:ln/>
        </p:spPr>
        <p:txBody>
          <a:bodyPr wrap="square" lIns="45720" tIns="45720" rIns="45720" bIns="45720" rtlCol="0" anchor="t"/>
          <a:lstStyle/>
          <a:p>
            <a:pPr algn="l" indent="0" marL="0">
              <a:lnSpc>
                <a:spcPts val="1786"/>
              </a:lnSpc>
              <a:spcBef>
                <a:spcPts val="270"/>
              </a:spcBef>
              <a:spcAft>
                <a:spcPts val="270"/>
              </a:spcAft>
              <a:buNone/>
            </a:pPr>
            <a:r>
              <a:rPr lang="en-US" sz="1123" dirty="0">
                <a:solidFill>
                  <a:srgbClr val="E8E4DF"/>
                </a:solidFill>
                <a:latin typeface="Dyslexie" pitchFamily="34" charset="0"/>
                <a:ea typeface="Dyslexie" pitchFamily="34" charset="-122"/>
                <a:cs typeface="Dyslexie" pitchFamily="34" charset="-120"/>
              </a:rPr>
              <a:t>Relacione as palavras com as definições</a:t>
            </a:r>
            <a:endParaRPr lang="en-US" sz="1123" dirty="0"/>
          </a:p>
        </p:txBody>
      </p:sp>
      <p:sp>
        <p:nvSpPr>
          <p:cNvPr id="4" name="23c4e55b-6ea6-4961-bd18-6c63ed1c691f"/>
          <p:cNvSpPr/>
          <p:nvPr/>
        </p:nvSpPr>
        <p:spPr>
          <a:xfrm>
            <a:off x="285750" y="1314450"/>
            <a:ext cx="2286000" cy="617220"/>
          </a:xfrm>
          <a:prstGeom prst="roundRect">
            <a:avLst>
              <a:gd name="adj" fmla="val 18519"/>
            </a:avLst>
          </a:prstGeom>
          <a:solidFill>
            <a:srgbClr val="F4F9FC"/>
          </a:solidFill>
          <a:ln w="34290">
            <a:solidFill>
              <a:srgbClr val="409E9E"/>
            </a:solidFill>
          </a:ln>
        </p:spPr>
        <p:txBody>
          <a:bodyPr wrap="square" lIns="68580" tIns="68580" rIns="68580" bIns="68580" rtlCol="0" anchor="ctr"/>
          <a:lstStyle/>
          <a:p>
            <a:pPr algn="ctr" indent="0" marL="0">
              <a:lnSpc>
                <a:spcPts val="2232"/>
              </a:lnSpc>
              <a:spcBef>
                <a:spcPts val="360"/>
              </a:spcBef>
              <a:spcAft>
                <a:spcPts val="360"/>
              </a:spcAft>
              <a:buNone/>
            </a:pPr>
            <a:r>
              <a:rPr lang="en-US" sz="1404" b="1" dirty="0">
                <a:solidFill>
                  <a:srgbClr val="040F0F"/>
                </a:solidFill>
                <a:latin typeface="Dyslexie" pitchFamily="34" charset="0"/>
                <a:ea typeface="Dyslexie" pitchFamily="34" charset="-122"/>
                <a:cs typeface="Dyslexie" pitchFamily="34" charset="-120"/>
              </a:rPr>
              <a:t>Gráfico Combinado</a:t>
            </a:r>
            <a:endParaRPr lang="en-US" sz="1404" dirty="0"/>
          </a:p>
        </p:txBody>
      </p:sp>
      <p:sp>
        <p:nvSpPr>
          <p:cNvPr id="5" name="8985fd11-d242-4148-89ea-50b86e87924e"/>
          <p:cNvSpPr/>
          <p:nvPr/>
        </p:nvSpPr>
        <p:spPr>
          <a:xfrm>
            <a:off x="285750" y="2228850"/>
            <a:ext cx="2286000" cy="617220"/>
          </a:xfrm>
          <a:prstGeom prst="roundRect">
            <a:avLst>
              <a:gd name="adj" fmla="val 18519"/>
            </a:avLst>
          </a:prstGeom>
          <a:solidFill>
            <a:srgbClr val="F4F9FC"/>
          </a:solidFill>
          <a:ln w="34290">
            <a:solidFill>
              <a:srgbClr val="D90368"/>
            </a:solidFill>
          </a:ln>
        </p:spPr>
        <p:txBody>
          <a:bodyPr wrap="square" lIns="68580" tIns="68580" rIns="68580" bIns="68580" rtlCol="0" anchor="ctr"/>
          <a:lstStyle/>
          <a:p>
            <a:pPr algn="ctr" indent="0" marL="0">
              <a:lnSpc>
                <a:spcPts val="2232"/>
              </a:lnSpc>
              <a:spcBef>
                <a:spcPts val="360"/>
              </a:spcBef>
              <a:spcAft>
                <a:spcPts val="360"/>
              </a:spcAft>
              <a:buNone/>
            </a:pPr>
            <a:r>
              <a:rPr lang="en-US" sz="1404" b="1" dirty="0">
                <a:solidFill>
                  <a:srgbClr val="040F0F"/>
                </a:solidFill>
                <a:latin typeface="Dyslexie" pitchFamily="34" charset="0"/>
                <a:ea typeface="Dyslexie" pitchFamily="34" charset="-122"/>
                <a:cs typeface="Dyslexie" pitchFamily="34" charset="-120"/>
              </a:rPr>
              <a:t>Agrupamento</a:t>
            </a:r>
            <a:endParaRPr lang="en-US" sz="1404" dirty="0"/>
          </a:p>
        </p:txBody>
      </p:sp>
      <p:sp>
        <p:nvSpPr>
          <p:cNvPr id="6" name="cb977b08-b11b-4826-b49a-48eb253007c6"/>
          <p:cNvSpPr/>
          <p:nvPr/>
        </p:nvSpPr>
        <p:spPr>
          <a:xfrm>
            <a:off x="285750" y="3143250"/>
            <a:ext cx="2286000" cy="617220"/>
          </a:xfrm>
          <a:prstGeom prst="roundRect">
            <a:avLst>
              <a:gd name="adj" fmla="val 18519"/>
            </a:avLst>
          </a:prstGeom>
          <a:solidFill>
            <a:srgbClr val="F4F9FC"/>
          </a:solidFill>
          <a:ln w="34290">
            <a:solidFill>
              <a:srgbClr val="D68C45"/>
            </a:solidFill>
          </a:ln>
        </p:spPr>
        <p:txBody>
          <a:bodyPr wrap="square" lIns="68580" tIns="68580" rIns="68580" bIns="68580" rtlCol="0" anchor="ctr"/>
          <a:lstStyle/>
          <a:p>
            <a:pPr algn="ctr" indent="0" marL="0">
              <a:lnSpc>
                <a:spcPts val="2232"/>
              </a:lnSpc>
              <a:spcBef>
                <a:spcPts val="360"/>
              </a:spcBef>
              <a:spcAft>
                <a:spcPts val="360"/>
              </a:spcAft>
              <a:buNone/>
            </a:pPr>
            <a:r>
              <a:rPr lang="en-US" sz="1404" b="1" dirty="0">
                <a:solidFill>
                  <a:srgbClr val="040F0F"/>
                </a:solidFill>
                <a:latin typeface="Dyslexie" pitchFamily="34" charset="0"/>
                <a:ea typeface="Dyslexie" pitchFamily="34" charset="-122"/>
                <a:cs typeface="Dyslexie" pitchFamily="34" charset="-120"/>
              </a:rPr>
              <a:t>Tabela Dinâmica</a:t>
            </a:r>
            <a:endParaRPr lang="en-US" sz="1404" dirty="0"/>
          </a:p>
        </p:txBody>
      </p:sp>
      <p:sp>
        <p:nvSpPr>
          <p:cNvPr id="7" name="4d1cf71b-610b-48a4-8b01-9f185cda1c14"/>
          <p:cNvSpPr/>
          <p:nvPr/>
        </p:nvSpPr>
        <p:spPr>
          <a:xfrm>
            <a:off x="285750" y="4057650"/>
            <a:ext cx="2286000" cy="617220"/>
          </a:xfrm>
          <a:prstGeom prst="roundRect">
            <a:avLst>
              <a:gd name="adj" fmla="val 18519"/>
            </a:avLst>
          </a:prstGeom>
          <a:solidFill>
            <a:srgbClr val="F4F9FC"/>
          </a:solidFill>
          <a:ln w="34290">
            <a:solidFill>
              <a:srgbClr val="4579A9"/>
            </a:solidFill>
          </a:ln>
        </p:spPr>
        <p:txBody>
          <a:bodyPr wrap="square" lIns="68580" tIns="68580" rIns="68580" bIns="68580" rtlCol="0" anchor="ctr"/>
          <a:lstStyle/>
          <a:p>
            <a:pPr algn="ctr" indent="0" marL="0">
              <a:lnSpc>
                <a:spcPts val="2232"/>
              </a:lnSpc>
              <a:spcBef>
                <a:spcPts val="360"/>
              </a:spcBef>
              <a:spcAft>
                <a:spcPts val="360"/>
              </a:spcAft>
              <a:buNone/>
            </a:pPr>
            <a:r>
              <a:rPr lang="en-US" sz="1404" b="1" dirty="0">
                <a:solidFill>
                  <a:srgbClr val="040F0F"/>
                </a:solidFill>
                <a:latin typeface="Dyslexie" pitchFamily="34" charset="0"/>
                <a:ea typeface="Dyslexie" pitchFamily="34" charset="-122"/>
                <a:cs typeface="Dyslexie" pitchFamily="34" charset="-120"/>
              </a:rPr>
              <a:t>Segmentação de Dados</a:t>
            </a:r>
            <a:endParaRPr lang="en-US" sz="1404" dirty="0"/>
          </a:p>
        </p:txBody>
      </p:sp>
      <p:sp>
        <p:nvSpPr>
          <p:cNvPr id="8" name="328e3c84-1ac7-4e99-8b0d-d71ecb86948b"/>
          <p:cNvSpPr/>
          <p:nvPr/>
        </p:nvSpPr>
        <p:spPr>
          <a:xfrm>
            <a:off x="3829050" y="131445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Resumo interativo de base bruta capaz de condensar cálculos sem criar novas fórmulas.</a:t>
            </a:r>
            <a:endParaRPr lang="en-US" sz="1264" dirty="0"/>
          </a:p>
        </p:txBody>
      </p:sp>
      <p:sp>
        <p:nvSpPr>
          <p:cNvPr id="9" name="1a33cefc-132a-4a9d-a88a-5452989735c6"/>
          <p:cNvSpPr/>
          <p:nvPr/>
        </p:nvSpPr>
        <p:spPr>
          <a:xfrm>
            <a:off x="3829050" y="222885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Visualização que sobrepõe colunas e linhas utilizando dois eixos com escalas distintas.</a:t>
            </a:r>
            <a:endParaRPr lang="en-US" sz="1264" dirty="0"/>
          </a:p>
        </p:txBody>
      </p:sp>
      <p:sp>
        <p:nvSpPr>
          <p:cNvPr id="10" name="16462f6a-6697-4d58-ad45-5ab2ba001277"/>
          <p:cNvSpPr/>
          <p:nvPr/>
        </p:nvSpPr>
        <p:spPr>
          <a:xfrm>
            <a:off x="3829050" y="314325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Recurso que reúne datas individuais em blocos de meses, trimestres ou anos.</a:t>
            </a:r>
            <a:endParaRPr lang="en-US" sz="1264" dirty="0"/>
          </a:p>
        </p:txBody>
      </p:sp>
      <p:sp>
        <p:nvSpPr>
          <p:cNvPr id="11" name="bf2631c2-082b-4b5f-802f-757e5f1daa4a"/>
          <p:cNvSpPr/>
          <p:nvPr/>
        </p:nvSpPr>
        <p:spPr>
          <a:xfrm>
            <a:off x="3829050" y="4057650"/>
            <a:ext cx="5143500" cy="667512"/>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Painel com botões clicáveis para filtrar relatórios dinâmicos de forma ágil e intuitiva.</a:t>
            </a:r>
            <a:endParaRPr lang="en-US" sz="1264" dirty="0"/>
          </a:p>
        </p:txBody>
      </p:sp>
      <p:sp>
        <p:nvSpPr>
          <p:cNvPr id="12" name="073432c2-42d6-48df-9105-98866d2ff5eb"/>
          <p:cNvSpPr/>
          <p:nvPr/>
        </p:nvSpPr>
        <p:spPr>
          <a:xfrm>
            <a:off x="8366760" y="342900"/>
            <a:ext cx="548640" cy="548640"/>
          </a:xfrm>
          <a:prstGeom prst="rect">
            <a:avLst/>
          </a:prstGeom>
          <a:noFill/>
          <a:ln/>
        </p:spPr>
        <p:txBody>
          <a:bodyPr wrap="square" lIns="45720" tIns="45720" rIns="45720" bIns="45720" rtlCol="0" anchor="ctr"/>
          <a:lstStyle/>
          <a:p>
            <a:pPr algn="r" indent="0" marL="0">
              <a:lnSpc>
                <a:spcPts val="4464"/>
              </a:lnSpc>
              <a:spcBef>
                <a:spcPts val="450"/>
              </a:spcBef>
              <a:spcAft>
                <a:spcPts val="450"/>
              </a:spcAft>
              <a:buNone/>
            </a:pPr>
            <a:r>
              <a:rPr lang="en-US" sz="2808" dirty="0">
                <a:solidFill>
                  <a:srgbClr val="E8E4DF"/>
                </a:solidFill>
                <a:latin typeface="Dyslexie" pitchFamily="34" charset="0"/>
                <a:ea typeface="Dyslexie" pitchFamily="34" charset="-122"/>
                <a:cs typeface="Dyslexie" pitchFamily="34" charset="-120"/>
              </a:rPr>
              <a:t>✅</a:t>
            </a:r>
            <a:endParaRPr lang="en-US" sz="2808" dirty="0"/>
          </a:p>
        </p:txBody>
      </p:sp>
      <p:sp>
        <p:nvSpPr>
          <p:cNvPr id="13" name="connector-0ffd5412-9ff2-4b68-98aa-ae24b08d189b-0"/>
          <p:cNvSpPr/>
          <p:nvPr/>
        </p:nvSpPr>
        <p:spPr>
          <a:xfrm>
            <a:off x="2571750" y="1623060"/>
            <a:ext cx="994410" cy="891540"/>
          </a:xfrm>
          <a:prstGeom prst="line">
            <a:avLst/>
          </a:prstGeom>
          <a:noFill/>
          <a:ln w="28575">
            <a:solidFill>
              <a:srgbClr val="409E9E"/>
            </a:solidFill>
            <a:prstDash val="solid"/>
          </a:ln>
        </p:spPr>
      </p:sp>
      <p:sp>
        <p:nvSpPr>
          <p:cNvPr id="14" name="connector-0ffd5412-9ff2-4b68-98aa-ae24b08d189b-1"/>
          <p:cNvSpPr/>
          <p:nvPr/>
        </p:nvSpPr>
        <p:spPr>
          <a:xfrm>
            <a:off x="2571750" y="2537460"/>
            <a:ext cx="994410" cy="891540"/>
          </a:xfrm>
          <a:prstGeom prst="line">
            <a:avLst/>
          </a:prstGeom>
          <a:noFill/>
          <a:ln w="28575">
            <a:solidFill>
              <a:srgbClr val="D90368"/>
            </a:solidFill>
            <a:prstDash val="solid"/>
          </a:ln>
        </p:spPr>
      </p:sp>
      <p:sp>
        <p:nvSpPr>
          <p:cNvPr id="15" name="connector-0ffd5412-9ff2-4b68-98aa-ae24b08d189b-2"/>
          <p:cNvSpPr/>
          <p:nvPr/>
        </p:nvSpPr>
        <p:spPr>
          <a:xfrm flipV="1">
            <a:off x="2571750" y="1600200"/>
            <a:ext cx="994410" cy="1851660"/>
          </a:xfrm>
          <a:prstGeom prst="line">
            <a:avLst/>
          </a:prstGeom>
          <a:noFill/>
          <a:ln w="28575">
            <a:solidFill>
              <a:srgbClr val="D68C45"/>
            </a:solidFill>
            <a:prstDash val="solid"/>
          </a:ln>
        </p:spPr>
      </p:sp>
      <p:sp>
        <p:nvSpPr>
          <p:cNvPr id="16" name="connector-0ffd5412-9ff2-4b68-98aa-ae24b08d189b-3"/>
          <p:cNvSpPr/>
          <p:nvPr/>
        </p:nvSpPr>
        <p:spPr>
          <a:xfrm flipV="1">
            <a:off x="2571750" y="4343400"/>
            <a:ext cx="994410" cy="22860"/>
          </a:xfrm>
          <a:prstGeom prst="line">
            <a:avLst/>
          </a:prstGeom>
          <a:noFill/>
          <a:ln w="28575">
            <a:solidFill>
              <a:srgbClr val="4579A9"/>
            </a:solidFill>
            <a:prstDash val="solid"/>
          </a:ln>
        </p:spPr>
      </p:sp>
      <p:sp>
        <p:nvSpPr>
          <p:cNvPr id="17" name="aac78bdc-71fc-4788-a99b-49b37656820b"/>
          <p:cNvSpPr/>
          <p:nvPr/>
        </p:nvSpPr>
        <p:spPr>
          <a:xfrm>
            <a:off x="3394710" y="2343150"/>
            <a:ext cx="342900" cy="342900"/>
          </a:xfrm>
          <a:prstGeom prst="roundRect">
            <a:avLst>
              <a:gd name="adj" fmla="val 50000"/>
            </a:avLst>
          </a:prstGeom>
          <a:solidFill>
            <a:srgbClr val="409E9E"/>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B</a:t>
            </a:r>
            <a:endParaRPr lang="en-US" sz="913" dirty="0"/>
          </a:p>
        </p:txBody>
      </p:sp>
      <p:sp>
        <p:nvSpPr>
          <p:cNvPr id="18" name="80951992-cebd-4ed5-b466-cbf908b845bd"/>
          <p:cNvSpPr/>
          <p:nvPr/>
        </p:nvSpPr>
        <p:spPr>
          <a:xfrm>
            <a:off x="3394710" y="3257550"/>
            <a:ext cx="342900" cy="342900"/>
          </a:xfrm>
          <a:prstGeom prst="roundRect">
            <a:avLst>
              <a:gd name="adj" fmla="val 50000"/>
            </a:avLst>
          </a:prstGeom>
          <a:solidFill>
            <a:srgbClr val="D90368"/>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C</a:t>
            </a:r>
            <a:endParaRPr lang="en-US" sz="913" dirty="0"/>
          </a:p>
        </p:txBody>
      </p:sp>
      <p:sp>
        <p:nvSpPr>
          <p:cNvPr id="19" name="e9ed4c7d-eaba-430b-bebf-c59bfb5eecae"/>
          <p:cNvSpPr/>
          <p:nvPr/>
        </p:nvSpPr>
        <p:spPr>
          <a:xfrm>
            <a:off x="3394710" y="1428750"/>
            <a:ext cx="342900" cy="342900"/>
          </a:xfrm>
          <a:prstGeom prst="roundRect">
            <a:avLst>
              <a:gd name="adj" fmla="val 50000"/>
            </a:avLst>
          </a:prstGeom>
          <a:solidFill>
            <a:srgbClr val="D68C45"/>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A</a:t>
            </a:r>
            <a:endParaRPr lang="en-US" sz="913" dirty="0"/>
          </a:p>
        </p:txBody>
      </p:sp>
      <p:sp>
        <p:nvSpPr>
          <p:cNvPr id="20" name="2fcec610-e923-4ac3-b636-9874fc9bf5aa"/>
          <p:cNvSpPr/>
          <p:nvPr/>
        </p:nvSpPr>
        <p:spPr>
          <a:xfrm>
            <a:off x="3394710" y="4171950"/>
            <a:ext cx="342900" cy="342900"/>
          </a:xfrm>
          <a:prstGeom prst="roundRect">
            <a:avLst>
              <a:gd name="adj" fmla="val 50000"/>
            </a:avLst>
          </a:prstGeom>
          <a:solidFill>
            <a:srgbClr val="4579A9"/>
          </a:solidFill>
          <a:ln/>
        </p:spPr>
        <p:txBody>
          <a:bodyPr wrap="square" lIns="45720" tIns="45720" rIns="45720" bIns="45720" rtlCol="0" anchor="ctr"/>
          <a:lstStyle/>
          <a:p>
            <a:pPr algn="ctr" indent="0" marL="0">
              <a:lnSpc>
                <a:spcPts val="1451"/>
              </a:lnSpc>
              <a:spcBef>
                <a:spcPts val="270"/>
              </a:spcBef>
              <a:spcAft>
                <a:spcPts val="270"/>
              </a:spcAft>
              <a:buNone/>
            </a:pPr>
            <a:r>
              <a:rPr lang="en-US" sz="913" b="1" dirty="0">
                <a:solidFill>
                  <a:srgbClr val="FFFFFF"/>
                </a:solidFill>
                <a:latin typeface="Dyslexie" pitchFamily="34" charset="0"/>
                <a:ea typeface="Dyslexie" pitchFamily="34" charset="-122"/>
                <a:cs typeface="Dyslexie" pitchFamily="34" charset="-120"/>
              </a:rPr>
              <a:t>D</a:t>
            </a:r>
            <a:endParaRPr lang="en-US" sz="913"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5e2a8930-1d4c-4f39-96b9-926ff5814d2d" descr="/home/forge/chalkie-production-workers-1/releases/77481629/backend/storage/app/render-specs/5dac6ab7-4967-4c82-be18-2b0e49610a6a/img_18bd69bac118021e2f4f58e405217b94.png">    </p:cNvPr>
          <p:cNvPicPr>
            <a:picLocks noChangeAspect="1"/>
          </p:cNvPicPr>
          <p:nvPr/>
        </p:nvPicPr>
        <p:blipFill>
          <a:blip r:embed="rId2"/>
          <a:stretch>
            <a:fillRect/>
          </a:stretch>
        </p:blipFill>
        <p:spPr>
          <a:xfrm>
            <a:off x="5657850" y="0"/>
            <a:ext cx="3486150" cy="5143500"/>
          </a:xfrm>
          <a:prstGeom prst="roundRect">
            <a:avLst>
              <a:gd name="adj" fmla="val 3934"/>
            </a:avLst>
          </a:prstGeom>
        </p:spPr>
      </p:pic>
      <p:sp>
        <p:nvSpPr>
          <p:cNvPr id="3" name="7d498614-69f9-4ab4-90ec-280e7df32df9"/>
          <p:cNvSpPr/>
          <p:nvPr/>
        </p:nvSpPr>
        <p:spPr>
          <a:xfrm>
            <a:off x="285750" y="1051560"/>
            <a:ext cx="5143500" cy="1115568"/>
          </a:xfrm>
          <a:prstGeom prst="rect">
            <a:avLst/>
          </a:prstGeom>
          <a:noFill/>
          <a:ln/>
        </p:spPr>
        <p:txBody>
          <a:bodyPr wrap="square" lIns="45720" tIns="45720" rIns="45720" bIns="45720" rtlCol="0" anchor="t"/>
          <a:lstStyle/>
          <a:p>
            <a:pPr algn="l" indent="0" marL="0">
              <a:lnSpc>
                <a:spcPts val="3571"/>
              </a:lnSpc>
              <a:spcBef>
                <a:spcPts val="450"/>
              </a:spcBef>
              <a:spcAft>
                <a:spcPts val="450"/>
              </a:spcAft>
              <a:buNone/>
            </a:pPr>
            <a:r>
              <a:rPr lang="en-US" sz="2246" b="1" dirty="0">
                <a:solidFill>
                  <a:srgbClr val="E8C85A"/>
                </a:solidFill>
                <a:latin typeface="Dyslexie" pitchFamily="34" charset="0"/>
                <a:ea typeface="Dyslexie" pitchFamily="34" charset="-122"/>
                <a:cs typeface="Dyslexie" pitchFamily="34" charset="-120"/>
              </a:rPr>
              <a:t>Rumo aos Dashboards Executivos</a:t>
            </a:r>
            <a:endParaRPr lang="en-US" sz="2246" dirty="0"/>
          </a:p>
        </p:txBody>
      </p:sp>
      <p:sp>
        <p:nvSpPr>
          <p:cNvPr id="4" name="39aee74a-5bf6-47dc-88be-03e51ee3f349"/>
          <p:cNvSpPr/>
          <p:nvPr/>
        </p:nvSpPr>
        <p:spPr>
          <a:xfrm>
            <a:off x="285750" y="2137410"/>
            <a:ext cx="5143500" cy="1819656"/>
          </a:xfrm>
          <a:prstGeom prst="rect">
            <a:avLst/>
          </a:prstGeom>
          <a:noFill/>
          <a:ln/>
        </p:spPr>
        <p:txBody>
          <a:bodyPr wrap="square" lIns="45720" tIns="45720" rIns="45720" bIns="45720" rtlCol="0" anchor="t"/>
          <a:lstStyle/>
          <a:p>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Hoje você dominou os motores analíticos mais cobiçados do mercado corporativo: a síntese precisa das Tabelas Dinâmicas e o impacto visual dos Gráficos Interativos. Na próxima aula (Aula 7), juntaremos tudo isso em um </a:t>
            </a:r>
            <a:pPr algn="l" indent="0" marL="0">
              <a:lnSpc>
                <a:spcPts val="2009"/>
              </a:lnSpc>
              <a:spcBef>
                <a:spcPts val="360"/>
              </a:spcBef>
              <a:spcAft>
                <a:spcPts val="360"/>
              </a:spcAft>
              <a:buNone/>
            </a:pPr>
            <a:r>
              <a:rPr lang="en-US" sz="1264" b="1" dirty="0">
                <a:solidFill>
                  <a:srgbClr val="E8E4DF"/>
                </a:solidFill>
                <a:latin typeface="Dyslexie" pitchFamily="34" charset="0"/>
                <a:ea typeface="Dyslexie" pitchFamily="34" charset="-122"/>
                <a:cs typeface="Dyslexie" pitchFamily="34" charset="-120"/>
              </a:rPr>
              <a:t>Dashboard Executivo Completo</a:t>
            </a:r>
            <a:pPr algn="l" indent="0" marL="0">
              <a:lnSpc>
                <a:spcPts val="2009"/>
              </a:lnSpc>
              <a:spcBef>
                <a:spcPts val="360"/>
              </a:spcBef>
              <a:spcAft>
                <a:spcPts val="360"/>
              </a:spcAft>
              <a:buNone/>
            </a:pPr>
            <a:r>
              <a:rPr lang="en-US" sz="1264" dirty="0">
                <a:solidFill>
                  <a:srgbClr val="E8E4DF"/>
                </a:solidFill>
                <a:latin typeface="Dyslexie" pitchFamily="34" charset="0"/>
                <a:ea typeface="Dyslexie" pitchFamily="34" charset="-122"/>
                <a:cs typeface="Dyslexie" pitchFamily="34" charset="-120"/>
              </a:rPr>
              <a:t> de nível profissional!</a:t>
            </a:r>
            <a:endParaRPr lang="en-US" sz="126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Avançado: Tabelas Dinâmicas e Gráficos</dc:title>
  <dc:subject>PptxGenJS Presentation</dc:subject>
  <dc:creator>PptxGenJS</dc:creator>
  <cp:lastModifiedBy>PptxGenJS</cp:lastModifiedBy>
  <cp:revision>1</cp:revision>
  <dcterms:created xsi:type="dcterms:W3CDTF">2026-09-11T11:20:08Z</dcterms:created>
  <dcterms:modified xsi:type="dcterms:W3CDTF">2026-09-11T11:20:08Z</dcterms:modified>
</cp:coreProperties>
</file>