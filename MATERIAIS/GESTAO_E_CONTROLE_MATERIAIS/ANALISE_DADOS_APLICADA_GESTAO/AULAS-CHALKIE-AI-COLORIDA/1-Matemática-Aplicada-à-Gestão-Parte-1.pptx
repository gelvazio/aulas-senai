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embeddedFontLst>
    <p:embeddedFont>
      <p:font typeface="Dyslexie" panose="020B0604020202020204" charset="0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41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5Er-1f3LI9s?feature=oembed" TargetMode="External"/><Relationship Id="rId6" Type="http://schemas.openxmlformats.org/officeDocument/2006/relationships/image" Target="../media/image32.jpg"/><Relationship Id="rId5" Type="http://schemas.openxmlformats.org/officeDocument/2006/relationships/hyperlink" Target="https://www.youtube.com/watch?v=5Er-1f3LI9s" TargetMode="Externa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fc3845e-c464-4c22-a1d0-ef0712f5e1ab" descr="/home/forge/chalkie-production-workers-1/releases/77481629/backend/storage/app/render-specs/3c0c6458-ad69-4755-a770-457f81065846/img_b13b87a5673179bacfcf1a23cc0c7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5cd5854a-1cf3-445d-921b-0f2f037203d7"/>
          <p:cNvSpPr/>
          <p:nvPr/>
        </p:nvSpPr>
        <p:spPr>
          <a:xfrm>
            <a:off x="4914900" y="125730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Matemática Aplicada à Gestão: Parte 1</a:t>
            </a:r>
            <a:endParaRPr lang="en-US" sz="2527" dirty="0"/>
          </a:p>
        </p:txBody>
      </p:sp>
      <p:sp>
        <p:nvSpPr>
          <p:cNvPr id="4" name="fca6d076-ad0f-44e6-9679-07c4fade65a9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Fundamentos numéricos, proporções e tomada de decisão corporativa.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2eba3a0-a3e3-4a95-8c40-ecf4502ebff9" descr="/home/forge/chalkie-production-workers-1/releases/77481629/backend/storage/app/render-specs/3c0c6458-ad69-4755-a770-457f81065846/img_7ae68b0b1092684c7f755c451821e3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57589a4-e651-419d-986c-b99296e298a8"/>
          <p:cNvSpPr/>
          <p:nvPr/>
        </p:nvSpPr>
        <p:spPr>
          <a:xfrm>
            <a:off x="285750" y="130302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Erro de Cálculo Milionário?</a:t>
            </a:r>
            <a:endParaRPr lang="en-US" sz="2246" dirty="0"/>
          </a:p>
        </p:txBody>
      </p:sp>
      <p:sp>
        <p:nvSpPr>
          <p:cNvPr id="4" name="6dcc05a7-7a31-4af3-b29a-a7c0c254afa3"/>
          <p:cNvSpPr/>
          <p:nvPr/>
        </p:nvSpPr>
        <p:spPr>
          <a:xfrm>
            <a:off x="285750" y="238887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fábrica erra a proporção de insumos em apenas 2%, milhares de produtos podem ser perdidos. Como a matemática garante a sobrevivência de um negócio real?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7bc7cd0-d2e1-4156-8cdd-788f406c3a3e" descr="/home/forge/chalkie-production-workers-1/releases/77481629/backend/storage/app/render-specs/3c0c6458-ad69-4755-a770-457f81065846/img_15ac5e2e2196dbcef0fe8e74a277d8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545b309-3ac7-47f5-a57b-e9313f7edf4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Nossa Aula</a:t>
            </a:r>
            <a:endParaRPr lang="en-US" sz="2246" dirty="0"/>
          </a:p>
        </p:txBody>
      </p:sp>
      <p:sp>
        <p:nvSpPr>
          <p:cNvPr id="4" name="1a60d30c-b38a-4415-acd6-2532587a742b"/>
          <p:cNvSpPr/>
          <p:nvPr/>
        </p:nvSpPr>
        <p:spPr>
          <a:xfrm>
            <a:off x="285750" y="868680"/>
            <a:ext cx="21031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CONCEITOS GERAIS</a:t>
            </a:r>
            <a:endParaRPr lang="en-US" sz="842" dirty="0"/>
          </a:p>
        </p:txBody>
      </p:sp>
      <p:sp>
        <p:nvSpPr>
          <p:cNvPr id="5" name="8cdce591-c0ee-417e-a73c-f2376d498b55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aula inaugural, você desenvolverá competências matemáticas essenciais para o mercado corporativo: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conjuntos numéricos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em fluxos de caixa, inventários e medições.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razões e proporções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comparar métricas de produtividade e custos.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Dominar regras de três simples e compostas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otimizar estoques e equipes.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65177eb-4f8d-4cbb-b67c-48e267d6e0ef" descr="/home/forge/chalkie-production-workers-1/releases/77481629/backend/storage/app/render-specs/3c0c6458-ad69-4755-a770-457f81065846/img_59e3965c2e2be2b272b4f01d4aac28e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6d0e2599-d1e5-4caf-baff-bc089ec7a173" descr="/home/forge/chalkie-production-workers-1/releases/77481629/backend/storage/app/render-specs/3c0c6458-ad69-4755-a770-457f81065846/img_3bfa63fc47e6cf878236d8c5fb7cbbf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d1fb9fbb-4101-4c76-b801-3c8c74d623ea" descr="/home/forge/chalkie-production-workers-1/releases/77481629/backend/storage/app/render-specs/3c0c6458-ad69-4755-a770-457f81065846/img_736b433a534a3b14117ff2e503d913b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8f029798-0d90-455f-ac10-641740af273a" descr="/home/forge/chalkie-production-workers-1/releases/77481629/backend/storage/app/render-specs/3c0c6458-ad69-4755-a770-457f81065846/img_19bd3573c16ec752e8e4fa1bb0963cb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f14d4781-d711-4a6c-bc6c-95042b024f0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da Gestão</a:t>
            </a:r>
            <a:endParaRPr lang="en-US" sz="2246" dirty="0"/>
          </a:p>
        </p:txBody>
      </p:sp>
      <p:sp>
        <p:nvSpPr>
          <p:cNvPr id="7" name="dfc3c2bb-16af-4e5f-9df0-881cc49f89e1"/>
          <p:cNvSpPr/>
          <p:nvPr/>
        </p:nvSpPr>
        <p:spPr>
          <a:xfrm>
            <a:off x="285750" y="34290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Insumo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Material necessário para produzir bens ou serviços.</a:t>
            </a:r>
            <a:endParaRPr lang="en-US" sz="1544" dirty="0"/>
          </a:p>
        </p:txBody>
      </p:sp>
      <p:sp>
        <p:nvSpPr>
          <p:cNvPr id="8" name="ca15e9c5-39e3-4257-bc10-8465c2402baa"/>
          <p:cNvSpPr/>
          <p:nvPr/>
        </p:nvSpPr>
        <p:spPr>
          <a:xfrm>
            <a:off x="2491740" y="27432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Estoque Mínimo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Quantidade limite antes de faltar produto.</a:t>
            </a:r>
            <a:endParaRPr lang="en-US" sz="1544" dirty="0"/>
          </a:p>
        </p:txBody>
      </p:sp>
      <p:sp>
        <p:nvSpPr>
          <p:cNvPr id="9" name="27e96089-b9b2-4afe-98c6-266b5e25c3cd"/>
          <p:cNvSpPr/>
          <p:nvPr/>
        </p:nvSpPr>
        <p:spPr>
          <a:xfrm>
            <a:off x="4686300" y="34290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Eficiência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Capacidade de produzir mais gastando menos recursos.</a:t>
            </a:r>
            <a:endParaRPr lang="en-US" sz="1544" dirty="0"/>
          </a:p>
        </p:txBody>
      </p:sp>
      <p:sp>
        <p:nvSpPr>
          <p:cNvPr id="10" name="881e55a1-7c83-400a-b22b-1ea48579d9cf"/>
          <p:cNvSpPr/>
          <p:nvPr/>
        </p:nvSpPr>
        <p:spPr>
          <a:xfrm>
            <a:off x="6892290" y="27432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Comparação direta entre duas grandezas corporativas.</a:t>
            </a:r>
            <a:endParaRPr lang="en-US" sz="15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aedf49c-85bd-45fe-ba67-19bbc68caba9" descr="/home/forge/chalkie-production-workers-1/releases/77481629/backend/storage/app/render-specs/3c0c6458-ad69-4755-a770-457f81065846/img_5c6d7e84a44fd992e71727d0b1f94d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aeced29-a049-469a-997b-4c3389d3c5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Conjuntos Numéricos no Negócio</a:t>
            </a:r>
            <a:endParaRPr lang="en-US" sz="2246" dirty="0"/>
          </a:p>
        </p:txBody>
      </p:sp>
      <p:sp>
        <p:nvSpPr>
          <p:cNvPr id="4" name="fffa4d57-4cba-4eef-b4c4-10b83b0a71c5"/>
          <p:cNvSpPr/>
          <p:nvPr/>
        </p:nvSpPr>
        <p:spPr>
          <a:xfrm>
            <a:off x="285750" y="868680"/>
            <a:ext cx="21031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CONCEITOS GERAIS</a:t>
            </a:r>
            <a:endParaRPr lang="en-US" sz="842" dirty="0"/>
          </a:p>
        </p:txBody>
      </p:sp>
      <p:sp>
        <p:nvSpPr>
          <p:cNvPr id="5" name="ff4bad84-dbd6-4ba3-b12a-c9337204d206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informação contábil ou operacional pertence a um conjunto matemático específico. Saber diferenciar esses números impede erros grotescos de arredondamento em sistemas informatizados.</a:t>
            </a:r>
            <a:endParaRPr lang="en-US" sz="1264" dirty="0"/>
          </a:p>
        </p:txBody>
      </p:sp>
      <p:sp>
        <p:nvSpPr>
          <p:cNvPr id="6" name="08d9a378-494f-4fbd-b6a7-161ea041b5cf_card"/>
          <p:cNvSpPr/>
          <p:nvPr/>
        </p:nvSpPr>
        <p:spPr>
          <a:xfrm>
            <a:off x="285750" y="275463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08d9a378-494f-4fbd-b6a7-161ea041b5cf_emoji"/>
          <p:cNvSpPr/>
          <p:nvPr/>
        </p:nvSpPr>
        <p:spPr>
          <a:xfrm>
            <a:off x="400050" y="29032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8d9a378-494f-4fbd-b6a7-161ea041b5cf_text"/>
          <p:cNvSpPr/>
          <p:nvPr/>
        </p:nvSpPr>
        <p:spPr>
          <a:xfrm>
            <a:off x="765810" y="286893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Nem toda variável pode ser dividida: não vendemos meio caminhão ou um terço de funcionário!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68b35fc-6159-4dd3-a063-e3542af62719" descr="/home/forge/chalkie-production-workers-1/releases/77481629/backend/storage/app/render-specs/3c0c6458-ad69-4755-a770-457f81065846/img_b7009e48f52c0f04564d6418648a4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d40317e9-229c-40d0-bba8-0aff97ff2372" descr="/home/forge/chalkie-production-workers-1/releases/77481629/backend/storage/app/render-specs/3c0c6458-ad69-4755-a770-457f81065846/img_87ffd756b42c7d59693e0a3559ea94c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e54cbe48-4337-4d70-a7b6-61d8de994bc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Naturais e Inteiros na Empresa</a:t>
            </a:r>
            <a:endParaRPr lang="en-US" sz="2246" dirty="0"/>
          </a:p>
        </p:txBody>
      </p:sp>
      <p:sp>
        <p:nvSpPr>
          <p:cNvPr id="5" name="5e1b22d5-5c8f-41f8-a425-01d6568853a4"/>
          <p:cNvSpPr/>
          <p:nvPr/>
        </p:nvSpPr>
        <p:spPr>
          <a:xfrm>
            <a:off x="28575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Naturais (N)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Contagem de unidades indivisíveis: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Clientes atendidos.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Caixas em estoque.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Veículos na frota.</a:t>
            </a:r>
            <a:endParaRPr lang="en-US" sz="1544" dirty="0"/>
          </a:p>
        </p:txBody>
      </p:sp>
      <p:sp>
        <p:nvSpPr>
          <p:cNvPr id="6" name="366cc49f-854a-4fef-95a4-9c754fb283bf"/>
          <p:cNvSpPr/>
          <p:nvPr/>
        </p:nvSpPr>
        <p:spPr>
          <a:xfrm>
            <a:off x="465201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Inteiros (Z)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negativos em finanças: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Saldo bancário (débito/crédito).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Lucro ou prejuízo contábil.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Variação em câmaras frias.</a:t>
            </a:r>
            <a:endParaRPr lang="en-US" sz="15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0fc17ce-7691-44ec-93c3-30cc5a1542ea" descr="/home/forge/chalkie-production-workers-1/releases/77481629/backend/storage/app/render-specs/3c0c6458-ad69-4755-a770-457f81065846/img_07e15f4a23ef87d09e715f8f5a56d9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d4218a4c-1c81-4f4c-b4e2-57bf60927eb9" descr="/home/forge/chalkie-production-workers-1/releases/77481629/backend/storage/app/render-specs/3c0c6458-ad69-4755-a770-457f81065846/img_f20a0dc16a76cd97f193f69735e8b3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94d21548-f42c-4572-950d-31d016ad39f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Racionais e Reais na Produção</a:t>
            </a:r>
            <a:endParaRPr lang="en-US" sz="2246" dirty="0"/>
          </a:p>
        </p:txBody>
      </p:sp>
      <p:sp>
        <p:nvSpPr>
          <p:cNvPr id="5" name="3b9091df-0afe-4337-80a6-4a163a11cbe8"/>
          <p:cNvSpPr/>
          <p:nvPr/>
        </p:nvSpPr>
        <p:spPr>
          <a:xfrm>
            <a:off x="28575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Racionais (Q)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Fração, decimal ou dízima: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Preços (ex: R$ 4,75).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Descontos e taxas.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Peso de insumos.</a:t>
            </a:r>
            <a:endParaRPr lang="en-US" sz="1544" dirty="0"/>
          </a:p>
        </p:txBody>
      </p:sp>
      <p:sp>
        <p:nvSpPr>
          <p:cNvPr id="6" name="e4a72062-e692-4516-8bcd-0344e36efceb"/>
          <p:cNvSpPr/>
          <p:nvPr/>
        </p:nvSpPr>
        <p:spPr>
          <a:xfrm>
            <a:off x="465201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Reais (R)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Inclui irracionais para engenharia: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Pi (π) em volume de tanques.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depreciação contínua.</a:t>
            </a:r>
            <a:endParaRPr lang="en-US" sz="15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dd9ecf8-2301-4ed4-b248-aab0ed8190a5" descr="/home/forge/chalkie-production-workers-1/releases/77481629/backend/storage/app/render-specs/3c0c6458-ad69-4755-a770-457f81065846/img_85b514a7f757b505a847dec9ef22061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0e479cd-68bb-4083-901a-55689db82ac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Classificação de Dados Gerenciais</a:t>
            </a:r>
            <a:endParaRPr lang="en-US" sz="2246" dirty="0"/>
          </a:p>
        </p:txBody>
      </p:sp>
      <p:sp>
        <p:nvSpPr>
          <p:cNvPr id="4" name="ffe06d38-b382-4225-b136-65cbed76c466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Perigo da Incompatibilidade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Configurar tipos de dados incorretos em planilhas causa falhas: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Itens: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Números inteiros.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Custos/Taxas: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Decimais (2 a 4 casas).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Perdas: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Medidas contínuas (g/litros).</a:t>
            </a:r>
            <a:endParaRPr lang="en-US" sz="1544" dirty="0"/>
          </a:p>
        </p:txBody>
      </p:sp>
      <p:sp>
        <p:nvSpPr>
          <p:cNvPr id="5" name="8e4b673f-faaa-4bd1-bcee-0926264e0612_card"/>
          <p:cNvSpPr/>
          <p:nvPr/>
        </p:nvSpPr>
        <p:spPr>
          <a:xfrm>
            <a:off x="4286250" y="29946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8e4b673f-faaa-4bd1-bcee-0926264e0612_emoji"/>
          <p:cNvSpPr/>
          <p:nvPr/>
        </p:nvSpPr>
        <p:spPr>
          <a:xfrm>
            <a:off x="4400550" y="31432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8e4b673f-faaa-4bd1-bcee-0926264e0612_text"/>
          <p:cNvSpPr/>
          <p:nvPr/>
        </p:nvSpPr>
        <p:spPr>
          <a:xfrm>
            <a:off x="4766310" y="31089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Dividir 10 caixas por 3 lojas gera dízimas. Lojas recebem apenas itens inteiros, nunca frações.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9ca9b3-16bb-4793-94d8-ed08cb0f780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Desafio: Identificando Conjuntos</a:t>
            </a:r>
            <a:endParaRPr lang="en-US" sz="2246" dirty="0"/>
          </a:p>
        </p:txBody>
      </p:sp>
      <p:sp>
        <p:nvSpPr>
          <p:cNvPr id="3" name="c4b56d0b-650f-4b46-8b03-6a14e29f77a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gestor de logística analisa três variáveis: número de funcionários, saldo bancário e peso do frete. A quais conjuntos pertencem essas grandezas?</a:t>
            </a:r>
            <a:endParaRPr lang="en-US" sz="1264" dirty="0"/>
          </a:p>
        </p:txBody>
      </p:sp>
      <p:sp>
        <p:nvSpPr>
          <p:cNvPr id="4" name="fe7281b0-f6ab-41db-901d-2517a8877f9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feb03f2-d94b-4d39-bd28-1a66d60dee4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Reais, Naturais e Inteiros</a:t>
            </a:r>
            <a:endParaRPr lang="en-US" sz="1264" dirty="0"/>
          </a:p>
        </p:txBody>
      </p:sp>
      <p:sp>
        <p:nvSpPr>
          <p:cNvPr id="6" name="9c8e4e10-c084-4e4d-8734-9d0a517eb96d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d87b351-9702-46ba-a840-71d4c67a395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Inteiros, Racionais e Naturais</a:t>
            </a:r>
            <a:endParaRPr lang="en-US" sz="1264" dirty="0"/>
          </a:p>
        </p:txBody>
      </p:sp>
      <p:sp>
        <p:nvSpPr>
          <p:cNvPr id="8" name="838c26e7-7cb7-4b3a-b1f8-39a7199910c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8eaece5-f4e8-49b3-9b2c-d626cfc8649b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Naturais, Inteiros e Racionais</a:t>
            </a:r>
            <a:endParaRPr lang="en-US" sz="1264" dirty="0"/>
          </a:p>
        </p:txBody>
      </p:sp>
      <p:sp>
        <p:nvSpPr>
          <p:cNvPr id="10" name="ef5f80a1-58cc-46c8-aef7-44f6fd93b8f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3fffa9fc-9dc5-420c-9a24-5b1dc28d7fc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Racionais, Naturais e Inteiros</a:t>
            </a:r>
            <a:endParaRPr lang="en-US" sz="126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9ca9b3-16bb-4793-94d8-ed08cb0f780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Desafio: Identificando Conjuntos</a:t>
            </a:r>
            <a:endParaRPr lang="en-US" sz="2246" dirty="0"/>
          </a:p>
        </p:txBody>
      </p:sp>
      <p:sp>
        <p:nvSpPr>
          <p:cNvPr id="3" name="c4b56d0b-650f-4b46-8b03-6a14e29f77a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gestor de logística analisa três variáveis: número de funcionários, saldo bancário e peso do frete. A quais conjuntos pertencem essas grandezas?</a:t>
            </a:r>
            <a:endParaRPr lang="en-US" sz="1264" dirty="0"/>
          </a:p>
        </p:txBody>
      </p:sp>
      <p:sp>
        <p:nvSpPr>
          <p:cNvPr id="4" name="fe7281b0-f6ab-41db-901d-2517a8877f9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feb03f2-d94b-4d39-bd28-1a66d60dee4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Reais, Naturais e Inteiros</a:t>
            </a:r>
            <a:endParaRPr lang="en-US" sz="1264" dirty="0"/>
          </a:p>
        </p:txBody>
      </p:sp>
      <p:sp>
        <p:nvSpPr>
          <p:cNvPr id="6" name="9c8e4e10-c084-4e4d-8734-9d0a517eb96d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6d87b351-9702-46ba-a840-71d4c67a395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Inteiros, Racionais e Naturais</a:t>
            </a:r>
            <a:endParaRPr lang="en-US" sz="1264" dirty="0"/>
          </a:p>
        </p:txBody>
      </p:sp>
      <p:sp>
        <p:nvSpPr>
          <p:cNvPr id="8" name="838c26e7-7cb7-4b3a-b1f8-39a7199910c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08eaece5-f4e8-49b3-9b2c-d626cfc8649b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Naturais, Inteiros e Racionais</a:t>
            </a:r>
            <a:endParaRPr lang="en-US" sz="1264" dirty="0"/>
          </a:p>
        </p:txBody>
      </p:sp>
      <p:sp>
        <p:nvSpPr>
          <p:cNvPr id="10" name="ef5f80a1-58cc-46c8-aef7-44f6fd93b8f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3fffa9fc-9dc5-420c-9a24-5b1dc28d7fc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Racionais, Naturais e Inteiros</a:t>
            </a:r>
            <a:endParaRPr lang="en-US" sz="1264" dirty="0"/>
          </a:p>
        </p:txBody>
      </p:sp>
      <p:sp>
        <p:nvSpPr>
          <p:cNvPr id="12" name="38af7c04-8903-4dbf-ae11-d96d183998b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fd061b75-bd67-414e-b8ab-ae83e6c6b223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fdc408c-2750-4545-84ca-11d606844f4d" descr="/home/forge/chalkie-production-workers-1/releases/77481629/backend/storage/app/render-specs/3c0c6458-ad69-4755-a770-457f81065846/img_024b9b959fd38233fc31081261974b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bcc15443-b902-40b5-ab76-f256c863178b"/>
          <p:cNvSpPr/>
          <p:nvPr/>
        </p:nvSpPr>
        <p:spPr>
          <a:xfrm>
            <a:off x="285750" y="22174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Básicas na Empresa</a:t>
            </a:r>
            <a:endParaRPr lang="en-US" sz="2246" dirty="0"/>
          </a:p>
        </p:txBody>
      </p:sp>
      <p:sp>
        <p:nvSpPr>
          <p:cNvPr id="4" name="151415b2-d8d4-4c9d-b517-3975a65e4ff0"/>
          <p:cNvSpPr/>
          <p:nvPr/>
        </p:nvSpPr>
        <p:spPr>
          <a:xfrm>
            <a:off x="285750" y="291465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PRÁTICAS</a:t>
            </a:r>
            <a:endParaRPr lang="en-US" sz="842" dirty="0"/>
          </a:p>
        </p:txBody>
      </p:sp>
      <p:sp>
        <p:nvSpPr>
          <p:cNvPr id="5" name="dfd4e576-2c2a-4295-b54d-e0e13230ab53"/>
          <p:cNvSpPr/>
          <p:nvPr/>
        </p:nvSpPr>
        <p:spPr>
          <a:xfrm>
            <a:off x="285750" y="322326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Adição, subtração, multiplicação e divisão formam a base do controle operacional. Na gestão, elas são combinadas para calcular receita bruta, ponto de equilíbrio, margem de contribuição e giro de estoques. A precisão nessas quatro operações determina a saúde financeira do negócio.</a:t>
            </a:r>
            <a:endParaRPr lang="en-US" sz="126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018ffb-bfe6-422c-8bd3-62cc7d1f47d4" descr="/home/forge/chalkie-production-workers-1/releases/77481629/backend/storage/app/render-specs/3c0c6458-ad69-4755-a770-457f81065846/img_edbe13e86140001e83f78ae1b5fa3d8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4163c97-d3fc-4bc6-9499-e8369762b0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de Custo Unitário</a:t>
            </a:r>
            <a:endParaRPr lang="en-US" sz="2246" dirty="0"/>
          </a:p>
        </p:txBody>
      </p:sp>
      <p:sp>
        <p:nvSpPr>
          <p:cNvPr id="4" name="92de0747-376e-449d-b1d3-fb702ecf3870"/>
          <p:cNvSpPr/>
          <p:nvPr/>
        </p:nvSpPr>
        <p:spPr>
          <a:xfrm>
            <a:off x="285750" y="86868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PRÁTICAS</a:t>
            </a:r>
            <a:endParaRPr lang="en-US" sz="842" dirty="0"/>
          </a:p>
        </p:txBody>
      </p:sp>
      <p:sp>
        <p:nvSpPr>
          <p:cNvPr id="5" name="7b6f9a6c-3be2-47f5-9095-7843a1a559ef"/>
          <p:cNvSpPr/>
          <p:nvPr/>
        </p:nvSpPr>
        <p:spPr>
          <a:xfrm>
            <a:off x="285750" y="117729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de Custos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unitário = (Fixos + Variáveis) / Produção: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Fixos: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Aluguel, salários, seguros (R$ 12k).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Variáveis: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Matéria-prima, energia (R$ 8k).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Produção: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4.000 peças/mês.</a:t>
            </a:r>
            <a:endParaRPr lang="en-US" sz="1544" dirty="0"/>
          </a:p>
        </p:txBody>
      </p:sp>
      <p:sp>
        <p:nvSpPr>
          <p:cNvPr id="6" name="30cec275-28e4-4edc-bea2-f59cdecfcabc_card"/>
          <p:cNvSpPr/>
          <p:nvPr/>
        </p:nvSpPr>
        <p:spPr>
          <a:xfrm>
            <a:off x="285750" y="363474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30cec275-28e4-4edc-bea2-f59cdecfcabc_emoji"/>
          <p:cNvSpPr/>
          <p:nvPr/>
        </p:nvSpPr>
        <p:spPr>
          <a:xfrm>
            <a:off x="4000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30cec275-28e4-4edc-bea2-f59cdecfcabc_text"/>
          <p:cNvSpPr/>
          <p:nvPr/>
        </p:nvSpPr>
        <p:spPr>
          <a:xfrm>
            <a:off x="765810" y="374904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Unitário = (12k + 8k) / 4k = R$ 5,00/peça.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81960d5-2c95-464c-a5c9-bea5bd4a9536" descr="/home/forge/chalkie-production-workers-1/releases/77481629/backend/storage/app/render-specs/3c0c6458-ad69-4755-a770-457f81065846/img_e8c4bbcb9ff6114788ddaa457b8524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0591c44e-8ac9-4623-877e-b945a5127ae1"/>
          <p:cNvSpPr/>
          <p:nvPr/>
        </p:nvSpPr>
        <p:spPr>
          <a:xfrm>
            <a:off x="3714750" y="1828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Equilíbrio Operacional</a:t>
            </a:r>
            <a:endParaRPr lang="en-US" sz="2246" dirty="0"/>
          </a:p>
        </p:txBody>
      </p:sp>
      <p:sp>
        <p:nvSpPr>
          <p:cNvPr id="4" name="bc4e5097-cf50-4296-8eba-136a77f137d9"/>
          <p:cNvSpPr/>
          <p:nvPr/>
        </p:nvSpPr>
        <p:spPr>
          <a:xfrm>
            <a:off x="3714750" y="811530"/>
            <a:ext cx="51435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Entendendo a Margem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produto custa R$ 5,00 e é vendido por R$ 8,00, a margem unitária é: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Preço de Venda: R$ 8,00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Variável: R$ 2,00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Margem Bruta: R$ 6,00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Essa margem cobre custos fixos e gera lucro operacional.</a:t>
            </a:r>
            <a:endParaRPr lang="en-US" sz="1544" dirty="0"/>
          </a:p>
        </p:txBody>
      </p:sp>
      <p:sp>
        <p:nvSpPr>
          <p:cNvPr id="5" name="bad22b80-624f-4c46-9882-75bb499c4eab_card"/>
          <p:cNvSpPr/>
          <p:nvPr/>
        </p:nvSpPr>
        <p:spPr>
          <a:xfrm>
            <a:off x="3714750" y="358902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bad22b80-624f-4c46-9882-75bb499c4eab_emoji"/>
          <p:cNvSpPr/>
          <p:nvPr/>
        </p:nvSpPr>
        <p:spPr>
          <a:xfrm>
            <a:off x="3829050" y="37376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bad22b80-624f-4c46-9882-75bb499c4eab_text"/>
          <p:cNvSpPr/>
          <p:nvPr/>
        </p:nvSpPr>
        <p:spPr>
          <a:xfrm>
            <a:off x="4194810" y="370332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margem positiva, vender mais aumenta o prejuízo.</a:t>
            </a:r>
            <a:endParaRPr lang="en-US" sz="112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453d45-3e42-43df-9dd7-08308038b9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o Custo Unitário</a:t>
            </a:r>
            <a:endParaRPr lang="en-US" sz="2246" dirty="0"/>
          </a:p>
        </p:txBody>
      </p:sp>
      <p:sp>
        <p:nvSpPr>
          <p:cNvPr id="3" name="29c9e707-e4fb-4b35-be0c-b5810250da42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29c9e707-e4fb-4b35-be0c-b5810250da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empresa dobrar a sua quantidade produzida mantendo os mesmos custos fixos, o custo fixo unitário por produto cairá pela metade.</a:t>
            </a:r>
            <a:endParaRPr lang="en-US" sz="1264" dirty="0"/>
          </a:p>
        </p:txBody>
      </p:sp>
      <p:sp>
        <p:nvSpPr>
          <p:cNvPr id="5" name="8c8e2368-287f-494f-88d1-50b1ce6add55"/>
          <p:cNvSpPr/>
          <p:nvPr/>
        </p:nvSpPr>
        <p:spPr>
          <a:xfrm>
            <a:off x="2314363" y="2628900"/>
            <a:ext cx="2393103" cy="8661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75d6d7b-32d3-4046-8aa8-388aa6dddf6c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aa911b3d-712f-4d6e-9eff-cb9c4001fa96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453d45-3e42-43df-9dd7-08308038b9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o Custo Unitário</a:t>
            </a:r>
            <a:endParaRPr lang="en-US" sz="2246" dirty="0"/>
          </a:p>
        </p:txBody>
      </p:sp>
      <p:sp>
        <p:nvSpPr>
          <p:cNvPr id="3" name="29c9e707-e4fb-4b35-be0c-b5810250da42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29c9e707-e4fb-4b35-be0c-b5810250da4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empresa dobrar a sua quantidade produzida mantendo os mesmos custos fixos, o custo fixo unitário por produto cairá pela metade.</a:t>
            </a:r>
            <a:endParaRPr lang="en-US" sz="1264" dirty="0"/>
          </a:p>
        </p:txBody>
      </p:sp>
      <p:sp>
        <p:nvSpPr>
          <p:cNvPr id="5" name="8c8e2368-287f-494f-88d1-50b1ce6add55"/>
          <p:cNvSpPr/>
          <p:nvPr/>
        </p:nvSpPr>
        <p:spPr>
          <a:xfrm>
            <a:off x="1713653" y="2628900"/>
            <a:ext cx="2572597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75d6d7b-32d3-4046-8aa8-388aa6dddf6c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89ffd4c5-e587-4242-ad51-0d297263dbc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e309dba4-15fc-448a-86bb-0fa04276308d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309dba4-15fc-448a-86bb-0fa04276308d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e309dba4-15fc-448a-86bb-0fa04276308d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valor fixo total é diluído por um número duas vezes maior de unidades produzidas.</a:t>
            </a:r>
            <a:endParaRPr lang="en-US" sz="1123" dirty="0"/>
          </a:p>
        </p:txBody>
      </p:sp>
      <p:sp>
        <p:nvSpPr>
          <p:cNvPr id="11" name="8188c97e-dcae-49e1-9fb2-c1c65d2c8a16"/>
          <p:cNvSpPr/>
          <p:nvPr/>
        </p:nvSpPr>
        <p:spPr>
          <a:xfrm>
            <a:off x="4149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f8d54a0-fd31-4ff2-8456-749bd4ca0cf2" descr="/home/forge/chalkie-production-workers-1/releases/77481629/backend/storage/app/render-specs/3c0c6458-ad69-4755-a770-457f81065846/img_8ea1a847d748556257c1e41480358a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29743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167ab729-0eb2-45e2-bdbf-c138913a50b8" descr="/home/forge/chalkie-production-workers-1/releases/77481629/backend/storage/app/render-specs/3c0c6458-ad69-4755-a770-457f81065846/img_09bd0fe3b3e1d56486938057e015df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172593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b9d9b19f-bbde-4c23-95fd-8777ea5af8a7" descr="/home/forge/chalkie-production-workers-1/releases/77481629/backend/storage/app/render-specs/3c0c6458-ad69-4755-a770-457f81065846/img_fec754d74febee36b48e7267eee7ec2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2297430"/>
            <a:ext cx="270891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5291351c-dcb4-4cff-b785-52043f6231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Conceito de Razão</a:t>
            </a:r>
            <a:endParaRPr lang="en-US" sz="2246" dirty="0"/>
          </a:p>
        </p:txBody>
      </p:sp>
      <p:sp>
        <p:nvSpPr>
          <p:cNvPr id="6" name="02c0bee3-2171-4f7f-b8a8-a67bddb27520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quociente a/b (b≠0). Na gestão, mede produtividade, liquidez e eficiência.</a:t>
            </a:r>
            <a:endParaRPr lang="en-US" sz="1264" dirty="0"/>
          </a:p>
        </p:txBody>
      </p:sp>
      <p:sp>
        <p:nvSpPr>
          <p:cNvPr id="7" name="6b6ff394-c512-43af-b001-cf455267a765"/>
          <p:cNvSpPr/>
          <p:nvPr/>
        </p:nvSpPr>
        <p:spPr>
          <a:xfrm>
            <a:off x="285750" y="4126230"/>
            <a:ext cx="270891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Peças por Hora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Razão entre produção total e tempo.</a:t>
            </a:r>
            <a:endParaRPr lang="en-US" sz="1264" dirty="0"/>
          </a:p>
        </p:txBody>
      </p:sp>
      <p:sp>
        <p:nvSpPr>
          <p:cNvPr id="8" name="d8befe5b-4581-49f7-90f8-a2ca34c4b1f1"/>
          <p:cNvSpPr/>
          <p:nvPr/>
        </p:nvSpPr>
        <p:spPr>
          <a:xfrm>
            <a:off x="3223260" y="3554730"/>
            <a:ext cx="270891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por Atendimento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Razão entre despesas e clientes.</a:t>
            </a:r>
            <a:endParaRPr lang="en-US" sz="1264" dirty="0"/>
          </a:p>
        </p:txBody>
      </p:sp>
      <p:sp>
        <p:nvSpPr>
          <p:cNvPr id="9" name="fc549a23-8b59-40bb-ae92-aac7511476b3"/>
          <p:cNvSpPr/>
          <p:nvPr/>
        </p:nvSpPr>
        <p:spPr>
          <a:xfrm>
            <a:off x="6149340" y="4126230"/>
            <a:ext cx="270891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Rotatividade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Razão entre saídas e estoque médio.</a:t>
            </a:r>
            <a:endParaRPr lang="en-US" sz="126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31337f7-433b-4ea7-afd5-7b27cf51cedb" descr="/home/forge/chalkie-production-workers-1/releases/77481629/backend/storage/app/render-specs/3c0c6458-ad69-4755-a770-457f81065846/img_39c4a6f0d25ca9fae2537d9fad0a4d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871adfa-b2c2-4d7f-b4aa-de8c4e1e28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Proporção: Igualdade de Razões</a:t>
            </a:r>
            <a:endParaRPr lang="en-US" sz="2246" dirty="0"/>
          </a:p>
        </p:txBody>
      </p:sp>
      <p:sp>
        <p:nvSpPr>
          <p:cNvPr id="4" name="1f6df754-8046-41d6-8055-b3db18bb1834"/>
          <p:cNvSpPr/>
          <p:nvPr/>
        </p:nvSpPr>
        <p:spPr>
          <a:xfrm>
            <a:off x="285750" y="80010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a igualdade matemática entre duas ou mais razões: a/b = c/d. A propriedade fundamental garante que o produto dos extremos é igual ao produto dos meios: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× d = b × c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máquina produz 150 peças em 2 horas, esperamos que ela produza 300 peças em 4 horas sob as mesmas condições.</a:t>
            </a:r>
            <a:endParaRPr lang="en-US" sz="1264" dirty="0"/>
          </a:p>
        </p:txBody>
      </p:sp>
      <p:sp>
        <p:nvSpPr>
          <p:cNvPr id="5" name="5f752ee9-f42f-436b-adcf-f979afb059f3_card"/>
          <p:cNvSpPr/>
          <p:nvPr/>
        </p:nvSpPr>
        <p:spPr>
          <a:xfrm>
            <a:off x="285750" y="35318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5f752ee9-f42f-436b-adcf-f979afb059f3_emoji"/>
          <p:cNvSpPr/>
          <p:nvPr/>
        </p:nvSpPr>
        <p:spPr>
          <a:xfrm>
            <a:off x="400050" y="36804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5f752ee9-f42f-436b-adcf-f979afb059f3_text"/>
          <p:cNvSpPr/>
          <p:nvPr/>
        </p:nvSpPr>
        <p:spPr>
          <a:xfrm>
            <a:off x="765810" y="36461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a/b = c/d, qualquer incógnita pode ser isolada e calculada com exatidão.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d49bbd-bea9-4cb0-8ae6-ebc3fcb87d70" descr="/home/forge/chalkie-production-workers-1/releases/77481629/backend/storage/app/render-specs/3c0c6458-ad69-4755-a770-457f81065846/img_e7c08f0dfe6623e1c2989d7cc6eb18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13dc866d-fcce-4cf1-b52a-414f9f28f03f" descr="/home/forge/chalkie-production-workers-1/releases/77481629/backend/storage/app/render-specs/3c0c6458-ad69-4755-a770-457f81065846/img_7a513ee0278d443c30f26205e79022f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398fc964-3254-4f1e-829f-018742f2d92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Direta ou Inversamente Proporcional?</a:t>
            </a:r>
            <a:endParaRPr lang="en-US" sz="2246" dirty="0"/>
          </a:p>
        </p:txBody>
      </p:sp>
      <p:sp>
        <p:nvSpPr>
          <p:cNvPr id="5" name="225a54a0-2ac2-4f68-a48d-2078aac5f76a"/>
          <p:cNvSpPr/>
          <p:nvPr/>
        </p:nvSpPr>
        <p:spPr>
          <a:xfrm>
            <a:off x="285750" y="29946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Diretamente Proporcional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uma grandeza sobe, a outra também: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Mais entregas exigem mais combustível.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Mais matéria-prima gera mais produtos.</a:t>
            </a:r>
            <a:endParaRPr lang="en-US" sz="1544" dirty="0"/>
          </a:p>
        </p:txBody>
      </p:sp>
      <p:sp>
        <p:nvSpPr>
          <p:cNvPr id="6" name="a3813e76-664d-45aa-96f8-c2a0eed869d7"/>
          <p:cNvSpPr/>
          <p:nvPr/>
        </p:nvSpPr>
        <p:spPr>
          <a:xfrm>
            <a:off x="465201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Inversamente Proporcional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uma grandeza sobe, a outra desce: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Mais operários reduzem o tempo do lote.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velocidade reduz o tempo de viagem.</a:t>
            </a:r>
            <a:endParaRPr lang="en-US" sz="15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3f980ca-98e4-4e6d-9cd7-343ec3d056d9" descr="/home/forge/chalkie-production-workers-1/releases/77481629/backend/storage/app/render-specs/3c0c6458-ad69-4755-a770-457f81065846/img_36f9ca513ea9aa1bc00d9fcc45a532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e14b9702-b44c-4f59-a894-29edaa7e9360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Simples Direta</a:t>
            </a:r>
            <a:endParaRPr lang="en-US" sz="2246" dirty="0"/>
          </a:p>
        </p:txBody>
      </p:sp>
      <p:sp>
        <p:nvSpPr>
          <p:cNvPr id="4" name="8972952c-d113-4373-8d0c-14bb89bde5ad"/>
          <p:cNvSpPr/>
          <p:nvPr/>
        </p:nvSpPr>
        <p:spPr>
          <a:xfrm>
            <a:off x="285750" y="2548890"/>
            <a:ext cx="85725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Caso: Consumo de Embalagens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linha de produção gasta 45 kg de resina plástica para moldar 600 frascos de cosméticos. Quantos quilos de resina serão necessários para atender a um pedido urgente de 1.800 frascos?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Montagem: 45 / 600 = x / 1.800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Multiplicação cruzada: 600 × x = 45 × 1.800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Resolução: 600x = 81.000 → x = 81.000 / 600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135 kg de resina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a10ccca-5364-4950-9bdf-8ee473a115e4" descr="/home/forge/chalkie-production-workers-1/releases/77481629/backend/storage/app/render-specs/3c0c6458-ad69-4755-a770-457f81065846/img_9df3ebad9f2166f66ded5ef2d178832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7b85b3c-84b6-4a74-a253-bfd0468216c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Simples Inversa</a:t>
            </a:r>
            <a:endParaRPr lang="en-US" sz="2246" dirty="0"/>
          </a:p>
        </p:txBody>
      </p:sp>
      <p:sp>
        <p:nvSpPr>
          <p:cNvPr id="4" name="3ca9e759-0cf1-4192-8a92-00348b7b4261"/>
          <p:cNvSpPr/>
          <p:nvPr/>
        </p:nvSpPr>
        <p:spPr>
          <a:xfrm>
            <a:off x="285750" y="80010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Caso: Descarregamento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 conferentes descarregam uma carreta em 6h. Com 8 conferentes de mesma produtividade, quanto tempo levará?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Proporção inversa: 4 × 6 = 8 × x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Resolução: 24 = 8x → x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 horas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5" name="4f407732-127d-4099-94e5-5dcfb40a4a7f_card"/>
          <p:cNvSpPr/>
          <p:nvPr/>
        </p:nvSpPr>
        <p:spPr>
          <a:xfrm>
            <a:off x="285750" y="29375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4f407732-127d-4099-94e5-5dcfb40a4a7f_emoji"/>
          <p:cNvSpPr/>
          <p:nvPr/>
        </p:nvSpPr>
        <p:spPr>
          <a:xfrm>
            <a:off x="400050" y="30861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4f407732-127d-4099-94e5-5dcfb40a4a7f_text"/>
          <p:cNvSpPr/>
          <p:nvPr/>
        </p:nvSpPr>
        <p:spPr>
          <a:xfrm>
            <a:off x="765810" y="30518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Não cruze valores em grandezas inversas! O produto das linhas deve ser constante.</a:t>
            </a:r>
            <a:endParaRPr lang="en-US" sz="112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849f3da-538f-415a-8b54-5d6a5f50057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Checagem: Tipo de Relação</a:t>
            </a:r>
            <a:endParaRPr lang="en-US" sz="2246" dirty="0"/>
          </a:p>
        </p:txBody>
      </p:sp>
      <p:sp>
        <p:nvSpPr>
          <p:cNvPr id="3" name="bb2f0b3a-c017-482e-b5b6-e7f9f05f9a6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centro de distribuição aumenta a velocidade de separação de 50 pedidos por hora para 100 pedidos por hora, o tempo necessário para separar 500 pedidos:</a:t>
            </a:r>
            <a:endParaRPr lang="en-US" sz="1264" dirty="0"/>
          </a:p>
        </p:txBody>
      </p:sp>
      <p:sp>
        <p:nvSpPr>
          <p:cNvPr id="4" name="fc2d86ed-c170-4386-b427-dbf83d64d9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c069432-acbe-4c2f-868d-8dc83f632b6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Aumenta em 50%, pois há maior desgaste dos separadores.</a:t>
            </a:r>
            <a:endParaRPr lang="en-US" sz="1264" dirty="0"/>
          </a:p>
        </p:txBody>
      </p:sp>
      <p:sp>
        <p:nvSpPr>
          <p:cNvPr id="6" name="b5f0b4d8-06c8-402c-8efa-04450566cdd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b339bf6-cb63-491a-8500-d2fd7dd3e5e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Dobra de valor, pois velocidade e tempo são grandezas diretamente proporcionais.</a:t>
            </a:r>
            <a:endParaRPr lang="en-US" sz="1264" dirty="0"/>
          </a:p>
        </p:txBody>
      </p:sp>
      <p:sp>
        <p:nvSpPr>
          <p:cNvPr id="8" name="a519d1f3-8fcb-48b2-9a77-be594013865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88fe7d07-0b69-41b9-a919-c88ec9ac3ff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Permanece exatamente igual, pois o volume do lote é fixo.</a:t>
            </a:r>
            <a:endParaRPr lang="en-US" sz="1264" dirty="0"/>
          </a:p>
        </p:txBody>
      </p:sp>
      <p:sp>
        <p:nvSpPr>
          <p:cNvPr id="10" name="9fe2dd9d-1812-4741-bdae-9e535fba623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a434d0af-90d0-4c4f-97f6-c87c914a358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Cai pela metade, pois velocidade e tempo são inversamente proporcionais.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849f3da-538f-415a-8b54-5d6a5f50057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Checagem: Tipo de Relação</a:t>
            </a:r>
            <a:endParaRPr lang="en-US" sz="2246" dirty="0"/>
          </a:p>
        </p:txBody>
      </p:sp>
      <p:sp>
        <p:nvSpPr>
          <p:cNvPr id="3" name="bb2f0b3a-c017-482e-b5b6-e7f9f05f9a6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centro de distribuição aumenta a velocidade de separação de 50 pedidos por hora para 100 pedidos por hora, o tempo necessário para separar 500 pedidos:</a:t>
            </a:r>
            <a:endParaRPr lang="en-US" sz="1264" dirty="0"/>
          </a:p>
        </p:txBody>
      </p:sp>
      <p:sp>
        <p:nvSpPr>
          <p:cNvPr id="4" name="fc2d86ed-c170-4386-b427-dbf83d64d9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5c069432-acbe-4c2f-868d-8dc83f632b6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Aumenta em 50%, pois há maior desgaste dos separadores.</a:t>
            </a:r>
            <a:endParaRPr lang="en-US" sz="1264" dirty="0"/>
          </a:p>
        </p:txBody>
      </p:sp>
      <p:sp>
        <p:nvSpPr>
          <p:cNvPr id="6" name="b5f0b4d8-06c8-402c-8efa-04450566cdd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b339bf6-cb63-491a-8500-d2fd7dd3e5e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Dobra de valor, pois velocidade e tempo são grandezas diretamente proporcionais.</a:t>
            </a:r>
            <a:endParaRPr lang="en-US" sz="1264" dirty="0"/>
          </a:p>
        </p:txBody>
      </p:sp>
      <p:sp>
        <p:nvSpPr>
          <p:cNvPr id="8" name="a519d1f3-8fcb-48b2-9a77-be594013865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88fe7d07-0b69-41b9-a919-c88ec9ac3ffc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Permanece exatamente igual, pois o volume do lote é fixo.</a:t>
            </a:r>
            <a:endParaRPr lang="en-US" sz="1264" dirty="0"/>
          </a:p>
        </p:txBody>
      </p:sp>
      <p:sp>
        <p:nvSpPr>
          <p:cNvPr id="10" name="9fe2dd9d-1812-4741-bdae-9e535fba623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a434d0af-90d0-4c4f-97f6-c87c914a358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Cai pela metade, pois velocidade e tempo são inversamente proporcionais.</a:t>
            </a:r>
            <a:endParaRPr lang="en-US" sz="1264" dirty="0"/>
          </a:p>
        </p:txBody>
      </p:sp>
      <p:sp>
        <p:nvSpPr>
          <p:cNvPr id="12" name="f2edf78e-59b1-4fed-8f12-60f1e21297a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d198f83d-36d9-4ba8-85ac-a9422e4273ba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f9e10d1-d587-4e49-b461-e3434040c241" descr="/home/forge/chalkie-production-workers-1/releases/77481629/backend/storage/app/render-specs/3c0c6458-ad69-4755-a770-457f81065846/img_db88b5c3fddc6d51f0e9033b375a40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1c922ab9-61ad-4312-8ef1-5416ecb9bb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Composta</a:t>
            </a:r>
            <a:endParaRPr lang="en-US" sz="2246" dirty="0"/>
          </a:p>
        </p:txBody>
      </p:sp>
      <p:sp>
        <p:nvSpPr>
          <p:cNvPr id="4" name="a64c9f25-2a8c-47ba-b2a4-ad5c1f7c6c18"/>
          <p:cNvSpPr/>
          <p:nvPr/>
        </p:nvSpPr>
        <p:spPr>
          <a:xfrm>
            <a:off x="4286250" y="80010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Múltiplas Variáveis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Processos fabris dependem de várias grandezas.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 composta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relaciona três ou mais fatores: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Máquinas em operação.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Horas diárias trabalhadas.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Dias de produção.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Peças produzidas.</a:t>
            </a:r>
            <a:endParaRPr lang="en-US" sz="1544" dirty="0"/>
          </a:p>
        </p:txBody>
      </p:sp>
      <p:sp>
        <p:nvSpPr>
          <p:cNvPr id="5" name="63000737-e0f3-4e76-a1e6-a411b3d58329_card"/>
          <p:cNvSpPr/>
          <p:nvPr/>
        </p:nvSpPr>
        <p:spPr>
          <a:xfrm>
            <a:off x="4286250" y="35661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63000737-e0f3-4e76-a1e6-a411b3d58329_emoji"/>
          <p:cNvSpPr/>
          <p:nvPr/>
        </p:nvSpPr>
        <p:spPr>
          <a:xfrm>
            <a:off x="4400550" y="37147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63000737-e0f3-4e76-a1e6-a411b3d58329_text"/>
          <p:cNvSpPr/>
          <p:nvPr/>
        </p:nvSpPr>
        <p:spPr>
          <a:xfrm>
            <a:off x="4766310" y="36804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Compare cada variável com a incógnita para definir a proporcionalidade.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4e970cb-7bc4-43e7-a725-2aed1a63e8ce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9aa170c5-7f1b-441f-8c6a-8cd7e3648314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8072554c-b62c-48ca-922d-9c7a33ad553e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0b3de517-1f8e-46d3-b1f6-9d941ab8dc84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8fe6522c-2926-4f1d-a4c8-04ed4131602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 da Regra Composta</a:t>
            </a:r>
            <a:endParaRPr lang="en-US" sz="2246" dirty="0"/>
          </a:p>
        </p:txBody>
      </p:sp>
      <p:sp>
        <p:nvSpPr>
          <p:cNvPr id="7" name="2b104f66-2b5f-460d-92d0-c5dd652797f3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Identificar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Organizar as grandezas em colunas com suas respectivas unidades.</a:t>
            </a:r>
            <a:endParaRPr lang="en-US" sz="1544" dirty="0"/>
          </a:p>
        </p:txBody>
      </p:sp>
      <p:sp>
        <p:nvSpPr>
          <p:cNvPr id="8" name="f9f8df4f-d812-44b8-87c4-fe05176c63a3"/>
          <p:cNvSpPr/>
          <p:nvPr/>
        </p:nvSpPr>
        <p:spPr>
          <a:xfrm>
            <a:off x="2491740" y="137160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Analisar Sentido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Fixar a coluna da incógnita e avaliar se as outras são diretas ou inversas.</a:t>
            </a:r>
            <a:endParaRPr lang="en-US" sz="1544" dirty="0"/>
          </a:p>
        </p:txBody>
      </p:sp>
      <p:sp>
        <p:nvSpPr>
          <p:cNvPr id="9" name="b573a47c-981b-4453-b43a-f9cfb9410193"/>
          <p:cNvSpPr/>
          <p:nvPr/>
        </p:nvSpPr>
        <p:spPr>
          <a:xfrm>
            <a:off x="4686300" y="137160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Inverter Inversas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Inverter as frações das grandezas inversamente proporcionais.</a:t>
            </a:r>
            <a:endParaRPr lang="en-US" sz="1544" dirty="0"/>
          </a:p>
        </p:txBody>
      </p:sp>
      <p:sp>
        <p:nvSpPr>
          <p:cNvPr id="10" name="91af8388-5fb8-4a00-ad3c-49dc3827f74d"/>
          <p:cNvSpPr/>
          <p:nvPr/>
        </p:nvSpPr>
        <p:spPr>
          <a:xfrm>
            <a:off x="689229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Resolver</a:t>
            </a:r>
            <a:endParaRPr lang="en-US" sz="154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Igualar a razão principal ao produto das razões secundárias e calcular.</a:t>
            </a:r>
            <a:endParaRPr lang="en-US" sz="15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ba0f894-46f0-425c-b691-112392012a9d" descr="/home/forge/chalkie-production-workers-1/releases/77481629/backend/storage/app/render-specs/3c0c6458-ad69-4755-a770-457f81065846/img_99a9938afdb07127e981c74fd76242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cb7e0844-445f-4b69-8f7c-2b028a51188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Caso Real: Otimização Fabril</a:t>
            </a:r>
            <a:endParaRPr lang="en-US" sz="2246" dirty="0"/>
          </a:p>
        </p:txBody>
      </p:sp>
      <p:sp>
        <p:nvSpPr>
          <p:cNvPr id="4" name="e62077fe-9253-4c95-80f5-bc859ef23bf3"/>
          <p:cNvSpPr/>
          <p:nvPr/>
        </p:nvSpPr>
        <p:spPr>
          <a:xfrm>
            <a:off x="285750" y="800100"/>
            <a:ext cx="45720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Problema da Fábrica de Caixas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6 máquinas, 8h/dia, produzem 1.200 caixas em 5 dias. Quantas caixas 9 máquinas, 10h/dia, produzem em 4 dias?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Relação: mais máquinas/horas (+ caixas: direta); menos dias (- caixas: direta).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Equação: 1.200 / x = (6/9) × (8/10) × (5/4)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Multiplicando: (6 × 8 × 5) / (9 × 10 × 4) = 240 / 360 = 2/3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1.200 / x = 2/3 → 2x = 3.600 →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x = 1.800 caixas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9a3de6-f08d-48c8-8414-6928f015b8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Etapas de Cálculo de Produção</a:t>
            </a:r>
            <a:endParaRPr lang="en-US" sz="2246" dirty="0"/>
          </a:p>
        </p:txBody>
      </p:sp>
      <p:sp>
        <p:nvSpPr>
          <p:cNvPr id="3" name="6f6a3be6-0787-4470-9f5c-0e78384e315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lógicos que um gestor deve seguir ao aplicar uma regra de três composta para redimensionar sua equipe:</a:t>
            </a:r>
            <a:endParaRPr lang="en-US" sz="1264" dirty="0"/>
          </a:p>
        </p:txBody>
      </p:sp>
      <p:sp>
        <p:nvSpPr>
          <p:cNvPr id="4" name="93a1157b-05e1-4ab9-9125-ec42f48dd7a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Multiplicar as razões e isolar a incógnita para encontrar o resultado.</a:t>
            </a:r>
            <a:endParaRPr lang="en-US" sz="1264" dirty="0"/>
          </a:p>
        </p:txBody>
      </p:sp>
      <p:sp>
        <p:nvSpPr>
          <p:cNvPr id="5" name="458aa1de-c489-48d6-81a4-6da7ced80f2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Tabelar os dados conhecidos e identificar a grandeza desconhecida.</a:t>
            </a:r>
            <a:endParaRPr lang="en-US" sz="1264" dirty="0"/>
          </a:p>
        </p:txBody>
      </p:sp>
      <p:sp>
        <p:nvSpPr>
          <p:cNvPr id="6" name="256dad8c-34d8-4fbc-800a-afccfdf229ca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Classificar cada grandeza como diretamente ou inversamente proporcional.</a:t>
            </a:r>
            <a:endParaRPr lang="en-US" sz="1264" dirty="0"/>
          </a:p>
        </p:txBody>
      </p:sp>
      <p:sp>
        <p:nvSpPr>
          <p:cNvPr id="7" name="38a46182-6330-4514-91e1-7003d19e18ea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Inverter os valores das grandezas identificadas como inversas.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9a3de6-f08d-48c8-8414-6928f015b8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Etapas de Cálculo de Produção</a:t>
            </a:r>
            <a:endParaRPr lang="en-US" sz="2246" dirty="0"/>
          </a:p>
        </p:txBody>
      </p:sp>
      <p:sp>
        <p:nvSpPr>
          <p:cNvPr id="3" name="6f6a3be6-0787-4470-9f5c-0e78384e315a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lógicos que um gestor deve seguir ao aplicar uma regra de três composta para redimensionar sua equipe:</a:t>
            </a:r>
            <a:endParaRPr lang="en-US" sz="1264" dirty="0"/>
          </a:p>
        </p:txBody>
      </p:sp>
      <p:sp>
        <p:nvSpPr>
          <p:cNvPr id="4" name="93a1157b-05e1-4ab9-9125-ec42f48dd7a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Multiplicar as razões e isolar a incógnita para encontrar o resultado.</a:t>
            </a:r>
            <a:endParaRPr lang="en-US" sz="1264" dirty="0"/>
          </a:p>
        </p:txBody>
      </p:sp>
      <p:sp>
        <p:nvSpPr>
          <p:cNvPr id="5" name="458aa1de-c489-48d6-81a4-6da7ced80f2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Tabelar os dados conhecidos e identificar a grandeza desconhecida.</a:t>
            </a:r>
            <a:endParaRPr lang="en-US" sz="1264" dirty="0"/>
          </a:p>
        </p:txBody>
      </p:sp>
      <p:sp>
        <p:nvSpPr>
          <p:cNvPr id="6" name="256dad8c-34d8-4fbc-800a-afccfdf229ca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Classificar cada grandeza como diretamente ou inversamente proporcional.</a:t>
            </a:r>
            <a:endParaRPr lang="en-US" sz="1264" dirty="0"/>
          </a:p>
        </p:txBody>
      </p:sp>
      <p:sp>
        <p:nvSpPr>
          <p:cNvPr id="7" name="38a46182-6330-4514-91e1-7003d19e18ea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Inverter os valores das grandezas identificadas como inversas.</a:t>
            </a:r>
            <a:endParaRPr lang="en-US" sz="1264" dirty="0"/>
          </a:p>
        </p:txBody>
      </p:sp>
      <p:sp>
        <p:nvSpPr>
          <p:cNvPr id="8" name="a6e6089f-a698-463a-aad5-0a681ed9a9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fc32d802-f3c4-41db-8980-a6fbfc4dbf3e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c30aa1fd-f5b1-4cb6-bee0-5c00f13f2634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f8ea1dfa-ac8f-41f7-973c-19e5597804b4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daf44ae8-a9c1-4ee6-bc38-ac6cb0dac13e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31939cf-0cf9-49d2-9d25-6fb78e4bc606" descr="/home/forge/chalkie-production-workers-1/releases/77481629/backend/storage/app/render-specs/3c0c6458-ad69-4755-a770-457f81065846/img_f7c48fcece14c118f55b33a98dbae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3601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92cac979-aaa6-4f35-b200-443492c306cd" descr="/home/forge/chalkie-production-workers-1/releases/77481629/backend/storage/app/render-specs/3c0c6458-ad69-4755-a770-457f81065846/img_174a8a9150b36f847595a7ff5815bb0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13601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7dbac0df-fb34-4412-8027-7bf7d760ed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Gestão de Materiais e Estoques</a:t>
            </a:r>
            <a:endParaRPr lang="en-US" sz="2246" dirty="0"/>
          </a:p>
        </p:txBody>
      </p:sp>
      <p:sp>
        <p:nvSpPr>
          <p:cNvPr id="5" name="74ad44fe-dfbc-4473-adf2-e7716a41f63d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Almoxarifado: cálculo de consumo, reposição e lote econômico.</a:t>
            </a:r>
            <a:endParaRPr lang="en-US" sz="1264" dirty="0"/>
          </a:p>
        </p:txBody>
      </p:sp>
      <p:sp>
        <p:nvSpPr>
          <p:cNvPr id="6" name="bfabd61a-2277-490e-8cf5-b2bf189211e4"/>
          <p:cNvSpPr/>
          <p:nvPr/>
        </p:nvSpPr>
        <p:spPr>
          <a:xfrm>
            <a:off x="285750" y="355473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Consumo Médio Diário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Demanda mensal / dias úteis: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Demanda: 2.200 un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Dias: 22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Consumo: 100 un/dia</a:t>
            </a:r>
            <a:endParaRPr lang="en-US" sz="1544" dirty="0"/>
          </a:p>
        </p:txBody>
      </p:sp>
      <p:sp>
        <p:nvSpPr>
          <p:cNvPr id="7" name="004777f4-8263-4db2-aa55-c066adcbc01a"/>
          <p:cNvSpPr/>
          <p:nvPr/>
        </p:nvSpPr>
        <p:spPr>
          <a:xfrm>
            <a:off x="4652010" y="355473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 de Pedido (PP)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Momento de repor estoque: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Prazo: 5 dias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Seg.: 200 un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PP: (100x5)+200=700 un</a:t>
            </a:r>
            <a:endParaRPr lang="en-US" sz="15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9ef0a0b-fbfd-4a59-a335-f782a9b7cc03" descr="/home/forge/chalkie-production-workers-1/releases/77481629/backend/storage/app/render-specs/3c0c6458-ad69-4755-a770-457f81065846/img_7fab60e4c3b2c83d90d4c187ce9104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6b6cb7d-c964-4bd0-96c5-37743573dd1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Previsão de Insumos Críticos</a:t>
            </a:r>
            <a:endParaRPr lang="en-US" sz="2246" dirty="0"/>
          </a:p>
        </p:txBody>
      </p:sp>
      <p:sp>
        <p:nvSpPr>
          <p:cNvPr id="4" name="15b92b98-77c0-47e4-831d-3db5349be43f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Fatores de Consumo Variável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Gestores monitoram três variáveis para evitar desabastecimento: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Taxa de Refugo: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Perda média fabril.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Sazonalidade: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Picos de demanda.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Lead Time: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Atrasos na entrega.</a:t>
            </a:r>
            <a:endParaRPr lang="en-US" sz="1544" dirty="0"/>
          </a:p>
        </p:txBody>
      </p:sp>
      <p:sp>
        <p:nvSpPr>
          <p:cNvPr id="5" name="e37801ea-137e-45ff-ae6d-7b538eb0843a_card"/>
          <p:cNvSpPr/>
          <p:nvPr/>
        </p:nvSpPr>
        <p:spPr>
          <a:xfrm>
            <a:off x="4286250" y="29946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e37801ea-137e-45ff-ae6d-7b538eb0843a_emoji"/>
          <p:cNvSpPr/>
          <p:nvPr/>
        </p:nvSpPr>
        <p:spPr>
          <a:xfrm>
            <a:off x="4400550" y="31432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e37801ea-137e-45ff-ae6d-7b538eb0843a_text"/>
          <p:cNvSpPr/>
          <p:nvPr/>
        </p:nvSpPr>
        <p:spPr>
          <a:xfrm>
            <a:off x="4766310" y="31089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 5% de perda, para entregar 1.000 itens, planeje insumos para 1.053 unidades.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fdf4f46-648b-4e75-abc5-dfe80cd4c782" descr="/home/forge/chalkie-production-workers-1/releases/77481629/backend/storage/app/render-specs/3c0c6458-ad69-4755-a770-457f81065846/img_6ac68588b689c7b3a6538431bd2395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c5dc237-29bb-479d-8a75-a3108876049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Calculadoras e Planilhas</a:t>
            </a:r>
            <a:endParaRPr lang="en-US" sz="2246" dirty="0"/>
          </a:p>
        </p:txBody>
      </p:sp>
      <p:sp>
        <p:nvSpPr>
          <p:cNvPr id="4" name="a7004963-3d48-4096-88ff-e3467b2a4791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Automação para Evitar Erros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 manual treina o raciocínio, mas usamos planilhas para agilidade: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Atualização instantânea ao mudar variáveis.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Precisão: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Elimina erros humanos em cálculos repetitivos.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Simulações: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que ocorre se o insumo subir 10%?</a:t>
            </a:r>
            <a:endParaRPr lang="en-US" sz="1544" dirty="0"/>
          </a:p>
        </p:txBody>
      </p:sp>
      <p:sp>
        <p:nvSpPr>
          <p:cNvPr id="5" name="78281bab-17de-4464-83f8-d7a486d96338_card"/>
          <p:cNvSpPr/>
          <p:nvPr/>
        </p:nvSpPr>
        <p:spPr>
          <a:xfrm>
            <a:off x="2857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78281bab-17de-4464-83f8-d7a486d96338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78281bab-17de-4464-83f8-d7a486d96338_text"/>
          <p:cNvSpPr/>
          <p:nvPr/>
        </p:nvSpPr>
        <p:spPr>
          <a:xfrm>
            <a:off x="7658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Planilhas seguem sua lógica. O pensamento crítico é insubstituível.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56b908a-4c7b-40b7-9bc6-9de143604a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Matemática das Planilhas</a:t>
            </a:r>
            <a:endParaRPr lang="en-US" sz="2246" dirty="0"/>
          </a:p>
        </p:txBody>
      </p:sp>
      <p:pic>
        <p:nvPicPr>
          <p:cNvPr id="3" name="bf5714ad-9399-40e2-87bb-eec2a0dbe8e6" descr="/home/forge/chalkie-production-workers-1/releases/77481629/backend/storage/app/render-specs/3c0c6458-ad69-4755-a770-457f81065846/poster_5Er-1f3LI9s.jpg">
            <a:hlinkClick r:id="rId5"/>
          </p:cNvPr>
          <p:cNvPicPr>
            <a:picLocks noChangeAspect="1"/>
          </p:cNvPicPr>
          <p:nvPr>
            <a:videoFile r:link="rId1"/>
            <p:extLst>
              <p:ext uri="{C809E66F-F1BF-436E-b5F7-EEA9579F0CBA}">
                <p15:webVideoPr xmlns:p15="http://schemas.microsoft.com/office/powerpoint/2012/main" xmlns="" embeddedHtml="&lt;iframe width=&quot;560&quot; height=&quot;315&quot; src=&quot;https://www.youtube.com/embed/5Er-1f3LI9s?feature=oembed&quot; frameborder=&quot;0&quot; allowfullscreen=&quot;&quot;&gt;&lt;/iframe&gt;" h="315" w="560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60120" y="800100"/>
            <a:ext cx="7212330" cy="40576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551D058-344E-0BB6-78C2-A96CE79484AB}"/>
              </a:ext>
            </a:extLst>
          </p:cNvPr>
          <p:cNvSpPr txBox="1"/>
          <p:nvPr/>
        </p:nvSpPr>
        <p:spPr>
          <a:xfrm>
            <a:off x="2286000" y="210881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QUESTÃO 21 - AUDITOR PÚBLICO INTERNO (ADMINISTRAÇÃO) DA PREFEITURA MUNICIPAL DE GUARATINGUETÁ 2022</a:t>
            </a:r>
            <a:endParaRPr lang="pt-B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fde0f67-73e9-4478-aea9-ef7c455992c8" descr="/home/forge/chalkie-production-workers-1/releases/77481629/backend/storage/app/render-specs/3c0c6458-ad69-4755-a770-457f81065846/img_ae0b2327d8df909aa236a0bda36551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c911a5ca-6a44-46af-9624-e9f7e1ea53ce"/>
          <p:cNvSpPr/>
          <p:nvPr/>
        </p:nvSpPr>
        <p:spPr>
          <a:xfrm>
            <a:off x="285750" y="21031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Minimizando Erros de Análise</a:t>
            </a:r>
            <a:endParaRPr lang="en-US" sz="2246" dirty="0"/>
          </a:p>
        </p:txBody>
      </p:sp>
      <p:sp>
        <p:nvSpPr>
          <p:cNvPr id="4" name="a880a3e2-faeb-41cb-b10f-6b2a47a9bf0f"/>
          <p:cNvSpPr/>
          <p:nvPr/>
        </p:nvSpPr>
        <p:spPr>
          <a:xfrm>
            <a:off x="285750" y="2731770"/>
            <a:ext cx="85725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Numérica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Desvios decimais em custos geram rombos contábeis. Práticas de validação: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Estimativa: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Verifique se o resultado faz sentido físico e financeiro.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Prova Real: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Multiplique custo unitário pela quantidade para conferir.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Conferência Cruzada: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Compare cálculos de dois sistemas ou pessoas.</a:t>
            </a:r>
            <a:endParaRPr lang="en-US" sz="154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9dec9d8-d398-46d9-923a-1928cee2c1dd" descr="/home/forge/chalkie-production-workers-1/releases/77481629/backend/storage/app/render-specs/3c0c6458-ad69-4755-a770-457f81065846/img_74db676abbf9321227487417a15623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b14ee5f8-8b37-4297-bada-05bfc91d268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Teste Rápido de Gestão</a:t>
            </a:r>
            <a:endParaRPr lang="en-US" sz="2246" dirty="0"/>
          </a:p>
        </p:txBody>
      </p:sp>
      <p:sp>
        <p:nvSpPr>
          <p:cNvPr id="4" name="f43e9002-b2c8-4c26-a1e5-81616ca40f28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5 caminhões transportam 120 toneladas de grãos, quantas toneladas transportarão 8 caminhões idênticos?</a:t>
            </a:r>
            <a:endParaRPr lang="en-US" sz="1264" dirty="0"/>
          </a:p>
        </p:txBody>
      </p:sp>
      <p:sp>
        <p:nvSpPr>
          <p:cNvPr id="5" name="b0eb55ef-2fb0-4a4d-8c59-7254dd7bd6eb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estoque de 600 unidades atende a demanda diária de 30 unidades por quantos dias?</a:t>
            </a:r>
            <a:endParaRPr lang="en-US" sz="1264" dirty="0"/>
          </a:p>
        </p:txBody>
      </p:sp>
      <p:sp>
        <p:nvSpPr>
          <p:cNvPr id="6" name="c0a1bfd4-cce8-43d1-9d00-b8c100387d6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operação matemática básica é usada para encontrar o custo médio unitário a partir do custo total?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4ee5f8-8b37-4297-bada-05bfc91d268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Teste Rápido de Gestão</a:t>
            </a:r>
            <a:endParaRPr lang="en-US" sz="2246" dirty="0"/>
          </a:p>
        </p:txBody>
      </p:sp>
      <p:sp>
        <p:nvSpPr>
          <p:cNvPr id="3" name="0e24b38f-6ab2-4cf1-969b-ca5154e4296d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192 toneladas (120 ÷ 5 = 24 t por caminhão; 24 × 8 = 192 t).</a:t>
            </a:r>
            <a:endParaRPr lang="en-US" sz="1264" dirty="0"/>
          </a:p>
        </p:txBody>
      </p:sp>
      <p:sp>
        <p:nvSpPr>
          <p:cNvPr id="4" name="2b1d6e4b-8ecb-40a7-81ce-61e2c892251f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 dias (600 ÷ 30 = 20 dias).</a:t>
            </a:r>
            <a:endParaRPr lang="en-US" sz="1264" dirty="0"/>
          </a:p>
        </p:txBody>
      </p:sp>
      <p:sp>
        <p:nvSpPr>
          <p:cNvPr id="5" name="2ac85676-a1eb-48bb-9ba8-98cc60331a2a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Divisão (Custo Total dividido pela Quantidade Produzida).</a:t>
            </a:r>
            <a:endParaRPr lang="en-US" sz="1264" dirty="0"/>
          </a:p>
        </p:txBody>
      </p:sp>
      <p:sp>
        <p:nvSpPr>
          <p:cNvPr id="6" name="cbd3a4c5-4479-4c78-9f9a-4c23a765f79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febae02-f2da-499f-b90b-5bffa48085d0" descr="/home/forge/chalkie-production-workers-1/releases/77481629/backend/storage/app/render-specs/3c0c6458-ad69-4755-a770-457f81065846/img_0e4cf1afc9145ec86aff76c29b2ea3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1535c6ab-e0e2-417a-847c-735e1d9d1bb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Estudo de Caso: O Fornecedor A ou B?</a:t>
            </a:r>
            <a:endParaRPr lang="en-US" sz="2246" dirty="0"/>
          </a:p>
        </p:txBody>
      </p:sp>
      <p:sp>
        <p:nvSpPr>
          <p:cNvPr id="4" name="25841977-fe79-4f78-872f-6543662c2435"/>
          <p:cNvSpPr/>
          <p:nvPr/>
        </p:nvSpPr>
        <p:spPr>
          <a:xfrm>
            <a:off x="285750" y="800100"/>
            <a:ext cx="45720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Decisão de Compra Corporativa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Restaurante consome 1.200 kg/mês: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5 kg por R$ 26,00.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B: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30 kg por R$ 150,00.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Preço por quilo: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A: R$ 5,20/kg.</a:t>
            </a:r>
            <a:endParaRPr lang="en-US" sz="154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Fornecedor B: R$ 5,00/kg.</a:t>
            </a:r>
            <a:endParaRPr lang="en-US" sz="154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Economia: 1.200 kg × R$ 0,20 =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R$ 240,00/mês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43f87a6-0c6c-447d-bedb-246f8a8ae8d7" descr="/home/forge/chalkie-production-workers-1/releases/77481629/backend/storage/app/render-specs/3c0c6458-ad69-4755-a770-457f81065846/img_275df1f4a7939ad193315e7b04ce91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61b8447-c115-4573-9435-5d67c42f6be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Impacto da Precisão no Lucro</a:t>
            </a:r>
            <a:endParaRPr lang="en-US" sz="2246" dirty="0"/>
          </a:p>
        </p:txBody>
      </p:sp>
      <p:sp>
        <p:nvSpPr>
          <p:cNvPr id="4" name="3581a3d3-3790-41b6-bc94-12529fcd62fb"/>
          <p:cNvSpPr/>
          <p:nvPr/>
        </p:nvSpPr>
        <p:spPr>
          <a:xfrm>
            <a:off x="4286250" y="868680"/>
            <a:ext cx="21031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CONCEITOS GERAIS</a:t>
            </a:r>
            <a:endParaRPr lang="en-US" sz="842" dirty="0"/>
          </a:p>
        </p:txBody>
      </p:sp>
      <p:sp>
        <p:nvSpPr>
          <p:cNvPr id="5" name="5b8d450e-4d83-4569-93f6-8e22f9f495b0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gestão de alto desempenho, centavos importam. Em escala industrial de 500.000 unidades ao ano, uma economia proporcional de R$ 0,08 por unidade representa R$ 40.000,00 a mais no lucro líquido da organização.</a:t>
            </a:r>
            <a:endParaRPr lang="en-US" sz="1264" dirty="0"/>
          </a:p>
        </p:txBody>
      </p:sp>
      <p:sp>
        <p:nvSpPr>
          <p:cNvPr id="6" name="5a71d839-5b08-4629-a13c-9adf3beddefa_card"/>
          <p:cNvSpPr/>
          <p:nvPr/>
        </p:nvSpPr>
        <p:spPr>
          <a:xfrm>
            <a:off x="4286250" y="3006090"/>
            <a:ext cx="4572000" cy="1891030"/>
          </a:xfrm>
          <a:prstGeom prst="roundRect">
            <a:avLst>
              <a:gd name="adj" fmla="val 4835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5a71d839-5b08-4629-a13c-9adf3beddefa_emoji"/>
          <p:cNvSpPr/>
          <p:nvPr/>
        </p:nvSpPr>
        <p:spPr>
          <a:xfrm>
            <a:off x="440055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5a71d839-5b08-4629-a13c-9adf3beddefa_text"/>
          <p:cNvSpPr/>
          <p:nvPr/>
        </p:nvSpPr>
        <p:spPr>
          <a:xfrm>
            <a:off x="4766310" y="3120390"/>
            <a:ext cx="3977640" cy="166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Grandes companhias aéreas já economizaram centenas de milhares de dólares ao retirar apenas uma azeitona das saladas servidas a bordo!</a:t>
            </a:r>
            <a:endParaRPr lang="en-US" sz="112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b9b002c-f096-4ce5-a041-197a9a580136" descr="/home/forge/chalkie-production-workers-1/releases/77481629/backend/storage/app/render-specs/3c0c6458-ad69-4755-a770-457f81065846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71b1ba76-4355-440f-ae21-0245f191e713" descr="/home/forge/chalkie-production-workers-1/releases/77481629/backend/storage/app/render-specs/3c0c6458-ad69-4755-a770-457f81065846/img_ccfc938cddb40acfd5ac8f0789733b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39ff5809-84cd-4f62-8e5b-2826a6fe9ef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Precisão Matemática e Eficiência</a:t>
            </a:r>
            <a:endParaRPr lang="en-US" sz="2246" dirty="0"/>
          </a:p>
        </p:txBody>
      </p:sp>
      <p:sp>
        <p:nvSpPr>
          <p:cNvPr id="5" name="204dfa24-43ae-4149-8a78-e36cbff92c6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sua opinião, um pequeno arredondamento de centavos em planilhas financeiras pode realmente colocar a saúde de uma grande empresa em risco? Como a precisão afeta a confiança dos clientes e acionistas?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b9b002c-f096-4ce5-a041-197a9a580136" descr="/home/forge/chalkie-production-workers-1/releases/77481629/backend/storage/app/render-specs/3c0c6458-ad69-4755-a770-457f81065846/img_88f2cf22d50efe57d124336ea25cb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39ff5809-84cd-4f62-8e5b-2826a6fe9ef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Precisão Matemática e Eficiência</a:t>
            </a:r>
            <a:endParaRPr lang="en-US" sz="2246" dirty="0"/>
          </a:p>
        </p:txBody>
      </p:sp>
      <p:sp>
        <p:nvSpPr>
          <p:cNvPr id="4" name="3c6d5be9-f6c5-4686-b37f-77b1e23d7225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Arredondamentos sucessivos podem acumular distorções de milhares de reais.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Erros fiscais geram autuações e multas pesadas de órgãos reguladores.</a:t>
            </a:r>
            <a:endParaRPr lang="en-US" sz="1264" dirty="0"/>
          </a:p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confiabilidade dos relatórios contábeis sustenta o investimento.</a:t>
            </a:r>
            <a:endParaRPr lang="en-US" sz="1264" dirty="0"/>
          </a:p>
        </p:txBody>
      </p:sp>
      <p:sp>
        <p:nvSpPr>
          <p:cNvPr id="5" name="ba425e00-ce1c-4214-aed2-18ec05bbdce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r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5d6e04-9943-426d-baf4-a322fbb3b106" descr="/home/forge/chalkie-production-workers-1/releases/77481629/backend/storage/app/render-specs/3c0c6458-ad69-4755-a770-457f81065846/img_81ecb04842c259ca750f6952223e81b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3f800c55-e201-4b3d-9144-6c74e56ac4b0" descr="/home/forge/chalkie-production-workers-1/releases/77481629/backend/storage/app/render-specs/3c0c6458-ad69-4755-a770-457f81065846/img_69e6f5b16695a9f2c738d020f5882b2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914400"/>
            <a:ext cx="270891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77fa18a1-374f-4ce1-ac2d-137def33c475" descr="/home/forge/chalkie-production-workers-1/releases/77481629/backend/storage/app/render-specs/3c0c6458-ad69-4755-a770-457f81065846/img_2aa49862a4580473d0167764a9defbb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1485900"/>
            <a:ext cx="270891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0d3e47cd-bb66-4d4d-8b6a-e50b4391ce4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dos Aprendizados</a:t>
            </a:r>
            <a:endParaRPr lang="en-US" sz="2246" dirty="0"/>
          </a:p>
        </p:txBody>
      </p:sp>
      <p:sp>
        <p:nvSpPr>
          <p:cNvPr id="6" name="5f24e374-243c-4dfa-96a8-4df8ffd13af5"/>
          <p:cNvSpPr/>
          <p:nvPr/>
        </p:nvSpPr>
        <p:spPr>
          <a:xfrm>
            <a:off x="285750" y="3314700"/>
            <a:ext cx="270891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Conjuntos Numéricos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Usamos Naturais, Inteiros e Racionais conforme a natureza de cada variável de gestão.</a:t>
            </a:r>
            <a:endParaRPr lang="en-US" sz="1264" dirty="0"/>
          </a:p>
        </p:txBody>
      </p:sp>
      <p:sp>
        <p:nvSpPr>
          <p:cNvPr id="7" name="94a416a5-fb50-4dbe-92f8-c1e3dcf373bc"/>
          <p:cNvSpPr/>
          <p:nvPr/>
        </p:nvSpPr>
        <p:spPr>
          <a:xfrm>
            <a:off x="3223260" y="2743200"/>
            <a:ext cx="270891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Razão e Proporção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Comparamos grandezas para medir produtividade, margens e custos unitários com precisão.</a:t>
            </a:r>
            <a:endParaRPr lang="en-US" sz="1264" dirty="0"/>
          </a:p>
        </p:txBody>
      </p:sp>
      <p:sp>
        <p:nvSpPr>
          <p:cNvPr id="8" name="5e891c95-4b85-4b6a-8929-e2eeee3e9c40"/>
          <p:cNvSpPr/>
          <p:nvPr/>
        </p:nvSpPr>
        <p:spPr>
          <a:xfrm>
            <a:off x="6149340" y="3314700"/>
            <a:ext cx="270891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ctr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Três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Dimensionamos estoques, equipes e processos fabris simples ou compostos sem desperdícios.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01d21ce-dbd2-407b-8a24-7cccfd8fd27f" descr="/home/forge/chalkie-production-workers-1/releases/77481629/backend/storage/app/render-specs/3c0c6458-ad69-4755-a770-457f81065846/img_b8e2e30cbb6ba10a8acb00af0ff4be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ccdcec27-fd2d-4821-9a96-057993338159" descr="/home/forge/chalkie-production-workers-1/releases/77481629/backend/storage/app/render-specs/3c0c6458-ad69-4755-a770-457f81065846/img_d2888b9b36f0909fa7e2726ecbb16d9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67e375e6-359a-4bc4-9a43-9ddab53a119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Missão Prática: O Redimensionamento</a:t>
            </a:r>
            <a:endParaRPr lang="en-US" sz="2246" dirty="0"/>
          </a:p>
        </p:txBody>
      </p:sp>
      <p:sp>
        <p:nvSpPr>
          <p:cNvPr id="5" name="c10c9be2-e696-48b2-9f0b-99cb05495435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Equação: 720/1440 = (6/x) * (6/8)</a:t>
            </a:r>
            <a:endParaRPr lang="en-US" sz="1264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Grandezas: Encomendas (D), Operadores (I), Horas (I).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Cálculo: 0,5 = 36/8x -&gt; 4x = 36 -&gt; x = 9 operadores.</a:t>
            </a:r>
            <a:endParaRPr lang="en-US" sz="1264" dirty="0"/>
          </a:p>
          <a:p>
            <a:pPr marL="228600" indent="-68580" algn="l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/>
            </a:pPr>
            <a:r>
              <a:rPr lang="en-US" sz="1264" dirty="0">
                <a:latin typeface="Dyslexie" pitchFamily="34" charset="0"/>
                <a:ea typeface="Dyslexie" pitchFamily="34" charset="-122"/>
                <a:cs typeface="Dyslexie" pitchFamily="34" charset="-120"/>
              </a:rPr>
              <a:t>Contratações: 9 - 6 = 3 novos funcionários.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1bd6d9-525b-4b1c-947c-34116ec78d06" descr="/home/forge/chalkie-production-workers-1/releases/77481629/backend/storage/app/render-specs/3c0c6458-ad69-4755-a770-457f81065846/img_08e1dfd544178750643affcd025790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82d6ee4-162c-4ec3-8e1e-be7a9790ebc7"/>
          <p:cNvSpPr/>
          <p:nvPr/>
        </p:nvSpPr>
        <p:spPr>
          <a:xfrm>
            <a:off x="285750" y="59436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Próximo Passo: Aula 2</a:t>
            </a:r>
            <a:endParaRPr lang="en-US" sz="2246" dirty="0"/>
          </a:p>
        </p:txBody>
      </p:sp>
      <p:sp>
        <p:nvSpPr>
          <p:cNvPr id="4" name="c61ca545-827f-409a-978e-c49f2cffda84"/>
          <p:cNvSpPr/>
          <p:nvPr/>
        </p:nvSpPr>
        <p:spPr>
          <a:xfrm>
            <a:off x="285750" y="1291590"/>
            <a:ext cx="24231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PRÁTICAS</a:t>
            </a:r>
            <a:endParaRPr lang="en-US" sz="842" dirty="0"/>
          </a:p>
        </p:txBody>
      </p:sp>
      <p:sp>
        <p:nvSpPr>
          <p:cNvPr id="5" name="b5d7e606-f778-4774-a1fc-503752127bba"/>
          <p:cNvSpPr/>
          <p:nvPr/>
        </p:nvSpPr>
        <p:spPr>
          <a:xfrm>
            <a:off x="285750" y="16002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próxima aula, avançaremos para o universo das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Porcentagens Comerciais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Estatística Básica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(média, mediana e moda)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de Previsão Empresarial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6" name="b58aeff3-286c-4662-8e42-21e8b4d93d80_card"/>
          <p:cNvSpPr/>
          <p:nvPr/>
        </p:nvSpPr>
        <p:spPr>
          <a:xfrm>
            <a:off x="285750" y="292608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b58aeff3-286c-4662-8e42-21e8b4d93d80_emoji"/>
          <p:cNvSpPr/>
          <p:nvPr/>
        </p:nvSpPr>
        <p:spPr>
          <a:xfrm>
            <a:off x="400050" y="30746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b58aeff3-286c-4662-8e42-21e8b4d93d80_text"/>
          <p:cNvSpPr/>
          <p:nvPr/>
        </p:nvSpPr>
        <p:spPr>
          <a:xfrm>
            <a:off x="765810" y="304038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marL="0" indent="0" algn="l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Revise as proporções calculadas hoje: elas serão a chave para entender as variações percentuais de mercado!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2469</Words>
  <Application>Microsoft Office PowerPoint</Application>
  <PresentationFormat>Apresentação no Ecrã (16:9)</PresentationFormat>
  <Paragraphs>346</Paragraphs>
  <Slides>41</Slides>
  <Notes>41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41</vt:i4>
      </vt:variant>
    </vt:vector>
  </HeadingPairs>
  <TitlesOfParts>
    <vt:vector size="44" baseType="lpstr">
      <vt:lpstr>Dyslexie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Aplicada à Gestão: Parte 1</dc:title>
  <dc:subject>PptxGenJS Presentation</dc:subject>
  <dc:creator>PptxGenJS</dc:creator>
  <cp:lastModifiedBy>Gelvazio Camargo - HOTMAIL</cp:lastModifiedBy>
  <cp:revision>5</cp:revision>
  <dcterms:created xsi:type="dcterms:W3CDTF">2026-09-11T11:20:05Z</dcterms:created>
  <dcterms:modified xsi:type="dcterms:W3CDTF">2026-09-14T11:28:04Z</dcterms:modified>
</cp:coreProperties>
</file>