
<file path=[Content_Types].xml><?xml version="1.0" encoding="utf-8"?>
<Types xmlns="http://schemas.openxmlformats.org/package/2006/content-types">
  <Default Extension="fntdata" ContentType="application/x-fontdata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 embedTrueType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</p:sldIdLst>
  <p:notesMasterIdLst>
    <p:notesMasterId r:id="rId43"/>
  </p:notesMasterIdLst>
  <p:sldSz cx="9144000" cy="5143500"/>
  <p:notesSz cx="5143500" cy="9144000"/>
  <p:embeddedFontLst>
    <p:embeddedFont>
      <p:font typeface="Dyslexie"/>
      <p:regular r:id="rId48"/>
      <p:bold r:id="rId49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notesMaster" Target="notesMasters/notesMaster1.xml"/><Relationship Id="rId44" Type="http://schemas.openxmlformats.org/officeDocument/2006/relationships/presProps" Target="presProps.xml"/><Relationship Id="rId45" Type="http://schemas.openxmlformats.org/officeDocument/2006/relationships/viewProps" Target="viewProps.xml"/><Relationship Id="rId46" Type="http://schemas.openxmlformats.org/officeDocument/2006/relationships/theme" Target="theme/theme1.xml"/><Relationship Id="rId47" Type="http://schemas.openxmlformats.org/officeDocument/2006/relationships/tableStyles" Target="tableStyles.xml"/><Relationship Id="rId48" Type="http://schemas.openxmlformats.org/officeDocument/2006/relationships/font" Target="fonts/font1.fntdata"/><Relationship Id="rId49" Type="http://schemas.openxmlformats.org/officeDocument/2006/relationships/font" Target="fonts/font2.fntdata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jpe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jpe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jpeg"/><Relationship Id="rId2" Type="http://schemas.openxmlformats.org/officeDocument/2006/relationships/image" Target="../media/image-3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jpeg"/><Relationship Id="rId2" Type="http://schemas.openxmlformats.org/officeDocument/2006/relationships/image" Target="../media/image-4-2.jpg"/><Relationship Id="rId3" Type="http://schemas.openxmlformats.org/officeDocument/2006/relationships/image" Target="../media/image-4-3.jpg"/><Relationship Id="rId4" Type="http://schemas.openxmlformats.org/officeDocument/2006/relationships/image" Target="../media/image-4-4.jpg"/><Relationship Id="rId5" Type="http://schemas.openxmlformats.org/officeDocument/2006/relationships/image" Target="../media/image-4-5.jp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jpe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jpeg"/><Relationship Id="rId2" Type="http://schemas.openxmlformats.org/officeDocument/2006/relationships/image" Target="../media/image-6-2.png"/><Relationship Id="rId3" Type="http://schemas.openxmlformats.org/officeDocument/2006/relationships/image" Target="../media/image-6-3.jp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jpeg"/><Relationship Id="rId2" Type="http://schemas.openxmlformats.org/officeDocument/2006/relationships/image" Target="../media/image-7-2.jpg"/><Relationship Id="rId3" Type="http://schemas.openxmlformats.org/officeDocument/2006/relationships/image" Target="../media/image-7-3.jp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jpeg"/><Relationship Id="rId2" Type="http://schemas.openxmlformats.org/officeDocument/2006/relationships/image" Target="../media/image-8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jpe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jpeg"/><Relationship Id="rId2" Type="http://schemas.openxmlformats.org/officeDocument/2006/relationships/image" Target="../media/image-12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jpeg"/><Relationship Id="rId2" Type="http://schemas.openxmlformats.org/officeDocument/2006/relationships/image" Target="../media/image-1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jpeg"/><Relationship Id="rId2" Type="http://schemas.openxmlformats.org/officeDocument/2006/relationships/image" Target="../media/image-16-2.png"/><Relationship Id="rId3" Type="http://schemas.openxmlformats.org/officeDocument/2006/relationships/image" Target="../media/image-16-3.jpg"/><Relationship Id="rId4" Type="http://schemas.openxmlformats.org/officeDocument/2006/relationships/image" Target="../media/image-16-4.jp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jpeg"/><Relationship Id="rId2" Type="http://schemas.openxmlformats.org/officeDocument/2006/relationships/image" Target="../media/image-1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jpeg"/><Relationship Id="rId2" Type="http://schemas.openxmlformats.org/officeDocument/2006/relationships/image" Target="../media/image-18-2.jpg"/><Relationship Id="rId3" Type="http://schemas.openxmlformats.org/officeDocument/2006/relationships/image" Target="../media/image-18-3.jp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jpeg"/><Relationship Id="rId2" Type="http://schemas.openxmlformats.org/officeDocument/2006/relationships/image" Target="../media/image-1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jpeg"/><Relationship Id="rId2" Type="http://schemas.openxmlformats.org/officeDocument/2006/relationships/image" Target="../media/image-20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-image-1.jpeg"/><Relationship Id="rId2" Type="http://schemas.openxmlformats.org/officeDocument/2006/relationships/image" Target="../media/image-2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4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5-image-1.jpeg"/><Relationship Id="rId2" Type="http://schemas.openxmlformats.org/officeDocument/2006/relationships/image" Target="../media/image-2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6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7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8-image-1.jpeg"/><Relationship Id="rId2" Type="http://schemas.openxmlformats.org/officeDocument/2006/relationships/image" Target="../media/image-28-2.png"/><Relationship Id="rId3" Type="http://schemas.openxmlformats.org/officeDocument/2006/relationships/image" Target="../media/image-28-3.jp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9-image-1.jpeg"/><Relationship Id="rId2" Type="http://schemas.openxmlformats.org/officeDocument/2006/relationships/image" Target="../media/image-29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0-image-1.jpeg"/><Relationship Id="rId2" Type="http://schemas.openxmlformats.org/officeDocument/2006/relationships/image" Target="../media/image-30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youtube.com/watch?v=5Er-1f3LI9s" TargetMode="External"/><Relationship Id="rId1" Type="http://schemas.openxmlformats.org/officeDocument/2006/relationships/image" Target="../media/Slide-31-image-1.jpeg"/><Relationship Id="rId2" Type="http://schemas.openxmlformats.org/officeDocument/2006/relationships/image" Target="../media/image-31-2.jp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1.xml"/><Relationship Id="rId6" Type="http://schemas.openxmlformats.org/officeDocument/2006/relationships/video" Target="https://www.youtube.com/embed/5Er-1f3LI9s?feature=oembed" TargetMode="Externa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2-image-1.jpeg"/><Relationship Id="rId2" Type="http://schemas.openxmlformats.org/officeDocument/2006/relationships/image" Target="../media/image-3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3-image-1.jpeg"/><Relationship Id="rId2" Type="http://schemas.openxmlformats.org/officeDocument/2006/relationships/image" Target="../media/image-3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4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5-image-1.jpeg"/><Relationship Id="rId2" Type="http://schemas.openxmlformats.org/officeDocument/2006/relationships/image" Target="../media/image-35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6-image-1.jpeg"/><Relationship Id="rId2" Type="http://schemas.openxmlformats.org/officeDocument/2006/relationships/image" Target="../media/image-36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7-image-1.jpeg"/><Relationship Id="rId2" Type="http://schemas.openxmlformats.org/officeDocument/2006/relationships/image" Target="../media/image-37-2.png"/><Relationship Id="rId3" Type="http://schemas.openxmlformats.org/officeDocument/2006/relationships/image" Target="../media/image-37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8-image-1.jpeg"/><Relationship Id="rId2" Type="http://schemas.openxmlformats.org/officeDocument/2006/relationships/image" Target="../media/image-3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9-image-1.jpeg"/><Relationship Id="rId2" Type="http://schemas.openxmlformats.org/officeDocument/2006/relationships/image" Target="../media/image-39-2.jpg"/><Relationship Id="rId3" Type="http://schemas.openxmlformats.org/officeDocument/2006/relationships/image" Target="../media/image-39-3.jpg"/><Relationship Id="rId4" Type="http://schemas.openxmlformats.org/officeDocument/2006/relationships/image" Target="../media/image-39-4.jp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0-image-1.jpeg"/><Relationship Id="rId2" Type="http://schemas.openxmlformats.org/officeDocument/2006/relationships/image" Target="../media/image-40-2.png"/><Relationship Id="rId3" Type="http://schemas.openxmlformats.org/officeDocument/2006/relationships/image" Target="../media/image-40-3.jp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1-image-1.jpeg"/><Relationship Id="rId2" Type="http://schemas.openxmlformats.org/officeDocument/2006/relationships/image" Target="../media/image-4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1fc3845e-c464-4c22-a1d0-ef0712f5e1ab" descr="/home/forge/chalkie-production-workers-1/releases/77481629/backend/storage/app/render-specs/3c0c6458-ad69-4755-a770-457f81065846/img_b13b87a5673179bacfcf1a23cc0c77fc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7260" y="742950"/>
            <a:ext cx="3657600" cy="3657600"/>
          </a:xfrm>
          <a:prstGeom prst="roundRect">
            <a:avLst>
              <a:gd name="adj" fmla="val 3750"/>
            </a:avLst>
          </a:prstGeom>
        </p:spPr>
      </p:pic>
      <p:sp>
        <p:nvSpPr>
          <p:cNvPr id="3" name="5cd5854a-1cf3-445d-921b-0f2f037203d7"/>
          <p:cNvSpPr/>
          <p:nvPr/>
        </p:nvSpPr>
        <p:spPr>
          <a:xfrm>
            <a:off x="4914900" y="1257300"/>
            <a:ext cx="3829050" cy="1819656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t"/>
          <a:lstStyle/>
          <a:p>
            <a:pPr algn="l" indent="0" marL="0">
              <a:lnSpc>
                <a:spcPts val="4018"/>
              </a:lnSpc>
              <a:spcBef>
                <a:spcPts val="450"/>
              </a:spcBef>
              <a:spcAft>
                <a:spcPts val="450"/>
              </a:spcAft>
              <a:buNone/>
            </a:pPr>
            <a:r>
              <a:rPr lang="en-US" sz="2527" b="1" dirty="0">
                <a:solidFill>
                  <a:srgbClr val="E8C85A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Matemática Aplicada à Gestão: Parte 1</a:t>
            </a:r>
            <a:endParaRPr lang="en-US" sz="2527" dirty="0"/>
          </a:p>
        </p:txBody>
      </p:sp>
      <p:sp>
        <p:nvSpPr>
          <p:cNvPr id="4" name="fca6d076-ad0f-44e6-9679-07c4fade65a9"/>
          <p:cNvSpPr/>
          <p:nvPr/>
        </p:nvSpPr>
        <p:spPr>
          <a:xfrm>
            <a:off x="4914900" y="2960370"/>
            <a:ext cx="3829050" cy="667512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t"/>
          <a:lstStyle/>
          <a:p>
            <a:pPr algn="l" indent="0" marL="0">
              <a:lnSpc>
                <a:spcPts val="2009"/>
              </a:lnSpc>
              <a:spcBef>
                <a:spcPts val="360"/>
              </a:spcBef>
              <a:spcAft>
                <a:spcPts val="360"/>
              </a:spcAft>
              <a:buNone/>
            </a:pPr>
            <a:r>
              <a:rPr lang="en-US" sz="1264" dirty="0">
                <a:solidFill>
                  <a:srgbClr val="E8E4DF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Fundamentos numéricos, proporções e tomada de decisão corporativa.</a:t>
            </a:r>
            <a:endParaRPr lang="en-US" sz="1264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c2eba3a0-a3e3-4a95-8c40-ecf4502ebff9" descr="/home/forge/chalkie-production-workers-1/releases/77481629/backend/storage/app/render-specs/3c0c6458-ad69-4755-a770-457f81065846/img_7ae68b0b1092684c7f755c451821e32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57850" y="0"/>
            <a:ext cx="3486150" cy="5143500"/>
          </a:xfrm>
          <a:prstGeom prst="roundRect">
            <a:avLst>
              <a:gd name="adj" fmla="val 3934"/>
            </a:avLst>
          </a:prstGeom>
        </p:spPr>
      </p:pic>
      <p:sp>
        <p:nvSpPr>
          <p:cNvPr id="3" name="a57589a4-e651-419d-986c-b99296e298a8"/>
          <p:cNvSpPr/>
          <p:nvPr/>
        </p:nvSpPr>
        <p:spPr>
          <a:xfrm>
            <a:off x="285750" y="1303020"/>
            <a:ext cx="5143500" cy="1115568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t"/>
          <a:lstStyle/>
          <a:p>
            <a:pPr algn="l" indent="0" marL="0">
              <a:lnSpc>
                <a:spcPts val="3571"/>
              </a:lnSpc>
              <a:spcBef>
                <a:spcPts val="450"/>
              </a:spcBef>
              <a:spcAft>
                <a:spcPts val="450"/>
              </a:spcAft>
              <a:buNone/>
            </a:pPr>
            <a:r>
              <a:rPr lang="en-US" sz="2246" b="1" dirty="0">
                <a:solidFill>
                  <a:srgbClr val="E8C85A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Um Erro de Cálculo Milionário?</a:t>
            </a:r>
            <a:endParaRPr lang="en-US" sz="2246" dirty="0"/>
          </a:p>
        </p:txBody>
      </p:sp>
      <p:sp>
        <p:nvSpPr>
          <p:cNvPr id="4" name="6dcc05a7-7a31-4af3-b29a-a7c0c254afa3"/>
          <p:cNvSpPr/>
          <p:nvPr/>
        </p:nvSpPr>
        <p:spPr>
          <a:xfrm>
            <a:off x="285750" y="2388870"/>
            <a:ext cx="5143500" cy="1243584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t"/>
          <a:lstStyle/>
          <a:p>
            <a:pPr algn="l" indent="0" marL="0">
              <a:lnSpc>
                <a:spcPts val="2009"/>
              </a:lnSpc>
              <a:spcBef>
                <a:spcPts val="360"/>
              </a:spcBef>
              <a:spcAft>
                <a:spcPts val="360"/>
              </a:spcAft>
              <a:buNone/>
            </a:pPr>
            <a:r>
              <a:rPr lang="en-US" sz="1264" dirty="0">
                <a:solidFill>
                  <a:srgbClr val="E8E4DF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Se uma fábrica erra a proporção de insumos em apenas 2%, milhares de produtos podem ser perdidos. Como a matemática garante a sobrevivência de um negócio real?</a:t>
            </a:r>
            <a:endParaRPr lang="en-US" sz="1264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07bc7cd0-d2e1-4156-8cdd-788f406c3a3e" descr="/home/forge/chalkie-production-workers-1/releases/77481629/backend/storage/app/render-specs/3c0c6458-ad69-4755-a770-457f81065846/img_15ac5e2e2196dbcef0fe8e74a277d831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800100"/>
            <a:ext cx="3829050" cy="4057650"/>
          </a:xfrm>
          <a:prstGeom prst="roundRect">
            <a:avLst>
              <a:gd name="adj" fmla="val 3582"/>
            </a:avLst>
          </a:prstGeom>
        </p:spPr>
      </p:pic>
      <p:sp>
        <p:nvSpPr>
          <p:cNvPr id="3" name="4545b309-3ac7-47f5-a57b-e9313f7edf4e"/>
          <p:cNvSpPr/>
          <p:nvPr/>
        </p:nvSpPr>
        <p:spPr>
          <a:xfrm>
            <a:off x="285750" y="171450"/>
            <a:ext cx="8572500" cy="603504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t"/>
          <a:lstStyle/>
          <a:p>
            <a:pPr algn="l" indent="0" marL="0">
              <a:lnSpc>
                <a:spcPts val="3571"/>
              </a:lnSpc>
              <a:spcBef>
                <a:spcPts val="450"/>
              </a:spcBef>
              <a:spcAft>
                <a:spcPts val="450"/>
              </a:spcAft>
              <a:buNone/>
            </a:pPr>
            <a:r>
              <a:rPr lang="en-US" sz="2246" b="1" dirty="0">
                <a:solidFill>
                  <a:srgbClr val="E8C85A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Objetivos da Nossa Aula</a:t>
            </a:r>
            <a:endParaRPr lang="en-US" sz="2246" dirty="0"/>
          </a:p>
        </p:txBody>
      </p:sp>
      <p:sp>
        <p:nvSpPr>
          <p:cNvPr id="4" name="1a60d30c-b38a-4415-acd6-2532587a742b"/>
          <p:cNvSpPr/>
          <p:nvPr/>
        </p:nvSpPr>
        <p:spPr>
          <a:xfrm>
            <a:off x="285750" y="868680"/>
            <a:ext cx="2103120" cy="262890"/>
          </a:xfrm>
          <a:prstGeom prst="roundRect">
            <a:avLst>
              <a:gd name="adj" fmla="val 17391"/>
            </a:avLst>
          </a:prstGeom>
          <a:solidFill>
            <a:srgbClr val="7EB5A6"/>
          </a:solidFill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42" b="1" dirty="0">
                <a:solidFill>
                  <a:srgbClr val="FFFFFF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CONCEITOS GERAIS</a:t>
            </a:r>
            <a:endParaRPr lang="en-US" sz="842" dirty="0"/>
          </a:p>
        </p:txBody>
      </p:sp>
      <p:sp>
        <p:nvSpPr>
          <p:cNvPr id="5" name="8cdce591-c0ee-417e-a73c-f2376d498b55"/>
          <p:cNvSpPr/>
          <p:nvPr/>
        </p:nvSpPr>
        <p:spPr>
          <a:xfrm>
            <a:off x="285750" y="1177290"/>
            <a:ext cx="4572000" cy="1243584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t"/>
          <a:lstStyle/>
          <a:p>
            <a:pPr algn="l" indent="0" marL="0">
              <a:lnSpc>
                <a:spcPts val="2009"/>
              </a:lnSpc>
              <a:spcBef>
                <a:spcPts val="360"/>
              </a:spcBef>
              <a:spcAft>
                <a:spcPts val="360"/>
              </a:spcAft>
              <a:buNone/>
            </a:pPr>
            <a:r>
              <a:rPr lang="en-US" sz="1264" dirty="0">
                <a:solidFill>
                  <a:srgbClr val="E8E4DF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Nesta aula inaugural, você desenvolverá competências matemáticas essenciais para o mercado corporativo:</a:t>
            </a:r>
            <a:endParaRPr lang="en-US" sz="1264" dirty="0"/>
          </a:p>
          <a:p>
            <a:pPr algn="l" marL="228600" indent="-68580">
              <a:lnSpc>
                <a:spcPts val="2009"/>
              </a:lnSpc>
              <a:spcBef>
                <a:spcPts val="225"/>
              </a:spcBef>
              <a:spcAft>
                <a:spcPts val="225"/>
              </a:spcAft>
              <a:buSzPct val="100000"/>
              <a:buChar char="•"/>
            </a:pPr>
            <a:r>
              <a:rPr lang="en-US" sz="1264" b="1" dirty="0">
                <a:solidFill>
                  <a:srgbClr val="E8E4DF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Identificar conjuntos numéricos</a:t>
            </a:r>
            <a:pPr algn="l" indent="0" marL="0">
              <a:lnSpc>
                <a:spcPts val="2009"/>
              </a:lnSpc>
              <a:spcBef>
                <a:spcPts val="225"/>
              </a:spcBef>
              <a:spcAft>
                <a:spcPts val="225"/>
              </a:spcAft>
              <a:buNone/>
            </a:pPr>
            <a:r>
              <a:rPr lang="en-US" sz="1264" dirty="0">
                <a:solidFill>
                  <a:srgbClr val="E8E4DF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 em fluxos de caixa, inventários e medições.</a:t>
            </a:r>
            <a:endParaRPr lang="en-US" sz="1264" dirty="0"/>
          </a:p>
          <a:p>
            <a:pPr algn="l" marL="228600" indent="-68580">
              <a:lnSpc>
                <a:spcPts val="2009"/>
              </a:lnSpc>
              <a:spcBef>
                <a:spcPts val="225"/>
              </a:spcBef>
              <a:spcAft>
                <a:spcPts val="225"/>
              </a:spcAft>
              <a:buSzPct val="100000"/>
              <a:buChar char="•"/>
            </a:pPr>
            <a:r>
              <a:rPr lang="en-US" sz="1264" b="1" dirty="0">
                <a:solidFill>
                  <a:srgbClr val="E8E4DF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Aplicar razões e proporções</a:t>
            </a:r>
            <a:pPr algn="l" indent="0" marL="0">
              <a:lnSpc>
                <a:spcPts val="2009"/>
              </a:lnSpc>
              <a:spcBef>
                <a:spcPts val="225"/>
              </a:spcBef>
              <a:spcAft>
                <a:spcPts val="225"/>
              </a:spcAft>
              <a:buNone/>
            </a:pPr>
            <a:r>
              <a:rPr lang="en-US" sz="1264" dirty="0">
                <a:solidFill>
                  <a:srgbClr val="E8E4DF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 para comparar métricas de produtividade e custos.</a:t>
            </a:r>
            <a:endParaRPr lang="en-US" sz="1264" dirty="0"/>
          </a:p>
          <a:p>
            <a:pPr algn="l" marL="228600" indent="-68580">
              <a:lnSpc>
                <a:spcPts val="2009"/>
              </a:lnSpc>
              <a:spcBef>
                <a:spcPts val="225"/>
              </a:spcBef>
              <a:spcAft>
                <a:spcPts val="225"/>
              </a:spcAft>
              <a:buSzPct val="100000"/>
              <a:buChar char="•"/>
            </a:pPr>
            <a:r>
              <a:rPr lang="en-US" sz="1264" b="1" dirty="0">
                <a:solidFill>
                  <a:srgbClr val="E8E4DF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Dominar regras de três simples e compostas</a:t>
            </a:r>
            <a:pPr algn="l" indent="0" marL="0">
              <a:lnSpc>
                <a:spcPts val="2009"/>
              </a:lnSpc>
              <a:spcBef>
                <a:spcPts val="225"/>
              </a:spcBef>
              <a:spcAft>
                <a:spcPts val="225"/>
              </a:spcAft>
              <a:buNone/>
            </a:pPr>
            <a:r>
              <a:rPr lang="en-US" sz="1264" dirty="0">
                <a:solidFill>
                  <a:srgbClr val="E8E4DF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 para otimizar estoques e equipes.</a:t>
            </a:r>
            <a:endParaRPr lang="en-US" sz="1264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465177eb-4f8d-4cbb-b67c-48e267d6e0ef" descr="/home/forge/chalkie-production-workers-1/releases/77481629/backend/storage/app/render-specs/3c0c6458-ad69-4755-a770-457f81065846/img_59e3965c2e2be2b272b4f01d4aac28e9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5750" y="1600200"/>
            <a:ext cx="1977390" cy="1714500"/>
          </a:xfrm>
          <a:prstGeom prst="roundRect">
            <a:avLst>
              <a:gd name="adj" fmla="val 8000"/>
            </a:avLst>
          </a:prstGeom>
        </p:spPr>
      </p:pic>
      <p:pic>
        <p:nvPicPr>
          <p:cNvPr id="3" name="6d0e2599-d1e5-4caf-baff-bc089ec7a173" descr="/home/forge/chalkie-production-workers-1/releases/77481629/backend/storage/app/render-specs/3c0c6458-ad69-4755-a770-457f81065846/img_3bfa63fc47e6cf878236d8c5fb7cbbf3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91740" y="914400"/>
            <a:ext cx="1977390" cy="1714500"/>
          </a:xfrm>
          <a:prstGeom prst="roundRect">
            <a:avLst>
              <a:gd name="adj" fmla="val 8000"/>
            </a:avLst>
          </a:prstGeom>
        </p:spPr>
      </p:pic>
      <p:pic>
        <p:nvPicPr>
          <p:cNvPr id="4" name="d1fb9fbb-4101-4c76-b801-3c8c74d623ea" descr="/home/forge/chalkie-production-workers-1/releases/77481629/backend/storage/app/render-specs/3c0c6458-ad69-4755-a770-457f81065846/img_736b433a534a3b14117ff2e503d913b0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86300" y="1600200"/>
            <a:ext cx="1977390" cy="1714500"/>
          </a:xfrm>
          <a:prstGeom prst="roundRect">
            <a:avLst>
              <a:gd name="adj" fmla="val 8000"/>
            </a:avLst>
          </a:prstGeom>
        </p:spPr>
      </p:pic>
      <p:pic>
        <p:nvPicPr>
          <p:cNvPr id="5" name="8f029798-0d90-455f-ac10-641740af273a" descr="/home/forge/chalkie-production-workers-1/releases/77481629/backend/storage/app/render-specs/3c0c6458-ad69-4755-a770-457f81065846/img_19bd3573c16ec752e8e4fa1bb0963cba.jp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92290" y="914400"/>
            <a:ext cx="1977390" cy="1714500"/>
          </a:xfrm>
          <a:prstGeom prst="roundRect">
            <a:avLst>
              <a:gd name="adj" fmla="val 8000"/>
            </a:avLst>
          </a:prstGeom>
        </p:spPr>
      </p:pic>
      <p:sp>
        <p:nvSpPr>
          <p:cNvPr id="6" name="f14d4781-d711-4a6c-bc6c-95042b024f0f"/>
          <p:cNvSpPr/>
          <p:nvPr/>
        </p:nvSpPr>
        <p:spPr>
          <a:xfrm>
            <a:off x="285750" y="171450"/>
            <a:ext cx="8572500" cy="603504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t"/>
          <a:lstStyle/>
          <a:p>
            <a:pPr algn="l" indent="0" marL="0">
              <a:lnSpc>
                <a:spcPts val="3571"/>
              </a:lnSpc>
              <a:spcBef>
                <a:spcPts val="450"/>
              </a:spcBef>
              <a:spcAft>
                <a:spcPts val="450"/>
              </a:spcAft>
              <a:buNone/>
            </a:pPr>
            <a:r>
              <a:rPr lang="en-US" sz="2246" b="1" dirty="0">
                <a:solidFill>
                  <a:srgbClr val="E8C85A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Vocabulário Essencial da Gestão</a:t>
            </a:r>
            <a:endParaRPr lang="en-US" sz="2246" dirty="0"/>
          </a:p>
        </p:txBody>
      </p:sp>
      <p:sp>
        <p:nvSpPr>
          <p:cNvPr id="7" name="dfc3c2bb-16af-4e5f-9df0-881cc49f89e1"/>
          <p:cNvSpPr/>
          <p:nvPr/>
        </p:nvSpPr>
        <p:spPr>
          <a:xfrm>
            <a:off x="285750" y="3429000"/>
            <a:ext cx="1977390" cy="1499616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t"/>
          <a:lstStyle/>
          <a:p>
            <a:pPr algn="ctr" indent="0" marL="0">
              <a:lnSpc>
                <a:spcPts val="2455"/>
              </a:lnSpc>
              <a:spcBef>
                <a:spcPts val="360"/>
              </a:spcBef>
              <a:spcAft>
                <a:spcPts val="360"/>
              </a:spcAft>
              <a:buNone/>
            </a:pPr>
            <a:r>
              <a:rPr lang="en-US" sz="1544" b="1" dirty="0">
                <a:solidFill>
                  <a:srgbClr val="E8E4DF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Insumo</a:t>
            </a:r>
            <a:endParaRPr lang="en-US" sz="1544" dirty="0"/>
          </a:p>
          <a:p>
            <a:pPr algn="ctr" indent="0" marL="0">
              <a:lnSpc>
                <a:spcPts val="2009"/>
              </a:lnSpc>
              <a:spcBef>
                <a:spcPts val="360"/>
              </a:spcBef>
              <a:spcAft>
                <a:spcPts val="360"/>
              </a:spcAft>
              <a:buNone/>
            </a:pPr>
            <a:r>
              <a:rPr lang="en-US" sz="1264" dirty="0">
                <a:solidFill>
                  <a:srgbClr val="E8E4DF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Material necessário para produzir bens ou serviços.</a:t>
            </a:r>
            <a:endParaRPr lang="en-US" sz="1544" dirty="0"/>
          </a:p>
        </p:txBody>
      </p:sp>
      <p:sp>
        <p:nvSpPr>
          <p:cNvPr id="8" name="ca15e9c5-39e3-4257-bc10-8465c2402baa"/>
          <p:cNvSpPr/>
          <p:nvPr/>
        </p:nvSpPr>
        <p:spPr>
          <a:xfrm>
            <a:off x="2491740" y="2743200"/>
            <a:ext cx="1977390" cy="1499616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t"/>
          <a:lstStyle/>
          <a:p>
            <a:pPr algn="ctr" indent="0" marL="0">
              <a:lnSpc>
                <a:spcPts val="2455"/>
              </a:lnSpc>
              <a:spcBef>
                <a:spcPts val="360"/>
              </a:spcBef>
              <a:spcAft>
                <a:spcPts val="360"/>
              </a:spcAft>
              <a:buNone/>
            </a:pPr>
            <a:r>
              <a:rPr lang="en-US" sz="1544" b="1" dirty="0">
                <a:solidFill>
                  <a:srgbClr val="E8E4DF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Estoque Mínimo</a:t>
            </a:r>
            <a:endParaRPr lang="en-US" sz="1544" dirty="0"/>
          </a:p>
          <a:p>
            <a:pPr algn="ctr" indent="0" marL="0">
              <a:lnSpc>
                <a:spcPts val="2009"/>
              </a:lnSpc>
              <a:spcBef>
                <a:spcPts val="360"/>
              </a:spcBef>
              <a:spcAft>
                <a:spcPts val="360"/>
              </a:spcAft>
              <a:buNone/>
            </a:pPr>
            <a:r>
              <a:rPr lang="en-US" sz="1264" dirty="0">
                <a:solidFill>
                  <a:srgbClr val="E8E4DF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Quantidade limite antes de faltar produto.</a:t>
            </a:r>
            <a:endParaRPr lang="en-US" sz="1544" dirty="0"/>
          </a:p>
        </p:txBody>
      </p:sp>
      <p:sp>
        <p:nvSpPr>
          <p:cNvPr id="9" name="27e96089-b9b2-4afe-98c6-266b5e25c3cd"/>
          <p:cNvSpPr/>
          <p:nvPr/>
        </p:nvSpPr>
        <p:spPr>
          <a:xfrm>
            <a:off x="4686300" y="3429000"/>
            <a:ext cx="1977390" cy="1499616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t"/>
          <a:lstStyle/>
          <a:p>
            <a:pPr algn="ctr" indent="0" marL="0">
              <a:lnSpc>
                <a:spcPts val="2455"/>
              </a:lnSpc>
              <a:spcBef>
                <a:spcPts val="360"/>
              </a:spcBef>
              <a:spcAft>
                <a:spcPts val="360"/>
              </a:spcAft>
              <a:buNone/>
            </a:pPr>
            <a:r>
              <a:rPr lang="en-US" sz="1544" b="1" dirty="0">
                <a:solidFill>
                  <a:srgbClr val="E8E4DF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Eficiência</a:t>
            </a:r>
            <a:endParaRPr lang="en-US" sz="1544" dirty="0"/>
          </a:p>
          <a:p>
            <a:pPr algn="ctr" indent="0" marL="0">
              <a:lnSpc>
                <a:spcPts val="2009"/>
              </a:lnSpc>
              <a:spcBef>
                <a:spcPts val="360"/>
              </a:spcBef>
              <a:spcAft>
                <a:spcPts val="360"/>
              </a:spcAft>
              <a:buNone/>
            </a:pPr>
            <a:r>
              <a:rPr lang="en-US" sz="1264" dirty="0">
                <a:solidFill>
                  <a:srgbClr val="E8E4DF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Capacidade de produzir mais gastando menos recursos.</a:t>
            </a:r>
            <a:endParaRPr lang="en-US" sz="1544" dirty="0"/>
          </a:p>
        </p:txBody>
      </p:sp>
      <p:sp>
        <p:nvSpPr>
          <p:cNvPr id="10" name="881e55a1-7c83-400a-b22b-1ea48579d9cf"/>
          <p:cNvSpPr/>
          <p:nvPr/>
        </p:nvSpPr>
        <p:spPr>
          <a:xfrm>
            <a:off x="6892290" y="2743200"/>
            <a:ext cx="1977390" cy="1499616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t"/>
          <a:lstStyle/>
          <a:p>
            <a:pPr algn="ctr" indent="0" marL="0">
              <a:lnSpc>
                <a:spcPts val="2455"/>
              </a:lnSpc>
              <a:spcBef>
                <a:spcPts val="360"/>
              </a:spcBef>
              <a:spcAft>
                <a:spcPts val="360"/>
              </a:spcAft>
              <a:buNone/>
            </a:pPr>
            <a:r>
              <a:rPr lang="en-US" sz="1544" b="1" dirty="0">
                <a:solidFill>
                  <a:srgbClr val="E8E4DF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Razão</a:t>
            </a:r>
            <a:endParaRPr lang="en-US" sz="1544" dirty="0"/>
          </a:p>
          <a:p>
            <a:pPr algn="ctr" indent="0" marL="0">
              <a:lnSpc>
                <a:spcPts val="2009"/>
              </a:lnSpc>
              <a:spcBef>
                <a:spcPts val="360"/>
              </a:spcBef>
              <a:spcAft>
                <a:spcPts val="360"/>
              </a:spcAft>
              <a:buNone/>
            </a:pPr>
            <a:r>
              <a:rPr lang="en-US" sz="1264" dirty="0">
                <a:solidFill>
                  <a:srgbClr val="E8E4DF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Comparação direta entre duas grandezas corporativas.</a:t>
            </a:r>
            <a:endParaRPr lang="en-US" sz="1544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6aedf49c-85bd-45fe-ba67-19bbc68caba9" descr="/home/forge/chalkie-production-workers-1/releases/77481629/backend/storage/app/render-specs/3c0c6458-ad69-4755-a770-457f81065846/img_5c6d7e84a44fd992e71727d0b1f94dab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800100"/>
            <a:ext cx="3829050" cy="4057650"/>
          </a:xfrm>
          <a:prstGeom prst="roundRect">
            <a:avLst>
              <a:gd name="adj" fmla="val 3582"/>
            </a:avLst>
          </a:prstGeom>
        </p:spPr>
      </p:pic>
      <p:sp>
        <p:nvSpPr>
          <p:cNvPr id="3" name="5aeced29-a049-469a-997b-4c3389d3c576"/>
          <p:cNvSpPr/>
          <p:nvPr/>
        </p:nvSpPr>
        <p:spPr>
          <a:xfrm>
            <a:off x="285750" y="171450"/>
            <a:ext cx="8572500" cy="603504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t"/>
          <a:lstStyle/>
          <a:p>
            <a:pPr algn="l" indent="0" marL="0">
              <a:lnSpc>
                <a:spcPts val="3571"/>
              </a:lnSpc>
              <a:spcBef>
                <a:spcPts val="450"/>
              </a:spcBef>
              <a:spcAft>
                <a:spcPts val="450"/>
              </a:spcAft>
              <a:buNone/>
            </a:pPr>
            <a:r>
              <a:rPr lang="en-US" sz="2246" b="1" dirty="0">
                <a:solidFill>
                  <a:srgbClr val="E8C85A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Conjuntos Numéricos no Negócio</a:t>
            </a:r>
            <a:endParaRPr lang="en-US" sz="2246" dirty="0"/>
          </a:p>
        </p:txBody>
      </p:sp>
      <p:sp>
        <p:nvSpPr>
          <p:cNvPr id="4" name="fffa4d57-4cba-4eef-b4c4-10b83b0a71c5"/>
          <p:cNvSpPr/>
          <p:nvPr/>
        </p:nvSpPr>
        <p:spPr>
          <a:xfrm>
            <a:off x="285750" y="868680"/>
            <a:ext cx="2103120" cy="262890"/>
          </a:xfrm>
          <a:prstGeom prst="roundRect">
            <a:avLst>
              <a:gd name="adj" fmla="val 17391"/>
            </a:avLst>
          </a:prstGeom>
          <a:solidFill>
            <a:srgbClr val="7EB5A6"/>
          </a:solidFill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42" b="1" dirty="0">
                <a:solidFill>
                  <a:srgbClr val="FFFFFF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CONCEITOS GERAIS</a:t>
            </a:r>
            <a:endParaRPr lang="en-US" sz="842" dirty="0"/>
          </a:p>
        </p:txBody>
      </p:sp>
      <p:sp>
        <p:nvSpPr>
          <p:cNvPr id="5" name="ff4bad84-dbd6-4ba3-b12a-c9337204d206"/>
          <p:cNvSpPr/>
          <p:nvPr/>
        </p:nvSpPr>
        <p:spPr>
          <a:xfrm>
            <a:off x="285750" y="1177290"/>
            <a:ext cx="4572000" cy="1531620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t"/>
          <a:lstStyle/>
          <a:p>
            <a:pPr algn="l" indent="0" marL="0">
              <a:lnSpc>
                <a:spcPts val="2009"/>
              </a:lnSpc>
              <a:spcBef>
                <a:spcPts val="360"/>
              </a:spcBef>
              <a:spcAft>
                <a:spcPts val="360"/>
              </a:spcAft>
              <a:buNone/>
            </a:pPr>
            <a:r>
              <a:rPr lang="en-US" sz="1264" dirty="0">
                <a:solidFill>
                  <a:srgbClr val="E8E4DF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Toda informação contábil ou operacional pertence a um conjunto matemático específico. Saber diferenciar esses números impede erros grotescos de arredondamento em sistemas informatizados.</a:t>
            </a:r>
            <a:endParaRPr lang="en-US" sz="1264" dirty="0"/>
          </a:p>
        </p:txBody>
      </p:sp>
      <p:sp>
        <p:nvSpPr>
          <p:cNvPr id="6" name="08d9a378-494f-4fbd-b6a7-161ea041b5cf_card"/>
          <p:cNvSpPr/>
          <p:nvPr/>
        </p:nvSpPr>
        <p:spPr>
          <a:xfrm>
            <a:off x="285750" y="2754630"/>
            <a:ext cx="4572000" cy="1380744"/>
          </a:xfrm>
          <a:prstGeom prst="roundRect">
            <a:avLst>
              <a:gd name="adj" fmla="val 6623"/>
            </a:avLst>
          </a:prstGeom>
          <a:solidFill>
            <a:srgbClr val="82B4EB">
              <a:alpha val="14902"/>
            </a:srgbClr>
          </a:solidFill>
          <a:ln w="11430">
            <a:solidFill>
              <a:srgbClr val="0B2F50">
                <a:alpha val="20000"/>
              </a:srgbClr>
            </a:solidFill>
            <a:prstDash val="solid"/>
          </a:ln>
        </p:spPr>
      </p:sp>
      <p:sp>
        <p:nvSpPr>
          <p:cNvPr id="7" name="08d9a378-494f-4fbd-b6a7-161ea041b5cf_emoji"/>
          <p:cNvSpPr/>
          <p:nvPr/>
        </p:nvSpPr>
        <p:spPr>
          <a:xfrm>
            <a:off x="400050" y="2903220"/>
            <a:ext cx="365760" cy="4114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2160" dirty="0">
                <a:solidFill>
                  <a:srgbClr val="000000"/>
                </a:solidFill>
              </a:rPr>
              <a:t>🧠</a:t>
            </a:r>
            <a:endParaRPr lang="en-US" sz="2160" dirty="0"/>
          </a:p>
        </p:txBody>
      </p:sp>
      <p:sp>
        <p:nvSpPr>
          <p:cNvPr id="8" name="08d9a378-494f-4fbd-b6a7-161ea041b5cf_text"/>
          <p:cNvSpPr/>
          <p:nvPr/>
        </p:nvSpPr>
        <p:spPr>
          <a:xfrm>
            <a:off x="765810" y="2868930"/>
            <a:ext cx="3977640" cy="11521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86"/>
              </a:lnSpc>
              <a:spcBef>
                <a:spcPts val="270"/>
              </a:spcBef>
              <a:spcAft>
                <a:spcPts val="270"/>
              </a:spcAft>
              <a:buNone/>
            </a:pPr>
            <a:r>
              <a:rPr lang="en-US" sz="1123" b="1" dirty="0">
                <a:solidFill>
                  <a:srgbClr val="B5D4F4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Lembre-se</a:t>
            </a:r>
            <a:endParaRPr lang="en-US" sz="1123" dirty="0"/>
          </a:p>
          <a:p>
            <a:pPr algn="l" indent="0" marL="0">
              <a:lnSpc>
                <a:spcPts val="2009"/>
              </a:lnSpc>
              <a:spcBef>
                <a:spcPts val="360"/>
              </a:spcBef>
              <a:spcAft>
                <a:spcPts val="360"/>
              </a:spcAft>
              <a:buNone/>
            </a:pPr>
            <a:r>
              <a:rPr lang="en-US" sz="1264" dirty="0">
                <a:solidFill>
                  <a:srgbClr val="B5D4F4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Nem toda variável pode ser dividida: não vendemos meio caminhão ou um terço de funcionário!</a:t>
            </a:r>
            <a:endParaRPr lang="en-US" sz="1123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c68b35fc-6159-4dd3-a063-e3542af62719" descr="/home/forge/chalkie-production-workers-1/releases/77481629/backend/storage/app/render-specs/3c0c6458-ad69-4755-a770-457f81065846/img_b7009e48f52c0f04564d6418648a4a2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5750" y="800100"/>
            <a:ext cx="4194810" cy="2057400"/>
          </a:xfrm>
          <a:prstGeom prst="roundRect">
            <a:avLst>
              <a:gd name="adj" fmla="val 6667"/>
            </a:avLst>
          </a:prstGeom>
        </p:spPr>
      </p:pic>
      <p:pic>
        <p:nvPicPr>
          <p:cNvPr id="3" name="d40317e9-229c-40d0-bba8-0aff97ff2372" descr="/home/forge/chalkie-production-workers-1/releases/77481629/backend/storage/app/render-specs/3c0c6458-ad69-4755-a770-457f81065846/img_87ffd756b42c7d59693e0a3559ea94cb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52010" y="800100"/>
            <a:ext cx="4194810" cy="2057400"/>
          </a:xfrm>
          <a:prstGeom prst="roundRect">
            <a:avLst>
              <a:gd name="adj" fmla="val 6667"/>
            </a:avLst>
          </a:prstGeom>
        </p:spPr>
      </p:pic>
      <p:sp>
        <p:nvSpPr>
          <p:cNvPr id="4" name="e54cbe48-4337-4d70-a7b6-61d8de994bc5"/>
          <p:cNvSpPr/>
          <p:nvPr/>
        </p:nvSpPr>
        <p:spPr>
          <a:xfrm>
            <a:off x="285750" y="171450"/>
            <a:ext cx="8572500" cy="603504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t"/>
          <a:lstStyle/>
          <a:p>
            <a:pPr algn="l" indent="0" marL="0">
              <a:lnSpc>
                <a:spcPts val="3571"/>
              </a:lnSpc>
              <a:spcBef>
                <a:spcPts val="450"/>
              </a:spcBef>
              <a:spcAft>
                <a:spcPts val="450"/>
              </a:spcAft>
              <a:buNone/>
            </a:pPr>
            <a:r>
              <a:rPr lang="en-US" sz="2246" b="1" dirty="0">
                <a:solidFill>
                  <a:srgbClr val="E8C85A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Naturais e Inteiros na Empresa</a:t>
            </a:r>
            <a:endParaRPr lang="en-US" sz="2246" dirty="0"/>
          </a:p>
        </p:txBody>
      </p:sp>
      <p:sp>
        <p:nvSpPr>
          <p:cNvPr id="5" name="5e1b22d5-5c8f-41f8-a425-01d6568853a4"/>
          <p:cNvSpPr/>
          <p:nvPr/>
        </p:nvSpPr>
        <p:spPr>
          <a:xfrm>
            <a:off x="285750" y="2994660"/>
            <a:ext cx="4194810" cy="1147572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t"/>
          <a:lstStyle/>
          <a:p>
            <a:pPr algn="l" indent="0" marL="0">
              <a:lnSpc>
                <a:spcPts val="2455"/>
              </a:lnSpc>
              <a:spcBef>
                <a:spcPts val="360"/>
              </a:spcBef>
              <a:spcAft>
                <a:spcPts val="360"/>
              </a:spcAft>
              <a:buNone/>
            </a:pPr>
            <a:r>
              <a:rPr lang="en-US" sz="1544" b="1" dirty="0">
                <a:solidFill>
                  <a:srgbClr val="E8E4DF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Números Naturais (N)</a:t>
            </a:r>
            <a:endParaRPr lang="en-US" sz="1544" dirty="0"/>
          </a:p>
          <a:p>
            <a:pPr algn="l" indent="0" marL="0">
              <a:lnSpc>
                <a:spcPts val="2009"/>
              </a:lnSpc>
              <a:spcBef>
                <a:spcPts val="360"/>
              </a:spcBef>
              <a:spcAft>
                <a:spcPts val="360"/>
              </a:spcAft>
              <a:buNone/>
            </a:pPr>
            <a:r>
              <a:rPr lang="en-US" sz="1264" dirty="0">
                <a:solidFill>
                  <a:srgbClr val="E8E4DF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Contagem de unidades indivisíveis:</a:t>
            </a:r>
            <a:endParaRPr lang="en-US" sz="1544" dirty="0"/>
          </a:p>
          <a:p>
            <a:pPr algn="l" marL="228600" indent="-68580">
              <a:lnSpc>
                <a:spcPts val="2009"/>
              </a:lnSpc>
              <a:spcBef>
                <a:spcPts val="225"/>
              </a:spcBef>
              <a:spcAft>
                <a:spcPts val="225"/>
              </a:spcAft>
              <a:buSzPct val="100000"/>
              <a:buChar char="•"/>
            </a:pPr>
            <a:r>
              <a:rPr lang="en-US" sz="1264" dirty="0">
                <a:solidFill>
                  <a:srgbClr val="E8E4DF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Clientes atendidos.</a:t>
            </a:r>
            <a:endParaRPr lang="en-US" sz="1544" dirty="0"/>
          </a:p>
          <a:p>
            <a:pPr algn="l" marL="228600" indent="-68580">
              <a:lnSpc>
                <a:spcPts val="2009"/>
              </a:lnSpc>
              <a:spcBef>
                <a:spcPts val="225"/>
              </a:spcBef>
              <a:spcAft>
                <a:spcPts val="225"/>
              </a:spcAft>
              <a:buSzPct val="100000"/>
              <a:buChar char="•"/>
            </a:pPr>
            <a:r>
              <a:rPr lang="en-US" sz="1264" dirty="0">
                <a:solidFill>
                  <a:srgbClr val="E8E4DF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Caixas em estoque.</a:t>
            </a:r>
            <a:endParaRPr lang="en-US" sz="1544" dirty="0"/>
          </a:p>
          <a:p>
            <a:pPr algn="l" marL="228600" indent="-68580">
              <a:lnSpc>
                <a:spcPts val="2009"/>
              </a:lnSpc>
              <a:spcBef>
                <a:spcPts val="225"/>
              </a:spcBef>
              <a:spcAft>
                <a:spcPts val="225"/>
              </a:spcAft>
              <a:buSzPct val="100000"/>
              <a:buChar char="•"/>
            </a:pPr>
            <a:r>
              <a:rPr lang="en-US" sz="1264" dirty="0">
                <a:solidFill>
                  <a:srgbClr val="E8E4DF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Veículos na frota.</a:t>
            </a:r>
            <a:endParaRPr lang="en-US" sz="1544" dirty="0"/>
          </a:p>
        </p:txBody>
      </p:sp>
      <p:sp>
        <p:nvSpPr>
          <p:cNvPr id="6" name="366cc49f-854a-4fef-95a4-9c754fb283bf"/>
          <p:cNvSpPr/>
          <p:nvPr/>
        </p:nvSpPr>
        <p:spPr>
          <a:xfrm>
            <a:off x="4652010" y="2994660"/>
            <a:ext cx="4194810" cy="1147572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t"/>
          <a:lstStyle/>
          <a:p>
            <a:pPr algn="l" indent="0" marL="0">
              <a:lnSpc>
                <a:spcPts val="2455"/>
              </a:lnSpc>
              <a:spcBef>
                <a:spcPts val="360"/>
              </a:spcBef>
              <a:spcAft>
                <a:spcPts val="360"/>
              </a:spcAft>
              <a:buNone/>
            </a:pPr>
            <a:r>
              <a:rPr lang="en-US" sz="1544" b="1" dirty="0">
                <a:solidFill>
                  <a:srgbClr val="E8E4DF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Números Inteiros (Z)</a:t>
            </a:r>
            <a:endParaRPr lang="en-US" sz="1544" dirty="0"/>
          </a:p>
          <a:p>
            <a:pPr algn="l" indent="0" marL="0">
              <a:lnSpc>
                <a:spcPts val="2009"/>
              </a:lnSpc>
              <a:spcBef>
                <a:spcPts val="360"/>
              </a:spcBef>
              <a:spcAft>
                <a:spcPts val="360"/>
              </a:spcAft>
              <a:buNone/>
            </a:pPr>
            <a:r>
              <a:rPr lang="en-US" sz="1264" dirty="0">
                <a:solidFill>
                  <a:srgbClr val="E8E4DF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Valores negativos em finanças:</a:t>
            </a:r>
            <a:endParaRPr lang="en-US" sz="1544" dirty="0"/>
          </a:p>
          <a:p>
            <a:pPr algn="l" marL="228600" indent="-68580">
              <a:lnSpc>
                <a:spcPts val="2009"/>
              </a:lnSpc>
              <a:spcBef>
                <a:spcPts val="225"/>
              </a:spcBef>
              <a:spcAft>
                <a:spcPts val="225"/>
              </a:spcAft>
              <a:buSzPct val="100000"/>
              <a:buChar char="•"/>
            </a:pPr>
            <a:r>
              <a:rPr lang="en-US" sz="1264" dirty="0">
                <a:solidFill>
                  <a:srgbClr val="E8E4DF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Saldo bancário (débito/crédito).</a:t>
            </a:r>
            <a:endParaRPr lang="en-US" sz="1544" dirty="0"/>
          </a:p>
          <a:p>
            <a:pPr algn="l" marL="228600" indent="-68580">
              <a:lnSpc>
                <a:spcPts val="2009"/>
              </a:lnSpc>
              <a:spcBef>
                <a:spcPts val="225"/>
              </a:spcBef>
              <a:spcAft>
                <a:spcPts val="225"/>
              </a:spcAft>
              <a:buSzPct val="100000"/>
              <a:buChar char="•"/>
            </a:pPr>
            <a:r>
              <a:rPr lang="en-US" sz="1264" dirty="0">
                <a:solidFill>
                  <a:srgbClr val="E8E4DF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Lucro ou prejuízo contábil.</a:t>
            </a:r>
            <a:endParaRPr lang="en-US" sz="1544" dirty="0"/>
          </a:p>
          <a:p>
            <a:pPr algn="l" marL="228600" indent="-68580">
              <a:lnSpc>
                <a:spcPts val="2009"/>
              </a:lnSpc>
              <a:spcBef>
                <a:spcPts val="225"/>
              </a:spcBef>
              <a:spcAft>
                <a:spcPts val="225"/>
              </a:spcAft>
              <a:buSzPct val="100000"/>
              <a:buChar char="•"/>
            </a:pPr>
            <a:r>
              <a:rPr lang="en-US" sz="1264" dirty="0">
                <a:solidFill>
                  <a:srgbClr val="E8E4DF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Variação em câmaras frias.</a:t>
            </a:r>
            <a:endParaRPr lang="en-US" sz="1544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10fc17ce-7691-44ec-93c3-30cc5a1542ea" descr="/home/forge/chalkie-production-workers-1/releases/77481629/backend/storage/app/render-specs/3c0c6458-ad69-4755-a770-457f81065846/img_07e15f4a23ef87d09e715f8f5a56d971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5750" y="800100"/>
            <a:ext cx="4194810" cy="2057400"/>
          </a:xfrm>
          <a:prstGeom prst="roundRect">
            <a:avLst>
              <a:gd name="adj" fmla="val 6667"/>
            </a:avLst>
          </a:prstGeom>
        </p:spPr>
      </p:pic>
      <p:pic>
        <p:nvPicPr>
          <p:cNvPr id="3" name="d4218a4c-1c81-4f4c-b4e2-57bf60927eb9" descr="/home/forge/chalkie-production-workers-1/releases/77481629/backend/storage/app/render-specs/3c0c6458-ad69-4755-a770-457f81065846/img_f20a0dc16a76cd97f193f69735e8b3be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52010" y="800100"/>
            <a:ext cx="4194810" cy="2057400"/>
          </a:xfrm>
          <a:prstGeom prst="roundRect">
            <a:avLst>
              <a:gd name="adj" fmla="val 6667"/>
            </a:avLst>
          </a:prstGeom>
        </p:spPr>
      </p:pic>
      <p:sp>
        <p:nvSpPr>
          <p:cNvPr id="4" name="94d21548-f42c-4572-950d-31d016ad39fc"/>
          <p:cNvSpPr/>
          <p:nvPr/>
        </p:nvSpPr>
        <p:spPr>
          <a:xfrm>
            <a:off x="285750" y="171450"/>
            <a:ext cx="8572500" cy="603504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t"/>
          <a:lstStyle/>
          <a:p>
            <a:pPr algn="l" indent="0" marL="0">
              <a:lnSpc>
                <a:spcPts val="3571"/>
              </a:lnSpc>
              <a:spcBef>
                <a:spcPts val="450"/>
              </a:spcBef>
              <a:spcAft>
                <a:spcPts val="450"/>
              </a:spcAft>
              <a:buNone/>
            </a:pPr>
            <a:r>
              <a:rPr lang="en-US" sz="2246" b="1" dirty="0">
                <a:solidFill>
                  <a:srgbClr val="E8C85A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Racionais e Reais na Produção</a:t>
            </a:r>
            <a:endParaRPr lang="en-US" sz="2246" dirty="0"/>
          </a:p>
        </p:txBody>
      </p:sp>
      <p:sp>
        <p:nvSpPr>
          <p:cNvPr id="5" name="3b9091df-0afe-4337-80a6-4a163a11cbe8"/>
          <p:cNvSpPr/>
          <p:nvPr/>
        </p:nvSpPr>
        <p:spPr>
          <a:xfrm>
            <a:off x="285750" y="2994660"/>
            <a:ext cx="4194810" cy="1147572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t"/>
          <a:lstStyle/>
          <a:p>
            <a:pPr algn="l" indent="0" marL="0">
              <a:lnSpc>
                <a:spcPts val="2455"/>
              </a:lnSpc>
              <a:spcBef>
                <a:spcPts val="360"/>
              </a:spcBef>
              <a:spcAft>
                <a:spcPts val="360"/>
              </a:spcAft>
              <a:buNone/>
            </a:pPr>
            <a:r>
              <a:rPr lang="en-US" sz="1544" b="1" dirty="0">
                <a:solidFill>
                  <a:srgbClr val="E8E4DF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Números Racionais (Q)</a:t>
            </a:r>
            <a:endParaRPr lang="en-US" sz="1544" dirty="0"/>
          </a:p>
          <a:p>
            <a:pPr algn="l" indent="0" marL="0">
              <a:lnSpc>
                <a:spcPts val="2009"/>
              </a:lnSpc>
              <a:spcBef>
                <a:spcPts val="360"/>
              </a:spcBef>
              <a:spcAft>
                <a:spcPts val="360"/>
              </a:spcAft>
              <a:buNone/>
            </a:pPr>
            <a:r>
              <a:rPr lang="en-US" sz="1264" dirty="0">
                <a:solidFill>
                  <a:srgbClr val="E8E4DF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Fração, decimal ou dízima:</a:t>
            </a:r>
            <a:endParaRPr lang="en-US" sz="1544" dirty="0"/>
          </a:p>
          <a:p>
            <a:pPr algn="l" marL="228600" indent="-68580">
              <a:lnSpc>
                <a:spcPts val="2009"/>
              </a:lnSpc>
              <a:spcBef>
                <a:spcPts val="225"/>
              </a:spcBef>
              <a:spcAft>
                <a:spcPts val="225"/>
              </a:spcAft>
              <a:buSzPct val="100000"/>
              <a:buChar char="•"/>
            </a:pPr>
            <a:r>
              <a:rPr lang="en-US" sz="1264" dirty="0">
                <a:solidFill>
                  <a:srgbClr val="E8E4DF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Preços (ex: R$ 4,75).</a:t>
            </a:r>
            <a:endParaRPr lang="en-US" sz="1544" dirty="0"/>
          </a:p>
          <a:p>
            <a:pPr algn="l" marL="228600" indent="-68580">
              <a:lnSpc>
                <a:spcPts val="2009"/>
              </a:lnSpc>
              <a:spcBef>
                <a:spcPts val="225"/>
              </a:spcBef>
              <a:spcAft>
                <a:spcPts val="225"/>
              </a:spcAft>
              <a:buSzPct val="100000"/>
              <a:buChar char="•"/>
            </a:pPr>
            <a:r>
              <a:rPr lang="en-US" sz="1264" dirty="0">
                <a:solidFill>
                  <a:srgbClr val="E8E4DF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Descontos e taxas.</a:t>
            </a:r>
            <a:endParaRPr lang="en-US" sz="1544" dirty="0"/>
          </a:p>
          <a:p>
            <a:pPr algn="l" marL="228600" indent="-68580">
              <a:lnSpc>
                <a:spcPts val="2009"/>
              </a:lnSpc>
              <a:spcBef>
                <a:spcPts val="225"/>
              </a:spcBef>
              <a:spcAft>
                <a:spcPts val="225"/>
              </a:spcAft>
              <a:buSzPct val="100000"/>
              <a:buChar char="•"/>
            </a:pPr>
            <a:r>
              <a:rPr lang="en-US" sz="1264" dirty="0">
                <a:solidFill>
                  <a:srgbClr val="E8E4DF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Peso de insumos.</a:t>
            </a:r>
            <a:endParaRPr lang="en-US" sz="1544" dirty="0"/>
          </a:p>
        </p:txBody>
      </p:sp>
      <p:sp>
        <p:nvSpPr>
          <p:cNvPr id="6" name="e4a72062-e692-4516-8bcd-0344e36efceb"/>
          <p:cNvSpPr/>
          <p:nvPr/>
        </p:nvSpPr>
        <p:spPr>
          <a:xfrm>
            <a:off x="4652010" y="2994660"/>
            <a:ext cx="4194810" cy="1147572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t"/>
          <a:lstStyle/>
          <a:p>
            <a:pPr algn="l" indent="0" marL="0">
              <a:lnSpc>
                <a:spcPts val="2455"/>
              </a:lnSpc>
              <a:spcBef>
                <a:spcPts val="360"/>
              </a:spcBef>
              <a:spcAft>
                <a:spcPts val="360"/>
              </a:spcAft>
              <a:buNone/>
            </a:pPr>
            <a:r>
              <a:rPr lang="en-US" sz="1544" b="1" dirty="0">
                <a:solidFill>
                  <a:srgbClr val="E8E4DF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Números Reais (R)</a:t>
            </a:r>
            <a:endParaRPr lang="en-US" sz="1544" dirty="0"/>
          </a:p>
          <a:p>
            <a:pPr algn="l" indent="0" marL="0">
              <a:lnSpc>
                <a:spcPts val="2009"/>
              </a:lnSpc>
              <a:spcBef>
                <a:spcPts val="360"/>
              </a:spcBef>
              <a:spcAft>
                <a:spcPts val="360"/>
              </a:spcAft>
              <a:buNone/>
            </a:pPr>
            <a:r>
              <a:rPr lang="en-US" sz="1264" dirty="0">
                <a:solidFill>
                  <a:srgbClr val="E8E4DF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Inclui irracionais para engenharia:</a:t>
            </a:r>
            <a:endParaRPr lang="en-US" sz="1544" dirty="0"/>
          </a:p>
          <a:p>
            <a:pPr algn="l" marL="228600" indent="-68580">
              <a:lnSpc>
                <a:spcPts val="2009"/>
              </a:lnSpc>
              <a:spcBef>
                <a:spcPts val="225"/>
              </a:spcBef>
              <a:spcAft>
                <a:spcPts val="225"/>
              </a:spcAft>
              <a:buSzPct val="100000"/>
              <a:buChar char="•"/>
            </a:pPr>
            <a:r>
              <a:rPr lang="en-US" sz="1264" dirty="0">
                <a:solidFill>
                  <a:srgbClr val="E8E4DF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Pi (π) em volume de tanques.</a:t>
            </a:r>
            <a:endParaRPr lang="en-US" sz="1544" dirty="0"/>
          </a:p>
          <a:p>
            <a:pPr algn="l" marL="228600" indent="-68580">
              <a:lnSpc>
                <a:spcPts val="2009"/>
              </a:lnSpc>
              <a:spcBef>
                <a:spcPts val="225"/>
              </a:spcBef>
              <a:spcAft>
                <a:spcPts val="225"/>
              </a:spcAft>
              <a:buSzPct val="100000"/>
              <a:buChar char="•"/>
            </a:pPr>
            <a:r>
              <a:rPr lang="en-US" sz="1264" dirty="0">
                <a:solidFill>
                  <a:srgbClr val="E8E4DF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Cálculo de depreciação contínua.</a:t>
            </a:r>
            <a:endParaRPr lang="en-US" sz="1544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6dd9ecf8-2301-4ed4-b248-aab0ed8190a5" descr="/home/forge/chalkie-production-workers-1/releases/77481629/backend/storage/app/render-specs/3c0c6458-ad69-4755-a770-457f81065846/img_85b514a7f757b505a847dec9ef22061f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5750" y="800100"/>
            <a:ext cx="3829050" cy="4057650"/>
          </a:xfrm>
          <a:prstGeom prst="roundRect">
            <a:avLst>
              <a:gd name="adj" fmla="val 3582"/>
            </a:avLst>
          </a:prstGeom>
        </p:spPr>
      </p:pic>
      <p:sp>
        <p:nvSpPr>
          <p:cNvPr id="3" name="b0e479cd-68bb-4083-901a-55689db82ace"/>
          <p:cNvSpPr/>
          <p:nvPr/>
        </p:nvSpPr>
        <p:spPr>
          <a:xfrm>
            <a:off x="285750" y="171450"/>
            <a:ext cx="8572500" cy="603504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t"/>
          <a:lstStyle/>
          <a:p>
            <a:pPr algn="l" indent="0" marL="0">
              <a:lnSpc>
                <a:spcPts val="3571"/>
              </a:lnSpc>
              <a:spcBef>
                <a:spcPts val="450"/>
              </a:spcBef>
              <a:spcAft>
                <a:spcPts val="450"/>
              </a:spcAft>
              <a:buNone/>
            </a:pPr>
            <a:r>
              <a:rPr lang="en-US" sz="2246" b="1" dirty="0">
                <a:solidFill>
                  <a:srgbClr val="E8C85A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Classificação de Dados Gerenciais</a:t>
            </a:r>
            <a:endParaRPr lang="en-US" sz="2246" dirty="0"/>
          </a:p>
        </p:txBody>
      </p:sp>
      <p:sp>
        <p:nvSpPr>
          <p:cNvPr id="4" name="ffe06d38-b382-4225-b136-65cbed76c466"/>
          <p:cNvSpPr/>
          <p:nvPr/>
        </p:nvSpPr>
        <p:spPr>
          <a:xfrm>
            <a:off x="4286250" y="800100"/>
            <a:ext cx="4572000" cy="1499616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t"/>
          <a:lstStyle/>
          <a:p>
            <a:pPr algn="l" indent="0" marL="0">
              <a:lnSpc>
                <a:spcPts val="2455"/>
              </a:lnSpc>
              <a:spcBef>
                <a:spcPts val="360"/>
              </a:spcBef>
              <a:spcAft>
                <a:spcPts val="360"/>
              </a:spcAft>
              <a:buNone/>
            </a:pPr>
            <a:r>
              <a:rPr lang="en-US" sz="1544" b="1" dirty="0">
                <a:solidFill>
                  <a:srgbClr val="E8E4DF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O Perigo da Incompatibilidade</a:t>
            </a:r>
            <a:endParaRPr lang="en-US" sz="1544" dirty="0"/>
          </a:p>
          <a:p>
            <a:pPr algn="l" indent="0" marL="0">
              <a:lnSpc>
                <a:spcPts val="2009"/>
              </a:lnSpc>
              <a:spcBef>
                <a:spcPts val="360"/>
              </a:spcBef>
              <a:spcAft>
                <a:spcPts val="360"/>
              </a:spcAft>
              <a:buNone/>
            </a:pPr>
            <a:r>
              <a:rPr lang="en-US" sz="1264" dirty="0">
                <a:solidFill>
                  <a:srgbClr val="E8E4DF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Configurar tipos de dados incorretos em planilhas causa falhas:</a:t>
            </a:r>
            <a:endParaRPr lang="en-US" sz="1544" dirty="0"/>
          </a:p>
          <a:p>
            <a:pPr algn="l" marL="228600" indent="-68580">
              <a:lnSpc>
                <a:spcPts val="2009"/>
              </a:lnSpc>
              <a:spcBef>
                <a:spcPts val="225"/>
              </a:spcBef>
              <a:spcAft>
                <a:spcPts val="225"/>
              </a:spcAft>
              <a:buSzPct val="100000"/>
              <a:buChar char="•"/>
            </a:pPr>
            <a:r>
              <a:rPr lang="en-US" sz="1264" b="1" dirty="0">
                <a:solidFill>
                  <a:srgbClr val="E8E4DF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Itens:</a:t>
            </a:r>
            <a:pPr algn="l" indent="0" marL="0">
              <a:lnSpc>
                <a:spcPts val="2009"/>
              </a:lnSpc>
              <a:spcBef>
                <a:spcPts val="225"/>
              </a:spcBef>
              <a:spcAft>
                <a:spcPts val="225"/>
              </a:spcAft>
              <a:buNone/>
            </a:pPr>
            <a:r>
              <a:rPr lang="en-US" sz="1264" dirty="0">
                <a:solidFill>
                  <a:srgbClr val="E8E4DF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 Números inteiros.</a:t>
            </a:r>
            <a:endParaRPr lang="en-US" sz="1544" dirty="0"/>
          </a:p>
          <a:p>
            <a:pPr algn="l" marL="228600" indent="-68580">
              <a:lnSpc>
                <a:spcPts val="2009"/>
              </a:lnSpc>
              <a:spcBef>
                <a:spcPts val="225"/>
              </a:spcBef>
              <a:spcAft>
                <a:spcPts val="225"/>
              </a:spcAft>
              <a:buSzPct val="100000"/>
              <a:buChar char="•"/>
            </a:pPr>
            <a:r>
              <a:rPr lang="en-US" sz="1264" b="1" dirty="0">
                <a:solidFill>
                  <a:srgbClr val="E8E4DF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Custos/Taxas:</a:t>
            </a:r>
            <a:pPr algn="l" indent="0" marL="0">
              <a:lnSpc>
                <a:spcPts val="2009"/>
              </a:lnSpc>
              <a:spcBef>
                <a:spcPts val="225"/>
              </a:spcBef>
              <a:spcAft>
                <a:spcPts val="225"/>
              </a:spcAft>
              <a:buNone/>
            </a:pPr>
            <a:r>
              <a:rPr lang="en-US" sz="1264" dirty="0">
                <a:solidFill>
                  <a:srgbClr val="E8E4DF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 Decimais (2 a 4 casas).</a:t>
            </a:r>
            <a:endParaRPr lang="en-US" sz="1544" dirty="0"/>
          </a:p>
          <a:p>
            <a:pPr algn="l" marL="228600" indent="-68580">
              <a:lnSpc>
                <a:spcPts val="2009"/>
              </a:lnSpc>
              <a:spcBef>
                <a:spcPts val="225"/>
              </a:spcBef>
              <a:spcAft>
                <a:spcPts val="225"/>
              </a:spcAft>
              <a:buSzPct val="100000"/>
              <a:buChar char="•"/>
            </a:pPr>
            <a:r>
              <a:rPr lang="en-US" sz="1264" b="1" dirty="0">
                <a:solidFill>
                  <a:srgbClr val="E8E4DF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Perdas:</a:t>
            </a:r>
            <a:pPr algn="l" indent="0" marL="0">
              <a:lnSpc>
                <a:spcPts val="2009"/>
              </a:lnSpc>
              <a:spcBef>
                <a:spcPts val="225"/>
              </a:spcBef>
              <a:spcAft>
                <a:spcPts val="225"/>
              </a:spcAft>
              <a:buNone/>
            </a:pPr>
            <a:r>
              <a:rPr lang="en-US" sz="1264" dirty="0">
                <a:solidFill>
                  <a:srgbClr val="E8E4DF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 Medidas contínuas (g/litros).</a:t>
            </a:r>
            <a:endParaRPr lang="en-US" sz="1544" dirty="0"/>
          </a:p>
        </p:txBody>
      </p:sp>
      <p:sp>
        <p:nvSpPr>
          <p:cNvPr id="5" name="8e4b673f-faaa-4bd1-bcee-0926264e0612_card"/>
          <p:cNvSpPr/>
          <p:nvPr/>
        </p:nvSpPr>
        <p:spPr>
          <a:xfrm>
            <a:off x="4286250" y="2994660"/>
            <a:ext cx="4572000" cy="1380744"/>
          </a:xfrm>
          <a:prstGeom prst="roundRect">
            <a:avLst>
              <a:gd name="adj" fmla="val 6623"/>
            </a:avLst>
          </a:prstGeom>
          <a:solidFill>
            <a:srgbClr val="F09696">
              <a:alpha val="14902"/>
            </a:srgbClr>
          </a:solidFill>
          <a:ln w="11430">
            <a:solidFill>
              <a:srgbClr val="460606">
                <a:alpha val="20000"/>
              </a:srgbClr>
            </a:solidFill>
            <a:prstDash val="solid"/>
          </a:ln>
        </p:spPr>
      </p:sp>
      <p:sp>
        <p:nvSpPr>
          <p:cNvPr id="6" name="8e4b673f-faaa-4bd1-bcee-0926264e0612_emoji"/>
          <p:cNvSpPr/>
          <p:nvPr/>
        </p:nvSpPr>
        <p:spPr>
          <a:xfrm>
            <a:off x="4400550" y="3143250"/>
            <a:ext cx="365760" cy="4114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2160" dirty="0">
                <a:solidFill>
                  <a:srgbClr val="000000"/>
                </a:solidFill>
              </a:rPr>
              <a:t>⚠️</a:t>
            </a:r>
            <a:endParaRPr lang="en-US" sz="2160" dirty="0"/>
          </a:p>
        </p:txBody>
      </p:sp>
      <p:sp>
        <p:nvSpPr>
          <p:cNvPr id="7" name="8e4b673f-faaa-4bd1-bcee-0926264e0612_text"/>
          <p:cNvSpPr/>
          <p:nvPr/>
        </p:nvSpPr>
        <p:spPr>
          <a:xfrm>
            <a:off x="4766310" y="3108960"/>
            <a:ext cx="3977640" cy="11521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86"/>
              </a:lnSpc>
              <a:spcBef>
                <a:spcPts val="270"/>
              </a:spcBef>
              <a:spcAft>
                <a:spcPts val="270"/>
              </a:spcAft>
              <a:buNone/>
            </a:pPr>
            <a:r>
              <a:rPr lang="en-US" sz="1123" b="1" dirty="0">
                <a:solidFill>
                  <a:srgbClr val="F7C1C1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Atenção</a:t>
            </a:r>
            <a:endParaRPr lang="en-US" sz="1123" dirty="0"/>
          </a:p>
          <a:p>
            <a:pPr algn="l" indent="0" marL="0">
              <a:lnSpc>
                <a:spcPts val="2009"/>
              </a:lnSpc>
              <a:spcBef>
                <a:spcPts val="360"/>
              </a:spcBef>
              <a:spcAft>
                <a:spcPts val="360"/>
              </a:spcAft>
              <a:buNone/>
            </a:pPr>
            <a:r>
              <a:rPr lang="en-US" sz="1264" dirty="0">
                <a:solidFill>
                  <a:srgbClr val="F7C1C1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Dividir 10 caixas por 3 lojas gera dízimas. Lojas recebem apenas itens inteiros, nunca frações.</a:t>
            </a:r>
            <a:endParaRPr lang="en-US" sz="1123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999ca9b3-16bb-4793-94d8-ed08cb0f7808"/>
          <p:cNvSpPr/>
          <p:nvPr/>
        </p:nvSpPr>
        <p:spPr>
          <a:xfrm>
            <a:off x="285750" y="171450"/>
            <a:ext cx="8572500" cy="603504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t"/>
          <a:lstStyle/>
          <a:p>
            <a:pPr algn="l" indent="0" marL="0">
              <a:lnSpc>
                <a:spcPts val="3571"/>
              </a:lnSpc>
              <a:spcBef>
                <a:spcPts val="450"/>
              </a:spcBef>
              <a:spcAft>
                <a:spcPts val="450"/>
              </a:spcAft>
              <a:buNone/>
            </a:pPr>
            <a:r>
              <a:rPr lang="en-US" sz="2246" b="1" dirty="0">
                <a:solidFill>
                  <a:srgbClr val="E8C85A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Desafio: Identificando Conjuntos</a:t>
            </a:r>
            <a:endParaRPr lang="en-US" sz="2246" dirty="0"/>
          </a:p>
        </p:txBody>
      </p:sp>
      <p:sp>
        <p:nvSpPr>
          <p:cNvPr id="3" name="c4b56d0b-650f-4b46-8b03-6a14e29f77a3"/>
          <p:cNvSpPr/>
          <p:nvPr/>
        </p:nvSpPr>
        <p:spPr>
          <a:xfrm>
            <a:off x="285750" y="685800"/>
            <a:ext cx="8572500" cy="667512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t"/>
          <a:lstStyle/>
          <a:p>
            <a:pPr algn="l" indent="0" marL="0">
              <a:lnSpc>
                <a:spcPts val="2009"/>
              </a:lnSpc>
              <a:spcBef>
                <a:spcPts val="360"/>
              </a:spcBef>
              <a:spcAft>
                <a:spcPts val="360"/>
              </a:spcAft>
              <a:buNone/>
            </a:pPr>
            <a:r>
              <a:rPr lang="en-US" sz="1264" dirty="0">
                <a:solidFill>
                  <a:srgbClr val="E8E4DF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Um gestor de logística analisa três variáveis: número de funcionários, saldobancário e peso do frete. A quais conjuntos pertencem essas grandezas?</a:t>
            </a:r>
            <a:endParaRPr lang="en-US" sz="1264" dirty="0"/>
          </a:p>
        </p:txBody>
      </p:sp>
      <p:sp>
        <p:nvSpPr>
          <p:cNvPr id="4" name="fe7281b0-f6ab-41db-901d-2517a8877f95"/>
          <p:cNvSpPr/>
          <p:nvPr/>
        </p:nvSpPr>
        <p:spPr>
          <a:xfrm>
            <a:off x="285750" y="1657350"/>
            <a:ext cx="525780" cy="685800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ctr"/>
          <a:lstStyle/>
          <a:p>
            <a:pPr algn="l" indent="0" marL="0">
              <a:lnSpc>
                <a:spcPts val="3125"/>
              </a:lnSpc>
              <a:spcBef>
                <a:spcPts val="450"/>
              </a:spcBef>
              <a:spcAft>
                <a:spcPts val="450"/>
              </a:spcAft>
              <a:buNone/>
            </a:pPr>
            <a:r>
              <a:rPr lang="en-US" sz="1966" b="1" dirty="0">
                <a:solidFill>
                  <a:srgbClr val="E8E4DF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1.</a:t>
            </a:r>
            <a:endParaRPr lang="en-US" sz="1966" dirty="0"/>
          </a:p>
        </p:txBody>
      </p:sp>
      <p:sp>
        <p:nvSpPr>
          <p:cNvPr id="5" name="3feb03f2-d94b-4d39-bd28-1a66d60dee4a"/>
          <p:cNvSpPr/>
          <p:nvPr/>
        </p:nvSpPr>
        <p:spPr>
          <a:xfrm>
            <a:off x="857250" y="1657350"/>
            <a:ext cx="8001000" cy="685800"/>
          </a:xfrm>
          <a:prstGeom prst="roundRect">
            <a:avLst>
              <a:gd name="adj" fmla="val 16667"/>
            </a:avLst>
          </a:prstGeom>
          <a:solidFill>
            <a:srgbClr val="F4F9FC"/>
          </a:solidFill>
          <a:ln w="45720">
            <a:solidFill>
              <a:srgbClr val="000000"/>
            </a:solidFill>
          </a:ln>
        </p:spPr>
        <p:txBody>
          <a:bodyPr wrap="square" lIns="102870" tIns="102870" rIns="102870" bIns="102870" rtlCol="0" anchor="ctr"/>
          <a:lstStyle/>
          <a:p>
            <a:pPr algn="l" indent="0" marL="0">
              <a:lnSpc>
                <a:spcPts val="2009"/>
              </a:lnSpc>
              <a:spcBef>
                <a:spcPts val="360"/>
              </a:spcBef>
              <a:spcAft>
                <a:spcPts val="360"/>
              </a:spcAft>
              <a:buNone/>
            </a:pPr>
            <a:r>
              <a:rPr lang="en-US" sz="1264" dirty="0">
                <a:solidFill>
                  <a:srgbClr val="040F0F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Reais, Naturais e Inteiros</a:t>
            </a:r>
            <a:endParaRPr lang="en-US" sz="1264" dirty="0"/>
          </a:p>
        </p:txBody>
      </p:sp>
      <p:sp>
        <p:nvSpPr>
          <p:cNvPr id="6" name="9c8e4e10-c084-4e4d-8734-9d0a517eb96d"/>
          <p:cNvSpPr/>
          <p:nvPr/>
        </p:nvSpPr>
        <p:spPr>
          <a:xfrm>
            <a:off x="285750" y="2514600"/>
            <a:ext cx="525780" cy="685800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ctr"/>
          <a:lstStyle/>
          <a:p>
            <a:pPr algn="l" indent="0" marL="0">
              <a:lnSpc>
                <a:spcPts val="3125"/>
              </a:lnSpc>
              <a:spcBef>
                <a:spcPts val="450"/>
              </a:spcBef>
              <a:spcAft>
                <a:spcPts val="450"/>
              </a:spcAft>
              <a:buNone/>
            </a:pPr>
            <a:r>
              <a:rPr lang="en-US" sz="1966" b="1" dirty="0">
                <a:solidFill>
                  <a:srgbClr val="E8E4DF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2.</a:t>
            </a:r>
            <a:endParaRPr lang="en-US" sz="1966" dirty="0"/>
          </a:p>
        </p:txBody>
      </p:sp>
      <p:sp>
        <p:nvSpPr>
          <p:cNvPr id="7" name="6d87b351-9702-46ba-a840-71d4c67a3950"/>
          <p:cNvSpPr/>
          <p:nvPr/>
        </p:nvSpPr>
        <p:spPr>
          <a:xfrm>
            <a:off x="857250" y="2514600"/>
            <a:ext cx="8001000" cy="685800"/>
          </a:xfrm>
          <a:prstGeom prst="roundRect">
            <a:avLst>
              <a:gd name="adj" fmla="val 16667"/>
            </a:avLst>
          </a:prstGeom>
          <a:solidFill>
            <a:srgbClr val="F4F9FC"/>
          </a:solidFill>
          <a:ln w="45720">
            <a:solidFill>
              <a:srgbClr val="000000"/>
            </a:solidFill>
          </a:ln>
        </p:spPr>
        <p:txBody>
          <a:bodyPr wrap="square" lIns="102870" tIns="102870" rIns="102870" bIns="102870" rtlCol="0" anchor="ctr"/>
          <a:lstStyle/>
          <a:p>
            <a:pPr algn="l" indent="0" marL="0">
              <a:lnSpc>
                <a:spcPts val="2009"/>
              </a:lnSpc>
              <a:spcBef>
                <a:spcPts val="360"/>
              </a:spcBef>
              <a:spcAft>
                <a:spcPts val="360"/>
              </a:spcAft>
              <a:buNone/>
            </a:pPr>
            <a:r>
              <a:rPr lang="en-US" sz="1264" dirty="0">
                <a:solidFill>
                  <a:srgbClr val="040F0F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Inteiros, Racionais e Naturais</a:t>
            </a:r>
            <a:endParaRPr lang="en-US" sz="1264" dirty="0"/>
          </a:p>
        </p:txBody>
      </p:sp>
      <p:sp>
        <p:nvSpPr>
          <p:cNvPr id="8" name="838c26e7-7cb7-4b3a-b1f8-39a7199910c6"/>
          <p:cNvSpPr/>
          <p:nvPr/>
        </p:nvSpPr>
        <p:spPr>
          <a:xfrm>
            <a:off x="285750" y="3371850"/>
            <a:ext cx="525780" cy="685800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ctr"/>
          <a:lstStyle/>
          <a:p>
            <a:pPr algn="l" indent="0" marL="0">
              <a:lnSpc>
                <a:spcPts val="3125"/>
              </a:lnSpc>
              <a:spcBef>
                <a:spcPts val="450"/>
              </a:spcBef>
              <a:spcAft>
                <a:spcPts val="450"/>
              </a:spcAft>
              <a:buNone/>
            </a:pPr>
            <a:r>
              <a:rPr lang="en-US" sz="1966" b="1" dirty="0">
                <a:solidFill>
                  <a:srgbClr val="E8E4DF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3.</a:t>
            </a:r>
            <a:endParaRPr lang="en-US" sz="1966" dirty="0"/>
          </a:p>
        </p:txBody>
      </p:sp>
      <p:sp>
        <p:nvSpPr>
          <p:cNvPr id="9" name="08eaece5-f4e8-49b3-9b2c-d626cfc8649b"/>
          <p:cNvSpPr/>
          <p:nvPr/>
        </p:nvSpPr>
        <p:spPr>
          <a:xfrm>
            <a:off x="857250" y="3371850"/>
            <a:ext cx="8001000" cy="685800"/>
          </a:xfrm>
          <a:prstGeom prst="roundRect">
            <a:avLst>
              <a:gd name="adj" fmla="val 16667"/>
            </a:avLst>
          </a:prstGeom>
          <a:solidFill>
            <a:srgbClr val="F4F9FC"/>
          </a:solidFill>
          <a:ln w="45720">
            <a:solidFill>
              <a:srgbClr val="000000"/>
            </a:solidFill>
          </a:ln>
        </p:spPr>
        <p:txBody>
          <a:bodyPr wrap="square" lIns="102870" tIns="102870" rIns="102870" bIns="102870" rtlCol="0" anchor="ctr"/>
          <a:lstStyle/>
          <a:p>
            <a:pPr algn="l" indent="0" marL="0">
              <a:lnSpc>
                <a:spcPts val="2009"/>
              </a:lnSpc>
              <a:spcBef>
                <a:spcPts val="360"/>
              </a:spcBef>
              <a:spcAft>
                <a:spcPts val="360"/>
              </a:spcAft>
              <a:buNone/>
            </a:pPr>
            <a:r>
              <a:rPr lang="en-US" sz="1264" dirty="0">
                <a:solidFill>
                  <a:srgbClr val="040F0F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Naturais, Inteiros e Racionais</a:t>
            </a:r>
            <a:endParaRPr lang="en-US" sz="1264" dirty="0"/>
          </a:p>
        </p:txBody>
      </p:sp>
      <p:sp>
        <p:nvSpPr>
          <p:cNvPr id="10" name="ef5f80a1-58cc-46c8-aef7-44f6fd93b8f3"/>
          <p:cNvSpPr/>
          <p:nvPr/>
        </p:nvSpPr>
        <p:spPr>
          <a:xfrm>
            <a:off x="285750" y="4229100"/>
            <a:ext cx="525780" cy="685800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ctr"/>
          <a:lstStyle/>
          <a:p>
            <a:pPr algn="l" indent="0" marL="0">
              <a:lnSpc>
                <a:spcPts val="3125"/>
              </a:lnSpc>
              <a:spcBef>
                <a:spcPts val="450"/>
              </a:spcBef>
              <a:spcAft>
                <a:spcPts val="450"/>
              </a:spcAft>
              <a:buNone/>
            </a:pPr>
            <a:r>
              <a:rPr lang="en-US" sz="1966" b="1" dirty="0">
                <a:solidFill>
                  <a:srgbClr val="E8E4DF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4.</a:t>
            </a:r>
            <a:endParaRPr lang="en-US" sz="1966" dirty="0"/>
          </a:p>
        </p:txBody>
      </p:sp>
      <p:sp>
        <p:nvSpPr>
          <p:cNvPr id="11" name="3fffa9fc-9dc5-420c-9a24-5b1dc28d7fcb"/>
          <p:cNvSpPr/>
          <p:nvPr/>
        </p:nvSpPr>
        <p:spPr>
          <a:xfrm>
            <a:off x="857250" y="4229100"/>
            <a:ext cx="8001000" cy="685800"/>
          </a:xfrm>
          <a:prstGeom prst="roundRect">
            <a:avLst>
              <a:gd name="adj" fmla="val 16667"/>
            </a:avLst>
          </a:prstGeom>
          <a:solidFill>
            <a:srgbClr val="F4F9FC"/>
          </a:solidFill>
          <a:ln w="45720">
            <a:solidFill>
              <a:srgbClr val="000000"/>
            </a:solidFill>
          </a:ln>
        </p:spPr>
        <p:txBody>
          <a:bodyPr wrap="square" lIns="102870" tIns="102870" rIns="102870" bIns="102870" rtlCol="0" anchor="ctr"/>
          <a:lstStyle/>
          <a:p>
            <a:pPr algn="l" indent="0" marL="0">
              <a:lnSpc>
                <a:spcPts val="2009"/>
              </a:lnSpc>
              <a:spcBef>
                <a:spcPts val="360"/>
              </a:spcBef>
              <a:spcAft>
                <a:spcPts val="360"/>
              </a:spcAft>
              <a:buNone/>
            </a:pPr>
            <a:r>
              <a:rPr lang="en-US" sz="1264" dirty="0">
                <a:solidFill>
                  <a:srgbClr val="040F0F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Racionais, Naturais e Inteiros</a:t>
            </a:r>
            <a:endParaRPr lang="en-US" sz="1264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999ca9b3-16bb-4793-94d8-ed08cb0f7808"/>
          <p:cNvSpPr/>
          <p:nvPr/>
        </p:nvSpPr>
        <p:spPr>
          <a:xfrm>
            <a:off x="285750" y="171450"/>
            <a:ext cx="8572500" cy="603504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t"/>
          <a:lstStyle/>
          <a:p>
            <a:pPr algn="l" indent="0" marL="0">
              <a:lnSpc>
                <a:spcPts val="3571"/>
              </a:lnSpc>
              <a:spcBef>
                <a:spcPts val="450"/>
              </a:spcBef>
              <a:spcAft>
                <a:spcPts val="450"/>
              </a:spcAft>
              <a:buNone/>
            </a:pPr>
            <a:r>
              <a:rPr lang="en-US" sz="2246" b="1" dirty="0">
                <a:solidFill>
                  <a:srgbClr val="E8C85A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Desafio: Identificando Conjuntos</a:t>
            </a:r>
            <a:endParaRPr lang="en-US" sz="2246" dirty="0"/>
          </a:p>
        </p:txBody>
      </p:sp>
      <p:sp>
        <p:nvSpPr>
          <p:cNvPr id="3" name="c4b56d0b-650f-4b46-8b03-6a14e29f77a3"/>
          <p:cNvSpPr/>
          <p:nvPr/>
        </p:nvSpPr>
        <p:spPr>
          <a:xfrm>
            <a:off x="285750" y="685800"/>
            <a:ext cx="8572500" cy="667512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t"/>
          <a:lstStyle/>
          <a:p>
            <a:pPr algn="l" indent="0" marL="0">
              <a:lnSpc>
                <a:spcPts val="2009"/>
              </a:lnSpc>
              <a:spcBef>
                <a:spcPts val="360"/>
              </a:spcBef>
              <a:spcAft>
                <a:spcPts val="360"/>
              </a:spcAft>
              <a:buNone/>
            </a:pPr>
            <a:r>
              <a:rPr lang="en-US" sz="1264" dirty="0">
                <a:solidFill>
                  <a:srgbClr val="E8E4DF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Um gestor de logística analisa três variáveis: número de funcionários, saldobancário e peso do frete. A quais conjuntos pertencem essas grandezas?</a:t>
            </a:r>
            <a:endParaRPr lang="en-US" sz="1264" dirty="0"/>
          </a:p>
        </p:txBody>
      </p:sp>
      <p:sp>
        <p:nvSpPr>
          <p:cNvPr id="4" name="fe7281b0-f6ab-41db-901d-2517a8877f95"/>
          <p:cNvSpPr/>
          <p:nvPr/>
        </p:nvSpPr>
        <p:spPr>
          <a:xfrm>
            <a:off x="285750" y="1657350"/>
            <a:ext cx="525780" cy="685800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ctr"/>
          <a:lstStyle/>
          <a:p>
            <a:pPr algn="l" indent="0" marL="0">
              <a:lnSpc>
                <a:spcPts val="3125"/>
              </a:lnSpc>
              <a:spcBef>
                <a:spcPts val="450"/>
              </a:spcBef>
              <a:spcAft>
                <a:spcPts val="450"/>
              </a:spcAft>
              <a:buNone/>
            </a:pPr>
            <a:r>
              <a:rPr lang="en-US" sz="1966" b="1" dirty="0">
                <a:solidFill>
                  <a:srgbClr val="E8E4DF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1.</a:t>
            </a:r>
            <a:endParaRPr lang="en-US" sz="1966" dirty="0"/>
          </a:p>
        </p:txBody>
      </p:sp>
      <p:sp>
        <p:nvSpPr>
          <p:cNvPr id="5" name="3feb03f2-d94b-4d39-bd28-1a66d60dee4a"/>
          <p:cNvSpPr/>
          <p:nvPr/>
        </p:nvSpPr>
        <p:spPr>
          <a:xfrm>
            <a:off x="857250" y="1657350"/>
            <a:ext cx="8001000" cy="685800"/>
          </a:xfrm>
          <a:prstGeom prst="roundRect">
            <a:avLst>
              <a:gd name="adj" fmla="val 16667"/>
            </a:avLst>
          </a:prstGeom>
          <a:solidFill>
            <a:srgbClr val="F4F9FC"/>
          </a:solidFill>
          <a:ln w="45720">
            <a:solidFill>
              <a:srgbClr val="000000"/>
            </a:solidFill>
          </a:ln>
        </p:spPr>
        <p:txBody>
          <a:bodyPr wrap="square" lIns="102870" tIns="102870" rIns="102870" bIns="102870" rtlCol="0" anchor="ctr"/>
          <a:lstStyle/>
          <a:p>
            <a:pPr algn="l" indent="0" marL="0">
              <a:lnSpc>
                <a:spcPts val="2009"/>
              </a:lnSpc>
              <a:spcBef>
                <a:spcPts val="360"/>
              </a:spcBef>
              <a:spcAft>
                <a:spcPts val="360"/>
              </a:spcAft>
              <a:buNone/>
            </a:pPr>
            <a:r>
              <a:rPr lang="en-US" sz="1264" dirty="0">
                <a:solidFill>
                  <a:srgbClr val="040F0F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Reais, Naturais e Inteiros</a:t>
            </a:r>
            <a:endParaRPr lang="en-US" sz="1264" dirty="0"/>
          </a:p>
        </p:txBody>
      </p:sp>
      <p:sp>
        <p:nvSpPr>
          <p:cNvPr id="6" name="9c8e4e10-c084-4e4d-8734-9d0a517eb96d"/>
          <p:cNvSpPr/>
          <p:nvPr/>
        </p:nvSpPr>
        <p:spPr>
          <a:xfrm>
            <a:off x="285750" y="2514600"/>
            <a:ext cx="525780" cy="685800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ctr"/>
          <a:lstStyle/>
          <a:p>
            <a:pPr algn="l" indent="0" marL="0">
              <a:lnSpc>
                <a:spcPts val="3125"/>
              </a:lnSpc>
              <a:spcBef>
                <a:spcPts val="450"/>
              </a:spcBef>
              <a:spcAft>
                <a:spcPts val="450"/>
              </a:spcAft>
              <a:buNone/>
            </a:pPr>
            <a:r>
              <a:rPr lang="en-US" sz="1966" b="1" dirty="0">
                <a:solidFill>
                  <a:srgbClr val="E8E4DF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2.</a:t>
            </a:r>
            <a:endParaRPr lang="en-US" sz="1966" dirty="0"/>
          </a:p>
        </p:txBody>
      </p:sp>
      <p:sp>
        <p:nvSpPr>
          <p:cNvPr id="7" name="6d87b351-9702-46ba-a840-71d4c67a3950"/>
          <p:cNvSpPr/>
          <p:nvPr/>
        </p:nvSpPr>
        <p:spPr>
          <a:xfrm>
            <a:off x="857250" y="2514600"/>
            <a:ext cx="8001000" cy="685800"/>
          </a:xfrm>
          <a:prstGeom prst="roundRect">
            <a:avLst>
              <a:gd name="adj" fmla="val 16667"/>
            </a:avLst>
          </a:prstGeom>
          <a:solidFill>
            <a:srgbClr val="F4F9FC"/>
          </a:solidFill>
          <a:ln w="45720">
            <a:solidFill>
              <a:srgbClr val="000000"/>
            </a:solidFill>
          </a:ln>
        </p:spPr>
        <p:txBody>
          <a:bodyPr wrap="square" lIns="102870" tIns="102870" rIns="102870" bIns="102870" rtlCol="0" anchor="ctr"/>
          <a:lstStyle/>
          <a:p>
            <a:pPr algn="l" indent="0" marL="0">
              <a:lnSpc>
                <a:spcPts val="2009"/>
              </a:lnSpc>
              <a:spcBef>
                <a:spcPts val="360"/>
              </a:spcBef>
              <a:spcAft>
                <a:spcPts val="360"/>
              </a:spcAft>
              <a:buNone/>
            </a:pPr>
            <a:r>
              <a:rPr lang="en-US" sz="1264" dirty="0">
                <a:solidFill>
                  <a:srgbClr val="040F0F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Inteiros, Racionais e Naturais</a:t>
            </a:r>
            <a:endParaRPr lang="en-US" sz="1264" dirty="0"/>
          </a:p>
        </p:txBody>
      </p:sp>
      <p:sp>
        <p:nvSpPr>
          <p:cNvPr id="8" name="838c26e7-7cb7-4b3a-b1f8-39a7199910c6"/>
          <p:cNvSpPr/>
          <p:nvPr/>
        </p:nvSpPr>
        <p:spPr>
          <a:xfrm>
            <a:off x="285750" y="3371850"/>
            <a:ext cx="525780" cy="685800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ctr"/>
          <a:lstStyle/>
          <a:p>
            <a:pPr algn="l" indent="0" marL="0">
              <a:lnSpc>
                <a:spcPts val="3125"/>
              </a:lnSpc>
              <a:spcBef>
                <a:spcPts val="450"/>
              </a:spcBef>
              <a:spcAft>
                <a:spcPts val="450"/>
              </a:spcAft>
              <a:buNone/>
            </a:pPr>
            <a:r>
              <a:rPr lang="en-US" sz="1966" b="1" dirty="0">
                <a:solidFill>
                  <a:srgbClr val="E8E4DF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3.</a:t>
            </a:r>
            <a:endParaRPr lang="en-US" sz="1966" dirty="0"/>
          </a:p>
        </p:txBody>
      </p:sp>
      <p:sp>
        <p:nvSpPr>
          <p:cNvPr id="9" name="08eaece5-f4e8-49b3-9b2c-d626cfc8649b"/>
          <p:cNvSpPr/>
          <p:nvPr/>
        </p:nvSpPr>
        <p:spPr>
          <a:xfrm>
            <a:off x="857250" y="3371850"/>
            <a:ext cx="8001000" cy="685800"/>
          </a:xfrm>
          <a:prstGeom prst="roundRect">
            <a:avLst>
              <a:gd name="adj" fmla="val 16667"/>
            </a:avLst>
          </a:prstGeom>
          <a:solidFill>
            <a:srgbClr val="F4F9FC"/>
          </a:solidFill>
          <a:ln w="45720">
            <a:solidFill>
              <a:srgbClr val="2C6E49"/>
            </a:solidFill>
          </a:ln>
        </p:spPr>
        <p:txBody>
          <a:bodyPr wrap="square" lIns="102870" tIns="102870" rIns="102870" bIns="102870" rtlCol="0" anchor="ctr"/>
          <a:lstStyle/>
          <a:p>
            <a:pPr algn="l" indent="0" marL="0">
              <a:lnSpc>
                <a:spcPts val="2009"/>
              </a:lnSpc>
              <a:spcBef>
                <a:spcPts val="360"/>
              </a:spcBef>
              <a:spcAft>
                <a:spcPts val="360"/>
              </a:spcAft>
              <a:buNone/>
            </a:pPr>
            <a:r>
              <a:rPr lang="en-US" sz="1264" dirty="0">
                <a:solidFill>
                  <a:srgbClr val="040F0F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Naturais, Inteiros e Racionais</a:t>
            </a:r>
            <a:endParaRPr lang="en-US" sz="1264" dirty="0"/>
          </a:p>
        </p:txBody>
      </p:sp>
      <p:sp>
        <p:nvSpPr>
          <p:cNvPr id="10" name="ef5f80a1-58cc-46c8-aef7-44f6fd93b8f3"/>
          <p:cNvSpPr/>
          <p:nvPr/>
        </p:nvSpPr>
        <p:spPr>
          <a:xfrm>
            <a:off x="285750" y="4229100"/>
            <a:ext cx="525780" cy="685800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ctr"/>
          <a:lstStyle/>
          <a:p>
            <a:pPr algn="l" indent="0" marL="0">
              <a:lnSpc>
                <a:spcPts val="3125"/>
              </a:lnSpc>
              <a:spcBef>
                <a:spcPts val="450"/>
              </a:spcBef>
              <a:spcAft>
                <a:spcPts val="450"/>
              </a:spcAft>
              <a:buNone/>
            </a:pPr>
            <a:r>
              <a:rPr lang="en-US" sz="1966" b="1" dirty="0">
                <a:solidFill>
                  <a:srgbClr val="E8E4DF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4.</a:t>
            </a:r>
            <a:endParaRPr lang="en-US" sz="1966" dirty="0"/>
          </a:p>
        </p:txBody>
      </p:sp>
      <p:sp>
        <p:nvSpPr>
          <p:cNvPr id="11" name="3fffa9fc-9dc5-420c-9a24-5b1dc28d7fcb"/>
          <p:cNvSpPr/>
          <p:nvPr/>
        </p:nvSpPr>
        <p:spPr>
          <a:xfrm>
            <a:off x="857250" y="4229100"/>
            <a:ext cx="8001000" cy="685800"/>
          </a:xfrm>
          <a:prstGeom prst="roundRect">
            <a:avLst>
              <a:gd name="adj" fmla="val 16667"/>
            </a:avLst>
          </a:prstGeom>
          <a:solidFill>
            <a:srgbClr val="F4F9FC"/>
          </a:solidFill>
          <a:ln w="45720">
            <a:solidFill>
              <a:srgbClr val="000000"/>
            </a:solidFill>
          </a:ln>
        </p:spPr>
        <p:txBody>
          <a:bodyPr wrap="square" lIns="102870" tIns="102870" rIns="102870" bIns="102870" rtlCol="0" anchor="ctr"/>
          <a:lstStyle/>
          <a:p>
            <a:pPr algn="l" indent="0" marL="0">
              <a:lnSpc>
                <a:spcPts val="2009"/>
              </a:lnSpc>
              <a:spcBef>
                <a:spcPts val="360"/>
              </a:spcBef>
              <a:spcAft>
                <a:spcPts val="360"/>
              </a:spcAft>
              <a:buNone/>
            </a:pPr>
            <a:r>
              <a:rPr lang="en-US" sz="1264" dirty="0">
                <a:solidFill>
                  <a:srgbClr val="040F0F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Racionais, Naturais e Inteiros</a:t>
            </a:r>
            <a:endParaRPr lang="en-US" sz="1264" dirty="0"/>
          </a:p>
        </p:txBody>
      </p:sp>
      <p:sp>
        <p:nvSpPr>
          <p:cNvPr id="12" name="38af7c04-8903-4dbf-ae11-d96d183998b9"/>
          <p:cNvSpPr/>
          <p:nvPr/>
        </p:nvSpPr>
        <p:spPr>
          <a:xfrm>
            <a:off x="8366760" y="342900"/>
            <a:ext cx="548640" cy="548640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ctr"/>
          <a:lstStyle/>
          <a:p>
            <a:pPr algn="r" indent="0" marL="0">
              <a:lnSpc>
                <a:spcPts val="4464"/>
              </a:lnSpc>
              <a:spcBef>
                <a:spcPts val="450"/>
              </a:spcBef>
              <a:spcAft>
                <a:spcPts val="450"/>
              </a:spcAft>
              <a:buNone/>
            </a:pPr>
            <a:r>
              <a:rPr lang="en-US" sz="2808" dirty="0">
                <a:solidFill>
                  <a:srgbClr val="E8E4DF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✅</a:t>
            </a:r>
            <a:endParaRPr lang="en-US" sz="2808" dirty="0"/>
          </a:p>
        </p:txBody>
      </p:sp>
      <p:sp>
        <p:nvSpPr>
          <p:cNvPr id="13" name="fd061b75-bd67-414e-b8ab-ae83e6c6b223"/>
          <p:cNvSpPr/>
          <p:nvPr/>
        </p:nvSpPr>
        <p:spPr>
          <a:xfrm>
            <a:off x="8721090" y="3234690"/>
            <a:ext cx="274320" cy="274320"/>
          </a:xfrm>
          <a:prstGeom prst="roundRect">
            <a:avLst>
              <a:gd name="adj" fmla="val 25000"/>
            </a:avLst>
          </a:prstGeom>
          <a:solidFill>
            <a:srgbClr val="2C6E49"/>
          </a:solidFill>
          <a:ln/>
        </p:spPr>
        <p:txBody>
          <a:bodyPr wrap="square" lIns="45720" tIns="45720" rIns="45720" bIns="45720" rtlCol="0" anchor="ctr"/>
          <a:lstStyle/>
          <a:p>
            <a:pPr algn="ctr" indent="0" marL="0">
              <a:lnSpc>
                <a:spcPts val="1451"/>
              </a:lnSpc>
              <a:spcBef>
                <a:spcPts val="270"/>
              </a:spcBef>
              <a:spcAft>
                <a:spcPts val="270"/>
              </a:spcAft>
              <a:buNone/>
            </a:pPr>
            <a:r>
              <a:rPr lang="en-US" sz="913" b="1" dirty="0">
                <a:solidFill>
                  <a:srgbClr val="FFFFFF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✓</a:t>
            </a:r>
            <a:endParaRPr lang="en-US" sz="913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9fdc408c-2750-4545-84ca-11d606844f4d" descr="/home/forge/chalkie-production-workers-1/releases/77481629/backend/storage/app/render-specs/3c0c6458-ad69-4755-a770-457f81065846/img_024b9b959fd38233fc31081261974b38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1828800"/>
          </a:xfrm>
          <a:prstGeom prst="roundRect">
            <a:avLst>
              <a:gd name="adj" fmla="val 7500"/>
            </a:avLst>
          </a:prstGeom>
        </p:spPr>
      </p:pic>
      <p:sp>
        <p:nvSpPr>
          <p:cNvPr id="3" name="bcc15443-b902-40b5-ab76-f256c863178b"/>
          <p:cNvSpPr/>
          <p:nvPr/>
        </p:nvSpPr>
        <p:spPr>
          <a:xfrm>
            <a:off x="285750" y="2217420"/>
            <a:ext cx="8572500" cy="603504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t"/>
          <a:lstStyle/>
          <a:p>
            <a:pPr algn="l" indent="0" marL="0">
              <a:lnSpc>
                <a:spcPts val="3571"/>
              </a:lnSpc>
              <a:spcBef>
                <a:spcPts val="450"/>
              </a:spcBef>
              <a:spcAft>
                <a:spcPts val="450"/>
              </a:spcAft>
              <a:buNone/>
            </a:pPr>
            <a:r>
              <a:rPr lang="en-US" sz="2246" b="1" dirty="0">
                <a:solidFill>
                  <a:srgbClr val="E8C85A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Operações Básicas na Empresa</a:t>
            </a:r>
            <a:endParaRPr lang="en-US" sz="2246" dirty="0"/>
          </a:p>
        </p:txBody>
      </p:sp>
      <p:sp>
        <p:nvSpPr>
          <p:cNvPr id="4" name="151415b2-d8d4-4c9d-b517-3975a65e4ff0"/>
          <p:cNvSpPr/>
          <p:nvPr/>
        </p:nvSpPr>
        <p:spPr>
          <a:xfrm>
            <a:off x="285750" y="2914650"/>
            <a:ext cx="2423160" cy="262890"/>
          </a:xfrm>
          <a:prstGeom prst="roundRect">
            <a:avLst>
              <a:gd name="adj" fmla="val 17391"/>
            </a:avLst>
          </a:prstGeom>
          <a:solidFill>
            <a:srgbClr val="7EB5A6"/>
          </a:solidFill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42" b="1" dirty="0">
                <a:solidFill>
                  <a:srgbClr val="FFFFFF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OPERAÇÕES PRÁTICAS</a:t>
            </a:r>
            <a:endParaRPr lang="en-US" sz="842" dirty="0"/>
          </a:p>
        </p:txBody>
      </p:sp>
      <p:sp>
        <p:nvSpPr>
          <p:cNvPr id="5" name="dfd4e576-2c2a-4295-b54d-e0e13230ab53"/>
          <p:cNvSpPr/>
          <p:nvPr/>
        </p:nvSpPr>
        <p:spPr>
          <a:xfrm>
            <a:off x="285750" y="3223260"/>
            <a:ext cx="8572500" cy="1243584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t"/>
          <a:lstStyle/>
          <a:p>
            <a:pPr algn="l" indent="0" marL="0">
              <a:lnSpc>
                <a:spcPts val="2009"/>
              </a:lnSpc>
              <a:spcBef>
                <a:spcPts val="360"/>
              </a:spcBef>
              <a:spcAft>
                <a:spcPts val="360"/>
              </a:spcAft>
              <a:buNone/>
            </a:pPr>
            <a:r>
              <a:rPr lang="en-US" sz="1264" dirty="0">
                <a:solidFill>
                  <a:srgbClr val="E8E4DF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Adição, subtração, multiplicação e divisão formam a base do controle operacional. Na gestão, elas são combinadas para calcular receita bruta, ponto de equilíbrio, margem de contribuição e giro de estoques. A precisão nessas quatro operações determina a saúde financeira do negócio.</a:t>
            </a:r>
            <a:endParaRPr lang="en-US" sz="1264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c4018ffb-bfe6-422c-8bd3-62cc7d1f47d4" descr="/home/forge/chalkie-production-workers-1/releases/77481629/backend/storage/app/render-specs/3c0c6458-ad69-4755-a770-457f81065846/img_edbe13e86140001e83f78ae1b5fa3d8c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800100"/>
            <a:ext cx="3829050" cy="4057650"/>
          </a:xfrm>
          <a:prstGeom prst="roundRect">
            <a:avLst>
              <a:gd name="adj" fmla="val 3582"/>
            </a:avLst>
          </a:prstGeom>
        </p:spPr>
      </p:pic>
      <p:sp>
        <p:nvSpPr>
          <p:cNvPr id="3" name="24163c97-d3fc-4bc6-9499-e8369762b034"/>
          <p:cNvSpPr/>
          <p:nvPr/>
        </p:nvSpPr>
        <p:spPr>
          <a:xfrm>
            <a:off x="285750" y="171450"/>
            <a:ext cx="8572500" cy="603504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t"/>
          <a:lstStyle/>
          <a:p>
            <a:pPr algn="l" indent="0" marL="0">
              <a:lnSpc>
                <a:spcPts val="3571"/>
              </a:lnSpc>
              <a:spcBef>
                <a:spcPts val="450"/>
              </a:spcBef>
              <a:spcAft>
                <a:spcPts val="450"/>
              </a:spcAft>
              <a:buNone/>
            </a:pPr>
            <a:r>
              <a:rPr lang="en-US" sz="2246" b="1" dirty="0">
                <a:solidFill>
                  <a:srgbClr val="E8C85A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Cálculo de Custo Unitário</a:t>
            </a:r>
            <a:endParaRPr lang="en-US" sz="2246" dirty="0"/>
          </a:p>
        </p:txBody>
      </p:sp>
      <p:sp>
        <p:nvSpPr>
          <p:cNvPr id="4" name="92de0747-376e-449d-b1d3-fb702ecf3870"/>
          <p:cNvSpPr/>
          <p:nvPr/>
        </p:nvSpPr>
        <p:spPr>
          <a:xfrm>
            <a:off x="285750" y="868680"/>
            <a:ext cx="2423160" cy="262890"/>
          </a:xfrm>
          <a:prstGeom prst="roundRect">
            <a:avLst>
              <a:gd name="adj" fmla="val 17391"/>
            </a:avLst>
          </a:prstGeom>
          <a:solidFill>
            <a:srgbClr val="7EB5A6"/>
          </a:solidFill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42" b="1" dirty="0">
                <a:solidFill>
                  <a:srgbClr val="FFFFFF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OPERAÇÕES PRÁTICAS</a:t>
            </a:r>
            <a:endParaRPr lang="en-US" sz="842" dirty="0"/>
          </a:p>
        </p:txBody>
      </p:sp>
      <p:sp>
        <p:nvSpPr>
          <p:cNvPr id="5" name="7b6f9a6c-3be2-47f5-9095-7843a1a559ef"/>
          <p:cNvSpPr/>
          <p:nvPr/>
        </p:nvSpPr>
        <p:spPr>
          <a:xfrm>
            <a:off x="285750" y="1177290"/>
            <a:ext cx="4572000" cy="1499616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t"/>
          <a:lstStyle/>
          <a:p>
            <a:pPr algn="l" indent="0" marL="0">
              <a:lnSpc>
                <a:spcPts val="2455"/>
              </a:lnSpc>
              <a:spcBef>
                <a:spcPts val="360"/>
              </a:spcBef>
              <a:spcAft>
                <a:spcPts val="360"/>
              </a:spcAft>
              <a:buNone/>
            </a:pPr>
            <a:r>
              <a:rPr lang="en-US" sz="1544" b="1" dirty="0">
                <a:solidFill>
                  <a:srgbClr val="E8E4DF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Estrutura de Custos</a:t>
            </a:r>
            <a:endParaRPr lang="en-US" sz="1544" dirty="0"/>
          </a:p>
          <a:p>
            <a:pPr algn="l" indent="0" marL="0">
              <a:lnSpc>
                <a:spcPts val="2009"/>
              </a:lnSpc>
              <a:spcBef>
                <a:spcPts val="360"/>
              </a:spcBef>
              <a:spcAft>
                <a:spcPts val="360"/>
              </a:spcAft>
              <a:buNone/>
            </a:pPr>
            <a:r>
              <a:rPr lang="en-US" sz="1264" dirty="0">
                <a:solidFill>
                  <a:srgbClr val="E8E4DF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Custo unitário = (Fixos + Variáveis) / Produção:</a:t>
            </a:r>
            <a:endParaRPr lang="en-US" sz="1544" dirty="0"/>
          </a:p>
          <a:p>
            <a:pPr algn="l" marL="228600" indent="-68580">
              <a:lnSpc>
                <a:spcPts val="2009"/>
              </a:lnSpc>
              <a:spcBef>
                <a:spcPts val="225"/>
              </a:spcBef>
              <a:spcAft>
                <a:spcPts val="225"/>
              </a:spcAft>
              <a:buSzPct val="100000"/>
              <a:buChar char="•"/>
            </a:pPr>
            <a:r>
              <a:rPr lang="en-US" sz="1264" b="1" dirty="0">
                <a:solidFill>
                  <a:srgbClr val="E8E4DF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Fixos:</a:t>
            </a:r>
            <a:pPr algn="l" indent="0" marL="0">
              <a:lnSpc>
                <a:spcPts val="2009"/>
              </a:lnSpc>
              <a:spcBef>
                <a:spcPts val="225"/>
              </a:spcBef>
              <a:spcAft>
                <a:spcPts val="225"/>
              </a:spcAft>
              <a:buNone/>
            </a:pPr>
            <a:r>
              <a:rPr lang="en-US" sz="1264" dirty="0">
                <a:solidFill>
                  <a:srgbClr val="E8E4DF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 Aluguel, salários, seguros (R$ 12k).</a:t>
            </a:r>
            <a:endParaRPr lang="en-US" sz="1544" dirty="0"/>
          </a:p>
          <a:p>
            <a:pPr algn="l" marL="228600" indent="-68580">
              <a:lnSpc>
                <a:spcPts val="2009"/>
              </a:lnSpc>
              <a:spcBef>
                <a:spcPts val="225"/>
              </a:spcBef>
              <a:spcAft>
                <a:spcPts val="225"/>
              </a:spcAft>
              <a:buSzPct val="100000"/>
              <a:buChar char="•"/>
            </a:pPr>
            <a:r>
              <a:rPr lang="en-US" sz="1264" b="1" dirty="0">
                <a:solidFill>
                  <a:srgbClr val="E8E4DF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Variáveis:</a:t>
            </a:r>
            <a:pPr algn="l" indent="0" marL="0">
              <a:lnSpc>
                <a:spcPts val="2009"/>
              </a:lnSpc>
              <a:spcBef>
                <a:spcPts val="225"/>
              </a:spcBef>
              <a:spcAft>
                <a:spcPts val="225"/>
              </a:spcAft>
              <a:buNone/>
            </a:pPr>
            <a:r>
              <a:rPr lang="en-US" sz="1264" dirty="0">
                <a:solidFill>
                  <a:srgbClr val="E8E4DF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 Matéria-prima, energia (R$ 8k).</a:t>
            </a:r>
            <a:endParaRPr lang="en-US" sz="1544" dirty="0"/>
          </a:p>
          <a:p>
            <a:pPr algn="l" marL="228600" indent="-68580">
              <a:lnSpc>
                <a:spcPts val="2009"/>
              </a:lnSpc>
              <a:spcBef>
                <a:spcPts val="225"/>
              </a:spcBef>
              <a:spcAft>
                <a:spcPts val="225"/>
              </a:spcAft>
              <a:buSzPct val="100000"/>
              <a:buChar char="•"/>
            </a:pPr>
            <a:r>
              <a:rPr lang="en-US" sz="1264" b="1" dirty="0">
                <a:solidFill>
                  <a:srgbClr val="E8E4DF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Produção:</a:t>
            </a:r>
            <a:pPr algn="l" indent="0" marL="0">
              <a:lnSpc>
                <a:spcPts val="2009"/>
              </a:lnSpc>
              <a:spcBef>
                <a:spcPts val="225"/>
              </a:spcBef>
              <a:spcAft>
                <a:spcPts val="225"/>
              </a:spcAft>
              <a:buNone/>
            </a:pPr>
            <a:r>
              <a:rPr lang="en-US" sz="1264" dirty="0">
                <a:solidFill>
                  <a:srgbClr val="E8E4DF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 4.000 peças/mês.</a:t>
            </a:r>
            <a:endParaRPr lang="en-US" sz="1544" dirty="0"/>
          </a:p>
        </p:txBody>
      </p:sp>
      <p:sp>
        <p:nvSpPr>
          <p:cNvPr id="6" name="30cec275-28e4-4edc-bea2-f59cdecfcabc_card"/>
          <p:cNvSpPr/>
          <p:nvPr/>
        </p:nvSpPr>
        <p:spPr>
          <a:xfrm>
            <a:off x="285750" y="3634740"/>
            <a:ext cx="4572000" cy="1125601"/>
          </a:xfrm>
          <a:prstGeom prst="roundRect">
            <a:avLst>
              <a:gd name="adj" fmla="val 8124"/>
            </a:avLst>
          </a:prstGeom>
          <a:solidFill>
            <a:srgbClr val="5AC8A5">
              <a:alpha val="14902"/>
            </a:srgbClr>
          </a:solidFill>
          <a:ln w="11430">
            <a:solidFill>
              <a:srgbClr val="084D36">
                <a:alpha val="20000"/>
              </a:srgbClr>
            </a:solidFill>
            <a:prstDash val="solid"/>
          </a:ln>
        </p:spPr>
      </p:sp>
      <p:sp>
        <p:nvSpPr>
          <p:cNvPr id="7" name="30cec275-28e4-4edc-bea2-f59cdecfcabc_emoji"/>
          <p:cNvSpPr/>
          <p:nvPr/>
        </p:nvSpPr>
        <p:spPr>
          <a:xfrm>
            <a:off x="400050" y="3783330"/>
            <a:ext cx="365760" cy="4114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2160" dirty="0">
                <a:solidFill>
                  <a:srgbClr val="000000"/>
                </a:solidFill>
              </a:rPr>
              <a:t>🔍</a:t>
            </a:r>
            <a:endParaRPr lang="en-US" sz="2160" dirty="0"/>
          </a:p>
        </p:txBody>
      </p:sp>
      <p:sp>
        <p:nvSpPr>
          <p:cNvPr id="8" name="30cec275-28e4-4edc-bea2-f59cdecfcabc_text"/>
          <p:cNvSpPr/>
          <p:nvPr/>
        </p:nvSpPr>
        <p:spPr>
          <a:xfrm>
            <a:off x="765810" y="3749040"/>
            <a:ext cx="3977640" cy="8970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86"/>
              </a:lnSpc>
              <a:spcBef>
                <a:spcPts val="270"/>
              </a:spcBef>
              <a:spcAft>
                <a:spcPts val="270"/>
              </a:spcAft>
              <a:buNone/>
            </a:pPr>
            <a:r>
              <a:rPr lang="en-US" sz="1123" b="1" dirty="0">
                <a:solidFill>
                  <a:srgbClr val="9FE1CB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Exemplo</a:t>
            </a:r>
            <a:endParaRPr lang="en-US" sz="1123" dirty="0"/>
          </a:p>
          <a:p>
            <a:pPr algn="l" indent="0" marL="0">
              <a:lnSpc>
                <a:spcPts val="2009"/>
              </a:lnSpc>
              <a:spcBef>
                <a:spcPts val="360"/>
              </a:spcBef>
              <a:spcAft>
                <a:spcPts val="360"/>
              </a:spcAft>
              <a:buNone/>
            </a:pPr>
            <a:r>
              <a:rPr lang="en-US" sz="1264" dirty="0">
                <a:solidFill>
                  <a:srgbClr val="9FE1CB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Custo Unitário = (12k + 8k) / 4k = R$ 5,00/peça.</a:t>
            </a:r>
            <a:endParaRPr lang="en-US" sz="1123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d81960d5-2c95-464c-a5c9-bea5bd4a9536" descr="/home/forge/chalkie-production-workers-1/releases/77481629/backend/storage/app/render-specs/3c0c6458-ad69-4755-a770-457f81065846/img_e8c4bbcb9ff6114788ddaa457b852480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3486150" cy="5143500"/>
          </a:xfrm>
          <a:prstGeom prst="roundRect">
            <a:avLst>
              <a:gd name="adj" fmla="val 3934"/>
            </a:avLst>
          </a:prstGeom>
        </p:spPr>
      </p:pic>
      <p:sp>
        <p:nvSpPr>
          <p:cNvPr id="3" name="0591c44e-8ac9-4623-877e-b945a5127ae1"/>
          <p:cNvSpPr/>
          <p:nvPr/>
        </p:nvSpPr>
        <p:spPr>
          <a:xfrm>
            <a:off x="3714750" y="182880"/>
            <a:ext cx="5143500" cy="603504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t"/>
          <a:lstStyle/>
          <a:p>
            <a:pPr algn="l" indent="0" marL="0">
              <a:lnSpc>
                <a:spcPts val="3571"/>
              </a:lnSpc>
              <a:spcBef>
                <a:spcPts val="450"/>
              </a:spcBef>
              <a:spcAft>
                <a:spcPts val="450"/>
              </a:spcAft>
              <a:buNone/>
            </a:pPr>
            <a:r>
              <a:rPr lang="en-US" sz="2246" b="1" dirty="0">
                <a:solidFill>
                  <a:srgbClr val="E8C85A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Equilíbrio Operacional</a:t>
            </a:r>
            <a:endParaRPr lang="en-US" sz="2246" dirty="0"/>
          </a:p>
        </p:txBody>
      </p:sp>
      <p:sp>
        <p:nvSpPr>
          <p:cNvPr id="4" name="bc4e5097-cf50-4296-8eba-136a77f137d9"/>
          <p:cNvSpPr/>
          <p:nvPr/>
        </p:nvSpPr>
        <p:spPr>
          <a:xfrm>
            <a:off x="3714750" y="811530"/>
            <a:ext cx="5143500" cy="2203704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t"/>
          <a:lstStyle/>
          <a:p>
            <a:pPr algn="l" indent="0" marL="0">
              <a:lnSpc>
                <a:spcPts val="2455"/>
              </a:lnSpc>
              <a:spcBef>
                <a:spcPts val="360"/>
              </a:spcBef>
              <a:spcAft>
                <a:spcPts val="360"/>
              </a:spcAft>
              <a:buNone/>
            </a:pPr>
            <a:r>
              <a:rPr lang="en-US" sz="1544" b="1" dirty="0">
                <a:solidFill>
                  <a:srgbClr val="E8E4DF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Entendendo a Margem</a:t>
            </a:r>
            <a:endParaRPr lang="en-US" sz="1544" dirty="0"/>
          </a:p>
          <a:p>
            <a:pPr algn="l" indent="0" marL="0">
              <a:lnSpc>
                <a:spcPts val="2009"/>
              </a:lnSpc>
              <a:spcBef>
                <a:spcPts val="360"/>
              </a:spcBef>
              <a:spcAft>
                <a:spcPts val="360"/>
              </a:spcAft>
              <a:buNone/>
            </a:pPr>
            <a:r>
              <a:rPr lang="en-US" sz="1264" dirty="0">
                <a:solidFill>
                  <a:srgbClr val="E8E4DF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Se o produto custa R$ 5,00 e é vendido por R$ 8,00, a margem unitária é:</a:t>
            </a:r>
            <a:endParaRPr lang="en-US" sz="1544" dirty="0"/>
          </a:p>
          <a:p>
            <a:pPr algn="l" marL="228600" indent="-68580">
              <a:lnSpc>
                <a:spcPts val="2009"/>
              </a:lnSpc>
              <a:spcBef>
                <a:spcPts val="225"/>
              </a:spcBef>
              <a:spcAft>
                <a:spcPts val="225"/>
              </a:spcAft>
              <a:buSzPct val="100000"/>
              <a:buChar char="•"/>
            </a:pPr>
            <a:r>
              <a:rPr lang="en-US" sz="1264" dirty="0">
                <a:solidFill>
                  <a:srgbClr val="E8E4DF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Preço de Venda: R$ 8,00</a:t>
            </a:r>
            <a:endParaRPr lang="en-US" sz="1544" dirty="0"/>
          </a:p>
          <a:p>
            <a:pPr algn="l" marL="228600" indent="-68580">
              <a:lnSpc>
                <a:spcPts val="2009"/>
              </a:lnSpc>
              <a:spcBef>
                <a:spcPts val="225"/>
              </a:spcBef>
              <a:spcAft>
                <a:spcPts val="225"/>
              </a:spcAft>
              <a:buSzPct val="100000"/>
              <a:buChar char="•"/>
            </a:pPr>
            <a:r>
              <a:rPr lang="en-US" sz="1264" dirty="0">
                <a:solidFill>
                  <a:srgbClr val="E8E4DF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Custo Variável: R$ 2,00</a:t>
            </a:r>
            <a:endParaRPr lang="en-US" sz="1544" dirty="0"/>
          </a:p>
          <a:p>
            <a:pPr algn="l" marL="228600" indent="-68580">
              <a:lnSpc>
                <a:spcPts val="2009"/>
              </a:lnSpc>
              <a:spcBef>
                <a:spcPts val="225"/>
              </a:spcBef>
              <a:spcAft>
                <a:spcPts val="225"/>
              </a:spcAft>
              <a:buSzPct val="100000"/>
              <a:buChar char="•"/>
            </a:pPr>
            <a:r>
              <a:rPr lang="en-US" sz="1264" dirty="0">
                <a:solidFill>
                  <a:srgbClr val="E8E4DF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Margem Bruta: R$ 6,00</a:t>
            </a:r>
            <a:endParaRPr lang="en-US" sz="1544" dirty="0"/>
          </a:p>
          <a:p>
            <a:pPr algn="l" indent="0" marL="0">
              <a:lnSpc>
                <a:spcPts val="2009"/>
              </a:lnSpc>
              <a:spcBef>
                <a:spcPts val="360"/>
              </a:spcBef>
              <a:spcAft>
                <a:spcPts val="360"/>
              </a:spcAft>
              <a:buNone/>
            </a:pPr>
            <a:r>
              <a:rPr lang="en-US" sz="1264" dirty="0">
                <a:solidFill>
                  <a:srgbClr val="E8E4DF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Essa margem cobre custos fixos e gera lucro operacional.</a:t>
            </a:r>
            <a:endParaRPr lang="en-US" sz="1544" dirty="0"/>
          </a:p>
        </p:txBody>
      </p:sp>
      <p:sp>
        <p:nvSpPr>
          <p:cNvPr id="5" name="bad22b80-624f-4c46-9882-75bb499c4eab_card"/>
          <p:cNvSpPr/>
          <p:nvPr/>
        </p:nvSpPr>
        <p:spPr>
          <a:xfrm>
            <a:off x="3714750" y="3589020"/>
            <a:ext cx="5143500" cy="1125601"/>
          </a:xfrm>
          <a:prstGeom prst="roundRect">
            <a:avLst>
              <a:gd name="adj" fmla="val 8124"/>
            </a:avLst>
          </a:prstGeom>
          <a:solidFill>
            <a:srgbClr val="FAC873">
              <a:alpha val="14902"/>
            </a:srgbClr>
          </a:solidFill>
          <a:ln w="11430">
            <a:solidFill>
              <a:srgbClr val="573B06">
                <a:alpha val="20000"/>
              </a:srgbClr>
            </a:solidFill>
            <a:prstDash val="solid"/>
          </a:ln>
        </p:spPr>
      </p:sp>
      <p:sp>
        <p:nvSpPr>
          <p:cNvPr id="6" name="bad22b80-624f-4c46-9882-75bb499c4eab_emoji"/>
          <p:cNvSpPr/>
          <p:nvPr/>
        </p:nvSpPr>
        <p:spPr>
          <a:xfrm>
            <a:off x="3829050" y="3737610"/>
            <a:ext cx="365760" cy="4114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2160" dirty="0">
                <a:solidFill>
                  <a:srgbClr val="000000"/>
                </a:solidFill>
              </a:rPr>
              <a:t>🔑</a:t>
            </a:r>
            <a:endParaRPr lang="en-US" sz="2160" dirty="0"/>
          </a:p>
        </p:txBody>
      </p:sp>
      <p:sp>
        <p:nvSpPr>
          <p:cNvPr id="7" name="bad22b80-624f-4c46-9882-75bb499c4eab_text"/>
          <p:cNvSpPr/>
          <p:nvPr/>
        </p:nvSpPr>
        <p:spPr>
          <a:xfrm>
            <a:off x="4194810" y="3703320"/>
            <a:ext cx="4549140" cy="8970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86"/>
              </a:lnSpc>
              <a:spcBef>
                <a:spcPts val="270"/>
              </a:spcBef>
              <a:spcAft>
                <a:spcPts val="270"/>
              </a:spcAft>
              <a:buNone/>
            </a:pPr>
            <a:r>
              <a:rPr lang="en-US" sz="1123" b="1" dirty="0">
                <a:solidFill>
                  <a:srgbClr val="FAC775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Ponto-chave</a:t>
            </a:r>
            <a:endParaRPr lang="en-US" sz="1123" dirty="0"/>
          </a:p>
          <a:p>
            <a:pPr algn="l" indent="0" marL="0">
              <a:lnSpc>
                <a:spcPts val="2009"/>
              </a:lnSpc>
              <a:spcBef>
                <a:spcPts val="360"/>
              </a:spcBef>
              <a:spcAft>
                <a:spcPts val="360"/>
              </a:spcAft>
              <a:buNone/>
            </a:pPr>
            <a:r>
              <a:rPr lang="en-US" sz="1264" dirty="0">
                <a:solidFill>
                  <a:srgbClr val="FAC775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Sem margem positiva, vender mais aumenta o prejuízo.</a:t>
            </a:r>
            <a:endParaRPr lang="en-US" sz="1123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99453d45-3e42-43df-9dd7-08308038b935"/>
          <p:cNvSpPr/>
          <p:nvPr/>
        </p:nvSpPr>
        <p:spPr>
          <a:xfrm>
            <a:off x="285750" y="171450"/>
            <a:ext cx="8572500" cy="603504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t"/>
          <a:lstStyle/>
          <a:p>
            <a:pPr algn="l" indent="0" marL="0">
              <a:lnSpc>
                <a:spcPts val="3571"/>
              </a:lnSpc>
              <a:spcBef>
                <a:spcPts val="450"/>
              </a:spcBef>
              <a:spcAft>
                <a:spcPts val="450"/>
              </a:spcAft>
              <a:buNone/>
            </a:pPr>
            <a:r>
              <a:rPr lang="en-US" sz="2246" b="1" dirty="0">
                <a:solidFill>
                  <a:srgbClr val="E8C85A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Verificando o Custo Unitário</a:t>
            </a:r>
            <a:endParaRPr lang="en-US" sz="2246" dirty="0"/>
          </a:p>
        </p:txBody>
      </p:sp>
      <p:sp>
        <p:nvSpPr>
          <p:cNvPr id="3" name="29c9e707-e4fb-4b35-be0c-b5810250da42-shadow"/>
          <p:cNvSpPr/>
          <p:nvPr/>
        </p:nvSpPr>
        <p:spPr>
          <a:xfrm>
            <a:off x="914400" y="1234440"/>
            <a:ext cx="7372350" cy="1143000"/>
          </a:xfrm>
          <a:prstGeom prst="roundRect">
            <a:avLst>
              <a:gd name="adj" fmla="val 10000"/>
            </a:avLst>
          </a:prstGeom>
          <a:solidFill>
            <a:srgbClr val="000000"/>
          </a:solidFill>
          <a:ln/>
        </p:spPr>
      </p:sp>
      <p:sp>
        <p:nvSpPr>
          <p:cNvPr id="4" name="29c9e707-e4fb-4b35-be0c-b5810250da42"/>
          <p:cNvSpPr/>
          <p:nvPr/>
        </p:nvSpPr>
        <p:spPr>
          <a:xfrm>
            <a:off x="822960" y="1143000"/>
            <a:ext cx="7372350" cy="1143000"/>
          </a:xfrm>
          <a:prstGeom prst="roundRect">
            <a:avLst>
              <a:gd name="adj" fmla="val 10000"/>
            </a:avLst>
          </a:prstGeom>
          <a:solidFill>
            <a:srgbClr val="F4F9FC"/>
          </a:solidFill>
          <a:ln w="45720">
            <a:solidFill>
              <a:srgbClr val="000000"/>
            </a:solidFill>
          </a:ln>
        </p:spPr>
        <p:txBody>
          <a:bodyPr wrap="square" lIns="102870" tIns="102870" rIns="102870" bIns="102870" rtlCol="0" anchor="ctr"/>
          <a:lstStyle/>
          <a:p>
            <a:pPr algn="ctr" indent="0" marL="0">
              <a:lnSpc>
                <a:spcPts val="2009"/>
              </a:lnSpc>
              <a:spcBef>
                <a:spcPts val="360"/>
              </a:spcBef>
              <a:spcAft>
                <a:spcPts val="360"/>
              </a:spcAft>
              <a:buNone/>
            </a:pPr>
            <a:r>
              <a:rPr lang="en-US" sz="1264" dirty="0">
                <a:solidFill>
                  <a:srgbClr val="040F0F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Se uma empresa dobrar a sua quantidade produzida mantendo os mesmos custos fixos, o custo fixo unitário por produto cairá pela metade.</a:t>
            </a:r>
            <a:endParaRPr lang="en-US" sz="1264" dirty="0"/>
          </a:p>
        </p:txBody>
      </p:sp>
      <p:sp>
        <p:nvSpPr>
          <p:cNvPr id="5" name="8c8e2368-287f-494f-88d1-50b1ce6add55"/>
          <p:cNvSpPr/>
          <p:nvPr/>
        </p:nvSpPr>
        <p:spPr>
          <a:xfrm>
            <a:off x="2571750" y="2628900"/>
            <a:ext cx="1714500" cy="800100"/>
          </a:xfrm>
          <a:prstGeom prst="roundRect">
            <a:avLst>
              <a:gd name="adj" fmla="val 17143"/>
            </a:avLst>
          </a:prstGeom>
          <a:solidFill>
            <a:srgbClr val="FFFFFF"/>
          </a:solidFill>
          <a:ln w="45720">
            <a:solidFill>
              <a:srgbClr val="000000"/>
            </a:solidFill>
          </a:ln>
        </p:spPr>
        <p:txBody>
          <a:bodyPr wrap="square" lIns="91440" tIns="91440" rIns="91440" bIns="91440" rtlCol="0" anchor="ctr"/>
          <a:lstStyle/>
          <a:p>
            <a:pPr algn="ctr" indent="0" marL="0">
              <a:lnSpc>
                <a:spcPts val="2902"/>
              </a:lnSpc>
              <a:spcBef>
                <a:spcPts val="450"/>
              </a:spcBef>
              <a:spcAft>
                <a:spcPts val="450"/>
              </a:spcAft>
              <a:buNone/>
            </a:pPr>
            <a:r>
              <a:rPr lang="en-US" sz="1825" dirty="0">
                <a:solidFill>
                  <a:srgbClr val="040F0F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👍 </a:t>
            </a:r>
            <a:pPr algn="ctr" indent="0" marL="0">
              <a:lnSpc>
                <a:spcPts val="2902"/>
              </a:lnSpc>
              <a:spcBef>
                <a:spcPts val="450"/>
              </a:spcBef>
              <a:spcAft>
                <a:spcPts val="450"/>
              </a:spcAft>
              <a:buNone/>
            </a:pPr>
            <a:r>
              <a:rPr lang="en-US" sz="1825" b="1" dirty="0">
                <a:solidFill>
                  <a:srgbClr val="040F0F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VERDADEIRO</a:t>
            </a:r>
            <a:endParaRPr lang="en-US" sz="1825" dirty="0"/>
          </a:p>
        </p:txBody>
      </p:sp>
      <p:sp>
        <p:nvSpPr>
          <p:cNvPr id="6" name="875d6d7b-32d3-4046-8aa8-388aa6dddf6c"/>
          <p:cNvSpPr/>
          <p:nvPr/>
        </p:nvSpPr>
        <p:spPr>
          <a:xfrm>
            <a:off x="4857750" y="2628900"/>
            <a:ext cx="1714500" cy="800100"/>
          </a:xfrm>
          <a:prstGeom prst="roundRect">
            <a:avLst>
              <a:gd name="adj" fmla="val 17143"/>
            </a:avLst>
          </a:prstGeom>
          <a:solidFill>
            <a:srgbClr val="FFFFFF"/>
          </a:solidFill>
          <a:ln w="45720">
            <a:solidFill>
              <a:srgbClr val="000000"/>
            </a:solidFill>
          </a:ln>
        </p:spPr>
        <p:txBody>
          <a:bodyPr wrap="square" lIns="91440" tIns="91440" rIns="91440" bIns="91440" rtlCol="0" anchor="ctr"/>
          <a:lstStyle/>
          <a:p>
            <a:pPr algn="ctr" indent="0" marL="0">
              <a:lnSpc>
                <a:spcPts val="2902"/>
              </a:lnSpc>
              <a:spcBef>
                <a:spcPts val="450"/>
              </a:spcBef>
              <a:spcAft>
                <a:spcPts val="450"/>
              </a:spcAft>
              <a:buNone/>
            </a:pPr>
            <a:r>
              <a:rPr lang="en-US" sz="1825" dirty="0">
                <a:solidFill>
                  <a:srgbClr val="040F0F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👎 </a:t>
            </a:r>
            <a:pPr algn="ctr" indent="0" marL="0">
              <a:lnSpc>
                <a:spcPts val="2902"/>
              </a:lnSpc>
              <a:spcBef>
                <a:spcPts val="450"/>
              </a:spcBef>
              <a:spcAft>
                <a:spcPts val="450"/>
              </a:spcAft>
              <a:buNone/>
            </a:pPr>
            <a:r>
              <a:rPr lang="en-US" sz="1825" b="1" dirty="0">
                <a:solidFill>
                  <a:srgbClr val="040F0F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FALSO</a:t>
            </a:r>
            <a:endParaRPr lang="en-US" sz="1825" dirty="0"/>
          </a:p>
        </p:txBody>
      </p:sp>
      <p:sp>
        <p:nvSpPr>
          <p:cNvPr id="7" name="aa911b3d-712f-4d6e-9eff-cb9c4001fa96"/>
          <p:cNvSpPr/>
          <p:nvPr/>
        </p:nvSpPr>
        <p:spPr>
          <a:xfrm>
            <a:off x="2571750" y="3714750"/>
            <a:ext cx="5715000" cy="457200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t"/>
          <a:lstStyle/>
          <a:p>
            <a:pPr algn="l" indent="0" marL="0">
              <a:lnSpc>
                <a:spcPts val="2009"/>
              </a:lnSpc>
              <a:spcBef>
                <a:spcPts val="360"/>
              </a:spcBef>
              <a:spcAft>
                <a:spcPts val="360"/>
              </a:spcAft>
              <a:buNone/>
            </a:pPr>
            <a:r>
              <a:rPr lang="en-US" sz="1264" dirty="0">
                <a:solidFill>
                  <a:srgbClr val="7EB5A6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🤔 </a:t>
            </a:r>
            <a:pPr algn="l" indent="0" marL="0">
              <a:lnSpc>
                <a:spcPts val="2009"/>
              </a:lnSpc>
              <a:spcBef>
                <a:spcPts val="360"/>
              </a:spcBef>
              <a:spcAft>
                <a:spcPts val="360"/>
              </a:spcAft>
              <a:buNone/>
            </a:pPr>
            <a:r>
              <a:rPr lang="en-US" sz="1264" i="1" dirty="0">
                <a:solidFill>
                  <a:srgbClr val="7EB5A6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Prepare-se para explicar o seu raciocínio.</a:t>
            </a:r>
            <a:endParaRPr lang="en-US" sz="1264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99453d45-3e42-43df-9dd7-08308038b935"/>
          <p:cNvSpPr/>
          <p:nvPr/>
        </p:nvSpPr>
        <p:spPr>
          <a:xfrm>
            <a:off x="285750" y="171450"/>
            <a:ext cx="8572500" cy="603504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t"/>
          <a:lstStyle/>
          <a:p>
            <a:pPr algn="l" indent="0" marL="0">
              <a:lnSpc>
                <a:spcPts val="3571"/>
              </a:lnSpc>
              <a:spcBef>
                <a:spcPts val="450"/>
              </a:spcBef>
              <a:spcAft>
                <a:spcPts val="450"/>
              </a:spcAft>
              <a:buNone/>
            </a:pPr>
            <a:r>
              <a:rPr lang="en-US" sz="2246" b="1" dirty="0">
                <a:solidFill>
                  <a:srgbClr val="E8C85A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Verificando o Custo Unitário</a:t>
            </a:r>
            <a:endParaRPr lang="en-US" sz="2246" dirty="0"/>
          </a:p>
        </p:txBody>
      </p:sp>
      <p:sp>
        <p:nvSpPr>
          <p:cNvPr id="3" name="29c9e707-e4fb-4b35-be0c-b5810250da42-shadow"/>
          <p:cNvSpPr/>
          <p:nvPr/>
        </p:nvSpPr>
        <p:spPr>
          <a:xfrm>
            <a:off x="914400" y="1234440"/>
            <a:ext cx="7372350" cy="1143000"/>
          </a:xfrm>
          <a:prstGeom prst="roundRect">
            <a:avLst>
              <a:gd name="adj" fmla="val 10000"/>
            </a:avLst>
          </a:prstGeom>
          <a:solidFill>
            <a:srgbClr val="000000"/>
          </a:solidFill>
          <a:ln/>
        </p:spPr>
      </p:sp>
      <p:sp>
        <p:nvSpPr>
          <p:cNvPr id="4" name="29c9e707-e4fb-4b35-be0c-b5810250da42"/>
          <p:cNvSpPr/>
          <p:nvPr/>
        </p:nvSpPr>
        <p:spPr>
          <a:xfrm>
            <a:off x="822960" y="1143000"/>
            <a:ext cx="7372350" cy="1143000"/>
          </a:xfrm>
          <a:prstGeom prst="roundRect">
            <a:avLst>
              <a:gd name="adj" fmla="val 10000"/>
            </a:avLst>
          </a:prstGeom>
          <a:solidFill>
            <a:srgbClr val="F4F9FC"/>
          </a:solidFill>
          <a:ln w="45720">
            <a:solidFill>
              <a:srgbClr val="000000"/>
            </a:solidFill>
          </a:ln>
        </p:spPr>
        <p:txBody>
          <a:bodyPr wrap="square" lIns="102870" tIns="102870" rIns="102870" bIns="102870" rtlCol="0" anchor="ctr"/>
          <a:lstStyle/>
          <a:p>
            <a:pPr algn="ctr" indent="0" marL="0">
              <a:lnSpc>
                <a:spcPts val="2009"/>
              </a:lnSpc>
              <a:spcBef>
                <a:spcPts val="360"/>
              </a:spcBef>
              <a:spcAft>
                <a:spcPts val="360"/>
              </a:spcAft>
              <a:buNone/>
            </a:pPr>
            <a:r>
              <a:rPr lang="en-US" sz="1264" dirty="0">
                <a:solidFill>
                  <a:srgbClr val="040F0F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Se uma empresa dobrar a sua quantidade produzida mantendo os mesmos custos fixos, o custo fixo unitário por produto cairá pela metade.</a:t>
            </a:r>
            <a:endParaRPr lang="en-US" sz="1264" dirty="0"/>
          </a:p>
        </p:txBody>
      </p:sp>
      <p:sp>
        <p:nvSpPr>
          <p:cNvPr id="5" name="8c8e2368-287f-494f-88d1-50b1ce6add55"/>
          <p:cNvSpPr/>
          <p:nvPr/>
        </p:nvSpPr>
        <p:spPr>
          <a:xfrm>
            <a:off x="2571750" y="2628900"/>
            <a:ext cx="1714500" cy="800100"/>
          </a:xfrm>
          <a:prstGeom prst="roundRect">
            <a:avLst>
              <a:gd name="adj" fmla="val 17143"/>
            </a:avLst>
          </a:prstGeom>
          <a:solidFill>
            <a:srgbClr val="FFFFFF"/>
          </a:solidFill>
          <a:ln w="45720">
            <a:solidFill>
              <a:srgbClr val="2C6E49"/>
            </a:solidFill>
          </a:ln>
        </p:spPr>
        <p:txBody>
          <a:bodyPr wrap="square" lIns="91440" tIns="91440" rIns="91440" bIns="91440" rtlCol="0" anchor="ctr"/>
          <a:lstStyle/>
          <a:p>
            <a:pPr algn="ctr" indent="0" marL="0">
              <a:lnSpc>
                <a:spcPts val="2902"/>
              </a:lnSpc>
              <a:spcBef>
                <a:spcPts val="450"/>
              </a:spcBef>
              <a:spcAft>
                <a:spcPts val="450"/>
              </a:spcAft>
              <a:buNone/>
            </a:pPr>
            <a:r>
              <a:rPr lang="en-US" sz="1825" dirty="0">
                <a:solidFill>
                  <a:srgbClr val="040F0F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👍 </a:t>
            </a:r>
            <a:pPr algn="ctr" indent="0" marL="0">
              <a:lnSpc>
                <a:spcPts val="2902"/>
              </a:lnSpc>
              <a:spcBef>
                <a:spcPts val="450"/>
              </a:spcBef>
              <a:spcAft>
                <a:spcPts val="450"/>
              </a:spcAft>
              <a:buNone/>
            </a:pPr>
            <a:r>
              <a:rPr lang="en-US" sz="1825" b="1" dirty="0">
                <a:solidFill>
                  <a:srgbClr val="040F0F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VERDADEIRO</a:t>
            </a:r>
            <a:endParaRPr lang="en-US" sz="1825" dirty="0"/>
          </a:p>
        </p:txBody>
      </p:sp>
      <p:sp>
        <p:nvSpPr>
          <p:cNvPr id="6" name="875d6d7b-32d3-4046-8aa8-388aa6dddf6c"/>
          <p:cNvSpPr/>
          <p:nvPr/>
        </p:nvSpPr>
        <p:spPr>
          <a:xfrm>
            <a:off x="4857750" y="2628900"/>
            <a:ext cx="1714500" cy="800100"/>
          </a:xfrm>
          <a:prstGeom prst="roundRect">
            <a:avLst>
              <a:gd name="adj" fmla="val 17143"/>
            </a:avLst>
          </a:prstGeom>
          <a:solidFill>
            <a:srgbClr val="FFFFFF"/>
          </a:solidFill>
          <a:ln w="45720">
            <a:solidFill>
              <a:srgbClr val="000000"/>
            </a:solidFill>
          </a:ln>
        </p:spPr>
        <p:txBody>
          <a:bodyPr wrap="square" lIns="91440" tIns="91440" rIns="91440" bIns="91440" rtlCol="0" anchor="ctr"/>
          <a:lstStyle/>
          <a:p>
            <a:pPr algn="ctr" indent="0" marL="0">
              <a:lnSpc>
                <a:spcPts val="2902"/>
              </a:lnSpc>
              <a:spcBef>
                <a:spcPts val="450"/>
              </a:spcBef>
              <a:spcAft>
                <a:spcPts val="450"/>
              </a:spcAft>
              <a:buNone/>
            </a:pPr>
            <a:r>
              <a:rPr lang="en-US" sz="1825" dirty="0">
                <a:solidFill>
                  <a:srgbClr val="040F0F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👎 </a:t>
            </a:r>
            <a:pPr algn="ctr" indent="0" marL="0">
              <a:lnSpc>
                <a:spcPts val="2902"/>
              </a:lnSpc>
              <a:spcBef>
                <a:spcPts val="450"/>
              </a:spcBef>
              <a:spcAft>
                <a:spcPts val="450"/>
              </a:spcAft>
              <a:buNone/>
            </a:pPr>
            <a:r>
              <a:rPr lang="en-US" sz="1825" b="1" dirty="0">
                <a:solidFill>
                  <a:srgbClr val="040F0F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FALSO</a:t>
            </a:r>
            <a:endParaRPr lang="en-US" sz="1825" dirty="0"/>
          </a:p>
        </p:txBody>
      </p:sp>
      <p:sp>
        <p:nvSpPr>
          <p:cNvPr id="7" name="89ffd4c5-e587-4242-ad51-0d297263dbc8"/>
          <p:cNvSpPr/>
          <p:nvPr/>
        </p:nvSpPr>
        <p:spPr>
          <a:xfrm>
            <a:off x="8366760" y="342900"/>
            <a:ext cx="548640" cy="548640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ctr"/>
          <a:lstStyle/>
          <a:p>
            <a:pPr algn="r" indent="0" marL="0">
              <a:lnSpc>
                <a:spcPts val="4464"/>
              </a:lnSpc>
              <a:spcBef>
                <a:spcPts val="450"/>
              </a:spcBef>
              <a:spcAft>
                <a:spcPts val="450"/>
              </a:spcAft>
              <a:buNone/>
            </a:pPr>
            <a:r>
              <a:rPr lang="en-US" sz="2808" dirty="0">
                <a:solidFill>
                  <a:srgbClr val="E8E4DF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✅</a:t>
            </a:r>
            <a:endParaRPr lang="en-US" sz="2808" dirty="0"/>
          </a:p>
        </p:txBody>
      </p:sp>
      <p:sp>
        <p:nvSpPr>
          <p:cNvPr id="8" name="e309dba4-15fc-448a-86bb-0fa04276308d_card"/>
          <p:cNvSpPr/>
          <p:nvPr/>
        </p:nvSpPr>
        <p:spPr>
          <a:xfrm>
            <a:off x="457200" y="3657600"/>
            <a:ext cx="8229600" cy="1125601"/>
          </a:xfrm>
          <a:prstGeom prst="roundRect">
            <a:avLst>
              <a:gd name="adj" fmla="val 8124"/>
            </a:avLst>
          </a:prstGeom>
          <a:solidFill>
            <a:srgbClr val="FAC873">
              <a:alpha val="14902"/>
            </a:srgbClr>
          </a:solidFill>
          <a:ln w="11430">
            <a:solidFill>
              <a:srgbClr val="573B06">
                <a:alpha val="20000"/>
              </a:srgbClr>
            </a:solidFill>
            <a:prstDash val="solid"/>
          </a:ln>
        </p:spPr>
      </p:sp>
      <p:sp>
        <p:nvSpPr>
          <p:cNvPr id="9" name="e309dba4-15fc-448a-86bb-0fa04276308d_emoji"/>
          <p:cNvSpPr/>
          <p:nvPr/>
        </p:nvSpPr>
        <p:spPr>
          <a:xfrm>
            <a:off x="571500" y="3806190"/>
            <a:ext cx="365760" cy="4114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2160" dirty="0">
                <a:solidFill>
                  <a:srgbClr val="000000"/>
                </a:solidFill>
              </a:rPr>
              <a:t>🔑</a:t>
            </a:r>
            <a:endParaRPr lang="en-US" sz="2160" dirty="0"/>
          </a:p>
        </p:txBody>
      </p:sp>
      <p:sp>
        <p:nvSpPr>
          <p:cNvPr id="10" name="e309dba4-15fc-448a-86bb-0fa04276308d_text"/>
          <p:cNvSpPr/>
          <p:nvPr/>
        </p:nvSpPr>
        <p:spPr>
          <a:xfrm>
            <a:off x="937260" y="3771900"/>
            <a:ext cx="7635240" cy="8970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86"/>
              </a:lnSpc>
              <a:spcBef>
                <a:spcPts val="270"/>
              </a:spcBef>
              <a:spcAft>
                <a:spcPts val="270"/>
              </a:spcAft>
              <a:buNone/>
            </a:pPr>
            <a:r>
              <a:rPr lang="en-US" sz="1123" b="1" dirty="0">
                <a:solidFill>
                  <a:srgbClr val="E8C85A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Por que é isso?</a:t>
            </a:r>
            <a:endParaRPr lang="en-US" sz="1123" dirty="0"/>
          </a:p>
          <a:p>
            <a:pPr algn="l" indent="0" marL="0">
              <a:lnSpc>
                <a:spcPts val="2009"/>
              </a:lnSpc>
              <a:spcBef>
                <a:spcPts val="360"/>
              </a:spcBef>
              <a:spcAft>
                <a:spcPts val="360"/>
              </a:spcAft>
              <a:buNone/>
            </a:pPr>
            <a:r>
              <a:rPr lang="en-US" sz="1264" dirty="0">
                <a:solidFill>
                  <a:srgbClr val="FAC775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O valor fixo total é diluído por um número duas vezes maior de unidades produzidas.</a:t>
            </a:r>
            <a:endParaRPr lang="en-US" sz="1123" dirty="0"/>
          </a:p>
        </p:txBody>
      </p:sp>
      <p:sp>
        <p:nvSpPr>
          <p:cNvPr id="11" name="8188c97e-dcae-49e1-9fb2-c1c65d2c8a16"/>
          <p:cNvSpPr/>
          <p:nvPr/>
        </p:nvSpPr>
        <p:spPr>
          <a:xfrm>
            <a:off x="4149090" y="2491740"/>
            <a:ext cx="274320" cy="274320"/>
          </a:xfrm>
          <a:prstGeom prst="roundRect">
            <a:avLst>
              <a:gd name="adj" fmla="val 25000"/>
            </a:avLst>
          </a:prstGeom>
          <a:solidFill>
            <a:srgbClr val="2C6E49"/>
          </a:solidFill>
          <a:ln/>
        </p:spPr>
        <p:txBody>
          <a:bodyPr wrap="square" lIns="45720" tIns="45720" rIns="45720" bIns="45720" rtlCol="0" anchor="ctr"/>
          <a:lstStyle/>
          <a:p>
            <a:pPr algn="ctr" indent="0" marL="0">
              <a:lnSpc>
                <a:spcPts val="1451"/>
              </a:lnSpc>
              <a:spcBef>
                <a:spcPts val="270"/>
              </a:spcBef>
              <a:spcAft>
                <a:spcPts val="270"/>
              </a:spcAft>
              <a:buNone/>
            </a:pPr>
            <a:r>
              <a:rPr lang="en-US" sz="913" b="1" dirty="0">
                <a:solidFill>
                  <a:srgbClr val="FFFFFF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✓</a:t>
            </a:r>
            <a:endParaRPr lang="en-US" sz="913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cf8d54a0-fd31-4ff2-8456-749bd4ca0cf2" descr="/home/forge/chalkie-production-workers-1/releases/77481629/backend/storage/app/render-specs/3c0c6458-ad69-4755-a770-457f81065846/img_8ea1a847d748556257c1e41480358ab0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5750" y="2297430"/>
            <a:ext cx="2708910" cy="1714500"/>
          </a:xfrm>
          <a:prstGeom prst="roundRect">
            <a:avLst>
              <a:gd name="adj" fmla="val 8000"/>
            </a:avLst>
          </a:prstGeom>
        </p:spPr>
      </p:pic>
      <p:pic>
        <p:nvPicPr>
          <p:cNvPr id="3" name="167ab729-0eb2-45e2-bdbf-c138913a50b8" descr="/home/forge/chalkie-production-workers-1/releases/77481629/backend/storage/app/render-specs/3c0c6458-ad69-4755-a770-457f81065846/img_09bd0fe3b3e1d56486938057e015df84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23260" y="1725930"/>
            <a:ext cx="2708910" cy="1714500"/>
          </a:xfrm>
          <a:prstGeom prst="roundRect">
            <a:avLst>
              <a:gd name="adj" fmla="val 8000"/>
            </a:avLst>
          </a:prstGeom>
        </p:spPr>
      </p:pic>
      <p:pic>
        <p:nvPicPr>
          <p:cNvPr id="4" name="b9d9b19f-bbde-4c23-95fd-8777ea5af8a7" descr="/home/forge/chalkie-production-workers-1/releases/77481629/backend/storage/app/render-specs/3c0c6458-ad69-4755-a770-457f81065846/img_fec754d74febee36b48e7267eee7ec28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49340" y="2297430"/>
            <a:ext cx="2708910" cy="1714500"/>
          </a:xfrm>
          <a:prstGeom prst="roundRect">
            <a:avLst>
              <a:gd name="adj" fmla="val 8000"/>
            </a:avLst>
          </a:prstGeom>
        </p:spPr>
      </p:pic>
      <p:sp>
        <p:nvSpPr>
          <p:cNvPr id="5" name="5291351c-dcb4-4cff-b785-52043f6231b0"/>
          <p:cNvSpPr/>
          <p:nvPr/>
        </p:nvSpPr>
        <p:spPr>
          <a:xfrm>
            <a:off x="285750" y="171450"/>
            <a:ext cx="8572500" cy="603504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t"/>
          <a:lstStyle/>
          <a:p>
            <a:pPr algn="l" indent="0" marL="0">
              <a:lnSpc>
                <a:spcPts val="3571"/>
              </a:lnSpc>
              <a:spcBef>
                <a:spcPts val="450"/>
              </a:spcBef>
              <a:spcAft>
                <a:spcPts val="450"/>
              </a:spcAft>
              <a:buNone/>
            </a:pPr>
            <a:r>
              <a:rPr lang="en-US" sz="2246" b="1" dirty="0">
                <a:solidFill>
                  <a:srgbClr val="E8C85A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O Conceito de Razão</a:t>
            </a:r>
            <a:endParaRPr lang="en-US" sz="2246" dirty="0"/>
          </a:p>
        </p:txBody>
      </p:sp>
      <p:sp>
        <p:nvSpPr>
          <p:cNvPr id="6" name="02c0bee3-2171-4f7f-b8a8-a67bddb27520"/>
          <p:cNvSpPr/>
          <p:nvPr/>
        </p:nvSpPr>
        <p:spPr>
          <a:xfrm>
            <a:off x="285750" y="800100"/>
            <a:ext cx="8572500" cy="667512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t"/>
          <a:lstStyle/>
          <a:p>
            <a:pPr algn="l" indent="0" marL="0">
              <a:lnSpc>
                <a:spcPts val="2009"/>
              </a:lnSpc>
              <a:spcBef>
                <a:spcPts val="360"/>
              </a:spcBef>
              <a:spcAft>
                <a:spcPts val="360"/>
              </a:spcAft>
              <a:buNone/>
            </a:pPr>
            <a:r>
              <a:rPr lang="en-US" sz="1264" b="1" dirty="0">
                <a:solidFill>
                  <a:srgbClr val="E8E4DF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Razão</a:t>
            </a:r>
            <a:pPr algn="l" indent="0" marL="0">
              <a:lnSpc>
                <a:spcPts val="2009"/>
              </a:lnSpc>
              <a:spcBef>
                <a:spcPts val="360"/>
              </a:spcBef>
              <a:spcAft>
                <a:spcPts val="360"/>
              </a:spcAft>
              <a:buNone/>
            </a:pPr>
            <a:r>
              <a:rPr lang="en-US" sz="1264" dirty="0">
                <a:solidFill>
                  <a:srgbClr val="E8E4DF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 é o quociente a/b (b≠0). Na gestão, mede produtividade, liquidez e eficiência.</a:t>
            </a:r>
            <a:endParaRPr lang="en-US" sz="1264" dirty="0"/>
          </a:p>
        </p:txBody>
      </p:sp>
      <p:sp>
        <p:nvSpPr>
          <p:cNvPr id="7" name="6b6ff394-c512-43af-b001-cf455267a765"/>
          <p:cNvSpPr/>
          <p:nvPr/>
        </p:nvSpPr>
        <p:spPr>
          <a:xfrm>
            <a:off x="285750" y="4126230"/>
            <a:ext cx="2708910" cy="667512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t"/>
          <a:lstStyle/>
          <a:p>
            <a:pPr algn="ctr" indent="0" marL="0">
              <a:lnSpc>
                <a:spcPts val="2009"/>
              </a:lnSpc>
              <a:spcBef>
                <a:spcPts val="360"/>
              </a:spcBef>
              <a:spcAft>
                <a:spcPts val="360"/>
              </a:spcAft>
              <a:buNone/>
            </a:pPr>
            <a:r>
              <a:rPr lang="en-US" sz="1264" b="1" dirty="0">
                <a:solidFill>
                  <a:srgbClr val="E8E4DF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Peças por Hora</a:t>
            </a:r>
            <a:pPr algn="ctr" indent="0" marL="0">
              <a:lnSpc>
                <a:spcPts val="2009"/>
              </a:lnSpc>
              <a:spcBef>
                <a:spcPts val="360"/>
              </a:spcBef>
              <a:spcAft>
                <a:spcPts val="360"/>
              </a:spcAft>
              <a:buNone/>
            </a:pPr>
            <a:r>
              <a:rPr lang="en-US" sz="1264" dirty="0">
                <a:solidFill>
                  <a:srgbClr val="E8E4DF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: Razão entre produção total e tempo.</a:t>
            </a:r>
            <a:endParaRPr lang="en-US" sz="1264" dirty="0"/>
          </a:p>
        </p:txBody>
      </p:sp>
      <p:sp>
        <p:nvSpPr>
          <p:cNvPr id="8" name="d8befe5b-4581-49f7-90f8-a2ca34c4b1f1"/>
          <p:cNvSpPr/>
          <p:nvPr/>
        </p:nvSpPr>
        <p:spPr>
          <a:xfrm>
            <a:off x="3223260" y="3554730"/>
            <a:ext cx="2708910" cy="955548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t"/>
          <a:lstStyle/>
          <a:p>
            <a:pPr algn="ctr" indent="0" marL="0">
              <a:lnSpc>
                <a:spcPts val="2009"/>
              </a:lnSpc>
              <a:spcBef>
                <a:spcPts val="360"/>
              </a:spcBef>
              <a:spcAft>
                <a:spcPts val="360"/>
              </a:spcAft>
              <a:buNone/>
            </a:pPr>
            <a:r>
              <a:rPr lang="en-US" sz="1264" b="1" dirty="0">
                <a:solidFill>
                  <a:srgbClr val="E8E4DF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Custo por Atendimento</a:t>
            </a:r>
            <a:pPr algn="ctr" indent="0" marL="0">
              <a:lnSpc>
                <a:spcPts val="2009"/>
              </a:lnSpc>
              <a:spcBef>
                <a:spcPts val="360"/>
              </a:spcBef>
              <a:spcAft>
                <a:spcPts val="360"/>
              </a:spcAft>
              <a:buNone/>
            </a:pPr>
            <a:r>
              <a:rPr lang="en-US" sz="1264" dirty="0">
                <a:solidFill>
                  <a:srgbClr val="E8E4DF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: Razão entre despesas e clientes.</a:t>
            </a:r>
            <a:endParaRPr lang="en-US" sz="1264" dirty="0"/>
          </a:p>
        </p:txBody>
      </p:sp>
      <p:sp>
        <p:nvSpPr>
          <p:cNvPr id="9" name="fc549a23-8b59-40bb-ae92-aac7511476b3"/>
          <p:cNvSpPr/>
          <p:nvPr/>
        </p:nvSpPr>
        <p:spPr>
          <a:xfrm>
            <a:off x="6149340" y="4126230"/>
            <a:ext cx="2708910" cy="667512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t"/>
          <a:lstStyle/>
          <a:p>
            <a:pPr algn="ctr" indent="0" marL="0">
              <a:lnSpc>
                <a:spcPts val="2009"/>
              </a:lnSpc>
              <a:spcBef>
                <a:spcPts val="360"/>
              </a:spcBef>
              <a:spcAft>
                <a:spcPts val="360"/>
              </a:spcAft>
              <a:buNone/>
            </a:pPr>
            <a:r>
              <a:rPr lang="en-US" sz="1264" b="1" dirty="0">
                <a:solidFill>
                  <a:srgbClr val="E8E4DF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Rotatividade</a:t>
            </a:r>
            <a:pPr algn="ctr" indent="0" marL="0">
              <a:lnSpc>
                <a:spcPts val="2009"/>
              </a:lnSpc>
              <a:spcBef>
                <a:spcPts val="360"/>
              </a:spcBef>
              <a:spcAft>
                <a:spcPts val="360"/>
              </a:spcAft>
              <a:buNone/>
            </a:pPr>
            <a:r>
              <a:rPr lang="en-US" sz="1264" dirty="0">
                <a:solidFill>
                  <a:srgbClr val="E8E4DF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: Razão entre saídas e estoque médio.</a:t>
            </a:r>
            <a:endParaRPr lang="en-US" sz="1264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131337f7-433b-4ea7-afd5-7b27cf51cedb" descr="/home/forge/chalkie-production-workers-1/releases/77481629/backend/storage/app/render-specs/3c0c6458-ad69-4755-a770-457f81065846/img_39c4a6f0d25ca9fae2537d9fad0a4da0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800100"/>
            <a:ext cx="3829050" cy="4057650"/>
          </a:xfrm>
          <a:prstGeom prst="roundRect">
            <a:avLst>
              <a:gd name="adj" fmla="val 3582"/>
            </a:avLst>
          </a:prstGeom>
        </p:spPr>
      </p:pic>
      <p:sp>
        <p:nvSpPr>
          <p:cNvPr id="3" name="6871adfa-b2c2-4d7f-b4aa-de8c4e1e2844"/>
          <p:cNvSpPr/>
          <p:nvPr/>
        </p:nvSpPr>
        <p:spPr>
          <a:xfrm>
            <a:off x="285750" y="171450"/>
            <a:ext cx="8572500" cy="603504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t"/>
          <a:lstStyle/>
          <a:p>
            <a:pPr algn="l" indent="0" marL="0">
              <a:lnSpc>
                <a:spcPts val="3571"/>
              </a:lnSpc>
              <a:spcBef>
                <a:spcPts val="450"/>
              </a:spcBef>
              <a:spcAft>
                <a:spcPts val="450"/>
              </a:spcAft>
              <a:buNone/>
            </a:pPr>
            <a:r>
              <a:rPr lang="en-US" sz="2246" b="1" dirty="0">
                <a:solidFill>
                  <a:srgbClr val="E8C85A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Proporção: Igualdade de Razões</a:t>
            </a:r>
            <a:endParaRPr lang="en-US" sz="2246" dirty="0"/>
          </a:p>
        </p:txBody>
      </p:sp>
      <p:sp>
        <p:nvSpPr>
          <p:cNvPr id="4" name="1f6df754-8046-41d6-8055-b3db18bb1834"/>
          <p:cNvSpPr/>
          <p:nvPr/>
        </p:nvSpPr>
        <p:spPr>
          <a:xfrm>
            <a:off x="285750" y="800100"/>
            <a:ext cx="4572000" cy="2395728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t"/>
          <a:lstStyle/>
          <a:p>
            <a:pPr algn="l" indent="0" marL="0">
              <a:lnSpc>
                <a:spcPts val="2009"/>
              </a:lnSpc>
              <a:spcBef>
                <a:spcPts val="360"/>
              </a:spcBef>
              <a:spcAft>
                <a:spcPts val="360"/>
              </a:spcAft>
              <a:buNone/>
            </a:pPr>
            <a:r>
              <a:rPr lang="en-US" sz="1264" dirty="0">
                <a:solidFill>
                  <a:srgbClr val="E8E4DF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Uma </a:t>
            </a:r>
            <a:pPr algn="l" indent="0" marL="0">
              <a:lnSpc>
                <a:spcPts val="2009"/>
              </a:lnSpc>
              <a:spcBef>
                <a:spcPts val="360"/>
              </a:spcBef>
              <a:spcAft>
                <a:spcPts val="360"/>
              </a:spcAft>
              <a:buNone/>
            </a:pPr>
            <a:r>
              <a:rPr lang="en-US" sz="1264" b="1" dirty="0">
                <a:solidFill>
                  <a:srgbClr val="E8E4DF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proporção</a:t>
            </a:r>
            <a:pPr algn="l" indent="0" marL="0">
              <a:lnSpc>
                <a:spcPts val="2009"/>
              </a:lnSpc>
              <a:spcBef>
                <a:spcPts val="360"/>
              </a:spcBef>
              <a:spcAft>
                <a:spcPts val="360"/>
              </a:spcAft>
              <a:buNone/>
            </a:pPr>
            <a:r>
              <a:rPr lang="en-US" sz="1264" dirty="0">
                <a:solidFill>
                  <a:srgbClr val="E8E4DF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 é a igualdade matemática entre duas ou mais razões: a/b = c/d. A propriedade fundamental garante que o produto dos extremos é igual ao produto dos meios:</a:t>
            </a:r>
            <a:endParaRPr lang="en-US" sz="1264" dirty="0"/>
          </a:p>
          <a:p>
            <a:pPr algn="l" indent="0" marL="0">
              <a:lnSpc>
                <a:spcPts val="2009"/>
              </a:lnSpc>
              <a:spcBef>
                <a:spcPts val="360"/>
              </a:spcBef>
              <a:spcAft>
                <a:spcPts val="360"/>
              </a:spcAft>
              <a:buNone/>
            </a:pPr>
            <a:r>
              <a:rPr lang="en-US" sz="1264" b="1" dirty="0">
                <a:solidFill>
                  <a:srgbClr val="E8E4DF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a × d = b × c</a:t>
            </a:r>
            <a:endParaRPr lang="en-US" sz="1264" dirty="0"/>
          </a:p>
          <a:p>
            <a:pPr algn="l" indent="0" marL="0">
              <a:lnSpc>
                <a:spcPts val="2009"/>
              </a:lnSpc>
              <a:spcBef>
                <a:spcPts val="360"/>
              </a:spcBef>
              <a:spcAft>
                <a:spcPts val="360"/>
              </a:spcAft>
              <a:buNone/>
            </a:pPr>
            <a:r>
              <a:rPr lang="en-US" sz="1264" dirty="0">
                <a:solidFill>
                  <a:srgbClr val="E8E4DF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Se uma máquina produz 150 peças em 2 horas, esperamos que ela produza 300 peças em 4 horas sob as mesmas condições.</a:t>
            </a:r>
            <a:endParaRPr lang="en-US" sz="1264" dirty="0"/>
          </a:p>
        </p:txBody>
      </p:sp>
      <p:sp>
        <p:nvSpPr>
          <p:cNvPr id="5" name="5f752ee9-f42f-436b-adcf-f979afb059f3_card"/>
          <p:cNvSpPr/>
          <p:nvPr/>
        </p:nvSpPr>
        <p:spPr>
          <a:xfrm>
            <a:off x="285750" y="3531870"/>
            <a:ext cx="4572000" cy="1125601"/>
          </a:xfrm>
          <a:prstGeom prst="roundRect">
            <a:avLst>
              <a:gd name="adj" fmla="val 8124"/>
            </a:avLst>
          </a:prstGeom>
          <a:solidFill>
            <a:srgbClr val="82B4EB">
              <a:alpha val="14902"/>
            </a:srgbClr>
          </a:solidFill>
          <a:ln w="11430">
            <a:solidFill>
              <a:srgbClr val="0B2F50">
                <a:alpha val="20000"/>
              </a:srgbClr>
            </a:solidFill>
            <a:prstDash val="solid"/>
          </a:ln>
        </p:spPr>
      </p:sp>
      <p:sp>
        <p:nvSpPr>
          <p:cNvPr id="6" name="5f752ee9-f42f-436b-adcf-f979afb059f3_emoji"/>
          <p:cNvSpPr/>
          <p:nvPr/>
        </p:nvSpPr>
        <p:spPr>
          <a:xfrm>
            <a:off x="400050" y="3680460"/>
            <a:ext cx="365760" cy="4114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2160" dirty="0">
                <a:solidFill>
                  <a:srgbClr val="000000"/>
                </a:solidFill>
              </a:rPr>
              <a:t>🧠</a:t>
            </a:r>
            <a:endParaRPr lang="en-US" sz="2160" dirty="0"/>
          </a:p>
        </p:txBody>
      </p:sp>
      <p:sp>
        <p:nvSpPr>
          <p:cNvPr id="7" name="5f752ee9-f42f-436b-adcf-f979afb059f3_text"/>
          <p:cNvSpPr/>
          <p:nvPr/>
        </p:nvSpPr>
        <p:spPr>
          <a:xfrm>
            <a:off x="765810" y="3646170"/>
            <a:ext cx="3977640" cy="8970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86"/>
              </a:lnSpc>
              <a:spcBef>
                <a:spcPts val="270"/>
              </a:spcBef>
              <a:spcAft>
                <a:spcPts val="270"/>
              </a:spcAft>
              <a:buNone/>
            </a:pPr>
            <a:r>
              <a:rPr lang="en-US" sz="1123" b="1" dirty="0">
                <a:solidFill>
                  <a:srgbClr val="B5D4F4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Lembre-se</a:t>
            </a:r>
            <a:endParaRPr lang="en-US" sz="1123" dirty="0"/>
          </a:p>
          <a:p>
            <a:pPr algn="l" indent="0" marL="0">
              <a:lnSpc>
                <a:spcPts val="2009"/>
              </a:lnSpc>
              <a:spcBef>
                <a:spcPts val="360"/>
              </a:spcBef>
              <a:spcAft>
                <a:spcPts val="360"/>
              </a:spcAft>
              <a:buNone/>
            </a:pPr>
            <a:r>
              <a:rPr lang="en-US" sz="1264" dirty="0">
                <a:solidFill>
                  <a:srgbClr val="B5D4F4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Se a/b = c/d, qualquer incógnita pode ser isolada e calculada com exatidão.</a:t>
            </a:r>
            <a:endParaRPr lang="en-US" sz="1123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06d49bbd-bea9-4cb0-8ae6-ebc3fcb87d70" descr="/home/forge/chalkie-production-workers-1/releases/77481629/backend/storage/app/render-specs/3c0c6458-ad69-4755-a770-457f81065846/img_e7c08f0dfe6623e1c2989d7cc6eb1871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5750" y="800100"/>
            <a:ext cx="4194810" cy="2057400"/>
          </a:xfrm>
          <a:prstGeom prst="roundRect">
            <a:avLst>
              <a:gd name="adj" fmla="val 6667"/>
            </a:avLst>
          </a:prstGeom>
        </p:spPr>
      </p:pic>
      <p:pic>
        <p:nvPicPr>
          <p:cNvPr id="3" name="13dc866d-fcce-4cf1-b52a-414f9f28f03f" descr="/home/forge/chalkie-production-workers-1/releases/77481629/backend/storage/app/render-specs/3c0c6458-ad69-4755-a770-457f81065846/img_7a513ee0278d443c30f26205e79022fe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52010" y="800100"/>
            <a:ext cx="4194810" cy="2057400"/>
          </a:xfrm>
          <a:prstGeom prst="roundRect">
            <a:avLst>
              <a:gd name="adj" fmla="val 6667"/>
            </a:avLst>
          </a:prstGeom>
        </p:spPr>
      </p:pic>
      <p:sp>
        <p:nvSpPr>
          <p:cNvPr id="4" name="398fc964-3254-4f1e-829f-018742f2d92d"/>
          <p:cNvSpPr/>
          <p:nvPr/>
        </p:nvSpPr>
        <p:spPr>
          <a:xfrm>
            <a:off x="285750" y="171450"/>
            <a:ext cx="8572500" cy="603504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t"/>
          <a:lstStyle/>
          <a:p>
            <a:pPr algn="l" indent="0" marL="0">
              <a:lnSpc>
                <a:spcPts val="3571"/>
              </a:lnSpc>
              <a:spcBef>
                <a:spcPts val="450"/>
              </a:spcBef>
              <a:spcAft>
                <a:spcPts val="450"/>
              </a:spcAft>
              <a:buNone/>
            </a:pPr>
            <a:r>
              <a:rPr lang="en-US" sz="2246" b="1" dirty="0">
                <a:solidFill>
                  <a:srgbClr val="E8C85A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Direta ou Inversamente Proporcional?</a:t>
            </a:r>
            <a:endParaRPr lang="en-US" sz="2246" dirty="0"/>
          </a:p>
        </p:txBody>
      </p:sp>
      <p:sp>
        <p:nvSpPr>
          <p:cNvPr id="5" name="225a54a0-2ac2-4f68-a48d-2078aac5f76a"/>
          <p:cNvSpPr/>
          <p:nvPr/>
        </p:nvSpPr>
        <p:spPr>
          <a:xfrm>
            <a:off x="285750" y="2994660"/>
            <a:ext cx="4194810" cy="1499616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t"/>
          <a:lstStyle/>
          <a:p>
            <a:pPr algn="l" indent="0" marL="0">
              <a:lnSpc>
                <a:spcPts val="2455"/>
              </a:lnSpc>
              <a:spcBef>
                <a:spcPts val="360"/>
              </a:spcBef>
              <a:spcAft>
                <a:spcPts val="360"/>
              </a:spcAft>
              <a:buNone/>
            </a:pPr>
            <a:r>
              <a:rPr lang="en-US" sz="1544" b="1" dirty="0">
                <a:solidFill>
                  <a:srgbClr val="E8E4DF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Diretamente Proporcional</a:t>
            </a:r>
            <a:endParaRPr lang="en-US" sz="1544" dirty="0"/>
          </a:p>
          <a:p>
            <a:pPr algn="l" indent="0" marL="0">
              <a:lnSpc>
                <a:spcPts val="2009"/>
              </a:lnSpc>
              <a:spcBef>
                <a:spcPts val="360"/>
              </a:spcBef>
              <a:spcAft>
                <a:spcPts val="360"/>
              </a:spcAft>
              <a:buNone/>
            </a:pPr>
            <a:r>
              <a:rPr lang="en-US" sz="1264" dirty="0">
                <a:solidFill>
                  <a:srgbClr val="E8E4DF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Quando uma grandeza sobe, a outra também:</a:t>
            </a:r>
            <a:endParaRPr lang="en-US" sz="1544" dirty="0"/>
          </a:p>
          <a:p>
            <a:pPr algn="l" marL="228600" indent="-68580">
              <a:lnSpc>
                <a:spcPts val="2009"/>
              </a:lnSpc>
              <a:spcBef>
                <a:spcPts val="225"/>
              </a:spcBef>
              <a:spcAft>
                <a:spcPts val="225"/>
              </a:spcAft>
              <a:buSzPct val="100000"/>
              <a:buChar char="•"/>
            </a:pPr>
            <a:r>
              <a:rPr lang="en-US" sz="1264" dirty="0">
                <a:solidFill>
                  <a:srgbClr val="E8E4DF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Mais entregas exigem mais combustível.</a:t>
            </a:r>
            <a:endParaRPr lang="en-US" sz="1544" dirty="0"/>
          </a:p>
          <a:p>
            <a:pPr algn="l" marL="228600" indent="-68580">
              <a:lnSpc>
                <a:spcPts val="2009"/>
              </a:lnSpc>
              <a:spcBef>
                <a:spcPts val="225"/>
              </a:spcBef>
              <a:spcAft>
                <a:spcPts val="225"/>
              </a:spcAft>
              <a:buSzPct val="100000"/>
              <a:buChar char="•"/>
            </a:pPr>
            <a:r>
              <a:rPr lang="en-US" sz="1264" dirty="0">
                <a:solidFill>
                  <a:srgbClr val="E8E4DF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Mais matéria-prima gera mais produtos.</a:t>
            </a:r>
            <a:endParaRPr lang="en-US" sz="1544" dirty="0"/>
          </a:p>
        </p:txBody>
      </p:sp>
      <p:sp>
        <p:nvSpPr>
          <p:cNvPr id="6" name="a3813e76-664d-45aa-96f8-c2a0eed869d7"/>
          <p:cNvSpPr/>
          <p:nvPr/>
        </p:nvSpPr>
        <p:spPr>
          <a:xfrm>
            <a:off x="4652010" y="2994660"/>
            <a:ext cx="4194810" cy="1147572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t"/>
          <a:lstStyle/>
          <a:p>
            <a:pPr algn="l" indent="0" marL="0">
              <a:lnSpc>
                <a:spcPts val="2455"/>
              </a:lnSpc>
              <a:spcBef>
                <a:spcPts val="360"/>
              </a:spcBef>
              <a:spcAft>
                <a:spcPts val="360"/>
              </a:spcAft>
              <a:buNone/>
            </a:pPr>
            <a:r>
              <a:rPr lang="en-US" sz="1544" b="1" dirty="0">
                <a:solidFill>
                  <a:srgbClr val="E8E4DF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Inversamente Proporcional</a:t>
            </a:r>
            <a:endParaRPr lang="en-US" sz="1544" dirty="0"/>
          </a:p>
          <a:p>
            <a:pPr algn="l" indent="0" marL="0">
              <a:lnSpc>
                <a:spcPts val="2009"/>
              </a:lnSpc>
              <a:spcBef>
                <a:spcPts val="360"/>
              </a:spcBef>
              <a:spcAft>
                <a:spcPts val="360"/>
              </a:spcAft>
              <a:buNone/>
            </a:pPr>
            <a:r>
              <a:rPr lang="en-US" sz="1264" dirty="0">
                <a:solidFill>
                  <a:srgbClr val="E8E4DF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Quando uma grandeza sobe, a outra desce:</a:t>
            </a:r>
            <a:endParaRPr lang="en-US" sz="1544" dirty="0"/>
          </a:p>
          <a:p>
            <a:pPr algn="l" marL="228600" indent="-68580">
              <a:lnSpc>
                <a:spcPts val="2009"/>
              </a:lnSpc>
              <a:spcBef>
                <a:spcPts val="225"/>
              </a:spcBef>
              <a:spcAft>
                <a:spcPts val="225"/>
              </a:spcAft>
              <a:buSzPct val="100000"/>
              <a:buChar char="•"/>
            </a:pPr>
            <a:r>
              <a:rPr lang="en-US" sz="1264" dirty="0">
                <a:solidFill>
                  <a:srgbClr val="E8E4DF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Mais operários reduzem o tempo do lote.</a:t>
            </a:r>
            <a:endParaRPr lang="en-US" sz="1544" dirty="0"/>
          </a:p>
          <a:p>
            <a:pPr algn="l" marL="228600" indent="-68580">
              <a:lnSpc>
                <a:spcPts val="2009"/>
              </a:lnSpc>
              <a:spcBef>
                <a:spcPts val="225"/>
              </a:spcBef>
              <a:spcAft>
                <a:spcPts val="225"/>
              </a:spcAft>
              <a:buSzPct val="100000"/>
              <a:buChar char="•"/>
            </a:pPr>
            <a:r>
              <a:rPr lang="en-US" sz="1264" dirty="0">
                <a:solidFill>
                  <a:srgbClr val="E8E4DF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Maior velocidade reduz o tempo de viagem.</a:t>
            </a:r>
            <a:endParaRPr lang="en-US" sz="1544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63f980ca-98e4-4e6d-9cd7-343ec3d056d9" descr="/home/forge/chalkie-production-workers-1/releases/77481629/backend/storage/app/render-specs/3c0c6458-ad69-4755-a770-457f81065846/img_36f9ca513ea9aa1bc00d9fcc45a532cc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1828800"/>
          </a:xfrm>
          <a:prstGeom prst="roundRect">
            <a:avLst>
              <a:gd name="adj" fmla="val 7500"/>
            </a:avLst>
          </a:prstGeom>
        </p:spPr>
      </p:pic>
      <p:sp>
        <p:nvSpPr>
          <p:cNvPr id="3" name="e14b9702-b44c-4f59-a894-29edaa7e9360"/>
          <p:cNvSpPr/>
          <p:nvPr/>
        </p:nvSpPr>
        <p:spPr>
          <a:xfrm>
            <a:off x="285750" y="1920240"/>
            <a:ext cx="8572500" cy="603504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t"/>
          <a:lstStyle/>
          <a:p>
            <a:pPr algn="l" indent="0" marL="0">
              <a:lnSpc>
                <a:spcPts val="3571"/>
              </a:lnSpc>
              <a:spcBef>
                <a:spcPts val="450"/>
              </a:spcBef>
              <a:spcAft>
                <a:spcPts val="450"/>
              </a:spcAft>
              <a:buNone/>
            </a:pPr>
            <a:r>
              <a:rPr lang="en-US" sz="2246" b="1" dirty="0">
                <a:solidFill>
                  <a:srgbClr val="E8C85A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Regra de Três Simples Direta</a:t>
            </a:r>
            <a:endParaRPr lang="en-US" sz="2246" dirty="0"/>
          </a:p>
        </p:txBody>
      </p:sp>
      <p:sp>
        <p:nvSpPr>
          <p:cNvPr id="4" name="8972952c-d113-4373-8d0c-14bb89bde5ad"/>
          <p:cNvSpPr/>
          <p:nvPr/>
        </p:nvSpPr>
        <p:spPr>
          <a:xfrm>
            <a:off x="285750" y="2548890"/>
            <a:ext cx="8572500" cy="1851660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t"/>
          <a:lstStyle/>
          <a:p>
            <a:pPr algn="l" indent="0" marL="0">
              <a:lnSpc>
                <a:spcPts val="2455"/>
              </a:lnSpc>
              <a:spcBef>
                <a:spcPts val="360"/>
              </a:spcBef>
              <a:spcAft>
                <a:spcPts val="360"/>
              </a:spcAft>
              <a:buNone/>
            </a:pPr>
            <a:r>
              <a:rPr lang="en-US" sz="1544" b="1" dirty="0">
                <a:solidFill>
                  <a:srgbClr val="E8E4DF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Caso: Consumo de Embalagens</a:t>
            </a:r>
            <a:endParaRPr lang="en-US" sz="1544" dirty="0"/>
          </a:p>
          <a:p>
            <a:pPr algn="l" indent="0" marL="0">
              <a:lnSpc>
                <a:spcPts val="2009"/>
              </a:lnSpc>
              <a:spcBef>
                <a:spcPts val="360"/>
              </a:spcBef>
              <a:spcAft>
                <a:spcPts val="360"/>
              </a:spcAft>
              <a:buNone/>
            </a:pPr>
            <a:r>
              <a:rPr lang="en-US" sz="1264" dirty="0">
                <a:solidFill>
                  <a:srgbClr val="E8E4DF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Uma linha de produção gasta 45 kg de resina plástica para moldar 600 frascos de cosméticos. Quantos quilos de resina serão necessários para atender a um pedido urgente de 1.800 frascos?</a:t>
            </a:r>
            <a:endParaRPr lang="en-US" sz="1544" dirty="0"/>
          </a:p>
          <a:p>
            <a:pPr algn="l" marL="228600" indent="-68580">
              <a:lnSpc>
                <a:spcPts val="2009"/>
              </a:lnSpc>
              <a:spcBef>
                <a:spcPts val="225"/>
              </a:spcBef>
              <a:spcAft>
                <a:spcPts val="225"/>
              </a:spcAft>
              <a:buSzPct val="100000"/>
              <a:buChar char="•"/>
            </a:pPr>
            <a:r>
              <a:rPr lang="en-US" sz="1264" dirty="0">
                <a:solidFill>
                  <a:srgbClr val="E8E4DF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Montagem: 45 / 600 = x / 1.800</a:t>
            </a:r>
            <a:endParaRPr lang="en-US" sz="1544" dirty="0"/>
          </a:p>
          <a:p>
            <a:pPr algn="l" marL="228600" indent="-68580">
              <a:lnSpc>
                <a:spcPts val="2009"/>
              </a:lnSpc>
              <a:spcBef>
                <a:spcPts val="225"/>
              </a:spcBef>
              <a:spcAft>
                <a:spcPts val="225"/>
              </a:spcAft>
              <a:buSzPct val="100000"/>
              <a:buChar char="•"/>
            </a:pPr>
            <a:r>
              <a:rPr lang="en-US" sz="1264" dirty="0">
                <a:solidFill>
                  <a:srgbClr val="E8E4DF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Multiplicação cruzada: 600 × x = 45 × 1.800</a:t>
            </a:r>
            <a:endParaRPr lang="en-US" sz="1544" dirty="0"/>
          </a:p>
          <a:p>
            <a:pPr algn="l" marL="228600" indent="-68580">
              <a:lnSpc>
                <a:spcPts val="2009"/>
              </a:lnSpc>
              <a:spcBef>
                <a:spcPts val="225"/>
              </a:spcBef>
              <a:spcAft>
                <a:spcPts val="225"/>
              </a:spcAft>
              <a:buSzPct val="100000"/>
              <a:buChar char="•"/>
            </a:pPr>
            <a:r>
              <a:rPr lang="en-US" sz="1264" dirty="0">
                <a:solidFill>
                  <a:srgbClr val="E8E4DF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Resolução: 600x = 81.000 → x = 81.000 / 600 = </a:t>
            </a:r>
            <a:pPr algn="l" indent="0" marL="0">
              <a:lnSpc>
                <a:spcPts val="2009"/>
              </a:lnSpc>
              <a:spcBef>
                <a:spcPts val="225"/>
              </a:spcBef>
              <a:spcAft>
                <a:spcPts val="225"/>
              </a:spcAft>
              <a:buNone/>
            </a:pPr>
            <a:r>
              <a:rPr lang="en-US" sz="1264" b="1" dirty="0">
                <a:solidFill>
                  <a:srgbClr val="E8E4DF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135 kg de resina</a:t>
            </a:r>
            <a:pPr algn="l" indent="0" marL="0">
              <a:lnSpc>
                <a:spcPts val="2009"/>
              </a:lnSpc>
              <a:spcBef>
                <a:spcPts val="225"/>
              </a:spcBef>
              <a:spcAft>
                <a:spcPts val="225"/>
              </a:spcAft>
              <a:buNone/>
            </a:pPr>
            <a:r>
              <a:rPr lang="en-US" sz="1264" dirty="0">
                <a:solidFill>
                  <a:srgbClr val="E8E4DF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.</a:t>
            </a:r>
            <a:endParaRPr lang="en-US" sz="1544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7a10ccca-5364-4950-9bdf-8ee473a115e4" descr="/home/forge/chalkie-production-workers-1/releases/77481629/backend/storage/app/render-specs/3c0c6458-ad69-4755-a770-457f81065846/img_9df3ebad9f2166f66ded5ef2d178832f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800100"/>
            <a:ext cx="3829050" cy="4057650"/>
          </a:xfrm>
          <a:prstGeom prst="roundRect">
            <a:avLst>
              <a:gd name="adj" fmla="val 3582"/>
            </a:avLst>
          </a:prstGeom>
        </p:spPr>
      </p:pic>
      <p:sp>
        <p:nvSpPr>
          <p:cNvPr id="3" name="57b85b3c-84b6-4a74-a253-bfd0468216ca"/>
          <p:cNvSpPr/>
          <p:nvPr/>
        </p:nvSpPr>
        <p:spPr>
          <a:xfrm>
            <a:off x="285750" y="171450"/>
            <a:ext cx="8572500" cy="603504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t"/>
          <a:lstStyle/>
          <a:p>
            <a:pPr algn="l" indent="0" marL="0">
              <a:lnSpc>
                <a:spcPts val="3571"/>
              </a:lnSpc>
              <a:spcBef>
                <a:spcPts val="450"/>
              </a:spcBef>
              <a:spcAft>
                <a:spcPts val="450"/>
              </a:spcAft>
              <a:buNone/>
            </a:pPr>
            <a:r>
              <a:rPr lang="en-US" sz="2246" b="1" dirty="0">
                <a:solidFill>
                  <a:srgbClr val="E8C85A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Regra de Três Simples Inversa</a:t>
            </a:r>
            <a:endParaRPr lang="en-US" sz="2246" dirty="0"/>
          </a:p>
        </p:txBody>
      </p:sp>
      <p:sp>
        <p:nvSpPr>
          <p:cNvPr id="4" name="3ca9e759-0cf1-4192-8a92-00348b7b4261"/>
          <p:cNvSpPr/>
          <p:nvPr/>
        </p:nvSpPr>
        <p:spPr>
          <a:xfrm>
            <a:off x="285750" y="800100"/>
            <a:ext cx="4572000" cy="1851660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t"/>
          <a:lstStyle/>
          <a:p>
            <a:pPr algn="l" indent="0" marL="0">
              <a:lnSpc>
                <a:spcPts val="2455"/>
              </a:lnSpc>
              <a:spcBef>
                <a:spcPts val="360"/>
              </a:spcBef>
              <a:spcAft>
                <a:spcPts val="360"/>
              </a:spcAft>
              <a:buNone/>
            </a:pPr>
            <a:r>
              <a:rPr lang="en-US" sz="1544" b="1" dirty="0">
                <a:solidFill>
                  <a:srgbClr val="E8E4DF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Caso: Descarregamento</a:t>
            </a:r>
            <a:endParaRPr lang="en-US" sz="1544" dirty="0"/>
          </a:p>
          <a:p>
            <a:pPr algn="l" indent="0" marL="0">
              <a:lnSpc>
                <a:spcPts val="2009"/>
              </a:lnSpc>
              <a:spcBef>
                <a:spcPts val="360"/>
              </a:spcBef>
              <a:spcAft>
                <a:spcPts val="360"/>
              </a:spcAft>
              <a:buNone/>
            </a:pPr>
            <a:r>
              <a:rPr lang="en-US" sz="1264" dirty="0">
                <a:solidFill>
                  <a:srgbClr val="E8E4DF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4 conferentes descarregam uma carreta em 6h. Com 8 conferentes de mesma produtividade, quanto tempo levará?</a:t>
            </a:r>
            <a:endParaRPr lang="en-US" sz="1544" dirty="0"/>
          </a:p>
          <a:p>
            <a:pPr algn="l" marL="228600" indent="-68580">
              <a:lnSpc>
                <a:spcPts val="2009"/>
              </a:lnSpc>
              <a:spcBef>
                <a:spcPts val="225"/>
              </a:spcBef>
              <a:spcAft>
                <a:spcPts val="225"/>
              </a:spcAft>
              <a:buSzPct val="100000"/>
              <a:buChar char="•"/>
            </a:pPr>
            <a:r>
              <a:rPr lang="en-US" sz="1264" dirty="0">
                <a:solidFill>
                  <a:srgbClr val="E8E4DF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Proporção inversa: 4 × 6 = 8 × x</a:t>
            </a:r>
            <a:endParaRPr lang="en-US" sz="1544" dirty="0"/>
          </a:p>
          <a:p>
            <a:pPr algn="l" marL="228600" indent="-68580">
              <a:lnSpc>
                <a:spcPts val="2009"/>
              </a:lnSpc>
              <a:spcBef>
                <a:spcPts val="225"/>
              </a:spcBef>
              <a:spcAft>
                <a:spcPts val="225"/>
              </a:spcAft>
              <a:buSzPct val="100000"/>
              <a:buChar char="•"/>
            </a:pPr>
            <a:r>
              <a:rPr lang="en-US" sz="1264" dirty="0">
                <a:solidFill>
                  <a:srgbClr val="E8E4DF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Resolução: 24 = 8x → x = </a:t>
            </a:r>
            <a:pPr algn="l" indent="0" marL="0">
              <a:lnSpc>
                <a:spcPts val="2009"/>
              </a:lnSpc>
              <a:spcBef>
                <a:spcPts val="225"/>
              </a:spcBef>
              <a:spcAft>
                <a:spcPts val="225"/>
              </a:spcAft>
              <a:buNone/>
            </a:pPr>
            <a:r>
              <a:rPr lang="en-US" sz="1264" b="1" dirty="0">
                <a:solidFill>
                  <a:srgbClr val="E8E4DF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3 horas</a:t>
            </a:r>
            <a:pPr algn="l" indent="0" marL="0">
              <a:lnSpc>
                <a:spcPts val="2009"/>
              </a:lnSpc>
              <a:spcBef>
                <a:spcPts val="225"/>
              </a:spcBef>
              <a:spcAft>
                <a:spcPts val="225"/>
              </a:spcAft>
              <a:buNone/>
            </a:pPr>
            <a:r>
              <a:rPr lang="en-US" sz="1264" dirty="0">
                <a:solidFill>
                  <a:srgbClr val="E8E4DF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.</a:t>
            </a:r>
            <a:endParaRPr lang="en-US" sz="1544" dirty="0"/>
          </a:p>
        </p:txBody>
      </p:sp>
      <p:sp>
        <p:nvSpPr>
          <p:cNvPr id="5" name="4f407732-127d-4099-94e5-5dcfb40a4a7f_card"/>
          <p:cNvSpPr/>
          <p:nvPr/>
        </p:nvSpPr>
        <p:spPr>
          <a:xfrm>
            <a:off x="285750" y="2937510"/>
            <a:ext cx="4572000" cy="1380744"/>
          </a:xfrm>
          <a:prstGeom prst="roundRect">
            <a:avLst>
              <a:gd name="adj" fmla="val 6623"/>
            </a:avLst>
          </a:prstGeom>
          <a:solidFill>
            <a:srgbClr val="F09696">
              <a:alpha val="14902"/>
            </a:srgbClr>
          </a:solidFill>
          <a:ln w="11430">
            <a:solidFill>
              <a:srgbClr val="460606">
                <a:alpha val="20000"/>
              </a:srgbClr>
            </a:solidFill>
            <a:prstDash val="solid"/>
          </a:ln>
        </p:spPr>
      </p:sp>
      <p:sp>
        <p:nvSpPr>
          <p:cNvPr id="6" name="4f407732-127d-4099-94e5-5dcfb40a4a7f_emoji"/>
          <p:cNvSpPr/>
          <p:nvPr/>
        </p:nvSpPr>
        <p:spPr>
          <a:xfrm>
            <a:off x="400050" y="3086100"/>
            <a:ext cx="365760" cy="4114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2160" dirty="0">
                <a:solidFill>
                  <a:srgbClr val="000000"/>
                </a:solidFill>
              </a:rPr>
              <a:t>⚠️</a:t>
            </a:r>
            <a:endParaRPr lang="en-US" sz="2160" dirty="0"/>
          </a:p>
        </p:txBody>
      </p:sp>
      <p:sp>
        <p:nvSpPr>
          <p:cNvPr id="7" name="4f407732-127d-4099-94e5-5dcfb40a4a7f_text"/>
          <p:cNvSpPr/>
          <p:nvPr/>
        </p:nvSpPr>
        <p:spPr>
          <a:xfrm>
            <a:off x="765810" y="3051810"/>
            <a:ext cx="3977640" cy="11521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86"/>
              </a:lnSpc>
              <a:spcBef>
                <a:spcPts val="270"/>
              </a:spcBef>
              <a:spcAft>
                <a:spcPts val="270"/>
              </a:spcAft>
              <a:buNone/>
            </a:pPr>
            <a:r>
              <a:rPr lang="en-US" sz="1123" b="1" dirty="0">
                <a:solidFill>
                  <a:srgbClr val="F7C1C1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Atenção</a:t>
            </a:r>
            <a:endParaRPr lang="en-US" sz="1123" dirty="0"/>
          </a:p>
          <a:p>
            <a:pPr algn="l" indent="0" marL="0">
              <a:lnSpc>
                <a:spcPts val="2009"/>
              </a:lnSpc>
              <a:spcBef>
                <a:spcPts val="360"/>
              </a:spcBef>
              <a:spcAft>
                <a:spcPts val="360"/>
              </a:spcAft>
              <a:buNone/>
            </a:pPr>
            <a:r>
              <a:rPr lang="en-US" sz="1264" dirty="0">
                <a:solidFill>
                  <a:srgbClr val="F7C1C1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Não cruze valores em grandezas inversas! O produto das linhas deve ser constante.</a:t>
            </a:r>
            <a:endParaRPr lang="en-US" sz="1123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849f3da-538f-415a-8b54-5d6a5f500578"/>
          <p:cNvSpPr/>
          <p:nvPr/>
        </p:nvSpPr>
        <p:spPr>
          <a:xfrm>
            <a:off x="285750" y="171450"/>
            <a:ext cx="8572500" cy="603504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t"/>
          <a:lstStyle/>
          <a:p>
            <a:pPr algn="l" indent="0" marL="0">
              <a:lnSpc>
                <a:spcPts val="3571"/>
              </a:lnSpc>
              <a:spcBef>
                <a:spcPts val="450"/>
              </a:spcBef>
              <a:spcAft>
                <a:spcPts val="450"/>
              </a:spcAft>
              <a:buNone/>
            </a:pPr>
            <a:r>
              <a:rPr lang="en-US" sz="2246" b="1" dirty="0">
                <a:solidFill>
                  <a:srgbClr val="E8C85A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Checagem: Tipo de Relação</a:t>
            </a:r>
            <a:endParaRPr lang="en-US" sz="2246" dirty="0"/>
          </a:p>
        </p:txBody>
      </p:sp>
      <p:sp>
        <p:nvSpPr>
          <p:cNvPr id="3" name="bb2f0b3a-c017-482e-b5b6-e7f9f05f9a61"/>
          <p:cNvSpPr/>
          <p:nvPr/>
        </p:nvSpPr>
        <p:spPr>
          <a:xfrm>
            <a:off x="285750" y="685800"/>
            <a:ext cx="8572500" cy="667512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t"/>
          <a:lstStyle/>
          <a:p>
            <a:pPr algn="l" indent="0" marL="0">
              <a:lnSpc>
                <a:spcPts val="2009"/>
              </a:lnSpc>
              <a:spcBef>
                <a:spcPts val="360"/>
              </a:spcBef>
              <a:spcAft>
                <a:spcPts val="360"/>
              </a:spcAft>
              <a:buNone/>
            </a:pPr>
            <a:r>
              <a:rPr lang="en-US" sz="1264" dirty="0">
                <a:solidFill>
                  <a:srgbClr val="E8E4DF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Se um centro de distribuição aumenta a velocidade de separação de 50 pedidos por hora para 100 pedidos por hora, o tempo necessário para separar 500 pedidos:</a:t>
            </a:r>
            <a:endParaRPr lang="en-US" sz="1264" dirty="0"/>
          </a:p>
        </p:txBody>
      </p:sp>
      <p:sp>
        <p:nvSpPr>
          <p:cNvPr id="4" name="fc2d86ed-c170-4386-b427-dbf83d64d9a3"/>
          <p:cNvSpPr/>
          <p:nvPr/>
        </p:nvSpPr>
        <p:spPr>
          <a:xfrm>
            <a:off x="285750" y="1657350"/>
            <a:ext cx="525780" cy="685800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ctr"/>
          <a:lstStyle/>
          <a:p>
            <a:pPr algn="l" indent="0" marL="0">
              <a:lnSpc>
                <a:spcPts val="3125"/>
              </a:lnSpc>
              <a:spcBef>
                <a:spcPts val="450"/>
              </a:spcBef>
              <a:spcAft>
                <a:spcPts val="450"/>
              </a:spcAft>
              <a:buNone/>
            </a:pPr>
            <a:r>
              <a:rPr lang="en-US" sz="1966" b="1" dirty="0">
                <a:solidFill>
                  <a:srgbClr val="E8E4DF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1.</a:t>
            </a:r>
            <a:endParaRPr lang="en-US" sz="1966" dirty="0"/>
          </a:p>
        </p:txBody>
      </p:sp>
      <p:sp>
        <p:nvSpPr>
          <p:cNvPr id="5" name="5c069432-acbe-4c2f-868d-8dc83f632b62"/>
          <p:cNvSpPr/>
          <p:nvPr/>
        </p:nvSpPr>
        <p:spPr>
          <a:xfrm>
            <a:off x="857250" y="1657350"/>
            <a:ext cx="8001000" cy="685800"/>
          </a:xfrm>
          <a:prstGeom prst="roundRect">
            <a:avLst>
              <a:gd name="adj" fmla="val 16667"/>
            </a:avLst>
          </a:prstGeom>
          <a:solidFill>
            <a:srgbClr val="F4F9FC"/>
          </a:solidFill>
          <a:ln w="45720">
            <a:solidFill>
              <a:srgbClr val="000000"/>
            </a:solidFill>
          </a:ln>
        </p:spPr>
        <p:txBody>
          <a:bodyPr wrap="square" lIns="102870" tIns="102870" rIns="102870" bIns="102870" rtlCol="0" anchor="ctr"/>
          <a:lstStyle/>
          <a:p>
            <a:pPr algn="l" indent="0" marL="0">
              <a:lnSpc>
                <a:spcPts val="2009"/>
              </a:lnSpc>
              <a:spcBef>
                <a:spcPts val="360"/>
              </a:spcBef>
              <a:spcAft>
                <a:spcPts val="360"/>
              </a:spcAft>
              <a:buNone/>
            </a:pPr>
            <a:r>
              <a:rPr lang="en-US" sz="1264" dirty="0">
                <a:solidFill>
                  <a:srgbClr val="040F0F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Aumenta em 50%, pois há maior desgaste dos separadores.</a:t>
            </a:r>
            <a:endParaRPr lang="en-US" sz="1264" dirty="0"/>
          </a:p>
        </p:txBody>
      </p:sp>
      <p:sp>
        <p:nvSpPr>
          <p:cNvPr id="6" name="b5f0b4d8-06c8-402c-8efa-04450566cdd6"/>
          <p:cNvSpPr/>
          <p:nvPr/>
        </p:nvSpPr>
        <p:spPr>
          <a:xfrm>
            <a:off x="285750" y="2514600"/>
            <a:ext cx="525780" cy="685800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ctr"/>
          <a:lstStyle/>
          <a:p>
            <a:pPr algn="l" indent="0" marL="0">
              <a:lnSpc>
                <a:spcPts val="3125"/>
              </a:lnSpc>
              <a:spcBef>
                <a:spcPts val="450"/>
              </a:spcBef>
              <a:spcAft>
                <a:spcPts val="450"/>
              </a:spcAft>
              <a:buNone/>
            </a:pPr>
            <a:r>
              <a:rPr lang="en-US" sz="1966" b="1" dirty="0">
                <a:solidFill>
                  <a:srgbClr val="E8E4DF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2.</a:t>
            </a:r>
            <a:endParaRPr lang="en-US" sz="1966" dirty="0"/>
          </a:p>
        </p:txBody>
      </p:sp>
      <p:sp>
        <p:nvSpPr>
          <p:cNvPr id="7" name="7b339bf6-cb63-491a-8500-d2fd7dd3e5e5"/>
          <p:cNvSpPr/>
          <p:nvPr/>
        </p:nvSpPr>
        <p:spPr>
          <a:xfrm>
            <a:off x="857250" y="2514600"/>
            <a:ext cx="8001000" cy="685800"/>
          </a:xfrm>
          <a:prstGeom prst="roundRect">
            <a:avLst>
              <a:gd name="adj" fmla="val 16667"/>
            </a:avLst>
          </a:prstGeom>
          <a:solidFill>
            <a:srgbClr val="F4F9FC"/>
          </a:solidFill>
          <a:ln w="45720">
            <a:solidFill>
              <a:srgbClr val="000000"/>
            </a:solidFill>
          </a:ln>
        </p:spPr>
        <p:txBody>
          <a:bodyPr wrap="square" lIns="102870" tIns="102870" rIns="102870" bIns="102870" rtlCol="0" anchor="ctr"/>
          <a:lstStyle/>
          <a:p>
            <a:pPr algn="l" indent="0" marL="0">
              <a:lnSpc>
                <a:spcPts val="2009"/>
              </a:lnSpc>
              <a:spcBef>
                <a:spcPts val="360"/>
              </a:spcBef>
              <a:spcAft>
                <a:spcPts val="360"/>
              </a:spcAft>
              <a:buNone/>
            </a:pPr>
            <a:r>
              <a:rPr lang="en-US" sz="1264" dirty="0">
                <a:solidFill>
                  <a:srgbClr val="040F0F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Dobra de valor, pois velocidade e tempo são grandezas diretamente proporcionais.</a:t>
            </a:r>
            <a:endParaRPr lang="en-US" sz="1264" dirty="0"/>
          </a:p>
        </p:txBody>
      </p:sp>
      <p:sp>
        <p:nvSpPr>
          <p:cNvPr id="8" name="a519d1f3-8fcb-48b2-9a77-be5940138656"/>
          <p:cNvSpPr/>
          <p:nvPr/>
        </p:nvSpPr>
        <p:spPr>
          <a:xfrm>
            <a:off x="285750" y="3371850"/>
            <a:ext cx="525780" cy="685800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ctr"/>
          <a:lstStyle/>
          <a:p>
            <a:pPr algn="l" indent="0" marL="0">
              <a:lnSpc>
                <a:spcPts val="3125"/>
              </a:lnSpc>
              <a:spcBef>
                <a:spcPts val="450"/>
              </a:spcBef>
              <a:spcAft>
                <a:spcPts val="450"/>
              </a:spcAft>
              <a:buNone/>
            </a:pPr>
            <a:r>
              <a:rPr lang="en-US" sz="1966" b="1" dirty="0">
                <a:solidFill>
                  <a:srgbClr val="E8E4DF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3.</a:t>
            </a:r>
            <a:endParaRPr lang="en-US" sz="1966" dirty="0"/>
          </a:p>
        </p:txBody>
      </p:sp>
      <p:sp>
        <p:nvSpPr>
          <p:cNvPr id="9" name="88fe7d07-0b69-41b9-a919-c88ec9ac3ffc"/>
          <p:cNvSpPr/>
          <p:nvPr/>
        </p:nvSpPr>
        <p:spPr>
          <a:xfrm>
            <a:off x="857250" y="3371850"/>
            <a:ext cx="8001000" cy="685800"/>
          </a:xfrm>
          <a:prstGeom prst="roundRect">
            <a:avLst>
              <a:gd name="adj" fmla="val 16667"/>
            </a:avLst>
          </a:prstGeom>
          <a:solidFill>
            <a:srgbClr val="F4F9FC"/>
          </a:solidFill>
          <a:ln w="45720">
            <a:solidFill>
              <a:srgbClr val="000000"/>
            </a:solidFill>
          </a:ln>
        </p:spPr>
        <p:txBody>
          <a:bodyPr wrap="square" lIns="102870" tIns="102870" rIns="102870" bIns="102870" rtlCol="0" anchor="ctr"/>
          <a:lstStyle/>
          <a:p>
            <a:pPr algn="l" indent="0" marL="0">
              <a:lnSpc>
                <a:spcPts val="2009"/>
              </a:lnSpc>
              <a:spcBef>
                <a:spcPts val="360"/>
              </a:spcBef>
              <a:spcAft>
                <a:spcPts val="360"/>
              </a:spcAft>
              <a:buNone/>
            </a:pPr>
            <a:r>
              <a:rPr lang="en-US" sz="1264" dirty="0">
                <a:solidFill>
                  <a:srgbClr val="040F0F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Permanece exatamente igual, pois o volume do lote é fixo.</a:t>
            </a:r>
            <a:endParaRPr lang="en-US" sz="1264" dirty="0"/>
          </a:p>
        </p:txBody>
      </p:sp>
      <p:sp>
        <p:nvSpPr>
          <p:cNvPr id="10" name="9fe2dd9d-1812-4741-bdae-9e535fba6239"/>
          <p:cNvSpPr/>
          <p:nvPr/>
        </p:nvSpPr>
        <p:spPr>
          <a:xfrm>
            <a:off x="285750" y="4229100"/>
            <a:ext cx="525780" cy="685800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ctr"/>
          <a:lstStyle/>
          <a:p>
            <a:pPr algn="l" indent="0" marL="0">
              <a:lnSpc>
                <a:spcPts val="3125"/>
              </a:lnSpc>
              <a:spcBef>
                <a:spcPts val="450"/>
              </a:spcBef>
              <a:spcAft>
                <a:spcPts val="450"/>
              </a:spcAft>
              <a:buNone/>
            </a:pPr>
            <a:r>
              <a:rPr lang="en-US" sz="1966" b="1" dirty="0">
                <a:solidFill>
                  <a:srgbClr val="E8E4DF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4.</a:t>
            </a:r>
            <a:endParaRPr lang="en-US" sz="1966" dirty="0"/>
          </a:p>
        </p:txBody>
      </p:sp>
      <p:sp>
        <p:nvSpPr>
          <p:cNvPr id="11" name="a434d0af-90d0-4c4f-97f6-c87c914a3580"/>
          <p:cNvSpPr/>
          <p:nvPr/>
        </p:nvSpPr>
        <p:spPr>
          <a:xfrm>
            <a:off x="857250" y="4229100"/>
            <a:ext cx="8001000" cy="685800"/>
          </a:xfrm>
          <a:prstGeom prst="roundRect">
            <a:avLst>
              <a:gd name="adj" fmla="val 16667"/>
            </a:avLst>
          </a:prstGeom>
          <a:solidFill>
            <a:srgbClr val="F4F9FC"/>
          </a:solidFill>
          <a:ln w="45720">
            <a:solidFill>
              <a:srgbClr val="000000"/>
            </a:solidFill>
          </a:ln>
        </p:spPr>
        <p:txBody>
          <a:bodyPr wrap="square" lIns="102870" tIns="102870" rIns="102870" bIns="102870" rtlCol="0" anchor="ctr"/>
          <a:lstStyle/>
          <a:p>
            <a:pPr algn="l" indent="0" marL="0">
              <a:lnSpc>
                <a:spcPts val="2009"/>
              </a:lnSpc>
              <a:spcBef>
                <a:spcPts val="360"/>
              </a:spcBef>
              <a:spcAft>
                <a:spcPts val="360"/>
              </a:spcAft>
              <a:buNone/>
            </a:pPr>
            <a:r>
              <a:rPr lang="en-US" sz="1264" dirty="0">
                <a:solidFill>
                  <a:srgbClr val="040F0F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Cai pela metade, pois velocidade e tempo são inversamente proporcionais.</a:t>
            </a:r>
            <a:endParaRPr lang="en-US" sz="1264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849f3da-538f-415a-8b54-5d6a5f500578"/>
          <p:cNvSpPr/>
          <p:nvPr/>
        </p:nvSpPr>
        <p:spPr>
          <a:xfrm>
            <a:off x="285750" y="171450"/>
            <a:ext cx="8572500" cy="603504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t"/>
          <a:lstStyle/>
          <a:p>
            <a:pPr algn="l" indent="0" marL="0">
              <a:lnSpc>
                <a:spcPts val="3571"/>
              </a:lnSpc>
              <a:spcBef>
                <a:spcPts val="450"/>
              </a:spcBef>
              <a:spcAft>
                <a:spcPts val="450"/>
              </a:spcAft>
              <a:buNone/>
            </a:pPr>
            <a:r>
              <a:rPr lang="en-US" sz="2246" b="1" dirty="0">
                <a:solidFill>
                  <a:srgbClr val="E8C85A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Checagem: Tipo de Relação</a:t>
            </a:r>
            <a:endParaRPr lang="en-US" sz="2246" dirty="0"/>
          </a:p>
        </p:txBody>
      </p:sp>
      <p:sp>
        <p:nvSpPr>
          <p:cNvPr id="3" name="bb2f0b3a-c017-482e-b5b6-e7f9f05f9a61"/>
          <p:cNvSpPr/>
          <p:nvPr/>
        </p:nvSpPr>
        <p:spPr>
          <a:xfrm>
            <a:off x="285750" y="685800"/>
            <a:ext cx="8572500" cy="667512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t"/>
          <a:lstStyle/>
          <a:p>
            <a:pPr algn="l" indent="0" marL="0">
              <a:lnSpc>
                <a:spcPts val="2009"/>
              </a:lnSpc>
              <a:spcBef>
                <a:spcPts val="360"/>
              </a:spcBef>
              <a:spcAft>
                <a:spcPts val="360"/>
              </a:spcAft>
              <a:buNone/>
            </a:pPr>
            <a:r>
              <a:rPr lang="en-US" sz="1264" dirty="0">
                <a:solidFill>
                  <a:srgbClr val="E8E4DF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Se um centro de distribuição aumenta a velocidade de separação de 50 pedidos por hora para 100 pedidos por hora, o tempo necessário para separar 500 pedidos:</a:t>
            </a:r>
            <a:endParaRPr lang="en-US" sz="1264" dirty="0"/>
          </a:p>
        </p:txBody>
      </p:sp>
      <p:sp>
        <p:nvSpPr>
          <p:cNvPr id="4" name="fc2d86ed-c170-4386-b427-dbf83d64d9a3"/>
          <p:cNvSpPr/>
          <p:nvPr/>
        </p:nvSpPr>
        <p:spPr>
          <a:xfrm>
            <a:off x="285750" y="1657350"/>
            <a:ext cx="525780" cy="685800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ctr"/>
          <a:lstStyle/>
          <a:p>
            <a:pPr algn="l" indent="0" marL="0">
              <a:lnSpc>
                <a:spcPts val="3125"/>
              </a:lnSpc>
              <a:spcBef>
                <a:spcPts val="450"/>
              </a:spcBef>
              <a:spcAft>
                <a:spcPts val="450"/>
              </a:spcAft>
              <a:buNone/>
            </a:pPr>
            <a:r>
              <a:rPr lang="en-US" sz="1966" b="1" dirty="0">
                <a:solidFill>
                  <a:srgbClr val="E8E4DF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1.</a:t>
            </a:r>
            <a:endParaRPr lang="en-US" sz="1966" dirty="0"/>
          </a:p>
        </p:txBody>
      </p:sp>
      <p:sp>
        <p:nvSpPr>
          <p:cNvPr id="5" name="5c069432-acbe-4c2f-868d-8dc83f632b62"/>
          <p:cNvSpPr/>
          <p:nvPr/>
        </p:nvSpPr>
        <p:spPr>
          <a:xfrm>
            <a:off x="857250" y="1657350"/>
            <a:ext cx="8001000" cy="685800"/>
          </a:xfrm>
          <a:prstGeom prst="roundRect">
            <a:avLst>
              <a:gd name="adj" fmla="val 16667"/>
            </a:avLst>
          </a:prstGeom>
          <a:solidFill>
            <a:srgbClr val="F4F9FC"/>
          </a:solidFill>
          <a:ln w="45720">
            <a:solidFill>
              <a:srgbClr val="000000"/>
            </a:solidFill>
          </a:ln>
        </p:spPr>
        <p:txBody>
          <a:bodyPr wrap="square" lIns="102870" tIns="102870" rIns="102870" bIns="102870" rtlCol="0" anchor="ctr"/>
          <a:lstStyle/>
          <a:p>
            <a:pPr algn="l" indent="0" marL="0">
              <a:lnSpc>
                <a:spcPts val="2009"/>
              </a:lnSpc>
              <a:spcBef>
                <a:spcPts val="360"/>
              </a:spcBef>
              <a:spcAft>
                <a:spcPts val="360"/>
              </a:spcAft>
              <a:buNone/>
            </a:pPr>
            <a:r>
              <a:rPr lang="en-US" sz="1264" dirty="0">
                <a:solidFill>
                  <a:srgbClr val="040F0F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Aumenta em 50%, pois há maior desgaste dos separadores.</a:t>
            </a:r>
            <a:endParaRPr lang="en-US" sz="1264" dirty="0"/>
          </a:p>
        </p:txBody>
      </p:sp>
      <p:sp>
        <p:nvSpPr>
          <p:cNvPr id="6" name="b5f0b4d8-06c8-402c-8efa-04450566cdd6"/>
          <p:cNvSpPr/>
          <p:nvPr/>
        </p:nvSpPr>
        <p:spPr>
          <a:xfrm>
            <a:off x="285750" y="2514600"/>
            <a:ext cx="525780" cy="685800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ctr"/>
          <a:lstStyle/>
          <a:p>
            <a:pPr algn="l" indent="0" marL="0">
              <a:lnSpc>
                <a:spcPts val="3125"/>
              </a:lnSpc>
              <a:spcBef>
                <a:spcPts val="450"/>
              </a:spcBef>
              <a:spcAft>
                <a:spcPts val="450"/>
              </a:spcAft>
              <a:buNone/>
            </a:pPr>
            <a:r>
              <a:rPr lang="en-US" sz="1966" b="1" dirty="0">
                <a:solidFill>
                  <a:srgbClr val="E8E4DF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2.</a:t>
            </a:r>
            <a:endParaRPr lang="en-US" sz="1966" dirty="0"/>
          </a:p>
        </p:txBody>
      </p:sp>
      <p:sp>
        <p:nvSpPr>
          <p:cNvPr id="7" name="7b339bf6-cb63-491a-8500-d2fd7dd3e5e5"/>
          <p:cNvSpPr/>
          <p:nvPr/>
        </p:nvSpPr>
        <p:spPr>
          <a:xfrm>
            <a:off x="857250" y="2514600"/>
            <a:ext cx="8001000" cy="685800"/>
          </a:xfrm>
          <a:prstGeom prst="roundRect">
            <a:avLst>
              <a:gd name="adj" fmla="val 16667"/>
            </a:avLst>
          </a:prstGeom>
          <a:solidFill>
            <a:srgbClr val="F4F9FC"/>
          </a:solidFill>
          <a:ln w="45720">
            <a:solidFill>
              <a:srgbClr val="000000"/>
            </a:solidFill>
          </a:ln>
        </p:spPr>
        <p:txBody>
          <a:bodyPr wrap="square" lIns="102870" tIns="102870" rIns="102870" bIns="102870" rtlCol="0" anchor="ctr"/>
          <a:lstStyle/>
          <a:p>
            <a:pPr algn="l" indent="0" marL="0">
              <a:lnSpc>
                <a:spcPts val="2009"/>
              </a:lnSpc>
              <a:spcBef>
                <a:spcPts val="360"/>
              </a:spcBef>
              <a:spcAft>
                <a:spcPts val="360"/>
              </a:spcAft>
              <a:buNone/>
            </a:pPr>
            <a:r>
              <a:rPr lang="en-US" sz="1264" dirty="0">
                <a:solidFill>
                  <a:srgbClr val="040F0F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Dobra de valor, pois velocidade e tempo são grandezas diretamente proporcionais.</a:t>
            </a:r>
            <a:endParaRPr lang="en-US" sz="1264" dirty="0"/>
          </a:p>
        </p:txBody>
      </p:sp>
      <p:sp>
        <p:nvSpPr>
          <p:cNvPr id="8" name="a519d1f3-8fcb-48b2-9a77-be5940138656"/>
          <p:cNvSpPr/>
          <p:nvPr/>
        </p:nvSpPr>
        <p:spPr>
          <a:xfrm>
            <a:off x="285750" y="3371850"/>
            <a:ext cx="525780" cy="685800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ctr"/>
          <a:lstStyle/>
          <a:p>
            <a:pPr algn="l" indent="0" marL="0">
              <a:lnSpc>
                <a:spcPts val="3125"/>
              </a:lnSpc>
              <a:spcBef>
                <a:spcPts val="450"/>
              </a:spcBef>
              <a:spcAft>
                <a:spcPts val="450"/>
              </a:spcAft>
              <a:buNone/>
            </a:pPr>
            <a:r>
              <a:rPr lang="en-US" sz="1966" b="1" dirty="0">
                <a:solidFill>
                  <a:srgbClr val="E8E4DF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3.</a:t>
            </a:r>
            <a:endParaRPr lang="en-US" sz="1966" dirty="0"/>
          </a:p>
        </p:txBody>
      </p:sp>
      <p:sp>
        <p:nvSpPr>
          <p:cNvPr id="9" name="88fe7d07-0b69-41b9-a919-c88ec9ac3ffc"/>
          <p:cNvSpPr/>
          <p:nvPr/>
        </p:nvSpPr>
        <p:spPr>
          <a:xfrm>
            <a:off x="857250" y="3371850"/>
            <a:ext cx="8001000" cy="685800"/>
          </a:xfrm>
          <a:prstGeom prst="roundRect">
            <a:avLst>
              <a:gd name="adj" fmla="val 16667"/>
            </a:avLst>
          </a:prstGeom>
          <a:solidFill>
            <a:srgbClr val="F4F9FC"/>
          </a:solidFill>
          <a:ln w="45720">
            <a:solidFill>
              <a:srgbClr val="000000"/>
            </a:solidFill>
          </a:ln>
        </p:spPr>
        <p:txBody>
          <a:bodyPr wrap="square" lIns="102870" tIns="102870" rIns="102870" bIns="102870" rtlCol="0" anchor="ctr"/>
          <a:lstStyle/>
          <a:p>
            <a:pPr algn="l" indent="0" marL="0">
              <a:lnSpc>
                <a:spcPts val="2009"/>
              </a:lnSpc>
              <a:spcBef>
                <a:spcPts val="360"/>
              </a:spcBef>
              <a:spcAft>
                <a:spcPts val="360"/>
              </a:spcAft>
              <a:buNone/>
            </a:pPr>
            <a:r>
              <a:rPr lang="en-US" sz="1264" dirty="0">
                <a:solidFill>
                  <a:srgbClr val="040F0F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Permanece exatamente igual, pois o volume do lote é fixo.</a:t>
            </a:r>
            <a:endParaRPr lang="en-US" sz="1264" dirty="0"/>
          </a:p>
        </p:txBody>
      </p:sp>
      <p:sp>
        <p:nvSpPr>
          <p:cNvPr id="10" name="9fe2dd9d-1812-4741-bdae-9e535fba6239"/>
          <p:cNvSpPr/>
          <p:nvPr/>
        </p:nvSpPr>
        <p:spPr>
          <a:xfrm>
            <a:off x="285750" y="4229100"/>
            <a:ext cx="525780" cy="685800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ctr"/>
          <a:lstStyle/>
          <a:p>
            <a:pPr algn="l" indent="0" marL="0">
              <a:lnSpc>
                <a:spcPts val="3125"/>
              </a:lnSpc>
              <a:spcBef>
                <a:spcPts val="450"/>
              </a:spcBef>
              <a:spcAft>
                <a:spcPts val="450"/>
              </a:spcAft>
              <a:buNone/>
            </a:pPr>
            <a:r>
              <a:rPr lang="en-US" sz="1966" b="1" dirty="0">
                <a:solidFill>
                  <a:srgbClr val="E8E4DF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4.</a:t>
            </a:r>
            <a:endParaRPr lang="en-US" sz="1966" dirty="0"/>
          </a:p>
        </p:txBody>
      </p:sp>
      <p:sp>
        <p:nvSpPr>
          <p:cNvPr id="11" name="a434d0af-90d0-4c4f-97f6-c87c914a3580"/>
          <p:cNvSpPr/>
          <p:nvPr/>
        </p:nvSpPr>
        <p:spPr>
          <a:xfrm>
            <a:off x="857250" y="4229100"/>
            <a:ext cx="8001000" cy="685800"/>
          </a:xfrm>
          <a:prstGeom prst="roundRect">
            <a:avLst>
              <a:gd name="adj" fmla="val 16667"/>
            </a:avLst>
          </a:prstGeom>
          <a:solidFill>
            <a:srgbClr val="F4F9FC"/>
          </a:solidFill>
          <a:ln w="45720">
            <a:solidFill>
              <a:srgbClr val="2C6E49"/>
            </a:solidFill>
          </a:ln>
        </p:spPr>
        <p:txBody>
          <a:bodyPr wrap="square" lIns="102870" tIns="102870" rIns="102870" bIns="102870" rtlCol="0" anchor="ctr"/>
          <a:lstStyle/>
          <a:p>
            <a:pPr algn="l" indent="0" marL="0">
              <a:lnSpc>
                <a:spcPts val="2009"/>
              </a:lnSpc>
              <a:spcBef>
                <a:spcPts val="360"/>
              </a:spcBef>
              <a:spcAft>
                <a:spcPts val="360"/>
              </a:spcAft>
              <a:buNone/>
            </a:pPr>
            <a:r>
              <a:rPr lang="en-US" sz="1264" dirty="0">
                <a:solidFill>
                  <a:srgbClr val="040F0F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Cai pela metade, pois velocidade e tempo são inversamente proporcionais.</a:t>
            </a:r>
            <a:endParaRPr lang="en-US" sz="1264" dirty="0"/>
          </a:p>
        </p:txBody>
      </p:sp>
      <p:sp>
        <p:nvSpPr>
          <p:cNvPr id="12" name="f2edf78e-59b1-4fed-8f12-60f1e21297a9"/>
          <p:cNvSpPr/>
          <p:nvPr/>
        </p:nvSpPr>
        <p:spPr>
          <a:xfrm>
            <a:off x="8366760" y="342900"/>
            <a:ext cx="548640" cy="548640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ctr"/>
          <a:lstStyle/>
          <a:p>
            <a:pPr algn="r" indent="0" marL="0">
              <a:lnSpc>
                <a:spcPts val="4464"/>
              </a:lnSpc>
              <a:spcBef>
                <a:spcPts val="450"/>
              </a:spcBef>
              <a:spcAft>
                <a:spcPts val="450"/>
              </a:spcAft>
              <a:buNone/>
            </a:pPr>
            <a:r>
              <a:rPr lang="en-US" sz="2808" dirty="0">
                <a:solidFill>
                  <a:srgbClr val="E8E4DF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✅</a:t>
            </a:r>
            <a:endParaRPr lang="en-US" sz="2808" dirty="0"/>
          </a:p>
        </p:txBody>
      </p:sp>
      <p:sp>
        <p:nvSpPr>
          <p:cNvPr id="13" name="d198f83d-36d9-4ba8-85ac-a9422e4273ba"/>
          <p:cNvSpPr/>
          <p:nvPr/>
        </p:nvSpPr>
        <p:spPr>
          <a:xfrm>
            <a:off x="8721090" y="4091940"/>
            <a:ext cx="274320" cy="274320"/>
          </a:xfrm>
          <a:prstGeom prst="roundRect">
            <a:avLst>
              <a:gd name="adj" fmla="val 25000"/>
            </a:avLst>
          </a:prstGeom>
          <a:solidFill>
            <a:srgbClr val="2C6E49"/>
          </a:solidFill>
          <a:ln/>
        </p:spPr>
        <p:txBody>
          <a:bodyPr wrap="square" lIns="45720" tIns="45720" rIns="45720" bIns="45720" rtlCol="0" anchor="ctr"/>
          <a:lstStyle/>
          <a:p>
            <a:pPr algn="ctr" indent="0" marL="0">
              <a:lnSpc>
                <a:spcPts val="1451"/>
              </a:lnSpc>
              <a:spcBef>
                <a:spcPts val="270"/>
              </a:spcBef>
              <a:spcAft>
                <a:spcPts val="270"/>
              </a:spcAft>
              <a:buNone/>
            </a:pPr>
            <a:r>
              <a:rPr lang="en-US" sz="913" b="1" dirty="0">
                <a:solidFill>
                  <a:srgbClr val="FFFFFF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✓</a:t>
            </a:r>
            <a:endParaRPr lang="en-US" sz="913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5f9e10d1-d587-4e49-b461-e3434040c241" descr="/home/forge/chalkie-production-workers-1/releases/77481629/backend/storage/app/render-specs/3c0c6458-ad69-4755-a770-457f81065846/img_db88b5c3fddc6d51f0e9033b375a408f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5750" y="800100"/>
            <a:ext cx="3829050" cy="4057650"/>
          </a:xfrm>
          <a:prstGeom prst="roundRect">
            <a:avLst>
              <a:gd name="adj" fmla="val 3582"/>
            </a:avLst>
          </a:prstGeom>
        </p:spPr>
      </p:pic>
      <p:sp>
        <p:nvSpPr>
          <p:cNvPr id="3" name="1c922ab9-61ad-4312-8ef1-5416ecb9bb76"/>
          <p:cNvSpPr/>
          <p:nvPr/>
        </p:nvSpPr>
        <p:spPr>
          <a:xfrm>
            <a:off x="285750" y="171450"/>
            <a:ext cx="8572500" cy="603504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t"/>
          <a:lstStyle/>
          <a:p>
            <a:pPr algn="l" indent="0" marL="0">
              <a:lnSpc>
                <a:spcPts val="3571"/>
              </a:lnSpc>
              <a:spcBef>
                <a:spcPts val="450"/>
              </a:spcBef>
              <a:spcAft>
                <a:spcPts val="450"/>
              </a:spcAft>
              <a:buNone/>
            </a:pPr>
            <a:r>
              <a:rPr lang="en-US" sz="2246" b="1" dirty="0">
                <a:solidFill>
                  <a:srgbClr val="E8C85A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Regra de Três Composta</a:t>
            </a:r>
            <a:endParaRPr lang="en-US" sz="2246" dirty="0"/>
          </a:p>
        </p:txBody>
      </p:sp>
      <p:sp>
        <p:nvSpPr>
          <p:cNvPr id="4" name="a64c9f25-2a8c-47ba-b2a4-ad5c1f7c6c18"/>
          <p:cNvSpPr/>
          <p:nvPr/>
        </p:nvSpPr>
        <p:spPr>
          <a:xfrm>
            <a:off x="4286250" y="800100"/>
            <a:ext cx="4572000" cy="1851660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t"/>
          <a:lstStyle/>
          <a:p>
            <a:pPr algn="l" indent="0" marL="0">
              <a:lnSpc>
                <a:spcPts val="2455"/>
              </a:lnSpc>
              <a:spcBef>
                <a:spcPts val="360"/>
              </a:spcBef>
              <a:spcAft>
                <a:spcPts val="360"/>
              </a:spcAft>
              <a:buNone/>
            </a:pPr>
            <a:r>
              <a:rPr lang="en-US" sz="1544" b="1" dirty="0">
                <a:solidFill>
                  <a:srgbClr val="E8E4DF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Múltiplas Variáveis</a:t>
            </a:r>
            <a:endParaRPr lang="en-US" sz="1544" dirty="0"/>
          </a:p>
          <a:p>
            <a:pPr algn="l" indent="0" marL="0">
              <a:lnSpc>
                <a:spcPts val="2009"/>
              </a:lnSpc>
              <a:spcBef>
                <a:spcPts val="360"/>
              </a:spcBef>
              <a:spcAft>
                <a:spcPts val="360"/>
              </a:spcAft>
              <a:buNone/>
            </a:pPr>
            <a:r>
              <a:rPr lang="en-US" sz="1264" dirty="0">
                <a:solidFill>
                  <a:srgbClr val="E8E4DF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Processos fabris dependem de várias grandezas. A </a:t>
            </a:r>
            <a:pPr algn="l" indent="0" marL="0">
              <a:lnSpc>
                <a:spcPts val="2009"/>
              </a:lnSpc>
              <a:spcBef>
                <a:spcPts val="360"/>
              </a:spcBef>
              <a:spcAft>
                <a:spcPts val="360"/>
              </a:spcAft>
              <a:buNone/>
            </a:pPr>
            <a:r>
              <a:rPr lang="en-US" sz="1264" b="1" dirty="0">
                <a:solidFill>
                  <a:srgbClr val="E8E4DF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regra de três composta</a:t>
            </a:r>
            <a:pPr algn="l" indent="0" marL="0">
              <a:lnSpc>
                <a:spcPts val="2009"/>
              </a:lnSpc>
              <a:spcBef>
                <a:spcPts val="360"/>
              </a:spcBef>
              <a:spcAft>
                <a:spcPts val="360"/>
              </a:spcAft>
              <a:buNone/>
            </a:pPr>
            <a:r>
              <a:rPr lang="en-US" sz="1264" dirty="0">
                <a:solidFill>
                  <a:srgbClr val="E8E4DF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 relaciona três ou mais fatores:</a:t>
            </a:r>
            <a:endParaRPr lang="en-US" sz="1544" dirty="0"/>
          </a:p>
          <a:p>
            <a:pPr algn="l" marL="228600" indent="-68580">
              <a:lnSpc>
                <a:spcPts val="2009"/>
              </a:lnSpc>
              <a:spcBef>
                <a:spcPts val="225"/>
              </a:spcBef>
              <a:spcAft>
                <a:spcPts val="225"/>
              </a:spcAft>
              <a:buSzPct val="100000"/>
              <a:buChar char="•"/>
            </a:pPr>
            <a:r>
              <a:rPr lang="en-US" sz="1264" dirty="0">
                <a:solidFill>
                  <a:srgbClr val="E8E4DF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Máquinas em operação.</a:t>
            </a:r>
            <a:endParaRPr lang="en-US" sz="1544" dirty="0"/>
          </a:p>
          <a:p>
            <a:pPr algn="l" marL="228600" indent="-68580">
              <a:lnSpc>
                <a:spcPts val="2009"/>
              </a:lnSpc>
              <a:spcBef>
                <a:spcPts val="225"/>
              </a:spcBef>
              <a:spcAft>
                <a:spcPts val="225"/>
              </a:spcAft>
              <a:buSzPct val="100000"/>
              <a:buChar char="•"/>
            </a:pPr>
            <a:r>
              <a:rPr lang="en-US" sz="1264" dirty="0">
                <a:solidFill>
                  <a:srgbClr val="E8E4DF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Horas diárias trabalhadas.</a:t>
            </a:r>
            <a:endParaRPr lang="en-US" sz="1544" dirty="0"/>
          </a:p>
          <a:p>
            <a:pPr algn="l" marL="228600" indent="-68580">
              <a:lnSpc>
                <a:spcPts val="2009"/>
              </a:lnSpc>
              <a:spcBef>
                <a:spcPts val="225"/>
              </a:spcBef>
              <a:spcAft>
                <a:spcPts val="225"/>
              </a:spcAft>
              <a:buSzPct val="100000"/>
              <a:buChar char="•"/>
            </a:pPr>
            <a:r>
              <a:rPr lang="en-US" sz="1264" dirty="0">
                <a:solidFill>
                  <a:srgbClr val="E8E4DF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Dias de produção.</a:t>
            </a:r>
            <a:endParaRPr lang="en-US" sz="1544" dirty="0"/>
          </a:p>
          <a:p>
            <a:pPr algn="l" marL="228600" indent="-68580">
              <a:lnSpc>
                <a:spcPts val="2009"/>
              </a:lnSpc>
              <a:spcBef>
                <a:spcPts val="225"/>
              </a:spcBef>
              <a:spcAft>
                <a:spcPts val="225"/>
              </a:spcAft>
              <a:buSzPct val="100000"/>
              <a:buChar char="•"/>
            </a:pPr>
            <a:r>
              <a:rPr lang="en-US" sz="1264" dirty="0">
                <a:solidFill>
                  <a:srgbClr val="E8E4DF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Peças produzidas.</a:t>
            </a:r>
            <a:endParaRPr lang="en-US" sz="1544" dirty="0"/>
          </a:p>
        </p:txBody>
      </p:sp>
      <p:sp>
        <p:nvSpPr>
          <p:cNvPr id="5" name="63000737-e0f3-4e76-a1e6-a411b3d58329_card"/>
          <p:cNvSpPr/>
          <p:nvPr/>
        </p:nvSpPr>
        <p:spPr>
          <a:xfrm>
            <a:off x="4286250" y="3566160"/>
            <a:ext cx="4572000" cy="1380744"/>
          </a:xfrm>
          <a:prstGeom prst="roundRect">
            <a:avLst>
              <a:gd name="adj" fmla="val 6623"/>
            </a:avLst>
          </a:prstGeom>
          <a:solidFill>
            <a:srgbClr val="FAC873">
              <a:alpha val="14902"/>
            </a:srgbClr>
          </a:solidFill>
          <a:ln w="11430">
            <a:solidFill>
              <a:srgbClr val="573B06">
                <a:alpha val="20000"/>
              </a:srgbClr>
            </a:solidFill>
            <a:prstDash val="solid"/>
          </a:ln>
        </p:spPr>
      </p:sp>
      <p:sp>
        <p:nvSpPr>
          <p:cNvPr id="6" name="63000737-e0f3-4e76-a1e6-a411b3d58329_emoji"/>
          <p:cNvSpPr/>
          <p:nvPr/>
        </p:nvSpPr>
        <p:spPr>
          <a:xfrm>
            <a:off x="4400550" y="3714750"/>
            <a:ext cx="365760" cy="4114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2160" dirty="0">
                <a:solidFill>
                  <a:srgbClr val="000000"/>
                </a:solidFill>
              </a:rPr>
              <a:t>🔑</a:t>
            </a:r>
            <a:endParaRPr lang="en-US" sz="2160" dirty="0"/>
          </a:p>
        </p:txBody>
      </p:sp>
      <p:sp>
        <p:nvSpPr>
          <p:cNvPr id="7" name="63000737-e0f3-4e76-a1e6-a411b3d58329_text"/>
          <p:cNvSpPr/>
          <p:nvPr/>
        </p:nvSpPr>
        <p:spPr>
          <a:xfrm>
            <a:off x="4766310" y="3680460"/>
            <a:ext cx="3977640" cy="11521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86"/>
              </a:lnSpc>
              <a:spcBef>
                <a:spcPts val="270"/>
              </a:spcBef>
              <a:spcAft>
                <a:spcPts val="270"/>
              </a:spcAft>
              <a:buNone/>
            </a:pPr>
            <a:r>
              <a:rPr lang="en-US" sz="1123" b="1" dirty="0">
                <a:solidFill>
                  <a:srgbClr val="FAC775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Ponto-chave</a:t>
            </a:r>
            <a:endParaRPr lang="en-US" sz="1123" dirty="0"/>
          </a:p>
          <a:p>
            <a:pPr algn="l" indent="0" marL="0">
              <a:lnSpc>
                <a:spcPts val="2009"/>
              </a:lnSpc>
              <a:spcBef>
                <a:spcPts val="360"/>
              </a:spcBef>
              <a:spcAft>
                <a:spcPts val="360"/>
              </a:spcAft>
              <a:buNone/>
            </a:pPr>
            <a:r>
              <a:rPr lang="en-US" sz="1264" dirty="0">
                <a:solidFill>
                  <a:srgbClr val="FAC775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Compare cada variável com a incógnita para definir a proporcionalidade.</a:t>
            </a:r>
            <a:endParaRPr lang="en-US" sz="1123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04e970cb-7bc4-43e7-a725-2aed1a63e8ce"/>
          <p:cNvSpPr/>
          <p:nvPr/>
        </p:nvSpPr>
        <p:spPr>
          <a:xfrm>
            <a:off x="171450" y="914400"/>
            <a:ext cx="2205990" cy="400050"/>
          </a:xfrm>
          <a:prstGeom prst="chevron">
            <a:avLst/>
          </a:prstGeom>
          <a:solidFill>
            <a:srgbClr val="FFFFFF"/>
          </a:solidFill>
          <a:ln w="22860">
            <a:solidFill>
              <a:srgbClr val="7EB5A6"/>
            </a:solidFill>
            <a:prstDash val="solid"/>
          </a:ln>
        </p:spPr>
      </p:sp>
      <p:sp>
        <p:nvSpPr>
          <p:cNvPr id="3" name="9aa170c5-7f1b-441f-8c6a-8cd7e3648314"/>
          <p:cNvSpPr/>
          <p:nvPr/>
        </p:nvSpPr>
        <p:spPr>
          <a:xfrm>
            <a:off x="2377440" y="914400"/>
            <a:ext cx="2205990" cy="400050"/>
          </a:xfrm>
          <a:prstGeom prst="chevron">
            <a:avLst/>
          </a:prstGeom>
          <a:solidFill>
            <a:srgbClr val="FFFFFF"/>
          </a:solidFill>
          <a:ln w="22860">
            <a:solidFill>
              <a:srgbClr val="7EB5A6"/>
            </a:solidFill>
            <a:prstDash val="solid"/>
          </a:ln>
        </p:spPr>
      </p:sp>
      <p:sp>
        <p:nvSpPr>
          <p:cNvPr id="4" name="8072554c-b62c-48ca-922d-9c7a33ad553e"/>
          <p:cNvSpPr/>
          <p:nvPr/>
        </p:nvSpPr>
        <p:spPr>
          <a:xfrm>
            <a:off x="4572000" y="914400"/>
            <a:ext cx="2205990" cy="400050"/>
          </a:xfrm>
          <a:prstGeom prst="chevron">
            <a:avLst/>
          </a:prstGeom>
          <a:solidFill>
            <a:srgbClr val="FFFFFF"/>
          </a:solidFill>
          <a:ln w="22860">
            <a:solidFill>
              <a:srgbClr val="7EB5A6"/>
            </a:solidFill>
            <a:prstDash val="solid"/>
          </a:ln>
        </p:spPr>
      </p:sp>
      <p:sp>
        <p:nvSpPr>
          <p:cNvPr id="5" name="0b3de517-1f8e-46d3-b1f6-9d941ab8dc84"/>
          <p:cNvSpPr/>
          <p:nvPr/>
        </p:nvSpPr>
        <p:spPr>
          <a:xfrm>
            <a:off x="6777990" y="914400"/>
            <a:ext cx="2205990" cy="400050"/>
          </a:xfrm>
          <a:prstGeom prst="chevron">
            <a:avLst/>
          </a:prstGeom>
          <a:solidFill>
            <a:srgbClr val="FFFFFF"/>
          </a:solidFill>
          <a:ln w="22860">
            <a:solidFill>
              <a:srgbClr val="7EB5A6"/>
            </a:solidFill>
            <a:prstDash val="solid"/>
          </a:ln>
        </p:spPr>
      </p:sp>
      <p:sp>
        <p:nvSpPr>
          <p:cNvPr id="6" name="8fe6522c-2926-4f1d-a4c8-04ed4131602f"/>
          <p:cNvSpPr/>
          <p:nvPr/>
        </p:nvSpPr>
        <p:spPr>
          <a:xfrm>
            <a:off x="285750" y="171450"/>
            <a:ext cx="8572500" cy="603504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t"/>
          <a:lstStyle/>
          <a:p>
            <a:pPr algn="l" indent="0" marL="0">
              <a:lnSpc>
                <a:spcPts val="3571"/>
              </a:lnSpc>
              <a:spcBef>
                <a:spcPts val="450"/>
              </a:spcBef>
              <a:spcAft>
                <a:spcPts val="450"/>
              </a:spcAft>
              <a:buNone/>
            </a:pPr>
            <a:r>
              <a:rPr lang="en-US" sz="2246" b="1" dirty="0">
                <a:solidFill>
                  <a:srgbClr val="E8C85A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Passo a Passo da Regra Composta</a:t>
            </a:r>
            <a:endParaRPr lang="en-US" sz="2246" dirty="0"/>
          </a:p>
        </p:txBody>
      </p:sp>
      <p:sp>
        <p:nvSpPr>
          <p:cNvPr id="7" name="2b104f66-2b5f-460d-92d0-c5dd652797f3"/>
          <p:cNvSpPr/>
          <p:nvPr/>
        </p:nvSpPr>
        <p:spPr>
          <a:xfrm>
            <a:off x="285750" y="1371600"/>
            <a:ext cx="1977390" cy="1851660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t"/>
          <a:lstStyle/>
          <a:p>
            <a:pPr algn="ctr" indent="0" marL="0">
              <a:lnSpc>
                <a:spcPts val="2455"/>
              </a:lnSpc>
              <a:spcBef>
                <a:spcPts val="360"/>
              </a:spcBef>
              <a:spcAft>
                <a:spcPts val="360"/>
              </a:spcAft>
              <a:buNone/>
            </a:pPr>
            <a:r>
              <a:rPr lang="en-US" sz="1544" b="1" dirty="0">
                <a:solidFill>
                  <a:srgbClr val="E8E4DF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1. Identificar</a:t>
            </a:r>
            <a:endParaRPr lang="en-US" sz="1544" dirty="0"/>
          </a:p>
          <a:p>
            <a:pPr algn="ctr" indent="0" marL="0">
              <a:lnSpc>
                <a:spcPts val="2009"/>
              </a:lnSpc>
              <a:spcBef>
                <a:spcPts val="360"/>
              </a:spcBef>
              <a:spcAft>
                <a:spcPts val="360"/>
              </a:spcAft>
              <a:buNone/>
            </a:pPr>
            <a:r>
              <a:rPr lang="en-US" sz="1264" dirty="0">
                <a:solidFill>
                  <a:srgbClr val="E8E4DF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Organizar as grandezas em colunas com suas respectivas unidades.</a:t>
            </a:r>
            <a:endParaRPr lang="en-US" sz="1544" dirty="0"/>
          </a:p>
        </p:txBody>
      </p:sp>
      <p:sp>
        <p:nvSpPr>
          <p:cNvPr id="8" name="f9f8df4f-d812-44b8-87c4-fe05176c63a3"/>
          <p:cNvSpPr/>
          <p:nvPr/>
        </p:nvSpPr>
        <p:spPr>
          <a:xfrm>
            <a:off x="2491740" y="1371600"/>
            <a:ext cx="1977390" cy="2203704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t"/>
          <a:lstStyle/>
          <a:p>
            <a:pPr algn="ctr" indent="0" marL="0">
              <a:lnSpc>
                <a:spcPts val="2455"/>
              </a:lnSpc>
              <a:spcBef>
                <a:spcPts val="360"/>
              </a:spcBef>
              <a:spcAft>
                <a:spcPts val="360"/>
              </a:spcAft>
              <a:buNone/>
            </a:pPr>
            <a:r>
              <a:rPr lang="en-US" sz="1544" b="1" dirty="0">
                <a:solidFill>
                  <a:srgbClr val="E8E4DF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2. Analisar Sentido</a:t>
            </a:r>
            <a:endParaRPr lang="en-US" sz="1544" dirty="0"/>
          </a:p>
          <a:p>
            <a:pPr algn="ctr" indent="0" marL="0">
              <a:lnSpc>
                <a:spcPts val="2009"/>
              </a:lnSpc>
              <a:spcBef>
                <a:spcPts val="360"/>
              </a:spcBef>
              <a:spcAft>
                <a:spcPts val="360"/>
              </a:spcAft>
              <a:buNone/>
            </a:pPr>
            <a:r>
              <a:rPr lang="en-US" sz="1264" dirty="0">
                <a:solidFill>
                  <a:srgbClr val="E8E4DF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Fixar a coluna da incógnita e avaliar se as outras são diretas ou inversas.</a:t>
            </a:r>
            <a:endParaRPr lang="en-US" sz="1544" dirty="0"/>
          </a:p>
        </p:txBody>
      </p:sp>
      <p:sp>
        <p:nvSpPr>
          <p:cNvPr id="9" name="b573a47c-981b-4453-b43a-f9cfb9410193"/>
          <p:cNvSpPr/>
          <p:nvPr/>
        </p:nvSpPr>
        <p:spPr>
          <a:xfrm>
            <a:off x="4686300" y="1371600"/>
            <a:ext cx="1977390" cy="2203704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t"/>
          <a:lstStyle/>
          <a:p>
            <a:pPr algn="ctr" indent="0" marL="0">
              <a:lnSpc>
                <a:spcPts val="2455"/>
              </a:lnSpc>
              <a:spcBef>
                <a:spcPts val="360"/>
              </a:spcBef>
              <a:spcAft>
                <a:spcPts val="360"/>
              </a:spcAft>
              <a:buNone/>
            </a:pPr>
            <a:r>
              <a:rPr lang="en-US" sz="1544" b="1" dirty="0">
                <a:solidFill>
                  <a:srgbClr val="E8E4DF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3. Inverter Inversas</a:t>
            </a:r>
            <a:endParaRPr lang="en-US" sz="1544" dirty="0"/>
          </a:p>
          <a:p>
            <a:pPr algn="ctr" indent="0" marL="0">
              <a:lnSpc>
                <a:spcPts val="2009"/>
              </a:lnSpc>
              <a:spcBef>
                <a:spcPts val="360"/>
              </a:spcBef>
              <a:spcAft>
                <a:spcPts val="360"/>
              </a:spcAft>
              <a:buNone/>
            </a:pPr>
            <a:r>
              <a:rPr lang="en-US" sz="1264" dirty="0">
                <a:solidFill>
                  <a:srgbClr val="E8E4DF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Inverter as frações das grandezas inversamente proporcionais.</a:t>
            </a:r>
            <a:endParaRPr lang="en-US" sz="1544" dirty="0"/>
          </a:p>
        </p:txBody>
      </p:sp>
      <p:sp>
        <p:nvSpPr>
          <p:cNvPr id="10" name="91af8388-5fb8-4a00-ad3c-49dc3827f74d"/>
          <p:cNvSpPr/>
          <p:nvPr/>
        </p:nvSpPr>
        <p:spPr>
          <a:xfrm>
            <a:off x="6892290" y="1371600"/>
            <a:ext cx="1977390" cy="1851660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t"/>
          <a:lstStyle/>
          <a:p>
            <a:pPr algn="ctr" indent="0" marL="0">
              <a:lnSpc>
                <a:spcPts val="2455"/>
              </a:lnSpc>
              <a:spcBef>
                <a:spcPts val="360"/>
              </a:spcBef>
              <a:spcAft>
                <a:spcPts val="360"/>
              </a:spcAft>
              <a:buNone/>
            </a:pPr>
            <a:r>
              <a:rPr lang="en-US" sz="1544" b="1" dirty="0">
                <a:solidFill>
                  <a:srgbClr val="E8E4DF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4. Resolver</a:t>
            </a:r>
            <a:endParaRPr lang="en-US" sz="1544" dirty="0"/>
          </a:p>
          <a:p>
            <a:pPr algn="ctr" indent="0" marL="0">
              <a:lnSpc>
                <a:spcPts val="2009"/>
              </a:lnSpc>
              <a:spcBef>
                <a:spcPts val="360"/>
              </a:spcBef>
              <a:spcAft>
                <a:spcPts val="360"/>
              </a:spcAft>
              <a:buNone/>
            </a:pPr>
            <a:r>
              <a:rPr lang="en-US" sz="1264" dirty="0">
                <a:solidFill>
                  <a:srgbClr val="E8E4DF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Igualar a razão principal ao produto das razões secundárias e calcular.</a:t>
            </a:r>
            <a:endParaRPr lang="en-US" sz="1544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0ba0f894-46f0-425c-b691-112392012a9d" descr="/home/forge/chalkie-production-workers-1/releases/77481629/backend/storage/app/render-specs/3c0c6458-ad69-4755-a770-457f81065846/img_99a9938afdb07127e981c74fd7624248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800100"/>
            <a:ext cx="3829050" cy="4057650"/>
          </a:xfrm>
          <a:prstGeom prst="roundRect">
            <a:avLst>
              <a:gd name="adj" fmla="val 3582"/>
            </a:avLst>
          </a:prstGeom>
        </p:spPr>
      </p:pic>
      <p:sp>
        <p:nvSpPr>
          <p:cNvPr id="3" name="cb7e0844-445f-4b69-8f7c-2b028a511881"/>
          <p:cNvSpPr/>
          <p:nvPr/>
        </p:nvSpPr>
        <p:spPr>
          <a:xfrm>
            <a:off x="285750" y="171450"/>
            <a:ext cx="8572500" cy="603504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t"/>
          <a:lstStyle/>
          <a:p>
            <a:pPr algn="l" indent="0" marL="0">
              <a:lnSpc>
                <a:spcPts val="3571"/>
              </a:lnSpc>
              <a:spcBef>
                <a:spcPts val="450"/>
              </a:spcBef>
              <a:spcAft>
                <a:spcPts val="450"/>
              </a:spcAft>
              <a:buNone/>
            </a:pPr>
            <a:r>
              <a:rPr lang="en-US" sz="2246" b="1" dirty="0">
                <a:solidFill>
                  <a:srgbClr val="E8C85A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Caso Real: Otimização Fabril</a:t>
            </a:r>
            <a:endParaRPr lang="en-US" sz="2246" dirty="0"/>
          </a:p>
        </p:txBody>
      </p:sp>
      <p:sp>
        <p:nvSpPr>
          <p:cNvPr id="4" name="e62077fe-9253-4c95-80f5-bc859ef23bf3"/>
          <p:cNvSpPr/>
          <p:nvPr/>
        </p:nvSpPr>
        <p:spPr>
          <a:xfrm>
            <a:off x="285750" y="800100"/>
            <a:ext cx="4572000" cy="1851660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t"/>
          <a:lstStyle/>
          <a:p>
            <a:pPr algn="l" indent="0" marL="0">
              <a:lnSpc>
                <a:spcPts val="2455"/>
              </a:lnSpc>
              <a:spcBef>
                <a:spcPts val="360"/>
              </a:spcBef>
              <a:spcAft>
                <a:spcPts val="360"/>
              </a:spcAft>
              <a:buNone/>
            </a:pPr>
            <a:r>
              <a:rPr lang="en-US" sz="1544" b="1" dirty="0">
                <a:solidFill>
                  <a:srgbClr val="E8E4DF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O Problema da Fábrica de Caixas</a:t>
            </a:r>
            <a:endParaRPr lang="en-US" sz="1544" dirty="0"/>
          </a:p>
          <a:p>
            <a:pPr algn="l" indent="0" marL="0">
              <a:lnSpc>
                <a:spcPts val="2009"/>
              </a:lnSpc>
              <a:spcBef>
                <a:spcPts val="360"/>
              </a:spcBef>
              <a:spcAft>
                <a:spcPts val="360"/>
              </a:spcAft>
              <a:buNone/>
            </a:pPr>
            <a:r>
              <a:rPr lang="en-US" sz="1264" dirty="0">
                <a:solidFill>
                  <a:srgbClr val="E8E4DF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6 máquinas, 8h/dia, produzem 1.200 caixas em 5 dias. Quantas caixas 9 máquinas, 10h/dia, produzem em 4 dias?</a:t>
            </a:r>
            <a:endParaRPr lang="en-US" sz="1544" dirty="0"/>
          </a:p>
          <a:p>
            <a:pPr algn="l" marL="228600" indent="-68580">
              <a:lnSpc>
                <a:spcPts val="2009"/>
              </a:lnSpc>
              <a:spcBef>
                <a:spcPts val="225"/>
              </a:spcBef>
              <a:spcAft>
                <a:spcPts val="225"/>
              </a:spcAft>
              <a:buSzPct val="100000"/>
              <a:buChar char="•"/>
            </a:pPr>
            <a:r>
              <a:rPr lang="en-US" sz="1264" dirty="0">
                <a:solidFill>
                  <a:srgbClr val="E8E4DF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Relação: mais máquinas/horas (+ caixas: direta); menos dias (- caixas: direta).</a:t>
            </a:r>
            <a:endParaRPr lang="en-US" sz="1544" dirty="0"/>
          </a:p>
          <a:p>
            <a:pPr algn="l" marL="228600" indent="-68580">
              <a:lnSpc>
                <a:spcPts val="2009"/>
              </a:lnSpc>
              <a:spcBef>
                <a:spcPts val="225"/>
              </a:spcBef>
              <a:spcAft>
                <a:spcPts val="225"/>
              </a:spcAft>
              <a:buSzPct val="100000"/>
              <a:buChar char="•"/>
            </a:pPr>
            <a:r>
              <a:rPr lang="en-US" sz="1264" dirty="0">
                <a:solidFill>
                  <a:srgbClr val="E8E4DF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Equação: 1.200 / x = (6/9) × (8/10) × (5/4)</a:t>
            </a:r>
            <a:endParaRPr lang="en-US" sz="1544" dirty="0"/>
          </a:p>
          <a:p>
            <a:pPr algn="l" marL="228600" indent="-68580">
              <a:lnSpc>
                <a:spcPts val="2009"/>
              </a:lnSpc>
              <a:spcBef>
                <a:spcPts val="225"/>
              </a:spcBef>
              <a:spcAft>
                <a:spcPts val="225"/>
              </a:spcAft>
              <a:buSzPct val="100000"/>
              <a:buChar char="•"/>
            </a:pPr>
            <a:r>
              <a:rPr lang="en-US" sz="1264" dirty="0">
                <a:solidFill>
                  <a:srgbClr val="E8E4DF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Multiplicando: (6 × 8 × 5) / (9 × 10 × 4) = 240 / 360 = 2/3</a:t>
            </a:r>
            <a:endParaRPr lang="en-US" sz="1544" dirty="0"/>
          </a:p>
          <a:p>
            <a:pPr algn="l" marL="228600" indent="-68580">
              <a:lnSpc>
                <a:spcPts val="2009"/>
              </a:lnSpc>
              <a:spcBef>
                <a:spcPts val="225"/>
              </a:spcBef>
              <a:spcAft>
                <a:spcPts val="225"/>
              </a:spcAft>
              <a:buSzPct val="100000"/>
              <a:buChar char="•"/>
            </a:pPr>
            <a:r>
              <a:rPr lang="en-US" sz="1264" dirty="0">
                <a:solidFill>
                  <a:srgbClr val="E8E4DF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1.200 / x = 2/3 → 2x = 3.600 → </a:t>
            </a:r>
            <a:pPr algn="l" indent="0" marL="0">
              <a:lnSpc>
                <a:spcPts val="2009"/>
              </a:lnSpc>
              <a:spcBef>
                <a:spcPts val="225"/>
              </a:spcBef>
              <a:spcAft>
                <a:spcPts val="225"/>
              </a:spcAft>
              <a:buNone/>
            </a:pPr>
            <a:r>
              <a:rPr lang="en-US" sz="1264" b="1" dirty="0">
                <a:solidFill>
                  <a:srgbClr val="E8E4DF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x = 1.800 caixas</a:t>
            </a:r>
            <a:pPr algn="l" indent="0" marL="0">
              <a:lnSpc>
                <a:spcPts val="2009"/>
              </a:lnSpc>
              <a:spcBef>
                <a:spcPts val="225"/>
              </a:spcBef>
              <a:spcAft>
                <a:spcPts val="225"/>
              </a:spcAft>
              <a:buNone/>
            </a:pPr>
            <a:r>
              <a:rPr lang="en-US" sz="1264" dirty="0">
                <a:solidFill>
                  <a:srgbClr val="E8E4DF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.</a:t>
            </a:r>
            <a:endParaRPr lang="en-US" sz="1544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69a3de6-f08d-48c8-8414-6928f015b8c9"/>
          <p:cNvSpPr/>
          <p:nvPr/>
        </p:nvSpPr>
        <p:spPr>
          <a:xfrm>
            <a:off x="285750" y="171450"/>
            <a:ext cx="8572500" cy="603504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t"/>
          <a:lstStyle/>
          <a:p>
            <a:pPr algn="l" indent="0" marL="0">
              <a:lnSpc>
                <a:spcPts val="3571"/>
              </a:lnSpc>
              <a:spcBef>
                <a:spcPts val="450"/>
              </a:spcBef>
              <a:spcAft>
                <a:spcPts val="450"/>
              </a:spcAft>
              <a:buNone/>
            </a:pPr>
            <a:r>
              <a:rPr lang="en-US" sz="2246" b="1" dirty="0">
                <a:solidFill>
                  <a:srgbClr val="E8C85A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Etapas de Cálculo de Produção</a:t>
            </a:r>
            <a:endParaRPr lang="en-US" sz="2246" dirty="0"/>
          </a:p>
        </p:txBody>
      </p:sp>
      <p:sp>
        <p:nvSpPr>
          <p:cNvPr id="3" name="6f6a3be6-0787-4470-9f5c-0e78384e315a"/>
          <p:cNvSpPr/>
          <p:nvPr/>
        </p:nvSpPr>
        <p:spPr>
          <a:xfrm>
            <a:off x="285750" y="685800"/>
            <a:ext cx="8572500" cy="667512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t"/>
          <a:lstStyle/>
          <a:p>
            <a:pPr algn="l" indent="0" marL="0">
              <a:lnSpc>
                <a:spcPts val="2009"/>
              </a:lnSpc>
              <a:spcBef>
                <a:spcPts val="360"/>
              </a:spcBef>
              <a:spcAft>
                <a:spcPts val="360"/>
              </a:spcAft>
              <a:buNone/>
            </a:pPr>
            <a:r>
              <a:rPr lang="en-US" sz="1264" dirty="0">
                <a:solidFill>
                  <a:srgbClr val="E8E4DF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Ordene os passos lógicos que um gestor deve seguir ao aplicar uma regra de três composta para redimensionar sua equipe:</a:t>
            </a:r>
            <a:endParaRPr lang="en-US" sz="1264" dirty="0"/>
          </a:p>
        </p:txBody>
      </p:sp>
      <p:sp>
        <p:nvSpPr>
          <p:cNvPr id="4" name="93a1157b-05e1-4ab9-9125-ec42f48dd7a9"/>
          <p:cNvSpPr/>
          <p:nvPr/>
        </p:nvSpPr>
        <p:spPr>
          <a:xfrm>
            <a:off x="1714500" y="1657350"/>
            <a:ext cx="5715000" cy="617220"/>
          </a:xfrm>
          <a:prstGeom prst="roundRect">
            <a:avLst>
              <a:gd name="adj" fmla="val 18519"/>
            </a:avLst>
          </a:prstGeom>
          <a:solidFill>
            <a:srgbClr val="F4F9FC"/>
          </a:solidFill>
          <a:ln w="34290">
            <a:solidFill>
              <a:srgbClr val="000000"/>
            </a:solidFill>
          </a:ln>
        </p:spPr>
        <p:txBody>
          <a:bodyPr wrap="square" lIns="80010" tIns="80010" rIns="80010" bIns="80010" rtlCol="0" anchor="ctr"/>
          <a:lstStyle/>
          <a:p>
            <a:pPr algn="ctr" indent="0" marL="0">
              <a:lnSpc>
                <a:spcPts val="2009"/>
              </a:lnSpc>
              <a:spcBef>
                <a:spcPts val="360"/>
              </a:spcBef>
              <a:spcAft>
                <a:spcPts val="360"/>
              </a:spcAft>
              <a:buNone/>
            </a:pPr>
            <a:r>
              <a:rPr lang="en-US" sz="1264" b="1" dirty="0">
                <a:solidFill>
                  <a:srgbClr val="040F0F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Multiplicar as razões e isolar a incógnita para encontrar o resultado.</a:t>
            </a:r>
            <a:endParaRPr lang="en-US" sz="1264" dirty="0"/>
          </a:p>
        </p:txBody>
      </p:sp>
      <p:sp>
        <p:nvSpPr>
          <p:cNvPr id="5" name="458aa1de-c489-48d6-81a4-6da7ced80f23"/>
          <p:cNvSpPr/>
          <p:nvPr/>
        </p:nvSpPr>
        <p:spPr>
          <a:xfrm>
            <a:off x="1714500" y="2400300"/>
            <a:ext cx="5715000" cy="617220"/>
          </a:xfrm>
          <a:prstGeom prst="roundRect">
            <a:avLst>
              <a:gd name="adj" fmla="val 18519"/>
            </a:avLst>
          </a:prstGeom>
          <a:solidFill>
            <a:srgbClr val="F4F9FC"/>
          </a:solidFill>
          <a:ln w="34290">
            <a:solidFill>
              <a:srgbClr val="000000"/>
            </a:solidFill>
          </a:ln>
        </p:spPr>
        <p:txBody>
          <a:bodyPr wrap="square" lIns="80010" tIns="80010" rIns="80010" bIns="80010" rtlCol="0" anchor="ctr"/>
          <a:lstStyle/>
          <a:p>
            <a:pPr algn="ctr" indent="0" marL="0">
              <a:lnSpc>
                <a:spcPts val="2009"/>
              </a:lnSpc>
              <a:spcBef>
                <a:spcPts val="360"/>
              </a:spcBef>
              <a:spcAft>
                <a:spcPts val="360"/>
              </a:spcAft>
              <a:buNone/>
            </a:pPr>
            <a:r>
              <a:rPr lang="en-US" sz="1264" b="1" dirty="0">
                <a:solidFill>
                  <a:srgbClr val="040F0F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Tabelar os dados conhecidos e identificar a grandeza desconhecida.</a:t>
            </a:r>
            <a:endParaRPr lang="en-US" sz="1264" dirty="0"/>
          </a:p>
        </p:txBody>
      </p:sp>
      <p:sp>
        <p:nvSpPr>
          <p:cNvPr id="6" name="256dad8c-34d8-4fbc-800a-afccfdf229ca"/>
          <p:cNvSpPr/>
          <p:nvPr/>
        </p:nvSpPr>
        <p:spPr>
          <a:xfrm>
            <a:off x="1714500" y="3143250"/>
            <a:ext cx="5715000" cy="617220"/>
          </a:xfrm>
          <a:prstGeom prst="roundRect">
            <a:avLst>
              <a:gd name="adj" fmla="val 18519"/>
            </a:avLst>
          </a:prstGeom>
          <a:solidFill>
            <a:srgbClr val="F4F9FC"/>
          </a:solidFill>
          <a:ln w="34290">
            <a:solidFill>
              <a:srgbClr val="000000"/>
            </a:solidFill>
          </a:ln>
        </p:spPr>
        <p:txBody>
          <a:bodyPr wrap="square" lIns="80010" tIns="80010" rIns="80010" bIns="80010" rtlCol="0" anchor="ctr"/>
          <a:lstStyle/>
          <a:p>
            <a:pPr algn="ctr" indent="0" marL="0">
              <a:lnSpc>
                <a:spcPts val="2009"/>
              </a:lnSpc>
              <a:spcBef>
                <a:spcPts val="360"/>
              </a:spcBef>
              <a:spcAft>
                <a:spcPts val="360"/>
              </a:spcAft>
              <a:buNone/>
            </a:pPr>
            <a:r>
              <a:rPr lang="en-US" sz="1264" b="1" dirty="0">
                <a:solidFill>
                  <a:srgbClr val="040F0F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Classificar cada grandeza como diretamente ou inversamente proporcional.</a:t>
            </a:r>
            <a:endParaRPr lang="en-US" sz="1264" dirty="0"/>
          </a:p>
        </p:txBody>
      </p:sp>
      <p:sp>
        <p:nvSpPr>
          <p:cNvPr id="7" name="38a46182-6330-4514-91e1-7003d19e18ea"/>
          <p:cNvSpPr/>
          <p:nvPr/>
        </p:nvSpPr>
        <p:spPr>
          <a:xfrm>
            <a:off x="1714500" y="3886200"/>
            <a:ext cx="5715000" cy="617220"/>
          </a:xfrm>
          <a:prstGeom prst="roundRect">
            <a:avLst>
              <a:gd name="adj" fmla="val 18519"/>
            </a:avLst>
          </a:prstGeom>
          <a:solidFill>
            <a:srgbClr val="F4F9FC"/>
          </a:solidFill>
          <a:ln w="34290">
            <a:solidFill>
              <a:srgbClr val="000000"/>
            </a:solidFill>
          </a:ln>
        </p:spPr>
        <p:txBody>
          <a:bodyPr wrap="square" lIns="80010" tIns="80010" rIns="80010" bIns="80010" rtlCol="0" anchor="ctr"/>
          <a:lstStyle/>
          <a:p>
            <a:pPr algn="ctr" indent="0" marL="0">
              <a:lnSpc>
                <a:spcPts val="2009"/>
              </a:lnSpc>
              <a:spcBef>
                <a:spcPts val="360"/>
              </a:spcBef>
              <a:spcAft>
                <a:spcPts val="360"/>
              </a:spcAft>
              <a:buNone/>
            </a:pPr>
            <a:r>
              <a:rPr lang="en-US" sz="1264" b="1" dirty="0">
                <a:solidFill>
                  <a:srgbClr val="040F0F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Inverter os valores das grandezas identificadas como inversas.</a:t>
            </a:r>
            <a:endParaRPr lang="en-US" sz="1264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69a3de6-f08d-48c8-8414-6928f015b8c9"/>
          <p:cNvSpPr/>
          <p:nvPr/>
        </p:nvSpPr>
        <p:spPr>
          <a:xfrm>
            <a:off x="285750" y="171450"/>
            <a:ext cx="8572500" cy="603504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t"/>
          <a:lstStyle/>
          <a:p>
            <a:pPr algn="l" indent="0" marL="0">
              <a:lnSpc>
                <a:spcPts val="3571"/>
              </a:lnSpc>
              <a:spcBef>
                <a:spcPts val="450"/>
              </a:spcBef>
              <a:spcAft>
                <a:spcPts val="450"/>
              </a:spcAft>
              <a:buNone/>
            </a:pPr>
            <a:r>
              <a:rPr lang="en-US" sz="2246" b="1" dirty="0">
                <a:solidFill>
                  <a:srgbClr val="E8C85A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Etapas de Cálculo de Produção</a:t>
            </a:r>
            <a:endParaRPr lang="en-US" sz="2246" dirty="0"/>
          </a:p>
        </p:txBody>
      </p:sp>
      <p:sp>
        <p:nvSpPr>
          <p:cNvPr id="3" name="6f6a3be6-0787-4470-9f5c-0e78384e315a"/>
          <p:cNvSpPr/>
          <p:nvPr/>
        </p:nvSpPr>
        <p:spPr>
          <a:xfrm>
            <a:off x="285750" y="685800"/>
            <a:ext cx="8572500" cy="667512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t"/>
          <a:lstStyle/>
          <a:p>
            <a:pPr algn="l" indent="0" marL="0">
              <a:lnSpc>
                <a:spcPts val="2009"/>
              </a:lnSpc>
              <a:spcBef>
                <a:spcPts val="360"/>
              </a:spcBef>
              <a:spcAft>
                <a:spcPts val="360"/>
              </a:spcAft>
              <a:buNone/>
            </a:pPr>
            <a:r>
              <a:rPr lang="en-US" sz="1264" dirty="0">
                <a:solidFill>
                  <a:srgbClr val="E8E4DF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Ordene os passos lógicos que um gestor deve seguir ao aplicar uma regra de três composta para redimensionar sua equipe:</a:t>
            </a:r>
            <a:endParaRPr lang="en-US" sz="1264" dirty="0"/>
          </a:p>
        </p:txBody>
      </p:sp>
      <p:sp>
        <p:nvSpPr>
          <p:cNvPr id="4" name="93a1157b-05e1-4ab9-9125-ec42f48dd7a9"/>
          <p:cNvSpPr/>
          <p:nvPr/>
        </p:nvSpPr>
        <p:spPr>
          <a:xfrm>
            <a:off x="1714500" y="3886200"/>
            <a:ext cx="5715000" cy="617220"/>
          </a:xfrm>
          <a:prstGeom prst="roundRect">
            <a:avLst>
              <a:gd name="adj" fmla="val 18519"/>
            </a:avLst>
          </a:prstGeom>
          <a:solidFill>
            <a:srgbClr val="F4F9FC"/>
          </a:solidFill>
          <a:ln w="34290">
            <a:solidFill>
              <a:srgbClr val="000000"/>
            </a:solidFill>
          </a:ln>
        </p:spPr>
        <p:txBody>
          <a:bodyPr wrap="square" lIns="80010" tIns="80010" rIns="80010" bIns="80010" rtlCol="0" anchor="ctr"/>
          <a:lstStyle/>
          <a:p>
            <a:pPr algn="ctr" indent="0" marL="0">
              <a:lnSpc>
                <a:spcPts val="2009"/>
              </a:lnSpc>
              <a:spcBef>
                <a:spcPts val="360"/>
              </a:spcBef>
              <a:spcAft>
                <a:spcPts val="360"/>
              </a:spcAft>
              <a:buNone/>
            </a:pPr>
            <a:r>
              <a:rPr lang="en-US" sz="1264" b="1" dirty="0">
                <a:solidFill>
                  <a:srgbClr val="040F0F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Multiplicar as razões e isolar a incógnita para encontrar o resultado.</a:t>
            </a:r>
            <a:endParaRPr lang="en-US" sz="1264" dirty="0"/>
          </a:p>
        </p:txBody>
      </p:sp>
      <p:sp>
        <p:nvSpPr>
          <p:cNvPr id="5" name="458aa1de-c489-48d6-81a4-6da7ced80f23"/>
          <p:cNvSpPr/>
          <p:nvPr/>
        </p:nvSpPr>
        <p:spPr>
          <a:xfrm>
            <a:off x="1714500" y="1657350"/>
            <a:ext cx="5715000" cy="617220"/>
          </a:xfrm>
          <a:prstGeom prst="roundRect">
            <a:avLst>
              <a:gd name="adj" fmla="val 18519"/>
            </a:avLst>
          </a:prstGeom>
          <a:solidFill>
            <a:srgbClr val="F4F9FC"/>
          </a:solidFill>
          <a:ln w="34290">
            <a:solidFill>
              <a:srgbClr val="000000"/>
            </a:solidFill>
          </a:ln>
        </p:spPr>
        <p:txBody>
          <a:bodyPr wrap="square" lIns="80010" tIns="80010" rIns="80010" bIns="80010" rtlCol="0" anchor="ctr"/>
          <a:lstStyle/>
          <a:p>
            <a:pPr algn="ctr" indent="0" marL="0">
              <a:lnSpc>
                <a:spcPts val="2009"/>
              </a:lnSpc>
              <a:spcBef>
                <a:spcPts val="360"/>
              </a:spcBef>
              <a:spcAft>
                <a:spcPts val="360"/>
              </a:spcAft>
              <a:buNone/>
            </a:pPr>
            <a:r>
              <a:rPr lang="en-US" sz="1264" b="1" dirty="0">
                <a:solidFill>
                  <a:srgbClr val="040F0F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Tabelar os dados conhecidos e identificar a grandeza desconhecida.</a:t>
            </a:r>
            <a:endParaRPr lang="en-US" sz="1264" dirty="0"/>
          </a:p>
        </p:txBody>
      </p:sp>
      <p:sp>
        <p:nvSpPr>
          <p:cNvPr id="6" name="256dad8c-34d8-4fbc-800a-afccfdf229ca"/>
          <p:cNvSpPr/>
          <p:nvPr/>
        </p:nvSpPr>
        <p:spPr>
          <a:xfrm>
            <a:off x="1714500" y="2400300"/>
            <a:ext cx="5715000" cy="617220"/>
          </a:xfrm>
          <a:prstGeom prst="roundRect">
            <a:avLst>
              <a:gd name="adj" fmla="val 18519"/>
            </a:avLst>
          </a:prstGeom>
          <a:solidFill>
            <a:srgbClr val="F4F9FC"/>
          </a:solidFill>
          <a:ln w="34290">
            <a:solidFill>
              <a:srgbClr val="000000"/>
            </a:solidFill>
          </a:ln>
        </p:spPr>
        <p:txBody>
          <a:bodyPr wrap="square" lIns="80010" tIns="80010" rIns="80010" bIns="80010" rtlCol="0" anchor="ctr"/>
          <a:lstStyle/>
          <a:p>
            <a:pPr algn="ctr" indent="0" marL="0">
              <a:lnSpc>
                <a:spcPts val="2009"/>
              </a:lnSpc>
              <a:spcBef>
                <a:spcPts val="360"/>
              </a:spcBef>
              <a:spcAft>
                <a:spcPts val="360"/>
              </a:spcAft>
              <a:buNone/>
            </a:pPr>
            <a:r>
              <a:rPr lang="en-US" sz="1264" b="1" dirty="0">
                <a:solidFill>
                  <a:srgbClr val="040F0F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Classificar cada grandeza como diretamente ou inversamente proporcional.</a:t>
            </a:r>
            <a:endParaRPr lang="en-US" sz="1264" dirty="0"/>
          </a:p>
        </p:txBody>
      </p:sp>
      <p:sp>
        <p:nvSpPr>
          <p:cNvPr id="7" name="38a46182-6330-4514-91e1-7003d19e18ea"/>
          <p:cNvSpPr/>
          <p:nvPr/>
        </p:nvSpPr>
        <p:spPr>
          <a:xfrm>
            <a:off x="1714500" y="3143250"/>
            <a:ext cx="5715000" cy="617220"/>
          </a:xfrm>
          <a:prstGeom prst="roundRect">
            <a:avLst>
              <a:gd name="adj" fmla="val 18519"/>
            </a:avLst>
          </a:prstGeom>
          <a:solidFill>
            <a:srgbClr val="F4F9FC"/>
          </a:solidFill>
          <a:ln w="34290">
            <a:solidFill>
              <a:srgbClr val="000000"/>
            </a:solidFill>
          </a:ln>
        </p:spPr>
        <p:txBody>
          <a:bodyPr wrap="square" lIns="80010" tIns="80010" rIns="80010" bIns="80010" rtlCol="0" anchor="ctr"/>
          <a:lstStyle/>
          <a:p>
            <a:pPr algn="ctr" indent="0" marL="0">
              <a:lnSpc>
                <a:spcPts val="2009"/>
              </a:lnSpc>
              <a:spcBef>
                <a:spcPts val="360"/>
              </a:spcBef>
              <a:spcAft>
                <a:spcPts val="360"/>
              </a:spcAft>
              <a:buNone/>
            </a:pPr>
            <a:r>
              <a:rPr lang="en-US" sz="1264" b="1" dirty="0">
                <a:solidFill>
                  <a:srgbClr val="040F0F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Inverter os valores das grandezas identificadas como inversas.</a:t>
            </a:r>
            <a:endParaRPr lang="en-US" sz="1264" dirty="0"/>
          </a:p>
        </p:txBody>
      </p:sp>
      <p:sp>
        <p:nvSpPr>
          <p:cNvPr id="8" name="a6e6089f-a698-463a-aad5-0a681ed9a918"/>
          <p:cNvSpPr/>
          <p:nvPr/>
        </p:nvSpPr>
        <p:spPr>
          <a:xfrm>
            <a:off x="8366760" y="342900"/>
            <a:ext cx="548640" cy="548640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ctr"/>
          <a:lstStyle/>
          <a:p>
            <a:pPr algn="r" indent="0" marL="0">
              <a:lnSpc>
                <a:spcPts val="4464"/>
              </a:lnSpc>
              <a:spcBef>
                <a:spcPts val="450"/>
              </a:spcBef>
              <a:spcAft>
                <a:spcPts val="450"/>
              </a:spcAft>
              <a:buNone/>
            </a:pPr>
            <a:r>
              <a:rPr lang="en-US" sz="2808" dirty="0">
                <a:solidFill>
                  <a:srgbClr val="E8E4DF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✅</a:t>
            </a:r>
            <a:endParaRPr lang="en-US" sz="2808" dirty="0"/>
          </a:p>
        </p:txBody>
      </p:sp>
      <p:sp>
        <p:nvSpPr>
          <p:cNvPr id="9" name="fc32d802-f3c4-41db-8980-a6fbfc4dbf3e"/>
          <p:cNvSpPr/>
          <p:nvPr/>
        </p:nvSpPr>
        <p:spPr>
          <a:xfrm>
            <a:off x="7292340" y="1520190"/>
            <a:ext cx="274320" cy="274320"/>
          </a:xfrm>
          <a:prstGeom prst="roundRect">
            <a:avLst>
              <a:gd name="adj" fmla="val 25000"/>
            </a:avLst>
          </a:prstGeom>
          <a:solidFill>
            <a:srgbClr val="000000"/>
          </a:solidFill>
          <a:ln/>
        </p:spPr>
        <p:txBody>
          <a:bodyPr wrap="square" lIns="45720" tIns="45720" rIns="45720" bIns="45720" rtlCol="0" anchor="ctr"/>
          <a:lstStyle/>
          <a:p>
            <a:pPr algn="ctr" indent="0" marL="0">
              <a:lnSpc>
                <a:spcPts val="1451"/>
              </a:lnSpc>
              <a:spcBef>
                <a:spcPts val="270"/>
              </a:spcBef>
              <a:spcAft>
                <a:spcPts val="270"/>
              </a:spcAft>
              <a:buNone/>
            </a:pPr>
            <a:r>
              <a:rPr lang="en-US" sz="913" b="1" dirty="0">
                <a:solidFill>
                  <a:srgbClr val="FFFFFF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1</a:t>
            </a:r>
            <a:endParaRPr lang="en-US" sz="913" dirty="0"/>
          </a:p>
        </p:txBody>
      </p:sp>
      <p:sp>
        <p:nvSpPr>
          <p:cNvPr id="10" name="c30aa1fd-f5b1-4cb6-bee0-5c00f13f2634"/>
          <p:cNvSpPr/>
          <p:nvPr/>
        </p:nvSpPr>
        <p:spPr>
          <a:xfrm>
            <a:off x="7292340" y="2263140"/>
            <a:ext cx="274320" cy="274320"/>
          </a:xfrm>
          <a:prstGeom prst="roundRect">
            <a:avLst>
              <a:gd name="adj" fmla="val 25000"/>
            </a:avLst>
          </a:prstGeom>
          <a:solidFill>
            <a:srgbClr val="000000"/>
          </a:solidFill>
          <a:ln/>
        </p:spPr>
        <p:txBody>
          <a:bodyPr wrap="square" lIns="45720" tIns="45720" rIns="45720" bIns="45720" rtlCol="0" anchor="ctr"/>
          <a:lstStyle/>
          <a:p>
            <a:pPr algn="ctr" indent="0" marL="0">
              <a:lnSpc>
                <a:spcPts val="1451"/>
              </a:lnSpc>
              <a:spcBef>
                <a:spcPts val="270"/>
              </a:spcBef>
              <a:spcAft>
                <a:spcPts val="270"/>
              </a:spcAft>
              <a:buNone/>
            </a:pPr>
            <a:r>
              <a:rPr lang="en-US" sz="913" b="1" dirty="0">
                <a:solidFill>
                  <a:srgbClr val="FFFFFF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2</a:t>
            </a:r>
            <a:endParaRPr lang="en-US" sz="913" dirty="0"/>
          </a:p>
        </p:txBody>
      </p:sp>
      <p:sp>
        <p:nvSpPr>
          <p:cNvPr id="11" name="f8ea1dfa-ac8f-41f7-973c-19e5597804b4"/>
          <p:cNvSpPr/>
          <p:nvPr/>
        </p:nvSpPr>
        <p:spPr>
          <a:xfrm>
            <a:off x="7292340" y="3006090"/>
            <a:ext cx="274320" cy="274320"/>
          </a:xfrm>
          <a:prstGeom prst="roundRect">
            <a:avLst>
              <a:gd name="adj" fmla="val 25000"/>
            </a:avLst>
          </a:prstGeom>
          <a:solidFill>
            <a:srgbClr val="000000"/>
          </a:solidFill>
          <a:ln/>
        </p:spPr>
        <p:txBody>
          <a:bodyPr wrap="square" lIns="45720" tIns="45720" rIns="45720" bIns="45720" rtlCol="0" anchor="ctr"/>
          <a:lstStyle/>
          <a:p>
            <a:pPr algn="ctr" indent="0" marL="0">
              <a:lnSpc>
                <a:spcPts val="1451"/>
              </a:lnSpc>
              <a:spcBef>
                <a:spcPts val="270"/>
              </a:spcBef>
              <a:spcAft>
                <a:spcPts val="270"/>
              </a:spcAft>
              <a:buNone/>
            </a:pPr>
            <a:r>
              <a:rPr lang="en-US" sz="913" b="1" dirty="0">
                <a:solidFill>
                  <a:srgbClr val="FFFFFF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3</a:t>
            </a:r>
            <a:endParaRPr lang="en-US" sz="913" dirty="0"/>
          </a:p>
        </p:txBody>
      </p:sp>
      <p:sp>
        <p:nvSpPr>
          <p:cNvPr id="12" name="daf44ae8-a9c1-4ee6-bc38-ac6cb0dac13e"/>
          <p:cNvSpPr/>
          <p:nvPr/>
        </p:nvSpPr>
        <p:spPr>
          <a:xfrm>
            <a:off x="7292340" y="3749040"/>
            <a:ext cx="274320" cy="274320"/>
          </a:xfrm>
          <a:prstGeom prst="roundRect">
            <a:avLst>
              <a:gd name="adj" fmla="val 25000"/>
            </a:avLst>
          </a:prstGeom>
          <a:solidFill>
            <a:srgbClr val="000000"/>
          </a:solidFill>
          <a:ln/>
        </p:spPr>
        <p:txBody>
          <a:bodyPr wrap="square" lIns="45720" tIns="45720" rIns="45720" bIns="45720" rtlCol="0" anchor="ctr"/>
          <a:lstStyle/>
          <a:p>
            <a:pPr algn="ctr" indent="0" marL="0">
              <a:lnSpc>
                <a:spcPts val="1451"/>
              </a:lnSpc>
              <a:spcBef>
                <a:spcPts val="270"/>
              </a:spcBef>
              <a:spcAft>
                <a:spcPts val="270"/>
              </a:spcAft>
              <a:buNone/>
            </a:pPr>
            <a:r>
              <a:rPr lang="en-US" sz="913" b="1" dirty="0">
                <a:solidFill>
                  <a:srgbClr val="FFFFFF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4</a:t>
            </a:r>
            <a:endParaRPr lang="en-US" sz="913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731939cf-0cf9-49d2-9d25-6fb78e4bc606" descr="/home/forge/chalkie-production-workers-1/releases/77481629/backend/storage/app/render-specs/3c0c6458-ad69-4755-a770-457f81065846/img_f7c48fcece14c118f55b33a98dbaee52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5750" y="1360170"/>
            <a:ext cx="4194810" cy="2057400"/>
          </a:xfrm>
          <a:prstGeom prst="roundRect">
            <a:avLst>
              <a:gd name="adj" fmla="val 6667"/>
            </a:avLst>
          </a:prstGeom>
        </p:spPr>
      </p:pic>
      <p:pic>
        <p:nvPicPr>
          <p:cNvPr id="3" name="92cac979-aaa6-4f35-b200-443492c306cd" descr="/home/forge/chalkie-production-workers-1/releases/77481629/backend/storage/app/render-specs/3c0c6458-ad69-4755-a770-457f81065846/img_174a8a9150b36f847595a7ff5815bb0c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52010" y="1360170"/>
            <a:ext cx="4194810" cy="2057400"/>
          </a:xfrm>
          <a:prstGeom prst="roundRect">
            <a:avLst>
              <a:gd name="adj" fmla="val 6667"/>
            </a:avLst>
          </a:prstGeom>
        </p:spPr>
      </p:pic>
      <p:sp>
        <p:nvSpPr>
          <p:cNvPr id="4" name="7dbac0df-fb34-4412-8027-7bf7d760edc0"/>
          <p:cNvSpPr/>
          <p:nvPr/>
        </p:nvSpPr>
        <p:spPr>
          <a:xfrm>
            <a:off x="285750" y="171450"/>
            <a:ext cx="8572500" cy="603504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t"/>
          <a:lstStyle/>
          <a:p>
            <a:pPr algn="l" indent="0" marL="0">
              <a:lnSpc>
                <a:spcPts val="3571"/>
              </a:lnSpc>
              <a:spcBef>
                <a:spcPts val="450"/>
              </a:spcBef>
              <a:spcAft>
                <a:spcPts val="450"/>
              </a:spcAft>
              <a:buNone/>
            </a:pPr>
            <a:r>
              <a:rPr lang="en-US" sz="2246" b="1" dirty="0">
                <a:solidFill>
                  <a:srgbClr val="E8C85A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Gestão de Materiais e Estoques</a:t>
            </a:r>
            <a:endParaRPr lang="en-US" sz="2246" dirty="0"/>
          </a:p>
        </p:txBody>
      </p:sp>
      <p:sp>
        <p:nvSpPr>
          <p:cNvPr id="5" name="74ad44fe-dfbc-4473-adf2-e7716a41f63d"/>
          <p:cNvSpPr/>
          <p:nvPr/>
        </p:nvSpPr>
        <p:spPr>
          <a:xfrm>
            <a:off x="285750" y="800100"/>
            <a:ext cx="8572500" cy="379476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t"/>
          <a:lstStyle/>
          <a:p>
            <a:pPr algn="l" indent="0" marL="0">
              <a:lnSpc>
                <a:spcPts val="2009"/>
              </a:lnSpc>
              <a:spcBef>
                <a:spcPts val="360"/>
              </a:spcBef>
              <a:spcAft>
                <a:spcPts val="360"/>
              </a:spcAft>
              <a:buNone/>
            </a:pPr>
            <a:r>
              <a:rPr lang="en-US" sz="1264" dirty="0">
                <a:solidFill>
                  <a:srgbClr val="E8E4DF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Almoxarifado: cálculo de consumo, reposição e lote econômico.</a:t>
            </a:r>
            <a:endParaRPr lang="en-US" sz="1264" dirty="0"/>
          </a:p>
        </p:txBody>
      </p:sp>
      <p:sp>
        <p:nvSpPr>
          <p:cNvPr id="6" name="bfabd61a-2277-490e-8cf5-b2bf189211e4"/>
          <p:cNvSpPr/>
          <p:nvPr/>
        </p:nvSpPr>
        <p:spPr>
          <a:xfrm>
            <a:off x="285750" y="3554730"/>
            <a:ext cx="4194810" cy="1147572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t"/>
          <a:lstStyle/>
          <a:p>
            <a:pPr algn="l" indent="0" marL="0">
              <a:lnSpc>
                <a:spcPts val="2455"/>
              </a:lnSpc>
              <a:spcBef>
                <a:spcPts val="360"/>
              </a:spcBef>
              <a:spcAft>
                <a:spcPts val="360"/>
              </a:spcAft>
              <a:buNone/>
            </a:pPr>
            <a:r>
              <a:rPr lang="en-US" sz="1544" b="1" dirty="0">
                <a:solidFill>
                  <a:srgbClr val="E8E4DF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Consumo Médio Diário</a:t>
            </a:r>
            <a:endParaRPr lang="en-US" sz="1544" dirty="0"/>
          </a:p>
          <a:p>
            <a:pPr algn="l" indent="0" marL="0">
              <a:lnSpc>
                <a:spcPts val="2009"/>
              </a:lnSpc>
              <a:spcBef>
                <a:spcPts val="360"/>
              </a:spcBef>
              <a:spcAft>
                <a:spcPts val="360"/>
              </a:spcAft>
              <a:buNone/>
            </a:pPr>
            <a:r>
              <a:rPr lang="en-US" sz="1264" dirty="0">
                <a:solidFill>
                  <a:srgbClr val="E8E4DF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Demanda mensal / dias úteis:</a:t>
            </a:r>
            <a:endParaRPr lang="en-US" sz="1544" dirty="0"/>
          </a:p>
          <a:p>
            <a:pPr algn="l" marL="228600" indent="-68580">
              <a:lnSpc>
                <a:spcPts val="2009"/>
              </a:lnSpc>
              <a:spcBef>
                <a:spcPts val="225"/>
              </a:spcBef>
              <a:spcAft>
                <a:spcPts val="225"/>
              </a:spcAft>
              <a:buSzPct val="100000"/>
              <a:buChar char="•"/>
            </a:pPr>
            <a:r>
              <a:rPr lang="en-US" sz="1264" dirty="0">
                <a:solidFill>
                  <a:srgbClr val="E8E4DF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Demanda: 2.200 un</a:t>
            </a:r>
            <a:endParaRPr lang="en-US" sz="1544" dirty="0"/>
          </a:p>
          <a:p>
            <a:pPr algn="l" marL="228600" indent="-68580">
              <a:lnSpc>
                <a:spcPts val="2009"/>
              </a:lnSpc>
              <a:spcBef>
                <a:spcPts val="225"/>
              </a:spcBef>
              <a:spcAft>
                <a:spcPts val="225"/>
              </a:spcAft>
              <a:buSzPct val="100000"/>
              <a:buChar char="•"/>
            </a:pPr>
            <a:r>
              <a:rPr lang="en-US" sz="1264" dirty="0">
                <a:solidFill>
                  <a:srgbClr val="E8E4DF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Dias: 22</a:t>
            </a:r>
            <a:endParaRPr lang="en-US" sz="1544" dirty="0"/>
          </a:p>
          <a:p>
            <a:pPr algn="l" marL="228600" indent="-68580">
              <a:lnSpc>
                <a:spcPts val="2009"/>
              </a:lnSpc>
              <a:spcBef>
                <a:spcPts val="225"/>
              </a:spcBef>
              <a:spcAft>
                <a:spcPts val="225"/>
              </a:spcAft>
              <a:buSzPct val="100000"/>
              <a:buChar char="•"/>
            </a:pPr>
            <a:r>
              <a:rPr lang="en-US" sz="1264" dirty="0">
                <a:solidFill>
                  <a:srgbClr val="E8E4DF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Consumo: 100 un/dia</a:t>
            </a:r>
            <a:endParaRPr lang="en-US" sz="1544" dirty="0"/>
          </a:p>
        </p:txBody>
      </p:sp>
      <p:sp>
        <p:nvSpPr>
          <p:cNvPr id="7" name="004777f4-8263-4db2-aa55-c066adcbc01a"/>
          <p:cNvSpPr/>
          <p:nvPr/>
        </p:nvSpPr>
        <p:spPr>
          <a:xfrm>
            <a:off x="4652010" y="3554730"/>
            <a:ext cx="4194810" cy="1147572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t"/>
          <a:lstStyle/>
          <a:p>
            <a:pPr algn="l" indent="0" marL="0">
              <a:lnSpc>
                <a:spcPts val="2455"/>
              </a:lnSpc>
              <a:spcBef>
                <a:spcPts val="360"/>
              </a:spcBef>
              <a:spcAft>
                <a:spcPts val="360"/>
              </a:spcAft>
              <a:buNone/>
            </a:pPr>
            <a:r>
              <a:rPr lang="en-US" sz="1544" b="1" dirty="0">
                <a:solidFill>
                  <a:srgbClr val="E8E4DF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Ponto de Pedido (PP)</a:t>
            </a:r>
            <a:endParaRPr lang="en-US" sz="1544" dirty="0"/>
          </a:p>
          <a:p>
            <a:pPr algn="l" indent="0" marL="0">
              <a:lnSpc>
                <a:spcPts val="2009"/>
              </a:lnSpc>
              <a:spcBef>
                <a:spcPts val="360"/>
              </a:spcBef>
              <a:spcAft>
                <a:spcPts val="360"/>
              </a:spcAft>
              <a:buNone/>
            </a:pPr>
            <a:r>
              <a:rPr lang="en-US" sz="1264" dirty="0">
                <a:solidFill>
                  <a:srgbClr val="E8E4DF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Momento de repor estoque:</a:t>
            </a:r>
            <a:endParaRPr lang="en-US" sz="1544" dirty="0"/>
          </a:p>
          <a:p>
            <a:pPr algn="l" marL="228600" indent="-68580">
              <a:lnSpc>
                <a:spcPts val="2009"/>
              </a:lnSpc>
              <a:spcBef>
                <a:spcPts val="225"/>
              </a:spcBef>
              <a:spcAft>
                <a:spcPts val="225"/>
              </a:spcAft>
              <a:buSzPct val="100000"/>
              <a:buChar char="•"/>
            </a:pPr>
            <a:r>
              <a:rPr lang="en-US" sz="1264" dirty="0">
                <a:solidFill>
                  <a:srgbClr val="E8E4DF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Prazo: 5 dias</a:t>
            </a:r>
            <a:endParaRPr lang="en-US" sz="1544" dirty="0"/>
          </a:p>
          <a:p>
            <a:pPr algn="l" marL="228600" indent="-68580">
              <a:lnSpc>
                <a:spcPts val="2009"/>
              </a:lnSpc>
              <a:spcBef>
                <a:spcPts val="225"/>
              </a:spcBef>
              <a:spcAft>
                <a:spcPts val="225"/>
              </a:spcAft>
              <a:buSzPct val="100000"/>
              <a:buChar char="•"/>
            </a:pPr>
            <a:r>
              <a:rPr lang="en-US" sz="1264" dirty="0">
                <a:solidFill>
                  <a:srgbClr val="E8E4DF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Seg.: 200 un</a:t>
            </a:r>
            <a:endParaRPr lang="en-US" sz="1544" dirty="0"/>
          </a:p>
          <a:p>
            <a:pPr algn="l" marL="228600" indent="-68580">
              <a:lnSpc>
                <a:spcPts val="2009"/>
              </a:lnSpc>
              <a:spcBef>
                <a:spcPts val="225"/>
              </a:spcBef>
              <a:spcAft>
                <a:spcPts val="225"/>
              </a:spcAft>
              <a:buSzPct val="100000"/>
              <a:buChar char="•"/>
            </a:pPr>
            <a:r>
              <a:rPr lang="en-US" sz="1264" dirty="0">
                <a:solidFill>
                  <a:srgbClr val="E8E4DF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PP: (100x5)+200=700 un</a:t>
            </a:r>
            <a:endParaRPr lang="en-US" sz="1544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29ef0a0b-fbfd-4a59-a335-f782a9b7cc03" descr="/home/forge/chalkie-production-workers-1/releases/77481629/backend/storage/app/render-specs/3c0c6458-ad69-4755-a770-457f81065846/img_7fab60e4c3b2c83d90d4c187ce910498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5750" y="800100"/>
            <a:ext cx="3829050" cy="4057650"/>
          </a:xfrm>
          <a:prstGeom prst="roundRect">
            <a:avLst>
              <a:gd name="adj" fmla="val 3582"/>
            </a:avLst>
          </a:prstGeom>
        </p:spPr>
      </p:pic>
      <p:sp>
        <p:nvSpPr>
          <p:cNvPr id="3" name="86b6cb7d-c964-4bd0-96c5-37743573dd1e"/>
          <p:cNvSpPr/>
          <p:nvPr/>
        </p:nvSpPr>
        <p:spPr>
          <a:xfrm>
            <a:off x="285750" y="171450"/>
            <a:ext cx="8572500" cy="603504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t"/>
          <a:lstStyle/>
          <a:p>
            <a:pPr algn="l" indent="0" marL="0">
              <a:lnSpc>
                <a:spcPts val="3571"/>
              </a:lnSpc>
              <a:spcBef>
                <a:spcPts val="450"/>
              </a:spcBef>
              <a:spcAft>
                <a:spcPts val="450"/>
              </a:spcAft>
              <a:buNone/>
            </a:pPr>
            <a:r>
              <a:rPr lang="en-US" sz="2246" b="1" dirty="0">
                <a:solidFill>
                  <a:srgbClr val="E8C85A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Previsão de Insumos Críticos</a:t>
            </a:r>
            <a:endParaRPr lang="en-US" sz="2246" dirty="0"/>
          </a:p>
        </p:txBody>
      </p:sp>
      <p:sp>
        <p:nvSpPr>
          <p:cNvPr id="4" name="15b92b98-77c0-47e4-831d-3db5349be43f"/>
          <p:cNvSpPr/>
          <p:nvPr/>
        </p:nvSpPr>
        <p:spPr>
          <a:xfrm>
            <a:off x="4286250" y="800100"/>
            <a:ext cx="4572000" cy="1499616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t"/>
          <a:lstStyle/>
          <a:p>
            <a:pPr algn="l" indent="0" marL="0">
              <a:lnSpc>
                <a:spcPts val="2455"/>
              </a:lnSpc>
              <a:spcBef>
                <a:spcPts val="360"/>
              </a:spcBef>
              <a:spcAft>
                <a:spcPts val="360"/>
              </a:spcAft>
              <a:buNone/>
            </a:pPr>
            <a:r>
              <a:rPr lang="en-US" sz="1544" b="1" dirty="0">
                <a:solidFill>
                  <a:srgbClr val="E8E4DF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Fatores de Consumo Variável</a:t>
            </a:r>
            <a:endParaRPr lang="en-US" sz="1544" dirty="0"/>
          </a:p>
          <a:p>
            <a:pPr algn="l" indent="0" marL="0">
              <a:lnSpc>
                <a:spcPts val="2009"/>
              </a:lnSpc>
              <a:spcBef>
                <a:spcPts val="360"/>
              </a:spcBef>
              <a:spcAft>
                <a:spcPts val="360"/>
              </a:spcAft>
              <a:buNone/>
            </a:pPr>
            <a:r>
              <a:rPr lang="en-US" sz="1264" dirty="0">
                <a:solidFill>
                  <a:srgbClr val="E8E4DF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Gestores monitoram três variáveis para evitar desabastecimento:</a:t>
            </a:r>
            <a:endParaRPr lang="en-US" sz="1544" dirty="0"/>
          </a:p>
          <a:p>
            <a:pPr algn="l" marL="228600" indent="-68580">
              <a:lnSpc>
                <a:spcPts val="2009"/>
              </a:lnSpc>
              <a:spcBef>
                <a:spcPts val="225"/>
              </a:spcBef>
              <a:spcAft>
                <a:spcPts val="225"/>
              </a:spcAft>
              <a:buSzPct val="100000"/>
              <a:buChar char="•"/>
            </a:pPr>
            <a:r>
              <a:rPr lang="en-US" sz="1264" b="1" dirty="0">
                <a:solidFill>
                  <a:srgbClr val="E8E4DF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Taxa de Refugo:</a:t>
            </a:r>
            <a:pPr algn="l" indent="0" marL="0">
              <a:lnSpc>
                <a:spcPts val="2009"/>
              </a:lnSpc>
              <a:spcBef>
                <a:spcPts val="225"/>
              </a:spcBef>
              <a:spcAft>
                <a:spcPts val="225"/>
              </a:spcAft>
              <a:buNone/>
            </a:pPr>
            <a:r>
              <a:rPr lang="en-US" sz="1264" dirty="0">
                <a:solidFill>
                  <a:srgbClr val="E8E4DF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 Perda média fabril.</a:t>
            </a:r>
            <a:endParaRPr lang="en-US" sz="1544" dirty="0"/>
          </a:p>
          <a:p>
            <a:pPr algn="l" marL="228600" indent="-68580">
              <a:lnSpc>
                <a:spcPts val="2009"/>
              </a:lnSpc>
              <a:spcBef>
                <a:spcPts val="225"/>
              </a:spcBef>
              <a:spcAft>
                <a:spcPts val="225"/>
              </a:spcAft>
              <a:buSzPct val="100000"/>
              <a:buChar char="•"/>
            </a:pPr>
            <a:r>
              <a:rPr lang="en-US" sz="1264" b="1" dirty="0">
                <a:solidFill>
                  <a:srgbClr val="E8E4DF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Sazonalidade:</a:t>
            </a:r>
            <a:pPr algn="l" indent="0" marL="0">
              <a:lnSpc>
                <a:spcPts val="2009"/>
              </a:lnSpc>
              <a:spcBef>
                <a:spcPts val="225"/>
              </a:spcBef>
              <a:spcAft>
                <a:spcPts val="225"/>
              </a:spcAft>
              <a:buNone/>
            </a:pPr>
            <a:r>
              <a:rPr lang="en-US" sz="1264" dirty="0">
                <a:solidFill>
                  <a:srgbClr val="E8E4DF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 Picos de demanda.</a:t>
            </a:r>
            <a:endParaRPr lang="en-US" sz="1544" dirty="0"/>
          </a:p>
          <a:p>
            <a:pPr algn="l" marL="228600" indent="-68580">
              <a:lnSpc>
                <a:spcPts val="2009"/>
              </a:lnSpc>
              <a:spcBef>
                <a:spcPts val="225"/>
              </a:spcBef>
              <a:spcAft>
                <a:spcPts val="225"/>
              </a:spcAft>
              <a:buSzPct val="100000"/>
              <a:buChar char="•"/>
            </a:pPr>
            <a:r>
              <a:rPr lang="en-US" sz="1264" b="1" dirty="0">
                <a:solidFill>
                  <a:srgbClr val="E8E4DF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Lead Time:</a:t>
            </a:r>
            <a:pPr algn="l" indent="0" marL="0">
              <a:lnSpc>
                <a:spcPts val="2009"/>
              </a:lnSpc>
              <a:spcBef>
                <a:spcPts val="225"/>
              </a:spcBef>
              <a:spcAft>
                <a:spcPts val="225"/>
              </a:spcAft>
              <a:buNone/>
            </a:pPr>
            <a:r>
              <a:rPr lang="en-US" sz="1264" dirty="0">
                <a:solidFill>
                  <a:srgbClr val="E8E4DF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 Atrasos na entrega.</a:t>
            </a:r>
            <a:endParaRPr lang="en-US" sz="1544" dirty="0"/>
          </a:p>
        </p:txBody>
      </p:sp>
      <p:sp>
        <p:nvSpPr>
          <p:cNvPr id="5" name="e37801ea-137e-45ff-ae6d-7b538eb0843a_card"/>
          <p:cNvSpPr/>
          <p:nvPr/>
        </p:nvSpPr>
        <p:spPr>
          <a:xfrm>
            <a:off x="4286250" y="2994660"/>
            <a:ext cx="4572000" cy="1380744"/>
          </a:xfrm>
          <a:prstGeom prst="roundRect">
            <a:avLst>
              <a:gd name="adj" fmla="val 6623"/>
            </a:avLst>
          </a:prstGeom>
          <a:solidFill>
            <a:srgbClr val="5AC8A5">
              <a:alpha val="14902"/>
            </a:srgbClr>
          </a:solidFill>
          <a:ln w="11430">
            <a:solidFill>
              <a:srgbClr val="084D36">
                <a:alpha val="20000"/>
              </a:srgbClr>
            </a:solidFill>
            <a:prstDash val="solid"/>
          </a:ln>
        </p:spPr>
      </p:sp>
      <p:sp>
        <p:nvSpPr>
          <p:cNvPr id="6" name="e37801ea-137e-45ff-ae6d-7b538eb0843a_emoji"/>
          <p:cNvSpPr/>
          <p:nvPr/>
        </p:nvSpPr>
        <p:spPr>
          <a:xfrm>
            <a:off x="4400550" y="3143250"/>
            <a:ext cx="365760" cy="4114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2160" dirty="0">
                <a:solidFill>
                  <a:srgbClr val="000000"/>
                </a:solidFill>
              </a:rPr>
              <a:t>🔍</a:t>
            </a:r>
            <a:endParaRPr lang="en-US" sz="2160" dirty="0"/>
          </a:p>
        </p:txBody>
      </p:sp>
      <p:sp>
        <p:nvSpPr>
          <p:cNvPr id="7" name="e37801ea-137e-45ff-ae6d-7b538eb0843a_text"/>
          <p:cNvSpPr/>
          <p:nvPr/>
        </p:nvSpPr>
        <p:spPr>
          <a:xfrm>
            <a:off x="4766310" y="3108960"/>
            <a:ext cx="3977640" cy="11521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86"/>
              </a:lnSpc>
              <a:spcBef>
                <a:spcPts val="270"/>
              </a:spcBef>
              <a:spcAft>
                <a:spcPts val="270"/>
              </a:spcAft>
              <a:buNone/>
            </a:pPr>
            <a:r>
              <a:rPr lang="en-US" sz="1123" b="1" dirty="0">
                <a:solidFill>
                  <a:srgbClr val="9FE1CB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Exemplo</a:t>
            </a:r>
            <a:endParaRPr lang="en-US" sz="1123" dirty="0"/>
          </a:p>
          <a:p>
            <a:pPr algn="l" indent="0" marL="0">
              <a:lnSpc>
                <a:spcPts val="2009"/>
              </a:lnSpc>
              <a:spcBef>
                <a:spcPts val="360"/>
              </a:spcBef>
              <a:spcAft>
                <a:spcPts val="360"/>
              </a:spcAft>
              <a:buNone/>
            </a:pPr>
            <a:r>
              <a:rPr lang="en-US" sz="1264" dirty="0">
                <a:solidFill>
                  <a:srgbClr val="9FE1CB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Com 5% de perda, para entregar 1.000 itens, planeje insumos para 1.053 unidades.</a:t>
            </a:r>
            <a:endParaRPr lang="en-US" sz="1123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1fdf4f46-648b-4e75-abc5-dfe80cd4c782" descr="/home/forge/chalkie-production-workers-1/releases/77481629/backend/storage/app/render-specs/3c0c6458-ad69-4755-a770-457f81065846/img_6ac68588b689c7b3a6538431bd2395ed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800100"/>
            <a:ext cx="3829050" cy="4057650"/>
          </a:xfrm>
          <a:prstGeom prst="roundRect">
            <a:avLst>
              <a:gd name="adj" fmla="val 3582"/>
            </a:avLst>
          </a:prstGeom>
        </p:spPr>
      </p:pic>
      <p:sp>
        <p:nvSpPr>
          <p:cNvPr id="3" name="0c5dc237-29bb-479d-8a75-a3108876049a"/>
          <p:cNvSpPr/>
          <p:nvPr/>
        </p:nvSpPr>
        <p:spPr>
          <a:xfrm>
            <a:off x="285750" y="171450"/>
            <a:ext cx="8572500" cy="603504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t"/>
          <a:lstStyle/>
          <a:p>
            <a:pPr algn="l" indent="0" marL="0">
              <a:lnSpc>
                <a:spcPts val="3571"/>
              </a:lnSpc>
              <a:spcBef>
                <a:spcPts val="450"/>
              </a:spcBef>
              <a:spcAft>
                <a:spcPts val="450"/>
              </a:spcAft>
              <a:buNone/>
            </a:pPr>
            <a:r>
              <a:rPr lang="en-US" sz="2246" b="1" dirty="0">
                <a:solidFill>
                  <a:srgbClr val="E8C85A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Calculadoras e Planilhas</a:t>
            </a:r>
            <a:endParaRPr lang="en-US" sz="2246" dirty="0"/>
          </a:p>
        </p:txBody>
      </p:sp>
      <p:sp>
        <p:nvSpPr>
          <p:cNvPr id="4" name="a7004963-3d48-4096-88ff-e3467b2a4791"/>
          <p:cNvSpPr/>
          <p:nvPr/>
        </p:nvSpPr>
        <p:spPr>
          <a:xfrm>
            <a:off x="285750" y="800100"/>
            <a:ext cx="4572000" cy="1499616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t"/>
          <a:lstStyle/>
          <a:p>
            <a:pPr algn="l" indent="0" marL="0">
              <a:lnSpc>
                <a:spcPts val="2455"/>
              </a:lnSpc>
              <a:spcBef>
                <a:spcPts val="360"/>
              </a:spcBef>
              <a:spcAft>
                <a:spcPts val="360"/>
              </a:spcAft>
              <a:buNone/>
            </a:pPr>
            <a:r>
              <a:rPr lang="en-US" sz="1544" b="1" dirty="0">
                <a:solidFill>
                  <a:srgbClr val="E8E4DF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Automação para Evitar Erros</a:t>
            </a:r>
            <a:endParaRPr lang="en-US" sz="1544" dirty="0"/>
          </a:p>
          <a:p>
            <a:pPr algn="l" indent="0" marL="0">
              <a:lnSpc>
                <a:spcPts val="2009"/>
              </a:lnSpc>
              <a:spcBef>
                <a:spcPts val="360"/>
              </a:spcBef>
              <a:spcAft>
                <a:spcPts val="360"/>
              </a:spcAft>
              <a:buNone/>
            </a:pPr>
            <a:r>
              <a:rPr lang="en-US" sz="1264" dirty="0">
                <a:solidFill>
                  <a:srgbClr val="E8E4DF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Cálculo manual treina o raciocínio, mas usamos planilhas para agilidade:</a:t>
            </a:r>
            <a:endParaRPr lang="en-US" sz="1544" dirty="0"/>
          </a:p>
          <a:p>
            <a:pPr algn="l" marL="228600" indent="-68580">
              <a:lnSpc>
                <a:spcPts val="2009"/>
              </a:lnSpc>
              <a:spcBef>
                <a:spcPts val="225"/>
              </a:spcBef>
              <a:spcAft>
                <a:spcPts val="225"/>
              </a:spcAft>
              <a:buSzPct val="100000"/>
              <a:buChar char="•"/>
            </a:pPr>
            <a:r>
              <a:rPr lang="en-US" sz="1264" b="1" dirty="0">
                <a:solidFill>
                  <a:srgbClr val="E8E4DF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Fórmulas:</a:t>
            </a:r>
            <a:pPr algn="l" indent="0" marL="0">
              <a:lnSpc>
                <a:spcPts val="2009"/>
              </a:lnSpc>
              <a:spcBef>
                <a:spcPts val="225"/>
              </a:spcBef>
              <a:spcAft>
                <a:spcPts val="225"/>
              </a:spcAft>
              <a:buNone/>
            </a:pPr>
            <a:r>
              <a:rPr lang="en-US" sz="1264" dirty="0">
                <a:solidFill>
                  <a:srgbClr val="E8E4DF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 Atualização instantânea ao mudar variáveis.</a:t>
            </a:r>
            <a:endParaRPr lang="en-US" sz="1544" dirty="0"/>
          </a:p>
          <a:p>
            <a:pPr algn="l" marL="228600" indent="-68580">
              <a:lnSpc>
                <a:spcPts val="2009"/>
              </a:lnSpc>
              <a:spcBef>
                <a:spcPts val="225"/>
              </a:spcBef>
              <a:spcAft>
                <a:spcPts val="225"/>
              </a:spcAft>
              <a:buSzPct val="100000"/>
              <a:buChar char="•"/>
            </a:pPr>
            <a:r>
              <a:rPr lang="en-US" sz="1264" b="1" dirty="0">
                <a:solidFill>
                  <a:srgbClr val="E8E4DF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Precisão:</a:t>
            </a:r>
            <a:pPr algn="l" indent="0" marL="0">
              <a:lnSpc>
                <a:spcPts val="2009"/>
              </a:lnSpc>
              <a:spcBef>
                <a:spcPts val="225"/>
              </a:spcBef>
              <a:spcAft>
                <a:spcPts val="225"/>
              </a:spcAft>
              <a:buNone/>
            </a:pPr>
            <a:r>
              <a:rPr lang="en-US" sz="1264" dirty="0">
                <a:solidFill>
                  <a:srgbClr val="E8E4DF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 Elimina erros humanos em cálculos repetitivos.</a:t>
            </a:r>
            <a:endParaRPr lang="en-US" sz="1544" dirty="0"/>
          </a:p>
          <a:p>
            <a:pPr algn="l" marL="228600" indent="-68580">
              <a:lnSpc>
                <a:spcPts val="2009"/>
              </a:lnSpc>
              <a:spcBef>
                <a:spcPts val="225"/>
              </a:spcBef>
              <a:spcAft>
                <a:spcPts val="225"/>
              </a:spcAft>
              <a:buSzPct val="100000"/>
              <a:buChar char="•"/>
            </a:pPr>
            <a:r>
              <a:rPr lang="en-US" sz="1264" b="1" dirty="0">
                <a:solidFill>
                  <a:srgbClr val="E8E4DF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Simulações:</a:t>
            </a:r>
            <a:pPr algn="l" indent="0" marL="0">
              <a:lnSpc>
                <a:spcPts val="2009"/>
              </a:lnSpc>
              <a:spcBef>
                <a:spcPts val="225"/>
              </a:spcBef>
              <a:spcAft>
                <a:spcPts val="225"/>
              </a:spcAft>
              <a:buNone/>
            </a:pPr>
            <a:r>
              <a:rPr lang="en-US" sz="1264" dirty="0">
                <a:solidFill>
                  <a:srgbClr val="E8E4DF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 O que ocorre se o insumo subir 10%?</a:t>
            </a:r>
            <a:endParaRPr lang="en-US" sz="1544" dirty="0"/>
          </a:p>
        </p:txBody>
      </p:sp>
      <p:sp>
        <p:nvSpPr>
          <p:cNvPr id="5" name="78281bab-17de-4464-83f8-d7a486d96338_card"/>
          <p:cNvSpPr/>
          <p:nvPr/>
        </p:nvSpPr>
        <p:spPr>
          <a:xfrm>
            <a:off x="285750" y="3760470"/>
            <a:ext cx="4572000" cy="1125601"/>
          </a:xfrm>
          <a:prstGeom prst="roundRect">
            <a:avLst>
              <a:gd name="adj" fmla="val 8124"/>
            </a:avLst>
          </a:prstGeom>
          <a:solidFill>
            <a:srgbClr val="82B4EB">
              <a:alpha val="14902"/>
            </a:srgbClr>
          </a:solidFill>
          <a:ln w="11430">
            <a:solidFill>
              <a:srgbClr val="0B2F50">
                <a:alpha val="20000"/>
              </a:srgbClr>
            </a:solidFill>
            <a:prstDash val="solid"/>
          </a:ln>
        </p:spPr>
      </p:sp>
      <p:sp>
        <p:nvSpPr>
          <p:cNvPr id="6" name="78281bab-17de-4464-83f8-d7a486d96338_emoji"/>
          <p:cNvSpPr/>
          <p:nvPr/>
        </p:nvSpPr>
        <p:spPr>
          <a:xfrm>
            <a:off x="400050" y="3909060"/>
            <a:ext cx="365760" cy="4114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2160" dirty="0">
                <a:solidFill>
                  <a:srgbClr val="000000"/>
                </a:solidFill>
              </a:rPr>
              <a:t>🧠</a:t>
            </a:r>
            <a:endParaRPr lang="en-US" sz="2160" dirty="0"/>
          </a:p>
        </p:txBody>
      </p:sp>
      <p:sp>
        <p:nvSpPr>
          <p:cNvPr id="7" name="78281bab-17de-4464-83f8-d7a486d96338_text"/>
          <p:cNvSpPr/>
          <p:nvPr/>
        </p:nvSpPr>
        <p:spPr>
          <a:xfrm>
            <a:off x="765810" y="3874770"/>
            <a:ext cx="3977640" cy="8970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86"/>
              </a:lnSpc>
              <a:spcBef>
                <a:spcPts val="270"/>
              </a:spcBef>
              <a:spcAft>
                <a:spcPts val="270"/>
              </a:spcAft>
              <a:buNone/>
            </a:pPr>
            <a:r>
              <a:rPr lang="en-US" sz="1123" b="1" dirty="0">
                <a:solidFill>
                  <a:srgbClr val="B5D4F4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Lembre-se</a:t>
            </a:r>
            <a:endParaRPr lang="en-US" sz="1123" dirty="0"/>
          </a:p>
          <a:p>
            <a:pPr algn="l" indent="0" marL="0">
              <a:lnSpc>
                <a:spcPts val="2009"/>
              </a:lnSpc>
              <a:spcBef>
                <a:spcPts val="360"/>
              </a:spcBef>
              <a:spcAft>
                <a:spcPts val="360"/>
              </a:spcAft>
              <a:buNone/>
            </a:pPr>
            <a:r>
              <a:rPr lang="en-US" sz="1264" dirty="0">
                <a:solidFill>
                  <a:srgbClr val="B5D4F4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Planilhas seguem sua lógica. O pensamento crítico é insubstituível.</a:t>
            </a:r>
            <a:endParaRPr lang="en-US" sz="1123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256b908a-4c7b-40b7-9bc6-9de143604a16"/>
          <p:cNvSpPr/>
          <p:nvPr/>
        </p:nvSpPr>
        <p:spPr>
          <a:xfrm>
            <a:off x="285750" y="171450"/>
            <a:ext cx="8572500" cy="603504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t"/>
          <a:lstStyle/>
          <a:p>
            <a:pPr algn="l" indent="0" marL="0">
              <a:lnSpc>
                <a:spcPts val="3571"/>
              </a:lnSpc>
              <a:spcBef>
                <a:spcPts val="450"/>
              </a:spcBef>
              <a:spcAft>
                <a:spcPts val="450"/>
              </a:spcAft>
              <a:buNone/>
            </a:pPr>
            <a:r>
              <a:rPr lang="en-US" sz="2246" b="1" dirty="0">
                <a:solidFill>
                  <a:srgbClr val="E8C85A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A Matemática das Planilhas</a:t>
            </a:r>
            <a:endParaRPr lang="en-US" sz="2246" dirty="0"/>
          </a:p>
        </p:txBody>
      </p:sp>
      <p:pic>
        <p:nvPicPr>
          <p:cNvPr id="3" name="bf5714ad-9399-40e2-87bb-eec2a0dbe8e6" descr="/home/forge/chalkie-production-workers-1/releases/77481629/backend/storage/app/render-specs/3c0c6458-ad69-4755-a770-457f81065846/poster_5Er-1f3LI9s.jpg">
            <a:hlinkClick r:id="rId3" tooltip=""/>
          </p:cNvPr>
          <p:cNvPicPr>
            <a:picLocks noChangeAspect="1"/>
          </p:cNvPicPr>
          <p:nvPr>
            <a:videoFile r:link="rId6"/>
            <p:extLst>
              <p:ext uri="{DAA4B4D4-6D71-4841-9C94-3DE7FCFB9230}">
                <p14:media xmlns:p14="http://schemas.microsoft.com/office/powerpoint/2010/main"/>
              </p:ext>
              <p:ext uri="{C809E66F-F1BF-436E-b5F7-EEA9579F0CBA}">
                <p15:webVideoPr xmlns:p15="http://schemas.microsoft.com/office/powerpoint/2012/main" embeddedHtml="&lt;iframe width=&quot;560&quot; height=&quot;315&quot; src=&quot;https://www.youtube.com/embed/5Er-1f3LI9s?feature=oembed&quot; frameborder=&quot;0&quot; allowfullscreen=&quot;&quot;&gt;&lt;/iframe&gt;" h="315" w="560"/>
              </p:ext>
            </p:extLst>
          </p:nvPr>
        </p:nvPicPr>
        <p:blipFill>
          <a:blip r:embed="rId2"/>
          <a:stretch>
            <a:fillRect/>
          </a:stretch>
        </p:blipFill>
        <p:spPr>
          <a:xfrm>
            <a:off x="960120" y="800100"/>
            <a:ext cx="7212330" cy="4057650"/>
          </a:xfrm>
          <a:prstGeom prst="rect">
            <a:avLst/>
          </a:prstGeom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6fde0f67-73e9-4478-aea9-ef7c455992c8" descr="/home/forge/chalkie-production-workers-1/releases/77481629/backend/storage/app/render-specs/3c0c6458-ad69-4755-a770-457f81065846/img_ae0b2327d8df909aa236a0bda36551c6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1828800"/>
          </a:xfrm>
          <a:prstGeom prst="roundRect">
            <a:avLst>
              <a:gd name="adj" fmla="val 7500"/>
            </a:avLst>
          </a:prstGeom>
        </p:spPr>
      </p:pic>
      <p:sp>
        <p:nvSpPr>
          <p:cNvPr id="3" name="c911a5ca-6a44-46af-9624-e9f7e1ea53ce"/>
          <p:cNvSpPr/>
          <p:nvPr/>
        </p:nvSpPr>
        <p:spPr>
          <a:xfrm>
            <a:off x="285750" y="2103120"/>
            <a:ext cx="8572500" cy="603504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t"/>
          <a:lstStyle/>
          <a:p>
            <a:pPr algn="l" indent="0" marL="0">
              <a:lnSpc>
                <a:spcPts val="3571"/>
              </a:lnSpc>
              <a:spcBef>
                <a:spcPts val="450"/>
              </a:spcBef>
              <a:spcAft>
                <a:spcPts val="450"/>
              </a:spcAft>
              <a:buNone/>
            </a:pPr>
            <a:r>
              <a:rPr lang="en-US" sz="2246" b="1" dirty="0">
                <a:solidFill>
                  <a:srgbClr val="E8C85A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Minimizando Erros de Análise</a:t>
            </a:r>
            <a:endParaRPr lang="en-US" sz="2246" dirty="0"/>
          </a:p>
        </p:txBody>
      </p:sp>
      <p:sp>
        <p:nvSpPr>
          <p:cNvPr id="4" name="a880a3e2-faeb-41cb-b10f-6b2a47a9bf0f"/>
          <p:cNvSpPr/>
          <p:nvPr/>
        </p:nvSpPr>
        <p:spPr>
          <a:xfrm>
            <a:off x="285750" y="2731770"/>
            <a:ext cx="8572500" cy="1147572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t"/>
          <a:lstStyle/>
          <a:p>
            <a:pPr algn="l" indent="0" marL="0">
              <a:lnSpc>
                <a:spcPts val="2455"/>
              </a:lnSpc>
              <a:spcBef>
                <a:spcPts val="360"/>
              </a:spcBef>
              <a:spcAft>
                <a:spcPts val="360"/>
              </a:spcAft>
              <a:buNone/>
            </a:pPr>
            <a:r>
              <a:rPr lang="en-US" sz="1544" b="1" dirty="0">
                <a:solidFill>
                  <a:srgbClr val="E8E4DF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Validação Numérica</a:t>
            </a:r>
            <a:endParaRPr lang="en-US" sz="1544" dirty="0"/>
          </a:p>
          <a:p>
            <a:pPr algn="l" indent="0" marL="0">
              <a:lnSpc>
                <a:spcPts val="2009"/>
              </a:lnSpc>
              <a:spcBef>
                <a:spcPts val="360"/>
              </a:spcBef>
              <a:spcAft>
                <a:spcPts val="360"/>
              </a:spcAft>
              <a:buNone/>
            </a:pPr>
            <a:r>
              <a:rPr lang="en-US" sz="1264" dirty="0">
                <a:solidFill>
                  <a:srgbClr val="E8E4DF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Desvios decimais em custos geram rombos contábeis. Práticas de validação:</a:t>
            </a:r>
            <a:endParaRPr lang="en-US" sz="1544" dirty="0"/>
          </a:p>
          <a:p>
            <a:pPr algn="l" marL="228600" indent="-68580">
              <a:lnSpc>
                <a:spcPts val="2009"/>
              </a:lnSpc>
              <a:spcBef>
                <a:spcPts val="225"/>
              </a:spcBef>
              <a:spcAft>
                <a:spcPts val="225"/>
              </a:spcAft>
              <a:buSzPct val="100000"/>
              <a:buChar char="•"/>
            </a:pPr>
            <a:r>
              <a:rPr lang="en-US" sz="1264" b="1" dirty="0">
                <a:solidFill>
                  <a:srgbClr val="E8E4DF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Estimativa:</a:t>
            </a:r>
            <a:pPr algn="l" indent="0" marL="0">
              <a:lnSpc>
                <a:spcPts val="2009"/>
              </a:lnSpc>
              <a:spcBef>
                <a:spcPts val="225"/>
              </a:spcBef>
              <a:spcAft>
                <a:spcPts val="225"/>
              </a:spcAft>
              <a:buNone/>
            </a:pPr>
            <a:r>
              <a:rPr lang="en-US" sz="1264" dirty="0">
                <a:solidFill>
                  <a:srgbClr val="E8E4DF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 Verifique se o resultado faz sentido físico e financeiro.</a:t>
            </a:r>
            <a:endParaRPr lang="en-US" sz="1544" dirty="0"/>
          </a:p>
          <a:p>
            <a:pPr algn="l" marL="228600" indent="-68580">
              <a:lnSpc>
                <a:spcPts val="2009"/>
              </a:lnSpc>
              <a:spcBef>
                <a:spcPts val="225"/>
              </a:spcBef>
              <a:spcAft>
                <a:spcPts val="225"/>
              </a:spcAft>
              <a:buSzPct val="100000"/>
              <a:buChar char="•"/>
            </a:pPr>
            <a:r>
              <a:rPr lang="en-US" sz="1264" b="1" dirty="0">
                <a:solidFill>
                  <a:srgbClr val="E8E4DF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Prova Real:</a:t>
            </a:r>
            <a:pPr algn="l" indent="0" marL="0">
              <a:lnSpc>
                <a:spcPts val="2009"/>
              </a:lnSpc>
              <a:spcBef>
                <a:spcPts val="225"/>
              </a:spcBef>
              <a:spcAft>
                <a:spcPts val="225"/>
              </a:spcAft>
              <a:buNone/>
            </a:pPr>
            <a:r>
              <a:rPr lang="en-US" sz="1264" dirty="0">
                <a:solidFill>
                  <a:srgbClr val="E8E4DF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 Multiplique custo unitário pela quantidade para conferir.</a:t>
            </a:r>
            <a:endParaRPr lang="en-US" sz="1544" dirty="0"/>
          </a:p>
          <a:p>
            <a:pPr algn="l" marL="228600" indent="-68580">
              <a:lnSpc>
                <a:spcPts val="2009"/>
              </a:lnSpc>
              <a:spcBef>
                <a:spcPts val="225"/>
              </a:spcBef>
              <a:spcAft>
                <a:spcPts val="225"/>
              </a:spcAft>
              <a:buSzPct val="100000"/>
              <a:buChar char="•"/>
            </a:pPr>
            <a:r>
              <a:rPr lang="en-US" sz="1264" b="1" dirty="0">
                <a:solidFill>
                  <a:srgbClr val="E8E4DF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Conferência Cruzada:</a:t>
            </a:r>
            <a:pPr algn="l" indent="0" marL="0">
              <a:lnSpc>
                <a:spcPts val="2009"/>
              </a:lnSpc>
              <a:spcBef>
                <a:spcPts val="225"/>
              </a:spcBef>
              <a:spcAft>
                <a:spcPts val="225"/>
              </a:spcAft>
              <a:buNone/>
            </a:pPr>
            <a:r>
              <a:rPr lang="en-US" sz="1264" dirty="0">
                <a:solidFill>
                  <a:srgbClr val="E8E4DF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 Compare cálculos de dois sistemas ou pessoas.</a:t>
            </a:r>
            <a:endParaRPr lang="en-US" sz="1544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f9dec9d8-d398-46d9-923a-1928cee2c1dd" descr="/home/forge/chalkie-production-workers-1/releases/77481629/backend/storage/app/render-specs/3c0c6458-ad69-4755-a770-457f81065846/img_74db676abbf9321227487417a15623c8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49490" y="-91440"/>
            <a:ext cx="1828800" cy="1828800"/>
          </a:xfrm>
          <a:prstGeom prst="roundRect">
            <a:avLst>
              <a:gd name="adj" fmla="val 7500"/>
            </a:avLst>
          </a:prstGeom>
        </p:spPr>
      </p:pic>
      <p:sp>
        <p:nvSpPr>
          <p:cNvPr id="3" name="b14ee5f8-8b37-4297-bada-05bfc91d268f"/>
          <p:cNvSpPr/>
          <p:nvPr/>
        </p:nvSpPr>
        <p:spPr>
          <a:xfrm>
            <a:off x="285750" y="171450"/>
            <a:ext cx="8572500" cy="603504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t"/>
          <a:lstStyle/>
          <a:p>
            <a:pPr algn="l" indent="0" marL="0">
              <a:lnSpc>
                <a:spcPts val="3571"/>
              </a:lnSpc>
              <a:spcBef>
                <a:spcPts val="450"/>
              </a:spcBef>
              <a:spcAft>
                <a:spcPts val="450"/>
              </a:spcAft>
              <a:buNone/>
            </a:pPr>
            <a:r>
              <a:rPr lang="en-US" sz="2246" b="1" dirty="0">
                <a:solidFill>
                  <a:srgbClr val="E8C85A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Teste Rápido de Gestão</a:t>
            </a:r>
            <a:endParaRPr lang="en-US" sz="2246" dirty="0"/>
          </a:p>
        </p:txBody>
      </p:sp>
      <p:sp>
        <p:nvSpPr>
          <p:cNvPr id="4" name="f43e9002-b2c8-4c26-a1e5-81616ca40f28"/>
          <p:cNvSpPr/>
          <p:nvPr/>
        </p:nvSpPr>
        <p:spPr>
          <a:xfrm>
            <a:off x="285750" y="1143000"/>
            <a:ext cx="8572500" cy="955548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t"/>
          <a:lstStyle/>
          <a:p>
            <a:pPr algn="l" indent="0" marL="0">
              <a:lnSpc>
                <a:spcPts val="2009"/>
              </a:lnSpc>
              <a:spcBef>
                <a:spcPts val="360"/>
              </a:spcBef>
              <a:spcAft>
                <a:spcPts val="360"/>
              </a:spcAft>
              <a:buNone/>
            </a:pPr>
            <a:r>
              <a:rPr lang="en-US" sz="1264" b="1" dirty="0">
                <a:solidFill>
                  <a:srgbClr val="7EB5A6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Pergunta 1:</a:t>
            </a:r>
            <a:endParaRPr lang="en-US" sz="1264" dirty="0"/>
          </a:p>
          <a:p>
            <a:pPr algn="l" indent="0" marL="0">
              <a:lnSpc>
                <a:spcPts val="2009"/>
              </a:lnSpc>
              <a:spcBef>
                <a:spcPts val="360"/>
              </a:spcBef>
              <a:spcAft>
                <a:spcPts val="360"/>
              </a:spcAft>
              <a:buNone/>
            </a:pPr>
            <a:r>
              <a:rPr lang="en-US" sz="1264" dirty="0">
                <a:solidFill>
                  <a:srgbClr val="E8E4DF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Se 5 caminhões transportam 120 toneladas de grãos, quantas toneladas transportarão 8 caminhões idênticos?</a:t>
            </a:r>
            <a:endParaRPr lang="en-US" sz="1264" dirty="0"/>
          </a:p>
        </p:txBody>
      </p:sp>
      <p:sp>
        <p:nvSpPr>
          <p:cNvPr id="5" name="b0eb55ef-2fb0-4a4d-8c59-7254dd7bd6eb"/>
          <p:cNvSpPr/>
          <p:nvPr/>
        </p:nvSpPr>
        <p:spPr>
          <a:xfrm>
            <a:off x="285750" y="2286000"/>
            <a:ext cx="8572500" cy="667512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t"/>
          <a:lstStyle/>
          <a:p>
            <a:pPr algn="l" indent="0" marL="0">
              <a:lnSpc>
                <a:spcPts val="2009"/>
              </a:lnSpc>
              <a:spcBef>
                <a:spcPts val="360"/>
              </a:spcBef>
              <a:spcAft>
                <a:spcPts val="360"/>
              </a:spcAft>
              <a:buNone/>
            </a:pPr>
            <a:r>
              <a:rPr lang="en-US" sz="1264" b="1" dirty="0">
                <a:solidFill>
                  <a:srgbClr val="7EB5A6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Pergunta 2:</a:t>
            </a:r>
            <a:endParaRPr lang="en-US" sz="1264" dirty="0"/>
          </a:p>
          <a:p>
            <a:pPr algn="l" indent="0" marL="0">
              <a:lnSpc>
                <a:spcPts val="2009"/>
              </a:lnSpc>
              <a:spcBef>
                <a:spcPts val="360"/>
              </a:spcBef>
              <a:spcAft>
                <a:spcPts val="360"/>
              </a:spcAft>
              <a:buNone/>
            </a:pPr>
            <a:r>
              <a:rPr lang="en-US" sz="1264" dirty="0">
                <a:solidFill>
                  <a:srgbClr val="E8E4DF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Um estoque de 600 unidades atende a demanda diária de 30 unidades por quantos dias?</a:t>
            </a:r>
            <a:endParaRPr lang="en-US" sz="1264" dirty="0"/>
          </a:p>
        </p:txBody>
      </p:sp>
      <p:sp>
        <p:nvSpPr>
          <p:cNvPr id="6" name="c0a1bfd4-cce8-43d1-9d00-b8c100387d63"/>
          <p:cNvSpPr/>
          <p:nvPr/>
        </p:nvSpPr>
        <p:spPr>
          <a:xfrm>
            <a:off x="285750" y="3429000"/>
            <a:ext cx="8572500" cy="955548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t"/>
          <a:lstStyle/>
          <a:p>
            <a:pPr algn="l" indent="0" marL="0">
              <a:lnSpc>
                <a:spcPts val="2009"/>
              </a:lnSpc>
              <a:spcBef>
                <a:spcPts val="360"/>
              </a:spcBef>
              <a:spcAft>
                <a:spcPts val="360"/>
              </a:spcAft>
              <a:buNone/>
            </a:pPr>
            <a:r>
              <a:rPr lang="en-US" sz="1264" b="1" dirty="0">
                <a:solidFill>
                  <a:srgbClr val="7EB5A6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Pergunta 3:</a:t>
            </a:r>
            <a:endParaRPr lang="en-US" sz="1264" dirty="0"/>
          </a:p>
          <a:p>
            <a:pPr algn="l" indent="0" marL="0">
              <a:lnSpc>
                <a:spcPts val="2009"/>
              </a:lnSpc>
              <a:spcBef>
                <a:spcPts val="360"/>
              </a:spcBef>
              <a:spcAft>
                <a:spcPts val="360"/>
              </a:spcAft>
              <a:buNone/>
            </a:pPr>
            <a:r>
              <a:rPr lang="en-US" sz="1264" dirty="0">
                <a:solidFill>
                  <a:srgbClr val="E8E4DF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Qual operação matemática básica é usada para encontrar o custo médio unitário a partir do custo total?</a:t>
            </a:r>
            <a:endParaRPr lang="en-US" sz="1264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14ee5f8-8b37-4297-bada-05bfc91d268f"/>
          <p:cNvSpPr/>
          <p:nvPr/>
        </p:nvSpPr>
        <p:spPr>
          <a:xfrm>
            <a:off x="285750" y="171450"/>
            <a:ext cx="8572500" cy="603504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t"/>
          <a:lstStyle/>
          <a:p>
            <a:pPr algn="l" indent="0" marL="0">
              <a:lnSpc>
                <a:spcPts val="3571"/>
              </a:lnSpc>
              <a:spcBef>
                <a:spcPts val="450"/>
              </a:spcBef>
              <a:spcAft>
                <a:spcPts val="450"/>
              </a:spcAft>
              <a:buNone/>
            </a:pPr>
            <a:r>
              <a:rPr lang="en-US" sz="2246" b="1" dirty="0">
                <a:solidFill>
                  <a:srgbClr val="E8C85A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Teste Rápido de Gestão</a:t>
            </a:r>
            <a:endParaRPr lang="en-US" sz="2246" dirty="0"/>
          </a:p>
        </p:txBody>
      </p:sp>
      <p:sp>
        <p:nvSpPr>
          <p:cNvPr id="3" name="0e24b38f-6ab2-4cf1-969b-ca5154e4296d"/>
          <p:cNvSpPr/>
          <p:nvPr/>
        </p:nvSpPr>
        <p:spPr>
          <a:xfrm>
            <a:off x="285750" y="1143000"/>
            <a:ext cx="8572500" cy="667512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t"/>
          <a:lstStyle/>
          <a:p>
            <a:pPr algn="l" indent="0" marL="0">
              <a:lnSpc>
                <a:spcPts val="2009"/>
              </a:lnSpc>
              <a:spcBef>
                <a:spcPts val="360"/>
              </a:spcBef>
              <a:spcAft>
                <a:spcPts val="360"/>
              </a:spcAft>
              <a:buNone/>
            </a:pPr>
            <a:r>
              <a:rPr lang="en-US" sz="1264" b="1" dirty="0">
                <a:solidFill>
                  <a:srgbClr val="7EB5A6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Resposta 1:</a:t>
            </a:r>
            <a:endParaRPr lang="en-US" sz="1264" dirty="0"/>
          </a:p>
          <a:p>
            <a:pPr algn="l" indent="0" marL="0">
              <a:lnSpc>
                <a:spcPts val="2009"/>
              </a:lnSpc>
              <a:spcBef>
                <a:spcPts val="360"/>
              </a:spcBef>
              <a:spcAft>
                <a:spcPts val="360"/>
              </a:spcAft>
              <a:buNone/>
            </a:pPr>
            <a:r>
              <a:rPr lang="en-US" sz="1264" dirty="0">
                <a:solidFill>
                  <a:srgbClr val="E8E4DF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192 toneladas (120 ÷ 5 = 24 t por caminhão; 24 × 8 = 192 t).</a:t>
            </a:r>
            <a:endParaRPr lang="en-US" sz="1264" dirty="0"/>
          </a:p>
        </p:txBody>
      </p:sp>
      <p:sp>
        <p:nvSpPr>
          <p:cNvPr id="4" name="2b1d6e4b-8ecb-40a7-81ce-61e2c892251f"/>
          <p:cNvSpPr/>
          <p:nvPr/>
        </p:nvSpPr>
        <p:spPr>
          <a:xfrm>
            <a:off x="285750" y="2286000"/>
            <a:ext cx="8572500" cy="667512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t"/>
          <a:lstStyle/>
          <a:p>
            <a:pPr algn="l" indent="0" marL="0">
              <a:lnSpc>
                <a:spcPts val="2009"/>
              </a:lnSpc>
              <a:spcBef>
                <a:spcPts val="360"/>
              </a:spcBef>
              <a:spcAft>
                <a:spcPts val="360"/>
              </a:spcAft>
              <a:buNone/>
            </a:pPr>
            <a:r>
              <a:rPr lang="en-US" sz="1264" b="1" dirty="0">
                <a:solidFill>
                  <a:srgbClr val="7EB5A6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Resposta 2:</a:t>
            </a:r>
            <a:endParaRPr lang="en-US" sz="1264" dirty="0"/>
          </a:p>
          <a:p>
            <a:pPr algn="l" indent="0" marL="0">
              <a:lnSpc>
                <a:spcPts val="2009"/>
              </a:lnSpc>
              <a:spcBef>
                <a:spcPts val="360"/>
              </a:spcBef>
              <a:spcAft>
                <a:spcPts val="360"/>
              </a:spcAft>
              <a:buNone/>
            </a:pPr>
            <a:r>
              <a:rPr lang="en-US" sz="1264" dirty="0">
                <a:solidFill>
                  <a:srgbClr val="E8E4DF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20 dias (600 ÷ 30 = 20 dias).</a:t>
            </a:r>
            <a:endParaRPr lang="en-US" sz="1264" dirty="0"/>
          </a:p>
        </p:txBody>
      </p:sp>
      <p:sp>
        <p:nvSpPr>
          <p:cNvPr id="5" name="2ac85676-a1eb-48bb-9ba8-98cc60331a2a"/>
          <p:cNvSpPr/>
          <p:nvPr/>
        </p:nvSpPr>
        <p:spPr>
          <a:xfrm>
            <a:off x="285750" y="3429000"/>
            <a:ext cx="8572500" cy="667512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t"/>
          <a:lstStyle/>
          <a:p>
            <a:pPr algn="l" indent="0" marL="0">
              <a:lnSpc>
                <a:spcPts val="2009"/>
              </a:lnSpc>
              <a:spcBef>
                <a:spcPts val="360"/>
              </a:spcBef>
              <a:spcAft>
                <a:spcPts val="360"/>
              </a:spcAft>
              <a:buNone/>
            </a:pPr>
            <a:r>
              <a:rPr lang="en-US" sz="1264" b="1" dirty="0">
                <a:solidFill>
                  <a:srgbClr val="7EB5A6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Resposta 3:</a:t>
            </a:r>
            <a:endParaRPr lang="en-US" sz="1264" dirty="0"/>
          </a:p>
          <a:p>
            <a:pPr algn="l" indent="0" marL="0">
              <a:lnSpc>
                <a:spcPts val="2009"/>
              </a:lnSpc>
              <a:spcBef>
                <a:spcPts val="360"/>
              </a:spcBef>
              <a:spcAft>
                <a:spcPts val="360"/>
              </a:spcAft>
              <a:buNone/>
            </a:pPr>
            <a:r>
              <a:rPr lang="en-US" sz="1264" dirty="0">
                <a:solidFill>
                  <a:srgbClr val="E8E4DF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Divisão (Custo Total dividido pela Quantidade Produzida).</a:t>
            </a:r>
            <a:endParaRPr lang="en-US" sz="1264" dirty="0"/>
          </a:p>
        </p:txBody>
      </p:sp>
      <p:sp>
        <p:nvSpPr>
          <p:cNvPr id="6" name="cbd3a4c5-4479-4c78-9f9a-4c23a765f798"/>
          <p:cNvSpPr/>
          <p:nvPr/>
        </p:nvSpPr>
        <p:spPr>
          <a:xfrm>
            <a:off x="8366760" y="342900"/>
            <a:ext cx="548640" cy="548640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ctr"/>
          <a:lstStyle/>
          <a:p>
            <a:pPr algn="r" indent="0" marL="0">
              <a:lnSpc>
                <a:spcPts val="4464"/>
              </a:lnSpc>
              <a:spcBef>
                <a:spcPts val="450"/>
              </a:spcBef>
              <a:spcAft>
                <a:spcPts val="450"/>
              </a:spcAft>
              <a:buNone/>
            </a:pPr>
            <a:r>
              <a:rPr lang="en-US" sz="2808" dirty="0">
                <a:solidFill>
                  <a:srgbClr val="E8E4DF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✅</a:t>
            </a:r>
            <a:endParaRPr lang="en-US" sz="2808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bfebae02-f2da-499f-b90b-5bffa48085d0" descr="/home/forge/chalkie-production-workers-1/releases/77481629/backend/storage/app/render-specs/3c0c6458-ad69-4755-a770-457f81065846/img_0e4cf1afc9145ec86aff76c29b2ea338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800100"/>
            <a:ext cx="3829050" cy="4057650"/>
          </a:xfrm>
          <a:prstGeom prst="roundRect">
            <a:avLst>
              <a:gd name="adj" fmla="val 3582"/>
            </a:avLst>
          </a:prstGeom>
        </p:spPr>
      </p:pic>
      <p:sp>
        <p:nvSpPr>
          <p:cNvPr id="3" name="1535c6ab-e0e2-417a-847c-735e1d9d1bba"/>
          <p:cNvSpPr/>
          <p:nvPr/>
        </p:nvSpPr>
        <p:spPr>
          <a:xfrm>
            <a:off x="285750" y="171450"/>
            <a:ext cx="8572500" cy="603504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t"/>
          <a:lstStyle/>
          <a:p>
            <a:pPr algn="l" indent="0" marL="0">
              <a:lnSpc>
                <a:spcPts val="3571"/>
              </a:lnSpc>
              <a:spcBef>
                <a:spcPts val="450"/>
              </a:spcBef>
              <a:spcAft>
                <a:spcPts val="450"/>
              </a:spcAft>
              <a:buNone/>
            </a:pPr>
            <a:r>
              <a:rPr lang="en-US" sz="2246" b="1" dirty="0">
                <a:solidFill>
                  <a:srgbClr val="E8C85A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Estudo de Caso: O Fornecedor A ou B?</a:t>
            </a:r>
            <a:endParaRPr lang="en-US" sz="2246" dirty="0"/>
          </a:p>
        </p:txBody>
      </p:sp>
      <p:sp>
        <p:nvSpPr>
          <p:cNvPr id="4" name="25841977-fe79-4f78-872f-6543662c2435"/>
          <p:cNvSpPr/>
          <p:nvPr/>
        </p:nvSpPr>
        <p:spPr>
          <a:xfrm>
            <a:off x="285750" y="800100"/>
            <a:ext cx="4572000" cy="2555748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t"/>
          <a:lstStyle/>
          <a:p>
            <a:pPr algn="l" indent="0" marL="0">
              <a:lnSpc>
                <a:spcPts val="2455"/>
              </a:lnSpc>
              <a:spcBef>
                <a:spcPts val="360"/>
              </a:spcBef>
              <a:spcAft>
                <a:spcPts val="360"/>
              </a:spcAft>
              <a:buNone/>
            </a:pPr>
            <a:r>
              <a:rPr lang="en-US" sz="1544" b="1" dirty="0">
                <a:solidFill>
                  <a:srgbClr val="E8E4DF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Decisão de Compra Corporativa</a:t>
            </a:r>
            <a:endParaRPr lang="en-US" sz="1544" dirty="0"/>
          </a:p>
          <a:p>
            <a:pPr algn="l" indent="0" marL="0">
              <a:lnSpc>
                <a:spcPts val="2009"/>
              </a:lnSpc>
              <a:spcBef>
                <a:spcPts val="360"/>
              </a:spcBef>
              <a:spcAft>
                <a:spcPts val="360"/>
              </a:spcAft>
              <a:buNone/>
            </a:pPr>
            <a:r>
              <a:rPr lang="en-US" sz="1264" dirty="0">
                <a:solidFill>
                  <a:srgbClr val="E8E4DF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Restaurante consome 1.200 kg/mês:</a:t>
            </a:r>
            <a:endParaRPr lang="en-US" sz="1544" dirty="0"/>
          </a:p>
          <a:p>
            <a:pPr algn="l" marL="228600" indent="-68580">
              <a:lnSpc>
                <a:spcPts val="2009"/>
              </a:lnSpc>
              <a:spcBef>
                <a:spcPts val="225"/>
              </a:spcBef>
              <a:spcAft>
                <a:spcPts val="225"/>
              </a:spcAft>
              <a:buSzPct val="100000"/>
              <a:buChar char="•"/>
            </a:pPr>
            <a:r>
              <a:rPr lang="en-US" sz="1264" b="1" dirty="0">
                <a:solidFill>
                  <a:srgbClr val="E8E4DF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Fornecedor A:</a:t>
            </a:r>
            <a:pPr algn="l" indent="0" marL="0">
              <a:lnSpc>
                <a:spcPts val="2009"/>
              </a:lnSpc>
              <a:spcBef>
                <a:spcPts val="225"/>
              </a:spcBef>
              <a:spcAft>
                <a:spcPts val="225"/>
              </a:spcAft>
              <a:buNone/>
            </a:pPr>
            <a:r>
              <a:rPr lang="en-US" sz="1264" dirty="0">
                <a:solidFill>
                  <a:srgbClr val="E8E4DF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 5 kg por R$ 26,00.</a:t>
            </a:r>
            <a:endParaRPr lang="en-US" sz="1544" dirty="0"/>
          </a:p>
          <a:p>
            <a:pPr algn="l" marL="228600" indent="-68580">
              <a:lnSpc>
                <a:spcPts val="2009"/>
              </a:lnSpc>
              <a:spcBef>
                <a:spcPts val="225"/>
              </a:spcBef>
              <a:spcAft>
                <a:spcPts val="225"/>
              </a:spcAft>
              <a:buSzPct val="100000"/>
              <a:buChar char="•"/>
            </a:pPr>
            <a:r>
              <a:rPr lang="en-US" sz="1264" b="1" dirty="0">
                <a:solidFill>
                  <a:srgbClr val="E8E4DF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Fornecedor B:</a:t>
            </a:r>
            <a:pPr algn="l" indent="0" marL="0">
              <a:lnSpc>
                <a:spcPts val="2009"/>
              </a:lnSpc>
              <a:spcBef>
                <a:spcPts val="225"/>
              </a:spcBef>
              <a:spcAft>
                <a:spcPts val="225"/>
              </a:spcAft>
              <a:buNone/>
            </a:pPr>
            <a:r>
              <a:rPr lang="en-US" sz="1264" dirty="0">
                <a:solidFill>
                  <a:srgbClr val="E8E4DF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 30 kg por R$ 150,00.</a:t>
            </a:r>
            <a:endParaRPr lang="en-US" sz="1544" dirty="0"/>
          </a:p>
          <a:p>
            <a:pPr algn="l" indent="0" marL="0">
              <a:lnSpc>
                <a:spcPts val="2009"/>
              </a:lnSpc>
              <a:spcBef>
                <a:spcPts val="360"/>
              </a:spcBef>
              <a:spcAft>
                <a:spcPts val="360"/>
              </a:spcAft>
              <a:buNone/>
            </a:pPr>
            <a:r>
              <a:rPr lang="en-US" sz="1264" dirty="0">
                <a:solidFill>
                  <a:srgbClr val="E8E4DF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Preço por quilo:</a:t>
            </a:r>
            <a:endParaRPr lang="en-US" sz="1544" dirty="0"/>
          </a:p>
          <a:p>
            <a:pPr algn="l" marL="228600" indent="-68580">
              <a:lnSpc>
                <a:spcPts val="2009"/>
              </a:lnSpc>
              <a:spcBef>
                <a:spcPts val="225"/>
              </a:spcBef>
              <a:spcAft>
                <a:spcPts val="225"/>
              </a:spcAft>
              <a:buSzPct val="100000"/>
              <a:buChar char="•"/>
            </a:pPr>
            <a:r>
              <a:rPr lang="en-US" sz="1264" dirty="0">
                <a:solidFill>
                  <a:srgbClr val="E8E4DF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Fornecedor A: R$ 5,20/kg.</a:t>
            </a:r>
            <a:endParaRPr lang="en-US" sz="1544" dirty="0"/>
          </a:p>
          <a:p>
            <a:pPr algn="l" marL="228600" indent="-68580">
              <a:lnSpc>
                <a:spcPts val="2009"/>
              </a:lnSpc>
              <a:spcBef>
                <a:spcPts val="225"/>
              </a:spcBef>
              <a:spcAft>
                <a:spcPts val="225"/>
              </a:spcAft>
              <a:buSzPct val="100000"/>
              <a:buChar char="•"/>
            </a:pPr>
            <a:r>
              <a:rPr lang="en-US" sz="1264" dirty="0">
                <a:solidFill>
                  <a:srgbClr val="E8E4DF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Fornecedor B: R$ 5,00/kg.</a:t>
            </a:r>
            <a:endParaRPr lang="en-US" sz="1544" dirty="0"/>
          </a:p>
          <a:p>
            <a:pPr algn="l" indent="0" marL="0">
              <a:lnSpc>
                <a:spcPts val="2009"/>
              </a:lnSpc>
              <a:spcBef>
                <a:spcPts val="360"/>
              </a:spcBef>
              <a:spcAft>
                <a:spcPts val="360"/>
              </a:spcAft>
              <a:buNone/>
            </a:pPr>
            <a:r>
              <a:rPr lang="en-US" sz="1264" dirty="0">
                <a:solidFill>
                  <a:srgbClr val="E8E4DF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Economia: 1.200 kg × R$ 0,20 = </a:t>
            </a:r>
            <a:pPr algn="l" indent="0" marL="0">
              <a:lnSpc>
                <a:spcPts val="2009"/>
              </a:lnSpc>
              <a:spcBef>
                <a:spcPts val="360"/>
              </a:spcBef>
              <a:spcAft>
                <a:spcPts val="360"/>
              </a:spcAft>
              <a:buNone/>
            </a:pPr>
            <a:r>
              <a:rPr lang="en-US" sz="1264" b="1" dirty="0">
                <a:solidFill>
                  <a:srgbClr val="E8E4DF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R$ 240,00/mês</a:t>
            </a:r>
            <a:pPr algn="l" indent="0" marL="0">
              <a:lnSpc>
                <a:spcPts val="2009"/>
              </a:lnSpc>
              <a:spcBef>
                <a:spcPts val="360"/>
              </a:spcBef>
              <a:spcAft>
                <a:spcPts val="360"/>
              </a:spcAft>
              <a:buNone/>
            </a:pPr>
            <a:r>
              <a:rPr lang="en-US" sz="1264" dirty="0">
                <a:solidFill>
                  <a:srgbClr val="E8E4DF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.</a:t>
            </a:r>
            <a:endParaRPr lang="en-US" sz="1544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243f87a6-0c6c-447d-bedb-246f8a8ae8d7" descr="/home/forge/chalkie-production-workers-1/releases/77481629/backend/storage/app/render-specs/3c0c6458-ad69-4755-a770-457f81065846/img_275df1f4a7939ad193315e7b04ce9132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5750" y="800100"/>
            <a:ext cx="3829050" cy="4057650"/>
          </a:xfrm>
          <a:prstGeom prst="roundRect">
            <a:avLst>
              <a:gd name="adj" fmla="val 3582"/>
            </a:avLst>
          </a:prstGeom>
        </p:spPr>
      </p:pic>
      <p:sp>
        <p:nvSpPr>
          <p:cNvPr id="3" name="361b8447-c115-4573-9435-5d67c42f6be4"/>
          <p:cNvSpPr/>
          <p:nvPr/>
        </p:nvSpPr>
        <p:spPr>
          <a:xfrm>
            <a:off x="285750" y="171450"/>
            <a:ext cx="8572500" cy="603504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t"/>
          <a:lstStyle/>
          <a:p>
            <a:pPr algn="l" indent="0" marL="0">
              <a:lnSpc>
                <a:spcPts val="3571"/>
              </a:lnSpc>
              <a:spcBef>
                <a:spcPts val="450"/>
              </a:spcBef>
              <a:spcAft>
                <a:spcPts val="450"/>
              </a:spcAft>
              <a:buNone/>
            </a:pPr>
            <a:r>
              <a:rPr lang="en-US" sz="2246" b="1" dirty="0">
                <a:solidFill>
                  <a:srgbClr val="E8C85A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Impacto da Precisão no Lucro</a:t>
            </a:r>
            <a:endParaRPr lang="en-US" sz="2246" dirty="0"/>
          </a:p>
        </p:txBody>
      </p:sp>
      <p:sp>
        <p:nvSpPr>
          <p:cNvPr id="4" name="3581a3d3-3790-41b6-bc94-12529fcd62fb"/>
          <p:cNvSpPr/>
          <p:nvPr/>
        </p:nvSpPr>
        <p:spPr>
          <a:xfrm>
            <a:off x="4286250" y="868680"/>
            <a:ext cx="2103120" cy="262890"/>
          </a:xfrm>
          <a:prstGeom prst="roundRect">
            <a:avLst>
              <a:gd name="adj" fmla="val 17391"/>
            </a:avLst>
          </a:prstGeom>
          <a:solidFill>
            <a:srgbClr val="7EB5A6"/>
          </a:solidFill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42" b="1" dirty="0">
                <a:solidFill>
                  <a:srgbClr val="FFFFFF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CONCEITOS GERAIS</a:t>
            </a:r>
            <a:endParaRPr lang="en-US" sz="842" dirty="0"/>
          </a:p>
        </p:txBody>
      </p:sp>
      <p:sp>
        <p:nvSpPr>
          <p:cNvPr id="5" name="5b8d450e-4d83-4569-93f6-8e22f9f495b0"/>
          <p:cNvSpPr/>
          <p:nvPr/>
        </p:nvSpPr>
        <p:spPr>
          <a:xfrm>
            <a:off x="4286250" y="1177290"/>
            <a:ext cx="4572000" cy="1531620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t"/>
          <a:lstStyle/>
          <a:p>
            <a:pPr algn="l" indent="0" marL="0">
              <a:lnSpc>
                <a:spcPts val="2009"/>
              </a:lnSpc>
              <a:spcBef>
                <a:spcPts val="360"/>
              </a:spcBef>
              <a:spcAft>
                <a:spcPts val="360"/>
              </a:spcAft>
              <a:buNone/>
            </a:pPr>
            <a:r>
              <a:rPr lang="en-US" sz="1264" dirty="0">
                <a:solidFill>
                  <a:srgbClr val="E8E4DF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Na gestão de alto desempenho, centavos importam. Em escala industrial de 500.000 unidades ao ano, uma economia proporcional de R$ 0,08 por unidade representa R$ 40.000,00 a mais no lucro líquido da organização.</a:t>
            </a:r>
            <a:endParaRPr lang="en-US" sz="1264" dirty="0"/>
          </a:p>
        </p:txBody>
      </p:sp>
      <p:sp>
        <p:nvSpPr>
          <p:cNvPr id="6" name="5a71d839-5b08-4629-a13c-9adf3beddefa_card"/>
          <p:cNvSpPr/>
          <p:nvPr/>
        </p:nvSpPr>
        <p:spPr>
          <a:xfrm>
            <a:off x="4286250" y="3006090"/>
            <a:ext cx="4572000" cy="1891030"/>
          </a:xfrm>
          <a:prstGeom prst="roundRect">
            <a:avLst>
              <a:gd name="adj" fmla="val 4835"/>
            </a:avLst>
          </a:prstGeom>
          <a:solidFill>
            <a:srgbClr val="AFAAEC">
              <a:alpha val="14902"/>
            </a:srgbClr>
          </a:solidFill>
          <a:ln w="11430">
            <a:solidFill>
              <a:srgbClr val="08044D">
                <a:alpha val="20000"/>
              </a:srgbClr>
            </a:solidFill>
            <a:prstDash val="solid"/>
          </a:ln>
        </p:spPr>
      </p:sp>
      <p:sp>
        <p:nvSpPr>
          <p:cNvPr id="7" name="5a71d839-5b08-4629-a13c-9adf3beddefa_emoji"/>
          <p:cNvSpPr/>
          <p:nvPr/>
        </p:nvSpPr>
        <p:spPr>
          <a:xfrm>
            <a:off x="4400550" y="3154680"/>
            <a:ext cx="365760" cy="4114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2160" dirty="0">
                <a:solidFill>
                  <a:srgbClr val="000000"/>
                </a:solidFill>
              </a:rPr>
              <a:t>🤯</a:t>
            </a:r>
            <a:endParaRPr lang="en-US" sz="2160" dirty="0"/>
          </a:p>
        </p:txBody>
      </p:sp>
      <p:sp>
        <p:nvSpPr>
          <p:cNvPr id="8" name="5a71d839-5b08-4629-a13c-9adf3beddefa_text"/>
          <p:cNvSpPr/>
          <p:nvPr/>
        </p:nvSpPr>
        <p:spPr>
          <a:xfrm>
            <a:off x="4766310" y="3120390"/>
            <a:ext cx="3977640" cy="16624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86"/>
              </a:lnSpc>
              <a:spcBef>
                <a:spcPts val="270"/>
              </a:spcBef>
              <a:spcAft>
                <a:spcPts val="270"/>
              </a:spcAft>
              <a:buNone/>
            </a:pPr>
            <a:r>
              <a:rPr lang="en-US" sz="1123" b="1" dirty="0">
                <a:solidFill>
                  <a:srgbClr val="CECBF6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Curiosidade</a:t>
            </a:r>
            <a:endParaRPr lang="en-US" sz="1123" dirty="0"/>
          </a:p>
          <a:p>
            <a:pPr algn="l" indent="0" marL="0">
              <a:lnSpc>
                <a:spcPts val="2009"/>
              </a:lnSpc>
              <a:spcBef>
                <a:spcPts val="360"/>
              </a:spcBef>
              <a:spcAft>
                <a:spcPts val="360"/>
              </a:spcAft>
              <a:buNone/>
            </a:pPr>
            <a:r>
              <a:rPr lang="en-US" sz="1264" dirty="0">
                <a:solidFill>
                  <a:srgbClr val="CECBF6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Grandes companhias aéreas já economizaram centenas de milhares de dólares ao retirar apenas uma azeitona das saladas servidas a bordo!</a:t>
            </a:r>
            <a:endParaRPr lang="en-US" sz="1123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ab9b002c-f096-4ce5-a041-197a9a580136" descr="/home/forge/chalkie-production-workers-1/releases/77481629/backend/storage/app/render-specs/3c0c6458-ad69-4755-a770-457f81065846/img_88f2cf22d50efe57d124336ea25cb3a9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4330" y="651510"/>
            <a:ext cx="8332470" cy="4309110"/>
          </a:xfrm>
          <a:prstGeom prst="roundRect">
            <a:avLst>
              <a:gd name="adj" fmla="val 3183"/>
            </a:avLst>
          </a:prstGeom>
        </p:spPr>
      </p:pic>
      <p:pic>
        <p:nvPicPr>
          <p:cNvPr id="3" name="71b1ba76-4355-440f-ae21-0245f191e713" descr="/home/forge/chalkie-production-workers-1/releases/77481629/backend/storage/app/render-specs/3c0c6458-ad69-4755-a770-457f81065846/img_ccfc938cddb40acfd5ac8f0789733bd1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03020" y="1657350"/>
            <a:ext cx="2834640" cy="2194560"/>
          </a:xfrm>
          <a:prstGeom prst="roundRect">
            <a:avLst>
              <a:gd name="adj" fmla="val 6250"/>
            </a:avLst>
          </a:prstGeom>
        </p:spPr>
      </p:pic>
      <p:sp>
        <p:nvSpPr>
          <p:cNvPr id="4" name="39ff5809-84cd-4f62-8e5b-2826a6fe9ef4"/>
          <p:cNvSpPr/>
          <p:nvPr/>
        </p:nvSpPr>
        <p:spPr>
          <a:xfrm>
            <a:off x="285750" y="171450"/>
            <a:ext cx="8572500" cy="603504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t"/>
          <a:lstStyle/>
          <a:p>
            <a:pPr algn="l" indent="0" marL="0">
              <a:lnSpc>
                <a:spcPts val="3571"/>
              </a:lnSpc>
              <a:spcBef>
                <a:spcPts val="450"/>
              </a:spcBef>
              <a:spcAft>
                <a:spcPts val="450"/>
              </a:spcAft>
              <a:buNone/>
            </a:pPr>
            <a:r>
              <a:rPr lang="en-US" sz="2246" b="1" dirty="0">
                <a:solidFill>
                  <a:srgbClr val="E8C85A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Precisão Matemática e Eficiência</a:t>
            </a:r>
            <a:endParaRPr lang="en-US" sz="2246" dirty="0"/>
          </a:p>
        </p:txBody>
      </p:sp>
      <p:sp>
        <p:nvSpPr>
          <p:cNvPr id="5" name="204dfa24-43ae-4149-8a78-e36cbff92c60"/>
          <p:cNvSpPr/>
          <p:nvPr/>
        </p:nvSpPr>
        <p:spPr>
          <a:xfrm>
            <a:off x="4297680" y="1828800"/>
            <a:ext cx="3726180" cy="1988820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ctr"/>
          <a:lstStyle/>
          <a:p>
            <a:pPr algn="l" indent="0" marL="0">
              <a:lnSpc>
                <a:spcPts val="2009"/>
              </a:lnSpc>
              <a:spcBef>
                <a:spcPts val="360"/>
              </a:spcBef>
              <a:spcAft>
                <a:spcPts val="360"/>
              </a:spcAft>
              <a:buNone/>
            </a:pPr>
            <a:r>
              <a:rPr lang="en-US" sz="1264" dirty="0">
                <a:solidFill>
                  <a:srgbClr val="040F0F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Em sua opinião, um pequeno arredondamento de centavos em planilhas financeiras pode realmente colocar a saúde de uma grande empresa em risco? Como a precisão afeta a confiança dos clientes e acionistas?</a:t>
            </a:r>
            <a:endParaRPr lang="en-US" sz="1264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ab9b002c-f096-4ce5-a041-197a9a580136" descr="/home/forge/chalkie-production-workers-1/releases/77481629/backend/storage/app/render-specs/3c0c6458-ad69-4755-a770-457f81065846/img_88f2cf22d50efe57d124336ea25cb3a9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4330" y="651510"/>
            <a:ext cx="8332470" cy="4309110"/>
          </a:xfrm>
          <a:prstGeom prst="roundRect">
            <a:avLst>
              <a:gd name="adj" fmla="val 3183"/>
            </a:avLst>
          </a:prstGeom>
        </p:spPr>
      </p:pic>
      <p:sp>
        <p:nvSpPr>
          <p:cNvPr id="3" name="39ff5809-84cd-4f62-8e5b-2826a6fe9ef4"/>
          <p:cNvSpPr/>
          <p:nvPr/>
        </p:nvSpPr>
        <p:spPr>
          <a:xfrm>
            <a:off x="285750" y="171450"/>
            <a:ext cx="8572500" cy="603504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t"/>
          <a:lstStyle/>
          <a:p>
            <a:pPr algn="l" indent="0" marL="0">
              <a:lnSpc>
                <a:spcPts val="3571"/>
              </a:lnSpc>
              <a:spcBef>
                <a:spcPts val="450"/>
              </a:spcBef>
              <a:spcAft>
                <a:spcPts val="450"/>
              </a:spcAft>
              <a:buNone/>
            </a:pPr>
            <a:r>
              <a:rPr lang="en-US" sz="2246" b="1" dirty="0">
                <a:solidFill>
                  <a:srgbClr val="E8C85A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Precisão Matemática e Eficiência</a:t>
            </a:r>
            <a:endParaRPr lang="en-US" sz="2246" dirty="0"/>
          </a:p>
        </p:txBody>
      </p:sp>
      <p:sp>
        <p:nvSpPr>
          <p:cNvPr id="4" name="3c6d5be9-f6c5-4686-b37f-77b1e23d7225"/>
          <p:cNvSpPr/>
          <p:nvPr/>
        </p:nvSpPr>
        <p:spPr>
          <a:xfrm>
            <a:off x="982980" y="1657350"/>
            <a:ext cx="7040880" cy="1988820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ctr"/>
          <a:lstStyle/>
          <a:p>
            <a:pPr algn="ctr" indent="0" marL="0">
              <a:lnSpc>
                <a:spcPts val="2009"/>
              </a:lnSpc>
              <a:spcBef>
                <a:spcPts val="360"/>
              </a:spcBef>
              <a:spcAft>
                <a:spcPts val="360"/>
              </a:spcAft>
              <a:buNone/>
            </a:pPr>
            <a:r>
              <a:rPr lang="en-US" sz="1264" b="1" dirty="0">
                <a:solidFill>
                  <a:srgbClr val="040F0F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Você poderia ter dito...</a:t>
            </a:r>
            <a:endParaRPr lang="en-US" sz="1264" dirty="0"/>
          </a:p>
          <a:p>
            <a:pPr algn="ctr" indent="0" marL="0">
              <a:lnSpc>
                <a:spcPts val="2009"/>
              </a:lnSpc>
              <a:spcBef>
                <a:spcPts val="360"/>
              </a:spcBef>
              <a:spcAft>
                <a:spcPts val="360"/>
              </a:spcAft>
              <a:buNone/>
            </a:pPr>
            <a:r>
              <a:rPr lang="en-US" sz="1264" dirty="0">
                <a:solidFill>
                  <a:srgbClr val="040F0F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Arredondamentos sucessivos podem acumular distorções de milhares de reais.</a:t>
            </a:r>
            <a:endParaRPr lang="en-US" sz="1264" dirty="0"/>
          </a:p>
          <a:p>
            <a:pPr algn="ctr" indent="0" marL="0">
              <a:lnSpc>
                <a:spcPts val="2009"/>
              </a:lnSpc>
              <a:spcBef>
                <a:spcPts val="360"/>
              </a:spcBef>
              <a:spcAft>
                <a:spcPts val="360"/>
              </a:spcAft>
              <a:buNone/>
            </a:pPr>
            <a:r>
              <a:rPr lang="en-US" sz="1264" dirty="0">
                <a:solidFill>
                  <a:srgbClr val="040F0F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Erros fiscais geram autuações e multas pesadas de órgãos reguladores.</a:t>
            </a:r>
            <a:endParaRPr lang="en-US" sz="1264" dirty="0"/>
          </a:p>
          <a:p>
            <a:pPr algn="ctr" indent="0" marL="0">
              <a:lnSpc>
                <a:spcPts val="2009"/>
              </a:lnSpc>
              <a:spcBef>
                <a:spcPts val="360"/>
              </a:spcBef>
              <a:spcAft>
                <a:spcPts val="360"/>
              </a:spcAft>
              <a:buNone/>
            </a:pPr>
            <a:r>
              <a:rPr lang="en-US" sz="1264" dirty="0">
                <a:solidFill>
                  <a:srgbClr val="040F0F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A confiabilidade dos relatórios contábeis sustenta o investimento.</a:t>
            </a:r>
            <a:endParaRPr lang="en-US" sz="1264" dirty="0"/>
          </a:p>
        </p:txBody>
      </p:sp>
      <p:sp>
        <p:nvSpPr>
          <p:cNvPr id="5" name="ba425e00-ce1c-4214-aed2-18ec05bbdcea"/>
          <p:cNvSpPr/>
          <p:nvPr/>
        </p:nvSpPr>
        <p:spPr>
          <a:xfrm>
            <a:off x="8366760" y="342900"/>
            <a:ext cx="548640" cy="548640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ctr"/>
          <a:lstStyle/>
          <a:p>
            <a:pPr algn="r" indent="0" marL="0">
              <a:lnSpc>
                <a:spcPts val="4464"/>
              </a:lnSpc>
              <a:spcBef>
                <a:spcPts val="450"/>
              </a:spcBef>
              <a:spcAft>
                <a:spcPts val="450"/>
              </a:spcAft>
              <a:buNone/>
            </a:pPr>
            <a:r>
              <a:rPr lang="en-US" sz="2808" dirty="0">
                <a:solidFill>
                  <a:srgbClr val="E8E4DF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✅</a:t>
            </a:r>
            <a:endParaRPr lang="en-US" sz="2808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df5d6e04-9943-426d-baf4-a322fbb3b106" descr="/home/forge/chalkie-production-workers-1/releases/77481629/backend/storage/app/render-specs/3c0c6458-ad69-4755-a770-457f81065846/img_81ecb04842c259ca750f6952223e81b4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5750" y="1485900"/>
            <a:ext cx="2708910" cy="1714500"/>
          </a:xfrm>
          <a:prstGeom prst="roundRect">
            <a:avLst>
              <a:gd name="adj" fmla="val 8000"/>
            </a:avLst>
          </a:prstGeom>
        </p:spPr>
      </p:pic>
      <p:pic>
        <p:nvPicPr>
          <p:cNvPr id="3" name="3f800c55-e201-4b3d-9144-6c74e56ac4b0" descr="/home/forge/chalkie-production-workers-1/releases/77481629/backend/storage/app/render-specs/3c0c6458-ad69-4755-a770-457f81065846/img_69e6f5b16695a9f2c738d020f5882b2d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23260" y="914400"/>
            <a:ext cx="2708910" cy="1714500"/>
          </a:xfrm>
          <a:prstGeom prst="roundRect">
            <a:avLst>
              <a:gd name="adj" fmla="val 8000"/>
            </a:avLst>
          </a:prstGeom>
        </p:spPr>
      </p:pic>
      <p:pic>
        <p:nvPicPr>
          <p:cNvPr id="4" name="77fa18a1-374f-4ce1-ac2d-137def33c475" descr="/home/forge/chalkie-production-workers-1/releases/77481629/backend/storage/app/render-specs/3c0c6458-ad69-4755-a770-457f81065846/img_2aa49862a4580473d0167764a9defbba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49340" y="1485900"/>
            <a:ext cx="2708910" cy="1714500"/>
          </a:xfrm>
          <a:prstGeom prst="roundRect">
            <a:avLst>
              <a:gd name="adj" fmla="val 8000"/>
            </a:avLst>
          </a:prstGeom>
        </p:spPr>
      </p:pic>
      <p:sp>
        <p:nvSpPr>
          <p:cNvPr id="5" name="0d3e47cd-bb66-4d4d-8b6a-e50b4391ce47"/>
          <p:cNvSpPr/>
          <p:nvPr/>
        </p:nvSpPr>
        <p:spPr>
          <a:xfrm>
            <a:off x="285750" y="171450"/>
            <a:ext cx="8572500" cy="603504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t"/>
          <a:lstStyle/>
          <a:p>
            <a:pPr algn="l" indent="0" marL="0">
              <a:lnSpc>
                <a:spcPts val="3571"/>
              </a:lnSpc>
              <a:spcBef>
                <a:spcPts val="450"/>
              </a:spcBef>
              <a:spcAft>
                <a:spcPts val="450"/>
              </a:spcAft>
              <a:buNone/>
            </a:pPr>
            <a:r>
              <a:rPr lang="en-US" sz="2246" b="1" dirty="0">
                <a:solidFill>
                  <a:srgbClr val="E8C85A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Síntese dos Aprendizados</a:t>
            </a:r>
            <a:endParaRPr lang="en-US" sz="2246" dirty="0"/>
          </a:p>
        </p:txBody>
      </p:sp>
      <p:sp>
        <p:nvSpPr>
          <p:cNvPr id="6" name="5f24e374-243c-4dfa-96a8-4df8ffd13af5"/>
          <p:cNvSpPr/>
          <p:nvPr/>
        </p:nvSpPr>
        <p:spPr>
          <a:xfrm>
            <a:off x="285750" y="3314700"/>
            <a:ext cx="2708910" cy="1531620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t"/>
          <a:lstStyle/>
          <a:p>
            <a:pPr algn="ctr" indent="0" marL="0">
              <a:lnSpc>
                <a:spcPts val="2009"/>
              </a:lnSpc>
              <a:spcBef>
                <a:spcPts val="360"/>
              </a:spcBef>
              <a:spcAft>
                <a:spcPts val="360"/>
              </a:spcAft>
              <a:buNone/>
            </a:pPr>
            <a:r>
              <a:rPr lang="en-US" sz="1264" b="1" dirty="0">
                <a:solidFill>
                  <a:srgbClr val="E8E4DF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Conjuntos Numéricos</a:t>
            </a:r>
            <a:pPr algn="ctr" indent="0" marL="0">
              <a:lnSpc>
                <a:spcPts val="2009"/>
              </a:lnSpc>
              <a:spcBef>
                <a:spcPts val="360"/>
              </a:spcBef>
              <a:spcAft>
                <a:spcPts val="360"/>
              </a:spcAft>
              <a:buNone/>
            </a:pPr>
            <a:r>
              <a:rPr lang="en-US" sz="1264" dirty="0">
                <a:solidFill>
                  <a:srgbClr val="E8E4DF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: Usamos Naturais, Inteiros e Racionais conforme a natureza de cada variável de gestão.</a:t>
            </a:r>
            <a:endParaRPr lang="en-US" sz="1264" dirty="0"/>
          </a:p>
        </p:txBody>
      </p:sp>
      <p:sp>
        <p:nvSpPr>
          <p:cNvPr id="7" name="94a416a5-fb50-4dbe-92f8-c1e3dcf373bc"/>
          <p:cNvSpPr/>
          <p:nvPr/>
        </p:nvSpPr>
        <p:spPr>
          <a:xfrm>
            <a:off x="3223260" y="2743200"/>
            <a:ext cx="2708910" cy="1531620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t"/>
          <a:lstStyle/>
          <a:p>
            <a:pPr algn="ctr" indent="0" marL="0">
              <a:lnSpc>
                <a:spcPts val="2009"/>
              </a:lnSpc>
              <a:spcBef>
                <a:spcPts val="360"/>
              </a:spcBef>
              <a:spcAft>
                <a:spcPts val="360"/>
              </a:spcAft>
              <a:buNone/>
            </a:pPr>
            <a:r>
              <a:rPr lang="en-US" sz="1264" b="1" dirty="0">
                <a:solidFill>
                  <a:srgbClr val="E8E4DF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Razão e Proporção</a:t>
            </a:r>
            <a:pPr algn="ctr" indent="0" marL="0">
              <a:lnSpc>
                <a:spcPts val="2009"/>
              </a:lnSpc>
              <a:spcBef>
                <a:spcPts val="360"/>
              </a:spcBef>
              <a:spcAft>
                <a:spcPts val="360"/>
              </a:spcAft>
              <a:buNone/>
            </a:pPr>
            <a:r>
              <a:rPr lang="en-US" sz="1264" dirty="0">
                <a:solidFill>
                  <a:srgbClr val="E8E4DF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: Comparamos grandezas para medir produtividade, margens e custos unitários com precisão.</a:t>
            </a:r>
            <a:endParaRPr lang="en-US" sz="1264" dirty="0"/>
          </a:p>
        </p:txBody>
      </p:sp>
      <p:sp>
        <p:nvSpPr>
          <p:cNvPr id="8" name="5e891c95-4b85-4b6a-8929-e2eeee3e9c40"/>
          <p:cNvSpPr/>
          <p:nvPr/>
        </p:nvSpPr>
        <p:spPr>
          <a:xfrm>
            <a:off x="6149340" y="3314700"/>
            <a:ext cx="2708910" cy="1243584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t"/>
          <a:lstStyle/>
          <a:p>
            <a:pPr algn="ctr" indent="0" marL="0">
              <a:lnSpc>
                <a:spcPts val="2009"/>
              </a:lnSpc>
              <a:spcBef>
                <a:spcPts val="360"/>
              </a:spcBef>
              <a:spcAft>
                <a:spcPts val="360"/>
              </a:spcAft>
              <a:buNone/>
            </a:pPr>
            <a:r>
              <a:rPr lang="en-US" sz="1264" b="1" dirty="0">
                <a:solidFill>
                  <a:srgbClr val="E8E4DF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Regra de Três</a:t>
            </a:r>
            <a:pPr algn="ctr" indent="0" marL="0">
              <a:lnSpc>
                <a:spcPts val="2009"/>
              </a:lnSpc>
              <a:spcBef>
                <a:spcPts val="360"/>
              </a:spcBef>
              <a:spcAft>
                <a:spcPts val="360"/>
              </a:spcAft>
              <a:buNone/>
            </a:pPr>
            <a:r>
              <a:rPr lang="en-US" sz="1264" dirty="0">
                <a:solidFill>
                  <a:srgbClr val="E8E4DF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: Dimensionamos estoques, equipes e processos fabris simples ou compostos sem desperdícios.</a:t>
            </a:r>
            <a:endParaRPr lang="en-US" sz="1264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b01d21ce-dbd2-407b-8a24-7cccfd8fd27f" descr="/home/forge/chalkie-production-workers-1/releases/77481629/backend/storage/app/render-specs/3c0c6458-ad69-4755-a770-457f81065846/img_b8e2e30cbb6ba10a8acb00af0ff4be05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oundRect">
            <a:avLst>
              <a:gd name="adj" fmla="val 2667"/>
            </a:avLst>
          </a:prstGeom>
        </p:spPr>
      </p:pic>
      <p:pic>
        <p:nvPicPr>
          <p:cNvPr id="3" name="ccdcec27-fd2d-4821-9a96-057993338159" descr="/home/forge/chalkie-production-workers-1/releases/77481629/backend/storage/app/render-specs/3c0c6458-ad69-4755-a770-457f81065846/img_d2888b9b36f0909fa7e2726ecbb16d9e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0120" y="1908810"/>
            <a:ext cx="2697480" cy="2331720"/>
          </a:xfrm>
          <a:prstGeom prst="roundRect">
            <a:avLst>
              <a:gd name="adj" fmla="val 5882"/>
            </a:avLst>
          </a:prstGeom>
        </p:spPr>
      </p:pic>
      <p:sp>
        <p:nvSpPr>
          <p:cNvPr id="4" name="67e375e6-359a-4bc4-9a43-9ddab53a119b"/>
          <p:cNvSpPr/>
          <p:nvPr/>
        </p:nvSpPr>
        <p:spPr>
          <a:xfrm>
            <a:off x="285750" y="171450"/>
            <a:ext cx="8572500" cy="603504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t"/>
          <a:lstStyle/>
          <a:p>
            <a:pPr algn="l" indent="0" marL="0">
              <a:lnSpc>
                <a:spcPts val="3571"/>
              </a:lnSpc>
              <a:spcBef>
                <a:spcPts val="450"/>
              </a:spcBef>
              <a:spcAft>
                <a:spcPts val="450"/>
              </a:spcAft>
              <a:buNone/>
            </a:pPr>
            <a:r>
              <a:rPr lang="en-US" sz="2246" b="1" dirty="0">
                <a:solidFill>
                  <a:srgbClr val="E8C85A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Missão Prática: O Redimensionamento</a:t>
            </a:r>
            <a:endParaRPr lang="en-US" sz="2246" dirty="0"/>
          </a:p>
        </p:txBody>
      </p:sp>
      <p:sp>
        <p:nvSpPr>
          <p:cNvPr id="5" name="c10c9be2-e696-48b2-9f0b-99cb05495435"/>
          <p:cNvSpPr/>
          <p:nvPr/>
        </p:nvSpPr>
        <p:spPr>
          <a:xfrm>
            <a:off x="3806190" y="1440180"/>
            <a:ext cx="4194810" cy="3120390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ctr"/>
          <a:lstStyle/>
          <a:p>
            <a:pPr algn="l" marL="228600" indent="-68580">
              <a:lnSpc>
                <a:spcPts val="2009"/>
              </a:lnSpc>
              <a:spcBef>
                <a:spcPts val="225"/>
              </a:spcBef>
              <a:spcAft>
                <a:spcPts val="225"/>
              </a:spcAft>
              <a:buSzPct val="100000"/>
              <a:buFont typeface="+mj-lt"/>
              <a:buAutoNum type="arabicPeriod" startAt="1"/>
            </a:pPr>
            <a:r>
              <a:rPr lang="en-US" sz="1264" dirty="0">
                <a:solidFill>
                  <a:srgbClr val="E8E4DF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Equação: 720/1440 = (6/x) * (6/8)</a:t>
            </a:r>
            <a:endParaRPr lang="en-US" sz="1264" dirty="0"/>
          </a:p>
          <a:p>
            <a:pPr algn="l" indent="0" marL="0">
              <a:lnSpc>
                <a:spcPts val="2009"/>
              </a:lnSpc>
              <a:spcBef>
                <a:spcPts val="360"/>
              </a:spcBef>
              <a:spcAft>
                <a:spcPts val="360"/>
              </a:spcAft>
              <a:buNone/>
            </a:pPr>
            <a:r>
              <a:rPr lang="en-US" sz="1264" dirty="0">
                <a:solidFill>
                  <a:srgbClr val="040F0F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Grandezas: Encomendas (D), Operadores (I), Horas (I).</a:t>
            </a:r>
            <a:endParaRPr lang="en-US" sz="1264" dirty="0"/>
          </a:p>
          <a:p>
            <a:pPr algn="l" marL="228600" indent="-68580">
              <a:lnSpc>
                <a:spcPts val="2009"/>
              </a:lnSpc>
              <a:spcBef>
                <a:spcPts val="225"/>
              </a:spcBef>
              <a:spcAft>
                <a:spcPts val="225"/>
              </a:spcAft>
              <a:buSzPct val="100000"/>
              <a:buFont typeface="+mj-lt"/>
              <a:buAutoNum type="arabicPeriod" startAt="1"/>
            </a:pPr>
            <a:r>
              <a:rPr lang="en-US" sz="1264" dirty="0">
                <a:solidFill>
                  <a:srgbClr val="E8E4DF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Cálculo: 0,5 = 36/8x -&gt; 4x = 36 -&gt; x = 9 operadores.</a:t>
            </a:r>
            <a:endParaRPr lang="en-US" sz="1264" dirty="0"/>
          </a:p>
          <a:p>
            <a:pPr algn="l" marL="228600" indent="-68580">
              <a:lnSpc>
                <a:spcPts val="2009"/>
              </a:lnSpc>
              <a:spcBef>
                <a:spcPts val="225"/>
              </a:spcBef>
              <a:spcAft>
                <a:spcPts val="225"/>
              </a:spcAft>
              <a:buSzPct val="100000"/>
              <a:buFont typeface="+mj-lt"/>
              <a:buAutoNum type="arabicPeriod" startAt="1"/>
            </a:pPr>
            <a:r>
              <a:rPr lang="en-US" sz="1264" dirty="0">
                <a:solidFill>
                  <a:srgbClr val="E8E4DF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Contratações: 9 - 6 = 3 novos funcionários.</a:t>
            </a:r>
            <a:endParaRPr lang="en-US" sz="1264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3d1bd6d9-525b-4b1c-947c-34116ec78d06" descr="/home/forge/chalkie-production-workers-1/releases/77481629/backend/storage/app/render-specs/3c0c6458-ad69-4755-a770-457f81065846/img_08e1dfd544178750643affcd02579097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57850" y="0"/>
            <a:ext cx="3486150" cy="5143500"/>
          </a:xfrm>
          <a:prstGeom prst="roundRect">
            <a:avLst>
              <a:gd name="adj" fmla="val 3934"/>
            </a:avLst>
          </a:prstGeom>
        </p:spPr>
      </p:pic>
      <p:sp>
        <p:nvSpPr>
          <p:cNvPr id="3" name="782d6ee4-162c-4ec3-8e1e-be7a9790ebc7"/>
          <p:cNvSpPr/>
          <p:nvPr/>
        </p:nvSpPr>
        <p:spPr>
          <a:xfrm>
            <a:off x="285750" y="594360"/>
            <a:ext cx="5143500" cy="603504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t"/>
          <a:lstStyle/>
          <a:p>
            <a:pPr algn="l" indent="0" marL="0">
              <a:lnSpc>
                <a:spcPts val="3571"/>
              </a:lnSpc>
              <a:spcBef>
                <a:spcPts val="450"/>
              </a:spcBef>
              <a:spcAft>
                <a:spcPts val="450"/>
              </a:spcAft>
              <a:buNone/>
            </a:pPr>
            <a:r>
              <a:rPr lang="en-US" sz="2246" b="1" dirty="0">
                <a:solidFill>
                  <a:srgbClr val="E8C85A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Próximo Passo: Aula 2</a:t>
            </a:r>
            <a:endParaRPr lang="en-US" sz="2246" dirty="0"/>
          </a:p>
        </p:txBody>
      </p:sp>
      <p:sp>
        <p:nvSpPr>
          <p:cNvPr id="4" name="c61ca545-827f-409a-978e-c49f2cffda84"/>
          <p:cNvSpPr/>
          <p:nvPr/>
        </p:nvSpPr>
        <p:spPr>
          <a:xfrm>
            <a:off x="285750" y="1291590"/>
            <a:ext cx="2423160" cy="262890"/>
          </a:xfrm>
          <a:prstGeom prst="roundRect">
            <a:avLst>
              <a:gd name="adj" fmla="val 17391"/>
            </a:avLst>
          </a:prstGeom>
          <a:solidFill>
            <a:srgbClr val="7EB5A6"/>
          </a:solidFill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42" b="1" dirty="0">
                <a:solidFill>
                  <a:srgbClr val="FFFFFF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OPERAÇÕES PRÁTICAS</a:t>
            </a:r>
            <a:endParaRPr lang="en-US" sz="842" dirty="0"/>
          </a:p>
        </p:txBody>
      </p:sp>
      <p:sp>
        <p:nvSpPr>
          <p:cNvPr id="5" name="b5d7e606-f778-4774-a1fc-503752127bba"/>
          <p:cNvSpPr/>
          <p:nvPr/>
        </p:nvSpPr>
        <p:spPr>
          <a:xfrm>
            <a:off x="285750" y="1600200"/>
            <a:ext cx="5143500" cy="955548"/>
          </a:xfrm>
          <a:prstGeom prst="rect">
            <a:avLst/>
          </a:prstGeom>
          <a:noFill/>
          <a:ln/>
        </p:spPr>
        <p:txBody>
          <a:bodyPr wrap="square" lIns="45720" tIns="45720" rIns="45720" bIns="45720" rtlCol="0" anchor="t"/>
          <a:lstStyle/>
          <a:p>
            <a:pPr algn="l" indent="0" marL="0">
              <a:lnSpc>
                <a:spcPts val="2009"/>
              </a:lnSpc>
              <a:spcBef>
                <a:spcPts val="360"/>
              </a:spcBef>
              <a:spcAft>
                <a:spcPts val="360"/>
              </a:spcAft>
              <a:buNone/>
            </a:pPr>
            <a:r>
              <a:rPr lang="en-US" sz="1264" dirty="0">
                <a:solidFill>
                  <a:srgbClr val="E8E4DF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Na próxima aula, avançaremos para o universo das </a:t>
            </a:r>
            <a:pPr algn="l" indent="0" marL="0">
              <a:lnSpc>
                <a:spcPts val="2009"/>
              </a:lnSpc>
              <a:spcBef>
                <a:spcPts val="360"/>
              </a:spcBef>
              <a:spcAft>
                <a:spcPts val="360"/>
              </a:spcAft>
              <a:buNone/>
            </a:pPr>
            <a:r>
              <a:rPr lang="en-US" sz="1264" b="1" dirty="0">
                <a:solidFill>
                  <a:srgbClr val="E8E4DF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Porcentagens Comerciais</a:t>
            </a:r>
            <a:pPr algn="l" indent="0" marL="0">
              <a:lnSpc>
                <a:spcPts val="2009"/>
              </a:lnSpc>
              <a:spcBef>
                <a:spcPts val="360"/>
              </a:spcBef>
              <a:spcAft>
                <a:spcPts val="360"/>
              </a:spcAft>
              <a:buNone/>
            </a:pPr>
            <a:r>
              <a:rPr lang="en-US" sz="1264" dirty="0">
                <a:solidFill>
                  <a:srgbClr val="E8E4DF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, </a:t>
            </a:r>
            <a:pPr algn="l" indent="0" marL="0">
              <a:lnSpc>
                <a:spcPts val="2009"/>
              </a:lnSpc>
              <a:spcBef>
                <a:spcPts val="360"/>
              </a:spcBef>
              <a:spcAft>
                <a:spcPts val="360"/>
              </a:spcAft>
              <a:buNone/>
            </a:pPr>
            <a:r>
              <a:rPr lang="en-US" sz="1264" b="1" dirty="0">
                <a:solidFill>
                  <a:srgbClr val="E8E4DF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Estatística Básica</a:t>
            </a:r>
            <a:pPr algn="l" indent="0" marL="0">
              <a:lnSpc>
                <a:spcPts val="2009"/>
              </a:lnSpc>
              <a:spcBef>
                <a:spcPts val="360"/>
              </a:spcBef>
              <a:spcAft>
                <a:spcPts val="360"/>
              </a:spcAft>
              <a:buNone/>
            </a:pPr>
            <a:r>
              <a:rPr lang="en-US" sz="1264" dirty="0">
                <a:solidFill>
                  <a:srgbClr val="E8E4DF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 (média, mediana e moda) e </a:t>
            </a:r>
            <a:pPr algn="l" indent="0" marL="0">
              <a:lnSpc>
                <a:spcPts val="2009"/>
              </a:lnSpc>
              <a:spcBef>
                <a:spcPts val="360"/>
              </a:spcBef>
              <a:spcAft>
                <a:spcPts val="360"/>
              </a:spcAft>
              <a:buNone/>
            </a:pPr>
            <a:r>
              <a:rPr lang="en-US" sz="1264" b="1" dirty="0">
                <a:solidFill>
                  <a:srgbClr val="E8E4DF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Lógica de Previsão Empresarial</a:t>
            </a:r>
            <a:pPr algn="l" indent="0" marL="0">
              <a:lnSpc>
                <a:spcPts val="2009"/>
              </a:lnSpc>
              <a:spcBef>
                <a:spcPts val="360"/>
              </a:spcBef>
              <a:spcAft>
                <a:spcPts val="360"/>
              </a:spcAft>
              <a:buNone/>
            </a:pPr>
            <a:r>
              <a:rPr lang="en-US" sz="1264" dirty="0">
                <a:solidFill>
                  <a:srgbClr val="E8E4DF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.</a:t>
            </a:r>
            <a:endParaRPr lang="en-US" sz="1264" dirty="0"/>
          </a:p>
        </p:txBody>
      </p:sp>
      <p:sp>
        <p:nvSpPr>
          <p:cNvPr id="6" name="b58aeff3-286c-4662-8e42-21e8b4d93d80_card"/>
          <p:cNvSpPr/>
          <p:nvPr/>
        </p:nvSpPr>
        <p:spPr>
          <a:xfrm>
            <a:off x="285750" y="2926080"/>
            <a:ext cx="5143500" cy="1380744"/>
          </a:xfrm>
          <a:prstGeom prst="roundRect">
            <a:avLst>
              <a:gd name="adj" fmla="val 6623"/>
            </a:avLst>
          </a:prstGeom>
          <a:solidFill>
            <a:srgbClr val="82B4EB">
              <a:alpha val="14902"/>
            </a:srgbClr>
          </a:solidFill>
          <a:ln w="11430">
            <a:solidFill>
              <a:srgbClr val="0B2F50">
                <a:alpha val="20000"/>
              </a:srgbClr>
            </a:solidFill>
            <a:prstDash val="solid"/>
          </a:ln>
        </p:spPr>
      </p:sp>
      <p:sp>
        <p:nvSpPr>
          <p:cNvPr id="7" name="b58aeff3-286c-4662-8e42-21e8b4d93d80_emoji"/>
          <p:cNvSpPr/>
          <p:nvPr/>
        </p:nvSpPr>
        <p:spPr>
          <a:xfrm>
            <a:off x="400050" y="3074670"/>
            <a:ext cx="365760" cy="4114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2160" dirty="0">
                <a:solidFill>
                  <a:srgbClr val="000000"/>
                </a:solidFill>
              </a:rPr>
              <a:t>🧠</a:t>
            </a:r>
            <a:endParaRPr lang="en-US" sz="2160" dirty="0"/>
          </a:p>
        </p:txBody>
      </p:sp>
      <p:sp>
        <p:nvSpPr>
          <p:cNvPr id="8" name="b58aeff3-286c-4662-8e42-21e8b4d93d80_text"/>
          <p:cNvSpPr/>
          <p:nvPr/>
        </p:nvSpPr>
        <p:spPr>
          <a:xfrm>
            <a:off x="765810" y="3040380"/>
            <a:ext cx="4549140" cy="11521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86"/>
              </a:lnSpc>
              <a:spcBef>
                <a:spcPts val="270"/>
              </a:spcBef>
              <a:spcAft>
                <a:spcPts val="270"/>
              </a:spcAft>
              <a:buNone/>
            </a:pPr>
            <a:r>
              <a:rPr lang="en-US" sz="1123" b="1" dirty="0">
                <a:solidFill>
                  <a:srgbClr val="B5D4F4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Lembre-se</a:t>
            </a:r>
            <a:endParaRPr lang="en-US" sz="1123" dirty="0"/>
          </a:p>
          <a:p>
            <a:pPr algn="l" indent="0" marL="0">
              <a:lnSpc>
                <a:spcPts val="2009"/>
              </a:lnSpc>
              <a:spcBef>
                <a:spcPts val="360"/>
              </a:spcBef>
              <a:spcAft>
                <a:spcPts val="360"/>
              </a:spcAft>
              <a:buNone/>
            </a:pPr>
            <a:r>
              <a:rPr lang="en-US" sz="1264" dirty="0">
                <a:solidFill>
                  <a:srgbClr val="B5D4F4"/>
                </a:solidFill>
                <a:latin typeface="Dyslexie" pitchFamily="34" charset="0"/>
                <a:ea typeface="Dyslexie" pitchFamily="34" charset="-122"/>
                <a:cs typeface="Dyslexie" pitchFamily="34" charset="-120"/>
              </a:rPr>
              <a:t>Revise as proporções calculadas hoje: elas serão a chave para entender as variações percentuais de mercado!</a:t>
            </a:r>
            <a:endParaRPr lang="en-US" sz="1123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41</Slides>
  <Notes>41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41</vt:i4>
      </vt:variant>
    </vt:vector>
  </HeadingPairs>
  <TitlesOfParts>
    <vt:vector size="4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Matemática Aplicada à Gestão: Parte 1</dc:title>
  <dc:subject>PptxGenJS Presentation</dc:subject>
  <dc:creator>PptxGenJS</dc:creator>
  <cp:lastModifiedBy>PptxGenJS</cp:lastModifiedBy>
  <cp:revision>1</cp:revision>
  <dcterms:created xsi:type="dcterms:W3CDTF">2026-09-11T11:20:05Z</dcterms:created>
  <dcterms:modified xsi:type="dcterms:W3CDTF">2026-09-11T11:20:05Z</dcterms:modified>
</cp:coreProperties>
</file>