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5143500" cy="9144000"/>
  <p:embeddedFontLst>
    <p:embeddedFont>
      <p:font typeface="Dyslexie" panose="020B0604020202020204" charset="0"/>
      <p:regular r:id="rId44"/>
      <p:bold r:id="rId4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233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yTRgmuGH4KA?feature=oembed" TargetMode="External"/><Relationship Id="rId6" Type="http://schemas.openxmlformats.org/officeDocument/2006/relationships/image" Target="../media/image24.jpg"/><Relationship Id="rId5" Type="http://schemas.openxmlformats.org/officeDocument/2006/relationships/hyperlink" Target="https://www.youtube.com/watch?v=yTRgmuGH4KA" TargetMode="External"/><Relationship Id="rId4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5a19ffc-4105-4fbe-8517-a69a30ea8d19" descr="/home/forge/chalkie-production-workers-1/releases/77481629/backend/storage/app/render-specs/ba18efb3-1d1d-435e-b57c-782ff17cb663/img_32539cbd10746730c6f94825250fc6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3" name="4f904d8b-9a5a-44e6-bc50-3bcad4af4dc5"/>
          <p:cNvSpPr/>
          <p:nvPr/>
        </p:nvSpPr>
        <p:spPr>
          <a:xfrm>
            <a:off x="4914900" y="1257300"/>
            <a:ext cx="382905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401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7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Fundamentos Matemáticos para Gestão</a:t>
            </a:r>
            <a:endParaRPr lang="en-US" sz="2527" dirty="0"/>
          </a:p>
        </p:txBody>
      </p:sp>
      <p:sp>
        <p:nvSpPr>
          <p:cNvPr id="4" name="59eb906a-5398-4c80-a292-c4bfc1c36897"/>
          <p:cNvSpPr/>
          <p:nvPr/>
        </p:nvSpPr>
        <p:spPr>
          <a:xfrm>
            <a:off x="4914900" y="2960370"/>
            <a:ext cx="382905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Parte 2: Porcentagem, Estatística Básica e Previsões</a:t>
            </a:r>
            <a:endParaRPr lang="en-US" sz="126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b13e5ff-5163-4293-8353-de79422ae314" descr="/home/forge/chalkie-production-workers-1/releases/77481629/backend/storage/app/render-specs/ba18efb3-1d1d-435e-b57c-782ff17cb663/img_72d38eedbf77c653e548dd19fe2803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8088e64d-0c37-4619-b4fe-9c68b6d221a8"/>
          <p:cNvSpPr/>
          <p:nvPr/>
        </p:nvSpPr>
        <p:spPr>
          <a:xfrm>
            <a:off x="3714750" y="166878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Decisões que Mudam Rumos</a:t>
            </a:r>
            <a:endParaRPr lang="en-US" sz="2246" dirty="0"/>
          </a:p>
        </p:txBody>
      </p:sp>
      <p:sp>
        <p:nvSpPr>
          <p:cNvPr id="4" name="6f0cd675-5c59-4335-ba29-93d7c88c8437"/>
          <p:cNvSpPr/>
          <p:nvPr/>
        </p:nvSpPr>
        <p:spPr>
          <a:xfrm>
            <a:off x="3714750" y="229743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prefere ter um produto com 20% de margem ou vender o dobro com desconto? A matemática decide o futuro de empresas todos os dias.</a:t>
            </a:r>
            <a:endParaRPr lang="en-US" sz="126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da3c6d9-a91e-4e8f-9243-fb84fb32ba2b" descr="/home/forge/chalkie-production-workers-1/releases/77481629/backend/storage/app/render-specs/ba18efb3-1d1d-435e-b57c-782ff17cb663/img_1c7b2bcd2c834a89cb59cb941c3999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ff576724-163c-434f-8bd7-a3ffff528b8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Objetivos da Aula de Hoje</a:t>
            </a:r>
            <a:endParaRPr lang="en-US" sz="2246" dirty="0"/>
          </a:p>
        </p:txBody>
      </p:sp>
      <p:sp>
        <p:nvSpPr>
          <p:cNvPr id="4" name="83bee6a3-4b77-48f0-a8a8-3d07bdf43cfb"/>
          <p:cNvSpPr/>
          <p:nvPr/>
        </p:nvSpPr>
        <p:spPr>
          <a:xfrm>
            <a:off x="285750" y="800100"/>
            <a:ext cx="457200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vamos dominar hoje: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Calcular variações percentuais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margens de lucro, descontos comerciais e impactos tributários.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Determinar medidas estatísticas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média, mediana, moda e noções de dispersão com variância e desvio padrão.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Identificar padrões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em sequências lógicas e tabelas de frequência para prever tendências.</a:t>
            </a:r>
            <a:endParaRPr lang="en-US" sz="154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2698d54-a15c-46ea-8886-fd1d1abd3bf3" descr="/home/forge/chalkie-production-workers-1/releases/77481629/backend/storage/app/render-specs/ba18efb3-1d1d-435e-b57c-782ff17cb663/img_49c0ca9ebd1e3d3d87a4f3f3ae3f98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3" name="7de5a7a1-e0dc-4d87-a164-ddf03df1e7ab" descr="/home/forge/chalkie-production-workers-1/releases/77481629/backend/storage/app/render-specs/ba18efb3-1d1d-435e-b57c-782ff17cb663/img_63488455fdda8455a12cdbfc40b78b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174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7ee0f1b4-4e7c-48f1-9e5b-dd631b099475" descr="/home/forge/chalkie-production-workers-1/releases/77481629/backend/storage/app/render-specs/ba18efb3-1d1d-435e-b57c-782ff17cb663/img_ab177c58d54eeddd3dd701ca928721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afb19efd-c63d-47f9-9cf3-78825012391b" descr="/home/forge/chalkie-production-workers-1/releases/77481629/backend/storage/app/render-specs/ba18efb3-1d1d-435e-b57c-782ff17cb663/img_ce55ce94ac1c8c957fd59b93f04449c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229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23699c60-8df2-4efb-be51-5f2400f961d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Vocabulário-Chave da Gestão</a:t>
            </a:r>
            <a:endParaRPr lang="en-US" sz="2246" dirty="0"/>
          </a:p>
        </p:txBody>
      </p:sp>
      <p:sp>
        <p:nvSpPr>
          <p:cNvPr id="7" name="7210ca69-78cc-460c-aacf-eccd62c69c30"/>
          <p:cNvSpPr/>
          <p:nvPr/>
        </p:nvSpPr>
        <p:spPr>
          <a:xfrm>
            <a:off x="285750" y="34290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Porcentagem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Razão base 100, usada para comparar partes e variações.</a:t>
            </a:r>
            <a:endParaRPr lang="en-US" sz="1264" dirty="0"/>
          </a:p>
        </p:txBody>
      </p:sp>
      <p:sp>
        <p:nvSpPr>
          <p:cNvPr id="8" name="b27368ac-ef1e-4f24-836d-0571e134dd00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Soma dos dados dividida pelo número total de observações.</a:t>
            </a:r>
            <a:endParaRPr lang="en-US" sz="1264" dirty="0"/>
          </a:p>
        </p:txBody>
      </p:sp>
      <p:sp>
        <p:nvSpPr>
          <p:cNvPr id="9" name="96661fbd-0bc1-421c-9b77-b1217958aecb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Mediana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Valor central que divide um conjunto de dados ordenado.</a:t>
            </a:r>
            <a:endParaRPr lang="en-US" sz="1264" dirty="0"/>
          </a:p>
        </p:txBody>
      </p:sp>
      <p:sp>
        <p:nvSpPr>
          <p:cNvPr id="10" name="5428ddfd-6def-4cba-bb5f-670e49f49e70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Variância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Medida que indica a dispersão dos dados em torno da média.</a:t>
            </a:r>
            <a:endParaRPr lang="en-US" sz="126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ec7a82f-cc99-4a9f-8d03-a586bc82df7f" descr="/home/forge/chalkie-production-workers-1/releases/77481629/backend/storage/app/render-specs/ba18efb3-1d1d-435e-b57c-782ff17cb663/img_96c5d98a5b2f13d5b5fa36bc3a835c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33159a75-a2b1-4665-8873-15de26f8b1c6"/>
          <p:cNvSpPr/>
          <p:nvPr/>
        </p:nvSpPr>
        <p:spPr>
          <a:xfrm>
            <a:off x="3714750" y="24003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Recapitulando: Proporções na Gestão</a:t>
            </a:r>
            <a:endParaRPr lang="en-US" sz="2246" dirty="0"/>
          </a:p>
        </p:txBody>
      </p:sp>
      <p:sp>
        <p:nvSpPr>
          <p:cNvPr id="4" name="bc5f5ed8-2513-438b-8afb-14250a2302bb"/>
          <p:cNvSpPr/>
          <p:nvPr/>
        </p:nvSpPr>
        <p:spPr>
          <a:xfrm>
            <a:off x="3714750" y="1394460"/>
            <a:ext cx="217170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 DA AULA 1</a:t>
            </a:r>
            <a:endParaRPr lang="en-US" sz="842" dirty="0"/>
          </a:p>
        </p:txBody>
      </p:sp>
      <p:sp>
        <p:nvSpPr>
          <p:cNvPr id="5" name="230c983e-6ce2-4e01-aff4-2ae415f2eb96"/>
          <p:cNvSpPr/>
          <p:nvPr/>
        </p:nvSpPr>
        <p:spPr>
          <a:xfrm>
            <a:off x="3714750" y="1703070"/>
            <a:ext cx="5143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aula passada, vimos como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razões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comparam grandezas e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proporções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igualam razões equivalentes. 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regra de três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permitiu dimensionar recursos, mão de obra e insumos produtivos com precisão.</a:t>
            </a:r>
            <a:endParaRPr lang="en-US" sz="1264" dirty="0"/>
          </a:p>
        </p:txBody>
      </p:sp>
      <p:sp>
        <p:nvSpPr>
          <p:cNvPr id="6" name="1d8e8dd8-56d3-406f-bafa-b64617b7be9c_card"/>
          <p:cNvSpPr/>
          <p:nvPr/>
        </p:nvSpPr>
        <p:spPr>
          <a:xfrm>
            <a:off x="3714750" y="3280410"/>
            <a:ext cx="51435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1d8e8dd8-56d3-406f-bafa-b64617b7be9c_emoji"/>
          <p:cNvSpPr/>
          <p:nvPr/>
        </p:nvSpPr>
        <p:spPr>
          <a:xfrm>
            <a:off x="3829050" y="34290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1d8e8dd8-56d3-406f-bafa-b64617b7be9c_text"/>
          <p:cNvSpPr/>
          <p:nvPr/>
        </p:nvSpPr>
        <p:spPr>
          <a:xfrm>
            <a:off x="4194810" y="3394710"/>
            <a:ext cx="45491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proporções diretas, o produto dos extremos iguala o dos meios: se a/b = c/d, então a · d = b · c.</a:t>
            </a:r>
            <a:endParaRPr lang="en-US" sz="112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df4e39c-bdb3-4db7-9435-bc8acce54f9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Proporção no Estoque</a:t>
            </a:r>
            <a:endParaRPr lang="en-US" sz="2246" dirty="0"/>
          </a:p>
        </p:txBody>
      </p:sp>
      <p:sp>
        <p:nvSpPr>
          <p:cNvPr id="3" name="f7affca8-ea4a-4451-bfa5-e7cdd6b624b2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armazém utiliza 15 caixas organizadoras para acomodar 450 peças. Mantendo essa mesma proporção, quantas caixas serão necessárias para 1.200 peças?</a:t>
            </a:r>
            <a:endParaRPr lang="en-US" sz="1264" dirty="0"/>
          </a:p>
        </p:txBody>
      </p:sp>
      <p:sp>
        <p:nvSpPr>
          <p:cNvPr id="4" name="64303fc5-2d4b-44cb-843e-085569243ce1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11303772-9b3e-45bd-a753-efe58adc711b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35 caixas</a:t>
            </a:r>
            <a:endParaRPr lang="en-US" sz="1264" dirty="0"/>
          </a:p>
        </p:txBody>
      </p:sp>
      <p:sp>
        <p:nvSpPr>
          <p:cNvPr id="6" name="be29b905-6cd2-442b-9a1a-57f543f78645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6b1198ae-1727-4c23-ab48-b92b9f81c4a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50 caixas</a:t>
            </a:r>
            <a:endParaRPr lang="en-US" sz="1264" dirty="0"/>
          </a:p>
        </p:txBody>
      </p:sp>
      <p:sp>
        <p:nvSpPr>
          <p:cNvPr id="8" name="402d9505-bc20-424f-9fad-e3de028d083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a6f1a061-36ee-4f16-9b78-35bb2071c3e1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40 caixas</a:t>
            </a:r>
            <a:endParaRPr lang="en-US" sz="1264" dirty="0"/>
          </a:p>
        </p:txBody>
      </p:sp>
      <p:sp>
        <p:nvSpPr>
          <p:cNvPr id="10" name="9ec6ace9-8dca-44dd-8bd4-a21fe7114e4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78f5c5d7-c2fd-4eb2-912a-64bd8fe79c42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30 caixas</a:t>
            </a:r>
            <a:endParaRPr lang="en-US" sz="126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df4e39c-bdb3-4db7-9435-bc8acce54f9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Proporção no Estoque</a:t>
            </a:r>
            <a:endParaRPr lang="en-US" sz="2246" dirty="0"/>
          </a:p>
        </p:txBody>
      </p:sp>
      <p:sp>
        <p:nvSpPr>
          <p:cNvPr id="3" name="f7affca8-ea4a-4451-bfa5-e7cdd6b624b2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armazém utiliza 15 caixas organizadoras para acomodar 450 peças. Mantendo essa mesma proporção, quantas caixas serão necessárias para 1.200 peças?</a:t>
            </a:r>
            <a:endParaRPr lang="en-US" sz="1264" dirty="0"/>
          </a:p>
        </p:txBody>
      </p:sp>
      <p:sp>
        <p:nvSpPr>
          <p:cNvPr id="4" name="64303fc5-2d4b-44cb-843e-085569243ce1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11303772-9b3e-45bd-a753-efe58adc711b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35 caixas</a:t>
            </a:r>
            <a:endParaRPr lang="en-US" sz="1264" dirty="0"/>
          </a:p>
        </p:txBody>
      </p:sp>
      <p:sp>
        <p:nvSpPr>
          <p:cNvPr id="6" name="be29b905-6cd2-442b-9a1a-57f543f78645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6b1198ae-1727-4c23-ab48-b92b9f81c4a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50 caixas</a:t>
            </a:r>
            <a:endParaRPr lang="en-US" sz="1264" dirty="0"/>
          </a:p>
        </p:txBody>
      </p:sp>
      <p:sp>
        <p:nvSpPr>
          <p:cNvPr id="8" name="402d9505-bc20-424f-9fad-e3de028d083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a6f1a061-36ee-4f16-9b78-35bb2071c3e1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40 caixas</a:t>
            </a:r>
            <a:endParaRPr lang="en-US" sz="1264" dirty="0"/>
          </a:p>
        </p:txBody>
      </p:sp>
      <p:sp>
        <p:nvSpPr>
          <p:cNvPr id="10" name="9ec6ace9-8dca-44dd-8bd4-a21fe7114e4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78f5c5d7-c2fd-4eb2-912a-64bd8fe79c42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30 caixas</a:t>
            </a:r>
            <a:endParaRPr lang="en-US" sz="1264" dirty="0"/>
          </a:p>
        </p:txBody>
      </p:sp>
      <p:sp>
        <p:nvSpPr>
          <p:cNvPr id="12" name="6103a6dd-e529-4a29-92a5-f1c2eaa21f8c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34bfb415-682b-4ce5-98b7-0d97f564d02b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1f2af42-86fb-495d-9d73-ea47942d0b35" descr="/home/forge/chalkie-production-workers-1/releases/77481629/backend/storage/app/render-specs/ba18efb3-1d1d-435e-b57c-782ff17cb663/img_552d7037f8ce09eb4d893221318d6b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83eaf2f6-8e45-444e-b800-5e797a20eddb"/>
          <p:cNvSpPr/>
          <p:nvPr/>
        </p:nvSpPr>
        <p:spPr>
          <a:xfrm>
            <a:off x="285750" y="30861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Poder dos Percentuais</a:t>
            </a:r>
            <a:endParaRPr lang="en-US" sz="2246" dirty="0"/>
          </a:p>
        </p:txBody>
      </p:sp>
      <p:sp>
        <p:nvSpPr>
          <p:cNvPr id="4" name="2e46a5e2-4729-44af-b073-cc1c9a93a5aa"/>
          <p:cNvSpPr/>
          <p:nvPr/>
        </p:nvSpPr>
        <p:spPr>
          <a:xfrm>
            <a:off x="285750" y="1005840"/>
            <a:ext cx="314325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FUNDAMENTOS MATEMÁTICOS</a:t>
            </a:r>
            <a:endParaRPr lang="en-US" sz="842" dirty="0"/>
          </a:p>
        </p:txBody>
      </p:sp>
      <p:sp>
        <p:nvSpPr>
          <p:cNvPr id="5" name="9b9f0f47-2a39-4d91-b7a0-bba532ddbae3"/>
          <p:cNvSpPr/>
          <p:nvPr/>
        </p:nvSpPr>
        <p:spPr>
          <a:xfrm>
            <a:off x="285750" y="1314450"/>
            <a:ext cx="51435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porcentagem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traduz números absolutos em uma escala padrão de base 100, facilitando comparações imediatas entre grandezas distintas.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gestão executiva, comparar 15 itens com defeito em 50 produzidos (30%) é muito mais alarmante do que 15 defeitos em 1.500 (1%).</a:t>
            </a:r>
            <a:endParaRPr lang="en-US" sz="1264" dirty="0"/>
          </a:p>
        </p:txBody>
      </p:sp>
      <p:sp>
        <p:nvSpPr>
          <p:cNvPr id="6" name="a8ce9af8-0e70-440f-a2b4-3beab2c843a8_card"/>
          <p:cNvSpPr/>
          <p:nvPr/>
        </p:nvSpPr>
        <p:spPr>
          <a:xfrm>
            <a:off x="285750" y="3211830"/>
            <a:ext cx="51435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a8ce9af8-0e70-440f-a2b4-3beab2c843a8_emoji"/>
          <p:cNvSpPr/>
          <p:nvPr/>
        </p:nvSpPr>
        <p:spPr>
          <a:xfrm>
            <a:off x="400050" y="33604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a8ce9af8-0e70-440f-a2b4-3beab2c843a8_text"/>
          <p:cNvSpPr/>
          <p:nvPr/>
        </p:nvSpPr>
        <p:spPr>
          <a:xfrm>
            <a:off x="765810" y="3326130"/>
            <a:ext cx="45491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Multiplicar por 0,15 equivale a extrair 15%; multiplicar por 1,15 aplica um acréscimo de 15%.</a:t>
            </a:r>
            <a:endParaRPr lang="en-US" sz="112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7c351d0-909f-4519-a5d9-b73c46029509" descr="/home/forge/chalkie-production-workers-1/releases/77481629/backend/storage/app/render-specs/ba18efb3-1d1d-435e-b57c-782ff17cb663/img_e317c97014eca5803a60e139b94b71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611630"/>
            <a:ext cx="85725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3" name="28a60a9c-7da1-40f1-a0b6-8f886dbd1e2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Cálculo de Variação Percentual</a:t>
            </a:r>
            <a:endParaRPr lang="en-US" sz="2246" dirty="0"/>
          </a:p>
        </p:txBody>
      </p:sp>
      <p:sp>
        <p:nvSpPr>
          <p:cNvPr id="4" name="c27725bb-63dc-46c0-a472-189911a988ca"/>
          <p:cNvSpPr/>
          <p:nvPr/>
        </p:nvSpPr>
        <p:spPr>
          <a:xfrm>
            <a:off x="285750" y="8001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variação percentual mede o crescimento ou queda de um indicador. A fórmula compara o valor final com o inicial:</a:t>
            </a:r>
            <a:endParaRPr lang="en-US" sz="1264" dirty="0"/>
          </a:p>
        </p:txBody>
      </p:sp>
      <p:sp>
        <p:nvSpPr>
          <p:cNvPr id="5" name="053cacb1-ee55-4082-b898-a1c79979d835_card"/>
          <p:cNvSpPr/>
          <p:nvPr/>
        </p:nvSpPr>
        <p:spPr>
          <a:xfrm>
            <a:off x="285750" y="3806190"/>
            <a:ext cx="857250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6" name="053cacb1-ee55-4082-b898-a1c79979d835_emoji"/>
          <p:cNvSpPr/>
          <p:nvPr/>
        </p:nvSpPr>
        <p:spPr>
          <a:xfrm>
            <a:off x="400050" y="39547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053cacb1-ee55-4082-b898-a1c79979d835_text"/>
          <p:cNvSpPr/>
          <p:nvPr/>
        </p:nvSpPr>
        <p:spPr>
          <a:xfrm>
            <a:off x="765810" y="3920490"/>
            <a:ext cx="7978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Exemplo: Faturamento de R$ 80 mil para R$ 100 mil: (100-80)/80 = 0,25 ou +25%.</a:t>
            </a:r>
            <a:endParaRPr lang="en-US" sz="112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d7bba9d-d473-4a12-9048-fb079f93832c" descr="/home/forge/chalkie-production-workers-1/releases/77481629/backend/storage/app/render-specs/ba18efb3-1d1d-435e-b57c-782ff17cb663/img_6f35cd67bdd4d08bdd217c898c870d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ab7aa236-24ef-48f1-b1c3-7fbe0f66a1d5" descr="/home/forge/chalkie-production-workers-1/releases/77481629/backend/storage/app/render-specs/ba18efb3-1d1d-435e-b57c-782ff17cb663/img_07f86897c528dd8c928dddea39e9b1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8a255c7c-bbb7-43f1-a7f9-ae7bd78d0f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Aplicações: Margem e Desconto</a:t>
            </a:r>
            <a:endParaRPr lang="en-US" sz="2246" dirty="0"/>
          </a:p>
        </p:txBody>
      </p:sp>
      <p:sp>
        <p:nvSpPr>
          <p:cNvPr id="5" name="59f8c0d1-9cc9-4a27-b7ab-36ac7a4af886"/>
          <p:cNvSpPr/>
          <p:nvPr/>
        </p:nvSpPr>
        <p:spPr>
          <a:xfrm>
            <a:off x="28575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Margem de Lucro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Razão entre lucro líquido e receita total.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Uma venda de R$ 200 com lucro de R$ 50 resulta em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margem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de 25%.</a:t>
            </a:r>
            <a:endParaRPr lang="en-US" sz="1544" dirty="0"/>
          </a:p>
        </p:txBody>
      </p:sp>
      <p:sp>
        <p:nvSpPr>
          <p:cNvPr id="6" name="46168213-5374-4587-8c37-12a1c29bb389"/>
          <p:cNvSpPr/>
          <p:nvPr/>
        </p:nvSpPr>
        <p:spPr>
          <a:xfrm>
            <a:off x="465201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Descontos Comerciais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Reduções sobre o preço base para acelerar giro ou pagamentos à vista.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Produto de R$ 80 com 10% de desconto custa R$ 72 (R$ 80 · 0,90).</a:t>
            </a:r>
            <a:endParaRPr lang="en-US" sz="154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e072d06-e99f-40c2-8497-9b66c9ea4878" descr="/home/forge/chalkie-production-workers-1/releases/77481629/backend/storage/app/render-specs/ba18efb3-1d1d-435e-b57c-782ff17cb663/img_58cbf07bc3d129cfc6f3295ac8cfb0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2b893496-7af7-4f30-90b6-08b0a4a29ce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Tributos e Formação de Preço</a:t>
            </a:r>
            <a:endParaRPr lang="en-US" sz="2246" dirty="0"/>
          </a:p>
        </p:txBody>
      </p:sp>
      <p:sp>
        <p:nvSpPr>
          <p:cNvPr id="4" name="6df615ce-fd2f-4c66-8542-00dcdf2960f0"/>
          <p:cNvSpPr/>
          <p:nvPr/>
        </p:nvSpPr>
        <p:spPr>
          <a:xfrm>
            <a:off x="4286250" y="868680"/>
            <a:ext cx="27089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FINANÇAS OPERACIONAIS</a:t>
            </a:r>
            <a:endParaRPr lang="en-US" sz="842" dirty="0"/>
          </a:p>
        </p:txBody>
      </p:sp>
      <p:sp>
        <p:nvSpPr>
          <p:cNvPr id="5" name="adb1d512-70f5-49ee-a3af-b08ab37afbb9"/>
          <p:cNvSpPr/>
          <p:nvPr/>
        </p:nvSpPr>
        <p:spPr>
          <a:xfrm>
            <a:off x="4286250" y="117729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Empresas recolhem impostos calculados sobre o faturamento, como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ICMS, PIS e COFINS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Saber precificar exige incluir o custo da mercadoria, as despesas operacionais, a alíquota tributária e a margem desejada.</a:t>
            </a:r>
            <a:endParaRPr lang="en-US" sz="1264" dirty="0"/>
          </a:p>
        </p:txBody>
      </p:sp>
      <p:sp>
        <p:nvSpPr>
          <p:cNvPr id="6" name="98e793b5-2c34-4c7a-92ea-8e045b7efcd6_card"/>
          <p:cNvSpPr/>
          <p:nvPr/>
        </p:nvSpPr>
        <p:spPr>
          <a:xfrm>
            <a:off x="4286250" y="307467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7" name="98e793b5-2c34-4c7a-92ea-8e045b7efcd6_emoji"/>
          <p:cNvSpPr/>
          <p:nvPr/>
        </p:nvSpPr>
        <p:spPr>
          <a:xfrm>
            <a:off x="4400550" y="32232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8" name="98e793b5-2c34-4c7a-92ea-8e045b7efcd6_text"/>
          <p:cNvSpPr/>
          <p:nvPr/>
        </p:nvSpPr>
        <p:spPr>
          <a:xfrm>
            <a:off x="4766310" y="318897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Calcular 20% sobre o custo não é o mesmo que garantir 20% de margem sobre a receita final.</a:t>
            </a:r>
            <a:endParaRPr lang="en-US" sz="112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bdcc692-7ae2-4fd9-80f0-a793cbb1aad7" descr="/home/forge/chalkie-production-workers-1/releases/77481629/backend/storage/app/render-specs/ba18efb3-1d1d-435e-b57c-782ff17cb663/img_e55ecfe6702459449ae20917630e63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14400"/>
            <a:ext cx="8572500" cy="2343150"/>
          </a:xfrm>
          <a:prstGeom prst="roundRect">
            <a:avLst>
              <a:gd name="adj" fmla="val 5854"/>
            </a:avLst>
          </a:prstGeom>
        </p:spPr>
      </p:pic>
      <p:sp>
        <p:nvSpPr>
          <p:cNvPr id="3" name="822daf10-f4ff-47f3-b933-30d3d963a8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Prática de Variação e Margem</a:t>
            </a:r>
            <a:endParaRPr lang="en-US" sz="2246" dirty="0"/>
          </a:p>
        </p:txBody>
      </p:sp>
      <p:sp>
        <p:nvSpPr>
          <p:cNvPr id="4" name="2119275f-9266-4e4a-8e9e-7f961a7136bf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as vendas aumentaram de R$ 40.000 para R$ 50.000, houve uma variação de ____%, e um produto vendido por R$ 100 com custo de R$ 70 possui lucro de ____ reais.</a:t>
            </a:r>
            <a:endParaRPr lang="en-US" sz="1264" dirty="0"/>
          </a:p>
        </p:txBody>
      </p:sp>
      <p:sp>
        <p:nvSpPr>
          <p:cNvPr id="5" name="e11381ab-ad4a-4842-b829-8b6be9267544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Banco de palavras 🏦</a:t>
            </a:r>
            <a:endParaRPr lang="en-US" sz="1264" dirty="0"/>
          </a:p>
        </p:txBody>
      </p:sp>
      <p:sp>
        <p:nvSpPr>
          <p:cNvPr id="6" name="8d7eb92f-c3c0-4842-9e88-9927aecee057"/>
          <p:cNvSpPr/>
          <p:nvPr/>
        </p:nvSpPr>
        <p:spPr>
          <a:xfrm>
            <a:off x="285750" y="3771900"/>
            <a:ext cx="10287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20</a:t>
            </a:r>
            <a:endParaRPr lang="en-US" sz="1264" dirty="0"/>
          </a:p>
        </p:txBody>
      </p:sp>
      <p:sp>
        <p:nvSpPr>
          <p:cNvPr id="7" name="13bb7869-fa53-4771-ab7a-b1df0b73a6c5"/>
          <p:cNvSpPr/>
          <p:nvPr/>
        </p:nvSpPr>
        <p:spPr>
          <a:xfrm>
            <a:off x="1451610" y="3771900"/>
            <a:ext cx="10287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40</a:t>
            </a:r>
            <a:endParaRPr lang="en-US" sz="1264" dirty="0"/>
          </a:p>
        </p:txBody>
      </p:sp>
      <p:sp>
        <p:nvSpPr>
          <p:cNvPr id="8" name="ef4c7fed-6a0a-4a5d-94ef-e286514b5815"/>
          <p:cNvSpPr/>
          <p:nvPr/>
        </p:nvSpPr>
        <p:spPr>
          <a:xfrm>
            <a:off x="2617470" y="3771900"/>
            <a:ext cx="10287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25</a:t>
            </a:r>
            <a:endParaRPr lang="en-US" sz="1264" dirty="0"/>
          </a:p>
        </p:txBody>
      </p:sp>
      <p:sp>
        <p:nvSpPr>
          <p:cNvPr id="9" name="6fcd80ee-3877-4560-80a1-2905d6c25e2d"/>
          <p:cNvSpPr/>
          <p:nvPr/>
        </p:nvSpPr>
        <p:spPr>
          <a:xfrm>
            <a:off x="3783330" y="3771900"/>
            <a:ext cx="10287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50</a:t>
            </a:r>
            <a:endParaRPr lang="en-US" sz="1264" dirty="0"/>
          </a:p>
        </p:txBody>
      </p:sp>
      <p:sp>
        <p:nvSpPr>
          <p:cNvPr id="10" name="8cfce37f-7d0e-4326-b182-136b5781bb06"/>
          <p:cNvSpPr/>
          <p:nvPr/>
        </p:nvSpPr>
        <p:spPr>
          <a:xfrm>
            <a:off x="4949190" y="3771900"/>
            <a:ext cx="10287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10</a:t>
            </a:r>
            <a:endParaRPr lang="en-US" sz="1264" dirty="0"/>
          </a:p>
        </p:txBody>
      </p:sp>
      <p:sp>
        <p:nvSpPr>
          <p:cNvPr id="11" name="0e0e6196-fb0e-4829-92c0-abccb6fc6183"/>
          <p:cNvSpPr/>
          <p:nvPr/>
        </p:nvSpPr>
        <p:spPr>
          <a:xfrm>
            <a:off x="6115050" y="3771900"/>
            <a:ext cx="10287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30</a:t>
            </a:r>
            <a:endParaRPr lang="en-US" sz="126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bdcc692-7ae2-4fd9-80f0-a793cbb1aad7" descr="/home/forge/chalkie-production-workers-1/releases/77481629/backend/storage/app/render-specs/ba18efb3-1d1d-435e-b57c-782ff17cb663/img_e55ecfe6702459449ae20917630e63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14400"/>
            <a:ext cx="8572500" cy="2343150"/>
          </a:xfrm>
          <a:prstGeom prst="roundRect">
            <a:avLst>
              <a:gd name="adj" fmla="val 5854"/>
            </a:avLst>
          </a:prstGeom>
        </p:spPr>
      </p:pic>
      <p:sp>
        <p:nvSpPr>
          <p:cNvPr id="3" name="822daf10-f4ff-47f3-b933-30d3d963a8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Prática de Variação e Margem</a:t>
            </a:r>
            <a:endParaRPr lang="en-US" sz="2246" dirty="0"/>
          </a:p>
        </p:txBody>
      </p:sp>
      <p:sp>
        <p:nvSpPr>
          <p:cNvPr id="4" name="2119275f-9266-4e4a-8e9e-7f961a7136bf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as vendas aumentaram de R$ 40.000 para R$ 50.000, houve uma variação de </a:t>
            </a:r>
            <a:r>
              <a:rPr lang="en-US" sz="1264" b="1" dirty="0">
                <a:solidFill>
                  <a:srgbClr val="2C6E49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25</a:t>
            </a: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%, e um produto vendido por R$ 100 com custo de R$ 70 possui lucro de </a:t>
            </a:r>
            <a:r>
              <a:rPr lang="en-US" sz="1264" b="1" dirty="0">
                <a:solidFill>
                  <a:srgbClr val="2C6E49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30</a:t>
            </a: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reais.</a:t>
            </a:r>
            <a:endParaRPr lang="en-US" sz="1264" dirty="0"/>
          </a:p>
        </p:txBody>
      </p:sp>
      <p:sp>
        <p:nvSpPr>
          <p:cNvPr id="5" name="e11381ab-ad4a-4842-b829-8b6be9267544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Banco de palavras 🏦</a:t>
            </a:r>
            <a:endParaRPr lang="en-US" sz="1264" dirty="0"/>
          </a:p>
        </p:txBody>
      </p:sp>
      <p:sp>
        <p:nvSpPr>
          <p:cNvPr id="6" name="8d7eb92f-c3c0-4842-9e88-9927aecee057"/>
          <p:cNvSpPr/>
          <p:nvPr/>
        </p:nvSpPr>
        <p:spPr>
          <a:xfrm>
            <a:off x="285750" y="3771900"/>
            <a:ext cx="10287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767676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6767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20</a:t>
            </a:r>
            <a:endParaRPr lang="en-US" sz="1264" dirty="0"/>
          </a:p>
        </p:txBody>
      </p:sp>
      <p:sp>
        <p:nvSpPr>
          <p:cNvPr id="7" name="13bb7869-fa53-4771-ab7a-b1df0b73a6c5"/>
          <p:cNvSpPr/>
          <p:nvPr/>
        </p:nvSpPr>
        <p:spPr>
          <a:xfrm>
            <a:off x="1451610" y="3771900"/>
            <a:ext cx="10287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767676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6767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40</a:t>
            </a:r>
            <a:endParaRPr lang="en-US" sz="1264" dirty="0"/>
          </a:p>
        </p:txBody>
      </p:sp>
      <p:sp>
        <p:nvSpPr>
          <p:cNvPr id="8" name="ef4c7fed-6a0a-4a5d-94ef-e286514b5815"/>
          <p:cNvSpPr/>
          <p:nvPr/>
        </p:nvSpPr>
        <p:spPr>
          <a:xfrm>
            <a:off x="2617470" y="3771900"/>
            <a:ext cx="10287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2C6E49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25</a:t>
            </a:r>
            <a:endParaRPr lang="en-US" sz="1264" dirty="0"/>
          </a:p>
        </p:txBody>
      </p:sp>
      <p:sp>
        <p:nvSpPr>
          <p:cNvPr id="9" name="6fcd80ee-3877-4560-80a1-2905d6c25e2d"/>
          <p:cNvSpPr/>
          <p:nvPr/>
        </p:nvSpPr>
        <p:spPr>
          <a:xfrm>
            <a:off x="3783330" y="3771900"/>
            <a:ext cx="10287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767676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6767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50</a:t>
            </a:r>
            <a:endParaRPr lang="en-US" sz="1264" dirty="0"/>
          </a:p>
        </p:txBody>
      </p:sp>
      <p:sp>
        <p:nvSpPr>
          <p:cNvPr id="10" name="8cfce37f-7d0e-4326-b182-136b5781bb06"/>
          <p:cNvSpPr/>
          <p:nvPr/>
        </p:nvSpPr>
        <p:spPr>
          <a:xfrm>
            <a:off x="4949190" y="3771900"/>
            <a:ext cx="10287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767676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6767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10</a:t>
            </a:r>
            <a:endParaRPr lang="en-US" sz="1264" dirty="0"/>
          </a:p>
        </p:txBody>
      </p:sp>
      <p:sp>
        <p:nvSpPr>
          <p:cNvPr id="11" name="0e0e6196-fb0e-4829-92c0-abccb6fc6183"/>
          <p:cNvSpPr/>
          <p:nvPr/>
        </p:nvSpPr>
        <p:spPr>
          <a:xfrm>
            <a:off x="6115050" y="3771900"/>
            <a:ext cx="10287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2C6E49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30</a:t>
            </a:r>
            <a:endParaRPr lang="en-US" sz="1264" dirty="0"/>
          </a:p>
        </p:txBody>
      </p:sp>
      <p:sp>
        <p:nvSpPr>
          <p:cNvPr id="12" name="adbfab0b-37fc-49cb-ad1e-1ea4c6c898aa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3b3b229-2105-44b2-a9c2-0ceb950168aa" descr="/home/forge/chalkie-production-workers-1/releases/77481629/backend/storage/app/render-specs/ba18efb3-1d1d-435e-b57c-782ff17cb663/img_fa331cf174d05631e8c9ea4ecfbc5e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1b0237b2-6745-4ddb-8eac-a1593d16df5b"/>
          <p:cNvSpPr/>
          <p:nvPr/>
        </p:nvSpPr>
        <p:spPr>
          <a:xfrm>
            <a:off x="285750" y="166878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Desafio dos Dados Brutos</a:t>
            </a:r>
            <a:endParaRPr lang="en-US" sz="2246" dirty="0"/>
          </a:p>
        </p:txBody>
      </p:sp>
      <p:sp>
        <p:nvSpPr>
          <p:cNvPr id="4" name="57fe95cf-e79a-4f09-926b-9a120837775b"/>
          <p:cNvSpPr/>
          <p:nvPr/>
        </p:nvSpPr>
        <p:spPr>
          <a:xfrm>
            <a:off x="285750" y="229743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Centenas de números soltos geram confusão. Como resumir o desempenho de uma filial inteira com apenas algumas medidas certeiras?</a:t>
            </a:r>
            <a:endParaRPr lang="en-US" sz="126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09987e1-02da-4c1b-8d1f-a75cb2533a42" descr="/home/forge/chalkie-production-workers-1/releases/77481629/backend/storage/app/render-specs/ba18efb3-1d1d-435e-b57c-782ff17cb663/img_b49ff1dd3d645d301e5b65c5ad5942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96c71a3b-0259-40af-8c5b-a68fc7df96b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Estatística Descritiva: A Média</a:t>
            </a:r>
            <a:endParaRPr lang="en-US" sz="2246" dirty="0"/>
          </a:p>
        </p:txBody>
      </p:sp>
      <p:sp>
        <p:nvSpPr>
          <p:cNvPr id="4" name="c7a3c944-4208-4fd4-a340-e8ca60811e6b"/>
          <p:cNvSpPr/>
          <p:nvPr/>
        </p:nvSpPr>
        <p:spPr>
          <a:xfrm>
            <a:off x="285750" y="868680"/>
            <a:ext cx="253746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MEDIDAS DE TENDÊNCIA</a:t>
            </a:r>
            <a:endParaRPr lang="en-US" sz="842" dirty="0"/>
          </a:p>
        </p:txBody>
      </p:sp>
      <p:sp>
        <p:nvSpPr>
          <p:cNvPr id="5" name="af921b1d-eecf-449b-833a-6f7d7ddf95e1"/>
          <p:cNvSpPr/>
          <p:nvPr/>
        </p:nvSpPr>
        <p:spPr>
          <a:xfrm>
            <a:off x="285750" y="117729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 aritmética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representa o centro de gravidade dos dados.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Ela é obtida somando todos os valores da amostra e dividindo a soma pela quantidade de observações computadas.</a:t>
            </a:r>
            <a:endParaRPr lang="en-US" sz="1264" dirty="0"/>
          </a:p>
        </p:txBody>
      </p:sp>
      <p:sp>
        <p:nvSpPr>
          <p:cNvPr id="6" name="8e841457-a77b-4140-ab25-0d20aa5c8fed_card"/>
          <p:cNvSpPr/>
          <p:nvPr/>
        </p:nvSpPr>
        <p:spPr>
          <a:xfrm>
            <a:off x="285750" y="282321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8e841457-a77b-4140-ab25-0d20aa5c8fed_emoji"/>
          <p:cNvSpPr/>
          <p:nvPr/>
        </p:nvSpPr>
        <p:spPr>
          <a:xfrm>
            <a:off x="400050" y="29718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8e841457-a77b-4140-ab25-0d20aa5c8fed_text"/>
          <p:cNvSpPr/>
          <p:nvPr/>
        </p:nvSpPr>
        <p:spPr>
          <a:xfrm>
            <a:off x="765810" y="293751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 = (x₁ + x₂ + ... + xₙ) / n. É muito útil, mas pode ser distorcida por valores discrepantes (outliers).</a:t>
            </a:r>
            <a:endParaRPr lang="en-US" sz="112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6a800c4-bcc2-4447-9978-eef154b38abc" descr="/home/forge/chalkie-production-workers-1/releases/77481629/backend/storage/app/render-specs/ba18efb3-1d1d-435e-b57c-782ff17cb663/img_b579926de714d6cccc934d8b2ae52c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fe289dad-5870-4cbd-81ba-cd1b54d2eaf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Mediana: O Valor Central</a:t>
            </a:r>
            <a:endParaRPr lang="en-US" sz="2246" dirty="0"/>
          </a:p>
        </p:txBody>
      </p:sp>
      <p:sp>
        <p:nvSpPr>
          <p:cNvPr id="4" name="5b4761d3-81b2-4e80-bda8-cf57e57df401"/>
          <p:cNvSpPr/>
          <p:nvPr/>
        </p:nvSpPr>
        <p:spPr>
          <a:xfrm>
            <a:off x="4286250" y="868680"/>
            <a:ext cx="253746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MEDIDAS DE TENDÊNCIA</a:t>
            </a:r>
            <a:endParaRPr lang="en-US" sz="842" dirty="0"/>
          </a:p>
        </p:txBody>
      </p:sp>
      <p:sp>
        <p:nvSpPr>
          <p:cNvPr id="5" name="b6b2189c-45e8-4d59-9984-5d8f53e7e4ce"/>
          <p:cNvSpPr/>
          <p:nvPr/>
        </p:nvSpPr>
        <p:spPr>
          <a:xfrm>
            <a:off x="42862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mediana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é o número exato que divide uma lista ordenada de valores em duas metades com igual número de elementos.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o número de termos for ímpar, ela é o termo do meio; se for par, calcula-se a média aritmética dos dois valores centrais.</a:t>
            </a:r>
            <a:endParaRPr lang="en-US" sz="1264" dirty="0"/>
          </a:p>
        </p:txBody>
      </p:sp>
      <p:sp>
        <p:nvSpPr>
          <p:cNvPr id="6" name="4cb5a3da-bbbb-4c1b-bbe7-d138b1bea781_card"/>
          <p:cNvSpPr/>
          <p:nvPr/>
        </p:nvSpPr>
        <p:spPr>
          <a:xfrm>
            <a:off x="4286250" y="3074670"/>
            <a:ext cx="4572000" cy="1635887"/>
          </a:xfrm>
          <a:prstGeom prst="roundRect">
            <a:avLst>
              <a:gd name="adj" fmla="val 5590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4cb5a3da-bbbb-4c1b-bbe7-d138b1bea781_emoji"/>
          <p:cNvSpPr/>
          <p:nvPr/>
        </p:nvSpPr>
        <p:spPr>
          <a:xfrm>
            <a:off x="4400550" y="32232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4cb5a3da-bbbb-4c1b-bbe7-d138b1bea781_text"/>
          <p:cNvSpPr/>
          <p:nvPr/>
        </p:nvSpPr>
        <p:spPr>
          <a:xfrm>
            <a:off x="4766310" y="3188970"/>
            <a:ext cx="3977640" cy="1407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mediana é resistente a valores extremos. Se um salário for R$ 100.000 numa equipe modesta, a mediana reflete melhor a realidade.</a:t>
            </a:r>
            <a:endParaRPr lang="en-US" sz="112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5209a8f-958c-40a8-a249-12811e60b5d5" descr="/home/forge/chalkie-production-workers-1/releases/77481629/backend/storage/app/render-specs/ba18efb3-1d1d-435e-b57c-782ff17cb663/img_d26d8da855fa8edf7664a657f2b188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a46d1742-db8f-4e73-ad46-91248ce68b6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Moda: A Maior Frequência</a:t>
            </a:r>
            <a:endParaRPr lang="en-US" sz="2246" dirty="0"/>
          </a:p>
        </p:txBody>
      </p:sp>
      <p:sp>
        <p:nvSpPr>
          <p:cNvPr id="4" name="b61bc45f-cef3-4def-95a9-f8b717871c55"/>
          <p:cNvSpPr/>
          <p:nvPr/>
        </p:nvSpPr>
        <p:spPr>
          <a:xfrm>
            <a:off x="285750" y="868680"/>
            <a:ext cx="253746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MEDIDAS DE TENDÊNCIA</a:t>
            </a:r>
            <a:endParaRPr lang="en-US" sz="842" dirty="0"/>
          </a:p>
        </p:txBody>
      </p:sp>
      <p:sp>
        <p:nvSpPr>
          <p:cNvPr id="5" name="da70b2f2-48e7-414d-befb-69010215ac6c"/>
          <p:cNvSpPr/>
          <p:nvPr/>
        </p:nvSpPr>
        <p:spPr>
          <a:xfrm>
            <a:off x="285750" y="117729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moda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é o valor que ocorre com maior repetição em um conjunto de observações.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gestão de estoque, a moda revela qual tamanho de calçado, voltagem ou cor tem maior demanda popular.</a:t>
            </a:r>
            <a:endParaRPr lang="en-US" sz="1264" dirty="0"/>
          </a:p>
        </p:txBody>
      </p:sp>
      <p:sp>
        <p:nvSpPr>
          <p:cNvPr id="6" name="0c07b35a-0fd9-4daa-acd2-20f4d2ab23ee_card"/>
          <p:cNvSpPr/>
          <p:nvPr/>
        </p:nvSpPr>
        <p:spPr>
          <a:xfrm>
            <a:off x="285750" y="2823210"/>
            <a:ext cx="4572000" cy="1635887"/>
          </a:xfrm>
          <a:prstGeom prst="roundRect">
            <a:avLst>
              <a:gd name="adj" fmla="val 5590"/>
            </a:avLst>
          </a:prstGeom>
          <a:solidFill>
            <a:srgbClr val="AFAAEC">
              <a:alpha val="14902"/>
            </a:srgbClr>
          </a:solidFill>
          <a:ln w="11430">
            <a:solidFill>
              <a:srgbClr val="08044D">
                <a:alpha val="20000"/>
              </a:srgbClr>
            </a:solidFill>
            <a:prstDash val="solid"/>
          </a:ln>
        </p:spPr>
      </p:sp>
      <p:sp>
        <p:nvSpPr>
          <p:cNvPr id="7" name="0c07b35a-0fd9-4daa-acd2-20f4d2ab23ee_emoji"/>
          <p:cNvSpPr/>
          <p:nvPr/>
        </p:nvSpPr>
        <p:spPr>
          <a:xfrm>
            <a:off x="400050" y="29718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🤯</a:t>
            </a:r>
            <a:endParaRPr lang="en-US" sz="2160" dirty="0"/>
          </a:p>
        </p:txBody>
      </p:sp>
      <p:sp>
        <p:nvSpPr>
          <p:cNvPr id="8" name="0c07b35a-0fd9-4daa-acd2-20f4d2ab23ee_text"/>
          <p:cNvSpPr/>
          <p:nvPr/>
        </p:nvSpPr>
        <p:spPr>
          <a:xfrm>
            <a:off x="765810" y="2937510"/>
            <a:ext cx="3977640" cy="1407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CECBF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Curiosidade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CECBF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conjunto pode ter uma única moda (unimodal), duas modas (bimodal) ou nenhuma moda se nenhum valor se repetir (amodal).</a:t>
            </a:r>
            <a:endParaRPr lang="en-US" sz="112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cf42771-34e5-43c0-af57-9d3b8ee44234"/>
          <p:cNvSpPr/>
          <p:nvPr/>
        </p:nvSpPr>
        <p:spPr>
          <a:xfrm>
            <a:off x="285750" y="61722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 Comparativo: Média e Mediana</a:t>
            </a:r>
            <a:endParaRPr lang="en-US" sz="2246" dirty="0"/>
          </a:p>
        </p:txBody>
      </p:sp>
      <p:sp>
        <p:nvSpPr>
          <p:cNvPr id="3" name="a973ad55-dd75-4fb8-ac2e-cc2574d228ca"/>
          <p:cNvSpPr/>
          <p:nvPr/>
        </p:nvSpPr>
        <p:spPr>
          <a:xfrm>
            <a:off x="285750" y="124587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Considere o número de atendimentos diários em 5 dias úteis: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12, 14, 15, 18, 91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Observe como a escolha da medida altera drasticamente o resumo:</a:t>
            </a:r>
            <a:endParaRPr lang="en-US" sz="1264" dirty="0"/>
          </a:p>
        </p:txBody>
      </p:sp>
      <p:sp>
        <p:nvSpPr>
          <p:cNvPr id="4" name="97d921e7-92b7-44ed-8314-ae8a2313cc00"/>
          <p:cNvSpPr/>
          <p:nvPr/>
        </p:nvSpPr>
        <p:spPr>
          <a:xfrm>
            <a:off x="285750" y="212598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Cálculo da Média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Soma: 12 + 14 + 15 + 18 + 91 =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150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Divisão: 150 / 5 =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30 atendimentos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Conclusão: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 média dá a falsa impressão de que os dias normais giram em torno de 30 atendimentos.</a:t>
            </a:r>
            <a:endParaRPr lang="en-US" sz="1544" dirty="0"/>
          </a:p>
        </p:txBody>
      </p:sp>
      <p:sp>
        <p:nvSpPr>
          <p:cNvPr id="5" name="3a95d671-326a-4df8-b15a-4245f92d6900"/>
          <p:cNvSpPr/>
          <p:nvPr/>
        </p:nvSpPr>
        <p:spPr>
          <a:xfrm>
            <a:off x="4652010" y="212598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Cálculo da Mediana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Lista em ordem: 12, 14,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15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18, 91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Termo central: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15 atendimentos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Conclusão: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 mediana representa fielmente o fluxo padrão, isolando o dia atípico (91).</a:t>
            </a:r>
            <a:endParaRPr lang="en-US" sz="154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3c51431-1e20-436e-a7d2-9b879591a80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Verificação: Impacto dos Extremos</a:t>
            </a:r>
            <a:endParaRPr lang="en-US" sz="2246" dirty="0"/>
          </a:p>
        </p:txBody>
      </p:sp>
      <p:sp>
        <p:nvSpPr>
          <p:cNvPr id="3" name="9035fa91-4ed1-4d86-afe3-eb8f37539ee4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9035fa91-4ed1-4d86-afe3-eb8f37539ee4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média aritmética é sempre a melhor métrica para resumir os salários de uma empresa com grande disparidade de remunerações.</a:t>
            </a:r>
            <a:endParaRPr lang="en-US" sz="1264" dirty="0"/>
          </a:p>
        </p:txBody>
      </p:sp>
      <p:sp>
        <p:nvSpPr>
          <p:cNvPr id="5" name="fc6915f9-adef-4029-9a0e-3972d034d1ab"/>
          <p:cNvSpPr/>
          <p:nvPr/>
        </p:nvSpPr>
        <p:spPr>
          <a:xfrm>
            <a:off x="1896533" y="2628900"/>
            <a:ext cx="2389717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2aa3f7b7-dbfe-4dd1-b9c5-f523a974fc7f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1eef35b2-1759-4738-8181-5ccfe6c68e48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🤔 </a:t>
            </a:r>
            <a:r>
              <a:rPr lang="en-US" sz="1264" i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Prepare-se para explicar o seu raciocínio.</a:t>
            </a:r>
            <a:endParaRPr lang="en-US" sz="126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3c51431-1e20-436e-a7d2-9b879591a80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Verificação: Impacto dos Extremos</a:t>
            </a:r>
            <a:endParaRPr lang="en-US" sz="2246" dirty="0"/>
          </a:p>
        </p:txBody>
      </p:sp>
      <p:sp>
        <p:nvSpPr>
          <p:cNvPr id="3" name="9035fa91-4ed1-4d86-afe3-eb8f37539ee4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9035fa91-4ed1-4d86-afe3-eb8f37539ee4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média aritmética é sempre a melhor métrica para resumir os salários de uma empresa com grande disparidade de remunerações.</a:t>
            </a:r>
            <a:endParaRPr lang="en-US" sz="1264" dirty="0"/>
          </a:p>
        </p:txBody>
      </p:sp>
      <p:sp>
        <p:nvSpPr>
          <p:cNvPr id="5" name="fc6915f9-adef-4029-9a0e-3972d034d1ab"/>
          <p:cNvSpPr/>
          <p:nvPr/>
        </p:nvSpPr>
        <p:spPr>
          <a:xfrm>
            <a:off x="1849120" y="2628900"/>
            <a:ext cx="243713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2aa3f7b7-dbfe-4dd1-b9c5-f523a974fc7f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2783f68d-3d66-4815-b30a-4d0a9d9742b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8" name="1991e684-274d-4ceb-9682-a039151a0b9a_card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9" name="1991e684-274d-4ceb-9682-a039151a0b9a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0" name="1991e684-274d-4ceb-9682-a039151a0b9a_text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é isso?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Salários exorbitantes de poucos diretores puxam a média para cima, tornando a mediana mais fiel à maioria dos funcionários.</a:t>
            </a:r>
            <a:endParaRPr lang="en-US" sz="1123" dirty="0"/>
          </a:p>
        </p:txBody>
      </p:sp>
      <p:sp>
        <p:nvSpPr>
          <p:cNvPr id="11" name="3e900d31-5dfe-4714-9448-0aedaaafdd26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bffa596-0d83-41d6-85ec-df1d32acbac2" descr="/home/forge/chalkie-production-workers-1/releases/77481629/backend/storage/app/render-specs/ba18efb3-1d1d-435e-b57c-782ff17cb663/img_baf49a88f62a96e8af48cc4b04d447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b9e30f4f-9937-408f-a83b-40a3685913bd"/>
          <p:cNvSpPr/>
          <p:nvPr/>
        </p:nvSpPr>
        <p:spPr>
          <a:xfrm>
            <a:off x="285750" y="19202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Conhecer a Dispersão?</a:t>
            </a:r>
            <a:endParaRPr lang="en-US" sz="2246" dirty="0"/>
          </a:p>
        </p:txBody>
      </p:sp>
      <p:sp>
        <p:nvSpPr>
          <p:cNvPr id="4" name="2a0e5c0a-10b6-4a66-a44c-4e1b951f1e11"/>
          <p:cNvSpPr/>
          <p:nvPr/>
        </p:nvSpPr>
        <p:spPr>
          <a:xfrm>
            <a:off x="285750" y="254889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Dois fornecedores podem entregar pedidos em uma média de 5 dias úteis.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Contudo, o Fornecedor A sempre entrega entre 4 e 6 dias, enquanto o Fornecedor B varia de 1 a 9 dias. 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dispersão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mede o risco e a previsibilidade dessa operação.</a:t>
            </a:r>
            <a:endParaRPr lang="en-US" sz="1264" dirty="0"/>
          </a:p>
        </p:txBody>
      </p:sp>
      <p:sp>
        <p:nvSpPr>
          <p:cNvPr id="5" name="f0fd0786-b79a-4b9d-ad2a-226db9ff3370_card"/>
          <p:cNvSpPr/>
          <p:nvPr/>
        </p:nvSpPr>
        <p:spPr>
          <a:xfrm>
            <a:off x="285750" y="3680460"/>
            <a:ext cx="8572500" cy="1125601"/>
          </a:xfrm>
          <a:prstGeom prst="roundRect">
            <a:avLst>
              <a:gd name="adj" fmla="val 8124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f0fd0786-b79a-4b9d-ad2a-226db9ff3370_emoji"/>
          <p:cNvSpPr/>
          <p:nvPr/>
        </p:nvSpPr>
        <p:spPr>
          <a:xfrm>
            <a:off x="400050" y="38290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f0fd0786-b79a-4b9d-ad2a-226db9ff3370_text"/>
          <p:cNvSpPr/>
          <p:nvPr/>
        </p:nvSpPr>
        <p:spPr>
          <a:xfrm>
            <a:off x="765810" y="3794760"/>
            <a:ext cx="7978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Confiar apenas na média pode esconder altos riscos operacionais e falhas graves de fornecimento.</a:t>
            </a:r>
            <a:endParaRPr lang="en-US" sz="112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4e072c8-fce1-4eed-9d83-bf8e1095e3a0" descr="/home/forge/chalkie-production-workers-1/releases/77481629/backend/storage/app/render-specs/ba18efb3-1d1d-435e-b57c-782ff17cb663/img_d02c82a3a978e674c30792f1bf9c7e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4582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3f588a0d-4abf-45ac-9669-b2f7e0d599b5" descr="/home/forge/chalkie-production-workers-1/releases/77481629/backend/storage/app/render-specs/ba18efb3-1d1d-435e-b57c-782ff17cb663/img_9daf91ba7817a9ffe8834c88f5395b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4582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ac87bb84-7457-40b7-990d-efd49e1032f7"/>
          <p:cNvSpPr/>
          <p:nvPr/>
        </p:nvSpPr>
        <p:spPr>
          <a:xfrm>
            <a:off x="285750" y="21717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Variância e Desvio Padrão</a:t>
            </a:r>
            <a:endParaRPr lang="en-US" sz="2246" dirty="0"/>
          </a:p>
        </p:txBody>
      </p:sp>
      <p:sp>
        <p:nvSpPr>
          <p:cNvPr id="5" name="7f50bd62-5667-4554-88b6-b2770cfcaf1a"/>
          <p:cNvSpPr/>
          <p:nvPr/>
        </p:nvSpPr>
        <p:spPr>
          <a:xfrm>
            <a:off x="285750" y="304038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Baixa Dispersão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Dados concentrados perto da média.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Menor variância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Processo previsível e estável</a:t>
            </a:r>
            <a:endParaRPr lang="en-US" sz="1544" dirty="0"/>
          </a:p>
        </p:txBody>
      </p:sp>
      <p:sp>
        <p:nvSpPr>
          <p:cNvPr id="6" name="ee8477dc-1478-4fe2-a734-e3c806aa6829"/>
          <p:cNvSpPr/>
          <p:nvPr/>
        </p:nvSpPr>
        <p:spPr>
          <a:xfrm>
            <a:off x="4652010" y="304038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Alta Dispersão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Dados espalhados longe do centro.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Maior desvio padrão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Processo volátil e incerto</a:t>
            </a:r>
            <a:endParaRPr lang="en-US" sz="154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38b75d1-8e8a-4048-92e4-2a284a3458e5"/>
          <p:cNvSpPr/>
          <p:nvPr/>
        </p:nvSpPr>
        <p:spPr>
          <a:xfrm>
            <a:off x="171450" y="172593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3" name="0e05f462-3bb9-4373-a3d6-69bf8665b6ce"/>
          <p:cNvSpPr/>
          <p:nvPr/>
        </p:nvSpPr>
        <p:spPr>
          <a:xfrm>
            <a:off x="2377440" y="172593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4" name="15ee5fa9-c8c4-4454-a3ea-7bda50cf247c"/>
          <p:cNvSpPr/>
          <p:nvPr/>
        </p:nvSpPr>
        <p:spPr>
          <a:xfrm>
            <a:off x="4572000" y="172593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7d8d134d-abe8-424f-a66b-837cb833d2ef"/>
          <p:cNvSpPr/>
          <p:nvPr/>
        </p:nvSpPr>
        <p:spPr>
          <a:xfrm>
            <a:off x="6777990" y="172593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6" name="7e96ff61-1aeb-4843-9387-3ea067d918b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Calculando a Variância Passo a Passo</a:t>
            </a:r>
            <a:endParaRPr lang="en-US" sz="2246" dirty="0"/>
          </a:p>
        </p:txBody>
      </p:sp>
      <p:sp>
        <p:nvSpPr>
          <p:cNvPr id="7" name="8ede2cd2-74d2-46a4-9f69-892ab910b0c4"/>
          <p:cNvSpPr/>
          <p:nvPr/>
        </p:nvSpPr>
        <p:spPr>
          <a:xfrm>
            <a:off x="285750" y="8001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variância (s²) mede a média dos quadrados dos desvios de cada dado em relação à média geral:</a:t>
            </a:r>
            <a:endParaRPr lang="en-US" sz="1264" dirty="0"/>
          </a:p>
        </p:txBody>
      </p:sp>
      <p:sp>
        <p:nvSpPr>
          <p:cNvPr id="8" name="82622f94-eada-42ad-991e-775805cbdeaf"/>
          <p:cNvSpPr/>
          <p:nvPr/>
        </p:nvSpPr>
        <p:spPr>
          <a:xfrm>
            <a:off x="285750" y="2183130"/>
            <a:ext cx="197739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Calcular a média aritmética da amostra</a:t>
            </a:r>
            <a:endParaRPr lang="en-US" sz="1264" dirty="0"/>
          </a:p>
        </p:txBody>
      </p:sp>
      <p:sp>
        <p:nvSpPr>
          <p:cNvPr id="9" name="e9d63852-ceca-40d9-83d3-006ef0fdc6e2"/>
          <p:cNvSpPr/>
          <p:nvPr/>
        </p:nvSpPr>
        <p:spPr>
          <a:xfrm>
            <a:off x="2491740" y="218313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Subtrair a média de cada dado individual</a:t>
            </a:r>
            <a:endParaRPr lang="en-US" sz="1264" dirty="0"/>
          </a:p>
        </p:txBody>
      </p:sp>
      <p:sp>
        <p:nvSpPr>
          <p:cNvPr id="10" name="79fcdd9b-adab-45e7-b04f-d9b83acd2c64"/>
          <p:cNvSpPr/>
          <p:nvPr/>
        </p:nvSpPr>
        <p:spPr>
          <a:xfrm>
            <a:off x="4686300" y="218313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Elevar cada diferença obtida ao quadrado</a:t>
            </a:r>
            <a:endParaRPr lang="en-US" sz="1264" dirty="0"/>
          </a:p>
        </p:txBody>
      </p:sp>
      <p:sp>
        <p:nvSpPr>
          <p:cNvPr id="11" name="c884765e-0e9c-422f-8117-1b717802089e"/>
          <p:cNvSpPr/>
          <p:nvPr/>
        </p:nvSpPr>
        <p:spPr>
          <a:xfrm>
            <a:off x="6892290" y="218313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Somar os quadrados e dividir pelo total</a:t>
            </a:r>
            <a:endParaRPr lang="en-US" sz="126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0d32ec5-dbbe-4a17-b6a8-762eee86fd82" descr="/home/forge/chalkie-production-workers-1/releases/77481629/backend/storage/app/render-specs/ba18efb3-1d1d-435e-b57c-782ff17cb663/img_141a3e236a0615fcc9f821cd933292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79887b96-89e2-4210-9b16-ec29e976e34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Tabelas de Frequência</a:t>
            </a:r>
            <a:endParaRPr lang="en-US" sz="2246" dirty="0"/>
          </a:p>
        </p:txBody>
      </p:sp>
      <p:sp>
        <p:nvSpPr>
          <p:cNvPr id="4" name="f1a3ed9b-532c-43ab-8def-66f5d34624c6"/>
          <p:cNvSpPr/>
          <p:nvPr/>
        </p:nvSpPr>
        <p:spPr>
          <a:xfrm>
            <a:off x="285750" y="868680"/>
            <a:ext cx="274320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ORGANIZAÇÃO DE DADOS</a:t>
            </a:r>
            <a:endParaRPr lang="en-US" sz="842" dirty="0"/>
          </a:p>
        </p:txBody>
      </p:sp>
      <p:sp>
        <p:nvSpPr>
          <p:cNvPr id="5" name="1e740bd9-f9af-4c85-9f2b-50aa22d29f47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 de frequência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agrupa medições em classes ordenadas, permitindo enxergar padrões em grandes volumes.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Ela exibe 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frequência absoluta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(contagem de ocorrências) e 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frequência relativa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(proporção percentual de cada categoria).</a:t>
            </a:r>
            <a:endParaRPr lang="en-US" sz="1264" dirty="0"/>
          </a:p>
        </p:txBody>
      </p:sp>
      <p:sp>
        <p:nvSpPr>
          <p:cNvPr id="6" name="999ad748-fd3b-4f23-81e7-43bb04cb1c09_card"/>
          <p:cNvSpPr/>
          <p:nvPr/>
        </p:nvSpPr>
        <p:spPr>
          <a:xfrm>
            <a:off x="285750" y="307467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999ad748-fd3b-4f23-81e7-43bb04cb1c09_emoji"/>
          <p:cNvSpPr/>
          <p:nvPr/>
        </p:nvSpPr>
        <p:spPr>
          <a:xfrm>
            <a:off x="400050" y="32232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999ad748-fd3b-4f23-81e7-43bb04cb1c09_text"/>
          <p:cNvSpPr/>
          <p:nvPr/>
        </p:nvSpPr>
        <p:spPr>
          <a:xfrm>
            <a:off x="765810" y="318897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frequência relativa permite comparar grupos de tamanhos diferentes com total consistência.</a:t>
            </a:r>
            <a:endParaRPr lang="en-US" sz="112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e36f80f-d2c6-46c2-830f-ff14b7d3c76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Leitura de Frequência na Prática</a:t>
            </a:r>
            <a:endParaRPr lang="en-US" sz="2246" dirty="0"/>
          </a:p>
        </p:txBody>
      </p:sp>
      <p:sp>
        <p:nvSpPr>
          <p:cNvPr id="3" name="55888d5a-d4fb-4814-a184-0dee31c5d217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Pesquisa de satisfação realizada com 200 clientes de uma loja de materiais:</a:t>
            </a:r>
            <a:endParaRPr lang="en-US" sz="1264" dirty="0"/>
          </a:p>
        </p:txBody>
      </p:sp>
      <p:sp>
        <p:nvSpPr>
          <p:cNvPr id="4" name="84ae35aa-ae4a-4cd3-a71e-dcd2a9376477"/>
          <p:cNvSpPr/>
          <p:nvPr/>
        </p:nvSpPr>
        <p:spPr>
          <a:xfrm>
            <a:off x="285750" y="136017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Frequência Absoluta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Excelente: 80 clientes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Bom: 70 clientes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Regular: 30 clientes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Ruim: 20 clientes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Total: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200 avaliações</a:t>
            </a:r>
            <a:endParaRPr lang="en-US" sz="1544" dirty="0"/>
          </a:p>
        </p:txBody>
      </p:sp>
      <p:sp>
        <p:nvSpPr>
          <p:cNvPr id="5" name="5eb3b615-ec2d-41d0-9638-f045478934be"/>
          <p:cNvSpPr/>
          <p:nvPr/>
        </p:nvSpPr>
        <p:spPr>
          <a:xfrm>
            <a:off x="4652010" y="136017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Frequência Relativa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Excelente: 80/200 =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40%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Bom: 70/200 =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35%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Regular: 30/200 =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15%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Ruim: 20/200 =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10%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Total: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100% da base</a:t>
            </a:r>
            <a:endParaRPr lang="en-US" sz="1544" dirty="0"/>
          </a:p>
        </p:txBody>
      </p:sp>
      <p:sp>
        <p:nvSpPr>
          <p:cNvPr id="6" name="448c8392-94ec-4071-b90b-4726ac7aad4d_card"/>
          <p:cNvSpPr/>
          <p:nvPr/>
        </p:nvSpPr>
        <p:spPr>
          <a:xfrm>
            <a:off x="285750" y="3749040"/>
            <a:ext cx="857250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448c8392-94ec-4071-b90b-4726ac7aad4d_emoji"/>
          <p:cNvSpPr/>
          <p:nvPr/>
        </p:nvSpPr>
        <p:spPr>
          <a:xfrm>
            <a:off x="400050" y="38976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448c8392-94ec-4071-b90b-4726ac7aad4d_text"/>
          <p:cNvSpPr/>
          <p:nvPr/>
        </p:nvSpPr>
        <p:spPr>
          <a:xfrm>
            <a:off x="765810" y="3863340"/>
            <a:ext cx="7978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Constatamos que 75% dos clientes aprovam a loja (Excelente + Bom), fundamentando metas de retenção.</a:t>
            </a:r>
            <a:endParaRPr lang="en-US" sz="1123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97f9548-8b10-482c-836e-9432145ed32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Entendendo Estatística na Prática</a:t>
            </a:r>
            <a:endParaRPr lang="en-US" sz="2246" dirty="0"/>
          </a:p>
        </p:txBody>
      </p:sp>
      <p:sp>
        <p:nvSpPr>
          <p:cNvPr id="3" name="da51fd4d-12a2-454e-95e7-ff14cf14462f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Média, mediana e moda: base para decisões.</a:t>
            </a:r>
            <a:endParaRPr lang="en-US" sz="1264" dirty="0"/>
          </a:p>
        </p:txBody>
      </p:sp>
      <p:pic>
        <p:nvPicPr>
          <p:cNvPr id="4" name="926dfe08-9071-4166-91d0-25984664c68d" descr="/home/forge/chalkie-production-workers-1/releases/77481629/backend/storage/app/render-specs/ba18efb3-1d1d-435e-b57c-782ff17cb663/poster_yTRgmuGH4KA.jpg">
            <a:hlinkClick r:id="rId5"/>
          </p:cNvPr>
          <p:cNvPicPr>
            <a:picLocks noChangeAspect="1"/>
          </p:cNvPicPr>
          <p:nvPr>
            <a:videoFile r:link="rId1"/>
            <p:extLst>
              <p:ext uri="{C809E66F-F1BF-436E-b5F7-EEA9579F0CBA}">
                <p15:webVideoPr xmlns:p15="http://schemas.microsoft.com/office/powerpoint/2012/main" xmlns="" embeddedHtml="&lt;iframe width=&quot;560&quot; height=&quot;315&quot; src=&quot;https://www.youtube.com/embed/yTRgmuGH4KA?feature=oembed&quot; frameborder=&quot;0&quot; allowfullscreen=&quot;&quot;&gt;&lt;/iframe&gt;" h="315" w="560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463040" y="1360170"/>
            <a:ext cx="6217920" cy="34975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7335a2a-12fe-4be7-b474-36c6c133bd5c" descr="/home/forge/chalkie-production-workers-1/releases/77481629/backend/storage/app/render-specs/ba18efb3-1d1d-435e-b57c-782ff17cb663/img_e8256362cad34d8efa0d9d9420515d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615235e6-6464-4a1b-bcd0-8a69d4b1a51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Padrões em Séries: Progressão Aritmética</a:t>
            </a:r>
            <a:endParaRPr lang="en-US" sz="2246" dirty="0"/>
          </a:p>
        </p:txBody>
      </p:sp>
      <p:sp>
        <p:nvSpPr>
          <p:cNvPr id="4" name="153a3a59-c054-48c4-8728-1e35c90b7967"/>
          <p:cNvSpPr/>
          <p:nvPr/>
        </p:nvSpPr>
        <p:spPr>
          <a:xfrm>
            <a:off x="285750" y="868680"/>
            <a:ext cx="258318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PREVISÃO EMPRESARIAL</a:t>
            </a:r>
            <a:endParaRPr lang="en-US" sz="842" dirty="0"/>
          </a:p>
        </p:txBody>
      </p:sp>
      <p:sp>
        <p:nvSpPr>
          <p:cNvPr id="5" name="7a1cae65-6588-47e0-873b-de15a4d53f97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uma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Progressão Aritmética (PA)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cada termo posterior resulta da soma do termo anterior com uma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razão constante (r)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uma equipe abre 5 novos pontos de venda a cada trimestre, sua expansão segue o modelo linear de uma PA.</a:t>
            </a:r>
            <a:endParaRPr lang="en-US" sz="1264" dirty="0"/>
          </a:p>
        </p:txBody>
      </p:sp>
      <p:sp>
        <p:nvSpPr>
          <p:cNvPr id="6" name="d86fafd3-cc73-42d2-be1a-3bf793185d07_card"/>
          <p:cNvSpPr/>
          <p:nvPr/>
        </p:nvSpPr>
        <p:spPr>
          <a:xfrm>
            <a:off x="285750" y="307467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d86fafd3-cc73-42d2-be1a-3bf793185d07_emoji"/>
          <p:cNvSpPr/>
          <p:nvPr/>
        </p:nvSpPr>
        <p:spPr>
          <a:xfrm>
            <a:off x="400050" y="32232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d86fafd3-cc73-42d2-be1a-3bf793185d07_text"/>
          <p:cNvSpPr/>
          <p:nvPr/>
        </p:nvSpPr>
        <p:spPr>
          <a:xfrm>
            <a:off x="765810" y="318897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Lojas abertas por trimestre: 10, 15, 20, 25... Razão r = +5 lojas a cada período.</a:t>
            </a:r>
            <a:endParaRPr lang="en-US" sz="1123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58b507c-f7bb-4957-b753-0e35d9c14f08" descr="/home/forge/chalkie-production-workers-1/releases/77481629/backend/storage/app/render-specs/ba18efb3-1d1d-435e-b57c-782ff17cb663/img_db7f69d236d04922e5644c080d8590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409e7340-c63f-43aa-8e0e-e7b530679eb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Padrões em Séries: Progressão Geométrica</a:t>
            </a:r>
            <a:endParaRPr lang="en-US" sz="2246" dirty="0"/>
          </a:p>
        </p:txBody>
      </p:sp>
      <p:sp>
        <p:nvSpPr>
          <p:cNvPr id="4" name="d7d2293d-38eb-4b6c-95bc-3f75e88df033"/>
          <p:cNvSpPr/>
          <p:nvPr/>
        </p:nvSpPr>
        <p:spPr>
          <a:xfrm>
            <a:off x="4286250" y="868680"/>
            <a:ext cx="258318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PREVISÃO EMPRESARIAL</a:t>
            </a:r>
            <a:endParaRPr lang="en-US" sz="842" dirty="0"/>
          </a:p>
        </p:txBody>
      </p:sp>
      <p:sp>
        <p:nvSpPr>
          <p:cNvPr id="5" name="174399e9-be03-458d-87b7-727749bbb45d"/>
          <p:cNvSpPr/>
          <p:nvPr/>
        </p:nvSpPr>
        <p:spPr>
          <a:xfrm>
            <a:off x="42862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uma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Progressão Geométrica (PG)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cada termo é obtido multiplicando o anterior por uma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razão constante (q)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Crescimentos exponenciais, como o volume de acessos a uma plataforma digital ou juros compostos, seguem uma PG.</a:t>
            </a:r>
            <a:endParaRPr lang="en-US" sz="1264" dirty="0"/>
          </a:p>
        </p:txBody>
      </p:sp>
      <p:sp>
        <p:nvSpPr>
          <p:cNvPr id="6" name="6b88bbcf-fedd-46eb-a69b-fc701938e980_card"/>
          <p:cNvSpPr/>
          <p:nvPr/>
        </p:nvSpPr>
        <p:spPr>
          <a:xfrm>
            <a:off x="4286250" y="307467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6b88bbcf-fedd-46eb-a69b-fc701938e980_emoji"/>
          <p:cNvSpPr/>
          <p:nvPr/>
        </p:nvSpPr>
        <p:spPr>
          <a:xfrm>
            <a:off x="4400550" y="32232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6b88bbcf-fedd-46eb-a69b-fc701938e980_text"/>
          <p:cNvSpPr/>
          <p:nvPr/>
        </p:nvSpPr>
        <p:spPr>
          <a:xfrm>
            <a:off x="4766310" y="318897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Usuários ativos: 1.000, 2.000, 4.000, 8.000... Razão multiplicativa q = 2 (dobrando a cada ciclo).</a:t>
            </a:r>
            <a:endParaRPr lang="en-US" sz="1123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d4521da-d053-4ce4-a598-0e0de896c8d2" descr="/home/forge/chalkie-production-workers-1/releases/77481629/backend/storage/app/render-specs/ba18efb3-1d1d-435e-b57c-782ff17cb663/img_1a9b935b8a5c7ca54e68574d058baf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660821e1-5495-4486-9247-26b247a4bdfe" descr="/home/forge/chalkie-production-workers-1/releases/77481629/backend/storage/app/render-specs/ba18efb3-1d1d-435e-b57c-782ff17cb663/img_9a6cebc2a1411cf5dafb5dae3406088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de461d6d-6ed8-45e5-bb10-485b9582ce1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Comparando Modelos de Crescimento</a:t>
            </a:r>
            <a:endParaRPr lang="en-US" sz="2246" dirty="0"/>
          </a:p>
        </p:txBody>
      </p:sp>
      <p:sp>
        <p:nvSpPr>
          <p:cNvPr id="5" name="aafd9165-cc2c-4c92-937e-1ac1c59f0262"/>
          <p:cNvSpPr/>
          <p:nvPr/>
        </p:nvSpPr>
        <p:spPr>
          <a:xfrm>
            <a:off x="285750" y="299466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Progressão Aritmética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Crescimento por soma fixa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Comportamento linear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Exemplo: meta fixa de +50 unidades/mês</a:t>
            </a:r>
            <a:endParaRPr lang="en-US" sz="1544" dirty="0"/>
          </a:p>
        </p:txBody>
      </p:sp>
      <p:sp>
        <p:nvSpPr>
          <p:cNvPr id="6" name="f34238f3-e784-4826-9d06-0998d262ca70"/>
          <p:cNvSpPr/>
          <p:nvPr/>
        </p:nvSpPr>
        <p:spPr>
          <a:xfrm>
            <a:off x="4652010" y="299466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Progressão Geométrica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Crescimento por multiplicação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Comportamento acelerado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Exemplo: vendas dobrando (+100%) a cada mês</a:t>
            </a:r>
            <a:endParaRPr lang="en-US" sz="1544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0e47149-0d7d-402e-9720-e6804163c41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Sequência Lógica de Crescimento</a:t>
            </a:r>
            <a:endParaRPr lang="en-US" sz="2246" dirty="0"/>
          </a:p>
        </p:txBody>
      </p:sp>
      <p:sp>
        <p:nvSpPr>
          <p:cNvPr id="3" name="cca9ac64-77b8-4b57-a4dc-aebe1409422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os termos desta Progressão Aritmética de faturamento bimestral que cresce à razão fixa de R$ 15.000 a partir de R$ 30.000:</a:t>
            </a:r>
            <a:endParaRPr lang="en-US" sz="1264" dirty="0"/>
          </a:p>
        </p:txBody>
      </p:sp>
      <p:sp>
        <p:nvSpPr>
          <p:cNvPr id="4" name="4c2fb330-9557-4c9c-aa3e-05d19872dd65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Bimestre 1: R$ 30.000</a:t>
            </a:r>
            <a:endParaRPr lang="en-US" sz="1264" dirty="0"/>
          </a:p>
        </p:txBody>
      </p:sp>
      <p:sp>
        <p:nvSpPr>
          <p:cNvPr id="5" name="05b5891d-94ba-4909-b382-0f868ec2b64d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Bimestre 4: R$ 75.000</a:t>
            </a:r>
            <a:endParaRPr lang="en-US" sz="1264" dirty="0"/>
          </a:p>
        </p:txBody>
      </p:sp>
      <p:sp>
        <p:nvSpPr>
          <p:cNvPr id="6" name="81811381-9c21-40e0-8dd4-8d34fb7fc96b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Bimestre 3: R$ 60.000</a:t>
            </a:r>
            <a:endParaRPr lang="en-US" sz="1264" dirty="0"/>
          </a:p>
        </p:txBody>
      </p:sp>
      <p:sp>
        <p:nvSpPr>
          <p:cNvPr id="7" name="b399e42c-0934-4ed9-8e54-470339955fad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Bimestre 2: R$ 45.000</a:t>
            </a:r>
            <a:endParaRPr lang="en-US" sz="126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0e47149-0d7d-402e-9720-e6804163c41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Sequência Lógica de Crescimento</a:t>
            </a:r>
            <a:endParaRPr lang="en-US" sz="2246" dirty="0"/>
          </a:p>
        </p:txBody>
      </p:sp>
      <p:sp>
        <p:nvSpPr>
          <p:cNvPr id="3" name="cca9ac64-77b8-4b57-a4dc-aebe1409422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os termos desta Progressão Aritmética de faturamento bimestral que cresce à razão fixa de R$ 15.000 a partir de R$ 30.000:</a:t>
            </a:r>
            <a:endParaRPr lang="en-US" sz="1264" dirty="0"/>
          </a:p>
        </p:txBody>
      </p:sp>
      <p:sp>
        <p:nvSpPr>
          <p:cNvPr id="4" name="4c2fb330-9557-4c9c-aa3e-05d19872dd65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Bimestre 1: R$ 30.000</a:t>
            </a:r>
            <a:endParaRPr lang="en-US" sz="1264" dirty="0"/>
          </a:p>
        </p:txBody>
      </p:sp>
      <p:sp>
        <p:nvSpPr>
          <p:cNvPr id="5" name="05b5891d-94ba-4909-b382-0f868ec2b64d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Bimestre 4: R$ 75.000</a:t>
            </a:r>
            <a:endParaRPr lang="en-US" sz="1264" dirty="0"/>
          </a:p>
        </p:txBody>
      </p:sp>
      <p:sp>
        <p:nvSpPr>
          <p:cNvPr id="6" name="81811381-9c21-40e0-8dd4-8d34fb7fc96b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Bimestre 3: R$ 60.000</a:t>
            </a:r>
            <a:endParaRPr lang="en-US" sz="1264" dirty="0"/>
          </a:p>
        </p:txBody>
      </p:sp>
      <p:sp>
        <p:nvSpPr>
          <p:cNvPr id="7" name="b399e42c-0934-4ed9-8e54-470339955fad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Bimestre 2: R$ 45.000</a:t>
            </a:r>
            <a:endParaRPr lang="en-US" sz="1264" dirty="0"/>
          </a:p>
        </p:txBody>
      </p:sp>
      <p:sp>
        <p:nvSpPr>
          <p:cNvPr id="8" name="c565cea8-e5fb-4daf-8f15-263e6f65c88d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9" name="4bf36883-bd63-43ee-920e-10c5b33faf61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913" dirty="0"/>
          </a:p>
        </p:txBody>
      </p:sp>
      <p:sp>
        <p:nvSpPr>
          <p:cNvPr id="10" name="c333658b-18c0-4d84-a45c-42e58b112123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913" dirty="0"/>
          </a:p>
        </p:txBody>
      </p:sp>
      <p:sp>
        <p:nvSpPr>
          <p:cNvPr id="11" name="e179dea3-ca64-4e25-bf40-680ac3a22afe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913" dirty="0"/>
          </a:p>
        </p:txBody>
      </p:sp>
      <p:sp>
        <p:nvSpPr>
          <p:cNvPr id="12" name="a6969765-fc6e-447b-9ce3-fb814045df1a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</a:t>
            </a:r>
            <a:endParaRPr lang="en-US" sz="913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6c8090d-aa94-4987-90a6-12b91bd4c5f4" descr="/home/forge/chalkie-production-workers-1/releases/77481629/backend/storage/app/render-specs/ba18efb3-1d1d-435e-b57c-782ff17cb663/img_37a5838bd227e212c6c95e45abb11e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7d09fd55-9247-46ac-91e4-68afdf1b5a2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Lógica de Causa e Efeito na Gestão</a:t>
            </a:r>
            <a:endParaRPr lang="en-US" sz="2246" dirty="0"/>
          </a:p>
        </p:txBody>
      </p:sp>
      <p:sp>
        <p:nvSpPr>
          <p:cNvPr id="4" name="3ff4e59d-2bfb-403c-936d-9b82e11d06ea"/>
          <p:cNvSpPr/>
          <p:nvPr/>
        </p:nvSpPr>
        <p:spPr>
          <a:xfrm>
            <a:off x="285750" y="868680"/>
            <a:ext cx="228600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TOMADA DE DECISÃO</a:t>
            </a:r>
            <a:endParaRPr lang="en-US" sz="842" dirty="0"/>
          </a:p>
        </p:txBody>
      </p:sp>
      <p:sp>
        <p:nvSpPr>
          <p:cNvPr id="5" name="4f63ec43-5688-44c7-9185-b47ed85f710c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Projeções financeiras confiáveis combinam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tendências numéricas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com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hipóteses causais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de mercado.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o preço de venda de um item aumenta em 20%, qual será o efeito sobre o volume demandado e sobre a receita líquida?</a:t>
            </a:r>
            <a:endParaRPr lang="en-US" sz="1264" dirty="0"/>
          </a:p>
        </p:txBody>
      </p:sp>
      <p:sp>
        <p:nvSpPr>
          <p:cNvPr id="6" name="29a7fcfb-f150-4e76-aaa1-37a7c6e4415f_card"/>
          <p:cNvSpPr/>
          <p:nvPr/>
        </p:nvSpPr>
        <p:spPr>
          <a:xfrm>
            <a:off x="285750" y="3074670"/>
            <a:ext cx="4572000" cy="1635887"/>
          </a:xfrm>
          <a:prstGeom prst="roundRect">
            <a:avLst>
              <a:gd name="adj" fmla="val 5590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29a7fcfb-f150-4e76-aaa1-37a7c6e4415f_emoji"/>
          <p:cNvSpPr/>
          <p:nvPr/>
        </p:nvSpPr>
        <p:spPr>
          <a:xfrm>
            <a:off x="400050" y="32232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29a7fcfb-f150-4e76-aaa1-37a7c6e4415f_text"/>
          <p:cNvSpPr/>
          <p:nvPr/>
        </p:nvSpPr>
        <p:spPr>
          <a:xfrm>
            <a:off x="765810" y="3188970"/>
            <a:ext cx="3977640" cy="1407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Correlação numérica não garante causalidade automática: é fundamental compreender os fatores operacionais subjacentes.</a:t>
            </a:r>
            <a:endParaRPr lang="en-US" sz="1123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614fb95-905d-4e06-b85f-4f402cff48d0"/>
          <p:cNvSpPr/>
          <p:nvPr/>
        </p:nvSpPr>
        <p:spPr>
          <a:xfrm>
            <a:off x="285750" y="34290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Árvore de Decisão e Cenários</a:t>
            </a:r>
            <a:endParaRPr lang="en-US" sz="2246" dirty="0"/>
          </a:p>
        </p:txBody>
      </p:sp>
      <p:sp>
        <p:nvSpPr>
          <p:cNvPr id="3" name="6575ac2d-14d3-4212-967f-212d1b2c68c4"/>
          <p:cNvSpPr/>
          <p:nvPr/>
        </p:nvSpPr>
        <p:spPr>
          <a:xfrm>
            <a:off x="285750" y="97155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Decisão: Reduzir Preço em 10%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Hipótese Otimista: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Volume sobe 30%, aumentando receita total líquida.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Hipótese Pessimista: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Volume sobe apenas 5%, corroendo a margem de lucro.</a:t>
            </a:r>
            <a:endParaRPr lang="en-US" sz="1544" dirty="0"/>
          </a:p>
        </p:txBody>
      </p:sp>
      <p:sp>
        <p:nvSpPr>
          <p:cNvPr id="4" name="2854c95e-9333-4566-8de9-076ab8bb89dc"/>
          <p:cNvSpPr/>
          <p:nvPr/>
        </p:nvSpPr>
        <p:spPr>
          <a:xfrm>
            <a:off x="4652010" y="97155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Decisão: Manter Preço e Investir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Hipótese Otimista: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Produto preserva alto valor percebido e atrai novos clientes.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Hipótese Pessimista: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Custo com marketing sobe sem gerar retorno em vendas.</a:t>
            </a:r>
            <a:endParaRPr lang="en-US" sz="1544" dirty="0"/>
          </a:p>
        </p:txBody>
      </p:sp>
      <p:sp>
        <p:nvSpPr>
          <p:cNvPr id="5" name="ea8bd0fd-1129-439b-8811-8cb0ab2191fb_card"/>
          <p:cNvSpPr/>
          <p:nvPr/>
        </p:nvSpPr>
        <p:spPr>
          <a:xfrm>
            <a:off x="285750" y="3440430"/>
            <a:ext cx="85725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ea8bd0fd-1129-439b-8811-8cb0ab2191fb_emoji"/>
          <p:cNvSpPr/>
          <p:nvPr/>
        </p:nvSpPr>
        <p:spPr>
          <a:xfrm>
            <a:off x="400050" y="35890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ea8bd0fd-1129-439b-8811-8cb0ab2191fb_text"/>
          <p:cNvSpPr/>
          <p:nvPr/>
        </p:nvSpPr>
        <p:spPr>
          <a:xfrm>
            <a:off x="765810" y="3554730"/>
            <a:ext cx="7978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matemática fornece os cenários de risco, mas o gestor escolhe a estratégia mais coerente.</a:t>
            </a:r>
            <a:endParaRPr lang="en-US" sz="1123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2ed2814-2ea7-46fe-8680-a6d5b6ae79c1"/>
          <p:cNvSpPr/>
          <p:nvPr/>
        </p:nvSpPr>
        <p:spPr>
          <a:xfrm>
            <a:off x="285750" y="1520190"/>
            <a:ext cx="8572500" cy="67437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3" name="532d8aea-e821-4b6b-bd70-5b711c8ee99b"/>
          <p:cNvSpPr/>
          <p:nvPr/>
        </p:nvSpPr>
        <p:spPr>
          <a:xfrm>
            <a:off x="285750" y="2308860"/>
            <a:ext cx="8572500" cy="67437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4" name="aa1ea71a-7a97-4ff0-b220-14a7b9c14154"/>
          <p:cNvSpPr/>
          <p:nvPr/>
        </p:nvSpPr>
        <p:spPr>
          <a:xfrm>
            <a:off x="285750" y="3097530"/>
            <a:ext cx="8572500" cy="67437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5" name="660935f3-e771-44d5-ad28-cc4c6eafcd04"/>
          <p:cNvSpPr/>
          <p:nvPr/>
        </p:nvSpPr>
        <p:spPr>
          <a:xfrm>
            <a:off x="285750" y="3886200"/>
            <a:ext cx="8572500" cy="67437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6" name="1c5b3d12-7f90-410d-a9e6-6d1e8433dd6b"/>
          <p:cNvSpPr/>
          <p:nvPr/>
        </p:nvSpPr>
        <p:spPr>
          <a:xfrm>
            <a:off x="285750" y="33147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Análise de Dataset: Custos de Envio</a:t>
            </a:r>
            <a:endParaRPr lang="en-US" sz="2246" dirty="0"/>
          </a:p>
        </p:txBody>
      </p:sp>
      <p:sp>
        <p:nvSpPr>
          <p:cNvPr id="7" name="219617ec-da99-4e3b-a837-1e8c1964dcbd"/>
          <p:cNvSpPr/>
          <p:nvPr/>
        </p:nvSpPr>
        <p:spPr>
          <a:xfrm>
            <a:off x="285750" y="96012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Distribuidora analisou prazos de 7 remessas: 2, 3, 3, 4, 4, 4, 8 dias.</a:t>
            </a:r>
            <a:endParaRPr lang="en-US" sz="1264" dirty="0"/>
          </a:p>
        </p:txBody>
      </p:sp>
      <p:sp>
        <p:nvSpPr>
          <p:cNvPr id="8" name="ca4046f4-aeb0-46d5-a803-ca55d0f86193"/>
          <p:cNvSpPr/>
          <p:nvPr/>
        </p:nvSpPr>
        <p:spPr>
          <a:xfrm>
            <a:off x="400050" y="1634490"/>
            <a:ext cx="83439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Soma 28 / 7 = 4,0 dias de prazo médio.</a:t>
            </a:r>
            <a:endParaRPr lang="en-US" sz="1264" dirty="0"/>
          </a:p>
        </p:txBody>
      </p:sp>
      <p:sp>
        <p:nvSpPr>
          <p:cNvPr id="9" name="fe3baf46-068e-4610-ad9d-766318814b34"/>
          <p:cNvSpPr/>
          <p:nvPr/>
        </p:nvSpPr>
        <p:spPr>
          <a:xfrm>
            <a:off x="400050" y="2423160"/>
            <a:ext cx="83439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Mediana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O valor central do rol é 4 dias.</a:t>
            </a:r>
            <a:endParaRPr lang="en-US" sz="1264" dirty="0"/>
          </a:p>
        </p:txBody>
      </p:sp>
      <p:sp>
        <p:nvSpPr>
          <p:cNvPr id="10" name="18ffada3-f7ef-42b2-b706-8df24a7c4776"/>
          <p:cNvSpPr/>
          <p:nvPr/>
        </p:nvSpPr>
        <p:spPr>
          <a:xfrm>
            <a:off x="400050" y="3211830"/>
            <a:ext cx="83439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Moda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Valor mais frequente é 4 dias (3 vezes).</a:t>
            </a:r>
            <a:endParaRPr lang="en-US" sz="1264" dirty="0"/>
          </a:p>
        </p:txBody>
      </p:sp>
      <p:sp>
        <p:nvSpPr>
          <p:cNvPr id="11" name="d3b37996-7549-48f7-bed3-80dc3372af78"/>
          <p:cNvSpPr/>
          <p:nvPr/>
        </p:nvSpPr>
        <p:spPr>
          <a:xfrm>
            <a:off x="400050" y="4000500"/>
            <a:ext cx="83439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Amplitude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Diferença do maior para o menor: 8 - 2 = 6 dias.</a:t>
            </a:r>
            <a:endParaRPr lang="en-US" sz="126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89146f0-9b8a-4faf-bad1-b4438228bf63" descr="/home/forge/chalkie-production-workers-1/releases/77481629/backend/storage/app/render-specs/ba18efb3-1d1d-435e-b57c-782ff17cb663/img_cb1de91b28351ab4d38a536396af33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773503c7-c056-4573-8cfd-8562c5696ae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Identificando Tendências Visuais</a:t>
            </a:r>
            <a:endParaRPr lang="en-US" sz="2246" dirty="0"/>
          </a:p>
        </p:txBody>
      </p:sp>
      <p:sp>
        <p:nvSpPr>
          <p:cNvPr id="4" name="22458e6e-8314-47d6-8bea-16449c99e20f"/>
          <p:cNvSpPr/>
          <p:nvPr/>
        </p:nvSpPr>
        <p:spPr>
          <a:xfrm>
            <a:off x="4286250" y="868680"/>
            <a:ext cx="242316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ANÁLISE ESTRATÉGICA</a:t>
            </a:r>
            <a:endParaRPr lang="en-US" sz="842" dirty="0"/>
          </a:p>
        </p:txBody>
      </p:sp>
      <p:sp>
        <p:nvSpPr>
          <p:cNvPr id="5" name="5a2ce79b-8002-429b-8d55-4da4c94ae982"/>
          <p:cNvSpPr/>
          <p:nvPr/>
        </p:nvSpPr>
        <p:spPr>
          <a:xfrm>
            <a:off x="42862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Gráficos de linhas e dispersão mostram se os dados operacionais estão em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alta sustentada, estabilidade ou retração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Reconhecer tendências antes dos concorrentes viabiliza ajustes em compras de insumos, contratações e investimentos de capital.</a:t>
            </a:r>
            <a:endParaRPr lang="en-US" sz="1264" dirty="0"/>
          </a:p>
        </p:txBody>
      </p:sp>
      <p:sp>
        <p:nvSpPr>
          <p:cNvPr id="6" name="1011b637-e56b-4b56-b450-166e700ec4b3_card"/>
          <p:cNvSpPr/>
          <p:nvPr/>
        </p:nvSpPr>
        <p:spPr>
          <a:xfrm>
            <a:off x="4286250" y="333756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1011b637-e56b-4b56-b450-166e700ec4b3_emoji"/>
          <p:cNvSpPr/>
          <p:nvPr/>
        </p:nvSpPr>
        <p:spPr>
          <a:xfrm>
            <a:off x="4400550" y="34861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1011b637-e56b-4b56-b450-166e700ec4b3_text"/>
          <p:cNvSpPr/>
          <p:nvPr/>
        </p:nvSpPr>
        <p:spPr>
          <a:xfrm>
            <a:off x="4766310" y="345186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Linhas de tendência suavizam flutuações pontuais de curto prazo e revelam a real direção do negócio.</a:t>
            </a:r>
            <a:endParaRPr lang="en-US" sz="1123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8722b12-68be-47d0-9774-f1bc06afcfce" descr="/home/forge/chalkie-production-workers-1/releases/77481629/backend/storage/app/render-specs/ba18efb3-1d1d-435e-b57c-782ff17cb663/img_87a555007075dc12e005eeff195822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372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a33ba9b5-7429-4c6c-9cce-d36a64ef9f86" descr="/home/forge/chalkie-production-workers-1/releases/77481629/backend/storage/app/render-specs/ba18efb3-1d1d-435e-b57c-782ff17cb663/img_fb82a8ebbc82b5c22ed9216376bb639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9372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619f2619-225c-49d4-9994-eab2107250c4"/>
          <p:cNvSpPr/>
          <p:nvPr/>
        </p:nvSpPr>
        <p:spPr>
          <a:xfrm>
            <a:off x="285750" y="30861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Tendências no Planejamento Estratégico</a:t>
            </a:r>
            <a:endParaRPr lang="en-US" sz="2246" dirty="0"/>
          </a:p>
        </p:txBody>
      </p:sp>
      <p:sp>
        <p:nvSpPr>
          <p:cNvPr id="5" name="018e6f09-7501-4f25-93fc-4428e4bbaa0c"/>
          <p:cNvSpPr/>
          <p:nvPr/>
        </p:nvSpPr>
        <p:spPr>
          <a:xfrm>
            <a:off x="285750" y="31318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Sazonalidade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Padrões periódicos previsíveis, como o pico de vendas de brinquedos em dezembro ou sorvetes no verão.</a:t>
            </a:r>
            <a:endParaRPr lang="en-US" sz="1544" dirty="0"/>
          </a:p>
        </p:txBody>
      </p:sp>
      <p:sp>
        <p:nvSpPr>
          <p:cNvPr id="6" name="3fa23e75-58e9-459e-99c6-50381fec71ed"/>
          <p:cNvSpPr/>
          <p:nvPr/>
        </p:nvSpPr>
        <p:spPr>
          <a:xfrm>
            <a:off x="4652010" y="31318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Estabilidade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Consumo contínuo sem grandes surtos, permitindo estoques enxutos e compras programadas.</a:t>
            </a:r>
            <a:endParaRPr lang="en-US" sz="1544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dc068af-8ee2-43ef-8b75-7c98ba56ebb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Consolidação dos Conceitos</a:t>
            </a:r>
            <a:endParaRPr lang="en-US" sz="2246" dirty="0"/>
          </a:p>
        </p:txBody>
      </p:sp>
      <p:sp>
        <p:nvSpPr>
          <p:cNvPr id="3" name="6592301b-7958-403a-ab6c-9455eb286428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Relacione as palavras com as definições</a:t>
            </a:r>
            <a:endParaRPr lang="en-US" sz="1123" dirty="0"/>
          </a:p>
        </p:txBody>
      </p:sp>
      <p:sp>
        <p:nvSpPr>
          <p:cNvPr id="4" name="5f88ca8d-8b14-4e23-9b67-d58bf2574edf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Variância</a:t>
            </a:r>
            <a:endParaRPr lang="en-US" sz="1404" dirty="0"/>
          </a:p>
        </p:txBody>
      </p:sp>
      <p:sp>
        <p:nvSpPr>
          <p:cNvPr id="5" name="24ed16de-33f9-44fa-a97b-853405c98731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Porcentagem</a:t>
            </a:r>
            <a:endParaRPr lang="en-US" sz="1404" dirty="0"/>
          </a:p>
        </p:txBody>
      </p:sp>
      <p:sp>
        <p:nvSpPr>
          <p:cNvPr id="6" name="146e9ca7-3aab-4bbb-9894-ad4aa5f5ea86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Mediana</a:t>
            </a:r>
            <a:endParaRPr lang="en-US" sz="1404" dirty="0"/>
          </a:p>
        </p:txBody>
      </p:sp>
      <p:sp>
        <p:nvSpPr>
          <p:cNvPr id="7" name="dfae6d1f-5993-4872-863a-be941c7e1c05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Moda</a:t>
            </a:r>
            <a:endParaRPr lang="en-US" sz="1404" dirty="0"/>
          </a:p>
        </p:txBody>
      </p:sp>
      <p:sp>
        <p:nvSpPr>
          <p:cNvPr id="8" name="e8ee0388-7c66-41aa-8050-5e8bdbb5ac4c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Valor que ocupa o centro exato de uma sequência ordenada de dados.</a:t>
            </a:r>
            <a:endParaRPr lang="en-US" sz="1264" dirty="0"/>
          </a:p>
        </p:txBody>
      </p:sp>
      <p:sp>
        <p:nvSpPr>
          <p:cNvPr id="9" name="52d4e143-ca9b-4e6c-bcd6-e15c5048d738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Razão expressa em base 100 para comparar grandezas e variações.</a:t>
            </a:r>
            <a:endParaRPr lang="en-US" sz="1264" dirty="0"/>
          </a:p>
        </p:txBody>
      </p:sp>
      <p:sp>
        <p:nvSpPr>
          <p:cNvPr id="10" name="a0a0d3ed-e1e0-4b20-b14c-7f8d701b66b7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Dado que apresenta o maior número de ocorrências na amostra.</a:t>
            </a:r>
            <a:endParaRPr lang="en-US" sz="1264" dirty="0"/>
          </a:p>
        </p:txBody>
      </p:sp>
      <p:sp>
        <p:nvSpPr>
          <p:cNvPr id="11" name="52e52519-50e0-4385-a02d-16b1d25013ce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Medida que avalia a dispersão dos valores ao redor da média.</a:t>
            </a:r>
            <a:endParaRPr lang="en-US" sz="1264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dc068af-8ee2-43ef-8b75-7c98ba56ebb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Consolidação dos Conceitos</a:t>
            </a:r>
            <a:endParaRPr lang="en-US" sz="2246" dirty="0"/>
          </a:p>
        </p:txBody>
      </p:sp>
      <p:sp>
        <p:nvSpPr>
          <p:cNvPr id="3" name="6592301b-7958-403a-ab6c-9455eb286428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Relacione as palavras com as definições</a:t>
            </a:r>
            <a:endParaRPr lang="en-US" sz="1123" dirty="0"/>
          </a:p>
        </p:txBody>
      </p:sp>
      <p:sp>
        <p:nvSpPr>
          <p:cNvPr id="4" name="5f88ca8d-8b14-4e23-9b67-d58bf2574edf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09E9E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Variância</a:t>
            </a:r>
            <a:endParaRPr lang="en-US" sz="1404" dirty="0"/>
          </a:p>
        </p:txBody>
      </p:sp>
      <p:sp>
        <p:nvSpPr>
          <p:cNvPr id="5" name="24ed16de-33f9-44fa-a97b-853405c98731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90368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Porcentagem</a:t>
            </a:r>
            <a:endParaRPr lang="en-US" sz="1404" dirty="0"/>
          </a:p>
        </p:txBody>
      </p:sp>
      <p:sp>
        <p:nvSpPr>
          <p:cNvPr id="6" name="146e9ca7-3aab-4bbb-9894-ad4aa5f5ea86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68C45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Mediana</a:t>
            </a:r>
            <a:endParaRPr lang="en-US" sz="1404" dirty="0"/>
          </a:p>
        </p:txBody>
      </p:sp>
      <p:sp>
        <p:nvSpPr>
          <p:cNvPr id="7" name="dfae6d1f-5993-4872-863a-be941c7e1c05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579A9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Moda</a:t>
            </a:r>
            <a:endParaRPr lang="en-US" sz="1404" dirty="0"/>
          </a:p>
        </p:txBody>
      </p:sp>
      <p:sp>
        <p:nvSpPr>
          <p:cNvPr id="8" name="e8ee0388-7c66-41aa-8050-5e8bdbb5ac4c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Valor que ocupa o centro exato de uma sequência ordenada de dados.</a:t>
            </a:r>
            <a:endParaRPr lang="en-US" sz="1264" dirty="0"/>
          </a:p>
        </p:txBody>
      </p:sp>
      <p:sp>
        <p:nvSpPr>
          <p:cNvPr id="9" name="52d4e143-ca9b-4e6c-bcd6-e15c5048d738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Razão expressa em base 100 para comparar grandezas e variações.</a:t>
            </a:r>
            <a:endParaRPr lang="en-US" sz="1264" dirty="0"/>
          </a:p>
        </p:txBody>
      </p:sp>
      <p:sp>
        <p:nvSpPr>
          <p:cNvPr id="10" name="a0a0d3ed-e1e0-4b20-b14c-7f8d701b66b7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Dado que apresenta o maior número de ocorrências na amostra.</a:t>
            </a:r>
            <a:endParaRPr lang="en-US" sz="1264" dirty="0"/>
          </a:p>
        </p:txBody>
      </p:sp>
      <p:sp>
        <p:nvSpPr>
          <p:cNvPr id="11" name="52e52519-50e0-4385-a02d-16b1d25013ce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Medida que avalia a dispersão dos valores ao redor da média.</a:t>
            </a:r>
            <a:endParaRPr lang="en-US" sz="1264" dirty="0"/>
          </a:p>
        </p:txBody>
      </p:sp>
      <p:sp>
        <p:nvSpPr>
          <p:cNvPr id="12" name="9d841759-342b-4265-8444-e98a97d84dab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connector-e91b377c-d14e-47cf-8c69-a91d4dcd2d4a-0"/>
          <p:cNvSpPr/>
          <p:nvPr/>
        </p:nvSpPr>
        <p:spPr>
          <a:xfrm>
            <a:off x="2571750" y="1623060"/>
            <a:ext cx="994410" cy="2720340"/>
          </a:xfrm>
          <a:prstGeom prst="line">
            <a:avLst/>
          </a:prstGeom>
          <a:noFill/>
          <a:ln w="28575">
            <a:solidFill>
              <a:srgbClr val="409E9E"/>
            </a:solidFill>
            <a:prstDash val="solid"/>
          </a:ln>
        </p:spPr>
      </p:sp>
      <p:sp>
        <p:nvSpPr>
          <p:cNvPr id="14" name="connector-e91b377c-d14e-47cf-8c69-a91d4dcd2d4a-1"/>
          <p:cNvSpPr/>
          <p:nvPr/>
        </p:nvSpPr>
        <p:spPr>
          <a:xfrm flipV="1">
            <a:off x="2571750" y="2514600"/>
            <a:ext cx="994410" cy="22860"/>
          </a:xfrm>
          <a:prstGeom prst="line">
            <a:avLst/>
          </a:prstGeom>
          <a:noFill/>
          <a:ln w="28575">
            <a:solidFill>
              <a:srgbClr val="D90368"/>
            </a:solidFill>
            <a:prstDash val="solid"/>
          </a:ln>
        </p:spPr>
      </p:sp>
      <p:sp>
        <p:nvSpPr>
          <p:cNvPr id="15" name="connector-e91b377c-d14e-47cf-8c69-a91d4dcd2d4a-2"/>
          <p:cNvSpPr/>
          <p:nvPr/>
        </p:nvSpPr>
        <p:spPr>
          <a:xfrm flipV="1">
            <a:off x="2571750" y="1600200"/>
            <a:ext cx="994410" cy="1851660"/>
          </a:xfrm>
          <a:prstGeom prst="line">
            <a:avLst/>
          </a:prstGeom>
          <a:noFill/>
          <a:ln w="28575">
            <a:solidFill>
              <a:srgbClr val="D68C45"/>
            </a:solidFill>
            <a:prstDash val="solid"/>
          </a:ln>
        </p:spPr>
      </p:sp>
      <p:sp>
        <p:nvSpPr>
          <p:cNvPr id="16" name="connector-e91b377c-d14e-47cf-8c69-a91d4dcd2d4a-3"/>
          <p:cNvSpPr/>
          <p:nvPr/>
        </p:nvSpPr>
        <p:spPr>
          <a:xfrm flipV="1">
            <a:off x="2571750" y="3429000"/>
            <a:ext cx="994410" cy="937260"/>
          </a:xfrm>
          <a:prstGeom prst="line">
            <a:avLst/>
          </a:prstGeom>
          <a:noFill/>
          <a:ln w="28575">
            <a:solidFill>
              <a:srgbClr val="4579A9"/>
            </a:solidFill>
            <a:prstDash val="solid"/>
          </a:ln>
        </p:spPr>
      </p:sp>
      <p:sp>
        <p:nvSpPr>
          <p:cNvPr id="17" name="266f93f9-9ee5-47f7-b17e-19b8cfc5e92b"/>
          <p:cNvSpPr/>
          <p:nvPr/>
        </p:nvSpPr>
        <p:spPr>
          <a:xfrm>
            <a:off x="3394710" y="41719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09E9E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</a:t>
            </a:r>
            <a:endParaRPr lang="en-US" sz="913" dirty="0"/>
          </a:p>
        </p:txBody>
      </p:sp>
      <p:sp>
        <p:nvSpPr>
          <p:cNvPr id="18" name="725ff9da-cf6c-484c-8be5-c315f87c3fca"/>
          <p:cNvSpPr/>
          <p:nvPr/>
        </p:nvSpPr>
        <p:spPr>
          <a:xfrm>
            <a:off x="3394710" y="23431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90368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</a:t>
            </a:r>
            <a:endParaRPr lang="en-US" sz="913" dirty="0"/>
          </a:p>
        </p:txBody>
      </p:sp>
      <p:sp>
        <p:nvSpPr>
          <p:cNvPr id="19" name="1aaff760-347d-48e7-9789-eda241182fd5"/>
          <p:cNvSpPr/>
          <p:nvPr/>
        </p:nvSpPr>
        <p:spPr>
          <a:xfrm>
            <a:off x="3394710" y="14287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</a:t>
            </a:r>
            <a:endParaRPr lang="en-US" sz="913" dirty="0"/>
          </a:p>
        </p:txBody>
      </p:sp>
      <p:sp>
        <p:nvSpPr>
          <p:cNvPr id="20" name="fde532ba-3034-465b-a3ef-70b7c2bc031e"/>
          <p:cNvSpPr/>
          <p:nvPr/>
        </p:nvSpPr>
        <p:spPr>
          <a:xfrm>
            <a:off x="3394710" y="32575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579A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</a:t>
            </a:r>
            <a:endParaRPr lang="en-US" sz="913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ef4f83f-8a6d-4b81-a725-7b42590c19a2" descr="/home/forge/chalkie-production-workers-1/releases/77481629/backend/storage/app/render-specs/ba18efb3-1d1d-435e-b57c-782ff17cb663/img_b8e2e30cbb6ba10a8acb00af0ff4be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pic>
        <p:nvPicPr>
          <p:cNvPr id="3" name="2a144a6f-8173-4d22-9858-a223aa3a0332" descr="/home/forge/chalkie-production-workers-1/releases/77481629/backend/storage/app/render-specs/ba18efb3-1d1d-435e-b57c-782ff17cb663/img_08d0f2f6d1ff857db978e662f8e5e6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1908810"/>
            <a:ext cx="2697480" cy="2331720"/>
          </a:xfrm>
          <a:prstGeom prst="roundRect">
            <a:avLst>
              <a:gd name="adj" fmla="val 5882"/>
            </a:avLst>
          </a:prstGeom>
        </p:spPr>
      </p:pic>
      <p:sp>
        <p:nvSpPr>
          <p:cNvPr id="4" name="a6aa3e91-68ca-43b8-b7ef-2f8280f9c82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Estudo de Caso: Análise Gerencial</a:t>
            </a:r>
            <a:endParaRPr lang="en-US" sz="2246" dirty="0"/>
          </a:p>
        </p:txBody>
      </p:sp>
      <p:sp>
        <p:nvSpPr>
          <p:cNvPr id="5" name="73655144-c798-462d-b331-1b06d21ba497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Uma distribuidora teve os seguintes faturamentos no primeiro semestre (em milhares de reais): R$ 40, R$ 42, R$ 42, R$ 44, R$ 48 e R$ 84.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Calcule a média e a mediana do período.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Qual medida reflete melhor o desempenho típico? Justifique.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Calcule a variação percentual entre o primeiro e o último mês.</a:t>
            </a:r>
            <a:endParaRPr lang="en-US" sz="1264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320a75f-3195-44cb-bac7-e258b73898c6" descr="/home/forge/chalkie-production-workers-1/releases/77481629/backend/storage/app/render-specs/ba18efb3-1d1d-435e-b57c-782ff17cb663/img_88f2cf22d50efe57d124336ea25cb3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pic>
        <p:nvPicPr>
          <p:cNvPr id="3" name="39d0d407-a7d2-4205-8bad-4b68f42c4092" descr="/home/forge/chalkie-production-workers-1/releases/77481629/backend/storage/app/render-specs/ba18efb3-1d1d-435e-b57c-782ff17cb663/img_9e55901c0ba07f8e3912962e4a42366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020" y="1657350"/>
            <a:ext cx="2834640" cy="2194560"/>
          </a:xfrm>
          <a:prstGeom prst="roundRect">
            <a:avLst>
              <a:gd name="adj" fmla="val 6250"/>
            </a:avLst>
          </a:prstGeom>
        </p:spPr>
      </p:pic>
      <p:sp>
        <p:nvSpPr>
          <p:cNvPr id="4" name="f349af85-2561-44da-8fae-087366f8dbf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Decisão Estratégica: Preço vs. Volume</a:t>
            </a:r>
            <a:endParaRPr lang="en-US" sz="2246" dirty="0"/>
          </a:p>
        </p:txBody>
      </p:sp>
      <p:sp>
        <p:nvSpPr>
          <p:cNvPr id="5" name="677593f9-1e49-488f-b795-10b42b2bd3b3"/>
          <p:cNvSpPr/>
          <p:nvPr/>
        </p:nvSpPr>
        <p:spPr>
          <a:xfrm>
            <a:off x="3684693" y="1137920"/>
            <a:ext cx="4339167" cy="26797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sua empresa precisasse aumentar o lucro no próximo trimestre, seria mais seguro cortar os custos operacionais em 10% ou aplicar um desconto de 10% para buscar um salto de 25% </a:t>
            </a:r>
            <a:r>
              <a:rPr lang="en-US" sz="1264" dirty="0" err="1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nas</a:t>
            </a: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</a:t>
            </a:r>
            <a:r>
              <a:rPr lang="en-US" sz="1264" dirty="0" err="1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vendas</a:t>
            </a: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?</a:t>
            </a:r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Quais medidas estatísticas e financeiras você usaria para validar essa escolha?</a:t>
            </a:r>
            <a:endParaRPr lang="en-US" sz="1264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320a75f-3195-44cb-bac7-e258b73898c6" descr="/home/forge/chalkie-production-workers-1/releases/77481629/backend/storage/app/render-specs/ba18efb3-1d1d-435e-b57c-782ff17cb663/img_88f2cf22d50efe57d124336ea25cb3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sp>
        <p:nvSpPr>
          <p:cNvPr id="3" name="f349af85-2561-44da-8fae-087366f8dbf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Decisão Estratégica: Preço vs. Volume</a:t>
            </a:r>
            <a:endParaRPr lang="en-US" sz="2246" dirty="0"/>
          </a:p>
        </p:txBody>
      </p:sp>
      <p:sp>
        <p:nvSpPr>
          <p:cNvPr id="4" name="3bf552a2-212e-4fee-8c48-c25473b059af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poderia ter dito...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resposta ideal avalia elasticidade e custos. Cortar despesas garante margem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independente do mercado. Descontos para 25% de volume extra sobrecarregam a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logística e dependem da demanda. O gestor deve monitorar o desvio padrão de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vendas, a variabilidade dos custos e calcular o ponto de equilíbrio antes.</a:t>
            </a:r>
            <a:endParaRPr lang="en-US" sz="1264" dirty="0"/>
          </a:p>
        </p:txBody>
      </p:sp>
      <p:sp>
        <p:nvSpPr>
          <p:cNvPr id="5" name="bb7aaaa1-fc42-43ef-92e1-5bae9a9e449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2489</Words>
  <Application>Microsoft Office PowerPoint</Application>
  <PresentationFormat>Apresentação no Ecrã (16:9)</PresentationFormat>
  <Paragraphs>338</Paragraphs>
  <Slides>41</Slides>
  <Notes>41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41</vt:i4>
      </vt:variant>
    </vt:vector>
  </HeadingPairs>
  <TitlesOfParts>
    <vt:vector size="44" baseType="lpstr">
      <vt:lpstr>Dyslexie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Matemáticos para Gestão</dc:title>
  <dc:subject>PptxGenJS Presentation</dc:subject>
  <dc:creator>PptxGenJS</dc:creator>
  <cp:lastModifiedBy>Gelvazio Camargo - HOTMAIL</cp:lastModifiedBy>
  <cp:revision>3</cp:revision>
  <dcterms:created xsi:type="dcterms:W3CDTF">2026-09-11T11:20:06Z</dcterms:created>
  <dcterms:modified xsi:type="dcterms:W3CDTF">2026-09-14T11:47:36Z</dcterms:modified>
</cp:coreProperties>
</file>