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 embedTrueType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</p:sldIdLst>
  <p:notesMasterIdLst>
    <p:notesMasterId r:id="rId43"/>
  </p:notesMasterIdLst>
  <p:sldSz cx="9144000" cy="5143500"/>
  <p:notesSz cx="5143500" cy="9144000"/>
  <p:embeddedFontLst>
    <p:embeddedFont>
      <p:font typeface="Inter"/>
      <p:regular r:id="rId48"/>
      <p:bold r:id="rId49"/>
    </p:embeddedFont>
    <p:embeddedFont>
      <p:font typeface="Karla"/>
      <p:regular r:id="rId50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notesMaster" Target="notesMasters/notesMaster1.xml"/><Relationship Id="rId44" Type="http://schemas.openxmlformats.org/officeDocument/2006/relationships/presProps" Target="presProps.xml"/><Relationship Id="rId45" Type="http://schemas.openxmlformats.org/officeDocument/2006/relationships/viewProps" Target="viewProps.xml"/><Relationship Id="rId46" Type="http://schemas.openxmlformats.org/officeDocument/2006/relationships/theme" Target="theme/theme1.xml"/><Relationship Id="rId47" Type="http://schemas.openxmlformats.org/officeDocument/2006/relationships/tableStyles" Target="tableStyles.xml"/><Relationship Id="rId48" Type="http://schemas.openxmlformats.org/officeDocument/2006/relationships/font" Target="fonts/font1.fntdata"/><Relationship Id="rId49" Type="http://schemas.openxmlformats.org/officeDocument/2006/relationships/font" Target="fonts/font2.fntdata"/><Relationship Id="rId50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W2vLx87KiKU" TargetMode="External"/><Relationship Id="rId1" Type="http://schemas.openxmlformats.org/officeDocument/2006/relationships/image" Target="../media/image-13-1.png"/><Relationship Id="rId2" Type="http://schemas.openxmlformats.org/officeDocument/2006/relationships/image" Target="../media/image-13-2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.xml"/><Relationship Id="rId6" Type="http://schemas.openxmlformats.org/officeDocument/2006/relationships/video" Target="https://www.youtube.com/embed/W2vLx87KiKU?feature=oembed" TargetMode="Externa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image" Target="../media/image-2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image" Target="../media/image-2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hyperlink" Target="https://app.chalkie.ai/player/a2b70bdf-edbe-4c6f-a65a-287b86004263/5f2e84ce-fe6e-4e3a-96cc-23036b41c1c6?source=exported_presentation&amp;exportFormat=powerpoint" TargetMode="External"/><Relationship Id="rId1" Type="http://schemas.openxmlformats.org/officeDocument/2006/relationships/image" Target="../media/image-30-1.png"/><Relationship Id="rId2" Type="http://schemas.openxmlformats.org/officeDocument/2006/relationships/image" Target="../media/image-30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hyperlink" Target="https://app.chalkie.ai/player/a2b70bdf-edbe-4c6f-a65a-287b86004263/5f2e84ce-fe6e-4e3a-96cc-23036b41c1c6?source=exported_presentation&amp;exportFormat=powerpoint" TargetMode="External"/><Relationship Id="rId1" Type="http://schemas.openxmlformats.org/officeDocument/2006/relationships/image" Target="../media/image-31-1.png"/><Relationship Id="rId2" Type="http://schemas.openxmlformats.org/officeDocument/2006/relationships/image" Target="../media/image-31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image" Target="../media/image-3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image" Target="../media/image-3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image" Target="../media/image-35-2.png"/><Relationship Id="rId3" Type="http://schemas.openxmlformats.org/officeDocument/2006/relationships/image" Target="../media/image-35-3.png"/><Relationship Id="rId4" Type="http://schemas.openxmlformats.org/officeDocument/2006/relationships/image" Target="../media/image-35-4.png"/><Relationship Id="rId5" Type="http://schemas.openxmlformats.org/officeDocument/2006/relationships/image" Target="../media/image-3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image" Target="../media/image-3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9-1.png"/><Relationship Id="rId2" Type="http://schemas.openxmlformats.org/officeDocument/2006/relationships/image" Target="../media/image-39-2.png"/><Relationship Id="rId3" Type="http://schemas.openxmlformats.org/officeDocument/2006/relationships/image" Target="../media/image-3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0-1.png"/><Relationship Id="rId2" Type="http://schemas.openxmlformats.org/officeDocument/2006/relationships/image" Target="../media/image-4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heme-logo-1" descr="/home/forge/chalkie-production-workers-3/releases/77481733/backend/storage/app/render-specs/2cc91f21-05c3-4444-9175-544f711574a6/img_67db2e6a5fb9230f9de86baa7e51a1c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59800" y="127000"/>
            <a:ext cx="457200" cy="457200"/>
          </a:xfrm>
          <a:prstGeom prst="rect">
            <a:avLst/>
          </a:prstGeom>
        </p:spPr>
      </p:pic>
      <p:pic>
        <p:nvPicPr>
          <p:cNvPr id="3" name="2f5d165f-30a7-41cb-bc67-62dc9355a828" descr="/home/forge/chalkie-production-workers-3/releases/77481733/backend/storage/app/render-specs/2cc91f21-05c3-4444-9175-544f711574a6/img_5bd8777c0873384491f30a23b8fb897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7260" y="742950"/>
            <a:ext cx="3657600" cy="3657600"/>
          </a:xfrm>
          <a:prstGeom prst="roundRect">
            <a:avLst>
              <a:gd name="adj" fmla="val 3750"/>
            </a:avLst>
          </a:prstGeom>
        </p:spPr>
      </p:pic>
      <p:sp>
        <p:nvSpPr>
          <p:cNvPr id="4" name="870b515e-78b9-4bf9-864b-6a878d54485f"/>
          <p:cNvSpPr/>
          <p:nvPr/>
        </p:nvSpPr>
        <p:spPr>
          <a:xfrm>
            <a:off x="4914900" y="1165860"/>
            <a:ext cx="3829050" cy="124358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888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3240" b="1" dirty="0">
                <a:solidFill>
                  <a:srgbClr val="00509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Excel Básico: Interface e Fórmulas</a:t>
            </a:r>
            <a:endParaRPr lang="en-US" sz="3240" dirty="0"/>
          </a:p>
        </p:txBody>
      </p:sp>
      <p:sp>
        <p:nvSpPr>
          <p:cNvPr id="5" name="823dad16-a668-4336-bd98-ada1b0330040"/>
          <p:cNvSpPr/>
          <p:nvPr/>
        </p:nvSpPr>
        <p:spPr>
          <a:xfrm>
            <a:off x="4914900" y="2823210"/>
            <a:ext cx="3829050" cy="667512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Dominando a ferramenta central da análise de dados e gestão moderna.</a:t>
            </a:r>
            <a:endParaRPr lang="en-US" sz="162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heme-logo-2" descr="/home/forge/chalkie-production-workers-3/releases/77481733/backend/storage/app/render-specs/2cc91f21-05c3-4444-9175-544f711574a6/img_67db2e6a5fb9230f9de86baa7e51a1c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59800" y="127000"/>
            <a:ext cx="457200" cy="457200"/>
          </a:xfrm>
          <a:prstGeom prst="rect">
            <a:avLst/>
          </a:prstGeom>
        </p:spPr>
      </p:pic>
      <p:pic>
        <p:nvPicPr>
          <p:cNvPr id="3" name="acfcc8f9-7670-4550-ae4e-2e17c3728015" descr="/home/forge/chalkie-production-workers-3/releases/77481733/backend/storage/app/render-specs/2cc91f21-05c3-4444-9175-544f711574a6/img_df957e88358bfb96afdaa78d663f0e5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57850" y="0"/>
            <a:ext cx="3486150" cy="5143500"/>
          </a:xfrm>
          <a:prstGeom prst="roundRect">
            <a:avLst>
              <a:gd name="adj" fmla="val 3934"/>
            </a:avLst>
          </a:prstGeom>
        </p:spPr>
      </p:pic>
      <p:sp>
        <p:nvSpPr>
          <p:cNvPr id="4" name="7265e5f2-3730-40d9-8f7f-34a4ff9290d6"/>
          <p:cNvSpPr/>
          <p:nvPr/>
        </p:nvSpPr>
        <p:spPr>
          <a:xfrm>
            <a:off x="285750" y="1680210"/>
            <a:ext cx="5143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456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880" b="1" dirty="0">
                <a:solidFill>
                  <a:srgbClr val="00509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Poder das Planilhas</a:t>
            </a:r>
            <a:endParaRPr lang="en-US" sz="2880" dirty="0"/>
          </a:p>
        </p:txBody>
      </p:sp>
      <p:sp>
        <p:nvSpPr>
          <p:cNvPr id="5" name="88726325-0899-4b51-8ef6-8d515b4cd867"/>
          <p:cNvSpPr/>
          <p:nvPr/>
        </p:nvSpPr>
        <p:spPr>
          <a:xfrm>
            <a:off x="285750" y="2297430"/>
            <a:ext cx="5143500" cy="955548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Você sabia que mais de 80% das decisões corporativas no mundo ainda dependem de planilhas eletrônicas como o Excel?</a:t>
            </a:r>
            <a:endParaRPr lang="en-US" sz="162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heme-logo-3" descr="/home/forge/chalkie-production-workers-3/releases/77481733/backend/storage/app/render-specs/2cc91f21-05c3-4444-9175-544f711574a6/img_67db2e6a5fb9230f9de86baa7e51a1c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59800" y="127000"/>
            <a:ext cx="457200" cy="457200"/>
          </a:xfrm>
          <a:prstGeom prst="rect">
            <a:avLst/>
          </a:prstGeom>
        </p:spPr>
      </p:pic>
      <p:pic>
        <p:nvPicPr>
          <p:cNvPr id="3" name="7aee99e3-f9e9-4213-8285-c20a02c1c250" descr="/home/forge/chalkie-production-workers-3/releases/77481733/backend/storage/app/render-specs/2cc91f21-05c3-4444-9175-544f711574a6/img_165900b88ff2efac949861f9d8f89a00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788670"/>
            <a:ext cx="3829050" cy="4069080"/>
          </a:xfrm>
          <a:prstGeom prst="roundRect">
            <a:avLst>
              <a:gd name="adj" fmla="val 3582"/>
            </a:avLst>
          </a:prstGeom>
        </p:spPr>
      </p:pic>
      <p:sp>
        <p:nvSpPr>
          <p:cNvPr id="4" name="ab5e0a49-d0fa-4062-b3b2-9ce8c50df846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456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880" b="1" dirty="0">
                <a:solidFill>
                  <a:srgbClr val="00509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Objetivos da Aula</a:t>
            </a:r>
            <a:endParaRPr lang="en-US" sz="2880" dirty="0"/>
          </a:p>
        </p:txBody>
      </p:sp>
      <p:sp>
        <p:nvSpPr>
          <p:cNvPr id="5" name="04dda6af-fd9c-4ea0-83b3-a8f862ba51ed"/>
          <p:cNvSpPr/>
          <p:nvPr/>
        </p:nvSpPr>
        <p:spPr>
          <a:xfrm>
            <a:off x="285750" y="857250"/>
            <a:ext cx="731520" cy="262890"/>
          </a:xfrm>
          <a:prstGeom prst="roundRect">
            <a:avLst>
              <a:gd name="adj" fmla="val 17391"/>
            </a:avLst>
          </a:prstGeom>
          <a:solidFill>
            <a:srgbClr val="D32F2F"/>
          </a:solidFill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METAS</a:t>
            </a:r>
            <a:endParaRPr lang="en-US" sz="1080" dirty="0"/>
          </a:p>
        </p:txBody>
      </p:sp>
      <p:sp>
        <p:nvSpPr>
          <p:cNvPr id="6" name="18cb03bb-d9ba-4576-85cb-3ac57747ce4a"/>
          <p:cNvSpPr/>
          <p:nvPr/>
        </p:nvSpPr>
        <p:spPr>
          <a:xfrm>
            <a:off x="285750" y="1165860"/>
            <a:ext cx="4572000" cy="955548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Nesta aula de 4 horas, você alcançará três metas práticas essenciais:</a:t>
            </a:r>
            <a:endParaRPr lang="en-US" sz="1620" dirty="0"/>
          </a:p>
          <a:p>
            <a:pPr algn="l" marL="228600" indent="-68580">
              <a:lnSpc>
                <a:spcPts val="1944"/>
              </a:lnSpc>
              <a:spcBef>
                <a:spcPts val="225"/>
              </a:spcBef>
              <a:spcAft>
                <a:spcPts val="225"/>
              </a:spcAft>
              <a:buSzPct val="100000"/>
              <a:buChar char="•"/>
            </a:pPr>
            <a:r>
              <a:rPr lang="en-US" sz="162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Navegar</a:t>
            </a:r>
            <a:pPr algn="l" indent="0" marL="0">
              <a:lnSpc>
                <a:spcPts val="1944"/>
              </a:lnSpc>
              <a:spcBef>
                <a:spcPts val="225"/>
              </a:spcBef>
              <a:spcAft>
                <a:spcPts val="225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com confiança pela interface e estruturas do Excel.</a:t>
            </a:r>
            <a:endParaRPr lang="en-US" sz="1620" dirty="0"/>
          </a:p>
          <a:p>
            <a:pPr algn="l" marL="228600" indent="-68580">
              <a:lnSpc>
                <a:spcPts val="1944"/>
              </a:lnSpc>
              <a:spcBef>
                <a:spcPts val="225"/>
              </a:spcBef>
              <a:spcAft>
                <a:spcPts val="225"/>
              </a:spcAft>
              <a:buSzPct val="100000"/>
              <a:buChar char="•"/>
            </a:pPr>
            <a:r>
              <a:rPr lang="en-US" sz="162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Construir</a:t>
            </a:r>
            <a:pPr algn="l" indent="0" marL="0">
              <a:lnSpc>
                <a:spcPts val="1944"/>
              </a:lnSpc>
              <a:spcBef>
                <a:spcPts val="225"/>
              </a:spcBef>
              <a:spcAft>
                <a:spcPts val="225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fórmulas matemáticas e funções lógicas e estatísticas.</a:t>
            </a:r>
            <a:endParaRPr lang="en-US" sz="1620" dirty="0"/>
          </a:p>
          <a:p>
            <a:pPr algn="l" marL="228600" indent="-68580">
              <a:lnSpc>
                <a:spcPts val="1944"/>
              </a:lnSpc>
              <a:spcBef>
                <a:spcPts val="225"/>
              </a:spcBef>
              <a:spcAft>
                <a:spcPts val="225"/>
              </a:spcAft>
              <a:buSzPct val="100000"/>
              <a:buChar char="•"/>
            </a:pPr>
            <a:r>
              <a:rPr lang="en-US" sz="162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Automatizar</a:t>
            </a:r>
            <a:pPr algn="l" indent="0" marL="0">
              <a:lnSpc>
                <a:spcPts val="1944"/>
              </a:lnSpc>
              <a:spcBef>
                <a:spcPts val="225"/>
              </a:spcBef>
              <a:spcAft>
                <a:spcPts val="225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uma folha de pagamento com referências absolutas.</a:t>
            </a:r>
            <a:endParaRPr lang="en-US" sz="162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heme-logo-4" descr="/home/forge/chalkie-production-workers-3/releases/77481733/backend/storage/app/render-specs/2cc91f21-05c3-4444-9175-544f711574a6/img_67db2e6a5fb9230f9de86baa7e51a1c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59800" y="127000"/>
            <a:ext cx="457200" cy="457200"/>
          </a:xfrm>
          <a:prstGeom prst="rect">
            <a:avLst/>
          </a:prstGeom>
        </p:spPr>
      </p:pic>
      <p:pic>
        <p:nvPicPr>
          <p:cNvPr id="3" name="86cb7bd3-8582-4409-acf8-c1a25a6da18b" descr="/home/forge/chalkie-production-workers-3/releases/77481733/backend/storage/app/render-specs/2cc91f21-05c3-4444-9175-544f711574a6/img_3c5dbe8c9a1d2392bfe25bc0d3a032a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750" y="1588770"/>
            <a:ext cx="1977390" cy="1714500"/>
          </a:xfrm>
          <a:prstGeom prst="roundRect">
            <a:avLst>
              <a:gd name="adj" fmla="val 8000"/>
            </a:avLst>
          </a:prstGeom>
        </p:spPr>
      </p:pic>
      <p:pic>
        <p:nvPicPr>
          <p:cNvPr id="4" name="c0a825dc-830b-40b4-be70-1d6b0ff4358d" descr="/home/forge/chalkie-production-workers-3/releases/77481733/backend/storage/app/render-specs/2cc91f21-05c3-4444-9175-544f711574a6/img_95959eee9b6ba6bae5d170b852a62cbb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91740" y="902970"/>
            <a:ext cx="1977390" cy="1714500"/>
          </a:xfrm>
          <a:prstGeom prst="roundRect">
            <a:avLst>
              <a:gd name="adj" fmla="val 8000"/>
            </a:avLst>
          </a:prstGeom>
        </p:spPr>
      </p:pic>
      <p:pic>
        <p:nvPicPr>
          <p:cNvPr id="5" name="a56dbc4e-099d-4a95-917c-ba0a4f7837f8" descr="/home/forge/chalkie-production-workers-3/releases/77481733/backend/storage/app/render-specs/2cc91f21-05c3-4444-9175-544f711574a6/img_f7da455962311ff603056830bc0ef2c5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86300" y="1588770"/>
            <a:ext cx="1977390" cy="1714500"/>
          </a:xfrm>
          <a:prstGeom prst="roundRect">
            <a:avLst>
              <a:gd name="adj" fmla="val 8000"/>
            </a:avLst>
          </a:prstGeom>
        </p:spPr>
      </p:pic>
      <p:pic>
        <p:nvPicPr>
          <p:cNvPr id="6" name="01b515b4-0a4f-4d2c-aced-a56d52d27099" descr="/home/forge/chalkie-production-workers-3/releases/77481733/backend/storage/app/render-specs/2cc91f21-05c3-4444-9175-544f711574a6/img_2188103cc694a4cafa243707e8950ddb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92290" y="902970"/>
            <a:ext cx="1977390" cy="1714500"/>
          </a:xfrm>
          <a:prstGeom prst="roundRect">
            <a:avLst>
              <a:gd name="adj" fmla="val 8000"/>
            </a:avLst>
          </a:prstGeom>
        </p:spPr>
      </p:pic>
      <p:sp>
        <p:nvSpPr>
          <p:cNvPr id="7" name="b1bb2d1a-b021-4732-a921-06cec932a45a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456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880" b="1" dirty="0">
                <a:solidFill>
                  <a:srgbClr val="00509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Vocabulário Essencial</a:t>
            </a:r>
            <a:endParaRPr lang="en-US" sz="2880" dirty="0"/>
          </a:p>
        </p:txBody>
      </p:sp>
      <p:sp>
        <p:nvSpPr>
          <p:cNvPr id="8" name="d8a122af-a0a9-4093-a0a5-912e3e8ee10e"/>
          <p:cNvSpPr/>
          <p:nvPr/>
        </p:nvSpPr>
        <p:spPr>
          <a:xfrm>
            <a:off x="285750" y="3417570"/>
            <a:ext cx="1977390" cy="185166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ctr" indent="0" marL="0">
              <a:lnSpc>
                <a:spcPts val="2376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98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Célula</a:t>
            </a:r>
            <a:endParaRPr lang="en-US" sz="1980" dirty="0"/>
          </a:p>
          <a:p>
            <a:pPr algn="ctr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Interseção única entre uma coluna e uma linha na planilha.</a:t>
            </a:r>
            <a:endParaRPr lang="en-US" sz="1980" dirty="0"/>
          </a:p>
        </p:txBody>
      </p:sp>
      <p:sp>
        <p:nvSpPr>
          <p:cNvPr id="9" name="9bab78df-97c8-426b-a346-516516aede96"/>
          <p:cNvSpPr/>
          <p:nvPr/>
        </p:nvSpPr>
        <p:spPr>
          <a:xfrm>
            <a:off x="2491740" y="2731770"/>
            <a:ext cx="1977390" cy="185166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ctr" indent="0" marL="0">
              <a:lnSpc>
                <a:spcPts val="2376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98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Fórmula</a:t>
            </a:r>
            <a:endParaRPr lang="en-US" sz="1980" dirty="0"/>
          </a:p>
          <a:p>
            <a:pPr algn="ctr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Expressão que inicia com sinal de igual para efetuar cálculos.</a:t>
            </a:r>
            <a:endParaRPr lang="en-US" sz="1980" dirty="0"/>
          </a:p>
        </p:txBody>
      </p:sp>
      <p:sp>
        <p:nvSpPr>
          <p:cNvPr id="10" name="71891028-8c15-4f43-ac14-0cddb7dd7bde"/>
          <p:cNvSpPr/>
          <p:nvPr/>
        </p:nvSpPr>
        <p:spPr>
          <a:xfrm>
            <a:off x="4686300" y="3417570"/>
            <a:ext cx="1977390" cy="185166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ctr" indent="0" marL="0">
              <a:lnSpc>
                <a:spcPts val="2376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98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Função</a:t>
            </a:r>
            <a:endParaRPr lang="en-US" sz="1980" dirty="0"/>
          </a:p>
          <a:p>
            <a:pPr algn="ctr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Comando predefinido que automatiza operações complexas rapidamente.</a:t>
            </a:r>
            <a:endParaRPr lang="en-US" sz="1980" dirty="0"/>
          </a:p>
        </p:txBody>
      </p:sp>
      <p:sp>
        <p:nvSpPr>
          <p:cNvPr id="11" name="23e0453c-1f89-42f9-ab9f-e730634a69a9"/>
          <p:cNvSpPr/>
          <p:nvPr/>
        </p:nvSpPr>
        <p:spPr>
          <a:xfrm>
            <a:off x="6892290" y="2731770"/>
            <a:ext cx="1977390" cy="1499616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ctr" indent="0" marL="0">
              <a:lnSpc>
                <a:spcPts val="2376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98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Referência</a:t>
            </a:r>
            <a:endParaRPr lang="en-US" sz="1980" dirty="0"/>
          </a:p>
          <a:p>
            <a:pPr algn="ctr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Endereço que localiza uma célula específica ou intervalo.</a:t>
            </a:r>
            <a:endParaRPr lang="en-US" sz="198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heme-logo-5" descr="/home/forge/chalkie-production-workers-3/releases/77481733/backend/storage/app/render-specs/2cc91f21-05c3-4444-9175-544f711574a6/img_67db2e6a5fb9230f9de86baa7e51a1c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59800" y="127000"/>
            <a:ext cx="457200" cy="457200"/>
          </a:xfrm>
          <a:prstGeom prst="rect">
            <a:avLst/>
          </a:prstGeom>
        </p:spPr>
      </p:pic>
      <p:pic>
        <p:nvPicPr>
          <p:cNvPr id="3" name="ce936bc8-1349-4fec-bcd2-154f33ff2a37" descr="/home/forge/chalkie-production-workers-3/releases/77481733/backend/storage/app/render-specs/2cc91f21-05c3-4444-9175-544f711574a6/img_9b02840d0ec220ec07f7e278d626d5b8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750" y="788670"/>
            <a:ext cx="3829050" cy="4069080"/>
          </a:xfrm>
          <a:prstGeom prst="roundRect">
            <a:avLst>
              <a:gd name="adj" fmla="val 3582"/>
            </a:avLst>
          </a:prstGeom>
        </p:spPr>
      </p:pic>
      <p:sp>
        <p:nvSpPr>
          <p:cNvPr id="4" name="e6e92ca0-92e4-4ab2-9da7-f1f48497d18e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456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880" b="1" dirty="0">
                <a:solidFill>
                  <a:srgbClr val="00509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Revisão: Estatística em Vendas</a:t>
            </a:r>
            <a:endParaRPr lang="en-US" sz="2880" dirty="0"/>
          </a:p>
        </p:txBody>
      </p:sp>
      <p:sp>
        <p:nvSpPr>
          <p:cNvPr id="5" name="1152c8e5-a5e4-4441-8cea-9f2bd0acac28"/>
          <p:cNvSpPr/>
          <p:nvPr/>
        </p:nvSpPr>
        <p:spPr>
          <a:xfrm>
            <a:off x="4286250" y="857250"/>
            <a:ext cx="1040130" cy="262890"/>
          </a:xfrm>
          <a:prstGeom prst="roundRect">
            <a:avLst>
              <a:gd name="adj" fmla="val 17391"/>
            </a:avLst>
          </a:prstGeom>
          <a:solidFill>
            <a:srgbClr val="D32F2F"/>
          </a:solidFill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RETOMADA</a:t>
            </a:r>
            <a:endParaRPr lang="en-US" sz="1080" dirty="0"/>
          </a:p>
        </p:txBody>
      </p:sp>
      <p:sp>
        <p:nvSpPr>
          <p:cNvPr id="6" name="88f26dc5-9d6b-49f4-9e75-662313a0126c"/>
          <p:cNvSpPr/>
          <p:nvPr/>
        </p:nvSpPr>
        <p:spPr>
          <a:xfrm>
            <a:off x="4286250" y="1165860"/>
            <a:ext cx="4572000" cy="1819656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 aula passada, analisamos variações percentuais e dispersão estatística. A </a:t>
            </a:r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média</a:t>
            </a:r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resume o desempenho geral da equipe, enquanto o </a:t>
            </a:r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desvio padrão</a:t>
            </a:r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mede a consistência: quanto menor o desvio, mais estáveis são os resultados diários.</a:t>
            </a:r>
            <a:endParaRPr lang="en-US" sz="1620" dirty="0"/>
          </a:p>
        </p:txBody>
      </p:sp>
      <p:sp>
        <p:nvSpPr>
          <p:cNvPr id="7" name="bf639bd0-4208-4a58-bb7c-cc238db1f4a6_card"/>
          <p:cNvSpPr/>
          <p:nvPr/>
        </p:nvSpPr>
        <p:spPr>
          <a:xfrm>
            <a:off x="4286250" y="2948940"/>
            <a:ext cx="4572000" cy="1348740"/>
          </a:xfrm>
          <a:prstGeom prst="roundRect">
            <a:avLst>
              <a:gd name="adj" fmla="val 6780"/>
            </a:avLst>
          </a:prstGeom>
          <a:solidFill>
            <a:srgbClr val="E6F1FB"/>
          </a:solidFill>
          <a:ln w="11430">
            <a:solidFill>
              <a:srgbClr val="0B2F50">
                <a:alpha val="20000"/>
              </a:srgbClr>
            </a:solidFill>
            <a:prstDash val="solid"/>
          </a:ln>
        </p:spPr>
      </p:sp>
      <p:sp>
        <p:nvSpPr>
          <p:cNvPr id="8" name="bf639bd0-4208-4a58-bb7c-cc238db1f4a6_emoji"/>
          <p:cNvSpPr/>
          <p:nvPr/>
        </p:nvSpPr>
        <p:spPr>
          <a:xfrm>
            <a:off x="4400550" y="3097530"/>
            <a:ext cx="365760" cy="411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160" dirty="0">
                <a:solidFill>
                  <a:srgbClr val="000000"/>
                </a:solidFill>
              </a:rPr>
              <a:t>🧠</a:t>
            </a:r>
            <a:endParaRPr lang="en-US" sz="2160" dirty="0"/>
          </a:p>
        </p:txBody>
      </p:sp>
      <p:sp>
        <p:nvSpPr>
          <p:cNvPr id="9" name="bf639bd0-4208-4a58-bb7c-cc238db1f4a6_text"/>
          <p:cNvSpPr/>
          <p:nvPr/>
        </p:nvSpPr>
        <p:spPr>
          <a:xfrm>
            <a:off x="4766310" y="3063240"/>
            <a:ext cx="3977640" cy="1120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28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1440" b="1" dirty="0">
                <a:solidFill>
                  <a:srgbClr val="0B2F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Lembre-se</a:t>
            </a:r>
            <a:endParaRPr lang="en-US" sz="1440" dirty="0"/>
          </a:p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0B2F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Variação percentual compara o valor final com o inicial para mostrar crescimento real.</a:t>
            </a:r>
            <a:endParaRPr lang="en-US" sz="144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heme-logo-6" descr="/home/forge/chalkie-production-workers-3/releases/77481733/backend/storage/app/render-specs/2cc91f21-05c3-4444-9175-544f711574a6/img_67db2e6a5fb9230f9de86baa7e51a1c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59800" y="127000"/>
            <a:ext cx="457200" cy="457200"/>
          </a:xfrm>
          <a:prstGeom prst="rect">
            <a:avLst/>
          </a:prstGeom>
        </p:spPr>
      </p:pic>
      <p:sp>
        <p:nvSpPr>
          <p:cNvPr id="3" name="6424f7b9-cde7-4d27-ba94-aaa7d7313bea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456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880" b="1" dirty="0">
                <a:solidFill>
                  <a:srgbClr val="00509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Quiz: Média e Desvio Padrão</a:t>
            </a:r>
            <a:endParaRPr lang="en-US" sz="2880" dirty="0"/>
          </a:p>
        </p:txBody>
      </p:sp>
      <p:sp>
        <p:nvSpPr>
          <p:cNvPr id="4" name="e74f545a-aec8-4d7b-b4b1-972ca3b4b2fb"/>
          <p:cNvSpPr/>
          <p:nvPr/>
        </p:nvSpPr>
        <p:spPr>
          <a:xfrm>
            <a:off x="285750" y="685800"/>
            <a:ext cx="8572500" cy="667512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 a equipe Alpha teve média de 100 vendas com desvio padrão de 5, e a equipe Beta teve média de 100 com desvio padrão de 25, qual equipe é mais regular?</a:t>
            </a:r>
            <a:endParaRPr lang="en-US" sz="1620" dirty="0"/>
          </a:p>
        </p:txBody>
      </p:sp>
      <p:sp>
        <p:nvSpPr>
          <p:cNvPr id="5" name="a086d30c-e3c8-4603-abef-14931a174ceb"/>
          <p:cNvSpPr/>
          <p:nvPr/>
        </p:nvSpPr>
        <p:spPr>
          <a:xfrm>
            <a:off x="285750" y="1657350"/>
            <a:ext cx="525780" cy="6858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l" indent="0" marL="0">
              <a:lnSpc>
                <a:spcPts val="3024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52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</a:t>
            </a:r>
            <a:endParaRPr lang="en-US" sz="2520" dirty="0"/>
          </a:p>
        </p:txBody>
      </p:sp>
      <p:sp>
        <p:nvSpPr>
          <p:cNvPr id="6" name="02b679fe-dc15-4630-bee0-dba74d3b2387"/>
          <p:cNvSpPr/>
          <p:nvPr/>
        </p:nvSpPr>
        <p:spPr>
          <a:xfrm>
            <a:off x="857250" y="1657350"/>
            <a:ext cx="8001000" cy="685800"/>
          </a:xfrm>
          <a:prstGeom prst="roundRect">
            <a:avLst>
              <a:gd name="adj" fmla="val 16667"/>
            </a:avLst>
          </a:prstGeom>
          <a:solidFill>
            <a:srgbClr val="F4F9FC"/>
          </a:solidFill>
          <a:ln w="45720">
            <a:solidFill>
              <a:srgbClr val="000000"/>
            </a:solidFill>
          </a:ln>
        </p:spPr>
        <p:txBody>
          <a:bodyPr wrap="square" lIns="102870" tIns="102870" rIns="102870" bIns="102870" rtlCol="0" anchor="ctr"/>
          <a:lstStyle/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040F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Equipe Beta, pois desvio padrão maior indica desempenho superior.</a:t>
            </a:r>
            <a:endParaRPr lang="en-US" sz="1620" dirty="0"/>
          </a:p>
        </p:txBody>
      </p:sp>
      <p:sp>
        <p:nvSpPr>
          <p:cNvPr id="7" name="a39c16ae-1d1c-4366-886b-b47c48f4efeb"/>
          <p:cNvSpPr/>
          <p:nvPr/>
        </p:nvSpPr>
        <p:spPr>
          <a:xfrm>
            <a:off x="285750" y="2514600"/>
            <a:ext cx="525780" cy="6858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l" indent="0" marL="0">
              <a:lnSpc>
                <a:spcPts val="3024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52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2.</a:t>
            </a:r>
            <a:endParaRPr lang="en-US" sz="2520" dirty="0"/>
          </a:p>
        </p:txBody>
      </p:sp>
      <p:sp>
        <p:nvSpPr>
          <p:cNvPr id="8" name="1424b1b3-5bdd-4894-9416-adf465a8513a"/>
          <p:cNvSpPr/>
          <p:nvPr/>
        </p:nvSpPr>
        <p:spPr>
          <a:xfrm>
            <a:off x="857250" y="2514600"/>
            <a:ext cx="8001000" cy="685800"/>
          </a:xfrm>
          <a:prstGeom prst="roundRect">
            <a:avLst>
              <a:gd name="adj" fmla="val 16667"/>
            </a:avLst>
          </a:prstGeom>
          <a:solidFill>
            <a:srgbClr val="F4F9FC"/>
          </a:solidFill>
          <a:ln w="45720">
            <a:solidFill>
              <a:srgbClr val="000000"/>
            </a:solidFill>
          </a:ln>
        </p:spPr>
        <p:txBody>
          <a:bodyPr wrap="square" lIns="102870" tIns="102870" rIns="102870" bIns="102870" rtlCol="0" anchor="ctr"/>
          <a:lstStyle/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040F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É impossível determinar sem conhecer a variação percentual dos preços.</a:t>
            </a:r>
            <a:endParaRPr lang="en-US" sz="1620" dirty="0"/>
          </a:p>
        </p:txBody>
      </p:sp>
      <p:sp>
        <p:nvSpPr>
          <p:cNvPr id="9" name="39742364-3134-4645-8d0d-6cd8f37b8961"/>
          <p:cNvSpPr/>
          <p:nvPr/>
        </p:nvSpPr>
        <p:spPr>
          <a:xfrm>
            <a:off x="285750" y="3371850"/>
            <a:ext cx="525780" cy="6858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l" indent="0" marL="0">
              <a:lnSpc>
                <a:spcPts val="3024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52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3.</a:t>
            </a:r>
            <a:endParaRPr lang="en-US" sz="2520" dirty="0"/>
          </a:p>
        </p:txBody>
      </p:sp>
      <p:sp>
        <p:nvSpPr>
          <p:cNvPr id="10" name="a91844f9-88e0-4045-a308-d3a0a273d9ba"/>
          <p:cNvSpPr/>
          <p:nvPr/>
        </p:nvSpPr>
        <p:spPr>
          <a:xfrm>
            <a:off x="857250" y="3371850"/>
            <a:ext cx="8001000" cy="685800"/>
          </a:xfrm>
          <a:prstGeom prst="roundRect">
            <a:avLst>
              <a:gd name="adj" fmla="val 16667"/>
            </a:avLst>
          </a:prstGeom>
          <a:solidFill>
            <a:srgbClr val="F4F9FC"/>
          </a:solidFill>
          <a:ln w="45720">
            <a:solidFill>
              <a:srgbClr val="000000"/>
            </a:solidFill>
          </a:ln>
        </p:spPr>
        <p:txBody>
          <a:bodyPr wrap="square" lIns="102870" tIns="102870" rIns="102870" bIns="102870" rtlCol="0" anchor="ctr"/>
          <a:lstStyle/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040F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Equipe Alpha, pois o menor desvio padrão demonstra maior estabilidade.</a:t>
            </a:r>
            <a:endParaRPr lang="en-US" sz="1620" dirty="0"/>
          </a:p>
        </p:txBody>
      </p:sp>
      <p:sp>
        <p:nvSpPr>
          <p:cNvPr id="11" name="3a439a1d-1fd7-4bdc-8afd-1da711028c4d"/>
          <p:cNvSpPr/>
          <p:nvPr/>
        </p:nvSpPr>
        <p:spPr>
          <a:xfrm>
            <a:off x="285750" y="4229100"/>
            <a:ext cx="525780" cy="6858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l" indent="0" marL="0">
              <a:lnSpc>
                <a:spcPts val="3024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52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4.</a:t>
            </a:r>
            <a:endParaRPr lang="en-US" sz="2520" dirty="0"/>
          </a:p>
        </p:txBody>
      </p:sp>
      <p:sp>
        <p:nvSpPr>
          <p:cNvPr id="12" name="2e4812e7-aa23-42bd-98b1-eeb0788e11aa"/>
          <p:cNvSpPr/>
          <p:nvPr/>
        </p:nvSpPr>
        <p:spPr>
          <a:xfrm>
            <a:off x="857250" y="4229100"/>
            <a:ext cx="8001000" cy="685800"/>
          </a:xfrm>
          <a:prstGeom prst="roundRect">
            <a:avLst>
              <a:gd name="adj" fmla="val 16667"/>
            </a:avLst>
          </a:prstGeom>
          <a:solidFill>
            <a:srgbClr val="F4F9FC"/>
          </a:solidFill>
          <a:ln w="45720">
            <a:solidFill>
              <a:srgbClr val="000000"/>
            </a:solidFill>
          </a:ln>
        </p:spPr>
        <p:txBody>
          <a:bodyPr wrap="square" lIns="102870" tIns="102870" rIns="102870" bIns="102870" rtlCol="0" anchor="ctr"/>
          <a:lstStyle/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040F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Ambas possuem a mesma estabilidade, pois têm a mesma média.</a:t>
            </a:r>
            <a:endParaRPr lang="en-US" sz="162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heme-logo-7" descr="/home/forge/chalkie-production-workers-3/releases/77481733/backend/storage/app/render-specs/2cc91f21-05c3-4444-9175-544f711574a6/img_67db2e6a5fb9230f9de86baa7e51a1c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59800" y="127000"/>
            <a:ext cx="457200" cy="457200"/>
          </a:xfrm>
          <a:prstGeom prst="rect">
            <a:avLst/>
          </a:prstGeom>
        </p:spPr>
      </p:pic>
      <p:sp>
        <p:nvSpPr>
          <p:cNvPr id="3" name="6424f7b9-cde7-4d27-ba94-aaa7d7313bea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456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880" b="1" dirty="0">
                <a:solidFill>
                  <a:srgbClr val="00509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Quiz: Média e Desvio Padrão</a:t>
            </a:r>
            <a:endParaRPr lang="en-US" sz="2880" dirty="0"/>
          </a:p>
        </p:txBody>
      </p:sp>
      <p:sp>
        <p:nvSpPr>
          <p:cNvPr id="4" name="e74f545a-aec8-4d7b-b4b1-972ca3b4b2fb"/>
          <p:cNvSpPr/>
          <p:nvPr/>
        </p:nvSpPr>
        <p:spPr>
          <a:xfrm>
            <a:off x="285750" y="685800"/>
            <a:ext cx="8572500" cy="667512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 a equipe Alpha teve média de 100 vendas com desvio padrão de 5, e a equipe Beta teve média de 100 com desvio padrão de 25, qual equipe é mais regular?</a:t>
            </a:r>
            <a:endParaRPr lang="en-US" sz="1620" dirty="0"/>
          </a:p>
        </p:txBody>
      </p:sp>
      <p:sp>
        <p:nvSpPr>
          <p:cNvPr id="5" name="a086d30c-e3c8-4603-abef-14931a174ceb"/>
          <p:cNvSpPr/>
          <p:nvPr/>
        </p:nvSpPr>
        <p:spPr>
          <a:xfrm>
            <a:off x="285750" y="1657350"/>
            <a:ext cx="525780" cy="6858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l" indent="0" marL="0">
              <a:lnSpc>
                <a:spcPts val="3024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52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</a:t>
            </a:r>
            <a:endParaRPr lang="en-US" sz="2520" dirty="0"/>
          </a:p>
        </p:txBody>
      </p:sp>
      <p:sp>
        <p:nvSpPr>
          <p:cNvPr id="6" name="02b679fe-dc15-4630-bee0-dba74d3b2387"/>
          <p:cNvSpPr/>
          <p:nvPr/>
        </p:nvSpPr>
        <p:spPr>
          <a:xfrm>
            <a:off x="857250" y="1657350"/>
            <a:ext cx="8001000" cy="685800"/>
          </a:xfrm>
          <a:prstGeom prst="roundRect">
            <a:avLst>
              <a:gd name="adj" fmla="val 16667"/>
            </a:avLst>
          </a:prstGeom>
          <a:solidFill>
            <a:srgbClr val="F4F9FC"/>
          </a:solidFill>
          <a:ln w="45720">
            <a:solidFill>
              <a:srgbClr val="000000"/>
            </a:solidFill>
          </a:ln>
        </p:spPr>
        <p:txBody>
          <a:bodyPr wrap="square" lIns="102870" tIns="102870" rIns="102870" bIns="102870" rtlCol="0" anchor="ctr"/>
          <a:lstStyle/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040F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Equipe Beta, pois desvio padrão maior indica desempenho superior.</a:t>
            </a:r>
            <a:endParaRPr lang="en-US" sz="1620" dirty="0"/>
          </a:p>
        </p:txBody>
      </p:sp>
      <p:sp>
        <p:nvSpPr>
          <p:cNvPr id="7" name="a39c16ae-1d1c-4366-886b-b47c48f4efeb"/>
          <p:cNvSpPr/>
          <p:nvPr/>
        </p:nvSpPr>
        <p:spPr>
          <a:xfrm>
            <a:off x="285750" y="2514600"/>
            <a:ext cx="525780" cy="6858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l" indent="0" marL="0">
              <a:lnSpc>
                <a:spcPts val="3024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52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2.</a:t>
            </a:r>
            <a:endParaRPr lang="en-US" sz="2520" dirty="0"/>
          </a:p>
        </p:txBody>
      </p:sp>
      <p:sp>
        <p:nvSpPr>
          <p:cNvPr id="8" name="1424b1b3-5bdd-4894-9416-adf465a8513a"/>
          <p:cNvSpPr/>
          <p:nvPr/>
        </p:nvSpPr>
        <p:spPr>
          <a:xfrm>
            <a:off x="857250" y="2514600"/>
            <a:ext cx="8001000" cy="685800"/>
          </a:xfrm>
          <a:prstGeom prst="roundRect">
            <a:avLst>
              <a:gd name="adj" fmla="val 16667"/>
            </a:avLst>
          </a:prstGeom>
          <a:solidFill>
            <a:srgbClr val="F4F9FC"/>
          </a:solidFill>
          <a:ln w="45720">
            <a:solidFill>
              <a:srgbClr val="000000"/>
            </a:solidFill>
          </a:ln>
        </p:spPr>
        <p:txBody>
          <a:bodyPr wrap="square" lIns="102870" tIns="102870" rIns="102870" bIns="102870" rtlCol="0" anchor="ctr"/>
          <a:lstStyle/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040F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É impossível determinar sem conhecer a variação percentual dos preços.</a:t>
            </a:r>
            <a:endParaRPr lang="en-US" sz="1620" dirty="0"/>
          </a:p>
        </p:txBody>
      </p:sp>
      <p:sp>
        <p:nvSpPr>
          <p:cNvPr id="9" name="39742364-3134-4645-8d0d-6cd8f37b8961"/>
          <p:cNvSpPr/>
          <p:nvPr/>
        </p:nvSpPr>
        <p:spPr>
          <a:xfrm>
            <a:off x="285750" y="3371850"/>
            <a:ext cx="525780" cy="6858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l" indent="0" marL="0">
              <a:lnSpc>
                <a:spcPts val="3024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52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3.</a:t>
            </a:r>
            <a:endParaRPr lang="en-US" sz="2520" dirty="0"/>
          </a:p>
        </p:txBody>
      </p:sp>
      <p:sp>
        <p:nvSpPr>
          <p:cNvPr id="10" name="a91844f9-88e0-4045-a308-d3a0a273d9ba"/>
          <p:cNvSpPr/>
          <p:nvPr/>
        </p:nvSpPr>
        <p:spPr>
          <a:xfrm>
            <a:off x="857250" y="3371850"/>
            <a:ext cx="8001000" cy="685800"/>
          </a:xfrm>
          <a:prstGeom prst="roundRect">
            <a:avLst>
              <a:gd name="adj" fmla="val 16667"/>
            </a:avLst>
          </a:prstGeom>
          <a:solidFill>
            <a:srgbClr val="F4F9FC"/>
          </a:solidFill>
          <a:ln w="45720">
            <a:solidFill>
              <a:srgbClr val="2C6E49"/>
            </a:solidFill>
          </a:ln>
        </p:spPr>
        <p:txBody>
          <a:bodyPr wrap="square" lIns="102870" tIns="102870" rIns="102870" bIns="102870" rtlCol="0" anchor="ctr"/>
          <a:lstStyle/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040F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Equipe Alpha, pois o menor desvio padrão demonstra maior estabilidade.</a:t>
            </a:r>
            <a:endParaRPr lang="en-US" sz="1620" dirty="0"/>
          </a:p>
        </p:txBody>
      </p:sp>
      <p:sp>
        <p:nvSpPr>
          <p:cNvPr id="11" name="3a439a1d-1fd7-4bdc-8afd-1da711028c4d"/>
          <p:cNvSpPr/>
          <p:nvPr/>
        </p:nvSpPr>
        <p:spPr>
          <a:xfrm>
            <a:off x="285750" y="4229100"/>
            <a:ext cx="525780" cy="6858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l" indent="0" marL="0">
              <a:lnSpc>
                <a:spcPts val="3024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52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4.</a:t>
            </a:r>
            <a:endParaRPr lang="en-US" sz="2520" dirty="0"/>
          </a:p>
        </p:txBody>
      </p:sp>
      <p:sp>
        <p:nvSpPr>
          <p:cNvPr id="12" name="2e4812e7-aa23-42bd-98b1-eeb0788e11aa"/>
          <p:cNvSpPr/>
          <p:nvPr/>
        </p:nvSpPr>
        <p:spPr>
          <a:xfrm>
            <a:off x="857250" y="4229100"/>
            <a:ext cx="8001000" cy="685800"/>
          </a:xfrm>
          <a:prstGeom prst="roundRect">
            <a:avLst>
              <a:gd name="adj" fmla="val 16667"/>
            </a:avLst>
          </a:prstGeom>
          <a:solidFill>
            <a:srgbClr val="F4F9FC"/>
          </a:solidFill>
          <a:ln w="45720">
            <a:solidFill>
              <a:srgbClr val="000000"/>
            </a:solidFill>
          </a:ln>
        </p:spPr>
        <p:txBody>
          <a:bodyPr wrap="square" lIns="102870" tIns="102870" rIns="102870" bIns="102870" rtlCol="0" anchor="ctr"/>
          <a:lstStyle/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040F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Ambas possuem a mesma estabilidade, pois têm a mesma média.</a:t>
            </a:r>
            <a:endParaRPr lang="en-US" sz="1620" dirty="0"/>
          </a:p>
        </p:txBody>
      </p:sp>
      <p:sp>
        <p:nvSpPr>
          <p:cNvPr id="13" name="9349e6eb-23a1-47e0-afc8-66285d3950ef"/>
          <p:cNvSpPr/>
          <p:nvPr/>
        </p:nvSpPr>
        <p:spPr>
          <a:xfrm>
            <a:off x="8366760" y="342900"/>
            <a:ext cx="548640" cy="54864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r" indent="0" marL="0">
              <a:lnSpc>
                <a:spcPts val="4320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360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✅</a:t>
            </a:r>
            <a:endParaRPr lang="en-US" sz="3600" dirty="0"/>
          </a:p>
        </p:txBody>
      </p:sp>
      <p:sp>
        <p:nvSpPr>
          <p:cNvPr id="14" name="cdb7eaad-c9e6-404c-b750-b3d6c1d5c30b"/>
          <p:cNvSpPr/>
          <p:nvPr/>
        </p:nvSpPr>
        <p:spPr>
          <a:xfrm>
            <a:off x="8721090" y="3234690"/>
            <a:ext cx="274320" cy="274320"/>
          </a:xfrm>
          <a:prstGeom prst="roundRect">
            <a:avLst>
              <a:gd name="adj" fmla="val 25000"/>
            </a:avLst>
          </a:prstGeom>
          <a:solidFill>
            <a:srgbClr val="2C6E49"/>
          </a:solidFill>
          <a:ln/>
        </p:spPr>
        <p:txBody>
          <a:bodyPr wrap="square" lIns="45720" tIns="45720" rIns="45720" bIns="45720" rtlCol="0" anchor="ctr"/>
          <a:lstStyle/>
          <a:p>
            <a:pPr algn="ctr" indent="0" marL="0">
              <a:lnSpc>
                <a:spcPts val="1404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117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17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heme-logo-8" descr="/home/forge/chalkie-production-workers-3/releases/77481733/backend/storage/app/render-specs/2cc91f21-05c3-4444-9175-544f711574a6/img_67db2e6a5fb9230f9de86baa7e51a1c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59800" y="127000"/>
            <a:ext cx="457200" cy="457200"/>
          </a:xfrm>
          <a:prstGeom prst="rect">
            <a:avLst/>
          </a:prstGeom>
        </p:spPr>
      </p:pic>
      <p:pic>
        <p:nvPicPr>
          <p:cNvPr id="3" name="d65b5db1-2f61-4653-b943-5ff631313070" descr="/home/forge/chalkie-production-workers-3/releases/77481733/backend/storage/app/render-specs/2cc91f21-05c3-4444-9175-544f711574a6/img_46f371f7dcf78c91faa4a301513b4049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1828800"/>
          </a:xfrm>
          <a:prstGeom prst="roundRect">
            <a:avLst>
              <a:gd name="adj" fmla="val 7500"/>
            </a:avLst>
          </a:prstGeom>
        </p:spPr>
      </p:pic>
      <p:sp>
        <p:nvSpPr>
          <p:cNvPr id="4" name="a7986855-95b6-465d-ae14-091fe445be28"/>
          <p:cNvSpPr/>
          <p:nvPr/>
        </p:nvSpPr>
        <p:spPr>
          <a:xfrm>
            <a:off x="285750" y="224028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456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880" b="1" dirty="0">
                <a:solidFill>
                  <a:srgbClr val="00509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Anatomia da Interface</a:t>
            </a:r>
            <a:endParaRPr lang="en-US" sz="2880" dirty="0"/>
          </a:p>
        </p:txBody>
      </p:sp>
      <p:sp>
        <p:nvSpPr>
          <p:cNvPr id="5" name="b7f35b89-1486-4a1e-bf5f-a42cce952690"/>
          <p:cNvSpPr/>
          <p:nvPr/>
        </p:nvSpPr>
        <p:spPr>
          <a:xfrm>
            <a:off x="285750" y="2926080"/>
            <a:ext cx="1074420" cy="262890"/>
          </a:xfrm>
          <a:prstGeom prst="roundRect">
            <a:avLst>
              <a:gd name="adj" fmla="val 17391"/>
            </a:avLst>
          </a:prstGeom>
          <a:solidFill>
            <a:srgbClr val="D32F2F"/>
          </a:solidFill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ESTRUTURA</a:t>
            </a:r>
            <a:endParaRPr lang="en-US" sz="1080" dirty="0"/>
          </a:p>
        </p:txBody>
      </p:sp>
      <p:sp>
        <p:nvSpPr>
          <p:cNvPr id="6" name="6f74ba5f-3469-48aa-a4dc-d38ddb92f2b2"/>
          <p:cNvSpPr/>
          <p:nvPr/>
        </p:nvSpPr>
        <p:spPr>
          <a:xfrm>
            <a:off x="285750" y="3234690"/>
            <a:ext cx="8572500" cy="955548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interface do Excel é composta pela </a:t>
            </a:r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Faixa de Opções</a:t>
            </a:r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no topo, a </a:t>
            </a:r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Barra de Fórmulas</a:t>
            </a:r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para digitação e inspeção, e a </a:t>
            </a:r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Área de Trabalho</a:t>
            </a:r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Na base, encontramos as abas de planilhas independentes que compõem uma pasta de trabalho organizada.</a:t>
            </a:r>
            <a:endParaRPr lang="en-US" sz="162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heme-logo-9" descr="/home/forge/chalkie-production-workers-3/releases/77481733/backend/storage/app/render-specs/2cc91f21-05c3-4444-9175-544f711574a6/img_67db2e6a5fb9230f9de86baa7e51a1c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59800" y="127000"/>
            <a:ext cx="457200" cy="457200"/>
          </a:xfrm>
          <a:prstGeom prst="rect">
            <a:avLst/>
          </a:prstGeom>
        </p:spPr>
      </p:pic>
      <p:pic>
        <p:nvPicPr>
          <p:cNvPr id="3" name="f104655d-f743-4cf2-afff-203e7a9fa44a" descr="/home/forge/chalkie-production-workers-3/releases/77481733/backend/storage/app/render-specs/2cc91f21-05c3-4444-9175-544f711574a6/img_b66984b66619e939b832cc79f6cb663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750" y="948690"/>
            <a:ext cx="4194810" cy="2057400"/>
          </a:xfrm>
          <a:prstGeom prst="roundRect">
            <a:avLst>
              <a:gd name="adj" fmla="val 6667"/>
            </a:avLst>
          </a:prstGeom>
        </p:spPr>
      </p:pic>
      <p:pic>
        <p:nvPicPr>
          <p:cNvPr id="4" name="0eeee0ed-236f-4d67-bb30-45e2f6cefa74" descr="/home/forge/chalkie-production-workers-3/releases/77481733/backend/storage/app/render-specs/2cc91f21-05c3-4444-9175-544f711574a6/img_76ccc427cffdb0e7d83303e123702c49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2010" y="948690"/>
            <a:ext cx="4194810" cy="2057400"/>
          </a:xfrm>
          <a:prstGeom prst="roundRect">
            <a:avLst>
              <a:gd name="adj" fmla="val 6667"/>
            </a:avLst>
          </a:prstGeom>
        </p:spPr>
      </p:pic>
      <p:sp>
        <p:nvSpPr>
          <p:cNvPr id="5" name="901a8485-d707-42f0-8e2a-02d996e05200"/>
          <p:cNvSpPr/>
          <p:nvPr/>
        </p:nvSpPr>
        <p:spPr>
          <a:xfrm>
            <a:off x="285750" y="33147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456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880" b="1" dirty="0">
                <a:solidFill>
                  <a:srgbClr val="00509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Linhas, Colunas e Células</a:t>
            </a:r>
            <a:endParaRPr lang="en-US" sz="2880" dirty="0"/>
          </a:p>
        </p:txBody>
      </p:sp>
      <p:sp>
        <p:nvSpPr>
          <p:cNvPr id="6" name="cf2c9cb7-b1bd-46e5-abce-de46496184b1"/>
          <p:cNvSpPr/>
          <p:nvPr/>
        </p:nvSpPr>
        <p:spPr>
          <a:xfrm>
            <a:off x="285750" y="3143250"/>
            <a:ext cx="4194810" cy="1499616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376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98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Colunas (Letras)</a:t>
            </a:r>
            <a:endParaRPr lang="en-US" sz="1980" dirty="0"/>
          </a:p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 colunas organizam </a:t>
            </a:r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campos</a:t>
            </a:r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verticais de dados, identificadas por letras (A até XFD).</a:t>
            </a:r>
            <a:endParaRPr lang="en-US" sz="1980" dirty="0"/>
          </a:p>
        </p:txBody>
      </p:sp>
      <p:sp>
        <p:nvSpPr>
          <p:cNvPr id="7" name="7a7403cd-2039-4bf4-97af-3ab90026b6dd"/>
          <p:cNvSpPr/>
          <p:nvPr/>
        </p:nvSpPr>
        <p:spPr>
          <a:xfrm>
            <a:off x="4652010" y="3143250"/>
            <a:ext cx="4194810" cy="1499616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376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98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Linhas (Números)</a:t>
            </a:r>
            <a:endParaRPr lang="en-US" sz="1980" dirty="0"/>
          </a:p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 linhas representam </a:t>
            </a:r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registros</a:t>
            </a:r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horizontais, identificadas por números sequenciais (1 a 1.048.576).</a:t>
            </a:r>
            <a:endParaRPr lang="en-US" sz="198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heme-logo-10" descr="/home/forge/chalkie-production-workers-3/releases/77481733/backend/storage/app/render-specs/2cc91f21-05c3-4444-9175-544f711574a6/img_67db2e6a5fb9230f9de86baa7e51a1c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59800" y="127000"/>
            <a:ext cx="457200" cy="457200"/>
          </a:xfrm>
          <a:prstGeom prst="rect">
            <a:avLst/>
          </a:prstGeom>
        </p:spPr>
      </p:pic>
      <p:pic>
        <p:nvPicPr>
          <p:cNvPr id="3" name="f04940fa-acc6-4f45-ae60-6753211595ad" descr="/home/forge/chalkie-production-workers-3/releases/77481733/backend/storage/app/render-specs/2cc91f21-05c3-4444-9175-544f711574a6/img_7e2b674b055fd9b7eb3e241e4417f097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788670"/>
            <a:ext cx="3829050" cy="4069080"/>
          </a:xfrm>
          <a:prstGeom prst="roundRect">
            <a:avLst>
              <a:gd name="adj" fmla="val 3582"/>
            </a:avLst>
          </a:prstGeom>
        </p:spPr>
      </p:pic>
      <p:sp>
        <p:nvSpPr>
          <p:cNvPr id="4" name="0f4aed2f-7f0e-4654-bbca-e3cff2435810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456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880" b="1" dirty="0">
                <a:solidFill>
                  <a:srgbClr val="00509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Gerenciando Abas de Planilha</a:t>
            </a:r>
            <a:endParaRPr lang="en-US" sz="2880" dirty="0"/>
          </a:p>
        </p:txBody>
      </p:sp>
      <p:sp>
        <p:nvSpPr>
          <p:cNvPr id="5" name="75d8eb78-7a72-440d-b2d5-c783b3dc884e"/>
          <p:cNvSpPr/>
          <p:nvPr/>
        </p:nvSpPr>
        <p:spPr>
          <a:xfrm>
            <a:off x="285750" y="857250"/>
            <a:ext cx="1074420" cy="262890"/>
          </a:xfrm>
          <a:prstGeom prst="roundRect">
            <a:avLst>
              <a:gd name="adj" fmla="val 17391"/>
            </a:avLst>
          </a:prstGeom>
          <a:solidFill>
            <a:srgbClr val="D32F2F"/>
          </a:solidFill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ESTRUTURA</a:t>
            </a:r>
            <a:endParaRPr lang="en-US" sz="1080" dirty="0"/>
          </a:p>
        </p:txBody>
      </p:sp>
      <p:sp>
        <p:nvSpPr>
          <p:cNvPr id="6" name="8d4c31d4-672f-4517-ae51-d58a1b0aefb4"/>
          <p:cNvSpPr/>
          <p:nvPr/>
        </p:nvSpPr>
        <p:spPr>
          <a:xfrm>
            <a:off x="285750" y="1165860"/>
            <a:ext cx="4572000" cy="153162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Um arquivo do Excel chama-se </a:t>
            </a:r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Pasta de Trabalho</a:t>
            </a:r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e pode conter dezenas de abas. Em gestão, separamos meses ou departamentos em abas distintas para evitar poluição visual e erros de agrupamento.</a:t>
            </a:r>
            <a:endParaRPr lang="en-US" sz="1620" dirty="0"/>
          </a:p>
        </p:txBody>
      </p:sp>
      <p:sp>
        <p:nvSpPr>
          <p:cNvPr id="7" name="1189945d-50de-4e08-a24c-c6005a44a990_card"/>
          <p:cNvSpPr/>
          <p:nvPr/>
        </p:nvSpPr>
        <p:spPr>
          <a:xfrm>
            <a:off x="285750" y="2697480"/>
            <a:ext cx="4572000" cy="1101852"/>
          </a:xfrm>
          <a:prstGeom prst="roundRect">
            <a:avLst>
              <a:gd name="adj" fmla="val 8299"/>
            </a:avLst>
          </a:prstGeom>
          <a:solidFill>
            <a:srgbClr val="E1F6EF"/>
          </a:solidFill>
          <a:ln w="11430">
            <a:solidFill>
              <a:srgbClr val="084D36">
                <a:alpha val="20000"/>
              </a:srgbClr>
            </a:solidFill>
            <a:prstDash val="solid"/>
          </a:ln>
        </p:spPr>
      </p:sp>
      <p:sp>
        <p:nvSpPr>
          <p:cNvPr id="8" name="1189945d-50de-4e08-a24c-c6005a44a990_emoji"/>
          <p:cNvSpPr/>
          <p:nvPr/>
        </p:nvSpPr>
        <p:spPr>
          <a:xfrm>
            <a:off x="400050" y="2846070"/>
            <a:ext cx="365760" cy="411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160" dirty="0">
                <a:solidFill>
                  <a:srgbClr val="000000"/>
                </a:solidFill>
              </a:rPr>
              <a:t>🔍</a:t>
            </a:r>
            <a:endParaRPr lang="en-US" sz="2160" dirty="0"/>
          </a:p>
        </p:txBody>
      </p:sp>
      <p:sp>
        <p:nvSpPr>
          <p:cNvPr id="9" name="1189945d-50de-4e08-a24c-c6005a44a990_text"/>
          <p:cNvSpPr/>
          <p:nvPr/>
        </p:nvSpPr>
        <p:spPr>
          <a:xfrm>
            <a:off x="765810" y="2811780"/>
            <a:ext cx="3977640" cy="8732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28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1440" b="1" dirty="0">
                <a:solidFill>
                  <a:srgbClr val="084D3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Exemplo</a:t>
            </a:r>
            <a:endParaRPr lang="en-US" sz="1440" dirty="0"/>
          </a:p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084D3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Abas organizadas: 'Jan_2026', 'Fev_2026', 'Resumo_Anual'.</a:t>
            </a:r>
            <a:endParaRPr lang="en-US" sz="144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heme-logo-11" descr="/home/forge/chalkie-production-workers-3/releases/77481733/backend/storage/app/render-specs/2cc91f21-05c3-4444-9175-544f711574a6/img_67db2e6a5fb9230f9de86baa7e51a1c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59800" y="127000"/>
            <a:ext cx="457200" cy="457200"/>
          </a:xfrm>
          <a:prstGeom prst="rect">
            <a:avLst/>
          </a:prstGeom>
        </p:spPr>
      </p:pic>
      <p:pic>
        <p:nvPicPr>
          <p:cNvPr id="3" name="9d01883c-13b9-49e5-a3df-d21885ad7cf9" descr="/home/forge/chalkie-production-workers-3/releases/77481733/backend/storage/app/render-specs/2cc91f21-05c3-4444-9175-544f711574a6/img_00186f94c6aeaaa2171491731c425bcc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750" y="857250"/>
            <a:ext cx="4194810" cy="2057400"/>
          </a:xfrm>
          <a:prstGeom prst="roundRect">
            <a:avLst>
              <a:gd name="adj" fmla="val 6667"/>
            </a:avLst>
          </a:prstGeom>
        </p:spPr>
      </p:pic>
      <p:pic>
        <p:nvPicPr>
          <p:cNvPr id="4" name="0a5b0362-95fb-4f33-a8c2-67a2d125db5f" descr="/home/forge/chalkie-production-workers-3/releases/77481733/backend/storage/app/render-specs/2cc91f21-05c3-4444-9175-544f711574a6/img_96aedcf5a9eb3c521aff0d6a3b3e7309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2010" y="857250"/>
            <a:ext cx="4194810" cy="2057400"/>
          </a:xfrm>
          <a:prstGeom prst="roundRect">
            <a:avLst>
              <a:gd name="adj" fmla="val 6667"/>
            </a:avLst>
          </a:prstGeom>
        </p:spPr>
      </p:pic>
      <p:sp>
        <p:nvSpPr>
          <p:cNvPr id="5" name="90929f4a-4bca-4ca6-b423-73ffc560edc0"/>
          <p:cNvSpPr/>
          <p:nvPr/>
        </p:nvSpPr>
        <p:spPr>
          <a:xfrm>
            <a:off x="285750" y="24003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456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880" b="1" dirty="0">
                <a:solidFill>
                  <a:srgbClr val="00509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Boas Práticas de Digitação</a:t>
            </a:r>
            <a:endParaRPr lang="en-US" sz="2880" dirty="0"/>
          </a:p>
        </p:txBody>
      </p:sp>
      <p:sp>
        <p:nvSpPr>
          <p:cNvPr id="6" name="26042b6c-d30e-45a5-8645-aa246b4a401c"/>
          <p:cNvSpPr/>
          <p:nvPr/>
        </p:nvSpPr>
        <p:spPr>
          <a:xfrm>
            <a:off x="285750" y="3051810"/>
            <a:ext cx="4194810" cy="795528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376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98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Entrada Correta</a:t>
            </a:r>
            <a:endParaRPr lang="en-US" sz="1980" dirty="0"/>
          </a:p>
          <a:p>
            <a:pPr algn="l" marL="228600" indent="-68580">
              <a:lnSpc>
                <a:spcPts val="1944"/>
              </a:lnSpc>
              <a:spcBef>
                <a:spcPts val="225"/>
              </a:spcBef>
              <a:spcAft>
                <a:spcPts val="225"/>
              </a:spcAft>
              <a:buSzPct val="100000"/>
              <a:buChar char="•"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Um tipo de dado por coluna</a:t>
            </a:r>
            <a:endParaRPr lang="en-US" sz="1980" dirty="0"/>
          </a:p>
          <a:p>
            <a:pPr algn="l" marL="228600" indent="-68580">
              <a:lnSpc>
                <a:spcPts val="1944"/>
              </a:lnSpc>
              <a:spcBef>
                <a:spcPts val="225"/>
              </a:spcBef>
              <a:spcAft>
                <a:spcPts val="225"/>
              </a:spcAft>
              <a:buSzPct val="100000"/>
              <a:buChar char="•"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Cabeçalhos claros na linha 1</a:t>
            </a:r>
            <a:endParaRPr lang="en-US" sz="1980" dirty="0"/>
          </a:p>
          <a:p>
            <a:pPr algn="l" marL="228600" indent="-68580">
              <a:lnSpc>
                <a:spcPts val="1944"/>
              </a:lnSpc>
              <a:spcBef>
                <a:spcPts val="225"/>
              </a:spcBef>
              <a:spcAft>
                <a:spcPts val="225"/>
              </a:spcAft>
              <a:buSzPct val="100000"/>
              <a:buChar char="•"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Números sem letras inseridas</a:t>
            </a:r>
            <a:endParaRPr lang="en-US" sz="1980" dirty="0"/>
          </a:p>
        </p:txBody>
      </p:sp>
      <p:sp>
        <p:nvSpPr>
          <p:cNvPr id="7" name="ab616889-4efb-431c-b621-b998a2a7b04f"/>
          <p:cNvSpPr/>
          <p:nvPr/>
        </p:nvSpPr>
        <p:spPr>
          <a:xfrm>
            <a:off x="4652010" y="3051810"/>
            <a:ext cx="4194810" cy="795528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376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98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Erros Frequentes</a:t>
            </a:r>
            <a:endParaRPr lang="en-US" sz="1980" dirty="0"/>
          </a:p>
          <a:p>
            <a:pPr algn="l" marL="228600" indent="-68580">
              <a:lnSpc>
                <a:spcPts val="1944"/>
              </a:lnSpc>
              <a:spcBef>
                <a:spcPts val="225"/>
              </a:spcBef>
              <a:spcAft>
                <a:spcPts val="225"/>
              </a:spcAft>
              <a:buSzPct val="100000"/>
              <a:buChar char="•"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Mesclar células em tabelas brutas</a:t>
            </a:r>
            <a:endParaRPr lang="en-US" sz="1980" dirty="0"/>
          </a:p>
          <a:p>
            <a:pPr algn="l" marL="228600" indent="-68580">
              <a:lnSpc>
                <a:spcPts val="1944"/>
              </a:lnSpc>
              <a:spcBef>
                <a:spcPts val="225"/>
              </a:spcBef>
              <a:spcAft>
                <a:spcPts val="225"/>
              </a:spcAft>
              <a:buSzPct val="100000"/>
              <a:buChar char="•"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Deixar linhas em branco no meio</a:t>
            </a:r>
            <a:endParaRPr lang="en-US" sz="1980" dirty="0"/>
          </a:p>
          <a:p>
            <a:pPr algn="l" marL="228600" indent="-68580">
              <a:lnSpc>
                <a:spcPts val="1944"/>
              </a:lnSpc>
              <a:spcBef>
                <a:spcPts val="225"/>
              </a:spcBef>
              <a:spcAft>
                <a:spcPts val="225"/>
              </a:spcAft>
              <a:buSzPct val="100000"/>
              <a:buChar char="•"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Digitar 'R$' manualmente na célula</a:t>
            </a:r>
            <a:endParaRPr lang="en-US" sz="198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heme-logo-12" descr="/home/forge/chalkie-production-workers-3/releases/77481733/backend/storage/app/render-specs/2cc91f21-05c3-4444-9175-544f711574a6/img_67db2e6a5fb9230f9de86baa7e51a1c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59800" y="127000"/>
            <a:ext cx="457200" cy="457200"/>
          </a:xfrm>
          <a:prstGeom prst="rect">
            <a:avLst/>
          </a:prstGeom>
        </p:spPr>
      </p:pic>
      <p:pic>
        <p:nvPicPr>
          <p:cNvPr id="3" name="3a720867-65cf-41de-b816-37b7ddef123d" descr="/home/forge/chalkie-production-workers-3/releases/77481733/backend/storage/app/render-specs/2cc91f21-05c3-4444-9175-544f711574a6/img_95a612621c852b6407b853f5e6732f4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750" y="788670"/>
            <a:ext cx="3829050" cy="4069080"/>
          </a:xfrm>
          <a:prstGeom prst="roundRect">
            <a:avLst>
              <a:gd name="adj" fmla="val 3582"/>
            </a:avLst>
          </a:prstGeom>
        </p:spPr>
      </p:pic>
      <p:sp>
        <p:nvSpPr>
          <p:cNvPr id="4" name="3c2e6fa5-02ba-4420-bbac-3306f0d6d759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456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880" b="1" dirty="0">
                <a:solidFill>
                  <a:srgbClr val="00509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Formatação Inicial de Dados</a:t>
            </a:r>
            <a:endParaRPr lang="en-US" sz="2880" dirty="0"/>
          </a:p>
        </p:txBody>
      </p:sp>
      <p:sp>
        <p:nvSpPr>
          <p:cNvPr id="5" name="bf57ffde-297d-413e-996d-dc9fabae2f04"/>
          <p:cNvSpPr/>
          <p:nvPr/>
        </p:nvSpPr>
        <p:spPr>
          <a:xfrm>
            <a:off x="4286250" y="857250"/>
            <a:ext cx="1291590" cy="262890"/>
          </a:xfrm>
          <a:prstGeom prst="roundRect">
            <a:avLst>
              <a:gd name="adj" fmla="val 17391"/>
            </a:avLst>
          </a:prstGeom>
          <a:solidFill>
            <a:srgbClr val="D32F2F"/>
          </a:solidFill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ORGANIZAÇÃO</a:t>
            </a:r>
            <a:endParaRPr lang="en-US" sz="1080" dirty="0"/>
          </a:p>
        </p:txBody>
      </p:sp>
      <p:sp>
        <p:nvSpPr>
          <p:cNvPr id="6" name="fa889060-c34b-4c36-9ea9-bf28bde75635"/>
          <p:cNvSpPr/>
          <p:nvPr/>
        </p:nvSpPr>
        <p:spPr>
          <a:xfrm>
            <a:off x="4286250" y="1165860"/>
            <a:ext cx="4572000" cy="153162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Excel interpreta tipos de dados de maneiras distintas. Ao digitar um número, você deve aplicar a formatação correta pela faixa de opções, e nunca misturar símbolos de moeda no texto da célula.</a:t>
            </a:r>
            <a:endParaRPr lang="en-US" sz="1620" dirty="0"/>
          </a:p>
        </p:txBody>
      </p:sp>
      <p:sp>
        <p:nvSpPr>
          <p:cNvPr id="7" name="e8629d27-d441-43b6-a205-53e9a79c02ee_card"/>
          <p:cNvSpPr/>
          <p:nvPr/>
        </p:nvSpPr>
        <p:spPr>
          <a:xfrm>
            <a:off x="4286250" y="2697480"/>
            <a:ext cx="4572000" cy="1101852"/>
          </a:xfrm>
          <a:prstGeom prst="roundRect">
            <a:avLst>
              <a:gd name="adj" fmla="val 8299"/>
            </a:avLst>
          </a:prstGeom>
          <a:solidFill>
            <a:srgbClr val="FCEBEB"/>
          </a:solidFill>
          <a:ln w="11430">
            <a:solidFill>
              <a:srgbClr val="460606">
                <a:alpha val="20000"/>
              </a:srgbClr>
            </a:solidFill>
            <a:prstDash val="solid"/>
          </a:ln>
        </p:spPr>
      </p:sp>
      <p:sp>
        <p:nvSpPr>
          <p:cNvPr id="8" name="e8629d27-d441-43b6-a205-53e9a79c02ee_emoji"/>
          <p:cNvSpPr/>
          <p:nvPr/>
        </p:nvSpPr>
        <p:spPr>
          <a:xfrm>
            <a:off x="4400550" y="2846070"/>
            <a:ext cx="365760" cy="411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160" dirty="0">
                <a:solidFill>
                  <a:srgbClr val="000000"/>
                </a:solidFill>
              </a:rPr>
              <a:t>⚠️</a:t>
            </a:r>
            <a:endParaRPr lang="en-US" sz="2160" dirty="0"/>
          </a:p>
        </p:txBody>
      </p:sp>
      <p:sp>
        <p:nvSpPr>
          <p:cNvPr id="9" name="e8629d27-d441-43b6-a205-53e9a79c02ee_text"/>
          <p:cNvSpPr/>
          <p:nvPr/>
        </p:nvSpPr>
        <p:spPr>
          <a:xfrm>
            <a:off x="4766310" y="2811780"/>
            <a:ext cx="3977640" cy="8732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28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1440" b="1" dirty="0">
                <a:solidFill>
                  <a:srgbClr val="46060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Atenção</a:t>
            </a:r>
            <a:endParaRPr lang="en-US" sz="1440" dirty="0"/>
          </a:p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46060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Digitar 'R$ 50,00' transforma o valor em texto, impedindo somas e médias.</a:t>
            </a:r>
            <a:endParaRPr lang="en-US" sz="144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heme-logo-13" descr="/home/forge/chalkie-production-workers-3/releases/77481733/backend/storage/app/render-specs/2cc91f21-05c3-4444-9175-544f711574a6/img_67db2e6a5fb9230f9de86baa7e51a1c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59800" y="127000"/>
            <a:ext cx="457200" cy="457200"/>
          </a:xfrm>
          <a:prstGeom prst="rect">
            <a:avLst/>
          </a:prstGeom>
        </p:spPr>
      </p:pic>
      <p:sp>
        <p:nvSpPr>
          <p:cNvPr id="3" name="7f372edf-4abb-4f42-bf37-1867f5ac465c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456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880" b="1" dirty="0">
                <a:solidFill>
                  <a:srgbClr val="00509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Explorando o Excel na Prática</a:t>
            </a:r>
            <a:endParaRPr lang="en-US" sz="2880" dirty="0"/>
          </a:p>
        </p:txBody>
      </p:sp>
      <p:sp>
        <p:nvSpPr>
          <p:cNvPr id="4" name="06feffb8-6189-4fbf-8c23-4695c6c2d64d"/>
          <p:cNvSpPr/>
          <p:nvPr/>
        </p:nvSpPr>
        <p:spPr>
          <a:xfrm>
            <a:off x="285750" y="788670"/>
            <a:ext cx="8572500" cy="379476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Observe navegação, atalhos e preenchimento automático em tela:</a:t>
            </a:r>
            <a:endParaRPr lang="en-US" sz="1620" dirty="0"/>
          </a:p>
        </p:txBody>
      </p:sp>
      <p:pic>
        <p:nvPicPr>
          <p:cNvPr id="5" name="ab3e7150-8ba6-4fb2-abd0-abd36780d27a" descr="/home/forge/chalkie-production-workers-3/releases/77481733/backend/storage/app/render-specs/2cc91f21-05c3-4444-9175-544f711574a6/poster_W2vLx87KiKU.jpg">
            <a:hlinkClick r:id="rId3" tooltip=""/>
          </p:cNvPr>
          <p:cNvPicPr>
            <a:picLocks noChangeAspect="1"/>
          </p:cNvPicPr>
          <p:nvPr>
            <a:videoFile r:link="rId6"/>
            <p:extLst>
              <p:ext uri="{DAA4B4D4-6D71-4841-9C94-3DE7FCFB9230}">
                <p14:media xmlns:p14="http://schemas.microsoft.com/office/powerpoint/2010/main"/>
              </p:ext>
              <p:ext uri="{C809E66F-F1BF-436E-b5F7-EEA9579F0CBA}">
                <p15:webVideoPr xmlns:p15="http://schemas.microsoft.com/office/powerpoint/2012/main" embeddedHtml="&lt;iframe width=&quot;560&quot; height=&quot;315&quot; src=&quot;https://www.youtube.com/embed/W2vLx87KiKU?feature=oembed&quot; frameborder=&quot;0&quot; allowfullscreen=&quot;&quot;&gt;&lt;/iframe&gt;" h="315" w="560"/>
              </p:ext>
            </p:extLst>
          </p:nvPr>
        </p:nvPicPr>
        <p:blipFill>
          <a:blip r:embed="rId2"/>
          <a:stretch>
            <a:fillRect/>
          </a:stretch>
        </p:blipFill>
        <p:spPr>
          <a:xfrm>
            <a:off x="1440180" y="1337310"/>
            <a:ext cx="6252210" cy="352044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heme-logo-14" descr="/home/forge/chalkie-production-workers-3/releases/77481733/backend/storage/app/render-specs/2cc91f21-05c3-4444-9175-544f711574a6/img_67db2e6a5fb9230f9de86baa7e51a1c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59800" y="127000"/>
            <a:ext cx="457200" cy="457200"/>
          </a:xfrm>
          <a:prstGeom prst="rect">
            <a:avLst/>
          </a:prstGeom>
        </p:spPr>
      </p:pic>
      <p:pic>
        <p:nvPicPr>
          <p:cNvPr id="3" name="6ce42dbd-314f-42dc-bac0-92c5921bcf01" descr="/home/forge/chalkie-production-workers-3/releases/77481733/backend/storage/app/render-specs/2cc91f21-05c3-4444-9175-544f711574a6/img_9abcdd11995621bcf227409d4d61ff18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788670"/>
            <a:ext cx="3829050" cy="4069080"/>
          </a:xfrm>
          <a:prstGeom prst="roundRect">
            <a:avLst>
              <a:gd name="adj" fmla="val 3582"/>
            </a:avLst>
          </a:prstGeom>
        </p:spPr>
      </p:pic>
      <p:sp>
        <p:nvSpPr>
          <p:cNvPr id="4" name="eb89960c-43dd-4f71-940a-71ea45520260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456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880" b="1" dirty="0">
                <a:solidFill>
                  <a:srgbClr val="00509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Lógica das Fórmulas</a:t>
            </a:r>
            <a:endParaRPr lang="en-US" sz="2880" dirty="0"/>
          </a:p>
        </p:txBody>
      </p:sp>
      <p:sp>
        <p:nvSpPr>
          <p:cNvPr id="5" name="0218b2cb-15d3-4b16-903d-c7c5dfc1e1be"/>
          <p:cNvSpPr/>
          <p:nvPr/>
        </p:nvSpPr>
        <p:spPr>
          <a:xfrm>
            <a:off x="285750" y="857250"/>
            <a:ext cx="1005840" cy="262890"/>
          </a:xfrm>
          <a:prstGeom prst="roundRect">
            <a:avLst>
              <a:gd name="adj" fmla="val 17391"/>
            </a:avLst>
          </a:prstGeom>
          <a:solidFill>
            <a:srgbClr val="D32F2F"/>
          </a:solidFill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FÓRMULAS</a:t>
            </a:r>
            <a:endParaRPr lang="en-US" sz="1080" dirty="0"/>
          </a:p>
        </p:txBody>
      </p:sp>
      <p:sp>
        <p:nvSpPr>
          <p:cNvPr id="6" name="17326835-7d45-4f72-99c0-85e6bd7f57bf"/>
          <p:cNvSpPr/>
          <p:nvPr/>
        </p:nvSpPr>
        <p:spPr>
          <a:xfrm>
            <a:off x="285750" y="1165860"/>
            <a:ext cx="4572000" cy="153162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Toda fórmula no Excel </a:t>
            </a:r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obrigatoriamente</a:t>
            </a:r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começa com o sinal de igual (</a:t>
            </a:r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). Esse caractere avisa o software que o conteúdo digitado deve ser calculado matematicamente em vez de tratado como texto comum.</a:t>
            </a:r>
            <a:endParaRPr lang="en-US" sz="1620" dirty="0"/>
          </a:p>
        </p:txBody>
      </p:sp>
      <p:sp>
        <p:nvSpPr>
          <p:cNvPr id="7" name="576ed655-bef7-427a-8e70-d44bc5f19e8c_card"/>
          <p:cNvSpPr/>
          <p:nvPr/>
        </p:nvSpPr>
        <p:spPr>
          <a:xfrm>
            <a:off x="285750" y="2948940"/>
            <a:ext cx="4572000" cy="1101852"/>
          </a:xfrm>
          <a:prstGeom prst="roundRect">
            <a:avLst>
              <a:gd name="adj" fmla="val 8299"/>
            </a:avLst>
          </a:prstGeom>
          <a:solidFill>
            <a:srgbClr val="FAEFDA"/>
          </a:solidFill>
          <a:ln w="11430">
            <a:solidFill>
              <a:srgbClr val="573B06">
                <a:alpha val="20000"/>
              </a:srgbClr>
            </a:solidFill>
            <a:prstDash val="solid"/>
          </a:ln>
        </p:spPr>
      </p:sp>
      <p:sp>
        <p:nvSpPr>
          <p:cNvPr id="8" name="576ed655-bef7-427a-8e70-d44bc5f19e8c_emoji"/>
          <p:cNvSpPr/>
          <p:nvPr/>
        </p:nvSpPr>
        <p:spPr>
          <a:xfrm>
            <a:off x="400050" y="3097530"/>
            <a:ext cx="365760" cy="411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160" dirty="0">
                <a:solidFill>
                  <a:srgbClr val="000000"/>
                </a:solidFill>
              </a:rPr>
              <a:t>🔑</a:t>
            </a:r>
            <a:endParaRPr lang="en-US" sz="2160" dirty="0"/>
          </a:p>
        </p:txBody>
      </p:sp>
      <p:sp>
        <p:nvSpPr>
          <p:cNvPr id="9" name="576ed655-bef7-427a-8e70-d44bc5f19e8c_text"/>
          <p:cNvSpPr/>
          <p:nvPr/>
        </p:nvSpPr>
        <p:spPr>
          <a:xfrm>
            <a:off x="765810" y="3063240"/>
            <a:ext cx="3977640" cy="8732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28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1440" b="1" dirty="0">
                <a:solidFill>
                  <a:srgbClr val="573B0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Ponto-chave</a:t>
            </a:r>
            <a:endParaRPr lang="en-US" sz="1440" dirty="0"/>
          </a:p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573B0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Sem o sinal de igual no início, o Excel exibe a fórmula como texto estático.</a:t>
            </a:r>
            <a:endParaRPr lang="en-US" sz="144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heme-logo-15" descr="/home/forge/chalkie-production-workers-3/releases/77481733/backend/storage/app/render-specs/2cc91f21-05c3-4444-9175-544f711574a6/img_67db2e6a5fb9230f9de86baa7e51a1c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59800" y="127000"/>
            <a:ext cx="457200" cy="457200"/>
          </a:xfrm>
          <a:prstGeom prst="rect">
            <a:avLst/>
          </a:prstGeom>
        </p:spPr>
      </p:pic>
      <p:pic>
        <p:nvPicPr>
          <p:cNvPr id="3" name="b91d0dfb-c119-41c7-8609-413a02717b94" descr="/home/forge/chalkie-production-workers-3/releases/77481733/backend/storage/app/render-specs/2cc91f21-05c3-4444-9175-544f711574a6/img_3dc1eaaaa20a1639eaf8884e05a6ba18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750" y="1588770"/>
            <a:ext cx="1977390" cy="1714500"/>
          </a:xfrm>
          <a:prstGeom prst="roundRect">
            <a:avLst>
              <a:gd name="adj" fmla="val 8000"/>
            </a:avLst>
          </a:prstGeom>
        </p:spPr>
      </p:pic>
      <p:pic>
        <p:nvPicPr>
          <p:cNvPr id="4" name="d41b40b0-ee89-4167-9b6e-d2dab3e8711b" descr="/home/forge/chalkie-production-workers-3/releases/77481733/backend/storage/app/render-specs/2cc91f21-05c3-4444-9175-544f711574a6/img_36ef6bbd6525681e7582a6f9e166ce2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91740" y="902970"/>
            <a:ext cx="1977390" cy="1714500"/>
          </a:xfrm>
          <a:prstGeom prst="roundRect">
            <a:avLst>
              <a:gd name="adj" fmla="val 8000"/>
            </a:avLst>
          </a:prstGeom>
        </p:spPr>
      </p:pic>
      <p:pic>
        <p:nvPicPr>
          <p:cNvPr id="5" name="2cb7c8b7-6ce2-4321-8e6d-191b1108db35" descr="/home/forge/chalkie-production-workers-3/releases/77481733/backend/storage/app/render-specs/2cc91f21-05c3-4444-9175-544f711574a6/img_583b3d5d88a190dc484d5312980aada7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86300" y="1588770"/>
            <a:ext cx="1977390" cy="1714500"/>
          </a:xfrm>
          <a:prstGeom prst="roundRect">
            <a:avLst>
              <a:gd name="adj" fmla="val 8000"/>
            </a:avLst>
          </a:prstGeom>
        </p:spPr>
      </p:pic>
      <p:pic>
        <p:nvPicPr>
          <p:cNvPr id="6" name="4c46abb7-3997-4a42-a6ab-a8d53a1572e5" descr="/home/forge/chalkie-production-workers-3/releases/77481733/backend/storage/app/render-specs/2cc91f21-05c3-4444-9175-544f711574a6/img_b171a83ec35565a8823d3d655400af7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92290" y="902970"/>
            <a:ext cx="1977390" cy="1714500"/>
          </a:xfrm>
          <a:prstGeom prst="roundRect">
            <a:avLst>
              <a:gd name="adj" fmla="val 8000"/>
            </a:avLst>
          </a:prstGeom>
        </p:spPr>
      </p:pic>
      <p:sp>
        <p:nvSpPr>
          <p:cNvPr id="7" name="d3ddf973-9b51-45f5-8433-a9097ca1fe5a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456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880" b="1" dirty="0">
                <a:solidFill>
                  <a:srgbClr val="00509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Operadores Matemáticos Básicos</a:t>
            </a:r>
            <a:endParaRPr lang="en-US" sz="2880" dirty="0"/>
          </a:p>
        </p:txBody>
      </p:sp>
      <p:sp>
        <p:nvSpPr>
          <p:cNvPr id="8" name="133cecb5-cd83-4bc1-bbbc-19c3efebace8"/>
          <p:cNvSpPr/>
          <p:nvPr/>
        </p:nvSpPr>
        <p:spPr>
          <a:xfrm>
            <a:off x="285750" y="3417570"/>
            <a:ext cx="1977390" cy="1147572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ctr" indent="0" marL="0">
              <a:lnSpc>
                <a:spcPts val="2376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98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Soma (+)</a:t>
            </a:r>
            <a:endParaRPr lang="en-US" sz="1980" dirty="0"/>
          </a:p>
          <a:p>
            <a:pPr algn="ctr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Adiciona valores ou referências: </a:t>
            </a:r>
            <a:endParaRPr lang="en-US" sz="1980" dirty="0"/>
          </a:p>
        </p:txBody>
      </p:sp>
      <p:sp>
        <p:nvSpPr>
          <p:cNvPr id="9" name="3afc90eb-b9dc-4d95-b301-94c534b0d6e1"/>
          <p:cNvSpPr/>
          <p:nvPr/>
        </p:nvSpPr>
        <p:spPr>
          <a:xfrm>
            <a:off x="2491740" y="2731770"/>
            <a:ext cx="1977390" cy="1147572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ctr" indent="0" marL="0">
              <a:lnSpc>
                <a:spcPts val="2376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98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Subtração (-)</a:t>
            </a:r>
            <a:endParaRPr lang="en-US" sz="1980" dirty="0"/>
          </a:p>
          <a:p>
            <a:pPr algn="ctr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Calcula diferenças: </a:t>
            </a:r>
            <a:endParaRPr lang="en-US" sz="1980" dirty="0"/>
          </a:p>
        </p:txBody>
      </p:sp>
      <p:sp>
        <p:nvSpPr>
          <p:cNvPr id="10" name="6fc89708-877f-43a1-8ff7-ef8108430940"/>
          <p:cNvSpPr/>
          <p:nvPr/>
        </p:nvSpPr>
        <p:spPr>
          <a:xfrm>
            <a:off x="4686300" y="3417570"/>
            <a:ext cx="1977390" cy="1147572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ctr" indent="0" marL="0">
              <a:lnSpc>
                <a:spcPts val="2376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98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Multiplicação (*)</a:t>
            </a:r>
            <a:endParaRPr lang="en-US" sz="1980" dirty="0"/>
          </a:p>
          <a:p>
            <a:pPr algn="ctr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Utiliza asterisco: </a:t>
            </a:r>
            <a:endParaRPr lang="en-US" sz="1980" dirty="0"/>
          </a:p>
        </p:txBody>
      </p:sp>
      <p:sp>
        <p:nvSpPr>
          <p:cNvPr id="11" name="6e90ad7f-d105-4e05-b8dd-094b905563c4"/>
          <p:cNvSpPr/>
          <p:nvPr/>
        </p:nvSpPr>
        <p:spPr>
          <a:xfrm>
            <a:off x="6892290" y="2731770"/>
            <a:ext cx="1977390" cy="1147572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ctr" indent="0" marL="0">
              <a:lnSpc>
                <a:spcPts val="2376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98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Divisão (/)</a:t>
            </a:r>
            <a:endParaRPr lang="en-US" sz="1980" dirty="0"/>
          </a:p>
          <a:p>
            <a:pPr algn="ctr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Utiliza barra diagonal: </a:t>
            </a:r>
            <a:endParaRPr lang="en-US" sz="198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heme-logo-16" descr="/home/forge/chalkie-production-workers-3/releases/77481733/backend/storage/app/render-specs/2cc91f21-05c3-4444-9175-544f711574a6/img_67db2e6a5fb9230f9de86baa7e51a1c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59800" y="127000"/>
            <a:ext cx="457200" cy="457200"/>
          </a:xfrm>
          <a:prstGeom prst="rect">
            <a:avLst/>
          </a:prstGeom>
        </p:spPr>
      </p:pic>
      <p:pic>
        <p:nvPicPr>
          <p:cNvPr id="3" name="3379615c-9577-421c-9ac6-f6a51a9daf0f" descr="/home/forge/chalkie-production-workers-3/releases/77481733/backend/storage/app/render-specs/2cc91f21-05c3-4444-9175-544f711574a6/img_08cdfbfe210deb17ec90cac1add2bbf0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750" y="788670"/>
            <a:ext cx="3829050" cy="4069080"/>
          </a:xfrm>
          <a:prstGeom prst="roundRect">
            <a:avLst>
              <a:gd name="adj" fmla="val 3582"/>
            </a:avLst>
          </a:prstGeom>
        </p:spPr>
      </p:pic>
      <p:sp>
        <p:nvSpPr>
          <p:cNvPr id="4" name="45771c44-ee55-4d54-be51-0d5213fbdb81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456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880" b="1" dirty="0">
                <a:solidFill>
                  <a:srgbClr val="00509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Precedência Operacional</a:t>
            </a:r>
            <a:endParaRPr lang="en-US" sz="2880" dirty="0"/>
          </a:p>
        </p:txBody>
      </p:sp>
      <p:sp>
        <p:nvSpPr>
          <p:cNvPr id="5" name="963f1096-cbcd-4591-9b61-375e6fd23234"/>
          <p:cNvSpPr/>
          <p:nvPr/>
        </p:nvSpPr>
        <p:spPr>
          <a:xfrm>
            <a:off x="4286250" y="857250"/>
            <a:ext cx="1005840" cy="262890"/>
          </a:xfrm>
          <a:prstGeom prst="roundRect">
            <a:avLst>
              <a:gd name="adj" fmla="val 17391"/>
            </a:avLst>
          </a:prstGeom>
          <a:solidFill>
            <a:srgbClr val="D32F2F"/>
          </a:solidFill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FÓRMULAS</a:t>
            </a:r>
            <a:endParaRPr lang="en-US" sz="1080" dirty="0"/>
          </a:p>
        </p:txBody>
      </p:sp>
      <p:sp>
        <p:nvSpPr>
          <p:cNvPr id="6" name="573f7ce3-fe11-4429-87cf-fe77bdd54293"/>
          <p:cNvSpPr/>
          <p:nvPr/>
        </p:nvSpPr>
        <p:spPr>
          <a:xfrm>
            <a:off x="4286250" y="1165860"/>
            <a:ext cx="4572000" cy="153162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Assim como na matemática escolar, o Excel respeita ordens rígidas: potenciação primeiro, depois multiplicação e divisão, e por fim adição e subtração. Use </a:t>
            </a:r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parênteses</a:t>
            </a:r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para forçar a ordem desejada.</a:t>
            </a:r>
            <a:endParaRPr lang="en-US" sz="1620" dirty="0"/>
          </a:p>
        </p:txBody>
      </p:sp>
      <p:sp>
        <p:nvSpPr>
          <p:cNvPr id="7" name="8952130a-d201-4192-a7ff-15da83eb7170_card"/>
          <p:cNvSpPr/>
          <p:nvPr/>
        </p:nvSpPr>
        <p:spPr>
          <a:xfrm>
            <a:off x="4286250" y="2697480"/>
            <a:ext cx="4572000" cy="1101852"/>
          </a:xfrm>
          <a:prstGeom prst="roundRect">
            <a:avLst>
              <a:gd name="adj" fmla="val 8299"/>
            </a:avLst>
          </a:prstGeom>
          <a:solidFill>
            <a:srgbClr val="E1F6EF"/>
          </a:solidFill>
          <a:ln w="11430">
            <a:solidFill>
              <a:srgbClr val="084D36">
                <a:alpha val="20000"/>
              </a:srgbClr>
            </a:solidFill>
            <a:prstDash val="solid"/>
          </a:ln>
        </p:spPr>
      </p:sp>
      <p:sp>
        <p:nvSpPr>
          <p:cNvPr id="8" name="8952130a-d201-4192-a7ff-15da83eb7170_emoji"/>
          <p:cNvSpPr/>
          <p:nvPr/>
        </p:nvSpPr>
        <p:spPr>
          <a:xfrm>
            <a:off x="4400550" y="2846070"/>
            <a:ext cx="365760" cy="411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160" dirty="0">
                <a:solidFill>
                  <a:srgbClr val="000000"/>
                </a:solidFill>
              </a:rPr>
              <a:t>🔍</a:t>
            </a:r>
            <a:endParaRPr lang="en-US" sz="2160" dirty="0"/>
          </a:p>
        </p:txBody>
      </p:sp>
      <p:sp>
        <p:nvSpPr>
          <p:cNvPr id="9" name="8952130a-d201-4192-a7ff-15da83eb7170_text"/>
          <p:cNvSpPr/>
          <p:nvPr/>
        </p:nvSpPr>
        <p:spPr>
          <a:xfrm>
            <a:off x="4766310" y="2811780"/>
            <a:ext cx="3977640" cy="8732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28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1440" b="1" dirty="0">
                <a:solidFill>
                  <a:srgbClr val="084D3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Exemplo</a:t>
            </a:r>
            <a:endParaRPr lang="en-US" sz="1440" dirty="0"/>
          </a:p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084D3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resulta em 60, enquanto </a:t>
            </a:r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084D3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resulta em 50.</a:t>
            </a:r>
            <a:endParaRPr lang="en-US" sz="144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heme-logo-17" descr="/home/forge/chalkie-production-workers-3/releases/77481733/backend/storage/app/render-specs/2cc91f21-05c3-4444-9175-544f711574a6/img_67db2e6a5fb9230f9de86baa7e51a1c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59800" y="127000"/>
            <a:ext cx="457200" cy="457200"/>
          </a:xfrm>
          <a:prstGeom prst="rect">
            <a:avLst/>
          </a:prstGeom>
        </p:spPr>
      </p:pic>
      <p:sp>
        <p:nvSpPr>
          <p:cNvPr id="3" name="11c1c2df-8788-4fbb-82f2-bb5e8c857ea5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456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880" b="1" dirty="0">
                <a:solidFill>
                  <a:srgbClr val="00509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Verificação: Ordem de Cálculo</a:t>
            </a:r>
            <a:endParaRPr lang="en-US" sz="2880" dirty="0"/>
          </a:p>
        </p:txBody>
      </p:sp>
      <p:sp>
        <p:nvSpPr>
          <p:cNvPr id="4" name="8f7935bd-f994-4791-8ede-2446d0d1eccc-shadow"/>
          <p:cNvSpPr/>
          <p:nvPr/>
        </p:nvSpPr>
        <p:spPr>
          <a:xfrm>
            <a:off x="914400" y="1234440"/>
            <a:ext cx="7372350" cy="1143000"/>
          </a:xfrm>
          <a:prstGeom prst="roundRect">
            <a:avLst>
              <a:gd name="adj" fmla="val 10000"/>
            </a:avLst>
          </a:prstGeom>
          <a:solidFill>
            <a:srgbClr val="000000"/>
          </a:solidFill>
          <a:ln/>
        </p:spPr>
      </p:sp>
      <p:sp>
        <p:nvSpPr>
          <p:cNvPr id="5" name="8f7935bd-f994-4791-8ede-2446d0d1eccc"/>
          <p:cNvSpPr/>
          <p:nvPr/>
        </p:nvSpPr>
        <p:spPr>
          <a:xfrm>
            <a:off x="822960" y="1143000"/>
            <a:ext cx="7372350" cy="1143000"/>
          </a:xfrm>
          <a:prstGeom prst="roundRect">
            <a:avLst>
              <a:gd name="adj" fmla="val 10000"/>
            </a:avLst>
          </a:prstGeom>
          <a:solidFill>
            <a:srgbClr val="F4F9FC"/>
          </a:solidFill>
          <a:ln w="45720">
            <a:solidFill>
              <a:srgbClr val="000000"/>
            </a:solidFill>
          </a:ln>
        </p:spPr>
        <p:txBody>
          <a:bodyPr wrap="square" lIns="102870" tIns="102870" rIns="102870" bIns="102870" rtlCol="0" anchor="ctr"/>
          <a:lstStyle/>
          <a:p>
            <a:pPr algn="ctr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040F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Excel, a fórmula =5 + 2 * 10 produzirá exatamente o resultado 70.</a:t>
            </a:r>
            <a:endParaRPr lang="en-US" sz="1620" dirty="0"/>
          </a:p>
        </p:txBody>
      </p:sp>
      <p:sp>
        <p:nvSpPr>
          <p:cNvPr id="6" name="cb5306ea-3c83-4ae9-8333-fd8d917fcd8e"/>
          <p:cNvSpPr/>
          <p:nvPr/>
        </p:nvSpPr>
        <p:spPr>
          <a:xfrm>
            <a:off x="2571750" y="2628900"/>
            <a:ext cx="1714500" cy="80010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45720">
            <a:solidFill>
              <a:srgbClr val="000000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lnSpc>
                <a:spcPts val="2808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340" dirty="0">
                <a:solidFill>
                  <a:srgbClr val="040F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👍 </a:t>
            </a:r>
            <a:pPr algn="ctr" indent="0" marL="0">
              <a:lnSpc>
                <a:spcPts val="2808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340" b="1" dirty="0">
                <a:solidFill>
                  <a:srgbClr val="040F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VERDADEIRO</a:t>
            </a:r>
            <a:endParaRPr lang="en-US" sz="2340" dirty="0"/>
          </a:p>
        </p:txBody>
      </p:sp>
      <p:sp>
        <p:nvSpPr>
          <p:cNvPr id="7" name="bb0b8aed-bf3a-4f00-833d-1d5f9a928fae"/>
          <p:cNvSpPr/>
          <p:nvPr/>
        </p:nvSpPr>
        <p:spPr>
          <a:xfrm>
            <a:off x="4857750" y="2628900"/>
            <a:ext cx="1714500" cy="80010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45720">
            <a:solidFill>
              <a:srgbClr val="000000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lnSpc>
                <a:spcPts val="2808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340" dirty="0">
                <a:solidFill>
                  <a:srgbClr val="040F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👎 </a:t>
            </a:r>
            <a:pPr algn="ctr" indent="0" marL="0">
              <a:lnSpc>
                <a:spcPts val="2808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340" b="1" dirty="0">
                <a:solidFill>
                  <a:srgbClr val="040F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FALSO</a:t>
            </a:r>
            <a:endParaRPr lang="en-US" sz="2340" dirty="0"/>
          </a:p>
        </p:txBody>
      </p:sp>
      <p:sp>
        <p:nvSpPr>
          <p:cNvPr id="8" name="640c06f9-e1c9-4d0b-a1df-797d4010a6ea"/>
          <p:cNvSpPr/>
          <p:nvPr/>
        </p:nvSpPr>
        <p:spPr>
          <a:xfrm>
            <a:off x="2571750" y="3714750"/>
            <a:ext cx="5715000" cy="4572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D32F2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🤔 </a:t>
            </a:r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i="1" dirty="0">
                <a:solidFill>
                  <a:srgbClr val="D32F2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Prepare-se para explicar o seu raciocínio.</a:t>
            </a:r>
            <a:endParaRPr lang="en-US" sz="162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heme-logo-18" descr="/home/forge/chalkie-production-workers-3/releases/77481733/backend/storage/app/render-specs/2cc91f21-05c3-4444-9175-544f711574a6/img_67db2e6a5fb9230f9de86baa7e51a1c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59800" y="127000"/>
            <a:ext cx="457200" cy="457200"/>
          </a:xfrm>
          <a:prstGeom prst="rect">
            <a:avLst/>
          </a:prstGeom>
        </p:spPr>
      </p:pic>
      <p:sp>
        <p:nvSpPr>
          <p:cNvPr id="3" name="11c1c2df-8788-4fbb-82f2-bb5e8c857ea5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456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880" b="1" dirty="0">
                <a:solidFill>
                  <a:srgbClr val="00509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Verificação: Ordem de Cálculo</a:t>
            </a:r>
            <a:endParaRPr lang="en-US" sz="2880" dirty="0"/>
          </a:p>
        </p:txBody>
      </p:sp>
      <p:sp>
        <p:nvSpPr>
          <p:cNvPr id="4" name="8f7935bd-f994-4791-8ede-2446d0d1eccc-shadow"/>
          <p:cNvSpPr/>
          <p:nvPr/>
        </p:nvSpPr>
        <p:spPr>
          <a:xfrm>
            <a:off x="914400" y="1234440"/>
            <a:ext cx="7372350" cy="1143000"/>
          </a:xfrm>
          <a:prstGeom prst="roundRect">
            <a:avLst>
              <a:gd name="adj" fmla="val 10000"/>
            </a:avLst>
          </a:prstGeom>
          <a:solidFill>
            <a:srgbClr val="000000"/>
          </a:solidFill>
          <a:ln/>
        </p:spPr>
      </p:sp>
      <p:sp>
        <p:nvSpPr>
          <p:cNvPr id="5" name="8f7935bd-f994-4791-8ede-2446d0d1eccc"/>
          <p:cNvSpPr/>
          <p:nvPr/>
        </p:nvSpPr>
        <p:spPr>
          <a:xfrm>
            <a:off x="822960" y="1143000"/>
            <a:ext cx="7372350" cy="1143000"/>
          </a:xfrm>
          <a:prstGeom prst="roundRect">
            <a:avLst>
              <a:gd name="adj" fmla="val 10000"/>
            </a:avLst>
          </a:prstGeom>
          <a:solidFill>
            <a:srgbClr val="F4F9FC"/>
          </a:solidFill>
          <a:ln w="45720">
            <a:solidFill>
              <a:srgbClr val="000000"/>
            </a:solidFill>
          </a:ln>
        </p:spPr>
        <p:txBody>
          <a:bodyPr wrap="square" lIns="102870" tIns="102870" rIns="102870" bIns="102870" rtlCol="0" anchor="ctr"/>
          <a:lstStyle/>
          <a:p>
            <a:pPr algn="ctr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040F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Excel, a fórmula =5 + 2 * 10 produzirá exatamente o resultado 70.</a:t>
            </a:r>
            <a:endParaRPr lang="en-US" sz="1620" dirty="0"/>
          </a:p>
        </p:txBody>
      </p:sp>
      <p:sp>
        <p:nvSpPr>
          <p:cNvPr id="6" name="cb5306ea-3c83-4ae9-8333-fd8d917fcd8e"/>
          <p:cNvSpPr/>
          <p:nvPr/>
        </p:nvSpPr>
        <p:spPr>
          <a:xfrm>
            <a:off x="2571750" y="2628900"/>
            <a:ext cx="1714500" cy="80010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45720">
            <a:solidFill>
              <a:srgbClr val="000000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lnSpc>
                <a:spcPts val="2808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340" dirty="0">
                <a:solidFill>
                  <a:srgbClr val="040F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👍 </a:t>
            </a:r>
            <a:pPr algn="ctr" indent="0" marL="0">
              <a:lnSpc>
                <a:spcPts val="2808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340" b="1" dirty="0">
                <a:solidFill>
                  <a:srgbClr val="040F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VERDADEIRO</a:t>
            </a:r>
            <a:endParaRPr lang="en-US" sz="2340" dirty="0"/>
          </a:p>
        </p:txBody>
      </p:sp>
      <p:sp>
        <p:nvSpPr>
          <p:cNvPr id="7" name="bb0b8aed-bf3a-4f00-833d-1d5f9a928fae"/>
          <p:cNvSpPr/>
          <p:nvPr/>
        </p:nvSpPr>
        <p:spPr>
          <a:xfrm>
            <a:off x="4857750" y="2628900"/>
            <a:ext cx="1714500" cy="80010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45720">
            <a:solidFill>
              <a:srgbClr val="2C6E49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lnSpc>
                <a:spcPts val="2808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340" dirty="0">
                <a:solidFill>
                  <a:srgbClr val="040F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👎 </a:t>
            </a:r>
            <a:pPr algn="ctr" indent="0" marL="0">
              <a:lnSpc>
                <a:spcPts val="2808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340" b="1" dirty="0">
                <a:solidFill>
                  <a:srgbClr val="040F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FALSO</a:t>
            </a:r>
            <a:endParaRPr lang="en-US" sz="2340" dirty="0"/>
          </a:p>
        </p:txBody>
      </p:sp>
      <p:sp>
        <p:nvSpPr>
          <p:cNvPr id="8" name="227e0bdb-cac0-468d-92c5-c26719617ff2"/>
          <p:cNvSpPr/>
          <p:nvPr/>
        </p:nvSpPr>
        <p:spPr>
          <a:xfrm>
            <a:off x="8366760" y="342900"/>
            <a:ext cx="548640" cy="54864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r" indent="0" marL="0">
              <a:lnSpc>
                <a:spcPts val="4320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360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✅</a:t>
            </a:r>
            <a:endParaRPr lang="en-US" sz="3600" dirty="0"/>
          </a:p>
        </p:txBody>
      </p:sp>
      <p:sp>
        <p:nvSpPr>
          <p:cNvPr id="9" name="4008119c-135e-4f4d-9a70-21a436f0c566_card"/>
          <p:cNvSpPr/>
          <p:nvPr/>
        </p:nvSpPr>
        <p:spPr>
          <a:xfrm>
            <a:off x="457200" y="3657600"/>
            <a:ext cx="8229600" cy="854964"/>
          </a:xfrm>
          <a:prstGeom prst="roundRect">
            <a:avLst>
              <a:gd name="adj" fmla="val 10695"/>
            </a:avLst>
          </a:prstGeom>
          <a:solidFill>
            <a:srgbClr val="FAEFDA"/>
          </a:solidFill>
          <a:ln w="11430">
            <a:solidFill>
              <a:srgbClr val="573B06">
                <a:alpha val="20000"/>
              </a:srgbClr>
            </a:solidFill>
            <a:prstDash val="solid"/>
          </a:ln>
        </p:spPr>
      </p:sp>
      <p:sp>
        <p:nvSpPr>
          <p:cNvPr id="10" name="4008119c-135e-4f4d-9a70-21a436f0c566_emoji"/>
          <p:cNvSpPr/>
          <p:nvPr/>
        </p:nvSpPr>
        <p:spPr>
          <a:xfrm>
            <a:off x="571500" y="3806190"/>
            <a:ext cx="365760" cy="411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160" dirty="0">
                <a:solidFill>
                  <a:srgbClr val="000000"/>
                </a:solidFill>
              </a:rPr>
              <a:t>🔑</a:t>
            </a:r>
            <a:endParaRPr lang="en-US" sz="2160" dirty="0"/>
          </a:p>
        </p:txBody>
      </p:sp>
      <p:sp>
        <p:nvSpPr>
          <p:cNvPr id="11" name="4008119c-135e-4f4d-9a70-21a436f0c566_text"/>
          <p:cNvSpPr/>
          <p:nvPr/>
        </p:nvSpPr>
        <p:spPr>
          <a:xfrm>
            <a:off x="937260" y="3771900"/>
            <a:ext cx="7635240" cy="6263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28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1440" b="1" dirty="0">
                <a:solidFill>
                  <a:srgbClr val="00509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Por que é isso?</a:t>
            </a:r>
            <a:endParaRPr lang="en-US" sz="1440" dirty="0"/>
          </a:p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573B0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multiplicação tem precedência sobre a soma, resultando em 20 + 5 = 25.</a:t>
            </a:r>
            <a:endParaRPr lang="en-US" sz="1440" dirty="0"/>
          </a:p>
        </p:txBody>
      </p:sp>
      <p:sp>
        <p:nvSpPr>
          <p:cNvPr id="12" name="4a4e870d-a7fa-4427-bfa2-fcb21924b1f3"/>
          <p:cNvSpPr/>
          <p:nvPr/>
        </p:nvSpPr>
        <p:spPr>
          <a:xfrm>
            <a:off x="6435090" y="2491740"/>
            <a:ext cx="274320" cy="274320"/>
          </a:xfrm>
          <a:prstGeom prst="roundRect">
            <a:avLst>
              <a:gd name="adj" fmla="val 25000"/>
            </a:avLst>
          </a:prstGeom>
          <a:solidFill>
            <a:srgbClr val="2C6E49"/>
          </a:solidFill>
          <a:ln/>
        </p:spPr>
        <p:txBody>
          <a:bodyPr wrap="square" lIns="45720" tIns="45720" rIns="45720" bIns="45720" rtlCol="0" anchor="ctr"/>
          <a:lstStyle/>
          <a:p>
            <a:pPr algn="ctr" indent="0" marL="0">
              <a:lnSpc>
                <a:spcPts val="1404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117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17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heme-logo-19" descr="/home/forge/chalkie-production-workers-3/releases/77481733/backend/storage/app/render-specs/2cc91f21-05c3-4444-9175-544f711574a6/img_67db2e6a5fb9230f9de86baa7e51a1c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59800" y="127000"/>
            <a:ext cx="457200" cy="457200"/>
          </a:xfrm>
          <a:prstGeom prst="rect">
            <a:avLst/>
          </a:prstGeom>
        </p:spPr>
      </p:pic>
      <p:pic>
        <p:nvPicPr>
          <p:cNvPr id="3" name="c6ddf6de-3274-4539-877b-45228cfcd389" descr="/home/forge/chalkie-production-workers-3/releases/77481733/backend/storage/app/render-specs/2cc91f21-05c3-4444-9175-544f711574a6/img_5141530c367a20e9cd730fbe70daa24b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788670"/>
            <a:ext cx="3829050" cy="4069080"/>
          </a:xfrm>
          <a:prstGeom prst="roundRect">
            <a:avLst>
              <a:gd name="adj" fmla="val 3582"/>
            </a:avLst>
          </a:prstGeom>
        </p:spPr>
      </p:pic>
      <p:sp>
        <p:nvSpPr>
          <p:cNvPr id="4" name="fb3d184a-d3b8-4ac0-9312-d35295a5de3f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456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880" b="1" dirty="0">
                <a:solidFill>
                  <a:srgbClr val="00509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Função SOMA (SUM)</a:t>
            </a:r>
            <a:endParaRPr lang="en-US" sz="2880" dirty="0"/>
          </a:p>
        </p:txBody>
      </p:sp>
      <p:sp>
        <p:nvSpPr>
          <p:cNvPr id="5" name="0d562da5-70f7-4cba-9d70-479bbaf29245"/>
          <p:cNvSpPr/>
          <p:nvPr/>
        </p:nvSpPr>
        <p:spPr>
          <a:xfrm>
            <a:off x="285750" y="857250"/>
            <a:ext cx="902970" cy="262890"/>
          </a:xfrm>
          <a:prstGeom prst="roundRect">
            <a:avLst>
              <a:gd name="adj" fmla="val 17391"/>
            </a:avLst>
          </a:prstGeom>
          <a:solidFill>
            <a:srgbClr val="D32F2F"/>
          </a:solidFill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FUNÇÕES</a:t>
            </a:r>
            <a:endParaRPr lang="en-US" sz="1080" dirty="0"/>
          </a:p>
        </p:txBody>
      </p:sp>
      <p:sp>
        <p:nvSpPr>
          <p:cNvPr id="6" name="587e977d-0fc6-465f-8340-ac5c4795a0f7"/>
          <p:cNvSpPr/>
          <p:nvPr/>
        </p:nvSpPr>
        <p:spPr>
          <a:xfrm>
            <a:off x="285750" y="1165860"/>
            <a:ext cx="4572000" cy="124358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 vez de somar dezenas de células individualmente (</a:t>
            </a:r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), usamos a função </a:t>
            </a:r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SOMA</a:t>
            </a:r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O operador de dois pontos (</a:t>
            </a:r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) indica um intervalo contínuo de células.</a:t>
            </a:r>
            <a:endParaRPr lang="en-US" sz="1620" dirty="0"/>
          </a:p>
        </p:txBody>
      </p:sp>
      <p:sp>
        <p:nvSpPr>
          <p:cNvPr id="7" name="d57e4ade-ac4f-4140-903a-abfa4144ea97_card"/>
          <p:cNvSpPr/>
          <p:nvPr/>
        </p:nvSpPr>
        <p:spPr>
          <a:xfrm>
            <a:off x="285750" y="2457450"/>
            <a:ext cx="4572000" cy="1101852"/>
          </a:xfrm>
          <a:prstGeom prst="roundRect">
            <a:avLst>
              <a:gd name="adj" fmla="val 8299"/>
            </a:avLst>
          </a:prstGeom>
          <a:solidFill>
            <a:srgbClr val="E6F1FB"/>
          </a:solidFill>
          <a:ln w="11430">
            <a:solidFill>
              <a:srgbClr val="0B2F50">
                <a:alpha val="20000"/>
              </a:srgbClr>
            </a:solidFill>
            <a:prstDash val="solid"/>
          </a:ln>
        </p:spPr>
      </p:sp>
      <p:sp>
        <p:nvSpPr>
          <p:cNvPr id="8" name="d57e4ade-ac4f-4140-903a-abfa4144ea97_emoji"/>
          <p:cNvSpPr/>
          <p:nvPr/>
        </p:nvSpPr>
        <p:spPr>
          <a:xfrm>
            <a:off x="400050" y="2606040"/>
            <a:ext cx="365760" cy="411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160" dirty="0">
                <a:solidFill>
                  <a:srgbClr val="000000"/>
                </a:solidFill>
              </a:rPr>
              <a:t>🧠</a:t>
            </a:r>
            <a:endParaRPr lang="en-US" sz="2160" dirty="0"/>
          </a:p>
        </p:txBody>
      </p:sp>
      <p:sp>
        <p:nvSpPr>
          <p:cNvPr id="9" name="d57e4ade-ac4f-4140-903a-abfa4144ea97_text"/>
          <p:cNvSpPr/>
          <p:nvPr/>
        </p:nvSpPr>
        <p:spPr>
          <a:xfrm>
            <a:off x="765810" y="2571750"/>
            <a:ext cx="3977640" cy="8732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28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1440" b="1" dirty="0">
                <a:solidFill>
                  <a:srgbClr val="0B2F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Lembre-se</a:t>
            </a:r>
            <a:endParaRPr lang="en-US" sz="1440" dirty="0"/>
          </a:p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0B2F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sintaxe </a:t>
            </a:r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0B2F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soma todas as 9 células contidas entre B2 e B10.</a:t>
            </a:r>
            <a:endParaRPr lang="en-US" sz="144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heme-logo-20" descr="/home/forge/chalkie-production-workers-3/releases/77481733/backend/storage/app/render-specs/2cc91f21-05c3-4444-9175-544f711574a6/img_67db2e6a5fb9230f9de86baa7e51a1c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59800" y="127000"/>
            <a:ext cx="457200" cy="457200"/>
          </a:xfrm>
          <a:prstGeom prst="rect">
            <a:avLst/>
          </a:prstGeom>
        </p:spPr>
      </p:pic>
      <p:pic>
        <p:nvPicPr>
          <p:cNvPr id="3" name="86cfb5af-5a9e-45fb-ac3f-6f6d0b59b79e" descr="/home/forge/chalkie-production-workers-3/releases/77481733/backend/storage/app/render-specs/2cc91f21-05c3-4444-9175-544f711574a6/img_54352c08190b521a1495539c1ed7c21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750" y="788670"/>
            <a:ext cx="3829050" cy="4069080"/>
          </a:xfrm>
          <a:prstGeom prst="roundRect">
            <a:avLst>
              <a:gd name="adj" fmla="val 3582"/>
            </a:avLst>
          </a:prstGeom>
        </p:spPr>
      </p:pic>
      <p:sp>
        <p:nvSpPr>
          <p:cNvPr id="4" name="4cf33430-18d3-4429-b12a-8877ba8162c9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456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880" b="1" dirty="0">
                <a:solidFill>
                  <a:srgbClr val="00509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Função MÉDIA (AVERAGE)</a:t>
            </a:r>
            <a:endParaRPr lang="en-US" sz="2880" dirty="0"/>
          </a:p>
        </p:txBody>
      </p:sp>
      <p:sp>
        <p:nvSpPr>
          <p:cNvPr id="5" name="eea084c0-9432-4732-b73b-f449900c5470"/>
          <p:cNvSpPr/>
          <p:nvPr/>
        </p:nvSpPr>
        <p:spPr>
          <a:xfrm>
            <a:off x="4286250" y="857250"/>
            <a:ext cx="902970" cy="262890"/>
          </a:xfrm>
          <a:prstGeom prst="roundRect">
            <a:avLst>
              <a:gd name="adj" fmla="val 17391"/>
            </a:avLst>
          </a:prstGeom>
          <a:solidFill>
            <a:srgbClr val="D32F2F"/>
          </a:solidFill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FUNÇÕES</a:t>
            </a:r>
            <a:endParaRPr lang="en-US" sz="1080" dirty="0"/>
          </a:p>
        </p:txBody>
      </p:sp>
      <p:sp>
        <p:nvSpPr>
          <p:cNvPr id="6" name="ccc78cab-451e-4ad7-9b54-e4326f52df53"/>
          <p:cNvSpPr/>
          <p:nvPr/>
        </p:nvSpPr>
        <p:spPr>
          <a:xfrm>
            <a:off x="4286250" y="1165860"/>
            <a:ext cx="4572000" cy="124358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função </a:t>
            </a:r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MÉDIA</a:t>
            </a:r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calcula automaticamente a média aritmética dos valores de um intervalo, dividindo a soma dos números pela quantidade de células numéricas válidas.</a:t>
            </a:r>
            <a:endParaRPr lang="en-US" sz="1620" dirty="0"/>
          </a:p>
        </p:txBody>
      </p:sp>
      <p:sp>
        <p:nvSpPr>
          <p:cNvPr id="7" name="b636dadd-d1c4-4127-8fb3-fb55f6c18204_card"/>
          <p:cNvSpPr/>
          <p:nvPr/>
        </p:nvSpPr>
        <p:spPr>
          <a:xfrm>
            <a:off x="4286250" y="2697480"/>
            <a:ext cx="4572000" cy="1348740"/>
          </a:xfrm>
          <a:prstGeom prst="roundRect">
            <a:avLst>
              <a:gd name="adj" fmla="val 6780"/>
            </a:avLst>
          </a:prstGeom>
          <a:solidFill>
            <a:srgbClr val="FAEFDA"/>
          </a:solidFill>
          <a:ln w="11430">
            <a:solidFill>
              <a:srgbClr val="573B06">
                <a:alpha val="20000"/>
              </a:srgbClr>
            </a:solidFill>
            <a:prstDash val="solid"/>
          </a:ln>
        </p:spPr>
      </p:sp>
      <p:sp>
        <p:nvSpPr>
          <p:cNvPr id="8" name="b636dadd-d1c4-4127-8fb3-fb55f6c18204_emoji"/>
          <p:cNvSpPr/>
          <p:nvPr/>
        </p:nvSpPr>
        <p:spPr>
          <a:xfrm>
            <a:off x="4400550" y="2846070"/>
            <a:ext cx="365760" cy="411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160" dirty="0">
                <a:solidFill>
                  <a:srgbClr val="000000"/>
                </a:solidFill>
              </a:rPr>
              <a:t>🔑</a:t>
            </a:r>
            <a:endParaRPr lang="en-US" sz="2160" dirty="0"/>
          </a:p>
        </p:txBody>
      </p:sp>
      <p:sp>
        <p:nvSpPr>
          <p:cNvPr id="9" name="b636dadd-d1c4-4127-8fb3-fb55f6c18204_text"/>
          <p:cNvSpPr/>
          <p:nvPr/>
        </p:nvSpPr>
        <p:spPr>
          <a:xfrm>
            <a:off x="4766310" y="2811780"/>
            <a:ext cx="3977640" cy="1120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28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1440" b="1" dirty="0">
                <a:solidFill>
                  <a:srgbClr val="573B0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Ponto-chave</a:t>
            </a:r>
            <a:endParaRPr lang="en-US" sz="1440" dirty="0"/>
          </a:p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573B0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Células vazias são desconsideradas pela função MÉDIA, não distorcendo o cálculo.</a:t>
            </a:r>
            <a:endParaRPr lang="en-US" sz="144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heme-logo-21" descr="/home/forge/chalkie-production-workers-3/releases/77481733/backend/storage/app/render-specs/2cc91f21-05c3-4444-9175-544f711574a6/img_67db2e6a5fb9230f9de86baa7e51a1c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59800" y="127000"/>
            <a:ext cx="457200" cy="457200"/>
          </a:xfrm>
          <a:prstGeom prst="rect">
            <a:avLst/>
          </a:prstGeom>
        </p:spPr>
      </p:pic>
      <p:pic>
        <p:nvPicPr>
          <p:cNvPr id="3" name="7fa57954-fb83-486d-928d-8b508039edae" descr="/home/forge/chalkie-production-workers-3/releases/77481733/backend/storage/app/render-specs/2cc91f21-05c3-4444-9175-544f711574a6/img_b013ae674bef43f210702d31160ac3c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750" y="948690"/>
            <a:ext cx="4194810" cy="2057400"/>
          </a:xfrm>
          <a:prstGeom prst="roundRect">
            <a:avLst>
              <a:gd name="adj" fmla="val 6667"/>
            </a:avLst>
          </a:prstGeom>
        </p:spPr>
      </p:pic>
      <p:pic>
        <p:nvPicPr>
          <p:cNvPr id="4" name="b2ab49c3-6730-4216-aeeb-a73728832bde" descr="/home/forge/chalkie-production-workers-3/releases/77481733/backend/storage/app/render-specs/2cc91f21-05c3-4444-9175-544f711574a6/img_ece232c393b5a1677c9fc32a72413c97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2010" y="948690"/>
            <a:ext cx="4194810" cy="2057400"/>
          </a:xfrm>
          <a:prstGeom prst="roundRect">
            <a:avLst>
              <a:gd name="adj" fmla="val 6667"/>
            </a:avLst>
          </a:prstGeom>
        </p:spPr>
      </p:pic>
      <p:sp>
        <p:nvSpPr>
          <p:cNvPr id="5" name="c37d3222-7400-478a-8e91-a8da8dc0244c"/>
          <p:cNvSpPr/>
          <p:nvPr/>
        </p:nvSpPr>
        <p:spPr>
          <a:xfrm>
            <a:off x="285750" y="33147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456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880" b="1" dirty="0">
                <a:solidFill>
                  <a:srgbClr val="00509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Contagem: NÚMEROS vs VALORES</a:t>
            </a:r>
            <a:endParaRPr lang="en-US" sz="2880" dirty="0"/>
          </a:p>
        </p:txBody>
      </p:sp>
      <p:sp>
        <p:nvSpPr>
          <p:cNvPr id="6" name="02995c19-f173-41be-b5f4-bdc2bd1db381"/>
          <p:cNvSpPr/>
          <p:nvPr/>
        </p:nvSpPr>
        <p:spPr>
          <a:xfrm>
            <a:off x="285750" y="3143250"/>
            <a:ext cx="4194810" cy="1499616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376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98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CONT.NÚMEROS</a:t>
            </a:r>
            <a:endParaRPr lang="en-US" sz="1980" dirty="0"/>
          </a:p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Conta apenas células que contêm </a:t>
            </a:r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valores numéricos</a:t>
            </a:r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Ignora células com texto ou vazias.</a:t>
            </a:r>
            <a:endParaRPr lang="en-US" sz="1980" dirty="0"/>
          </a:p>
        </p:txBody>
      </p:sp>
      <p:sp>
        <p:nvSpPr>
          <p:cNvPr id="7" name="d55b1283-d62e-42fc-b290-015296d65590"/>
          <p:cNvSpPr/>
          <p:nvPr/>
        </p:nvSpPr>
        <p:spPr>
          <a:xfrm>
            <a:off x="4652010" y="3143250"/>
            <a:ext cx="4194810" cy="1499616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376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98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CONT.VALORES</a:t>
            </a:r>
            <a:endParaRPr lang="en-US" sz="1980" dirty="0"/>
          </a:p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Conta qualquer célula </a:t>
            </a:r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não vazia</a:t>
            </a:r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incluindo nomes de funcionários, códigos e datas.</a:t>
            </a:r>
            <a:endParaRPr lang="en-US" sz="198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heme-logo-22" descr="/home/forge/chalkie-production-workers-3/releases/77481733/backend/storage/app/render-specs/2cc91f21-05c3-4444-9175-544f711574a6/img_67db2e6a5fb9230f9de86baa7e51a1c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59800" y="127000"/>
            <a:ext cx="457200" cy="457200"/>
          </a:xfrm>
          <a:prstGeom prst="rect">
            <a:avLst/>
          </a:prstGeom>
        </p:spPr>
      </p:pic>
      <p:sp>
        <p:nvSpPr>
          <p:cNvPr id="3" name="c4917335-f92a-4f38-8592-956a37803632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456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880" b="1" dirty="0">
                <a:solidFill>
                  <a:srgbClr val="00509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Checagem: Funções de Contagem</a:t>
            </a:r>
            <a:endParaRPr lang="en-US" sz="2880" dirty="0"/>
          </a:p>
        </p:txBody>
      </p:sp>
      <p:sp>
        <p:nvSpPr>
          <p:cNvPr id="4" name="46d12c84-4da5-44e1-9a21-cf239c536aba"/>
          <p:cNvSpPr/>
          <p:nvPr/>
        </p:nvSpPr>
        <p:spPr>
          <a:xfrm>
            <a:off x="285750" y="685800"/>
            <a:ext cx="8572500" cy="667512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Selecione todas as afirmações verdadeiras sobre CONT.NÚMEROS e CONT.VALORES (mais de uma alternativa está correta):</a:t>
            </a:r>
            <a:endParaRPr lang="en-US" sz="1620" dirty="0"/>
          </a:p>
        </p:txBody>
      </p:sp>
      <p:sp>
        <p:nvSpPr>
          <p:cNvPr id="5" name="9b4a8d80-ef51-4f1f-b481-845ab41052d6"/>
          <p:cNvSpPr/>
          <p:nvPr/>
        </p:nvSpPr>
        <p:spPr>
          <a:xfrm>
            <a:off x="285750" y="1657350"/>
            <a:ext cx="525780" cy="6858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l" indent="0" marL="0">
              <a:lnSpc>
                <a:spcPts val="3024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52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</a:t>
            </a:r>
            <a:endParaRPr lang="en-US" sz="2520" dirty="0"/>
          </a:p>
        </p:txBody>
      </p:sp>
      <p:sp>
        <p:nvSpPr>
          <p:cNvPr id="6" name="826f2735-6901-4d54-ac01-25bbc644e82e"/>
          <p:cNvSpPr/>
          <p:nvPr/>
        </p:nvSpPr>
        <p:spPr>
          <a:xfrm>
            <a:off x="857250" y="1657350"/>
            <a:ext cx="8001000" cy="685800"/>
          </a:xfrm>
          <a:prstGeom prst="roundRect">
            <a:avLst>
              <a:gd name="adj" fmla="val 16667"/>
            </a:avLst>
          </a:prstGeom>
          <a:solidFill>
            <a:srgbClr val="F4F9FC"/>
          </a:solidFill>
          <a:ln w="45720">
            <a:solidFill>
              <a:srgbClr val="000000"/>
            </a:solidFill>
          </a:ln>
        </p:spPr>
        <p:txBody>
          <a:bodyPr wrap="square" lIns="102870" tIns="102870" rIns="102870" bIns="102870" rtlCol="0" anchor="ctr"/>
          <a:lstStyle/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040F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CONT.NÚMEROS conta células vazias como se fossem o número zero.</a:t>
            </a:r>
            <a:endParaRPr lang="en-US" sz="1620" dirty="0"/>
          </a:p>
        </p:txBody>
      </p:sp>
      <p:sp>
        <p:nvSpPr>
          <p:cNvPr id="7" name="e60503ad-382b-4f68-8c85-733d4f501251"/>
          <p:cNvSpPr/>
          <p:nvPr/>
        </p:nvSpPr>
        <p:spPr>
          <a:xfrm>
            <a:off x="285750" y="2514600"/>
            <a:ext cx="525780" cy="6858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l" indent="0" marL="0">
              <a:lnSpc>
                <a:spcPts val="3024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52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2.</a:t>
            </a:r>
            <a:endParaRPr lang="en-US" sz="2520" dirty="0"/>
          </a:p>
        </p:txBody>
      </p:sp>
      <p:sp>
        <p:nvSpPr>
          <p:cNvPr id="8" name="899356fc-1ee7-4e69-a446-f74e82159b81"/>
          <p:cNvSpPr/>
          <p:nvPr/>
        </p:nvSpPr>
        <p:spPr>
          <a:xfrm>
            <a:off x="857250" y="2514600"/>
            <a:ext cx="8001000" cy="685800"/>
          </a:xfrm>
          <a:prstGeom prst="roundRect">
            <a:avLst>
              <a:gd name="adj" fmla="val 16667"/>
            </a:avLst>
          </a:prstGeom>
          <a:solidFill>
            <a:srgbClr val="F4F9FC"/>
          </a:solidFill>
          <a:ln w="45720">
            <a:solidFill>
              <a:srgbClr val="000000"/>
            </a:solidFill>
          </a:ln>
        </p:spPr>
        <p:txBody>
          <a:bodyPr wrap="square" lIns="102870" tIns="102870" rIns="102870" bIns="102870" rtlCol="0" anchor="ctr"/>
          <a:lstStyle/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040F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CONT.VALORES e CONT.NÚMEROS sempre geram resultados idênticos em qualquer coluna.</a:t>
            </a:r>
            <a:endParaRPr lang="en-US" sz="1620" dirty="0"/>
          </a:p>
        </p:txBody>
      </p:sp>
      <p:sp>
        <p:nvSpPr>
          <p:cNvPr id="9" name="70073ce2-69d3-4672-915a-14c4a1e77224"/>
          <p:cNvSpPr/>
          <p:nvPr/>
        </p:nvSpPr>
        <p:spPr>
          <a:xfrm>
            <a:off x="285750" y="3371850"/>
            <a:ext cx="525780" cy="6858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l" indent="0" marL="0">
              <a:lnSpc>
                <a:spcPts val="3024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52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3.</a:t>
            </a:r>
            <a:endParaRPr lang="en-US" sz="2520" dirty="0"/>
          </a:p>
        </p:txBody>
      </p:sp>
      <p:sp>
        <p:nvSpPr>
          <p:cNvPr id="10" name="097055d7-caac-4532-aa01-1537377a6014"/>
          <p:cNvSpPr/>
          <p:nvPr/>
        </p:nvSpPr>
        <p:spPr>
          <a:xfrm>
            <a:off x="857250" y="3371850"/>
            <a:ext cx="8001000" cy="685800"/>
          </a:xfrm>
          <a:prstGeom prst="roundRect">
            <a:avLst>
              <a:gd name="adj" fmla="val 16667"/>
            </a:avLst>
          </a:prstGeom>
          <a:solidFill>
            <a:srgbClr val="F4F9FC"/>
          </a:solidFill>
          <a:ln w="45720">
            <a:solidFill>
              <a:srgbClr val="000000"/>
            </a:solidFill>
          </a:ln>
        </p:spPr>
        <p:txBody>
          <a:bodyPr wrap="square" lIns="102870" tIns="102870" rIns="102870" bIns="102870" rtlCol="0" anchor="ctr"/>
          <a:lstStyle/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040F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CONT.NÚMEROS ignora células que contêm palavras como 'Pendente' ou 'Ausente'.</a:t>
            </a:r>
            <a:endParaRPr lang="en-US" sz="1620" dirty="0"/>
          </a:p>
        </p:txBody>
      </p:sp>
      <p:sp>
        <p:nvSpPr>
          <p:cNvPr id="11" name="96560738-e8ec-49cc-aa0d-a23b6870e083"/>
          <p:cNvSpPr/>
          <p:nvPr/>
        </p:nvSpPr>
        <p:spPr>
          <a:xfrm>
            <a:off x="285750" y="4229100"/>
            <a:ext cx="525780" cy="6858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l" indent="0" marL="0">
              <a:lnSpc>
                <a:spcPts val="3024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52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4.</a:t>
            </a:r>
            <a:endParaRPr lang="en-US" sz="2520" dirty="0"/>
          </a:p>
        </p:txBody>
      </p:sp>
      <p:sp>
        <p:nvSpPr>
          <p:cNvPr id="12" name="b646d7a3-89ef-416a-999d-6d5abbe29825"/>
          <p:cNvSpPr/>
          <p:nvPr/>
        </p:nvSpPr>
        <p:spPr>
          <a:xfrm>
            <a:off x="857250" y="4229100"/>
            <a:ext cx="8001000" cy="685800"/>
          </a:xfrm>
          <a:prstGeom prst="roundRect">
            <a:avLst>
              <a:gd name="adj" fmla="val 16667"/>
            </a:avLst>
          </a:prstGeom>
          <a:solidFill>
            <a:srgbClr val="F4F9FC"/>
          </a:solidFill>
          <a:ln w="45720">
            <a:solidFill>
              <a:srgbClr val="000000"/>
            </a:solidFill>
          </a:ln>
        </p:spPr>
        <p:txBody>
          <a:bodyPr wrap="square" lIns="102870" tIns="102870" rIns="102870" bIns="102870" rtlCol="0" anchor="ctr"/>
          <a:lstStyle/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040F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CONT.VALORES contabiliza células preenchidas com nomes de clientes em texto.</a:t>
            </a:r>
            <a:endParaRPr lang="en-US" sz="162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heme-logo-23" descr="/home/forge/chalkie-production-workers-3/releases/77481733/backend/storage/app/render-specs/2cc91f21-05c3-4444-9175-544f711574a6/img_67db2e6a5fb9230f9de86baa7e51a1c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59800" y="127000"/>
            <a:ext cx="457200" cy="457200"/>
          </a:xfrm>
          <a:prstGeom prst="rect">
            <a:avLst/>
          </a:prstGeom>
        </p:spPr>
      </p:pic>
      <p:sp>
        <p:nvSpPr>
          <p:cNvPr id="3" name="c4917335-f92a-4f38-8592-956a37803632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456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880" b="1" dirty="0">
                <a:solidFill>
                  <a:srgbClr val="00509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Checagem: Funções de Contagem</a:t>
            </a:r>
            <a:endParaRPr lang="en-US" sz="2880" dirty="0"/>
          </a:p>
        </p:txBody>
      </p:sp>
      <p:sp>
        <p:nvSpPr>
          <p:cNvPr id="4" name="46d12c84-4da5-44e1-9a21-cf239c536aba"/>
          <p:cNvSpPr/>
          <p:nvPr/>
        </p:nvSpPr>
        <p:spPr>
          <a:xfrm>
            <a:off x="285750" y="685800"/>
            <a:ext cx="8572500" cy="667512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Selecione todas as afirmações verdadeiras sobre CONT.NÚMEROS e CONT.VALORES (mais de uma alternativa está correta):</a:t>
            </a:r>
            <a:endParaRPr lang="en-US" sz="1620" dirty="0"/>
          </a:p>
        </p:txBody>
      </p:sp>
      <p:sp>
        <p:nvSpPr>
          <p:cNvPr id="5" name="9b4a8d80-ef51-4f1f-b481-845ab41052d6"/>
          <p:cNvSpPr/>
          <p:nvPr/>
        </p:nvSpPr>
        <p:spPr>
          <a:xfrm>
            <a:off x="285750" y="1657350"/>
            <a:ext cx="525780" cy="6858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l" indent="0" marL="0">
              <a:lnSpc>
                <a:spcPts val="3024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52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</a:t>
            </a:r>
            <a:endParaRPr lang="en-US" sz="2520" dirty="0"/>
          </a:p>
        </p:txBody>
      </p:sp>
      <p:sp>
        <p:nvSpPr>
          <p:cNvPr id="6" name="826f2735-6901-4d54-ac01-25bbc644e82e"/>
          <p:cNvSpPr/>
          <p:nvPr/>
        </p:nvSpPr>
        <p:spPr>
          <a:xfrm>
            <a:off x="857250" y="1657350"/>
            <a:ext cx="8001000" cy="685800"/>
          </a:xfrm>
          <a:prstGeom prst="roundRect">
            <a:avLst>
              <a:gd name="adj" fmla="val 16667"/>
            </a:avLst>
          </a:prstGeom>
          <a:solidFill>
            <a:srgbClr val="F4F9FC"/>
          </a:solidFill>
          <a:ln w="45720">
            <a:solidFill>
              <a:srgbClr val="000000"/>
            </a:solidFill>
          </a:ln>
        </p:spPr>
        <p:txBody>
          <a:bodyPr wrap="square" lIns="102870" tIns="102870" rIns="102870" bIns="102870" rtlCol="0" anchor="ctr"/>
          <a:lstStyle/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040F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CONT.NÚMEROS conta células vazias como se fossem o número zero.</a:t>
            </a:r>
            <a:endParaRPr lang="en-US" sz="1620" dirty="0"/>
          </a:p>
        </p:txBody>
      </p:sp>
      <p:sp>
        <p:nvSpPr>
          <p:cNvPr id="7" name="e60503ad-382b-4f68-8c85-733d4f501251"/>
          <p:cNvSpPr/>
          <p:nvPr/>
        </p:nvSpPr>
        <p:spPr>
          <a:xfrm>
            <a:off x="285750" y="2514600"/>
            <a:ext cx="525780" cy="6858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l" indent="0" marL="0">
              <a:lnSpc>
                <a:spcPts val="3024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52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2.</a:t>
            </a:r>
            <a:endParaRPr lang="en-US" sz="2520" dirty="0"/>
          </a:p>
        </p:txBody>
      </p:sp>
      <p:sp>
        <p:nvSpPr>
          <p:cNvPr id="8" name="899356fc-1ee7-4e69-a446-f74e82159b81"/>
          <p:cNvSpPr/>
          <p:nvPr/>
        </p:nvSpPr>
        <p:spPr>
          <a:xfrm>
            <a:off x="857250" y="2514600"/>
            <a:ext cx="8001000" cy="685800"/>
          </a:xfrm>
          <a:prstGeom prst="roundRect">
            <a:avLst>
              <a:gd name="adj" fmla="val 16667"/>
            </a:avLst>
          </a:prstGeom>
          <a:solidFill>
            <a:srgbClr val="F4F9FC"/>
          </a:solidFill>
          <a:ln w="45720">
            <a:solidFill>
              <a:srgbClr val="000000"/>
            </a:solidFill>
          </a:ln>
        </p:spPr>
        <p:txBody>
          <a:bodyPr wrap="square" lIns="102870" tIns="102870" rIns="102870" bIns="102870" rtlCol="0" anchor="ctr"/>
          <a:lstStyle/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040F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CONT.VALORES e CONT.NÚMEROS sempre geram resultados idênticos em qualquer coluna.</a:t>
            </a:r>
            <a:endParaRPr lang="en-US" sz="1620" dirty="0"/>
          </a:p>
        </p:txBody>
      </p:sp>
      <p:sp>
        <p:nvSpPr>
          <p:cNvPr id="9" name="70073ce2-69d3-4672-915a-14c4a1e77224"/>
          <p:cNvSpPr/>
          <p:nvPr/>
        </p:nvSpPr>
        <p:spPr>
          <a:xfrm>
            <a:off x="285750" y="3371850"/>
            <a:ext cx="525780" cy="6858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l" indent="0" marL="0">
              <a:lnSpc>
                <a:spcPts val="3024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52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3.</a:t>
            </a:r>
            <a:endParaRPr lang="en-US" sz="2520" dirty="0"/>
          </a:p>
        </p:txBody>
      </p:sp>
      <p:sp>
        <p:nvSpPr>
          <p:cNvPr id="10" name="097055d7-caac-4532-aa01-1537377a6014"/>
          <p:cNvSpPr/>
          <p:nvPr/>
        </p:nvSpPr>
        <p:spPr>
          <a:xfrm>
            <a:off x="857250" y="3371850"/>
            <a:ext cx="8001000" cy="685800"/>
          </a:xfrm>
          <a:prstGeom prst="roundRect">
            <a:avLst>
              <a:gd name="adj" fmla="val 16667"/>
            </a:avLst>
          </a:prstGeom>
          <a:solidFill>
            <a:srgbClr val="F4F9FC"/>
          </a:solidFill>
          <a:ln w="45720">
            <a:solidFill>
              <a:srgbClr val="2C6E49"/>
            </a:solidFill>
          </a:ln>
        </p:spPr>
        <p:txBody>
          <a:bodyPr wrap="square" lIns="102870" tIns="102870" rIns="102870" bIns="102870" rtlCol="0" anchor="ctr"/>
          <a:lstStyle/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040F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CONT.NÚMEROS ignora células que contêm palavras como 'Pendente' ou 'Ausente'.</a:t>
            </a:r>
            <a:endParaRPr lang="en-US" sz="1620" dirty="0"/>
          </a:p>
        </p:txBody>
      </p:sp>
      <p:sp>
        <p:nvSpPr>
          <p:cNvPr id="11" name="96560738-e8ec-49cc-aa0d-a23b6870e083"/>
          <p:cNvSpPr/>
          <p:nvPr/>
        </p:nvSpPr>
        <p:spPr>
          <a:xfrm>
            <a:off x="285750" y="4229100"/>
            <a:ext cx="525780" cy="6858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l" indent="0" marL="0">
              <a:lnSpc>
                <a:spcPts val="3024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52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4.</a:t>
            </a:r>
            <a:endParaRPr lang="en-US" sz="2520" dirty="0"/>
          </a:p>
        </p:txBody>
      </p:sp>
      <p:sp>
        <p:nvSpPr>
          <p:cNvPr id="12" name="b646d7a3-89ef-416a-999d-6d5abbe29825"/>
          <p:cNvSpPr/>
          <p:nvPr/>
        </p:nvSpPr>
        <p:spPr>
          <a:xfrm>
            <a:off x="857250" y="4229100"/>
            <a:ext cx="8001000" cy="685800"/>
          </a:xfrm>
          <a:prstGeom prst="roundRect">
            <a:avLst>
              <a:gd name="adj" fmla="val 16667"/>
            </a:avLst>
          </a:prstGeom>
          <a:solidFill>
            <a:srgbClr val="F4F9FC"/>
          </a:solidFill>
          <a:ln w="45720">
            <a:solidFill>
              <a:srgbClr val="2C6E49"/>
            </a:solidFill>
          </a:ln>
        </p:spPr>
        <p:txBody>
          <a:bodyPr wrap="square" lIns="102870" tIns="102870" rIns="102870" bIns="102870" rtlCol="0" anchor="ctr"/>
          <a:lstStyle/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040F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CONT.VALORES contabiliza células preenchidas com nomes de clientes em texto.</a:t>
            </a:r>
            <a:endParaRPr lang="en-US" sz="1620" dirty="0"/>
          </a:p>
        </p:txBody>
      </p:sp>
      <p:sp>
        <p:nvSpPr>
          <p:cNvPr id="13" name="3fd6e89e-44a9-40fb-91d2-31f7d8973506"/>
          <p:cNvSpPr/>
          <p:nvPr/>
        </p:nvSpPr>
        <p:spPr>
          <a:xfrm>
            <a:off x="8366760" y="342900"/>
            <a:ext cx="548640" cy="54864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r" indent="0" marL="0">
              <a:lnSpc>
                <a:spcPts val="4320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360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✅</a:t>
            </a:r>
            <a:endParaRPr lang="en-US" sz="3600" dirty="0"/>
          </a:p>
        </p:txBody>
      </p:sp>
      <p:sp>
        <p:nvSpPr>
          <p:cNvPr id="14" name="0538c764-8faf-4221-84bb-3318b25afa59"/>
          <p:cNvSpPr/>
          <p:nvPr/>
        </p:nvSpPr>
        <p:spPr>
          <a:xfrm>
            <a:off x="8721090" y="3234690"/>
            <a:ext cx="274320" cy="274320"/>
          </a:xfrm>
          <a:prstGeom prst="roundRect">
            <a:avLst>
              <a:gd name="adj" fmla="val 25000"/>
            </a:avLst>
          </a:prstGeom>
          <a:solidFill>
            <a:srgbClr val="2C6E49"/>
          </a:solidFill>
          <a:ln/>
        </p:spPr>
        <p:txBody>
          <a:bodyPr wrap="square" lIns="45720" tIns="45720" rIns="45720" bIns="45720" rtlCol="0" anchor="ctr"/>
          <a:lstStyle/>
          <a:p>
            <a:pPr algn="ctr" indent="0" marL="0">
              <a:lnSpc>
                <a:spcPts val="1404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117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170" dirty="0"/>
          </a:p>
        </p:txBody>
      </p:sp>
      <p:sp>
        <p:nvSpPr>
          <p:cNvPr id="15" name="6a1d208d-8e52-4538-b7b7-d9bd51075493"/>
          <p:cNvSpPr/>
          <p:nvPr/>
        </p:nvSpPr>
        <p:spPr>
          <a:xfrm>
            <a:off x="8721090" y="4091940"/>
            <a:ext cx="274320" cy="274320"/>
          </a:xfrm>
          <a:prstGeom prst="roundRect">
            <a:avLst>
              <a:gd name="adj" fmla="val 25000"/>
            </a:avLst>
          </a:prstGeom>
          <a:solidFill>
            <a:srgbClr val="2C6E49"/>
          </a:solidFill>
          <a:ln/>
        </p:spPr>
        <p:txBody>
          <a:bodyPr wrap="square" lIns="45720" tIns="45720" rIns="45720" bIns="45720" rtlCol="0" anchor="ctr"/>
          <a:lstStyle/>
          <a:p>
            <a:pPr algn="ctr" indent="0" marL="0">
              <a:lnSpc>
                <a:spcPts val="1404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117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17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heme-logo-24" descr="/home/forge/chalkie-production-workers-3/releases/77481733/backend/storage/app/render-specs/2cc91f21-05c3-4444-9175-544f711574a6/img_67db2e6a5fb9230f9de86baa7e51a1c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59800" y="127000"/>
            <a:ext cx="457200" cy="457200"/>
          </a:xfrm>
          <a:prstGeom prst="rect">
            <a:avLst/>
          </a:prstGeom>
        </p:spPr>
      </p:pic>
      <p:pic>
        <p:nvPicPr>
          <p:cNvPr id="3" name="f411073d-8b68-4633-83b7-64ae541cf178" descr="/home/forge/chalkie-production-workers-3/releases/77481733/backend/storage/app/render-specs/2cc91f21-05c3-4444-9175-544f711574a6/img_830636ec353bb052dafabd6d704b0ce4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788670"/>
            <a:ext cx="3829050" cy="4069080"/>
          </a:xfrm>
          <a:prstGeom prst="roundRect">
            <a:avLst>
              <a:gd name="adj" fmla="val 3582"/>
            </a:avLst>
          </a:prstGeom>
        </p:spPr>
      </p:pic>
      <p:sp>
        <p:nvSpPr>
          <p:cNvPr id="4" name="513b6ab3-289f-4998-86a3-0d6a48a56556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456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880" b="1" dirty="0">
                <a:solidFill>
                  <a:srgbClr val="00509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Lógica Condicional: Função SE</a:t>
            </a:r>
            <a:endParaRPr lang="en-US" sz="2880" dirty="0"/>
          </a:p>
        </p:txBody>
      </p:sp>
      <p:sp>
        <p:nvSpPr>
          <p:cNvPr id="5" name="7938b31a-f7f9-4033-ab93-6b99da8affc4"/>
          <p:cNvSpPr/>
          <p:nvPr/>
        </p:nvSpPr>
        <p:spPr>
          <a:xfrm>
            <a:off x="285750" y="857250"/>
            <a:ext cx="765810" cy="262890"/>
          </a:xfrm>
          <a:prstGeom prst="roundRect">
            <a:avLst>
              <a:gd name="adj" fmla="val 17391"/>
            </a:avLst>
          </a:prstGeom>
          <a:solidFill>
            <a:srgbClr val="D32F2F"/>
          </a:solidFill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LÓGICA</a:t>
            </a:r>
            <a:endParaRPr lang="en-US" sz="1080" dirty="0"/>
          </a:p>
        </p:txBody>
      </p:sp>
      <p:sp>
        <p:nvSpPr>
          <p:cNvPr id="6" name="56c8fb7f-2c18-445a-b131-8a875919dc80"/>
          <p:cNvSpPr/>
          <p:nvPr/>
        </p:nvSpPr>
        <p:spPr>
          <a:xfrm>
            <a:off x="285750" y="1165860"/>
            <a:ext cx="4572000" cy="124358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função </a:t>
            </a:r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</a:t>
            </a:r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avalia uma condição lógica e retorna um valor se a condição for verdadeira e outro se for falsa. É a base da tomada de decisão automatizada em sistemas gerenciais.</a:t>
            </a:r>
            <a:endParaRPr lang="en-US" sz="1620" dirty="0"/>
          </a:p>
        </p:txBody>
      </p:sp>
      <p:sp>
        <p:nvSpPr>
          <p:cNvPr id="7" name="0bdfe57f-7209-4962-93e4-8f0110b39d56_card"/>
          <p:cNvSpPr/>
          <p:nvPr/>
        </p:nvSpPr>
        <p:spPr>
          <a:xfrm>
            <a:off x="285750" y="2697480"/>
            <a:ext cx="4572000" cy="854964"/>
          </a:xfrm>
          <a:prstGeom prst="roundRect">
            <a:avLst>
              <a:gd name="adj" fmla="val 10695"/>
            </a:avLst>
          </a:prstGeom>
          <a:solidFill>
            <a:srgbClr val="E6F1FB"/>
          </a:solidFill>
          <a:ln w="11430">
            <a:solidFill>
              <a:srgbClr val="0B2F50">
                <a:alpha val="20000"/>
              </a:srgbClr>
            </a:solidFill>
            <a:prstDash val="solid"/>
          </a:ln>
        </p:spPr>
      </p:sp>
      <p:sp>
        <p:nvSpPr>
          <p:cNvPr id="8" name="0bdfe57f-7209-4962-93e4-8f0110b39d56_emoji"/>
          <p:cNvSpPr/>
          <p:nvPr/>
        </p:nvSpPr>
        <p:spPr>
          <a:xfrm>
            <a:off x="400050" y="2846070"/>
            <a:ext cx="365760" cy="411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160" dirty="0">
                <a:solidFill>
                  <a:srgbClr val="000000"/>
                </a:solidFill>
              </a:rPr>
              <a:t>🧠</a:t>
            </a:r>
            <a:endParaRPr lang="en-US" sz="2160" dirty="0"/>
          </a:p>
        </p:txBody>
      </p:sp>
      <p:sp>
        <p:nvSpPr>
          <p:cNvPr id="9" name="0bdfe57f-7209-4962-93e4-8f0110b39d56_text"/>
          <p:cNvSpPr/>
          <p:nvPr/>
        </p:nvSpPr>
        <p:spPr>
          <a:xfrm>
            <a:off x="765810" y="2811780"/>
            <a:ext cx="3977640" cy="6263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28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1440" b="1" dirty="0">
                <a:solidFill>
                  <a:srgbClr val="0B2F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Lembre-se</a:t>
            </a:r>
            <a:endParaRPr lang="en-US" sz="1440" dirty="0"/>
          </a:p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0B2F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Sintaxe: </a:t>
            </a:r>
            <a:endParaRPr lang="en-US" sz="144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heme-logo-25" descr="/home/forge/chalkie-production-workers-3/releases/77481733/backend/storage/app/render-specs/2cc91f21-05c3-4444-9175-544f711574a6/img_67db2e6a5fb9230f9de86baa7e51a1c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59800" y="127000"/>
            <a:ext cx="457200" cy="457200"/>
          </a:xfrm>
          <a:prstGeom prst="rect">
            <a:avLst/>
          </a:prstGeom>
        </p:spPr>
      </p:pic>
      <p:pic>
        <p:nvPicPr>
          <p:cNvPr id="3" name="5d88b83f-129c-4b9c-af6a-338c88a24712" descr="/home/forge/chalkie-production-workers-3/releases/77481733/backend/storage/app/render-specs/2cc91f21-05c3-4444-9175-544f711574a6/img_077d6b8e874d891fb93b34202f355049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750" y="1600200"/>
            <a:ext cx="8572500" cy="2057400"/>
          </a:xfrm>
          <a:prstGeom prst="roundRect">
            <a:avLst>
              <a:gd name="adj" fmla="val 6667"/>
            </a:avLst>
          </a:prstGeom>
        </p:spPr>
      </p:pic>
      <p:sp>
        <p:nvSpPr>
          <p:cNvPr id="4" name="5c1d77f4-18e9-4925-b04f-8779459b56d6"/>
          <p:cNvSpPr/>
          <p:nvPr/>
        </p:nvSpPr>
        <p:spPr>
          <a:xfrm>
            <a:off x="285750" y="43434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456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880" b="1" dirty="0">
                <a:solidFill>
                  <a:srgbClr val="00509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Exemplo Prático da Função SE</a:t>
            </a:r>
            <a:endParaRPr lang="en-US" sz="2880" dirty="0"/>
          </a:p>
        </p:txBody>
      </p:sp>
      <p:sp>
        <p:nvSpPr>
          <p:cNvPr id="5" name="1c3dc8d3-2a6d-448c-a7ad-d5afb3758ab8"/>
          <p:cNvSpPr/>
          <p:nvPr/>
        </p:nvSpPr>
        <p:spPr>
          <a:xfrm>
            <a:off x="285750" y="1051560"/>
            <a:ext cx="8572500" cy="379476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Analisando o desempenho de um vendedor cuja meta mensal é de 10.000 reais:</a:t>
            </a:r>
            <a:endParaRPr lang="en-US" sz="1620" dirty="0"/>
          </a:p>
        </p:txBody>
      </p:sp>
      <p:sp>
        <p:nvSpPr>
          <p:cNvPr id="6" name="b957e9b6-a4e4-49c6-8fcf-4f120dedb97c"/>
          <p:cNvSpPr/>
          <p:nvPr/>
        </p:nvSpPr>
        <p:spPr>
          <a:xfrm>
            <a:off x="285750" y="3794760"/>
            <a:ext cx="8572500" cy="667512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Como o valor em B2 (12.500) é maior ou igual a 10.000, o Excel escreve instantaneamente </a:t>
            </a:r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'Atingiu'</a:t>
            </a:r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62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heme-logo-26" descr="/home/forge/chalkie-production-workers-3/releases/77481733/backend/storage/app/render-specs/2cc91f21-05c3-4444-9175-544f711574a6/img_67db2e6a5fb9230f9de86baa7e51a1c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59800" y="127000"/>
            <a:ext cx="457200" cy="457200"/>
          </a:xfrm>
          <a:prstGeom prst="rect">
            <a:avLst/>
          </a:prstGeom>
        </p:spPr>
      </p:pic>
      <p:pic>
        <p:nvPicPr>
          <p:cNvPr id="3" name="6ea01918-fd2a-4171-842a-c4d7a743c88f" descr="/home/forge/chalkie-production-workers-3/releases/77481733/backend/storage/app/render-specs/2cc91f21-05c3-4444-9175-544f711574a6/img_6a704c01922cef38075ae02eee0844a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57850" y="0"/>
            <a:ext cx="3486150" cy="5143500"/>
          </a:xfrm>
          <a:prstGeom prst="roundRect">
            <a:avLst>
              <a:gd name="adj" fmla="val 3934"/>
            </a:avLst>
          </a:prstGeom>
        </p:spPr>
      </p:pic>
      <p:sp>
        <p:nvSpPr>
          <p:cNvPr id="4" name="17901bfe-6366-488d-94af-6fc7f53db0b4"/>
          <p:cNvSpPr/>
          <p:nvPr/>
        </p:nvSpPr>
        <p:spPr>
          <a:xfrm>
            <a:off x="285750" y="1680210"/>
            <a:ext cx="5143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456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880" b="1" dirty="0">
                <a:solidFill>
                  <a:srgbClr val="00509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Mistério do Cifrão ($)</a:t>
            </a:r>
            <a:endParaRPr lang="en-US" sz="2880" dirty="0"/>
          </a:p>
        </p:txBody>
      </p:sp>
      <p:sp>
        <p:nvSpPr>
          <p:cNvPr id="5" name="dd9897aa-b942-494a-9b9f-8e9ef47d403c"/>
          <p:cNvSpPr/>
          <p:nvPr/>
        </p:nvSpPr>
        <p:spPr>
          <a:xfrm>
            <a:off x="285750" y="2297430"/>
            <a:ext cx="5143500" cy="955548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Por que algumas fórmulas usam </a:t>
            </a:r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em vez de simplesmente </a:t>
            </a:r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? Entender esse símbolo transforma você em um mestre de planilhas.</a:t>
            </a:r>
            <a:endParaRPr lang="en-US" sz="162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heme-logo-27" descr="/home/forge/chalkie-production-workers-3/releases/77481733/backend/storage/app/render-specs/2cc91f21-05c3-4444-9175-544f711574a6/img_67db2e6a5fb9230f9de86baa7e51a1c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59800" y="127000"/>
            <a:ext cx="457200" cy="457200"/>
          </a:xfrm>
          <a:prstGeom prst="rect">
            <a:avLst/>
          </a:prstGeom>
        </p:spPr>
      </p:pic>
      <p:pic>
        <p:nvPicPr>
          <p:cNvPr id="3" name="982ba184-a878-45dd-b777-430419670b17" descr="/home/forge/chalkie-production-workers-3/releases/77481733/backend/storage/app/render-specs/2cc91f21-05c3-4444-9175-544f711574a6/img_1bd13b1be221ade06493da44166ad7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750" y="788670"/>
            <a:ext cx="3829050" cy="4069080"/>
          </a:xfrm>
          <a:prstGeom prst="roundRect">
            <a:avLst>
              <a:gd name="adj" fmla="val 3582"/>
            </a:avLst>
          </a:prstGeom>
        </p:spPr>
      </p:pic>
      <p:sp>
        <p:nvSpPr>
          <p:cNvPr id="4" name="22285732-79c4-433f-84ab-3caa71f78593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456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880" b="1" dirty="0">
                <a:solidFill>
                  <a:srgbClr val="00509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Referências Relativas</a:t>
            </a:r>
            <a:endParaRPr lang="en-US" sz="2880" dirty="0"/>
          </a:p>
        </p:txBody>
      </p:sp>
      <p:sp>
        <p:nvSpPr>
          <p:cNvPr id="5" name="fd3f10e5-f124-4615-8880-4c0ce4410909"/>
          <p:cNvSpPr/>
          <p:nvPr/>
        </p:nvSpPr>
        <p:spPr>
          <a:xfrm>
            <a:off x="4286250" y="857250"/>
            <a:ext cx="1188720" cy="262890"/>
          </a:xfrm>
          <a:prstGeom prst="roundRect">
            <a:avLst>
              <a:gd name="adj" fmla="val 17391"/>
            </a:avLst>
          </a:prstGeom>
          <a:solidFill>
            <a:srgbClr val="D32F2F"/>
          </a:solidFill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REFERÊNCIAS</a:t>
            </a:r>
            <a:endParaRPr lang="en-US" sz="1080" dirty="0"/>
          </a:p>
        </p:txBody>
      </p:sp>
      <p:sp>
        <p:nvSpPr>
          <p:cNvPr id="6" name="1dc3f07b-87e0-40d7-bb4c-d1b51eb5a4f8"/>
          <p:cNvSpPr/>
          <p:nvPr/>
        </p:nvSpPr>
        <p:spPr>
          <a:xfrm>
            <a:off x="4286250" y="1165860"/>
            <a:ext cx="4572000" cy="124358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Por padrão, as referências no Excel são </a:t>
            </a:r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relativas</a:t>
            </a:r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Quando você copia a fórmula </a:t>
            </a:r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para a linha de baixo, o Excel ajusta automaticamente as referências para </a:t>
            </a:r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620" dirty="0"/>
          </a:p>
        </p:txBody>
      </p:sp>
      <p:sp>
        <p:nvSpPr>
          <p:cNvPr id="7" name="8e896268-ccc1-494c-9038-0f6bfcf42504_card"/>
          <p:cNvSpPr/>
          <p:nvPr/>
        </p:nvSpPr>
        <p:spPr>
          <a:xfrm>
            <a:off x="4286250" y="2697480"/>
            <a:ext cx="4572000" cy="1348740"/>
          </a:xfrm>
          <a:prstGeom prst="roundRect">
            <a:avLst>
              <a:gd name="adj" fmla="val 6780"/>
            </a:avLst>
          </a:prstGeom>
          <a:solidFill>
            <a:srgbClr val="FAEFDA"/>
          </a:solidFill>
          <a:ln w="11430">
            <a:solidFill>
              <a:srgbClr val="573B06">
                <a:alpha val="20000"/>
              </a:srgbClr>
            </a:solidFill>
            <a:prstDash val="solid"/>
          </a:ln>
        </p:spPr>
      </p:sp>
      <p:sp>
        <p:nvSpPr>
          <p:cNvPr id="8" name="8e896268-ccc1-494c-9038-0f6bfcf42504_emoji"/>
          <p:cNvSpPr/>
          <p:nvPr/>
        </p:nvSpPr>
        <p:spPr>
          <a:xfrm>
            <a:off x="4400550" y="2846070"/>
            <a:ext cx="365760" cy="411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160" dirty="0">
                <a:solidFill>
                  <a:srgbClr val="000000"/>
                </a:solidFill>
              </a:rPr>
              <a:t>🔑</a:t>
            </a:r>
            <a:endParaRPr lang="en-US" sz="2160" dirty="0"/>
          </a:p>
        </p:txBody>
      </p:sp>
      <p:sp>
        <p:nvSpPr>
          <p:cNvPr id="9" name="8e896268-ccc1-494c-9038-0f6bfcf42504_text"/>
          <p:cNvSpPr/>
          <p:nvPr/>
        </p:nvSpPr>
        <p:spPr>
          <a:xfrm>
            <a:off x="4766310" y="2811780"/>
            <a:ext cx="3977640" cy="1120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28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1440" b="1" dirty="0">
                <a:solidFill>
                  <a:srgbClr val="573B0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Ponto-chave</a:t>
            </a:r>
            <a:endParaRPr lang="en-US" sz="1440" dirty="0"/>
          </a:p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573B0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software memoriza a posição relativa (ex: 'multiplique os dois vizinhos à esquerda').</a:t>
            </a:r>
            <a:endParaRPr lang="en-US" sz="144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heme-logo-28" descr="/home/forge/chalkie-production-workers-3/releases/77481733/backend/storage/app/render-specs/2cc91f21-05c3-4444-9175-544f711574a6/img_67db2e6a5fb9230f9de86baa7e51a1c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59800" y="127000"/>
            <a:ext cx="457200" cy="457200"/>
          </a:xfrm>
          <a:prstGeom prst="rect">
            <a:avLst/>
          </a:prstGeom>
        </p:spPr>
      </p:pic>
      <p:pic>
        <p:nvPicPr>
          <p:cNvPr id="3" name="7466c4a6-a0bd-4a30-b0bd-f70dca052e18" descr="/home/forge/chalkie-production-workers-3/releases/77481733/backend/storage/app/render-specs/2cc91f21-05c3-4444-9175-544f711574a6/img_afa8b27d833eefeb086baaa71e568a28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788670"/>
            <a:ext cx="3829050" cy="4069080"/>
          </a:xfrm>
          <a:prstGeom prst="roundRect">
            <a:avLst>
              <a:gd name="adj" fmla="val 3582"/>
            </a:avLst>
          </a:prstGeom>
        </p:spPr>
      </p:pic>
      <p:sp>
        <p:nvSpPr>
          <p:cNvPr id="4" name="4179eddc-63be-4144-bbcf-f61467996417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456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880" b="1" dirty="0">
                <a:solidFill>
                  <a:srgbClr val="00509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Referências Absolutas ($)</a:t>
            </a:r>
            <a:endParaRPr lang="en-US" sz="2880" dirty="0"/>
          </a:p>
        </p:txBody>
      </p:sp>
      <p:sp>
        <p:nvSpPr>
          <p:cNvPr id="5" name="0ef87e3c-a509-42b9-b9b5-0ab4355ecf4a"/>
          <p:cNvSpPr/>
          <p:nvPr/>
        </p:nvSpPr>
        <p:spPr>
          <a:xfrm>
            <a:off x="285750" y="857250"/>
            <a:ext cx="1188720" cy="262890"/>
          </a:xfrm>
          <a:prstGeom prst="roundRect">
            <a:avLst>
              <a:gd name="adj" fmla="val 17391"/>
            </a:avLst>
          </a:prstGeom>
          <a:solidFill>
            <a:srgbClr val="D32F2F"/>
          </a:solidFill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REFERÊNCIAS</a:t>
            </a:r>
            <a:endParaRPr lang="en-US" sz="1080" dirty="0"/>
          </a:p>
        </p:txBody>
      </p:sp>
      <p:sp>
        <p:nvSpPr>
          <p:cNvPr id="6" name="d6a9d47e-557a-4a33-9fda-f435e0742aa0"/>
          <p:cNvSpPr/>
          <p:nvPr/>
        </p:nvSpPr>
        <p:spPr>
          <a:xfrm>
            <a:off x="285750" y="1165860"/>
            <a:ext cx="4572000" cy="124358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Quando uma taxa fixa (como INSS ou comissão) está isolada em uma célula como </a:t>
            </a:r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precisamos </a:t>
            </a:r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travar</a:t>
            </a:r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essa coordenada para que ela não se desloque ao arrastar a fórmula.</a:t>
            </a:r>
            <a:endParaRPr lang="en-US" sz="1620" dirty="0"/>
          </a:p>
        </p:txBody>
      </p:sp>
      <p:sp>
        <p:nvSpPr>
          <p:cNvPr id="7" name="b7988ca5-aa96-4867-8dfc-4f69ce7809bc_card"/>
          <p:cNvSpPr/>
          <p:nvPr/>
        </p:nvSpPr>
        <p:spPr>
          <a:xfrm>
            <a:off x="285750" y="2697480"/>
            <a:ext cx="4572000" cy="1101852"/>
          </a:xfrm>
          <a:prstGeom prst="roundRect">
            <a:avLst>
              <a:gd name="adj" fmla="val 8299"/>
            </a:avLst>
          </a:prstGeom>
          <a:solidFill>
            <a:srgbClr val="E6F1FB"/>
          </a:solidFill>
          <a:ln w="11430">
            <a:solidFill>
              <a:srgbClr val="0B2F50">
                <a:alpha val="20000"/>
              </a:srgbClr>
            </a:solidFill>
            <a:prstDash val="solid"/>
          </a:ln>
        </p:spPr>
      </p:sp>
      <p:sp>
        <p:nvSpPr>
          <p:cNvPr id="8" name="b7988ca5-aa96-4867-8dfc-4f69ce7809bc_emoji"/>
          <p:cNvSpPr/>
          <p:nvPr/>
        </p:nvSpPr>
        <p:spPr>
          <a:xfrm>
            <a:off x="400050" y="2846070"/>
            <a:ext cx="365760" cy="411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160" dirty="0">
                <a:solidFill>
                  <a:srgbClr val="000000"/>
                </a:solidFill>
              </a:rPr>
              <a:t>🧠</a:t>
            </a:r>
            <a:endParaRPr lang="en-US" sz="2160" dirty="0"/>
          </a:p>
        </p:txBody>
      </p:sp>
      <p:sp>
        <p:nvSpPr>
          <p:cNvPr id="9" name="b7988ca5-aa96-4867-8dfc-4f69ce7809bc_text"/>
          <p:cNvSpPr/>
          <p:nvPr/>
        </p:nvSpPr>
        <p:spPr>
          <a:xfrm>
            <a:off x="765810" y="2811780"/>
            <a:ext cx="3977640" cy="8732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28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1440" b="1" dirty="0">
                <a:solidFill>
                  <a:srgbClr val="0B2F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Lembre-se</a:t>
            </a:r>
            <a:endParaRPr lang="en-US" sz="1440" dirty="0"/>
          </a:p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0B2F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Pressione a tecla </a:t>
            </a:r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b="1" dirty="0">
                <a:solidFill>
                  <a:srgbClr val="0B2F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F4</a:t>
            </a:r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0B2F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no teclado para alternar e fixar o cifrão rapidamente.</a:t>
            </a:r>
            <a:endParaRPr lang="en-US" sz="144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heme-logo-29" descr="/home/forge/chalkie-production-workers-3/releases/77481733/backend/storage/app/render-specs/2cc91f21-05c3-4444-9175-544f711574a6/img_67db2e6a5fb9230f9de86baa7e51a1c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59800" y="127000"/>
            <a:ext cx="457200" cy="457200"/>
          </a:xfrm>
          <a:prstGeom prst="rect">
            <a:avLst/>
          </a:prstGeom>
        </p:spPr>
      </p:pic>
      <p:sp>
        <p:nvSpPr>
          <p:cNvPr id="3" name="118bea40-5d06-4f2f-97d4-1167a16957b9"/>
          <p:cNvSpPr/>
          <p:nvPr/>
        </p:nvSpPr>
        <p:spPr>
          <a:xfrm>
            <a:off x="171450" y="902970"/>
            <a:ext cx="2937510" cy="400050"/>
          </a:xfrm>
          <a:prstGeom prst="chevron">
            <a:avLst/>
          </a:prstGeom>
          <a:solidFill>
            <a:srgbClr val="FFFFFF"/>
          </a:solidFill>
          <a:ln w="22860">
            <a:solidFill>
              <a:srgbClr val="D32F2F"/>
            </a:solidFill>
            <a:prstDash val="solid"/>
          </a:ln>
        </p:spPr>
      </p:sp>
      <p:sp>
        <p:nvSpPr>
          <p:cNvPr id="4" name="d4eccd80-9623-43bb-9820-426728ed2994"/>
          <p:cNvSpPr/>
          <p:nvPr/>
        </p:nvSpPr>
        <p:spPr>
          <a:xfrm>
            <a:off x="3108960" y="902970"/>
            <a:ext cx="2937510" cy="400050"/>
          </a:xfrm>
          <a:prstGeom prst="chevron">
            <a:avLst/>
          </a:prstGeom>
          <a:solidFill>
            <a:srgbClr val="FFFFFF"/>
          </a:solidFill>
          <a:ln w="22860">
            <a:solidFill>
              <a:srgbClr val="D32F2F"/>
            </a:solidFill>
            <a:prstDash val="solid"/>
          </a:ln>
        </p:spPr>
      </p:sp>
      <p:sp>
        <p:nvSpPr>
          <p:cNvPr id="5" name="81ab61d1-fd77-43e9-8df1-acb340cf9898"/>
          <p:cNvSpPr/>
          <p:nvPr/>
        </p:nvSpPr>
        <p:spPr>
          <a:xfrm>
            <a:off x="6035040" y="902970"/>
            <a:ext cx="2937510" cy="400050"/>
          </a:xfrm>
          <a:prstGeom prst="chevron">
            <a:avLst/>
          </a:prstGeom>
          <a:solidFill>
            <a:srgbClr val="FFFFFF"/>
          </a:solidFill>
          <a:ln w="22860">
            <a:solidFill>
              <a:srgbClr val="D32F2F"/>
            </a:solidFill>
            <a:prstDash val="solid"/>
          </a:ln>
        </p:spPr>
      </p:sp>
      <p:sp>
        <p:nvSpPr>
          <p:cNvPr id="6" name="8c9a7497-df60-4b8e-ba6b-16c472d99628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456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880" b="1" dirty="0">
                <a:solidFill>
                  <a:srgbClr val="00509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Propagação com Alça de Preenchimento</a:t>
            </a:r>
            <a:endParaRPr lang="en-US" sz="2880" dirty="0"/>
          </a:p>
        </p:txBody>
      </p:sp>
      <p:sp>
        <p:nvSpPr>
          <p:cNvPr id="7" name="90da60c7-66e1-467c-a958-034c263eac2a"/>
          <p:cNvSpPr/>
          <p:nvPr/>
        </p:nvSpPr>
        <p:spPr>
          <a:xfrm>
            <a:off x="285750" y="1360170"/>
            <a:ext cx="2708910" cy="1499616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ctr" indent="0" marL="0">
              <a:lnSpc>
                <a:spcPts val="2376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98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 Selecionar</a:t>
            </a:r>
            <a:endParaRPr lang="en-US" sz="1980" dirty="0"/>
          </a:p>
          <a:p>
            <a:pPr algn="ctr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Clique na célula que contém a fórmula perfeita e testada.</a:t>
            </a:r>
            <a:endParaRPr lang="en-US" sz="1980" dirty="0"/>
          </a:p>
        </p:txBody>
      </p:sp>
      <p:sp>
        <p:nvSpPr>
          <p:cNvPr id="8" name="5cf0f047-f8a9-4d83-a165-f2b58c269029"/>
          <p:cNvSpPr/>
          <p:nvPr/>
        </p:nvSpPr>
        <p:spPr>
          <a:xfrm>
            <a:off x="3223260" y="1360170"/>
            <a:ext cx="2708910" cy="1499616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ctr" indent="0" marL="0">
              <a:lnSpc>
                <a:spcPts val="2376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98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2. Posicionar</a:t>
            </a:r>
            <a:endParaRPr lang="en-US" sz="1980" dirty="0"/>
          </a:p>
          <a:p>
            <a:pPr algn="ctr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Pouse o cursor sobre o pequeno quadrado verde no canto inferior direito.</a:t>
            </a:r>
            <a:endParaRPr lang="en-US" sz="1980" dirty="0"/>
          </a:p>
        </p:txBody>
      </p:sp>
      <p:sp>
        <p:nvSpPr>
          <p:cNvPr id="9" name="8bdfdcbd-0201-4637-bd7f-764fb3247341"/>
          <p:cNvSpPr/>
          <p:nvPr/>
        </p:nvSpPr>
        <p:spPr>
          <a:xfrm>
            <a:off x="6149340" y="1360170"/>
            <a:ext cx="2708910" cy="1499616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ctr" indent="0" marL="0">
              <a:lnSpc>
                <a:spcPts val="2376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98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3. Duplo Clique</a:t>
            </a:r>
            <a:endParaRPr lang="en-US" sz="1980" dirty="0"/>
          </a:p>
          <a:p>
            <a:pPr algn="ctr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Dê um duplo clique na cruz preta para preencher toda a coluna até o fim.</a:t>
            </a:r>
            <a:endParaRPr lang="en-US" sz="198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heme-logo-30" descr="/home/forge/chalkie-production-workers-3/releases/77481733/backend/storage/app/render-specs/2cc91f21-05c3-4444-9175-544f711574a6/img_67db2e6a5fb9230f9de86baa7e51a1c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59800" y="127000"/>
            <a:ext cx="457200" cy="457200"/>
          </a:xfrm>
          <a:prstGeom prst="rect">
            <a:avLst/>
          </a:prstGeom>
        </p:spPr>
      </p:pic>
      <p:sp>
        <p:nvSpPr>
          <p:cNvPr id="3" name="8eb78392-7d04-4f9d-a45b-7ae38f9420e4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456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880" b="1" dirty="0">
                <a:solidFill>
                  <a:srgbClr val="00509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Áudio: Diálogo no Laboratório</a:t>
            </a:r>
            <a:endParaRPr lang="en-US" sz="2880" dirty="0"/>
          </a:p>
        </p:txBody>
      </p:sp>
      <p:sp>
        <p:nvSpPr>
          <p:cNvPr id="4" name="687b5bbd-b416-4885-a0dc-fc9aca33699c"/>
          <p:cNvSpPr/>
          <p:nvPr/>
        </p:nvSpPr>
        <p:spPr>
          <a:xfrm>
            <a:off x="285750" y="742950"/>
            <a:ext cx="8572500" cy="347472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1728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144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Ouça o áudio e responda às perguntas</a:t>
            </a:r>
            <a:endParaRPr lang="en-US" sz="1440" dirty="0"/>
          </a:p>
        </p:txBody>
      </p:sp>
      <p:sp>
        <p:nvSpPr>
          <p:cNvPr id="5" name="5a87909e-b11c-4a67-aa1b-1729e27cc484"/>
          <p:cNvSpPr/>
          <p:nvPr/>
        </p:nvSpPr>
        <p:spPr>
          <a:xfrm>
            <a:off x="285750" y="2686050"/>
            <a:ext cx="388620" cy="388620"/>
          </a:xfrm>
          <a:prstGeom prst="roundRect">
            <a:avLst>
              <a:gd name="adj" fmla="val 50000"/>
            </a:avLst>
          </a:prstGeom>
          <a:solidFill>
            <a:srgbClr val="D32F2F"/>
          </a:solidFill>
          <a:ln/>
        </p:spPr>
        <p:txBody>
          <a:bodyPr wrap="square" lIns="45720" tIns="45720" rIns="45720" bIns="45720" rtlCol="0" anchor="ctr"/>
          <a:lstStyle/>
          <a:p>
            <a:pPr algn="ctr" indent="0" marL="0">
              <a:lnSpc>
                <a:spcPts val="2592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16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2160" dirty="0"/>
          </a:p>
        </p:txBody>
      </p:sp>
      <p:sp>
        <p:nvSpPr>
          <p:cNvPr id="6" name="c309f16b-02cb-43c4-8bcb-9e2f0cb11658"/>
          <p:cNvSpPr/>
          <p:nvPr/>
        </p:nvSpPr>
        <p:spPr>
          <a:xfrm>
            <a:off x="788670" y="2686050"/>
            <a:ext cx="8069580" cy="38862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Qual erro aconteceu quando Lucas arrastou a fórmula do cálculo de comissão?</a:t>
            </a:r>
            <a:endParaRPr lang="en-US" sz="1620" dirty="0"/>
          </a:p>
        </p:txBody>
      </p:sp>
      <p:sp>
        <p:nvSpPr>
          <p:cNvPr id="7" name="14459aff-ff0d-4d9e-a731-5c793259505d"/>
          <p:cNvSpPr/>
          <p:nvPr/>
        </p:nvSpPr>
        <p:spPr>
          <a:xfrm>
            <a:off x="285750" y="3188970"/>
            <a:ext cx="388620" cy="388620"/>
          </a:xfrm>
          <a:prstGeom prst="roundRect">
            <a:avLst>
              <a:gd name="adj" fmla="val 50000"/>
            </a:avLst>
          </a:prstGeom>
          <a:solidFill>
            <a:srgbClr val="D32F2F"/>
          </a:solidFill>
          <a:ln/>
        </p:spPr>
        <p:txBody>
          <a:bodyPr wrap="square" lIns="45720" tIns="45720" rIns="45720" bIns="45720" rtlCol="0" anchor="ctr"/>
          <a:lstStyle/>
          <a:p>
            <a:pPr algn="ctr" indent="0" marL="0">
              <a:lnSpc>
                <a:spcPts val="2592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16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2160" dirty="0"/>
          </a:p>
        </p:txBody>
      </p:sp>
      <p:sp>
        <p:nvSpPr>
          <p:cNvPr id="8" name="eef5c0b9-c614-4e64-8d21-16900d826e91"/>
          <p:cNvSpPr/>
          <p:nvPr/>
        </p:nvSpPr>
        <p:spPr>
          <a:xfrm>
            <a:off x="788670" y="3188970"/>
            <a:ext cx="8069580" cy="38862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Qual foi a solução ensinada por Mariana para travar a célula da alíquota?</a:t>
            </a:r>
            <a:endParaRPr lang="en-US" sz="1620" dirty="0"/>
          </a:p>
        </p:txBody>
      </p:sp>
      <p:sp>
        <p:nvSpPr>
          <p:cNvPr id="9" name="17b1489b-b64a-49cd-a998-c7960d682671"/>
          <p:cNvSpPr/>
          <p:nvPr/>
        </p:nvSpPr>
        <p:spPr>
          <a:xfrm>
            <a:off x="285750" y="3691890"/>
            <a:ext cx="388620" cy="388620"/>
          </a:xfrm>
          <a:prstGeom prst="roundRect">
            <a:avLst>
              <a:gd name="adj" fmla="val 50000"/>
            </a:avLst>
          </a:prstGeom>
          <a:solidFill>
            <a:srgbClr val="D32F2F"/>
          </a:solidFill>
          <a:ln/>
        </p:spPr>
        <p:txBody>
          <a:bodyPr wrap="square" lIns="45720" tIns="45720" rIns="45720" bIns="45720" rtlCol="0" anchor="ctr"/>
          <a:lstStyle/>
          <a:p>
            <a:pPr algn="ctr" indent="0" marL="0">
              <a:lnSpc>
                <a:spcPts val="2592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16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2160" dirty="0"/>
          </a:p>
        </p:txBody>
      </p:sp>
      <p:sp>
        <p:nvSpPr>
          <p:cNvPr id="10" name="0611ba39-314c-495f-8ff9-026d611d98d4"/>
          <p:cNvSpPr/>
          <p:nvPr/>
        </p:nvSpPr>
        <p:spPr>
          <a:xfrm>
            <a:off x="788670" y="3691890"/>
            <a:ext cx="8069580" cy="38862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 qual célula ficava a alíquota fixa que Lucas precisava referenciar?</a:t>
            </a:r>
            <a:endParaRPr lang="en-US" sz="1620" dirty="0"/>
          </a:p>
        </p:txBody>
      </p:sp>
      <p:sp>
        <p:nvSpPr>
          <p:cNvPr id="11" name="ad8e2189-870c-4620-8194-3853e90dbb57"/>
          <p:cNvSpPr/>
          <p:nvPr/>
        </p:nvSpPr>
        <p:spPr>
          <a:xfrm>
            <a:off x="285750" y="4194810"/>
            <a:ext cx="388620" cy="388620"/>
          </a:xfrm>
          <a:prstGeom prst="roundRect">
            <a:avLst>
              <a:gd name="adj" fmla="val 50000"/>
            </a:avLst>
          </a:prstGeom>
          <a:solidFill>
            <a:srgbClr val="D32F2F"/>
          </a:solidFill>
          <a:ln/>
        </p:spPr>
        <p:txBody>
          <a:bodyPr wrap="square" lIns="45720" tIns="45720" rIns="45720" bIns="45720" rtlCol="0" anchor="ctr"/>
          <a:lstStyle/>
          <a:p>
            <a:pPr algn="ctr" indent="0" marL="0">
              <a:lnSpc>
                <a:spcPts val="2592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16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2160" dirty="0"/>
          </a:p>
        </p:txBody>
      </p:sp>
      <p:sp>
        <p:nvSpPr>
          <p:cNvPr id="12" name="aba6a1d9-492f-4388-9910-de8e1e904b75"/>
          <p:cNvSpPr/>
          <p:nvPr/>
        </p:nvSpPr>
        <p:spPr>
          <a:xfrm>
            <a:off x="788670" y="4194810"/>
            <a:ext cx="8069580" cy="38862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Qual atalho de teclado Mariana sugeriu para inserir o cifrão rapidamente?</a:t>
            </a:r>
            <a:endParaRPr lang="en-US" sz="1620" dirty="0"/>
          </a:p>
        </p:txBody>
      </p:sp>
      <p:sp>
        <p:nvSpPr>
          <p:cNvPr id="13" name="5f2e84ce-fe6e-4e3a-96cc-23036b41c1c6_card"/>
          <p:cNvSpPr/>
          <p:nvPr/>
        </p:nvSpPr>
        <p:spPr>
          <a:xfrm>
            <a:off x="285750" y="1291590"/>
            <a:ext cx="8572500" cy="857250"/>
          </a:xfrm>
          <a:prstGeom prst="roundRect">
            <a:avLst/>
          </a:prstGeom>
          <a:solidFill>
            <a:srgbClr val="FFF4F1"/>
          </a:solidFill>
          <a:ln w="76200">
            <a:solidFill>
              <a:srgbClr val="FFFFFF"/>
            </a:solidFill>
            <a:prstDash val="solid"/>
          </a:ln>
        </p:spPr>
      </p:sp>
      <p:pic>
        <p:nvPicPr>
          <p:cNvPr id="14" name="5f2e84ce-fe6e-4e3a-96cc-23036b41c1c6_icon" descr="/home/forge/chalkie-production-workers-3/releases/77481733/backend/storage/app/render-specs/2cc91f21-05c3-4444-9175-544f711574a6/audio_ico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0070" y="1594485"/>
            <a:ext cx="251460" cy="251460"/>
          </a:xfrm>
          <a:prstGeom prst="rect">
            <a:avLst/>
          </a:prstGeom>
        </p:spPr>
      </p:pic>
      <p:sp>
        <p:nvSpPr>
          <p:cNvPr id="15" name="5f2e84ce-fe6e-4e3a-96cc-23036b41c1c6_title"/>
          <p:cNvSpPr/>
          <p:nvPr/>
        </p:nvSpPr>
        <p:spPr>
          <a:xfrm>
            <a:off x="902970" y="1291590"/>
            <a:ext cx="532638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Dúvida sobre Fixação de Células</a:t>
            </a:r>
            <a:endParaRPr lang="en-US" sz="1800" dirty="0"/>
          </a:p>
        </p:txBody>
      </p:sp>
      <p:sp>
        <p:nvSpPr>
          <p:cNvPr id="16" name="5f2e84ce-fe6e-4e3a-96cc-23036b41c1c6_btn"/>
          <p:cNvSpPr/>
          <p:nvPr/>
        </p:nvSpPr>
        <p:spPr>
          <a:xfrm>
            <a:off x="6412230" y="1520190"/>
            <a:ext cx="2171700" cy="400050"/>
          </a:xfrm>
          <a:prstGeom prst="roundRect">
            <a:avLst/>
          </a:prstGeom>
          <a:solidFill>
            <a:srgbClr val="2C6E49"/>
          </a:solidFill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4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▶ Reproduzir áudio</a:t>
            </a:r>
            <a:endParaRPr lang="en-US" sz="1440" dirty="0"/>
          </a:p>
        </p:txBody>
      </p:sp>
      <p:sp>
        <p:nvSpPr>
          <p:cNvPr id="17" name="5f2e84ce-fe6e-4e3a-96cc-23036b41c1c6_btn_link">
            <a:hlinkClick r:id="rId3" tooltip=""/>
          </p:cNvPr>
          <p:cNvSpPr/>
          <p:nvPr/>
        </p:nvSpPr>
        <p:spPr>
          <a:xfrm>
            <a:off x="6412230" y="1520190"/>
            <a:ext cx="2171700" cy="400050"/>
          </a:xfrm>
          <a:prstGeom prst="roundRect">
            <a:avLst/>
          </a:prstGeom>
          <a:solidFill>
            <a:srgbClr val="2C6E49">
              <a:alpha val="0"/>
            </a:srgbClr>
          </a:solidFill>
          <a:ln w="12700">
            <a:solidFill>
              <a:srgbClr val="2C6E49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heme-logo-31" descr="/home/forge/chalkie-production-workers-3/releases/77481733/backend/storage/app/render-specs/2cc91f21-05c3-4444-9175-544f711574a6/img_67db2e6a5fb9230f9de86baa7e51a1c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59800" y="127000"/>
            <a:ext cx="457200" cy="457200"/>
          </a:xfrm>
          <a:prstGeom prst="rect">
            <a:avLst/>
          </a:prstGeom>
        </p:spPr>
      </p:pic>
      <p:sp>
        <p:nvSpPr>
          <p:cNvPr id="3" name="8eb78392-7d04-4f9d-a45b-7ae38f9420e4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456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880" b="1" dirty="0">
                <a:solidFill>
                  <a:srgbClr val="00509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Áudio: Diálogo no Laboratório</a:t>
            </a:r>
            <a:endParaRPr lang="en-US" sz="2880" dirty="0"/>
          </a:p>
        </p:txBody>
      </p:sp>
      <p:sp>
        <p:nvSpPr>
          <p:cNvPr id="4" name="5fe5268e-8af9-4bb5-907f-4beaa9eb0c47"/>
          <p:cNvSpPr/>
          <p:nvPr/>
        </p:nvSpPr>
        <p:spPr>
          <a:xfrm>
            <a:off x="285750" y="742950"/>
            <a:ext cx="8572500" cy="347472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1728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144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Verifica as tuas respostas abaixo</a:t>
            </a:r>
            <a:endParaRPr lang="en-US" sz="1440" dirty="0"/>
          </a:p>
        </p:txBody>
      </p:sp>
      <p:sp>
        <p:nvSpPr>
          <p:cNvPr id="5" name="b06a3e41-d75a-4aa6-93bf-b8ac7de5c446"/>
          <p:cNvSpPr/>
          <p:nvPr/>
        </p:nvSpPr>
        <p:spPr>
          <a:xfrm>
            <a:off x="8366760" y="342900"/>
            <a:ext cx="548640" cy="54864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r" indent="0" marL="0">
              <a:lnSpc>
                <a:spcPts val="4320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360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✅</a:t>
            </a:r>
            <a:endParaRPr lang="en-US" sz="3600" dirty="0"/>
          </a:p>
        </p:txBody>
      </p:sp>
      <p:sp>
        <p:nvSpPr>
          <p:cNvPr id="6" name="ec5a4068-5a7e-48b8-9ad6-95783dbe3e54"/>
          <p:cNvSpPr/>
          <p:nvPr/>
        </p:nvSpPr>
        <p:spPr>
          <a:xfrm>
            <a:off x="285750" y="2686050"/>
            <a:ext cx="388620" cy="388620"/>
          </a:xfrm>
          <a:prstGeom prst="roundRect">
            <a:avLst>
              <a:gd name="adj" fmla="val 50000"/>
            </a:avLst>
          </a:prstGeom>
          <a:solidFill>
            <a:srgbClr val="D32F2F"/>
          </a:solidFill>
          <a:ln/>
        </p:spPr>
        <p:txBody>
          <a:bodyPr wrap="square" lIns="45720" tIns="45720" rIns="45720" bIns="45720" rtlCol="0" anchor="ctr"/>
          <a:lstStyle/>
          <a:p>
            <a:pPr algn="ctr" indent="0" marL="0">
              <a:lnSpc>
                <a:spcPts val="2592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16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2160" dirty="0"/>
          </a:p>
        </p:txBody>
      </p:sp>
      <p:sp>
        <p:nvSpPr>
          <p:cNvPr id="7" name="c295975e-1cb3-4533-836c-8df96010ef15"/>
          <p:cNvSpPr/>
          <p:nvPr/>
        </p:nvSpPr>
        <p:spPr>
          <a:xfrm>
            <a:off x="788670" y="2686050"/>
            <a:ext cx="8069580" cy="38862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Os valores da coluna resultaram em zero porque a referência da alíquota desceu para células em branco.</a:t>
            </a:r>
            <a:endParaRPr lang="en-US" sz="1620" dirty="0"/>
          </a:p>
        </p:txBody>
      </p:sp>
      <p:sp>
        <p:nvSpPr>
          <p:cNvPr id="8" name="fbcae189-dbdd-43f2-aa21-66004bd0dc5f"/>
          <p:cNvSpPr/>
          <p:nvPr/>
        </p:nvSpPr>
        <p:spPr>
          <a:xfrm>
            <a:off x="285750" y="3188970"/>
            <a:ext cx="388620" cy="388620"/>
          </a:xfrm>
          <a:prstGeom prst="roundRect">
            <a:avLst>
              <a:gd name="adj" fmla="val 50000"/>
            </a:avLst>
          </a:prstGeom>
          <a:solidFill>
            <a:srgbClr val="D32F2F"/>
          </a:solidFill>
          <a:ln/>
        </p:spPr>
        <p:txBody>
          <a:bodyPr wrap="square" lIns="45720" tIns="45720" rIns="45720" bIns="45720" rtlCol="0" anchor="ctr"/>
          <a:lstStyle/>
          <a:p>
            <a:pPr algn="ctr" indent="0" marL="0">
              <a:lnSpc>
                <a:spcPts val="2592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16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2160" dirty="0"/>
          </a:p>
        </p:txBody>
      </p:sp>
      <p:sp>
        <p:nvSpPr>
          <p:cNvPr id="9" name="909d961c-2694-4c20-b8c0-209b5bc0b925"/>
          <p:cNvSpPr/>
          <p:nvPr/>
        </p:nvSpPr>
        <p:spPr>
          <a:xfrm>
            <a:off x="788670" y="3188970"/>
            <a:ext cx="8069580" cy="38862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Adicionar o símbolo de cifrão antes da coluna e da linha na referência, digitando $B$1 ou usando a tecla F4.</a:t>
            </a:r>
            <a:endParaRPr lang="en-US" sz="1620" dirty="0"/>
          </a:p>
        </p:txBody>
      </p:sp>
      <p:sp>
        <p:nvSpPr>
          <p:cNvPr id="10" name="c9753639-dbd1-4c9b-9c14-71e5f0715853"/>
          <p:cNvSpPr/>
          <p:nvPr/>
        </p:nvSpPr>
        <p:spPr>
          <a:xfrm>
            <a:off x="285750" y="3691890"/>
            <a:ext cx="388620" cy="388620"/>
          </a:xfrm>
          <a:prstGeom prst="roundRect">
            <a:avLst>
              <a:gd name="adj" fmla="val 50000"/>
            </a:avLst>
          </a:prstGeom>
          <a:solidFill>
            <a:srgbClr val="D32F2F"/>
          </a:solidFill>
          <a:ln/>
        </p:spPr>
        <p:txBody>
          <a:bodyPr wrap="square" lIns="45720" tIns="45720" rIns="45720" bIns="45720" rtlCol="0" anchor="ctr"/>
          <a:lstStyle/>
          <a:p>
            <a:pPr algn="ctr" indent="0" marL="0">
              <a:lnSpc>
                <a:spcPts val="2592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16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2160" dirty="0"/>
          </a:p>
        </p:txBody>
      </p:sp>
      <p:sp>
        <p:nvSpPr>
          <p:cNvPr id="11" name="b56ed796-a901-454a-8aaf-f841b738eb44"/>
          <p:cNvSpPr/>
          <p:nvPr/>
        </p:nvSpPr>
        <p:spPr>
          <a:xfrm>
            <a:off x="788670" y="3691890"/>
            <a:ext cx="8069580" cy="38862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alíquota percentual fixa de comissão estava localizada na célula B1.</a:t>
            </a:r>
            <a:endParaRPr lang="en-US" sz="1620" dirty="0"/>
          </a:p>
        </p:txBody>
      </p:sp>
      <p:sp>
        <p:nvSpPr>
          <p:cNvPr id="12" name="641958ce-2b8b-435c-80f7-4a781ee03072"/>
          <p:cNvSpPr/>
          <p:nvPr/>
        </p:nvSpPr>
        <p:spPr>
          <a:xfrm>
            <a:off x="285750" y="4194810"/>
            <a:ext cx="388620" cy="388620"/>
          </a:xfrm>
          <a:prstGeom prst="roundRect">
            <a:avLst>
              <a:gd name="adj" fmla="val 50000"/>
            </a:avLst>
          </a:prstGeom>
          <a:solidFill>
            <a:srgbClr val="D32F2F"/>
          </a:solidFill>
          <a:ln/>
        </p:spPr>
        <p:txBody>
          <a:bodyPr wrap="square" lIns="45720" tIns="45720" rIns="45720" bIns="45720" rtlCol="0" anchor="ctr"/>
          <a:lstStyle/>
          <a:p>
            <a:pPr algn="ctr" indent="0" marL="0">
              <a:lnSpc>
                <a:spcPts val="2592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16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2160" dirty="0"/>
          </a:p>
        </p:txBody>
      </p:sp>
      <p:sp>
        <p:nvSpPr>
          <p:cNvPr id="13" name="92364ce6-ea1d-4ebb-8d49-6e4427125d29"/>
          <p:cNvSpPr/>
          <p:nvPr/>
        </p:nvSpPr>
        <p:spPr>
          <a:xfrm>
            <a:off x="788670" y="4194810"/>
            <a:ext cx="8069580" cy="38862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Mariana recomendou selecionar a referência na barra de fórmulas e pressionar a tecla F4.</a:t>
            </a:r>
            <a:endParaRPr lang="en-US" sz="1620" dirty="0"/>
          </a:p>
        </p:txBody>
      </p:sp>
      <p:sp>
        <p:nvSpPr>
          <p:cNvPr id="14" name="5f2e84ce-fe6e-4e3a-96cc-23036b41c1c6_card"/>
          <p:cNvSpPr/>
          <p:nvPr/>
        </p:nvSpPr>
        <p:spPr>
          <a:xfrm>
            <a:off x="285750" y="1291590"/>
            <a:ext cx="8572500" cy="857250"/>
          </a:xfrm>
          <a:prstGeom prst="roundRect">
            <a:avLst/>
          </a:prstGeom>
          <a:solidFill>
            <a:srgbClr val="FFF4F1"/>
          </a:solidFill>
          <a:ln w="76200">
            <a:solidFill>
              <a:srgbClr val="FFFFFF"/>
            </a:solidFill>
            <a:prstDash val="solid"/>
          </a:ln>
        </p:spPr>
      </p:sp>
      <p:pic>
        <p:nvPicPr>
          <p:cNvPr id="15" name="5f2e84ce-fe6e-4e3a-96cc-23036b41c1c6_icon" descr="/home/forge/chalkie-production-workers-3/releases/77481733/backend/storage/app/render-specs/2cc91f21-05c3-4444-9175-544f711574a6/audio_ico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0070" y="1594485"/>
            <a:ext cx="251460" cy="251460"/>
          </a:xfrm>
          <a:prstGeom prst="rect">
            <a:avLst/>
          </a:prstGeom>
        </p:spPr>
      </p:pic>
      <p:sp>
        <p:nvSpPr>
          <p:cNvPr id="16" name="5f2e84ce-fe6e-4e3a-96cc-23036b41c1c6_title"/>
          <p:cNvSpPr/>
          <p:nvPr/>
        </p:nvSpPr>
        <p:spPr>
          <a:xfrm>
            <a:off x="902970" y="1291590"/>
            <a:ext cx="532638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Dúvida sobre Fixação de Células</a:t>
            </a:r>
            <a:endParaRPr lang="en-US" sz="1800" dirty="0"/>
          </a:p>
        </p:txBody>
      </p:sp>
      <p:sp>
        <p:nvSpPr>
          <p:cNvPr id="17" name="5f2e84ce-fe6e-4e3a-96cc-23036b41c1c6_btn"/>
          <p:cNvSpPr/>
          <p:nvPr/>
        </p:nvSpPr>
        <p:spPr>
          <a:xfrm>
            <a:off x="6412230" y="1520190"/>
            <a:ext cx="2171700" cy="400050"/>
          </a:xfrm>
          <a:prstGeom prst="roundRect">
            <a:avLst/>
          </a:prstGeom>
          <a:solidFill>
            <a:srgbClr val="2C6E49"/>
          </a:solidFill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4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▶ Reproduzir áudio</a:t>
            </a:r>
            <a:endParaRPr lang="en-US" sz="1440" dirty="0"/>
          </a:p>
        </p:txBody>
      </p:sp>
      <p:sp>
        <p:nvSpPr>
          <p:cNvPr id="18" name="5f2e84ce-fe6e-4e3a-96cc-23036b41c1c6_btn_link">
            <a:hlinkClick r:id="rId3" tooltip=""/>
          </p:cNvPr>
          <p:cNvSpPr/>
          <p:nvPr/>
        </p:nvSpPr>
        <p:spPr>
          <a:xfrm>
            <a:off x="6412230" y="1520190"/>
            <a:ext cx="2171700" cy="400050"/>
          </a:xfrm>
          <a:prstGeom prst="roundRect">
            <a:avLst/>
          </a:prstGeom>
          <a:solidFill>
            <a:srgbClr val="2C6E49">
              <a:alpha val="0"/>
            </a:srgbClr>
          </a:solidFill>
          <a:ln w="12700">
            <a:solidFill>
              <a:srgbClr val="2C6E49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heme-logo-32" descr="/home/forge/chalkie-production-workers-3/releases/77481733/backend/storage/app/render-specs/2cc91f21-05c3-4444-9175-544f711574a6/img_67db2e6a5fb9230f9de86baa7e51a1c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59800" y="127000"/>
            <a:ext cx="457200" cy="457200"/>
          </a:xfrm>
          <a:prstGeom prst="rect">
            <a:avLst/>
          </a:prstGeom>
        </p:spPr>
      </p:pic>
      <p:pic>
        <p:nvPicPr>
          <p:cNvPr id="3" name="fb0568e6-3e0e-4794-8cb1-28fb9f863446" descr="/home/forge/chalkie-production-workers-3/releases/77481733/backend/storage/app/render-specs/2cc91f21-05c3-4444-9175-544f711574a6/img_473bce213a3e7254bd5d67907347d734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1828800"/>
          </a:xfrm>
          <a:prstGeom prst="roundRect">
            <a:avLst>
              <a:gd name="adj" fmla="val 7500"/>
            </a:avLst>
          </a:prstGeom>
        </p:spPr>
      </p:pic>
      <p:sp>
        <p:nvSpPr>
          <p:cNvPr id="4" name="2e735c43-2583-4aa2-a0a3-ef3644efb364"/>
          <p:cNvSpPr/>
          <p:nvPr/>
        </p:nvSpPr>
        <p:spPr>
          <a:xfrm>
            <a:off x="285750" y="236601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456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880" b="1" dirty="0">
                <a:solidFill>
                  <a:srgbClr val="00509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Projeto: Folha de Pagamento</a:t>
            </a:r>
            <a:endParaRPr lang="en-US" sz="2880" dirty="0"/>
          </a:p>
        </p:txBody>
      </p:sp>
      <p:sp>
        <p:nvSpPr>
          <p:cNvPr id="5" name="780da117-e998-40be-a799-c74ca778a07c"/>
          <p:cNvSpPr/>
          <p:nvPr/>
        </p:nvSpPr>
        <p:spPr>
          <a:xfrm>
            <a:off x="285750" y="3051810"/>
            <a:ext cx="1051560" cy="262890"/>
          </a:xfrm>
          <a:prstGeom prst="roundRect">
            <a:avLst>
              <a:gd name="adj" fmla="val 17391"/>
            </a:avLst>
          </a:prstGeom>
          <a:solidFill>
            <a:srgbClr val="D32F2F"/>
          </a:solidFill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APLICAÇÃO</a:t>
            </a:r>
            <a:endParaRPr lang="en-US" sz="1080" dirty="0"/>
          </a:p>
        </p:txBody>
      </p:sp>
      <p:sp>
        <p:nvSpPr>
          <p:cNvPr id="6" name="13915e56-d833-4021-8513-c8d498ff95f6"/>
          <p:cNvSpPr/>
          <p:nvPr/>
        </p:nvSpPr>
        <p:spPr>
          <a:xfrm>
            <a:off x="285750" y="3360420"/>
            <a:ext cx="8572500" cy="955548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Agora uniremos todos os conceitos em um case corporativo real: criar uma </a:t>
            </a:r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Folha de Pagamento Automatizada</a:t>
            </a:r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para 5 colaboradores de uma empresa parceira, calculando bônus por metas, descontos e salário líquido final.</a:t>
            </a:r>
            <a:endParaRPr lang="en-US" sz="162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heme-logo-33" descr="/home/forge/chalkie-production-workers-3/releases/77481733/backend/storage/app/render-specs/2cc91f21-05c3-4444-9175-544f711574a6/img_67db2e6a5fb9230f9de86baa7e51a1c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59800" y="127000"/>
            <a:ext cx="457200" cy="457200"/>
          </a:xfrm>
          <a:prstGeom prst="rect">
            <a:avLst/>
          </a:prstGeom>
        </p:spPr>
      </p:pic>
      <p:sp>
        <p:nvSpPr>
          <p:cNvPr id="3" name="5546fdb3-a33c-425a-816d-1058ffd23e76"/>
          <p:cNvSpPr/>
          <p:nvPr/>
        </p:nvSpPr>
        <p:spPr>
          <a:xfrm>
            <a:off x="285750" y="118872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456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880" b="1" dirty="0">
                <a:solidFill>
                  <a:srgbClr val="00509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Estrutura das Colunas da Folha</a:t>
            </a:r>
            <a:endParaRPr lang="en-US" sz="2880" dirty="0"/>
          </a:p>
        </p:txBody>
      </p:sp>
      <p:sp>
        <p:nvSpPr>
          <p:cNvPr id="4" name="0abed099-819a-447f-b0c6-233fb0d6449e"/>
          <p:cNvSpPr/>
          <p:nvPr/>
        </p:nvSpPr>
        <p:spPr>
          <a:xfrm>
            <a:off x="285750" y="1805940"/>
            <a:ext cx="4194810" cy="795528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376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98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Dados Cadastrais</a:t>
            </a:r>
            <a:endParaRPr lang="en-US" sz="1980" dirty="0"/>
          </a:p>
          <a:p>
            <a:pPr algn="l" marL="228600" indent="-68580">
              <a:lnSpc>
                <a:spcPts val="1944"/>
              </a:lnSpc>
              <a:spcBef>
                <a:spcPts val="225"/>
              </a:spcBef>
              <a:spcAft>
                <a:spcPts val="225"/>
              </a:spcAft>
              <a:buSzPct val="100000"/>
              <a:buChar char="•"/>
            </a:pPr>
            <a:r>
              <a:rPr lang="en-US" sz="162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A:</a:t>
            </a:r>
            <a:pPr algn="l" indent="0" marL="0">
              <a:lnSpc>
                <a:spcPts val="1944"/>
              </a:lnSpc>
              <a:spcBef>
                <a:spcPts val="225"/>
              </a:spcBef>
              <a:spcAft>
                <a:spcPts val="225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Nome do Colaborador</a:t>
            </a:r>
            <a:endParaRPr lang="en-US" sz="1980" dirty="0"/>
          </a:p>
          <a:p>
            <a:pPr algn="l" marL="228600" indent="-68580">
              <a:lnSpc>
                <a:spcPts val="1944"/>
              </a:lnSpc>
              <a:spcBef>
                <a:spcPts val="225"/>
              </a:spcBef>
              <a:spcAft>
                <a:spcPts val="225"/>
              </a:spcAft>
              <a:buSzPct val="100000"/>
              <a:buChar char="•"/>
            </a:pPr>
            <a:r>
              <a:rPr lang="en-US" sz="162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B:</a:t>
            </a:r>
            <a:pPr algn="l" indent="0" marL="0">
              <a:lnSpc>
                <a:spcPts val="1944"/>
              </a:lnSpc>
              <a:spcBef>
                <a:spcPts val="225"/>
              </a:spcBef>
              <a:spcAft>
                <a:spcPts val="225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Departamento</a:t>
            </a:r>
            <a:endParaRPr lang="en-US" sz="1980" dirty="0"/>
          </a:p>
          <a:p>
            <a:pPr algn="l" marL="228600" indent="-68580">
              <a:lnSpc>
                <a:spcPts val="1944"/>
              </a:lnSpc>
              <a:spcBef>
                <a:spcPts val="225"/>
              </a:spcBef>
              <a:spcAft>
                <a:spcPts val="225"/>
              </a:spcAft>
              <a:buSzPct val="100000"/>
              <a:buChar char="•"/>
            </a:pPr>
            <a:r>
              <a:rPr lang="en-US" sz="162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C:</a:t>
            </a:r>
            <a:pPr algn="l" indent="0" marL="0">
              <a:lnSpc>
                <a:spcPts val="1944"/>
              </a:lnSpc>
              <a:spcBef>
                <a:spcPts val="225"/>
              </a:spcBef>
              <a:spcAft>
                <a:spcPts val="225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Salário Base (R$)</a:t>
            </a:r>
            <a:endParaRPr lang="en-US" sz="1980" dirty="0"/>
          </a:p>
          <a:p>
            <a:pPr algn="l" marL="228600" indent="-68580">
              <a:lnSpc>
                <a:spcPts val="1944"/>
              </a:lnSpc>
              <a:spcBef>
                <a:spcPts val="225"/>
              </a:spcBef>
              <a:spcAft>
                <a:spcPts val="225"/>
              </a:spcAft>
              <a:buSzPct val="100000"/>
              <a:buChar char="•"/>
            </a:pPr>
            <a:r>
              <a:rPr lang="en-US" sz="162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D:</a:t>
            </a:r>
            <a:pPr algn="l" indent="0" marL="0">
              <a:lnSpc>
                <a:spcPts val="1944"/>
              </a:lnSpc>
              <a:spcBef>
                <a:spcPts val="225"/>
              </a:spcBef>
              <a:spcAft>
                <a:spcPts val="225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Vendas Realizadas (R$)</a:t>
            </a:r>
            <a:endParaRPr lang="en-US" sz="1980" dirty="0"/>
          </a:p>
        </p:txBody>
      </p:sp>
      <p:sp>
        <p:nvSpPr>
          <p:cNvPr id="5" name="a4b667e7-32cf-4e97-a581-54cd449cfc22"/>
          <p:cNvSpPr/>
          <p:nvPr/>
        </p:nvSpPr>
        <p:spPr>
          <a:xfrm>
            <a:off x="4652010" y="1805940"/>
            <a:ext cx="4194810" cy="795528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376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98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Fórmulas e Regras</a:t>
            </a:r>
            <a:endParaRPr lang="en-US" sz="1980" dirty="0"/>
          </a:p>
          <a:p>
            <a:pPr algn="l" marL="228600" indent="-68580">
              <a:lnSpc>
                <a:spcPts val="1944"/>
              </a:lnSpc>
              <a:spcBef>
                <a:spcPts val="225"/>
              </a:spcBef>
              <a:spcAft>
                <a:spcPts val="225"/>
              </a:spcAft>
              <a:buSzPct val="100000"/>
              <a:buChar char="•"/>
            </a:pPr>
            <a:r>
              <a:rPr lang="en-US" sz="162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E:</a:t>
            </a:r>
            <a:pPr algn="l" indent="0" marL="0">
              <a:lnSpc>
                <a:spcPts val="1944"/>
              </a:lnSpc>
              <a:spcBef>
                <a:spcPts val="225"/>
              </a:spcBef>
              <a:spcAft>
                <a:spcPts val="225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Bônus Meta (</a:t>
            </a:r>
            <a:pPr algn="l" indent="0" marL="0">
              <a:lnSpc>
                <a:spcPts val="1944"/>
              </a:lnSpc>
              <a:spcBef>
                <a:spcPts val="225"/>
              </a:spcBef>
              <a:spcAft>
                <a:spcPts val="225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)</a:t>
            </a:r>
            <a:endParaRPr lang="en-US" sz="1980" dirty="0"/>
          </a:p>
          <a:p>
            <a:pPr algn="l" marL="228600" indent="-68580">
              <a:lnSpc>
                <a:spcPts val="1944"/>
              </a:lnSpc>
              <a:spcBef>
                <a:spcPts val="225"/>
              </a:spcBef>
              <a:spcAft>
                <a:spcPts val="225"/>
              </a:spcAft>
              <a:buSzPct val="100000"/>
              <a:buChar char="•"/>
            </a:pPr>
            <a:r>
              <a:rPr lang="en-US" sz="162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F:</a:t>
            </a:r>
            <a:pPr algn="l" indent="0" marL="0">
              <a:lnSpc>
                <a:spcPts val="1944"/>
              </a:lnSpc>
              <a:spcBef>
                <a:spcPts val="225"/>
              </a:spcBef>
              <a:spcAft>
                <a:spcPts val="225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Desconto INSS (</a:t>
            </a:r>
            <a:pPr algn="l" indent="0" marL="0">
              <a:lnSpc>
                <a:spcPts val="1944"/>
              </a:lnSpc>
              <a:spcBef>
                <a:spcPts val="225"/>
              </a:spcBef>
              <a:spcAft>
                <a:spcPts val="225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)</a:t>
            </a:r>
            <a:endParaRPr lang="en-US" sz="1980" dirty="0"/>
          </a:p>
          <a:p>
            <a:pPr algn="l" marL="228600" indent="-68580">
              <a:lnSpc>
                <a:spcPts val="1944"/>
              </a:lnSpc>
              <a:spcBef>
                <a:spcPts val="225"/>
              </a:spcBef>
              <a:spcAft>
                <a:spcPts val="225"/>
              </a:spcAft>
              <a:buSzPct val="100000"/>
              <a:buChar char="•"/>
            </a:pPr>
            <a:r>
              <a:rPr lang="en-US" sz="162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G:</a:t>
            </a:r>
            <a:pPr algn="l" indent="0" marL="0">
              <a:lnSpc>
                <a:spcPts val="1944"/>
              </a:lnSpc>
              <a:spcBef>
                <a:spcPts val="225"/>
              </a:spcBef>
              <a:spcAft>
                <a:spcPts val="225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Salário Líquido (</a:t>
            </a:r>
            <a:pPr algn="l" indent="0" marL="0">
              <a:lnSpc>
                <a:spcPts val="1944"/>
              </a:lnSpc>
              <a:spcBef>
                <a:spcPts val="225"/>
              </a:spcBef>
              <a:spcAft>
                <a:spcPts val="225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)</a:t>
            </a:r>
            <a:endParaRPr lang="en-US" sz="1980" dirty="0"/>
          </a:p>
          <a:p>
            <a:pPr algn="l" marL="228600" indent="-68580">
              <a:lnSpc>
                <a:spcPts val="1944"/>
              </a:lnSpc>
              <a:spcBef>
                <a:spcPts val="225"/>
              </a:spcBef>
              <a:spcAft>
                <a:spcPts val="225"/>
              </a:spcAft>
              <a:buSzPct val="100000"/>
              <a:buChar char="•"/>
            </a:pPr>
            <a:r>
              <a:rPr lang="en-US" sz="162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Rodapé:</a:t>
            </a:r>
            <a:pPr algn="l" indent="0" marL="0">
              <a:lnSpc>
                <a:spcPts val="1944"/>
              </a:lnSpc>
              <a:spcBef>
                <a:spcPts val="225"/>
              </a:spcBef>
              <a:spcAft>
                <a:spcPts val="225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Totais e Médias</a:t>
            </a:r>
            <a:endParaRPr lang="en-US" sz="198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heme-logo-34" descr="/home/forge/chalkie-production-workers-3/releases/77481733/backend/storage/app/render-specs/2cc91f21-05c3-4444-9175-544f711574a6/img_67db2e6a5fb9230f9de86baa7e51a1c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59800" y="127000"/>
            <a:ext cx="457200" cy="457200"/>
          </a:xfrm>
          <a:prstGeom prst="rect">
            <a:avLst/>
          </a:prstGeom>
        </p:spPr>
      </p:pic>
      <p:pic>
        <p:nvPicPr>
          <p:cNvPr id="3" name="127239dd-3c05-47dd-be1a-7111b4c99953" descr="/home/forge/chalkie-production-workers-3/releases/77481733/backend/storage/app/render-specs/2cc91f21-05c3-4444-9175-544f711574a6/img_8c26fa80ae0ba33d9ac6d7cf39732550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750" y="1725930"/>
            <a:ext cx="8572500" cy="2057400"/>
          </a:xfrm>
          <a:prstGeom prst="roundRect">
            <a:avLst>
              <a:gd name="adj" fmla="val 6667"/>
            </a:avLst>
          </a:prstGeom>
        </p:spPr>
      </p:pic>
      <p:sp>
        <p:nvSpPr>
          <p:cNvPr id="4" name="10f9e33c-44e9-46a0-829b-3d33bd7d96c1"/>
          <p:cNvSpPr/>
          <p:nvPr/>
        </p:nvSpPr>
        <p:spPr>
          <a:xfrm>
            <a:off x="285750" y="30861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456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880" b="1" dirty="0">
                <a:solidFill>
                  <a:srgbClr val="00509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Laboratório: Construção Passo a Passo</a:t>
            </a:r>
            <a:endParaRPr lang="en-US" sz="2880" dirty="0"/>
          </a:p>
        </p:txBody>
      </p:sp>
      <p:sp>
        <p:nvSpPr>
          <p:cNvPr id="5" name="8d481416-6e40-4de0-8ac3-dfc8433874bc"/>
          <p:cNvSpPr/>
          <p:nvPr/>
        </p:nvSpPr>
        <p:spPr>
          <a:xfrm>
            <a:off x="285750" y="925830"/>
            <a:ext cx="8572500" cy="667512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Passo 1: Para calcular o Bônus na coluna E, se Vendas (D2) &gt;= 15000, bônus de 500, senão 0:</a:t>
            </a:r>
            <a:endParaRPr lang="en-US" sz="1620" dirty="0"/>
          </a:p>
        </p:txBody>
      </p:sp>
      <p:sp>
        <p:nvSpPr>
          <p:cNvPr id="6" name="fbb887c6-7d3c-4330-8f97-44b9502d286a"/>
          <p:cNvSpPr/>
          <p:nvPr/>
        </p:nvSpPr>
        <p:spPr>
          <a:xfrm>
            <a:off x="285750" y="3920490"/>
            <a:ext cx="8572500" cy="667512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Passo 2: Calcule o INSS na coluna F multiplicando o Salário Base (C2) pela alíquota fixa travada </a:t>
            </a:r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62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heme-logo-35" descr="/home/forge/chalkie-production-workers-3/releases/77481733/backend/storage/app/render-specs/2cc91f21-05c3-4444-9175-544f711574a6/img_67db2e6a5fb9230f9de86baa7e51a1c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59800" y="127000"/>
            <a:ext cx="457200" cy="457200"/>
          </a:xfrm>
          <a:prstGeom prst="rect">
            <a:avLst/>
          </a:prstGeom>
        </p:spPr>
      </p:pic>
      <p:pic>
        <p:nvPicPr>
          <p:cNvPr id="3" name="b223adc3-4bec-456c-95de-ec6d0243162c" descr="/home/forge/chalkie-production-workers-3/releases/77481733/backend/storage/app/render-specs/2cc91f21-05c3-4444-9175-544f711574a6/img_b9d9738e8f69a6434c08528f001ae275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750" y="1588770"/>
            <a:ext cx="1977390" cy="1714500"/>
          </a:xfrm>
          <a:prstGeom prst="roundRect">
            <a:avLst>
              <a:gd name="adj" fmla="val 8000"/>
            </a:avLst>
          </a:prstGeom>
        </p:spPr>
      </p:pic>
      <p:pic>
        <p:nvPicPr>
          <p:cNvPr id="4" name="bbb8aea8-b026-40a6-ad53-d7a23bbc1114" descr="/home/forge/chalkie-production-workers-3/releases/77481733/backend/storage/app/render-specs/2cc91f21-05c3-4444-9175-544f711574a6/img_0108aba3034662a200b6f51f42ae70b7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91740" y="902970"/>
            <a:ext cx="1977390" cy="1714500"/>
          </a:xfrm>
          <a:prstGeom prst="roundRect">
            <a:avLst>
              <a:gd name="adj" fmla="val 8000"/>
            </a:avLst>
          </a:prstGeom>
        </p:spPr>
      </p:pic>
      <p:pic>
        <p:nvPicPr>
          <p:cNvPr id="5" name="962a5c76-284b-47b1-a5cf-7e9d0eeeec94" descr="/home/forge/chalkie-production-workers-3/releases/77481733/backend/storage/app/render-specs/2cc91f21-05c3-4444-9175-544f711574a6/img_843f65b996c8ec54aab5a1c692d34120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86300" y="1588770"/>
            <a:ext cx="1977390" cy="1714500"/>
          </a:xfrm>
          <a:prstGeom prst="roundRect">
            <a:avLst>
              <a:gd name="adj" fmla="val 8000"/>
            </a:avLst>
          </a:prstGeom>
        </p:spPr>
      </p:pic>
      <p:pic>
        <p:nvPicPr>
          <p:cNvPr id="6" name="0cedc2d9-1155-40cd-bc57-150f03987f9d" descr="/home/forge/chalkie-production-workers-3/releases/77481733/backend/storage/app/render-specs/2cc91f21-05c3-4444-9175-544f711574a6/img_c2253a496b32526e47f7a7981f4f4fc1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92290" y="902970"/>
            <a:ext cx="1977390" cy="1714500"/>
          </a:xfrm>
          <a:prstGeom prst="roundRect">
            <a:avLst>
              <a:gd name="adj" fmla="val 8000"/>
            </a:avLst>
          </a:prstGeom>
        </p:spPr>
      </p:pic>
      <p:sp>
        <p:nvSpPr>
          <p:cNvPr id="7" name="0b0f5ed4-4d48-46a5-b837-6cc93860b33f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456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880" b="1" dirty="0">
                <a:solidFill>
                  <a:srgbClr val="00509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Guia de Erros Comuns no Excel</a:t>
            </a:r>
            <a:endParaRPr lang="en-US" sz="2880" dirty="0"/>
          </a:p>
        </p:txBody>
      </p:sp>
      <p:sp>
        <p:nvSpPr>
          <p:cNvPr id="8" name="c154e6a8-14af-4bf5-be3b-ddec3ff5beeb"/>
          <p:cNvSpPr/>
          <p:nvPr/>
        </p:nvSpPr>
        <p:spPr>
          <a:xfrm>
            <a:off x="285750" y="3417570"/>
            <a:ext cx="1977390" cy="1499616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ctr" indent="0" marL="0">
              <a:lnSpc>
                <a:spcPts val="2376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98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#NOME?</a:t>
            </a:r>
            <a:endParaRPr lang="en-US" sz="1980" dirty="0"/>
          </a:p>
          <a:p>
            <a:pPr algn="ctr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Nome de função digitado incorretamente, como </a:t>
            </a:r>
            <a:pPr algn="ctr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980" dirty="0"/>
          </a:p>
        </p:txBody>
      </p:sp>
      <p:sp>
        <p:nvSpPr>
          <p:cNvPr id="9" name="5252630d-45ee-439c-b1ac-f5a274611cf1"/>
          <p:cNvSpPr/>
          <p:nvPr/>
        </p:nvSpPr>
        <p:spPr>
          <a:xfrm>
            <a:off x="2491740" y="2731770"/>
            <a:ext cx="1977390" cy="1499616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ctr" indent="0" marL="0">
              <a:lnSpc>
                <a:spcPts val="2376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98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#VALOR!</a:t>
            </a:r>
            <a:endParaRPr lang="en-US" sz="1980" dirty="0"/>
          </a:p>
          <a:p>
            <a:pPr algn="ctr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Operação matemática tentando somar texto e número.</a:t>
            </a:r>
            <a:endParaRPr lang="en-US" sz="1980" dirty="0"/>
          </a:p>
        </p:txBody>
      </p:sp>
      <p:sp>
        <p:nvSpPr>
          <p:cNvPr id="10" name="d16a9375-e987-45a3-aacb-509a43edc909"/>
          <p:cNvSpPr/>
          <p:nvPr/>
        </p:nvSpPr>
        <p:spPr>
          <a:xfrm>
            <a:off x="4686300" y="3417570"/>
            <a:ext cx="1977390" cy="185166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ctr" indent="0" marL="0">
              <a:lnSpc>
                <a:spcPts val="2376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98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#DIV/0!</a:t>
            </a:r>
            <a:endParaRPr lang="en-US" sz="1980" dirty="0"/>
          </a:p>
          <a:p>
            <a:pPr algn="ctr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Fórmula tentando efetuar divisão por zero ou célula em branco.</a:t>
            </a:r>
            <a:endParaRPr lang="en-US" sz="1980" dirty="0"/>
          </a:p>
        </p:txBody>
      </p:sp>
      <p:sp>
        <p:nvSpPr>
          <p:cNvPr id="11" name="9eb0b1af-507c-40e6-97f5-3393f92a87e8"/>
          <p:cNvSpPr/>
          <p:nvPr/>
        </p:nvSpPr>
        <p:spPr>
          <a:xfrm>
            <a:off x="6892290" y="2731770"/>
            <a:ext cx="1977390" cy="124358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ctr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coluna está muito estreita para exibir o número por completo.</a:t>
            </a:r>
            <a:endParaRPr lang="en-US" sz="162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heme-logo-36" descr="/home/forge/chalkie-production-workers-3/releases/77481733/backend/storage/app/render-specs/2cc91f21-05c3-4444-9175-544f711574a6/img_67db2e6a5fb9230f9de86baa7e51a1c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59800" y="127000"/>
            <a:ext cx="457200" cy="457200"/>
          </a:xfrm>
          <a:prstGeom prst="rect">
            <a:avLst/>
          </a:prstGeom>
        </p:spPr>
      </p:pic>
      <p:pic>
        <p:nvPicPr>
          <p:cNvPr id="3" name="892f5e46-09ca-480a-b387-4e467a9454d0" descr="/home/forge/chalkie-production-workers-3/releases/77481733/backend/storage/app/render-specs/2cc91f21-05c3-4444-9175-544f711574a6/img_cbbc660d0e6054741b2c6c6318159e59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788670"/>
            <a:ext cx="3829050" cy="4069080"/>
          </a:xfrm>
          <a:prstGeom prst="roundRect">
            <a:avLst>
              <a:gd name="adj" fmla="val 3582"/>
            </a:avLst>
          </a:prstGeom>
        </p:spPr>
      </p:pic>
      <p:sp>
        <p:nvSpPr>
          <p:cNvPr id="4" name="db615f3b-30bf-42fa-94e2-b90956e75fa7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456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880" b="1" dirty="0">
                <a:solidFill>
                  <a:srgbClr val="00509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Boas Práticas de Auditoria</a:t>
            </a:r>
            <a:endParaRPr lang="en-US" sz="2880" dirty="0"/>
          </a:p>
        </p:txBody>
      </p:sp>
      <p:sp>
        <p:nvSpPr>
          <p:cNvPr id="5" name="17a3e4c6-ac8a-4c60-bf01-340166cb095d"/>
          <p:cNvSpPr/>
          <p:nvPr/>
        </p:nvSpPr>
        <p:spPr>
          <a:xfrm>
            <a:off x="285750" y="857250"/>
            <a:ext cx="1291590" cy="262890"/>
          </a:xfrm>
          <a:prstGeom prst="roundRect">
            <a:avLst>
              <a:gd name="adj" fmla="val 17391"/>
            </a:avLst>
          </a:prstGeom>
          <a:solidFill>
            <a:srgbClr val="D32F2F"/>
          </a:solidFill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ORGANIZAÇÃO</a:t>
            </a:r>
            <a:endParaRPr lang="en-US" sz="1080" dirty="0"/>
          </a:p>
        </p:txBody>
      </p:sp>
      <p:sp>
        <p:nvSpPr>
          <p:cNvPr id="6" name="864f55d2-8536-49e8-90ba-1580997f66bc"/>
          <p:cNvSpPr/>
          <p:nvPr/>
        </p:nvSpPr>
        <p:spPr>
          <a:xfrm>
            <a:off x="285750" y="1165860"/>
            <a:ext cx="4572000" cy="153162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Antes de entregar qualquer planilha ao gestor, realize uma auditoria visual: verifique se as colunas numéricas estão formatadas como Moeda, se os totais batem e se nenhuma fórmula exibe erros como </a:t>
            </a:r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620" dirty="0"/>
          </a:p>
        </p:txBody>
      </p:sp>
      <p:sp>
        <p:nvSpPr>
          <p:cNvPr id="7" name="8634cdbc-86f7-41ac-a9a6-12cf6909af0b_card"/>
          <p:cNvSpPr/>
          <p:nvPr/>
        </p:nvSpPr>
        <p:spPr>
          <a:xfrm>
            <a:off x="285750" y="2948940"/>
            <a:ext cx="4572000" cy="1348740"/>
          </a:xfrm>
          <a:prstGeom prst="roundRect">
            <a:avLst>
              <a:gd name="adj" fmla="val 6780"/>
            </a:avLst>
          </a:prstGeom>
          <a:solidFill>
            <a:srgbClr val="FAEFDA"/>
          </a:solidFill>
          <a:ln w="11430">
            <a:solidFill>
              <a:srgbClr val="573B06">
                <a:alpha val="20000"/>
              </a:srgbClr>
            </a:solidFill>
            <a:prstDash val="solid"/>
          </a:ln>
        </p:spPr>
      </p:sp>
      <p:sp>
        <p:nvSpPr>
          <p:cNvPr id="8" name="8634cdbc-86f7-41ac-a9a6-12cf6909af0b_emoji"/>
          <p:cNvSpPr/>
          <p:nvPr/>
        </p:nvSpPr>
        <p:spPr>
          <a:xfrm>
            <a:off x="400050" y="3097530"/>
            <a:ext cx="365760" cy="411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160" dirty="0">
                <a:solidFill>
                  <a:srgbClr val="000000"/>
                </a:solidFill>
              </a:rPr>
              <a:t>🔑</a:t>
            </a:r>
            <a:endParaRPr lang="en-US" sz="2160" dirty="0"/>
          </a:p>
        </p:txBody>
      </p:sp>
      <p:sp>
        <p:nvSpPr>
          <p:cNvPr id="9" name="8634cdbc-86f7-41ac-a9a6-12cf6909af0b_text"/>
          <p:cNvSpPr/>
          <p:nvPr/>
        </p:nvSpPr>
        <p:spPr>
          <a:xfrm>
            <a:off x="765810" y="3063240"/>
            <a:ext cx="3977640" cy="1120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28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1440" b="1" dirty="0">
                <a:solidFill>
                  <a:srgbClr val="573B0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Ponto-chave</a:t>
            </a:r>
            <a:endParaRPr lang="en-US" sz="1440" dirty="0"/>
          </a:p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573B0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Dê um duplo clique na divisória entre duas colunas para ajustar a largura automaticamente.</a:t>
            </a:r>
            <a:endParaRPr lang="en-US" sz="144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heme-logo-37" descr="/home/forge/chalkie-production-workers-3/releases/77481733/backend/storage/app/render-specs/2cc91f21-05c3-4444-9175-544f711574a6/img_67db2e6a5fb9230f9de86baa7e51a1c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59800" y="127000"/>
            <a:ext cx="457200" cy="457200"/>
          </a:xfrm>
          <a:prstGeom prst="rect">
            <a:avLst/>
          </a:prstGeom>
        </p:spPr>
      </p:pic>
      <p:sp>
        <p:nvSpPr>
          <p:cNvPr id="3" name="2cf1f68e-fda8-424b-9e83-f9eee6a937f6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456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880" b="1" dirty="0">
                <a:solidFill>
                  <a:srgbClr val="00509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Ordem: Automação da Planilha</a:t>
            </a:r>
            <a:endParaRPr lang="en-US" sz="2880" dirty="0"/>
          </a:p>
        </p:txBody>
      </p:sp>
      <p:sp>
        <p:nvSpPr>
          <p:cNvPr id="4" name="90985946-0a81-40a8-9bef-4e72ac508d2f"/>
          <p:cNvSpPr/>
          <p:nvPr/>
        </p:nvSpPr>
        <p:spPr>
          <a:xfrm>
            <a:off x="285750" y="685800"/>
            <a:ext cx="8572500" cy="379476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Ordene as etapas corretas para criar e propagar a coluna de cálculo de bônus:</a:t>
            </a:r>
            <a:endParaRPr lang="en-US" sz="1620" dirty="0"/>
          </a:p>
        </p:txBody>
      </p:sp>
      <p:sp>
        <p:nvSpPr>
          <p:cNvPr id="5" name="0c3dd0bf-d0fe-4b5d-bbea-ce50a5caf737"/>
          <p:cNvSpPr/>
          <p:nvPr/>
        </p:nvSpPr>
        <p:spPr>
          <a:xfrm>
            <a:off x="1714500" y="1657350"/>
            <a:ext cx="5715000" cy="617220"/>
          </a:xfrm>
          <a:prstGeom prst="roundRect">
            <a:avLst>
              <a:gd name="adj" fmla="val 18519"/>
            </a:avLst>
          </a:prstGeom>
          <a:solidFill>
            <a:srgbClr val="F4F9FC"/>
          </a:solidFill>
          <a:ln w="34290">
            <a:solidFill>
              <a:srgbClr val="000000"/>
            </a:solidFill>
          </a:ln>
        </p:spPr>
        <p:txBody>
          <a:bodyPr wrap="square" lIns="80010" tIns="80010" rIns="80010" bIns="80010" rtlCol="0" anchor="ctr"/>
          <a:lstStyle/>
          <a:p>
            <a:pPr algn="ctr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b="1" dirty="0">
                <a:solidFill>
                  <a:srgbClr val="040F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Testar se a primeira fórmula retornou o valor correto para a primeira linha.</a:t>
            </a:r>
            <a:endParaRPr lang="en-US" sz="1620" dirty="0"/>
          </a:p>
        </p:txBody>
      </p:sp>
      <p:sp>
        <p:nvSpPr>
          <p:cNvPr id="6" name="f847eda7-32cc-4267-b80c-508867e7d211"/>
          <p:cNvSpPr/>
          <p:nvPr/>
        </p:nvSpPr>
        <p:spPr>
          <a:xfrm>
            <a:off x="1714500" y="2400300"/>
            <a:ext cx="5715000" cy="617220"/>
          </a:xfrm>
          <a:prstGeom prst="roundRect">
            <a:avLst>
              <a:gd name="adj" fmla="val 18519"/>
            </a:avLst>
          </a:prstGeom>
          <a:solidFill>
            <a:srgbClr val="F4F9FC"/>
          </a:solidFill>
          <a:ln w="34290">
            <a:solidFill>
              <a:srgbClr val="000000"/>
            </a:solidFill>
          </a:ln>
        </p:spPr>
        <p:txBody>
          <a:bodyPr wrap="square" lIns="80010" tIns="80010" rIns="80010" bIns="80010" rtlCol="0" anchor="ctr"/>
          <a:lstStyle/>
          <a:p>
            <a:pPr algn="ctr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b="1" dirty="0">
                <a:solidFill>
                  <a:srgbClr val="040F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Digitar os cabeçalhos das colunas e os dados brutos de vendas dos colaboradores.</a:t>
            </a:r>
            <a:endParaRPr lang="en-US" sz="1620" dirty="0"/>
          </a:p>
        </p:txBody>
      </p:sp>
      <p:sp>
        <p:nvSpPr>
          <p:cNvPr id="7" name="03005319-c814-4d00-8be4-b8ba2669ad5f"/>
          <p:cNvSpPr/>
          <p:nvPr/>
        </p:nvSpPr>
        <p:spPr>
          <a:xfrm>
            <a:off x="1714500" y="3143250"/>
            <a:ext cx="5715000" cy="617220"/>
          </a:xfrm>
          <a:prstGeom prst="roundRect">
            <a:avLst>
              <a:gd name="adj" fmla="val 18519"/>
            </a:avLst>
          </a:prstGeom>
          <a:solidFill>
            <a:srgbClr val="F4F9FC"/>
          </a:solidFill>
          <a:ln w="34290">
            <a:solidFill>
              <a:srgbClr val="000000"/>
            </a:solidFill>
          </a:ln>
        </p:spPr>
        <p:txBody>
          <a:bodyPr wrap="square" lIns="80010" tIns="80010" rIns="80010" bIns="80010" rtlCol="0" anchor="ctr"/>
          <a:lstStyle/>
          <a:p>
            <a:pPr algn="ctr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b="1" dirty="0">
                <a:solidFill>
                  <a:srgbClr val="040F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Propagar a fórmula pelas demais linhas usando a alça de preenchimento.</a:t>
            </a:r>
            <a:endParaRPr lang="en-US" sz="1620" dirty="0"/>
          </a:p>
        </p:txBody>
      </p:sp>
      <p:sp>
        <p:nvSpPr>
          <p:cNvPr id="8" name="bc854ecf-410f-43b8-ab00-f8d28ddbeae9"/>
          <p:cNvSpPr/>
          <p:nvPr/>
        </p:nvSpPr>
        <p:spPr>
          <a:xfrm>
            <a:off x="1714500" y="3886200"/>
            <a:ext cx="5715000" cy="617220"/>
          </a:xfrm>
          <a:prstGeom prst="roundRect">
            <a:avLst>
              <a:gd name="adj" fmla="val 18519"/>
            </a:avLst>
          </a:prstGeom>
          <a:solidFill>
            <a:srgbClr val="F4F9FC"/>
          </a:solidFill>
          <a:ln w="34290">
            <a:solidFill>
              <a:srgbClr val="000000"/>
            </a:solidFill>
          </a:ln>
        </p:spPr>
        <p:txBody>
          <a:bodyPr wrap="square" lIns="80010" tIns="80010" rIns="80010" bIns="80010" rtlCol="0" anchor="ctr"/>
          <a:lstStyle/>
          <a:p>
            <a:pPr algn="ctr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b="1" dirty="0">
                <a:solidFill>
                  <a:srgbClr val="040F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Inserir a fórmula condicional =SE na primeira célula de resultado da tabela.</a:t>
            </a:r>
            <a:endParaRPr lang="en-US" sz="162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heme-logo-38" descr="/home/forge/chalkie-production-workers-3/releases/77481733/backend/storage/app/render-specs/2cc91f21-05c3-4444-9175-544f711574a6/img_67db2e6a5fb9230f9de86baa7e51a1c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59800" y="127000"/>
            <a:ext cx="457200" cy="457200"/>
          </a:xfrm>
          <a:prstGeom prst="rect">
            <a:avLst/>
          </a:prstGeom>
        </p:spPr>
      </p:pic>
      <p:sp>
        <p:nvSpPr>
          <p:cNvPr id="3" name="2cf1f68e-fda8-424b-9e83-f9eee6a937f6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456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880" b="1" dirty="0">
                <a:solidFill>
                  <a:srgbClr val="00509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Ordem: Automação da Planilha</a:t>
            </a:r>
            <a:endParaRPr lang="en-US" sz="2880" dirty="0"/>
          </a:p>
        </p:txBody>
      </p:sp>
      <p:sp>
        <p:nvSpPr>
          <p:cNvPr id="4" name="90985946-0a81-40a8-9bef-4e72ac508d2f"/>
          <p:cNvSpPr/>
          <p:nvPr/>
        </p:nvSpPr>
        <p:spPr>
          <a:xfrm>
            <a:off x="285750" y="685800"/>
            <a:ext cx="8572500" cy="379476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Ordene as etapas corretas para criar e propagar a coluna de cálculo de bônus:</a:t>
            </a:r>
            <a:endParaRPr lang="en-US" sz="1620" dirty="0"/>
          </a:p>
        </p:txBody>
      </p:sp>
      <p:sp>
        <p:nvSpPr>
          <p:cNvPr id="5" name="0c3dd0bf-d0fe-4b5d-bbea-ce50a5caf737"/>
          <p:cNvSpPr/>
          <p:nvPr/>
        </p:nvSpPr>
        <p:spPr>
          <a:xfrm>
            <a:off x="1714500" y="3143250"/>
            <a:ext cx="5715000" cy="617220"/>
          </a:xfrm>
          <a:prstGeom prst="roundRect">
            <a:avLst>
              <a:gd name="adj" fmla="val 18519"/>
            </a:avLst>
          </a:prstGeom>
          <a:solidFill>
            <a:srgbClr val="F4F9FC"/>
          </a:solidFill>
          <a:ln w="34290">
            <a:solidFill>
              <a:srgbClr val="000000"/>
            </a:solidFill>
          </a:ln>
        </p:spPr>
        <p:txBody>
          <a:bodyPr wrap="square" lIns="80010" tIns="80010" rIns="80010" bIns="80010" rtlCol="0" anchor="ctr"/>
          <a:lstStyle/>
          <a:p>
            <a:pPr algn="ctr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b="1" dirty="0">
                <a:solidFill>
                  <a:srgbClr val="040F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Testar se a primeira fórmula retornou o valor correto para a primeira linha.</a:t>
            </a:r>
            <a:endParaRPr lang="en-US" sz="1620" dirty="0"/>
          </a:p>
        </p:txBody>
      </p:sp>
      <p:sp>
        <p:nvSpPr>
          <p:cNvPr id="6" name="f847eda7-32cc-4267-b80c-508867e7d211"/>
          <p:cNvSpPr/>
          <p:nvPr/>
        </p:nvSpPr>
        <p:spPr>
          <a:xfrm>
            <a:off x="1714500" y="1657350"/>
            <a:ext cx="5715000" cy="617220"/>
          </a:xfrm>
          <a:prstGeom prst="roundRect">
            <a:avLst>
              <a:gd name="adj" fmla="val 18519"/>
            </a:avLst>
          </a:prstGeom>
          <a:solidFill>
            <a:srgbClr val="F4F9FC"/>
          </a:solidFill>
          <a:ln w="34290">
            <a:solidFill>
              <a:srgbClr val="000000"/>
            </a:solidFill>
          </a:ln>
        </p:spPr>
        <p:txBody>
          <a:bodyPr wrap="square" lIns="80010" tIns="80010" rIns="80010" bIns="80010" rtlCol="0" anchor="ctr"/>
          <a:lstStyle/>
          <a:p>
            <a:pPr algn="ctr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b="1" dirty="0">
                <a:solidFill>
                  <a:srgbClr val="040F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Digitar os cabeçalhos das colunas e os dados brutos de vendas dos colaboradores.</a:t>
            </a:r>
            <a:endParaRPr lang="en-US" sz="1620" dirty="0"/>
          </a:p>
        </p:txBody>
      </p:sp>
      <p:sp>
        <p:nvSpPr>
          <p:cNvPr id="7" name="03005319-c814-4d00-8be4-b8ba2669ad5f"/>
          <p:cNvSpPr/>
          <p:nvPr/>
        </p:nvSpPr>
        <p:spPr>
          <a:xfrm>
            <a:off x="1714500" y="3886200"/>
            <a:ext cx="5715000" cy="617220"/>
          </a:xfrm>
          <a:prstGeom prst="roundRect">
            <a:avLst>
              <a:gd name="adj" fmla="val 18519"/>
            </a:avLst>
          </a:prstGeom>
          <a:solidFill>
            <a:srgbClr val="F4F9FC"/>
          </a:solidFill>
          <a:ln w="34290">
            <a:solidFill>
              <a:srgbClr val="000000"/>
            </a:solidFill>
          </a:ln>
        </p:spPr>
        <p:txBody>
          <a:bodyPr wrap="square" lIns="80010" tIns="80010" rIns="80010" bIns="80010" rtlCol="0" anchor="ctr"/>
          <a:lstStyle/>
          <a:p>
            <a:pPr algn="ctr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b="1" dirty="0">
                <a:solidFill>
                  <a:srgbClr val="040F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Propagar a fórmula pelas demais linhas usando a alça de preenchimento.</a:t>
            </a:r>
            <a:endParaRPr lang="en-US" sz="1620" dirty="0"/>
          </a:p>
        </p:txBody>
      </p:sp>
      <p:sp>
        <p:nvSpPr>
          <p:cNvPr id="8" name="bc854ecf-410f-43b8-ab00-f8d28ddbeae9"/>
          <p:cNvSpPr/>
          <p:nvPr/>
        </p:nvSpPr>
        <p:spPr>
          <a:xfrm>
            <a:off x="1714500" y="2400300"/>
            <a:ext cx="5715000" cy="617220"/>
          </a:xfrm>
          <a:prstGeom prst="roundRect">
            <a:avLst>
              <a:gd name="adj" fmla="val 18519"/>
            </a:avLst>
          </a:prstGeom>
          <a:solidFill>
            <a:srgbClr val="F4F9FC"/>
          </a:solidFill>
          <a:ln w="34290">
            <a:solidFill>
              <a:srgbClr val="000000"/>
            </a:solidFill>
          </a:ln>
        </p:spPr>
        <p:txBody>
          <a:bodyPr wrap="square" lIns="80010" tIns="80010" rIns="80010" bIns="80010" rtlCol="0" anchor="ctr"/>
          <a:lstStyle/>
          <a:p>
            <a:pPr algn="ctr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b="1" dirty="0">
                <a:solidFill>
                  <a:srgbClr val="040F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Inserir a fórmula condicional =SE na primeira célula de resultado da tabela.</a:t>
            </a:r>
            <a:endParaRPr lang="en-US" sz="1620" dirty="0"/>
          </a:p>
        </p:txBody>
      </p:sp>
      <p:sp>
        <p:nvSpPr>
          <p:cNvPr id="9" name="4007aeba-93db-44c4-a2cc-fa5196f4f686"/>
          <p:cNvSpPr/>
          <p:nvPr/>
        </p:nvSpPr>
        <p:spPr>
          <a:xfrm>
            <a:off x="8366760" y="342900"/>
            <a:ext cx="548640" cy="54864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r" indent="0" marL="0">
              <a:lnSpc>
                <a:spcPts val="4320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360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✅</a:t>
            </a:r>
            <a:endParaRPr lang="en-US" sz="3600" dirty="0"/>
          </a:p>
        </p:txBody>
      </p:sp>
      <p:sp>
        <p:nvSpPr>
          <p:cNvPr id="10" name="12874413-50dd-4394-b2e9-dfaf509e35e3"/>
          <p:cNvSpPr/>
          <p:nvPr/>
        </p:nvSpPr>
        <p:spPr>
          <a:xfrm>
            <a:off x="7292340" y="1520190"/>
            <a:ext cx="274320" cy="274320"/>
          </a:xfrm>
          <a:prstGeom prst="roundRect">
            <a:avLst>
              <a:gd name="adj" fmla="val 25000"/>
            </a:avLst>
          </a:prstGeom>
          <a:solidFill>
            <a:srgbClr val="000000"/>
          </a:solidFill>
          <a:ln/>
        </p:spPr>
        <p:txBody>
          <a:bodyPr wrap="square" lIns="45720" tIns="45720" rIns="45720" bIns="45720" rtlCol="0" anchor="ctr"/>
          <a:lstStyle/>
          <a:p>
            <a:pPr algn="ctr" indent="0" marL="0">
              <a:lnSpc>
                <a:spcPts val="1404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117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170" dirty="0"/>
          </a:p>
        </p:txBody>
      </p:sp>
      <p:sp>
        <p:nvSpPr>
          <p:cNvPr id="11" name="c4e1122e-0674-4d2c-bfaf-663fb1e4057b"/>
          <p:cNvSpPr/>
          <p:nvPr/>
        </p:nvSpPr>
        <p:spPr>
          <a:xfrm>
            <a:off x="7292340" y="2263140"/>
            <a:ext cx="274320" cy="274320"/>
          </a:xfrm>
          <a:prstGeom prst="roundRect">
            <a:avLst>
              <a:gd name="adj" fmla="val 25000"/>
            </a:avLst>
          </a:prstGeom>
          <a:solidFill>
            <a:srgbClr val="000000"/>
          </a:solidFill>
          <a:ln/>
        </p:spPr>
        <p:txBody>
          <a:bodyPr wrap="square" lIns="45720" tIns="45720" rIns="45720" bIns="45720" rtlCol="0" anchor="ctr"/>
          <a:lstStyle/>
          <a:p>
            <a:pPr algn="ctr" indent="0" marL="0">
              <a:lnSpc>
                <a:spcPts val="1404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117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170" dirty="0"/>
          </a:p>
        </p:txBody>
      </p:sp>
      <p:sp>
        <p:nvSpPr>
          <p:cNvPr id="12" name="615990ce-67f5-4dcd-9b5c-b4ed74a03866"/>
          <p:cNvSpPr/>
          <p:nvPr/>
        </p:nvSpPr>
        <p:spPr>
          <a:xfrm>
            <a:off x="7292340" y="3006090"/>
            <a:ext cx="274320" cy="274320"/>
          </a:xfrm>
          <a:prstGeom prst="roundRect">
            <a:avLst>
              <a:gd name="adj" fmla="val 25000"/>
            </a:avLst>
          </a:prstGeom>
          <a:solidFill>
            <a:srgbClr val="000000"/>
          </a:solidFill>
          <a:ln/>
        </p:spPr>
        <p:txBody>
          <a:bodyPr wrap="square" lIns="45720" tIns="45720" rIns="45720" bIns="45720" rtlCol="0" anchor="ctr"/>
          <a:lstStyle/>
          <a:p>
            <a:pPr algn="ctr" indent="0" marL="0">
              <a:lnSpc>
                <a:spcPts val="1404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117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170" dirty="0"/>
          </a:p>
        </p:txBody>
      </p:sp>
      <p:sp>
        <p:nvSpPr>
          <p:cNvPr id="13" name="7c41b3dd-554c-4d78-92fe-59a6ad2bf78b"/>
          <p:cNvSpPr/>
          <p:nvPr/>
        </p:nvSpPr>
        <p:spPr>
          <a:xfrm>
            <a:off x="7292340" y="3749040"/>
            <a:ext cx="274320" cy="274320"/>
          </a:xfrm>
          <a:prstGeom prst="roundRect">
            <a:avLst>
              <a:gd name="adj" fmla="val 25000"/>
            </a:avLst>
          </a:prstGeom>
          <a:solidFill>
            <a:srgbClr val="000000"/>
          </a:solidFill>
          <a:ln/>
        </p:spPr>
        <p:txBody>
          <a:bodyPr wrap="square" lIns="45720" tIns="45720" rIns="45720" bIns="45720" rtlCol="0" anchor="ctr"/>
          <a:lstStyle/>
          <a:p>
            <a:pPr algn="ctr" indent="0" marL="0">
              <a:lnSpc>
                <a:spcPts val="1404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117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17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heme-logo-39" descr="/home/forge/chalkie-production-workers-3/releases/77481733/backend/storage/app/render-specs/2cc91f21-05c3-4444-9175-544f711574a6/img_67db2e6a5fb9230f9de86baa7e51a1c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59800" y="127000"/>
            <a:ext cx="457200" cy="457200"/>
          </a:xfrm>
          <a:prstGeom prst="rect">
            <a:avLst/>
          </a:prstGeom>
        </p:spPr>
      </p:pic>
      <p:pic>
        <p:nvPicPr>
          <p:cNvPr id="3" name="45aff3ad-aeac-4e00-84d5-c6508b7c0463" descr="/home/forge/chalkie-production-workers-3/releases/77481733/backend/storage/app/render-specs/2cc91f21-05c3-4444-9175-544f711574a6/img_b8e2e30cbb6ba10a8acb00af0ff4be05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oundRect">
            <a:avLst>
              <a:gd name="adj" fmla="val 2667"/>
            </a:avLst>
          </a:prstGeom>
        </p:spPr>
      </p:pic>
      <p:pic>
        <p:nvPicPr>
          <p:cNvPr id="4" name="3c414db5-20f2-4c88-be97-a6bc08116894" descr="/home/forge/chalkie-production-workers-3/releases/77481733/backend/storage/app/render-specs/2cc91f21-05c3-4444-9175-544f711574a6/img_c85d7c3e7d88bdc66c9d9107307cbd20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1908810"/>
            <a:ext cx="2697480" cy="2331720"/>
          </a:xfrm>
          <a:prstGeom prst="roundRect">
            <a:avLst>
              <a:gd name="adj" fmla="val 5882"/>
            </a:avLst>
          </a:prstGeom>
        </p:spPr>
      </p:pic>
      <p:sp>
        <p:nvSpPr>
          <p:cNvPr id="5" name="46f9e6fb-e247-46c1-93ec-091226671cc3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456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880" b="1" dirty="0">
                <a:solidFill>
                  <a:srgbClr val="00509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Desafio Prático de Gestão</a:t>
            </a:r>
            <a:endParaRPr lang="en-US" sz="2880" dirty="0"/>
          </a:p>
        </p:txBody>
      </p:sp>
      <p:sp>
        <p:nvSpPr>
          <p:cNvPr id="6" name="c1d78823-8b24-49a2-8763-5b904848e690"/>
          <p:cNvSpPr/>
          <p:nvPr/>
        </p:nvSpPr>
        <p:spPr>
          <a:xfrm>
            <a:off x="3806190" y="1440180"/>
            <a:ext cx="4194810" cy="312039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040F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Abra o Excel em duplas e realize:</a:t>
            </a:r>
            <a:endParaRPr lang="en-US" sz="1620" dirty="0"/>
          </a:p>
          <a:p>
            <a:pPr algn="l" marL="228600" indent="-68580">
              <a:lnSpc>
                <a:spcPts val="1944"/>
              </a:lnSpc>
              <a:spcBef>
                <a:spcPts val="225"/>
              </a:spcBef>
              <a:spcAft>
                <a:spcPts val="225"/>
              </a:spcAft>
              <a:buSzPct val="100000"/>
              <a:buFont typeface="+mj-lt"/>
              <a:buAutoNum type="arabicPeriod" startAt="1"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Crie tabela: 5 produtos, Preço e Qtd.</a:t>
            </a:r>
            <a:endParaRPr lang="en-US" sz="1620" dirty="0"/>
          </a:p>
          <a:p>
            <a:pPr algn="l" marL="228600" indent="-68580">
              <a:lnSpc>
                <a:spcPts val="1944"/>
              </a:lnSpc>
              <a:spcBef>
                <a:spcPts val="225"/>
              </a:spcBef>
              <a:spcAft>
                <a:spcPts val="225"/>
              </a:spcAft>
              <a:buSzPct val="100000"/>
              <a:buFont typeface="+mj-lt"/>
              <a:buAutoNum type="arabicPeriod" startAt="1"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Calcule Faturamento (Preço x Qtd).</a:t>
            </a:r>
            <a:endParaRPr lang="en-US" sz="1620" dirty="0"/>
          </a:p>
          <a:p>
            <a:pPr algn="l" marL="228600" indent="-68580">
              <a:lnSpc>
                <a:spcPts val="1944"/>
              </a:lnSpc>
              <a:spcBef>
                <a:spcPts val="225"/>
              </a:spcBef>
              <a:spcAft>
                <a:spcPts val="225"/>
              </a:spcAft>
              <a:buSzPct val="100000"/>
              <a:buFont typeface="+mj-lt"/>
              <a:buAutoNum type="arabicPeriod" startAt="1"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Defina imposto 10% na célula $F$1.</a:t>
            </a:r>
            <a:endParaRPr lang="en-US" sz="1620" dirty="0"/>
          </a:p>
          <a:p>
            <a:pPr algn="l" marL="228600" indent="-68580">
              <a:lnSpc>
                <a:spcPts val="1944"/>
              </a:lnSpc>
              <a:spcBef>
                <a:spcPts val="225"/>
              </a:spcBef>
              <a:spcAft>
                <a:spcPts val="225"/>
              </a:spcAft>
              <a:buSzPct val="100000"/>
              <a:buFont typeface="+mj-lt"/>
              <a:buAutoNum type="arabicPeriod" startAt="1"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Calcule Imposto usando referência $F$1.</a:t>
            </a:r>
            <a:endParaRPr lang="en-US" sz="1620" dirty="0"/>
          </a:p>
          <a:p>
            <a:pPr algn="l" marL="228600" indent="-68580">
              <a:lnSpc>
                <a:spcPts val="1944"/>
              </a:lnSpc>
              <a:spcBef>
                <a:spcPts val="225"/>
              </a:spcBef>
              <a:spcAft>
                <a:spcPts val="225"/>
              </a:spcAft>
              <a:buSzPct val="100000"/>
              <a:buFont typeface="+mj-lt"/>
              <a:buAutoNum type="arabicPeriod" startAt="1"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Some o Faturamento Total com SOMA.</a:t>
            </a:r>
            <a:endParaRPr lang="en-US" sz="162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heme-logo-40" descr="/home/forge/chalkie-production-workers-3/releases/77481733/backend/storage/app/render-specs/2cc91f21-05c3-4444-9175-544f711574a6/img_67db2e6a5fb9230f9de86baa7e51a1c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59800" y="127000"/>
            <a:ext cx="457200" cy="457200"/>
          </a:xfrm>
          <a:prstGeom prst="rect">
            <a:avLst/>
          </a:prstGeom>
        </p:spPr>
      </p:pic>
      <p:pic>
        <p:nvPicPr>
          <p:cNvPr id="3" name="b8918357-4d01-4798-a36f-b09b01e1eb1f" descr="/home/forge/chalkie-production-workers-3/releases/77481733/backend/storage/app/render-specs/2cc91f21-05c3-4444-9175-544f711574a6/img_74db676abbf9321227487417a15623c8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9490" y="-91440"/>
            <a:ext cx="1828800" cy="1828800"/>
          </a:xfrm>
          <a:prstGeom prst="roundRect">
            <a:avLst>
              <a:gd name="adj" fmla="val 7500"/>
            </a:avLst>
          </a:prstGeom>
        </p:spPr>
      </p:pic>
      <p:sp>
        <p:nvSpPr>
          <p:cNvPr id="4" name="626c67a2-2e56-47a2-ac62-c5083d05bc4e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456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880" b="1" dirty="0">
                <a:solidFill>
                  <a:srgbClr val="00509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Revisão Final da Aula</a:t>
            </a:r>
            <a:endParaRPr lang="en-US" sz="2880" dirty="0"/>
          </a:p>
        </p:txBody>
      </p:sp>
      <p:sp>
        <p:nvSpPr>
          <p:cNvPr id="5" name="5559011a-07ef-45c1-9306-a760450cc2e5"/>
          <p:cNvSpPr/>
          <p:nvPr/>
        </p:nvSpPr>
        <p:spPr>
          <a:xfrm>
            <a:off x="285750" y="1143000"/>
            <a:ext cx="8572500" cy="667512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b="1" dirty="0">
                <a:solidFill>
                  <a:srgbClr val="D32F2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Pergunta 1:</a:t>
            </a:r>
            <a:endParaRPr lang="en-US" sz="1620" dirty="0"/>
          </a:p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Qual caractere deve obrigatoriamente iniciar qualquer fórmula ou função no Excel?</a:t>
            </a:r>
            <a:endParaRPr lang="en-US" sz="1620" dirty="0"/>
          </a:p>
        </p:txBody>
      </p:sp>
      <p:sp>
        <p:nvSpPr>
          <p:cNvPr id="6" name="9a1dc1ea-7f53-48dc-ae4e-3d178aa35932"/>
          <p:cNvSpPr/>
          <p:nvPr/>
        </p:nvSpPr>
        <p:spPr>
          <a:xfrm>
            <a:off x="285750" y="2286000"/>
            <a:ext cx="8572500" cy="667512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b="1" dirty="0">
                <a:solidFill>
                  <a:srgbClr val="D32F2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Pergunta 2:</a:t>
            </a:r>
            <a:endParaRPr lang="en-US" sz="1620" dirty="0"/>
          </a:p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Para que serve o símbolo de cifrão ($) na referência $A$1?</a:t>
            </a:r>
            <a:endParaRPr lang="en-US" sz="1620" dirty="0"/>
          </a:p>
        </p:txBody>
      </p:sp>
      <p:sp>
        <p:nvSpPr>
          <p:cNvPr id="7" name="2bf094d9-7a20-49ad-9278-27639350e973"/>
          <p:cNvSpPr/>
          <p:nvPr/>
        </p:nvSpPr>
        <p:spPr>
          <a:xfrm>
            <a:off x="285750" y="3429000"/>
            <a:ext cx="8572500" cy="667512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b="1" dirty="0">
                <a:solidFill>
                  <a:srgbClr val="D32F2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Pergunta 3:</a:t>
            </a:r>
            <a:endParaRPr lang="en-US" sz="1620" dirty="0"/>
          </a:p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Qual é a principal diferença entre as funções CONT.VALORES e CONT.NUMEROS?</a:t>
            </a:r>
            <a:endParaRPr lang="en-US" sz="162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heme-logo-41" descr="/home/forge/chalkie-production-workers-3/releases/77481733/backend/storage/app/render-specs/2cc91f21-05c3-4444-9175-544f711574a6/img_67db2e6a5fb9230f9de86baa7e51a1c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59800" y="127000"/>
            <a:ext cx="457200" cy="457200"/>
          </a:xfrm>
          <a:prstGeom prst="rect">
            <a:avLst/>
          </a:prstGeom>
        </p:spPr>
      </p:pic>
      <p:sp>
        <p:nvSpPr>
          <p:cNvPr id="3" name="626c67a2-2e56-47a2-ac62-c5083d05bc4e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456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880" b="1" dirty="0">
                <a:solidFill>
                  <a:srgbClr val="00509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Revisão Final da Aula</a:t>
            </a:r>
            <a:endParaRPr lang="en-US" sz="2880" dirty="0"/>
          </a:p>
        </p:txBody>
      </p:sp>
      <p:sp>
        <p:nvSpPr>
          <p:cNvPr id="4" name="e41e375e-a558-4ba8-a0eb-ce0c5b807223"/>
          <p:cNvSpPr/>
          <p:nvPr/>
        </p:nvSpPr>
        <p:spPr>
          <a:xfrm>
            <a:off x="285750" y="1143000"/>
            <a:ext cx="8572500" cy="667512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b="1" dirty="0">
                <a:solidFill>
                  <a:srgbClr val="D32F2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Resposta 1:</a:t>
            </a:r>
            <a:endParaRPr lang="en-US" sz="1620" dirty="0"/>
          </a:p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sinal de igual (=).</a:t>
            </a:r>
            <a:endParaRPr lang="en-US" sz="1620" dirty="0"/>
          </a:p>
        </p:txBody>
      </p:sp>
      <p:sp>
        <p:nvSpPr>
          <p:cNvPr id="5" name="1a75e2a3-7388-49b6-b43d-b3b5443e54f4"/>
          <p:cNvSpPr/>
          <p:nvPr/>
        </p:nvSpPr>
        <p:spPr>
          <a:xfrm>
            <a:off x="285750" y="2286000"/>
            <a:ext cx="8572500" cy="955548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b="1" dirty="0">
                <a:solidFill>
                  <a:srgbClr val="D32F2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Resposta 2:</a:t>
            </a:r>
            <a:endParaRPr lang="en-US" sz="1620" dirty="0"/>
          </a:p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Para travar a célula como referência absoluta, impedindo que ela se altere ao ser copiada ou arrastada.</a:t>
            </a:r>
            <a:endParaRPr lang="en-US" sz="1620" dirty="0"/>
          </a:p>
        </p:txBody>
      </p:sp>
      <p:sp>
        <p:nvSpPr>
          <p:cNvPr id="6" name="d2c5de81-1663-44e3-bf4a-7a510359a718"/>
          <p:cNvSpPr/>
          <p:nvPr/>
        </p:nvSpPr>
        <p:spPr>
          <a:xfrm>
            <a:off x="285750" y="3429000"/>
            <a:ext cx="8572500" cy="955548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b="1" dirty="0">
                <a:solidFill>
                  <a:srgbClr val="D32F2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Resposta 3:</a:t>
            </a:r>
            <a:endParaRPr lang="en-US" sz="1620" dirty="0"/>
          </a:p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CONT.VALORES conta qualquer célula preenchida (texto ou número), enquanto CONT.NUMEROS conta apenas números.</a:t>
            </a:r>
            <a:endParaRPr lang="en-US" sz="1620" dirty="0"/>
          </a:p>
        </p:txBody>
      </p:sp>
      <p:sp>
        <p:nvSpPr>
          <p:cNvPr id="7" name="705897a5-cb15-48f1-81ac-98f9bdb8dc0e"/>
          <p:cNvSpPr/>
          <p:nvPr/>
        </p:nvSpPr>
        <p:spPr>
          <a:xfrm>
            <a:off x="8366760" y="342900"/>
            <a:ext cx="548640" cy="54864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r" indent="0" marL="0">
              <a:lnSpc>
                <a:spcPts val="4320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360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✅</a:t>
            </a:r>
            <a:endParaRPr lang="en-US" sz="3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41</Slides>
  <Notes>41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Excel Básico: Interface e Fórmulas</dc:title>
  <dc:subject>PptxGenJS Presentation</dc:subject>
  <dc:creator>PptxGenJS</dc:creator>
  <cp:lastModifiedBy>PptxGenJS</cp:lastModifiedBy>
  <cp:revision>1</cp:revision>
  <dcterms:created xsi:type="dcterms:W3CDTF">2026-09-11T10:48:07Z</dcterms:created>
  <dcterms:modified xsi:type="dcterms:W3CDTF">2026-09-11T10:48:07Z</dcterms:modified>
</cp:coreProperties>
</file>