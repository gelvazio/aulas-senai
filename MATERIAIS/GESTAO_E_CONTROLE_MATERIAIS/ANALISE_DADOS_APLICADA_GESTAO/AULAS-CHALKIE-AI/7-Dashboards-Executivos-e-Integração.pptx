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embeddedFontLst>
    <p:embeddedFont>
      <p:font typeface="Inter"/>
      <p:regular r:id="rId49"/>
      <p:bold r:id="rId50"/>
    </p:embeddedFont>
    <p:embeddedFont>
      <p:font typeface="Karla"/>
      <p:regular r:id="rId5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font" Target="fonts/font1.fntdata"/><Relationship Id="rId50" Type="http://schemas.openxmlformats.org/officeDocument/2006/relationships/font" Target="fonts/font2.fntdata"/><Relationship Id="rId5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7ONi0T63LJo" TargetMode="External"/><Relationship Id="rId1" Type="http://schemas.openxmlformats.org/officeDocument/2006/relationships/image" Target="../media/image-21-1.png"/><Relationship Id="rId2" Type="http://schemas.openxmlformats.org/officeDocument/2006/relationships/image" Target="../media/image-21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Relationship Id="rId6" Type="http://schemas.openxmlformats.org/officeDocument/2006/relationships/video" Target="https://www.youtube.com/embed/7ONi0T63LJo?feature=oembed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chalkie.ai/player/a2b70bdf-f707-41ee-9450-1f807b40a799/27ac8f4f-24ba-45f2-bbf9-d7d91c1f285a?source=exported_presentation&amp;exportFormat=powerpoint" TargetMode="External"/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chalkie.ai/player/a2b70bdf-f707-41ee-9450-1f807b40a799/27ac8f4f-24ba-45f2-bbf9-d7d91c1f285a?source=exported_presentation&amp;exportFormat=powerpoint" TargetMode="External"/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237c014f-e32f-4aaa-b6a6-c0dd463d0941" descr="/home/forge/chalkie-production-workers-3/releases/77481733/backend/storage/app/render-specs/78e748b9-7ba4-457b-81a3-e227de6af5d6/img_4659e634e62e1710e8296f692d05ea5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4" name="58a09478-8a2d-404c-b118-0dfcd26a07e2"/>
          <p:cNvSpPr/>
          <p:nvPr/>
        </p:nvSpPr>
        <p:spPr>
          <a:xfrm>
            <a:off x="4914900" y="1165860"/>
            <a:ext cx="382905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88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24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 Executivos e Integração</a:t>
            </a:r>
            <a:endParaRPr lang="en-US" sz="3240" dirty="0"/>
          </a:p>
        </p:txBody>
      </p:sp>
      <p:sp>
        <p:nvSpPr>
          <p:cNvPr id="5" name="bf24bb53-cf4a-4581-8a53-4f1616c5491c"/>
          <p:cNvSpPr/>
          <p:nvPr/>
        </p:nvSpPr>
        <p:spPr>
          <a:xfrm>
            <a:off x="4914900" y="2823210"/>
            <a:ext cx="382905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Aprenda a construir painéis interativos para tomada de decisão estratégica.</a:t>
            </a:r>
            <a:endParaRPr lang="en-US" sz="1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fa40cd5d-5272-4e11-9895-27d741fb91a3" descr="/home/forge/chalkie-production-workers-3/releases/77481733/backend/storage/app/render-specs/78e748b9-7ba4-457b-81a3-e227de6af5d6/img_05830b7bb5345aef87e4692f3e80ef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e261b316-8175-46b4-9ce7-52105d9aa4b2"/>
          <p:cNvSpPr/>
          <p:nvPr/>
        </p:nvSpPr>
        <p:spPr>
          <a:xfrm>
            <a:off x="285750" y="131445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Oceano de Dados</a:t>
            </a:r>
            <a:endParaRPr lang="en-US" sz="2880" dirty="0"/>
          </a:p>
        </p:txBody>
      </p:sp>
      <p:sp>
        <p:nvSpPr>
          <p:cNvPr id="5" name="08679801-727c-4361-821c-49058441c942"/>
          <p:cNvSpPr/>
          <p:nvPr/>
        </p:nvSpPr>
        <p:spPr>
          <a:xfrm>
            <a:off x="285750" y="1931670"/>
            <a:ext cx="51435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Imagine entrar em uma reunião com mais de cinquenta mil linhas de planilha abertas na tela. Os diretores têm exatamente três minutos para tomar uma decisão crucial sobre o estoque. Como você mostraria o caminho certo sem deixá-los perdidos em um labirinto numérico?</a:t>
            </a:r>
            <a:endParaRPr lang="en-US" sz="1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ae42ba2a-4cca-4f1a-b3e6-7bcdafa08782" descr="/home/forge/chalkie-production-workers-3/releases/77481733/backend/storage/app/render-specs/78e748b9-7ba4-457b-81a3-e227de6af5d6/img_fb4f9c0650fb1569a3d2ccefa9c7e2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79e8cd6a-90a8-4082-a455-1b19eb33623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 da Aula de Hoje</a:t>
            </a:r>
            <a:endParaRPr lang="en-US" sz="2880" dirty="0"/>
          </a:p>
        </p:txBody>
      </p:sp>
      <p:sp>
        <p:nvSpPr>
          <p:cNvPr id="5" name="e50e1653-f0a0-49a8-b96f-e152868b729d"/>
          <p:cNvSpPr/>
          <p:nvPr/>
        </p:nvSpPr>
        <p:spPr>
          <a:xfrm>
            <a:off x="285750" y="857250"/>
            <a:ext cx="102870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</a:t>
            </a:r>
            <a:endParaRPr lang="en-US" sz="1080" dirty="0"/>
          </a:p>
        </p:txBody>
      </p:sp>
      <p:sp>
        <p:nvSpPr>
          <p:cNvPr id="6" name="81e670f0-717d-4d63-bb6b-2e7d22300df6"/>
          <p:cNvSpPr/>
          <p:nvPr/>
        </p:nvSpPr>
        <p:spPr>
          <a:xfrm>
            <a:off x="285750" y="116586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Metas de Aprendizagem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Nesta última aula do nosso módulo, você vai desenvolver três competências essenciais: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Estruturar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painéis visuais com hierarquia e indicadores-chave (KPIs).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Integrar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múltiplos relatórios dinâmicos usando segmentadores de dados.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Apresentar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insights analíticos claros para uma banca executiva.</a:t>
            </a:r>
            <a:endParaRPr lang="en-US" sz="1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36a1d441-08ff-4f08-b662-9550ff3756fe" descr="/home/forge/chalkie-production-workers-3/releases/77481733/backend/storage/app/render-specs/78e748b9-7ba4-457b-81a3-e227de6af5d6/img_9686a2d10dc5d0c1312345dd772edf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1137904f-54dd-4fe2-95d7-e7d3fabc1d8f" descr="/home/forge/chalkie-production-workers-3/releases/77481733/backend/storage/app/render-specs/78e748b9-7ba4-457b-81a3-e227de6af5d6/img_481d96e850bfffbfb9f22ef50caaa0b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8a33d4b5-6840-4d17-995c-f7cade1b2052" descr="/home/forge/chalkie-production-workers-3/releases/77481733/backend/storage/app/render-specs/78e748b9-7ba4-457b-81a3-e227de6af5d6/img_b0220035127438b3b4daa0ce05d6352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6" name="8084981f-1a42-448a-a7ac-6165890a5223" descr="/home/forge/chalkie-production-workers-3/releases/77481733/backend/storage/app/render-specs/78e748b9-7ba4-457b-81a3-e227de6af5d6/img_47157a1bf234121cd66771e211795e4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469dd3a1-e569-4060-ada5-dd5329ca1ed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Vocabulário Fundamental da Gestão</a:t>
            </a:r>
            <a:endParaRPr lang="en-US" sz="2880" dirty="0"/>
          </a:p>
        </p:txBody>
      </p:sp>
      <p:sp>
        <p:nvSpPr>
          <p:cNvPr id="8" name="b97c25f0-77fd-415e-929e-ee510def630d"/>
          <p:cNvSpPr/>
          <p:nvPr/>
        </p:nvSpPr>
        <p:spPr>
          <a:xfrm>
            <a:off x="285750" y="341757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Painel visual unificado que consolida métricas essenciais em tela única.</a:t>
            </a:r>
            <a:endParaRPr lang="en-US" sz="1620" dirty="0"/>
          </a:p>
        </p:txBody>
      </p:sp>
      <p:sp>
        <p:nvSpPr>
          <p:cNvPr id="9" name="6811602f-4aea-4738-ba37-953aee1212ee"/>
          <p:cNvSpPr/>
          <p:nvPr/>
        </p:nvSpPr>
        <p:spPr>
          <a:xfrm>
            <a:off x="2491740" y="273177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 (KPI)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Métrica quantitativa usada para medir o sucesso de metas estratégicas.</a:t>
            </a:r>
            <a:endParaRPr lang="en-US" sz="1620" dirty="0"/>
          </a:p>
        </p:txBody>
      </p:sp>
      <p:sp>
        <p:nvSpPr>
          <p:cNvPr id="10" name="c04bc7a8-590a-4e37-a988-29caa3e5ae22"/>
          <p:cNvSpPr/>
          <p:nvPr/>
        </p:nvSpPr>
        <p:spPr>
          <a:xfrm>
            <a:off x="4686300" y="341757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Interatividade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Capacidade do usuário filtrar e explorar dados com controles visuais.</a:t>
            </a:r>
            <a:endParaRPr lang="en-US" sz="1620" dirty="0"/>
          </a:p>
        </p:txBody>
      </p:sp>
      <p:sp>
        <p:nvSpPr>
          <p:cNvPr id="11" name="cc3e9b7e-dae0-42b6-8390-deaed0447d42"/>
          <p:cNvSpPr/>
          <p:nvPr/>
        </p:nvSpPr>
        <p:spPr>
          <a:xfrm>
            <a:off x="6892290" y="273177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Organização espacial e hierárquica de elementos gráficos e informativos.</a:t>
            </a:r>
            <a:endParaRPr lang="en-US" sz="1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5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a71ed266-d85b-42bd-a48f-f1e207f2d5c5" descr="/home/forge/chalkie-production-workers-3/releases/77481733/backend/storage/app/render-specs/78e748b9-7ba4-457b-81a3-e227de6af5d6/img_a553c0ebdb90679eb28e090f8ee892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313324c2-d422-4e8c-ab7c-2f61fb588d8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Aprendemos na Aula Passada?</a:t>
            </a:r>
            <a:endParaRPr lang="en-US" sz="2880" dirty="0"/>
          </a:p>
        </p:txBody>
      </p:sp>
      <p:sp>
        <p:nvSpPr>
          <p:cNvPr id="5" name="2f5e9a9d-958e-4f91-a512-5925bc5084b7"/>
          <p:cNvSpPr/>
          <p:nvPr/>
        </p:nvSpPr>
        <p:spPr>
          <a:xfrm>
            <a:off x="4286250" y="857250"/>
            <a:ext cx="141732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RECAPITULAÇÃO</a:t>
            </a:r>
            <a:endParaRPr lang="en-US" sz="1080" dirty="0"/>
          </a:p>
        </p:txBody>
      </p:sp>
      <p:sp>
        <p:nvSpPr>
          <p:cNvPr id="6" name="4877492d-7fdc-4545-89ff-5ff922886e65"/>
          <p:cNvSpPr/>
          <p:nvPr/>
        </p:nvSpPr>
        <p:spPr>
          <a:xfrm>
            <a:off x="4286250" y="116586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Tabelas e Gráficos Dinâmicos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aula anterior, transformamos dados brutos em inteligência gerencial: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Agrupamos transações em 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Tabelas Dinâmicas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sem precisar digitar fórmulas.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Construímos 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Gráficos Dinâmicos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associados diretamente às tabelas calculadas.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Descobrimos que alterar um filtro recalcula instantaneamente toda a síntese.</a:t>
            </a:r>
            <a:endParaRPr lang="en-US" sz="1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6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7fc96201-fc72-48f3-91a0-becee7b57eab" descr="/home/forge/chalkie-production-workers-3/releases/77481733/backend/storage/app/render-specs/78e748b9-7ba4-457b-81a3-e227de6af5d6/img_74db676abbf9321227487417a15623c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490" y="-91440"/>
            <a:ext cx="18288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4" name="daaa3c3a-26b6-4eaa-85ac-a7136667489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Quiz: Tabelas e Gráficos Dinâmicos</a:t>
            </a:r>
            <a:endParaRPr lang="en-US" sz="2880" dirty="0"/>
          </a:p>
        </p:txBody>
      </p:sp>
      <p:sp>
        <p:nvSpPr>
          <p:cNvPr id="5" name="37b12fbd-7493-47f3-b3ed-33ccf2b863ea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1: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é a principal função de uma Tabela Dinâmica no Excel?</a:t>
            </a:r>
            <a:endParaRPr lang="en-US" sz="1620" dirty="0"/>
          </a:p>
        </p:txBody>
      </p:sp>
      <p:sp>
        <p:nvSpPr>
          <p:cNvPr id="6" name="14c161e5-4bc2-4c36-b101-bb53f6aa18f1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2: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acontece com um Gráfico Dinâmico quando você filtra a Tabela Dinâmica de origem?</a:t>
            </a:r>
            <a:endParaRPr lang="en-US" sz="1620" dirty="0"/>
          </a:p>
        </p:txBody>
      </p:sp>
      <p:sp>
        <p:nvSpPr>
          <p:cNvPr id="7" name="dec5e16f-8f7c-49a5-b08b-6e202217f7d3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3: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não devemos desenhar gráficos diretamente sobre bases de dados brutas e desorganizadas?</a:t>
            </a:r>
            <a:endParaRPr lang="en-US" sz="1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7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daaa3c3a-26b6-4eaa-85ac-a7136667489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Quiz: Tabelas e Gráficos Dinâmicos</a:t>
            </a:r>
            <a:endParaRPr lang="en-US" sz="2880" dirty="0"/>
          </a:p>
        </p:txBody>
      </p:sp>
      <p:sp>
        <p:nvSpPr>
          <p:cNvPr id="4" name="1e202ec1-3495-4b42-a6e8-8ceba2875c1c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1: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Resumir, agrupar e analisar grandes volumes de dados brutos rapidamente sem fórmulas manuais.</a:t>
            </a:r>
            <a:endParaRPr lang="en-US" sz="1620" dirty="0"/>
          </a:p>
        </p:txBody>
      </p:sp>
      <p:sp>
        <p:nvSpPr>
          <p:cNvPr id="5" name="9a2445d5-6335-419a-805f-eee7cf1329f3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2: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gráfico se atualiza automaticamente, refletindo apenas os dados filtrados na tabela.</a:t>
            </a:r>
            <a:endParaRPr lang="en-US" sz="1620" dirty="0"/>
          </a:p>
        </p:txBody>
      </p:sp>
      <p:sp>
        <p:nvSpPr>
          <p:cNvPr id="6" name="6b94652b-590d-4d60-b2ab-3b0cb77b9f15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3: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Porque bases brutas contêm linhas duplicadas e detalhes excessivos que poluem e distorcem a leitura visual.</a:t>
            </a:r>
            <a:endParaRPr lang="en-US" sz="1620" dirty="0"/>
          </a:p>
        </p:txBody>
      </p:sp>
      <p:sp>
        <p:nvSpPr>
          <p:cNvPr id="7" name="807810fd-17cf-4ab0-8570-1a34bb39116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8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1d2946f9-5bcc-429b-8dc2-c6da598dae20" descr="/home/forge/chalkie-production-workers-3/releases/77481733/backend/storage/app/render-specs/78e748b9-7ba4-457b-81a3-e227de6af5d6/img_0b2460fcd2082fd61fa0b95a95a414c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f940b2e4-ffd0-4127-a445-a5bf867849d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É um Dashboard Executivo?</a:t>
            </a:r>
            <a:endParaRPr lang="en-US" sz="2880" dirty="0"/>
          </a:p>
        </p:txBody>
      </p:sp>
      <p:sp>
        <p:nvSpPr>
          <p:cNvPr id="5" name="04512025-9b37-4077-b49f-12037d69b618"/>
          <p:cNvSpPr/>
          <p:nvPr/>
        </p:nvSpPr>
        <p:spPr>
          <a:xfrm>
            <a:off x="285750" y="857250"/>
            <a:ext cx="102870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</a:t>
            </a:r>
            <a:endParaRPr lang="en-US" sz="1080" dirty="0"/>
          </a:p>
        </p:txBody>
      </p:sp>
      <p:sp>
        <p:nvSpPr>
          <p:cNvPr id="6" name="07dc4907-8fe3-4f2d-be4c-e5dc9f6375f3"/>
          <p:cNvSpPr/>
          <p:nvPr/>
        </p:nvSpPr>
        <p:spPr>
          <a:xfrm>
            <a:off x="285750" y="1165860"/>
            <a:ext cx="45720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Janela Estratégica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é um painel que centraliza dados críticos. Substitui planilhas complexas, permitindo à liderança avaliar a saúde da operação e decidir rapidamente.</a:t>
            </a:r>
            <a:endParaRPr lang="en-US" sz="1980" dirty="0"/>
          </a:p>
        </p:txBody>
      </p:sp>
      <p:sp>
        <p:nvSpPr>
          <p:cNvPr id="7" name="2f222759-9a32-4d4e-a969-5fe33712946a_card"/>
          <p:cNvSpPr/>
          <p:nvPr/>
        </p:nvSpPr>
        <p:spPr>
          <a:xfrm>
            <a:off x="285750" y="282321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8" name="2f222759-9a32-4d4e-a969-5fe33712946a_emoji"/>
          <p:cNvSpPr/>
          <p:nvPr/>
        </p:nvSpPr>
        <p:spPr>
          <a:xfrm>
            <a:off x="400050" y="29718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9" name="2f222759-9a32-4d4e-a969-5fe33712946a_text"/>
          <p:cNvSpPr/>
          <p:nvPr/>
        </p:nvSpPr>
        <p:spPr>
          <a:xfrm>
            <a:off x="765810" y="293751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 eficientes priorizam clareza: menos poluição, foco total na decisão.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9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7da93061-229e-49ce-b9b8-78e71880f83f" descr="/home/forge/chalkie-production-workers-3/releases/77481733/backend/storage/app/render-specs/78e748b9-7ba4-457b-81a3-e227de6af5d6/img_341e28bf2154f2283f4fda904e32eee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432a4bb8-80ff-436d-b1fa-967a82d4f689" descr="/home/forge/chalkie-production-workers-3/releases/77481733/backend/storage/app/render-specs/78e748b9-7ba4-457b-81a3-e227de6af5d6/img_1a42640f642f1d88de8d595e15fc0df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75f8a0b6-d637-4906-a1fd-7df2dcb8e04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Planilha Tradicional vs Dashboard</a:t>
            </a:r>
            <a:endParaRPr lang="en-US" sz="2880" dirty="0"/>
          </a:p>
        </p:txBody>
      </p:sp>
      <p:sp>
        <p:nvSpPr>
          <p:cNvPr id="6" name="9b2ca7eb-3502-483b-8c97-c85f58c4901b"/>
          <p:cNvSpPr/>
          <p:nvPr/>
        </p:nvSpPr>
        <p:spPr>
          <a:xfrm>
            <a:off x="285750" y="298323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Planilha de Dados Brutos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 milhares de transações.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Exige leitura lenta e cálculos extras.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para auditoria e arquivo.</a:t>
            </a:r>
            <a:endParaRPr lang="en-US" sz="1980" dirty="0"/>
          </a:p>
        </p:txBody>
      </p:sp>
      <p:sp>
        <p:nvSpPr>
          <p:cNvPr id="7" name="3d787773-6d15-40f0-ae43-4f8a4162d68a"/>
          <p:cNvSpPr/>
          <p:nvPr/>
        </p:nvSpPr>
        <p:spPr>
          <a:xfrm>
            <a:off x="4652010" y="298323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Executivo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Sintetiza dados em indicadores visuais.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diagnóstico em segundos.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para reuniões estratégicas.</a:t>
            </a:r>
            <a:endParaRPr lang="en-US" sz="1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0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de1041d4-ca78-4a71-a79f-5798d7bd6c49" descr="/home/forge/chalkie-production-workers-3/releases/77481733/backend/storage/app/render-specs/78e748b9-7ba4-457b-81a3-e227de6af5d6/img_294c155448999331a3cdf928930be7a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abd763d3-051f-4de6-a1e7-ffccdcb7550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Papel na Decisão Estratégica</a:t>
            </a:r>
            <a:endParaRPr lang="en-US" sz="2880" dirty="0"/>
          </a:p>
        </p:txBody>
      </p:sp>
      <p:sp>
        <p:nvSpPr>
          <p:cNvPr id="5" name="0538c021-866d-4459-a567-2173ad78e261"/>
          <p:cNvSpPr/>
          <p:nvPr/>
        </p:nvSpPr>
        <p:spPr>
          <a:xfrm>
            <a:off x="4286250" y="857250"/>
            <a:ext cx="102870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</a:t>
            </a:r>
            <a:endParaRPr lang="en-US" sz="1080" dirty="0"/>
          </a:p>
        </p:txBody>
      </p:sp>
      <p:sp>
        <p:nvSpPr>
          <p:cNvPr id="6" name="dbc81fb0-7761-47ce-8416-213b3fdb96e1"/>
          <p:cNvSpPr/>
          <p:nvPr/>
        </p:nvSpPr>
        <p:spPr>
          <a:xfrm>
            <a:off x="4286250" y="1165860"/>
            <a:ext cx="45720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Rápido e Preciso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os números estão integrados visualmente, os gestores conseguem responder perguntas decisivas com agilidade: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filial teve a maior queda de margem neste trimestre?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estoque atual suportará o aumento de demanda previsto?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produto atingiu 100% da meta de vendas antes do prazo?</a:t>
            </a:r>
            <a:endParaRPr lang="en-US" sz="1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1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e99a88cf-c07a-451a-8f7e-5f0c35bf7475" descr="/home/forge/chalkie-production-workers-3/releases/77481733/backend/storage/app/render-specs/78e748b9-7ba4-457b-81a3-e227de6af5d6/img_d1d5e95ee8eebb290fde6f6805764f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88770"/>
            <a:ext cx="85725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ee9aa3ba-f215-404e-8c16-fda7ba71cda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Hierarquia Visual: A Regra de Ouro</a:t>
            </a:r>
            <a:endParaRPr lang="en-US" sz="2880" dirty="0"/>
          </a:p>
        </p:txBody>
      </p:sp>
      <p:sp>
        <p:nvSpPr>
          <p:cNvPr id="5" name="75d0904b-38ac-4e5e-9436-0c911a85775b"/>
          <p:cNvSpPr/>
          <p:nvPr/>
        </p:nvSpPr>
        <p:spPr>
          <a:xfrm>
            <a:off x="285750" y="78867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Olhos seguem padrões. Estruture seu painel pela ordem de importância dos dados.</a:t>
            </a:r>
            <a:endParaRPr lang="en-US" sz="1620" dirty="0"/>
          </a:p>
        </p:txBody>
      </p:sp>
      <p:sp>
        <p:nvSpPr>
          <p:cNvPr id="6" name="1f964a98-cb4f-43d7-85b0-913cad45b4c8_card"/>
          <p:cNvSpPr/>
          <p:nvPr/>
        </p:nvSpPr>
        <p:spPr>
          <a:xfrm>
            <a:off x="285750" y="3783330"/>
            <a:ext cx="85725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1f964a98-cb4f-43d7-85b0-913cad45b4c8_emoji"/>
          <p:cNvSpPr/>
          <p:nvPr/>
        </p:nvSpPr>
        <p:spPr>
          <a:xfrm>
            <a:off x="400050" y="39319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1f964a98-cb4f-43d7-85b0-913cad45b4c8_text"/>
          <p:cNvSpPr/>
          <p:nvPr/>
        </p:nvSpPr>
        <p:spPr>
          <a:xfrm>
            <a:off x="765810" y="3897630"/>
            <a:ext cx="79781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Destaque o principal no canto superior esquerdo: onde executivos olham primeiro.</a:t>
            </a:r>
            <a:endParaRPr lang="en-US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2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c6c217fe-adfb-4fae-b370-11a13f925bce" descr="/home/forge/chalkie-production-workers-3/releases/77481733/backend/storage/app/render-specs/78e748b9-7ba4-457b-81a3-e227de6af5d6/img_24efa8863e7b74f05f625121a6b8b86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25f25e93-51fe-4131-83d3-1034479960b6" descr="/home/forge/chalkie-production-workers-3/releases/77481733/backend/storage/app/render-specs/78e748b9-7ba4-457b-81a3-e227de6af5d6/img_8a6e245e4958ca2003021e8b084de98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d2733f3e-e258-424f-83f1-5d05bae861da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Psicologia das Cores em Negócios</a:t>
            </a:r>
            <a:endParaRPr lang="en-US" sz="2880" dirty="0"/>
          </a:p>
        </p:txBody>
      </p:sp>
      <p:sp>
        <p:nvSpPr>
          <p:cNvPr id="6" name="9c04d481-890d-408d-8767-0c2bb47c57fd"/>
          <p:cNvSpPr/>
          <p:nvPr/>
        </p:nvSpPr>
        <p:spPr>
          <a:xfrm>
            <a:off x="285750" y="30175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Tons Neutros e Foco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cinza, azul-marinho e branco para 80% do painel. Eles constroem a base e reduzem o cansaço visual.</a:t>
            </a:r>
            <a:endParaRPr lang="en-US" sz="1980" dirty="0"/>
          </a:p>
        </p:txBody>
      </p:sp>
      <p:sp>
        <p:nvSpPr>
          <p:cNvPr id="7" name="e7b70d57-5e8c-4d48-ad3c-8bc4f521d7a9"/>
          <p:cNvSpPr/>
          <p:nvPr/>
        </p:nvSpPr>
        <p:spPr>
          <a:xfrm>
            <a:off x="4652010" y="30175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Cores Semânticas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 verde para metas batidas e vermelho para alertas críticos. Nunca use cores fortes apenas para enfeitar.</a:t>
            </a:r>
            <a:endParaRPr lang="en-US" sz="1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3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4db960d6-2a12-4db7-afbf-dce79cc915fb" descr="/home/forge/chalkie-production-workers-3/releases/77481733/backend/storage/app/render-specs/78e748b9-7ba4-457b-81a3-e227de6af5d6/img_2415fd82c4f0cf13a9373d8db507d6f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07765ed3-63d7-4e99-b0ce-324f416c0a5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Evitando Poluição Visual no Painel</a:t>
            </a:r>
            <a:endParaRPr lang="en-US" sz="2880" dirty="0"/>
          </a:p>
        </p:txBody>
      </p:sp>
      <p:sp>
        <p:nvSpPr>
          <p:cNvPr id="5" name="c4aeb4fd-08e4-4f7c-a356-a2926bb42bda"/>
          <p:cNvSpPr/>
          <p:nvPr/>
        </p:nvSpPr>
        <p:spPr>
          <a:xfrm>
            <a:off x="285750" y="857250"/>
            <a:ext cx="102870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</a:t>
            </a:r>
            <a:endParaRPr lang="en-US" sz="1080" dirty="0"/>
          </a:p>
        </p:txBody>
      </p:sp>
      <p:sp>
        <p:nvSpPr>
          <p:cNvPr id="6" name="f60dce85-deea-4111-8d58-7553ec6f641e"/>
          <p:cNvSpPr/>
          <p:nvPr/>
        </p:nvSpPr>
        <p:spPr>
          <a:xfrm>
            <a:off x="285750" y="116586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Princípio do Minimalismo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é mais quando tratamos de análise de dados executiva: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Remova bordas pesadas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linhas de grade desnecessárias dos gráficos.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Evite efeitos 3D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sombras exageradas e fundos coloridos escuros.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Deixe espaço em branco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que os olhos dos diretores descansem.</a:t>
            </a:r>
            <a:endParaRPr lang="en-US" sz="1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4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ed1ccd02-2517-4afd-b043-389a0014606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Cores e Estética em Dashboards</a:t>
            </a:r>
            <a:endParaRPr lang="en-US" sz="2880" dirty="0"/>
          </a:p>
        </p:txBody>
      </p:sp>
      <p:sp>
        <p:nvSpPr>
          <p:cNvPr id="4" name="6a3e4f8e-394b-482c-9e94-8fa0bca247af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5" name="6a3e4f8e-394b-482c-9e94-8fa0bca247af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dashboard eficaz deve utilizar o maior número possível de cores vibrantes para chamar a atenção da diretoria em cada gráfico.</a:t>
            </a:r>
            <a:endParaRPr lang="en-US" sz="1620" dirty="0"/>
          </a:p>
        </p:txBody>
      </p:sp>
      <p:sp>
        <p:nvSpPr>
          <p:cNvPr id="6" name="439dfda1-f535-45da-8dd4-096f2e66f799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👍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VERDADEIRO</a:t>
            </a:r>
            <a:endParaRPr lang="en-US" sz="2340" dirty="0"/>
          </a:p>
        </p:txBody>
      </p:sp>
      <p:sp>
        <p:nvSpPr>
          <p:cNvPr id="7" name="5ccbbef2-0562-4f80-9e9d-591dcdcc31f3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👎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FALSO</a:t>
            </a:r>
            <a:endParaRPr lang="en-US" sz="2340" dirty="0"/>
          </a:p>
        </p:txBody>
      </p:sp>
      <p:sp>
        <p:nvSpPr>
          <p:cNvPr id="8" name="cef78cd9-7a0d-4376-a95a-33fc24e0f9d1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🤔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i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Prepare-se para explicar o seu raciocínio.</a:t>
            </a:r>
            <a:endParaRPr lang="en-US" sz="1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5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ed1ccd02-2517-4afd-b043-389a0014606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Cores e Estética em Dashboards</a:t>
            </a:r>
            <a:endParaRPr lang="en-US" sz="2880" dirty="0"/>
          </a:p>
        </p:txBody>
      </p:sp>
      <p:sp>
        <p:nvSpPr>
          <p:cNvPr id="4" name="6a3e4f8e-394b-482c-9e94-8fa0bca247af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5" name="6a3e4f8e-394b-482c-9e94-8fa0bca247af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dashboard eficaz deve utilizar o maior número possível de cores vibrantes para chamar a atenção da diretoria em cada gráfico.</a:t>
            </a:r>
            <a:endParaRPr lang="en-US" sz="1620" dirty="0"/>
          </a:p>
        </p:txBody>
      </p:sp>
      <p:sp>
        <p:nvSpPr>
          <p:cNvPr id="6" name="439dfda1-f535-45da-8dd4-096f2e66f799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👍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VERDADEIRO</a:t>
            </a:r>
            <a:endParaRPr lang="en-US" sz="2340" dirty="0"/>
          </a:p>
        </p:txBody>
      </p:sp>
      <p:sp>
        <p:nvSpPr>
          <p:cNvPr id="7" name="5ccbbef2-0562-4f80-9e9d-591dcdcc31f3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👎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FALSO</a:t>
            </a:r>
            <a:endParaRPr lang="en-US" sz="2340" dirty="0"/>
          </a:p>
        </p:txBody>
      </p:sp>
      <p:sp>
        <p:nvSpPr>
          <p:cNvPr id="8" name="03d51a46-fceb-4e03-a8fd-4a144fe402ca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9" name="1ca5b49c-fefa-416e-9e96-5e0d971a2666_card"/>
          <p:cNvSpPr/>
          <p:nvPr/>
        </p:nvSpPr>
        <p:spPr>
          <a:xfrm>
            <a:off x="457200" y="3657600"/>
            <a:ext cx="82296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10" name="1ca5b49c-fefa-416e-9e96-5e0d971a2666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1" name="1ca5b49c-fefa-416e-9e96-5e0d971a2666_text"/>
          <p:cNvSpPr/>
          <p:nvPr/>
        </p:nvSpPr>
        <p:spPr>
          <a:xfrm>
            <a:off x="937260" y="3771900"/>
            <a:ext cx="76352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é isso?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excesso de cores sobrecarrega a visão e cores semânticas como vermelho e verde devem ser reservadas para alertas específicos.</a:t>
            </a:r>
            <a:endParaRPr lang="en-US" sz="1440" dirty="0"/>
          </a:p>
        </p:txBody>
      </p:sp>
      <p:sp>
        <p:nvSpPr>
          <p:cNvPr id="12" name="908306f2-c8dd-4d91-9d8d-14ea6e12c2c9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6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b4094447-4dda-4f87-ab2d-b7f965fb5720" descr="/home/forge/chalkie-production-workers-3/releases/77481733/backend/storage/app/render-specs/78e748b9-7ba4-457b-81a3-e227de6af5d6/img_1acfc458b1331667a728614538e61e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5edb30ba-07da-4e59-b2e5-d11e1328090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São Indicadores-Chave (KPIs)?</a:t>
            </a:r>
            <a:endParaRPr lang="en-US" sz="2880" dirty="0"/>
          </a:p>
        </p:txBody>
      </p:sp>
      <p:sp>
        <p:nvSpPr>
          <p:cNvPr id="5" name="28c41367-6b5b-4546-8803-a5d220a2b9e1"/>
          <p:cNvSpPr/>
          <p:nvPr/>
        </p:nvSpPr>
        <p:spPr>
          <a:xfrm>
            <a:off x="4286250" y="857250"/>
            <a:ext cx="102870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</a:t>
            </a:r>
            <a:endParaRPr lang="en-US" sz="1080" dirty="0"/>
          </a:p>
        </p:txBody>
      </p:sp>
      <p:sp>
        <p:nvSpPr>
          <p:cNvPr id="6" name="eafe79ae-f0dd-4e9b-98d4-cdde3dbb920c"/>
          <p:cNvSpPr/>
          <p:nvPr/>
        </p:nvSpPr>
        <p:spPr>
          <a:xfrm>
            <a:off x="4286250" y="1165860"/>
            <a:ext cx="45720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Performance Indicators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 são métricas quantificáveis que refletem o desempenho dos objetivos centrais da organização: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Faturamento Total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soma financeira de vendas realizadas.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 Médio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valor médio gasto por cliente em cada compra.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Margem de Lucro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porcentagem que sobra após abater os custos operacionais.</a:t>
            </a:r>
            <a:endParaRPr lang="en-US" sz="19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7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8c1b2047-6f42-4693-b39a-5f212747d55d" descr="/home/forge/chalkie-production-workers-3/releases/77481733/backend/storage/app/render-specs/78e748b9-7ba4-457b-81a3-e227de6af5d6/img_9073f4b950b30956d4dddeec873f6c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08760"/>
            <a:ext cx="85725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be45caf2-dc1a-455a-b34c-eb01686d210e"/>
          <p:cNvSpPr/>
          <p:nvPr/>
        </p:nvSpPr>
        <p:spPr>
          <a:xfrm>
            <a:off x="285750" y="34290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Anatomia de um Card de KPI Perfeito</a:t>
            </a:r>
            <a:endParaRPr lang="en-US" sz="2880" dirty="0"/>
          </a:p>
        </p:txBody>
      </p:sp>
      <p:sp>
        <p:nvSpPr>
          <p:cNvPr id="5" name="2cf58539-0435-4e56-84ae-8758805d1162"/>
          <p:cNvSpPr/>
          <p:nvPr/>
        </p:nvSpPr>
        <p:spPr>
          <a:xfrm>
            <a:off x="285750" y="96012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card de KPI exibe a métrica, o valor atual e se houve melhora ou piora.</a:t>
            </a:r>
            <a:endParaRPr lang="en-US" sz="1620" dirty="0"/>
          </a:p>
        </p:txBody>
      </p:sp>
      <p:sp>
        <p:nvSpPr>
          <p:cNvPr id="6" name="ecc3063b-739e-4c7b-830a-59b0783d55ee_card"/>
          <p:cNvSpPr/>
          <p:nvPr/>
        </p:nvSpPr>
        <p:spPr>
          <a:xfrm>
            <a:off x="285750" y="3703320"/>
            <a:ext cx="8572500" cy="854964"/>
          </a:xfrm>
          <a:prstGeom prst="roundRect">
            <a:avLst>
              <a:gd name="adj" fmla="val 10695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ecc3063b-739e-4c7b-830a-59b0783d55ee_emoji"/>
          <p:cNvSpPr/>
          <p:nvPr/>
        </p:nvSpPr>
        <p:spPr>
          <a:xfrm>
            <a:off x="400050" y="38519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ecc3063b-739e-4c7b-830a-59b0783d55ee_text"/>
          <p:cNvSpPr/>
          <p:nvPr/>
        </p:nvSpPr>
        <p:spPr>
          <a:xfrm>
            <a:off x="765810" y="3817620"/>
            <a:ext cx="797814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Destaque o valor consolidado em tamanho grande com a unidade correta.</a:t>
            </a:r>
            <a:endParaRPr lang="en-US" sz="14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8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3765fbf4-20da-4bb9-9590-509903a14002" descr="/home/forge/chalkie-production-workers-3/releases/77481733/backend/storage/app/render-specs/78e748b9-7ba4-457b-81a3-e227de6af5d6/img_8fce3002942ddfe54bc09394d7614d6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d03a0362-8906-47ce-8204-88cba48d6aa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Calculando KPIs com Tabelas Dinâmicas</a:t>
            </a:r>
            <a:endParaRPr lang="en-US" sz="2880" dirty="0"/>
          </a:p>
        </p:txBody>
      </p:sp>
      <p:sp>
        <p:nvSpPr>
          <p:cNvPr id="5" name="66ff11e1-5aab-4cd9-9230-2da6742951c9"/>
          <p:cNvSpPr/>
          <p:nvPr/>
        </p:nvSpPr>
        <p:spPr>
          <a:xfrm>
            <a:off x="285750" y="857250"/>
            <a:ext cx="102870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</a:t>
            </a:r>
            <a:endParaRPr lang="en-US" sz="1080" dirty="0"/>
          </a:p>
        </p:txBody>
      </p:sp>
      <p:sp>
        <p:nvSpPr>
          <p:cNvPr id="6" name="eea7c7dd-8779-46be-b5e4-49f1842b59c8"/>
          <p:cNvSpPr/>
          <p:nvPr/>
        </p:nvSpPr>
        <p:spPr>
          <a:xfrm>
            <a:off x="285750" y="1165860"/>
            <a:ext cx="45720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Motor por Trás do Número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que o card exiba o valor exato, utilizamos uma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Dinâmica de apoio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escondida em outra aba da planilha: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Inserimos o campo de valor na área de 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(como Soma ou Média).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Vinculamos o texto da caixa gráfica à célula calculada usando a fórmula 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a base é filtrada, a célula atualiza e o card reflete a nova soma instantaneamente.</a:t>
            </a:r>
            <a:endParaRPr lang="en-US" sz="19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9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cedeac86-4a2b-4bb5-85d1-9af2d773a40a" descr="/home/forge/chalkie-production-workers-3/releases/77481733/backend/storage/app/render-specs/78e748b9-7ba4-457b-81a3-e227de6af5d6/img_e55ecfe6702459449ae20917630e639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14400"/>
            <a:ext cx="8572500" cy="2343150"/>
          </a:xfrm>
          <a:prstGeom prst="roundRect">
            <a:avLst>
              <a:gd name="adj" fmla="val 5854"/>
            </a:avLst>
          </a:prstGeom>
        </p:spPr>
      </p:pic>
      <p:sp>
        <p:nvSpPr>
          <p:cNvPr id="4" name="d85cc8b6-eaf6-4d26-a858-92be2604f53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Conceitos Essenciais de KPIs</a:t>
            </a:r>
            <a:endParaRPr lang="en-US" sz="2880" dirty="0"/>
          </a:p>
        </p:txBody>
      </p:sp>
      <p:sp>
        <p:nvSpPr>
          <p:cNvPr id="5" name="b36e62ed-7fb3-40cd-9176-846a90e180b9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card executivo deve exibir o indicador com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____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destacado, contextualizado por uma meta ou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____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indicar a direção do desempenho da empresa.</a:t>
            </a:r>
            <a:endParaRPr lang="en-US" sz="1620" dirty="0"/>
          </a:p>
        </p:txBody>
      </p:sp>
      <p:sp>
        <p:nvSpPr>
          <p:cNvPr id="6" name="51c2fd7f-2807-4201-9fb7-5d4447043415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de palavras 🏦</a:t>
            </a:r>
            <a:endParaRPr lang="en-US" sz="1620" dirty="0"/>
          </a:p>
        </p:txBody>
      </p:sp>
      <p:sp>
        <p:nvSpPr>
          <p:cNvPr id="7" name="c57ae7ae-0e6c-4ec5-985b-b909429ed559"/>
          <p:cNvSpPr/>
          <p:nvPr/>
        </p:nvSpPr>
        <p:spPr>
          <a:xfrm>
            <a:off x="285750" y="3771900"/>
            <a:ext cx="104013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</a:t>
            </a:r>
            <a:endParaRPr lang="en-US" sz="1620" dirty="0"/>
          </a:p>
        </p:txBody>
      </p:sp>
      <p:sp>
        <p:nvSpPr>
          <p:cNvPr id="8" name="4ab0382c-a4d4-43da-8fc1-16378aff31a2"/>
          <p:cNvSpPr/>
          <p:nvPr/>
        </p:nvSpPr>
        <p:spPr>
          <a:xfrm>
            <a:off x="1463040" y="3771900"/>
            <a:ext cx="130302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fórmula</a:t>
            </a:r>
            <a:endParaRPr lang="en-US" sz="1620" dirty="0"/>
          </a:p>
        </p:txBody>
      </p:sp>
      <p:sp>
        <p:nvSpPr>
          <p:cNvPr id="9" name="6a97d1fb-f25e-401e-85c3-c932d538aca8"/>
          <p:cNvSpPr/>
          <p:nvPr/>
        </p:nvSpPr>
        <p:spPr>
          <a:xfrm>
            <a:off x="2903220" y="3771900"/>
            <a:ext cx="142875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variação</a:t>
            </a:r>
            <a:endParaRPr lang="en-US" sz="1620" dirty="0"/>
          </a:p>
        </p:txBody>
      </p:sp>
      <p:sp>
        <p:nvSpPr>
          <p:cNvPr id="10" name="f7fe0c46-14f6-457a-a258-511702216e89"/>
          <p:cNvSpPr/>
          <p:nvPr/>
        </p:nvSpPr>
        <p:spPr>
          <a:xfrm>
            <a:off x="4469130" y="3771900"/>
            <a:ext cx="168021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 3D</a:t>
            </a:r>
            <a:endParaRPr lang="en-US" sz="1620" dirty="0"/>
          </a:p>
        </p:txBody>
      </p:sp>
      <p:sp>
        <p:nvSpPr>
          <p:cNvPr id="11" name="9a03802c-0d2e-4c67-86f7-9125d54ffc1d"/>
          <p:cNvSpPr/>
          <p:nvPr/>
        </p:nvSpPr>
        <p:spPr>
          <a:xfrm>
            <a:off x="6286500" y="3771900"/>
            <a:ext cx="116586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</a:t>
            </a:r>
            <a:endParaRPr lang="en-US" sz="16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0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cedeac86-4a2b-4bb5-85d1-9af2d773a40a" descr="/home/forge/chalkie-production-workers-3/releases/77481733/backend/storage/app/render-specs/78e748b9-7ba4-457b-81a3-e227de6af5d6/img_e55ecfe6702459449ae20917630e639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14400"/>
            <a:ext cx="8572500" cy="2343150"/>
          </a:xfrm>
          <a:prstGeom prst="roundRect">
            <a:avLst>
              <a:gd name="adj" fmla="val 5854"/>
            </a:avLst>
          </a:prstGeom>
        </p:spPr>
      </p:pic>
      <p:sp>
        <p:nvSpPr>
          <p:cNvPr id="4" name="d85cc8b6-eaf6-4d26-a858-92be2604f53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Conceitos Essenciais de KPIs</a:t>
            </a:r>
            <a:endParaRPr lang="en-US" sz="2880" dirty="0"/>
          </a:p>
        </p:txBody>
      </p:sp>
      <p:sp>
        <p:nvSpPr>
          <p:cNvPr id="5" name="b36e62ed-7fb3-40cd-9176-846a90e180b9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card executivo deve exibir o indicador com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2C6E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destacado, contextualizado por uma meta ou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2C6E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variação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indicar a direção do desempenho da empresa.</a:t>
            </a:r>
            <a:endParaRPr lang="en-US" sz="1620" dirty="0"/>
          </a:p>
        </p:txBody>
      </p:sp>
      <p:sp>
        <p:nvSpPr>
          <p:cNvPr id="6" name="51c2fd7f-2807-4201-9fb7-5d4447043415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de palavras 🏦</a:t>
            </a:r>
            <a:endParaRPr lang="en-US" sz="1620" dirty="0"/>
          </a:p>
        </p:txBody>
      </p:sp>
      <p:sp>
        <p:nvSpPr>
          <p:cNvPr id="7" name="c57ae7ae-0e6c-4ec5-985b-b909429ed559"/>
          <p:cNvSpPr/>
          <p:nvPr/>
        </p:nvSpPr>
        <p:spPr>
          <a:xfrm>
            <a:off x="285750" y="3771900"/>
            <a:ext cx="104013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2C6E49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</a:t>
            </a:r>
            <a:endParaRPr lang="en-US" sz="1620" dirty="0"/>
          </a:p>
        </p:txBody>
      </p:sp>
      <p:sp>
        <p:nvSpPr>
          <p:cNvPr id="8" name="4ab0382c-a4d4-43da-8fc1-16378aff31a2"/>
          <p:cNvSpPr/>
          <p:nvPr/>
        </p:nvSpPr>
        <p:spPr>
          <a:xfrm>
            <a:off x="1463040" y="3771900"/>
            <a:ext cx="130302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767676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fórmula</a:t>
            </a:r>
            <a:endParaRPr lang="en-US" sz="1620" dirty="0"/>
          </a:p>
        </p:txBody>
      </p:sp>
      <p:sp>
        <p:nvSpPr>
          <p:cNvPr id="9" name="6a97d1fb-f25e-401e-85c3-c932d538aca8"/>
          <p:cNvSpPr/>
          <p:nvPr/>
        </p:nvSpPr>
        <p:spPr>
          <a:xfrm>
            <a:off x="2903220" y="3771900"/>
            <a:ext cx="142875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2C6E49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variação</a:t>
            </a:r>
            <a:endParaRPr lang="en-US" sz="1620" dirty="0"/>
          </a:p>
        </p:txBody>
      </p:sp>
      <p:sp>
        <p:nvSpPr>
          <p:cNvPr id="10" name="f7fe0c46-14f6-457a-a258-511702216e89"/>
          <p:cNvSpPr/>
          <p:nvPr/>
        </p:nvSpPr>
        <p:spPr>
          <a:xfrm>
            <a:off x="4469130" y="3771900"/>
            <a:ext cx="168021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767676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 3D</a:t>
            </a:r>
            <a:endParaRPr lang="en-US" sz="1620" dirty="0"/>
          </a:p>
        </p:txBody>
      </p:sp>
      <p:sp>
        <p:nvSpPr>
          <p:cNvPr id="11" name="9a03802c-0d2e-4c67-86f7-9125d54ffc1d"/>
          <p:cNvSpPr/>
          <p:nvPr/>
        </p:nvSpPr>
        <p:spPr>
          <a:xfrm>
            <a:off x="6286500" y="3771900"/>
            <a:ext cx="116586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767676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</a:t>
            </a:r>
            <a:endParaRPr lang="en-US" sz="1620" dirty="0"/>
          </a:p>
        </p:txBody>
      </p:sp>
      <p:sp>
        <p:nvSpPr>
          <p:cNvPr id="12" name="e1bf5a5f-20c4-47ad-ae02-84856946cb4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1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aafb549b-7c51-4d89-b239-87a1c890b18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Vídeo: Arquitetura de Dashboards</a:t>
            </a:r>
            <a:endParaRPr lang="en-US" sz="2880" dirty="0"/>
          </a:p>
        </p:txBody>
      </p:sp>
      <p:sp>
        <p:nvSpPr>
          <p:cNvPr id="4" name="3ff9b51c-507b-4d95-9f03-f6e0ff192885"/>
          <p:cNvSpPr/>
          <p:nvPr/>
        </p:nvSpPr>
        <p:spPr>
          <a:xfrm>
            <a:off x="285750" y="78867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Analistas integram suporte técnico e interfaces executivas.</a:t>
            </a:r>
            <a:endParaRPr lang="en-US" sz="1620" dirty="0"/>
          </a:p>
        </p:txBody>
      </p:sp>
      <p:pic>
        <p:nvPicPr>
          <p:cNvPr id="5" name="4473ef66-977a-49a9-aac8-7a6fe6824b68" descr="/home/forge/chalkie-production-workers-3/releases/77481733/backend/storage/app/render-specs/78e748b9-7ba4-457b-81a3-e227de6af5d6/poster_7ONi0T63LJo.jpg">
            <a:hlinkClick r:id="rId3" tooltip="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/>
              </p:ext>
              <p:ext uri="{C809E66F-F1BF-436E-b5F7-EEA9579F0CBA}">
                <p15:webVideoPr xmlns:p15="http://schemas.microsoft.com/office/powerpoint/2012/main" embeddedHtml="&lt;iframe width=&quot;560&quot; height=&quot;315&quot; src=&quot;https://www.youtube.com/embed/7ONi0T63LJo?feature=oembed&quot; frameborder=&quot;0&quot; allowfullscreen=&quot;&quot;&gt;&lt;/iframe&gt;" h="315" w="560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440180" y="1337310"/>
            <a:ext cx="625221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2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8028e6ef-9a2f-4fcc-a3cb-c0f87ae091a5" descr="/home/forge/chalkie-production-workers-3/releases/77481733/backend/storage/app/render-specs/78e748b9-7ba4-457b-81a3-e227de6af5d6/img_7fff941924dc00d0b21856bd0d071bd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04f33d87-8923-4d14-9ec1-e54e07a19cd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Estrutura de Três Abas no Excel</a:t>
            </a:r>
            <a:endParaRPr lang="en-US" sz="2880" dirty="0"/>
          </a:p>
        </p:txBody>
      </p:sp>
      <p:sp>
        <p:nvSpPr>
          <p:cNvPr id="5" name="96b26c96-b1bb-415f-82a5-5dc1d0e3b4f6"/>
          <p:cNvSpPr/>
          <p:nvPr/>
        </p:nvSpPr>
        <p:spPr>
          <a:xfrm>
            <a:off x="4286250" y="857250"/>
            <a:ext cx="102870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</a:t>
            </a:r>
            <a:endParaRPr lang="en-US" sz="1080" dirty="0"/>
          </a:p>
        </p:txBody>
      </p:sp>
      <p:sp>
        <p:nvSpPr>
          <p:cNvPr id="6" name="623626b4-ea98-49df-b2e4-fe76e1c043eb"/>
          <p:cNvSpPr/>
          <p:nvPr/>
        </p:nvSpPr>
        <p:spPr>
          <a:xfrm>
            <a:off x="4286250" y="116586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Organização Profissional de Arquivos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evitar erros e travamentos, divida sua pasta de trabalho em três abas distintas: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Base de Dados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os dados brutos em formato de tabela estruturada.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Cálculos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as tabelas dinâmicas e fórmulas de suporte.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Dashboard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 tela final com gráficos, cards e filtros para o usuário.</a:t>
            </a:r>
            <a:endParaRPr lang="en-US" sz="19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3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6e2de17d-66b1-4dfe-9830-d49c2f18f60a" descr="/home/forge/chalkie-production-workers-3/releases/77481733/backend/storage/app/render-specs/78e748b9-7ba4-457b-81a3-e227de6af5d6/img_6ef0aa0bcd7839882f6cf40d3d44667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76e2283b-c298-4149-aa9a-6111f6666b9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Alinhamento e Distribuição Harmônica</a:t>
            </a:r>
            <a:endParaRPr lang="en-US" sz="2880" dirty="0"/>
          </a:p>
        </p:txBody>
      </p:sp>
      <p:sp>
        <p:nvSpPr>
          <p:cNvPr id="5" name="17650acb-ec05-44a9-b9d2-44cad4521d10"/>
          <p:cNvSpPr/>
          <p:nvPr/>
        </p:nvSpPr>
        <p:spPr>
          <a:xfrm>
            <a:off x="285750" y="857250"/>
            <a:ext cx="102870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</a:t>
            </a:r>
            <a:endParaRPr lang="en-US" sz="1080" dirty="0"/>
          </a:p>
        </p:txBody>
      </p:sp>
      <p:sp>
        <p:nvSpPr>
          <p:cNvPr id="6" name="1418f3c8-afa0-401a-8998-58ce1852a37e"/>
          <p:cNvSpPr/>
          <p:nvPr/>
        </p:nvSpPr>
        <p:spPr>
          <a:xfrm>
            <a:off x="285750" y="116586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Precisão Visual na Tela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Gráficos desalinhados passam impressão de descuido técnico e dificultam a leitura: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a ferramenta 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Alinhar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Excel (Alinhar ao Topo, Distribuir Horizontalmente).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Mantenha tamanhos padronizados para todos os cards de métricas.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Desmarque a opção 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Linhas de Grade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 guia Exibir para ter um fundo limpo.</a:t>
            </a:r>
            <a:endParaRPr lang="en-US" sz="19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4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1f9959d0-f6ec-4e06-8e86-95478f838429" descr="/home/forge/chalkie-production-workers-3/releases/77481733/backend/storage/app/render-specs/78e748b9-7ba4-457b-81a3-e227de6af5d6/img_9b45b121f9acabb99c8f5a1f5549c7c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680c45cd-5548-4306-b5e5-63c846aacb65" descr="/home/forge/chalkie-production-workers-3/releases/77481733/backend/storage/app/render-specs/78e748b9-7ba4-457b-81a3-e227de6af5d6/img_2cb2b396303f2b31460e0cc8a5af77b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43dc4a4b-aa0e-4b14-abab-4629354d495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Poder dos Segmentadores de Dados</a:t>
            </a:r>
            <a:endParaRPr lang="en-US" sz="2880" dirty="0"/>
          </a:p>
        </p:txBody>
      </p:sp>
      <p:sp>
        <p:nvSpPr>
          <p:cNvPr id="6" name="ed541caa-7805-4391-a020-2505fade0daf"/>
          <p:cNvSpPr/>
          <p:nvPr/>
        </p:nvSpPr>
        <p:spPr>
          <a:xfrm>
            <a:off x="285750" y="2983230"/>
            <a:ext cx="419481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É um Slicer?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Segmentador de Dados substitui os antigos filtros suspensos por botões visuais clicáveis. Ele torna a navegação intuitiva para diretores que não dominam planilhas.</a:t>
            </a:r>
            <a:endParaRPr lang="en-US" sz="1980" dirty="0"/>
          </a:p>
        </p:txBody>
      </p:sp>
      <p:sp>
        <p:nvSpPr>
          <p:cNvPr id="7" name="1398161e-dab6-4250-aa9f-3dcd59811be3"/>
          <p:cNvSpPr/>
          <p:nvPr/>
        </p:nvSpPr>
        <p:spPr>
          <a:xfrm>
            <a:off x="4652010" y="298323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Filtragem Instantânea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clicar em um botão, os dados são recalculados sem recarregar a planilha, exibindo recortes por região, vendedor ou categoria em tempo real.</a:t>
            </a:r>
            <a:endParaRPr lang="en-US" sz="19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5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9a528538-a838-47bd-b7d5-e0544b4782c4" descr="/home/forge/chalkie-production-workers-3/releases/77481733/backend/storage/app/render-specs/78e748b9-7ba4-457b-81a3-e227de6af5d6/img_8b97d2d340cd2bde9a9c79c3122843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6c966f63-394e-4ef7-ac15-f0d39006189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Conectando um Slicer a Múltiplas Tabelas</a:t>
            </a:r>
            <a:endParaRPr lang="en-US" sz="2880" dirty="0"/>
          </a:p>
        </p:txBody>
      </p:sp>
      <p:sp>
        <p:nvSpPr>
          <p:cNvPr id="5" name="0e0e6c41-4cb8-4bff-a5bb-a24ea5d8a17d"/>
          <p:cNvSpPr/>
          <p:nvPr/>
        </p:nvSpPr>
        <p:spPr>
          <a:xfrm>
            <a:off x="4286250" y="857250"/>
            <a:ext cx="102870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</a:t>
            </a:r>
            <a:endParaRPr lang="en-US" sz="1080" dirty="0"/>
          </a:p>
        </p:txBody>
      </p:sp>
      <p:sp>
        <p:nvSpPr>
          <p:cNvPr id="6" name="8dd52df1-259d-496e-8f8e-3974cffd91c2"/>
          <p:cNvSpPr/>
          <p:nvPr/>
        </p:nvSpPr>
        <p:spPr>
          <a:xfrm>
            <a:off x="4286250" y="1165860"/>
            <a:ext cx="45720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Conexões de Relatório no Excel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padrão, um segmentador atua apenas na tabela em que foi criado. Para controlar o dashboard inteiro: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Clique no segmentador com o botão direito e escolha 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Conexões de Relatório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Marque todas as caixas das tabelas dinâmicas da aba de cálculos.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Agora, um único clique filtra cards, gráficos de barras e de linhas em sincronia perfeita!</a:t>
            </a:r>
            <a:endParaRPr lang="en-US" sz="19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6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864deff3-402e-4dd3-a9c6-cd08f664aa19" descr="/home/forge/chalkie-production-workers-3/releases/77481733/backend/storage/app/render-specs/78e748b9-7ba4-457b-81a3-e227de6af5d6/img_079e54b96763c4d753d0bd45bfb590c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88770"/>
            <a:ext cx="85725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3554dcbb-fa90-4fff-a532-d4c7b0cf668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 do Tempo para Filtros Temporais</a:t>
            </a:r>
            <a:endParaRPr lang="en-US" sz="2880" dirty="0"/>
          </a:p>
        </p:txBody>
      </p:sp>
      <p:sp>
        <p:nvSpPr>
          <p:cNvPr id="5" name="af910412-1392-4fbf-bfd7-231566933446"/>
          <p:cNvSpPr/>
          <p:nvPr/>
        </p:nvSpPr>
        <p:spPr>
          <a:xfrm>
            <a:off x="285750" y="78867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Linha do Tempo filtra dados por datas, permitindo selecionar períodos de forma visual e rápida.</a:t>
            </a:r>
            <a:endParaRPr lang="en-US" sz="1620" dirty="0"/>
          </a:p>
        </p:txBody>
      </p:sp>
      <p:sp>
        <p:nvSpPr>
          <p:cNvPr id="6" name="134ffae6-2e9f-48e1-8110-5bf394d1019d_card"/>
          <p:cNvSpPr/>
          <p:nvPr/>
        </p:nvSpPr>
        <p:spPr>
          <a:xfrm>
            <a:off x="285750" y="3783330"/>
            <a:ext cx="8572500" cy="1101852"/>
          </a:xfrm>
          <a:prstGeom prst="roundRect">
            <a:avLst>
              <a:gd name="adj" fmla="val 8299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134ffae6-2e9f-48e1-8110-5bf394d1019d_emoji"/>
          <p:cNvSpPr/>
          <p:nvPr/>
        </p:nvSpPr>
        <p:spPr>
          <a:xfrm>
            <a:off x="400050" y="39319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134ffae6-2e9f-48e1-8110-5bf394d1019d_text"/>
          <p:cNvSpPr/>
          <p:nvPr/>
        </p:nvSpPr>
        <p:spPr>
          <a:xfrm>
            <a:off x="765810" y="3897630"/>
            <a:ext cx="79781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Alterne entre visualizações de Anos, Trimestres, Meses ou Dias com um clique.</a:t>
            </a:r>
            <a:endParaRPr lang="en-US" sz="14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7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51856aa4-4c1d-4d80-8e7a-33abf74e01d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Ordem de Montagem do Dashboard</a:t>
            </a:r>
            <a:endParaRPr lang="en-US" sz="2880" dirty="0"/>
          </a:p>
        </p:txBody>
      </p:sp>
      <p:sp>
        <p:nvSpPr>
          <p:cNvPr id="4" name="28a5cbd5-a75b-4208-88f4-edcc36d18785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Ordene os passos para construir um dashboard executivo do zero:</a:t>
            </a:r>
            <a:endParaRPr lang="en-US" sz="1620" dirty="0"/>
          </a:p>
        </p:txBody>
      </p:sp>
      <p:sp>
        <p:nvSpPr>
          <p:cNvPr id="5" name="7b032a72-ed28-41af-92e0-6d2d29554d16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os Gráficos Dinâmicos e cards de KPIs.</a:t>
            </a:r>
            <a:endParaRPr lang="en-US" sz="1620" dirty="0"/>
          </a:p>
        </p:txBody>
      </p:sp>
      <p:sp>
        <p:nvSpPr>
          <p:cNvPr id="6" name="a64ad04d-041a-45c5-843a-e4a71245bc22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Inserir os Segmentadores e vincular às Conexões de Relatório.</a:t>
            </a:r>
            <a:endParaRPr lang="en-US" sz="1620" dirty="0"/>
          </a:p>
        </p:txBody>
      </p:sp>
      <p:sp>
        <p:nvSpPr>
          <p:cNvPr id="7" name="9f38233e-02a9-422d-895b-ec3038f1fab4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Formatar os dados brutos como Tabela oficial no Excel.</a:t>
            </a:r>
            <a:endParaRPr lang="en-US" sz="1620" dirty="0"/>
          </a:p>
        </p:txBody>
      </p:sp>
      <p:sp>
        <p:nvSpPr>
          <p:cNvPr id="8" name="fc42f08d-7d95-4074-a106-f7d05ba1b828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Criar as Tabelas Dinâmicas de apoio na aba de cálculos.</a:t>
            </a:r>
            <a:endParaRPr lang="en-US" sz="16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8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51856aa4-4c1d-4d80-8e7a-33abf74e01d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Ordem de Montagem do Dashboard</a:t>
            </a:r>
            <a:endParaRPr lang="en-US" sz="2880" dirty="0"/>
          </a:p>
        </p:txBody>
      </p:sp>
      <p:sp>
        <p:nvSpPr>
          <p:cNvPr id="4" name="28a5cbd5-a75b-4208-88f4-edcc36d18785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Ordene os passos para construir um dashboard executivo do zero:</a:t>
            </a:r>
            <a:endParaRPr lang="en-US" sz="1620" dirty="0"/>
          </a:p>
        </p:txBody>
      </p:sp>
      <p:sp>
        <p:nvSpPr>
          <p:cNvPr id="5" name="7b032a72-ed28-41af-92e0-6d2d29554d16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os Gráficos Dinâmicos e cards de KPIs.</a:t>
            </a:r>
            <a:endParaRPr lang="en-US" sz="1620" dirty="0"/>
          </a:p>
        </p:txBody>
      </p:sp>
      <p:sp>
        <p:nvSpPr>
          <p:cNvPr id="6" name="a64ad04d-041a-45c5-843a-e4a71245bc22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Inserir os Segmentadores e vincular às Conexões de Relatório.</a:t>
            </a:r>
            <a:endParaRPr lang="en-US" sz="1620" dirty="0"/>
          </a:p>
        </p:txBody>
      </p:sp>
      <p:sp>
        <p:nvSpPr>
          <p:cNvPr id="7" name="9f38233e-02a9-422d-895b-ec3038f1fab4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Formatar os dados brutos como Tabela oficial no Excel.</a:t>
            </a:r>
            <a:endParaRPr lang="en-US" sz="1620" dirty="0"/>
          </a:p>
        </p:txBody>
      </p:sp>
      <p:sp>
        <p:nvSpPr>
          <p:cNvPr id="8" name="fc42f08d-7d95-4074-a106-f7d05ba1b828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Criar as Tabelas Dinâmicas de apoio na aba de cálculos.</a:t>
            </a:r>
            <a:endParaRPr lang="en-US" sz="1620" dirty="0"/>
          </a:p>
        </p:txBody>
      </p:sp>
      <p:sp>
        <p:nvSpPr>
          <p:cNvPr id="9" name="7935e603-16c6-4e9b-8a9f-8554d9dde38a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0" name="7a8d61a2-2c0b-4158-82ab-4a6b07fd86ff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70" dirty="0"/>
          </a:p>
        </p:txBody>
      </p:sp>
      <p:sp>
        <p:nvSpPr>
          <p:cNvPr id="11" name="640111dc-d54b-40f8-bb59-f02f76d6188e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70" dirty="0"/>
          </a:p>
        </p:txBody>
      </p:sp>
      <p:sp>
        <p:nvSpPr>
          <p:cNvPr id="12" name="66b2936b-e143-4f58-a658-1d83dfdd1fdd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70" dirty="0"/>
          </a:p>
        </p:txBody>
      </p:sp>
      <p:sp>
        <p:nvSpPr>
          <p:cNvPr id="13" name="bc73c4bf-3d31-47a0-99be-046da2c3ec87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7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9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ba42c539-3be5-46f0-a6ee-f9f969a4072c"/>
          <p:cNvSpPr/>
          <p:nvPr/>
        </p:nvSpPr>
        <p:spPr>
          <a:xfrm>
            <a:off x="17145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4" name="f47a8541-1444-454f-a3d2-2c287a7d6794"/>
          <p:cNvSpPr/>
          <p:nvPr/>
        </p:nvSpPr>
        <p:spPr>
          <a:xfrm>
            <a:off x="237744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5" name="48dea703-e71b-40bf-bfe6-d190f39f3817"/>
          <p:cNvSpPr/>
          <p:nvPr/>
        </p:nvSpPr>
        <p:spPr>
          <a:xfrm>
            <a:off x="457200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6" name="e03827d3-7ea7-4911-be3e-29c69a0ad409"/>
          <p:cNvSpPr/>
          <p:nvPr/>
        </p:nvSpPr>
        <p:spPr>
          <a:xfrm>
            <a:off x="677799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7" name="154be8e5-b734-4154-abd4-0b3a1c952be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a Passo: Da Base ao Painel</a:t>
            </a:r>
            <a:endParaRPr lang="en-US" sz="2880" dirty="0"/>
          </a:p>
        </p:txBody>
      </p:sp>
      <p:sp>
        <p:nvSpPr>
          <p:cNvPr id="8" name="2bb66753-d0a1-4312-b008-38b3724ce6f8"/>
          <p:cNvSpPr/>
          <p:nvPr/>
        </p:nvSpPr>
        <p:spPr>
          <a:xfrm>
            <a:off x="285750" y="136017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Preparação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Limpar dados e criar tabela oficial estruturada.</a:t>
            </a:r>
            <a:endParaRPr lang="en-US" sz="1980" dirty="0"/>
          </a:p>
        </p:txBody>
      </p:sp>
      <p:sp>
        <p:nvSpPr>
          <p:cNvPr id="9" name="b5d3cc4e-7e56-44dc-ba05-e95b65ce237e"/>
          <p:cNvSpPr/>
          <p:nvPr/>
        </p:nvSpPr>
        <p:spPr>
          <a:xfrm>
            <a:off x="2491740" y="136017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Agregação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tabelas dinâmicas para cada visual.</a:t>
            </a:r>
            <a:endParaRPr lang="en-US" sz="1980" dirty="0"/>
          </a:p>
        </p:txBody>
      </p:sp>
      <p:sp>
        <p:nvSpPr>
          <p:cNvPr id="10" name="8a494876-1580-44a4-8246-fdd61fe1f658"/>
          <p:cNvSpPr/>
          <p:nvPr/>
        </p:nvSpPr>
        <p:spPr>
          <a:xfrm>
            <a:off x="4686300" y="136017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Montagem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Posicionar cards e gráficos na grade visual.</a:t>
            </a:r>
            <a:endParaRPr lang="en-US" sz="1980" dirty="0"/>
          </a:p>
        </p:txBody>
      </p:sp>
      <p:sp>
        <p:nvSpPr>
          <p:cNvPr id="11" name="2a2924cd-03c9-4c53-808d-ce745aed2152"/>
          <p:cNvSpPr/>
          <p:nvPr/>
        </p:nvSpPr>
        <p:spPr>
          <a:xfrm>
            <a:off x="6892290" y="136017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Integração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Configurar segmentadores e testar filtros.</a:t>
            </a:r>
            <a:endParaRPr lang="en-US" sz="19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0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8b49edd3-7803-4ada-915e-30e34b9285af" descr="/home/forge/chalkie-production-workers-3/releases/77481733/backend/storage/app/render-specs/78e748b9-7ba4-457b-81a3-e227de6af5d6/img_dfe38bdd0ea31fe367ad42842efedf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6cab439d-d11d-483a-bdbb-302ca567242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Prática Guiada: Gestão de Materiais</a:t>
            </a:r>
            <a:endParaRPr lang="en-US" sz="2880" dirty="0"/>
          </a:p>
        </p:txBody>
      </p:sp>
      <p:sp>
        <p:nvSpPr>
          <p:cNvPr id="5" name="ece260d0-8dfc-43d4-be97-bbf7a1679b42"/>
          <p:cNvSpPr/>
          <p:nvPr/>
        </p:nvSpPr>
        <p:spPr>
          <a:xfrm>
            <a:off x="285750" y="857250"/>
            <a:ext cx="85725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PRÁTICA</a:t>
            </a:r>
            <a:endParaRPr lang="en-US" sz="1080" dirty="0"/>
          </a:p>
        </p:txBody>
      </p:sp>
      <p:sp>
        <p:nvSpPr>
          <p:cNvPr id="6" name="64ec7144-bac3-44cf-b4bd-3a9bbff40a6d"/>
          <p:cNvSpPr/>
          <p:nvPr/>
        </p:nvSpPr>
        <p:spPr>
          <a:xfrm>
            <a:off x="285750" y="116586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Desafio da Distribuidora Salete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Trabalharemos com uma base com mais de 3.000 entregas de materiais escolares: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Calcule o 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Total de Transporte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a taxa de entregas dentro do prazo.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Crie um gráfico comparativo de entregas por região geográfica.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Adicione segmentadores por 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 de Material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uma 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 do Tempo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mensal.</a:t>
            </a:r>
            <a:endParaRPr lang="en-US" sz="19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1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eb61e19a-9061-4873-a4da-e1cfa62e501f" descr="/home/forge/chalkie-production-workers-3/releases/77481733/backend/storage/app/render-specs/78e748b9-7ba4-457b-81a3-e227de6af5d6/img_662946f991b5e5f14cec52360ca286b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94c55470-4278-49fc-82a8-38bea3fc398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e Testes de Integridade</a:t>
            </a:r>
            <a:endParaRPr lang="en-US" sz="2880" dirty="0"/>
          </a:p>
        </p:txBody>
      </p:sp>
      <p:sp>
        <p:nvSpPr>
          <p:cNvPr id="5" name="498d5368-e406-4046-8b06-86cb13b93667"/>
          <p:cNvSpPr/>
          <p:nvPr/>
        </p:nvSpPr>
        <p:spPr>
          <a:xfrm>
            <a:off x="4286250" y="857250"/>
            <a:ext cx="85725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PRÁTICA</a:t>
            </a:r>
            <a:endParaRPr lang="en-US" sz="1080" dirty="0"/>
          </a:p>
        </p:txBody>
      </p:sp>
      <p:sp>
        <p:nvSpPr>
          <p:cNvPr id="6" name="e53df002-81aa-416a-9b13-4975986559ca"/>
          <p:cNvSpPr/>
          <p:nvPr/>
        </p:nvSpPr>
        <p:spPr>
          <a:xfrm>
            <a:off x="4286250" y="116586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Nunca Apresente Sem Testar!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mostrar seu trabalho aos gestores, faça um teste rigoroso: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Clique em cada botão do segmentador e veja se algum gráfico apresenta o erro 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Verifique se os totais dos gráficos somam exatamente o mesmo valor dos cards de KPI.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 se a escala dos eixos verticais está legível e proporcional.</a:t>
            </a:r>
            <a:endParaRPr lang="en-US" sz="19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2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2107b8d9-4a94-4a93-91a3-772389a8e778" descr="/home/forge/chalkie-production-workers-3/releases/77481733/backend/storage/app/render-specs/78e748b9-7ba4-457b-81a3-e227de6af5d6/img_cd5434f933c3ab9d9712e35e5fa2f20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9b50f69d-d4cf-4632-8772-9baeea1189f0" descr="/home/forge/chalkie-production-workers-3/releases/77481733/backend/storage/app/render-specs/78e748b9-7ba4-457b-81a3-e227de6af5d6/img_47e5edb1b97ed5093de71a7ade039a0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cdc52941-8e0a-4bdb-9417-47eb73cb69a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Storytelling com Dados para Gestores</a:t>
            </a:r>
            <a:endParaRPr lang="en-US" sz="2880" dirty="0"/>
          </a:p>
        </p:txBody>
      </p:sp>
      <p:sp>
        <p:nvSpPr>
          <p:cNvPr id="6" name="8090eb75-8dd8-4765-bfee-af5cf1798449"/>
          <p:cNvSpPr/>
          <p:nvPr/>
        </p:nvSpPr>
        <p:spPr>
          <a:xfrm>
            <a:off x="285750" y="298323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É Storytelling?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a habilidade de contar a história por trás dos números. Não diga apenas 'as vendas caíram 10%'; explique em que região e aponte uma causa provável.</a:t>
            </a:r>
            <a:endParaRPr lang="en-US" sz="1980" dirty="0"/>
          </a:p>
        </p:txBody>
      </p:sp>
      <p:sp>
        <p:nvSpPr>
          <p:cNvPr id="7" name="d4af9f5d-e55c-466e-9d9f-47d2fba049fc"/>
          <p:cNvSpPr/>
          <p:nvPr/>
        </p:nvSpPr>
        <p:spPr>
          <a:xfrm>
            <a:off x="4652010" y="298323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na Ação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diretoria busca soluções. Finalize cada indicador com uma recomendação prática: remanejar estoque, renegociar frete ou reforçar divulgação.</a:t>
            </a:r>
            <a:endParaRPr lang="en-US" sz="19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3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1aa364c5-c928-4234-8a6e-45450b6fb11c" descr="/home/forge/chalkie-production-workers-3/releases/77481733/backend/storage/app/render-specs/78e748b9-7ba4-457b-81a3-e227de6af5d6/img_6fc23443323dc8feee58e4bd1eef3dc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e40b0c1e-9c03-40cd-a865-f3792a33152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Simulação: Apresentação para a Diretoria</a:t>
            </a:r>
            <a:endParaRPr lang="en-US" sz="2880" dirty="0"/>
          </a:p>
        </p:txBody>
      </p:sp>
      <p:sp>
        <p:nvSpPr>
          <p:cNvPr id="5" name="e95162a6-54aa-4fdf-80fb-7a1980e7b98e"/>
          <p:cNvSpPr/>
          <p:nvPr/>
        </p:nvSpPr>
        <p:spPr>
          <a:xfrm>
            <a:off x="285750" y="857250"/>
            <a:ext cx="108585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SIMULAÇÃO</a:t>
            </a:r>
            <a:endParaRPr lang="en-US" sz="1080" dirty="0"/>
          </a:p>
        </p:txBody>
      </p:sp>
      <p:sp>
        <p:nvSpPr>
          <p:cNvPr id="6" name="ecaeff4a-7983-447a-99cf-26a6b3d2f651"/>
          <p:cNvSpPr/>
          <p:nvPr/>
        </p:nvSpPr>
        <p:spPr>
          <a:xfrm>
            <a:off x="285750" y="116586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Postura Executiva no Pitch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apresentar o painel para a liderança, siga este roteiro de três passos: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O Panorama Geral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comece pelos três cards de KPI no topo da tela.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O Destaque Crítico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filtre a região com maior desvio usando o segmentador.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O Plano de Ação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proponha uma decisão embasada nos dados observados.</a:t>
            </a:r>
            <a:endParaRPr lang="en-US" sz="19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4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af47a452-a222-4eb4-87f9-bf8c03da707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Áudio: Reunião de Diretoria</a:t>
            </a:r>
            <a:endParaRPr lang="en-US" sz="2880" dirty="0"/>
          </a:p>
        </p:txBody>
      </p:sp>
      <p:sp>
        <p:nvSpPr>
          <p:cNvPr id="4" name="3d649569-e3c4-48a4-ba71-fd9256b11831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Ouça o áudio e responda às perguntas</a:t>
            </a:r>
            <a:endParaRPr lang="en-US" sz="1440" dirty="0"/>
          </a:p>
        </p:txBody>
      </p:sp>
      <p:sp>
        <p:nvSpPr>
          <p:cNvPr id="5" name="785efeeb-3112-47a0-9cac-993cecf86220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160" dirty="0"/>
          </a:p>
        </p:txBody>
      </p:sp>
      <p:sp>
        <p:nvSpPr>
          <p:cNvPr id="6" name="4cfca9bc-75c3-4307-aae0-33377549b5fa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foi o primeiro elemento que a diretora Mariana elogiou no painel?</a:t>
            </a:r>
            <a:endParaRPr lang="en-US" sz="1620" dirty="0"/>
          </a:p>
        </p:txBody>
      </p:sp>
      <p:sp>
        <p:nvSpPr>
          <p:cNvPr id="7" name="3b00ffe5-a2a3-460a-85da-c52cae6335e2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160" dirty="0"/>
          </a:p>
        </p:txBody>
      </p:sp>
      <p:sp>
        <p:nvSpPr>
          <p:cNvPr id="8" name="a4a10cc1-4d5d-4ad4-976e-1ce02a33ea0e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aconteceu quando Carlos clicou no botão da Região Sul no segmentador?</a:t>
            </a:r>
            <a:endParaRPr lang="en-US" sz="1620" dirty="0"/>
          </a:p>
        </p:txBody>
      </p:sp>
      <p:sp>
        <p:nvSpPr>
          <p:cNvPr id="9" name="5525d152-8629-4882-abcc-86a1dc6d846c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60" dirty="0"/>
          </a:p>
        </p:txBody>
      </p:sp>
      <p:sp>
        <p:nvSpPr>
          <p:cNvPr id="10" name="d4a84cd4-aa30-4361-ae5e-057a7d704ca2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problema crítico o dashboard permitiu identificar imediatamente?</a:t>
            </a:r>
            <a:endParaRPr lang="en-US" sz="1620" dirty="0"/>
          </a:p>
        </p:txBody>
      </p:sp>
      <p:sp>
        <p:nvSpPr>
          <p:cNvPr id="11" name="09a5e5f0-e39a-4ae4-837a-6df3a6eeb08d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160" dirty="0"/>
          </a:p>
        </p:txBody>
      </p:sp>
      <p:sp>
        <p:nvSpPr>
          <p:cNvPr id="12" name="28e865d1-68b5-4c02-9fa0-be815151e409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foi a recomendação final de Mariana para a tomada de decisão?</a:t>
            </a:r>
            <a:endParaRPr lang="en-US" sz="1620" dirty="0"/>
          </a:p>
        </p:txBody>
      </p:sp>
      <p:sp>
        <p:nvSpPr>
          <p:cNvPr id="13" name="27ac8f4f-24ba-45f2-bbf9-d7d91c1f285a_card"/>
          <p:cNvSpPr/>
          <p:nvPr/>
        </p:nvSpPr>
        <p:spPr>
          <a:xfrm>
            <a:off x="285750" y="1291590"/>
            <a:ext cx="8572500" cy="857250"/>
          </a:xfrm>
          <a:prstGeom prst="roundRect">
            <a:avLst/>
          </a:prstGeom>
          <a:solidFill>
            <a:srgbClr val="FFF4F1"/>
          </a:solidFill>
          <a:ln w="76200">
            <a:solidFill>
              <a:srgbClr val="FFFFFF"/>
            </a:solidFill>
            <a:prstDash val="solid"/>
          </a:ln>
        </p:spPr>
      </p:sp>
      <p:pic>
        <p:nvPicPr>
          <p:cNvPr id="14" name="27ac8f4f-24ba-45f2-bbf9-d7d91c1f285a_icon" descr="/home/forge/chalkie-production-workers-3/releases/77481733/backend/storage/app/render-specs/78e748b9-7ba4-457b-81a3-e227de6af5d6/audi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1594485"/>
            <a:ext cx="251460" cy="251460"/>
          </a:xfrm>
          <a:prstGeom prst="rect">
            <a:avLst/>
          </a:prstGeom>
        </p:spPr>
      </p:pic>
      <p:sp>
        <p:nvSpPr>
          <p:cNvPr id="15" name="27ac8f4f-24ba-45f2-bbf9-d7d91c1f285a_title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Feedback do Diretor Executivo</a:t>
            </a:r>
            <a:endParaRPr lang="en-US" sz="1800" dirty="0"/>
          </a:p>
        </p:txBody>
      </p:sp>
      <p:sp>
        <p:nvSpPr>
          <p:cNvPr id="16" name="27ac8f4f-24ba-45f2-bbf9-d7d91c1f285a_btn"/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Reproduzir áudio</a:t>
            </a:r>
            <a:endParaRPr lang="en-US" sz="1440" dirty="0"/>
          </a:p>
        </p:txBody>
      </p:sp>
      <p:sp>
        <p:nvSpPr>
          <p:cNvPr id="17" name="27ac8f4f-24ba-45f2-bbf9-d7d91c1f285a_btn_link">
            <a:hlinkClick r:id="rId3" tooltip="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>
              <a:alpha val="0"/>
            </a:srgbClr>
          </a:solidFill>
          <a:ln w="12700">
            <a:solidFill>
              <a:srgbClr val="2C6E4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5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af47a452-a222-4eb4-87f9-bf8c03da707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Áudio: Reunião de Diretoria</a:t>
            </a:r>
            <a:endParaRPr lang="en-US" sz="2880" dirty="0"/>
          </a:p>
        </p:txBody>
      </p:sp>
      <p:sp>
        <p:nvSpPr>
          <p:cNvPr id="4" name="47f0269e-c26c-4e62-9762-8f2e624a72cd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 as tuas respostas abaixo</a:t>
            </a:r>
            <a:endParaRPr lang="en-US" sz="1440" dirty="0"/>
          </a:p>
        </p:txBody>
      </p:sp>
      <p:sp>
        <p:nvSpPr>
          <p:cNvPr id="5" name="b4c127f3-f758-4cad-acda-a0325f70df2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6" name="a2277a44-6cfe-45f7-beea-ab23a066a64f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160" dirty="0"/>
          </a:p>
        </p:txBody>
      </p:sp>
      <p:sp>
        <p:nvSpPr>
          <p:cNvPr id="7" name="54beba59-6463-4b22-a7fb-1bf77207a88a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clareza dos três cards de indicadores principais posicionados no topo da tela.</a:t>
            </a:r>
            <a:endParaRPr lang="en-US" sz="1620" dirty="0"/>
          </a:p>
        </p:txBody>
      </p:sp>
      <p:sp>
        <p:nvSpPr>
          <p:cNvPr id="8" name="6d322ce8-505d-4199-89fa-1a55b5d22bac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160" dirty="0"/>
          </a:p>
        </p:txBody>
      </p:sp>
      <p:sp>
        <p:nvSpPr>
          <p:cNvPr id="9" name="24eb9c64-ec9b-41d7-b70b-ed81cb945b02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gráficos e métricas do painel se atualizaram instantaneamente em sincronia.</a:t>
            </a:r>
            <a:endParaRPr lang="en-US" sz="1620" dirty="0"/>
          </a:p>
        </p:txBody>
      </p:sp>
      <p:sp>
        <p:nvSpPr>
          <p:cNvPr id="10" name="9f087a98-279b-4172-b0f2-1b9feb3e3157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60" dirty="0"/>
          </a:p>
        </p:txBody>
      </p:sp>
      <p:sp>
        <p:nvSpPr>
          <p:cNvPr id="11" name="fc57a094-b541-4940-a250-d6b5f8bf6eea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atraso severo nas entregas na Região Sul devido ao aumento do custo de frete.</a:t>
            </a:r>
            <a:endParaRPr lang="en-US" sz="1620" dirty="0"/>
          </a:p>
        </p:txBody>
      </p:sp>
      <p:sp>
        <p:nvSpPr>
          <p:cNvPr id="12" name="626667a7-ff85-46b2-860a-b7cf24803796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160" dirty="0"/>
          </a:p>
        </p:txBody>
      </p:sp>
      <p:sp>
        <p:nvSpPr>
          <p:cNvPr id="13" name="edbd2e87-9ac9-44dd-9572-71c994f2b370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Utilizar a linha do tempo para comparar os fretes dos últimos três meses antes de fechar novos contratos.</a:t>
            </a:r>
            <a:endParaRPr lang="en-US" sz="1620" dirty="0"/>
          </a:p>
        </p:txBody>
      </p:sp>
      <p:sp>
        <p:nvSpPr>
          <p:cNvPr id="14" name="27ac8f4f-24ba-45f2-bbf9-d7d91c1f285a_card"/>
          <p:cNvSpPr/>
          <p:nvPr/>
        </p:nvSpPr>
        <p:spPr>
          <a:xfrm>
            <a:off x="285750" y="1291590"/>
            <a:ext cx="8572500" cy="857250"/>
          </a:xfrm>
          <a:prstGeom prst="roundRect">
            <a:avLst/>
          </a:prstGeom>
          <a:solidFill>
            <a:srgbClr val="FFF4F1"/>
          </a:solidFill>
          <a:ln w="76200">
            <a:solidFill>
              <a:srgbClr val="FFFFFF"/>
            </a:solidFill>
            <a:prstDash val="solid"/>
          </a:ln>
        </p:spPr>
      </p:sp>
      <p:pic>
        <p:nvPicPr>
          <p:cNvPr id="15" name="27ac8f4f-24ba-45f2-bbf9-d7d91c1f285a_icon" descr="/home/forge/chalkie-production-workers-3/releases/77481733/backend/storage/app/render-specs/78e748b9-7ba4-457b-81a3-e227de6af5d6/audi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1594485"/>
            <a:ext cx="251460" cy="251460"/>
          </a:xfrm>
          <a:prstGeom prst="rect">
            <a:avLst/>
          </a:prstGeom>
        </p:spPr>
      </p:pic>
      <p:sp>
        <p:nvSpPr>
          <p:cNvPr id="16" name="27ac8f4f-24ba-45f2-bbf9-d7d91c1f285a_title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Feedback do Diretor Executivo</a:t>
            </a:r>
            <a:endParaRPr lang="en-US" sz="1800" dirty="0"/>
          </a:p>
        </p:txBody>
      </p:sp>
      <p:sp>
        <p:nvSpPr>
          <p:cNvPr id="17" name="27ac8f4f-24ba-45f2-bbf9-d7d91c1f285a_btn"/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Reproduzir áudio</a:t>
            </a:r>
            <a:endParaRPr lang="en-US" sz="1440" dirty="0"/>
          </a:p>
        </p:txBody>
      </p:sp>
      <p:sp>
        <p:nvSpPr>
          <p:cNvPr id="18" name="27ac8f4f-24ba-45f2-bbf9-d7d91c1f285a_btn_link">
            <a:hlinkClick r:id="rId3" tooltip="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>
              <a:alpha val="0"/>
            </a:srgbClr>
          </a:solidFill>
          <a:ln w="12700">
            <a:solidFill>
              <a:srgbClr val="2C6E4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6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1c4e5457-be81-476b-80b0-7243f441b28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Vocabulário Técnico do Painel</a:t>
            </a:r>
            <a:endParaRPr lang="en-US" sz="2880" dirty="0"/>
          </a:p>
        </p:txBody>
      </p:sp>
      <p:sp>
        <p:nvSpPr>
          <p:cNvPr id="4" name="c2c0bffb-e3f5-4d6b-bc56-e21707b509b3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Relacione as palavras com as definições</a:t>
            </a:r>
            <a:endParaRPr lang="en-US" sz="1440" dirty="0"/>
          </a:p>
        </p:txBody>
      </p:sp>
      <p:sp>
        <p:nvSpPr>
          <p:cNvPr id="5" name="98046cfb-6864-4750-9132-20aaea84a002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Slicer</a:t>
            </a:r>
            <a:endParaRPr lang="en-US" sz="1800" dirty="0"/>
          </a:p>
        </p:txBody>
      </p:sp>
      <p:sp>
        <p:nvSpPr>
          <p:cNvPr id="6" name="8200a6f5-f9c9-43cb-ba58-5a2589852c53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 do Tempo</a:t>
            </a:r>
            <a:endParaRPr lang="en-US" sz="1800" dirty="0"/>
          </a:p>
        </p:txBody>
      </p:sp>
      <p:sp>
        <p:nvSpPr>
          <p:cNvPr id="7" name="0a5793e7-96f6-40ec-8039-320d6e090a69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8" name="654e5a53-3bc6-4e10-bc5e-a8dfd1df079f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Conexões de Relatório</a:t>
            </a:r>
            <a:endParaRPr lang="en-US" sz="1800" dirty="0"/>
          </a:p>
        </p:txBody>
      </p:sp>
      <p:sp>
        <p:nvSpPr>
          <p:cNvPr id="9" name="566ae499-3cba-4571-8aa5-413954058c6e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visual integrado com métricas e gráficos em tela única.</a:t>
            </a:r>
            <a:endParaRPr lang="en-US" sz="1620" dirty="0"/>
          </a:p>
        </p:txBody>
      </p:sp>
      <p:sp>
        <p:nvSpPr>
          <p:cNvPr id="10" name="b9b65fd3-ef72-4666-a8b7-e943196fea95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Botão interativo que permite filtrar dados dinâmicos com um clique.</a:t>
            </a:r>
            <a:endParaRPr lang="en-US" sz="1620" dirty="0"/>
          </a:p>
        </p:txBody>
      </p:sp>
      <p:sp>
        <p:nvSpPr>
          <p:cNvPr id="11" name="0a223359-ed8e-4fc4-9df3-32237b288a3e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Configuração que vincula um segmentador a várias tabelas dinâmicas.</a:t>
            </a:r>
            <a:endParaRPr lang="en-US" sz="1620" dirty="0"/>
          </a:p>
        </p:txBody>
      </p:sp>
      <p:sp>
        <p:nvSpPr>
          <p:cNvPr id="12" name="117b26bd-a6f5-4d2c-924d-63a95404e521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visual específico para seleção e filtragem de períodos de datas.</a:t>
            </a:r>
            <a:endParaRPr lang="en-US" sz="16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7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1c4e5457-be81-476b-80b0-7243f441b28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Vocabulário Técnico do Painel</a:t>
            </a:r>
            <a:endParaRPr lang="en-US" sz="2880" dirty="0"/>
          </a:p>
        </p:txBody>
      </p:sp>
      <p:sp>
        <p:nvSpPr>
          <p:cNvPr id="4" name="c2c0bffb-e3f5-4d6b-bc56-e21707b509b3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Relacione as palavras com as definições</a:t>
            </a:r>
            <a:endParaRPr lang="en-US" sz="1440" dirty="0"/>
          </a:p>
        </p:txBody>
      </p:sp>
      <p:sp>
        <p:nvSpPr>
          <p:cNvPr id="5" name="98046cfb-6864-4750-9132-20aaea84a002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09E9E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Slicer</a:t>
            </a:r>
            <a:endParaRPr lang="en-US" sz="1800" dirty="0"/>
          </a:p>
        </p:txBody>
      </p:sp>
      <p:sp>
        <p:nvSpPr>
          <p:cNvPr id="6" name="8200a6f5-f9c9-43cb-ba58-5a2589852c53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90368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 do Tempo</a:t>
            </a:r>
            <a:endParaRPr lang="en-US" sz="1800" dirty="0"/>
          </a:p>
        </p:txBody>
      </p:sp>
      <p:sp>
        <p:nvSpPr>
          <p:cNvPr id="7" name="0a5793e7-96f6-40ec-8039-320d6e090a69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68C45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8" name="654e5a53-3bc6-4e10-bc5e-a8dfd1df079f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579A9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Conexões de Relatório</a:t>
            </a:r>
            <a:endParaRPr lang="en-US" sz="1800" dirty="0"/>
          </a:p>
        </p:txBody>
      </p:sp>
      <p:sp>
        <p:nvSpPr>
          <p:cNvPr id="9" name="566ae499-3cba-4571-8aa5-413954058c6e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visual integrado com métricas e gráficos em tela única.</a:t>
            </a:r>
            <a:endParaRPr lang="en-US" sz="1620" dirty="0"/>
          </a:p>
        </p:txBody>
      </p:sp>
      <p:sp>
        <p:nvSpPr>
          <p:cNvPr id="10" name="b9b65fd3-ef72-4666-a8b7-e943196fea95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Botão interativo que permite filtrar dados dinâmicos com um clique.</a:t>
            </a:r>
            <a:endParaRPr lang="en-US" sz="1620" dirty="0"/>
          </a:p>
        </p:txBody>
      </p:sp>
      <p:sp>
        <p:nvSpPr>
          <p:cNvPr id="11" name="0a223359-ed8e-4fc4-9df3-32237b288a3e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Configuração que vincula um segmentador a várias tabelas dinâmicas.</a:t>
            </a:r>
            <a:endParaRPr lang="en-US" sz="1620" dirty="0"/>
          </a:p>
        </p:txBody>
      </p:sp>
      <p:sp>
        <p:nvSpPr>
          <p:cNvPr id="12" name="117b26bd-a6f5-4d2c-924d-63a95404e521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visual específico para seleção e filtragem de períodos de datas.</a:t>
            </a:r>
            <a:endParaRPr lang="en-US" sz="1620" dirty="0"/>
          </a:p>
        </p:txBody>
      </p:sp>
      <p:sp>
        <p:nvSpPr>
          <p:cNvPr id="13" name="b47d021b-d89e-439c-8ddf-db9a068ecab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4" name="connector-e3ca048c-6133-41e6-b04f-797a6da14342-0"/>
          <p:cNvSpPr/>
          <p:nvPr/>
        </p:nvSpPr>
        <p:spPr>
          <a:xfrm>
            <a:off x="2571750" y="1623060"/>
            <a:ext cx="994410" cy="891540"/>
          </a:xfrm>
          <a:prstGeom prst="line">
            <a:avLst/>
          </a:prstGeom>
          <a:noFill/>
          <a:ln w="28575">
            <a:solidFill>
              <a:srgbClr val="409E9E"/>
            </a:solidFill>
            <a:prstDash val="solid"/>
          </a:ln>
        </p:spPr>
      </p:sp>
      <p:sp>
        <p:nvSpPr>
          <p:cNvPr id="15" name="connector-e3ca048c-6133-41e6-b04f-797a6da14342-1"/>
          <p:cNvSpPr/>
          <p:nvPr/>
        </p:nvSpPr>
        <p:spPr>
          <a:xfrm>
            <a:off x="2571750" y="2537460"/>
            <a:ext cx="994410" cy="1805940"/>
          </a:xfrm>
          <a:prstGeom prst="line">
            <a:avLst/>
          </a:prstGeom>
          <a:noFill/>
          <a:ln w="28575">
            <a:solidFill>
              <a:srgbClr val="D90368"/>
            </a:solidFill>
            <a:prstDash val="solid"/>
          </a:ln>
        </p:spPr>
      </p:sp>
      <p:sp>
        <p:nvSpPr>
          <p:cNvPr id="16" name="connector-e3ca048c-6133-41e6-b04f-797a6da14342-2"/>
          <p:cNvSpPr/>
          <p:nvPr/>
        </p:nvSpPr>
        <p:spPr>
          <a:xfrm flipV="1">
            <a:off x="2571750" y="1600200"/>
            <a:ext cx="994410" cy="1851660"/>
          </a:xfrm>
          <a:prstGeom prst="line">
            <a:avLst/>
          </a:prstGeom>
          <a:noFill/>
          <a:ln w="28575">
            <a:solidFill>
              <a:srgbClr val="D68C45"/>
            </a:solidFill>
            <a:prstDash val="solid"/>
          </a:ln>
        </p:spPr>
      </p:sp>
      <p:sp>
        <p:nvSpPr>
          <p:cNvPr id="17" name="connector-e3ca048c-6133-41e6-b04f-797a6da14342-3"/>
          <p:cNvSpPr/>
          <p:nvPr/>
        </p:nvSpPr>
        <p:spPr>
          <a:xfrm flipV="1">
            <a:off x="2571750" y="3429000"/>
            <a:ext cx="994410" cy="937260"/>
          </a:xfrm>
          <a:prstGeom prst="line">
            <a:avLst/>
          </a:prstGeom>
          <a:noFill/>
          <a:ln w="28575">
            <a:solidFill>
              <a:srgbClr val="4579A9"/>
            </a:solidFill>
            <a:prstDash val="solid"/>
          </a:ln>
        </p:spPr>
      </p:sp>
      <p:sp>
        <p:nvSpPr>
          <p:cNvPr id="18" name="50757648-f783-421a-98c4-6958b4e1c7a0"/>
          <p:cNvSpPr/>
          <p:nvPr/>
        </p:nvSpPr>
        <p:spPr>
          <a:xfrm>
            <a:off x="3394710" y="23431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09E9E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170" dirty="0"/>
          </a:p>
        </p:txBody>
      </p:sp>
      <p:sp>
        <p:nvSpPr>
          <p:cNvPr id="19" name="be1ac7a3-0423-4dd2-84d1-bb1b0624a731"/>
          <p:cNvSpPr/>
          <p:nvPr/>
        </p:nvSpPr>
        <p:spPr>
          <a:xfrm>
            <a:off x="3394710" y="41719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90368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170" dirty="0"/>
          </a:p>
        </p:txBody>
      </p:sp>
      <p:sp>
        <p:nvSpPr>
          <p:cNvPr id="20" name="7a79152c-71f9-48e9-9108-ca7aff89a67f"/>
          <p:cNvSpPr/>
          <p:nvPr/>
        </p:nvSpPr>
        <p:spPr>
          <a:xfrm>
            <a:off x="3394710" y="14287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170" dirty="0"/>
          </a:p>
        </p:txBody>
      </p:sp>
      <p:sp>
        <p:nvSpPr>
          <p:cNvPr id="21" name="7228c3d3-8cf8-4588-9959-5c0dcce14377"/>
          <p:cNvSpPr/>
          <p:nvPr/>
        </p:nvSpPr>
        <p:spPr>
          <a:xfrm>
            <a:off x="3394710" y="32575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579A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17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8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72f1084d-d4c2-4849-b0b6-a9510e1e2d36" descr="/home/forge/chalkie-production-workers-3/releases/77481733/backend/storage/app/render-specs/78e748b9-7ba4-457b-81a3-e227de6af5d6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pic>
        <p:nvPicPr>
          <p:cNvPr id="4" name="17c9447d-54b6-4c21-ac07-6587a9b188ca" descr="/home/forge/chalkie-production-workers-3/releases/77481733/backend/storage/app/render-specs/78e748b9-7ba4-457b-81a3-e227de6af5d6/img_ec9b1abba2022e6c9de042a97c65936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1657350"/>
            <a:ext cx="2834640" cy="2194560"/>
          </a:xfrm>
          <a:prstGeom prst="roundRect">
            <a:avLst>
              <a:gd name="adj" fmla="val 6250"/>
            </a:avLst>
          </a:prstGeom>
        </p:spPr>
      </p:pic>
      <p:sp>
        <p:nvSpPr>
          <p:cNvPr id="5" name="1caf2e54-ec45-48f8-b932-64d5b9101d9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Debate: Decisão Baseada em Dados</a:t>
            </a:r>
            <a:endParaRPr lang="en-US" sz="2880" dirty="0"/>
          </a:p>
        </p:txBody>
      </p:sp>
      <p:sp>
        <p:nvSpPr>
          <p:cNvPr id="6" name="e2add68e-26a0-43e5-b033-4e679de60919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o dashboard indica que um produto querido dá prejuízo, o diretor deve retirá-lo de venda ou analisar outros fatores?</a:t>
            </a:r>
            <a:endParaRPr lang="en-US" sz="16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9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72f1084d-d4c2-4849-b0b6-a9510e1e2d36" descr="/home/forge/chalkie-production-workers-3/releases/77481733/backend/storage/app/render-specs/78e748b9-7ba4-457b-81a3-e227de6af5d6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sp>
        <p:nvSpPr>
          <p:cNvPr id="4" name="1caf2e54-ec45-48f8-b932-64d5b9101d9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Debate: Decisão Baseada em Dados</a:t>
            </a:r>
            <a:endParaRPr lang="en-US" sz="2880" dirty="0"/>
          </a:p>
        </p:txBody>
      </p:sp>
      <p:sp>
        <p:nvSpPr>
          <p:cNvPr id="5" name="835318b3-0234-4457-b0eb-f39d86150d0a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poderia ter dito...</a:t>
            </a:r>
            <a:endParaRPr lang="en-US" sz="162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Decisões avaliam se o produto atrai clientes para itens lucrativos.</a:t>
            </a:r>
            <a:endParaRPr lang="en-US" sz="162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Gestores devem investigar se o custo pode ser reduzido antes de cancelar.</a:t>
            </a:r>
            <a:endParaRPr lang="en-US" sz="162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dashboard aponta o sintoma, mas a decisão exige visão sistêmica.</a:t>
            </a:r>
            <a:endParaRPr lang="en-US" sz="1620" dirty="0"/>
          </a:p>
        </p:txBody>
      </p:sp>
      <p:sp>
        <p:nvSpPr>
          <p:cNvPr id="6" name="1c86323e-f1cc-4cb4-a2bb-c9a729b4265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0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b7d9cfd0-2f06-46aa-afcf-c5015e3d0bec"/>
          <p:cNvSpPr/>
          <p:nvPr/>
        </p:nvSpPr>
        <p:spPr>
          <a:xfrm>
            <a:off x="285750" y="2686050"/>
            <a:ext cx="8572500" cy="22860"/>
          </a:xfrm>
          <a:prstGeom prst="roundRect">
            <a:avLst/>
          </a:prstGeom>
          <a:solidFill>
            <a:srgbClr val="D32F2F"/>
          </a:solidFill>
          <a:ln/>
        </p:spPr>
      </p:sp>
      <p:sp>
        <p:nvSpPr>
          <p:cNvPr id="4" name="4bd2b13e-7df7-4379-bafd-7c189ab39166"/>
          <p:cNvSpPr/>
          <p:nvPr/>
        </p:nvSpPr>
        <p:spPr>
          <a:xfrm>
            <a:off x="1451610" y="2537460"/>
            <a:ext cx="320040" cy="3200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5" name="dd9dacd2-a406-463f-aa7d-878a6b31d24e"/>
          <p:cNvSpPr/>
          <p:nvPr/>
        </p:nvSpPr>
        <p:spPr>
          <a:xfrm>
            <a:off x="2937510" y="2537460"/>
            <a:ext cx="320040" cy="3200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6" name="ed9fe549-7b5a-48d7-80e2-49f62e120d6e"/>
          <p:cNvSpPr/>
          <p:nvPr/>
        </p:nvSpPr>
        <p:spPr>
          <a:xfrm>
            <a:off x="4411980" y="2537460"/>
            <a:ext cx="320040" cy="3200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7" name="9232c2fc-8276-4758-8830-f0dc47a5acbf"/>
          <p:cNvSpPr/>
          <p:nvPr/>
        </p:nvSpPr>
        <p:spPr>
          <a:xfrm>
            <a:off x="5886450" y="2537460"/>
            <a:ext cx="320040" cy="3200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8" name="54fa6dae-d805-4cf7-b4ce-8a04ee6f6c73"/>
          <p:cNvSpPr/>
          <p:nvPr/>
        </p:nvSpPr>
        <p:spPr>
          <a:xfrm>
            <a:off x="7372350" y="2537460"/>
            <a:ext cx="320040" cy="3200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9" name="4317c8c1-d810-4656-bb0a-edc1fc9e539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Jornada Completa do Módulo</a:t>
            </a:r>
            <a:endParaRPr lang="en-US" sz="2880" dirty="0"/>
          </a:p>
        </p:txBody>
      </p:sp>
      <p:sp>
        <p:nvSpPr>
          <p:cNvPr id="10" name="681b27d6-3f19-484c-b290-6906351562f4"/>
          <p:cNvSpPr/>
          <p:nvPr/>
        </p:nvSpPr>
        <p:spPr>
          <a:xfrm>
            <a:off x="285750" y="2926080"/>
            <a:ext cx="26631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Aulas 1-2</a:t>
            </a:r>
            <a:endParaRPr lang="en-US" sz="162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Matemática Comercial e Proporções em Gestão</a:t>
            </a:r>
            <a:endParaRPr lang="en-US" sz="1620" dirty="0"/>
          </a:p>
        </p:txBody>
      </p:sp>
      <p:sp>
        <p:nvSpPr>
          <p:cNvPr id="11" name="f72fb9dd-6182-4111-a75c-00036739fc13"/>
          <p:cNvSpPr/>
          <p:nvPr/>
        </p:nvSpPr>
        <p:spPr>
          <a:xfrm>
            <a:off x="1760220" y="960120"/>
            <a:ext cx="2663190" cy="16802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b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Aula 3</a:t>
            </a:r>
            <a:endParaRPr lang="en-US" sz="162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Básico: Interface, Fórmulas e SE</a:t>
            </a:r>
            <a:endParaRPr lang="en-US" sz="1620" dirty="0"/>
          </a:p>
        </p:txBody>
      </p:sp>
      <p:sp>
        <p:nvSpPr>
          <p:cNvPr id="12" name="d1e5beee-42f3-4c09-9b9b-98e5b4156b2b"/>
          <p:cNvSpPr/>
          <p:nvPr/>
        </p:nvSpPr>
        <p:spPr>
          <a:xfrm>
            <a:off x="3246120" y="2926080"/>
            <a:ext cx="26631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Aula 4</a:t>
            </a:r>
            <a:endParaRPr lang="en-US" sz="162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Formatação Profissional e Validação de Células</a:t>
            </a:r>
            <a:endParaRPr lang="en-US" sz="1620" dirty="0"/>
          </a:p>
        </p:txBody>
      </p:sp>
      <p:sp>
        <p:nvSpPr>
          <p:cNvPr id="13" name="04bbd197-f836-4bbc-adc1-d01d2d293960"/>
          <p:cNvSpPr/>
          <p:nvPr/>
        </p:nvSpPr>
        <p:spPr>
          <a:xfrm>
            <a:off x="4720590" y="960120"/>
            <a:ext cx="2663190" cy="16802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b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Aula 5</a:t>
            </a:r>
            <a:endParaRPr lang="en-US" sz="162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Funções Avançadas: PROCV, CONT.SE e SOMAIS</a:t>
            </a:r>
            <a:endParaRPr lang="en-US" sz="1620" dirty="0"/>
          </a:p>
        </p:txBody>
      </p:sp>
      <p:sp>
        <p:nvSpPr>
          <p:cNvPr id="14" name="519c5e4d-637c-4ad5-bad5-f33f9141cbef"/>
          <p:cNvSpPr/>
          <p:nvPr/>
        </p:nvSpPr>
        <p:spPr>
          <a:xfrm>
            <a:off x="6206490" y="2926080"/>
            <a:ext cx="26631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Aulas 6-7</a:t>
            </a:r>
            <a:endParaRPr lang="en-US" sz="162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Tabelas Dinâmicas, Gráficos e Dashboards Finais</a:t>
            </a:r>
            <a:endParaRPr lang="en-US" sz="16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1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95d203f1-e14c-481c-936e-2cdf82f1cc26" descr="/home/forge/chalkie-production-workers-3/releases/77481733/backend/storage/app/render-specs/78e748b9-7ba4-457b-81a3-e227de6af5d6/img_b8e2e30cbb6ba10a8acb00af0ff4be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sp>
        <p:nvSpPr>
          <p:cNvPr id="4" name="adf26bfc-ee6b-4c75-a8d7-0dea3e59117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Simulado para a Avaliação Integrada</a:t>
            </a:r>
            <a:endParaRPr lang="en-US" sz="2880" dirty="0"/>
          </a:p>
        </p:txBody>
      </p:sp>
      <p:sp>
        <p:nvSpPr>
          <p:cNvPr id="5" name="2a9de899-3895-451e-bf64-6f6cc1d1530d"/>
          <p:cNvSpPr/>
          <p:nvPr/>
        </p:nvSpPr>
        <p:spPr>
          <a:xfrm>
            <a:off x="1485900" y="1714500"/>
            <a:ext cx="6400800" cy="2571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duplas, abram a planilha de revisão e realizem as tarefas: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Criem Tabela Dinâmica com média de faturamento por filial.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Insiram gráfico de colunas dinâmico, sem poluição.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Adicionem Segmentador por Categoria às análises.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Recomendem melhoria baseada nos filtros.</a:t>
            </a:r>
            <a:endParaRPr lang="en-US" sz="162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2" descr="/home/forge/chalkie-production-workers-3/releases/77481733/backend/storage/app/render-specs/78e748b9-7ba4-457b-81a3-e227de6af5d6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235a1290-f37c-42fe-ad1f-99c1a8ff8316" descr="/home/forge/chalkie-production-workers-3/releases/77481733/backend/storage/app/render-specs/78e748b9-7ba4-457b-81a3-e227de6af5d6/img_661fced970eeb2d4a03cc4f8e8d9394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5abb2c39-f1f9-4cf4-9a6f-892cef28643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Rumo à Avaliação Integrada!</a:t>
            </a:r>
            <a:endParaRPr lang="en-US" sz="2880" dirty="0"/>
          </a:p>
        </p:txBody>
      </p:sp>
      <p:sp>
        <p:nvSpPr>
          <p:cNvPr id="5" name="103ab358-4f8c-4aba-b09f-e99bddfa664a"/>
          <p:cNvSpPr/>
          <p:nvPr/>
        </p:nvSpPr>
        <p:spPr>
          <a:xfrm>
            <a:off x="285750" y="857250"/>
            <a:ext cx="140589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ENCERRAMENTO</a:t>
            </a:r>
            <a:endParaRPr lang="en-US" sz="1080" dirty="0"/>
          </a:p>
        </p:txBody>
      </p:sp>
      <p:sp>
        <p:nvSpPr>
          <p:cNvPr id="6" name="876dc283-a862-47f8-9031-e08c5d35a244"/>
          <p:cNvSpPr/>
          <p:nvPr/>
        </p:nvSpPr>
        <p:spPr>
          <a:xfrm>
            <a:off x="285750" y="1165860"/>
            <a:ext cx="45720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Parabéns pela Dedicação!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concluiu as 28 horas de aulas teóricas e práticas de Análise de Dados Aplicada à Gestão: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Domine as fórmulas lógicas e as tabelas dinâmicas para a prova de 4 horas.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 de priorizar organização, clareza visual e precisão nos cálculos.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agora possui ferramentas reais para transformar dados brutos em decisões de sucesso!</a:t>
            </a:r>
            <a:endParaRPr lang="en-US" sz="1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Dashboards Executivos e Integração</dc:title>
  <dc:subject>PptxGenJS Presentation</dc:subject>
  <dc:creator>PptxGenJS</dc:creator>
  <cp:lastModifiedBy>PptxGenJS</cp:lastModifiedBy>
  <cp:revision>1</cp:revision>
  <dcterms:created xsi:type="dcterms:W3CDTF">2026-09-11T10:48:07Z</dcterms:created>
  <dcterms:modified xsi:type="dcterms:W3CDTF">2026-09-11T10:48:07Z</dcterms:modified>
</cp:coreProperties>
</file>