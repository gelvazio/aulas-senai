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notesMasterIdLst>
    <p:notesMasterId r:id="rId46"/>
  </p:notesMasterIdLst>
  <p:sldSz cx="9144000" cy="5143500"/>
  <p:notesSz cx="5143500" cy="9144000"/>
  <p:embeddedFontLst>
    <p:embeddedFont>
      <p:font typeface="Inter"/>
      <p:regular r:id="rId51"/>
      <p:bold r:id="rId52"/>
    </p:embeddedFont>
    <p:embeddedFont>
      <p:font typeface="Karla"/>
      <p:regular r:id="rId5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notesMaster" Target="notesMasters/notesMaster1.xml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heme" Target="theme/theme1.xml"/><Relationship Id="rId50" Type="http://schemas.openxmlformats.org/officeDocument/2006/relationships/tableStyles" Target="tableStyles.xml"/><Relationship Id="rId51" Type="http://schemas.openxmlformats.org/officeDocument/2006/relationships/font" Target="fonts/font1.fntdata"/><Relationship Id="rId52" Type="http://schemas.openxmlformats.org/officeDocument/2006/relationships/font" Target="fonts/font2.fntdata"/><Relationship Id="rId53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JMU_ksS3fq4" TargetMode="External"/><Relationship Id="rId1" Type="http://schemas.openxmlformats.org/officeDocument/2006/relationships/image" Target="../media/image-13-1.png"/><Relationship Id="rId2" Type="http://schemas.openxmlformats.org/officeDocument/2006/relationships/image" Target="../media/image-13-2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Relationship Id="rId6" Type="http://schemas.openxmlformats.org/officeDocument/2006/relationships/video" Target="https://www.youtube.com/embed/JMU_ksS3fq4?feature=oembed" TargetMode="Externa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chalkie.ai/player/a2b70bdf-ece8-4d3e-95b6-31020acec47d/cf872303-950a-4ed7-aa91-378f9daff2b8?source=exported_presentation&amp;exportFormat=powerpoint" TargetMode="External"/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chalkie.ai/player/a2b70bdf-ece8-4d3e-95b6-31020acec47d/cf872303-950a-4ed7-aa91-378f9daff2b8?source=exported_presentation&amp;exportFormat=powerpoint" TargetMode="External"/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image" Target="../media/image-3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png"/><Relationship Id="rId3" Type="http://schemas.openxmlformats.org/officeDocument/2006/relationships/image" Target="../media/image-4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image" Target="../media/image-4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1" descr="/home/forge/chalkie-production-workers-3/releases/77481733/backend/storage/app/render-specs/e1b35558-1a9c-4b78-a315-d8c571d0a62a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a7834688-80b7-4a32-b772-28f60e7d8727" descr="/home/forge/chalkie-production-workers-3/releases/77481733/backend/storage/app/render-specs/e1b35558-1a9c-4b78-a315-d8c571d0a62a/img_69e3a4addeec4d5247944979b14bd72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" y="742950"/>
            <a:ext cx="3657600" cy="3657600"/>
          </a:xfrm>
          <a:prstGeom prst="roundRect">
            <a:avLst>
              <a:gd name="adj" fmla="val 3750"/>
            </a:avLst>
          </a:prstGeom>
        </p:spPr>
      </p:pic>
      <p:sp>
        <p:nvSpPr>
          <p:cNvPr id="4" name="ffcdd6c5-a7eb-45c1-a2fb-d5dbd4a17395"/>
          <p:cNvSpPr/>
          <p:nvPr/>
        </p:nvSpPr>
        <p:spPr>
          <a:xfrm>
            <a:off x="4914900" y="1165860"/>
            <a:ext cx="3829050" cy="181965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888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324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Estatística e Lógica Aplicada aos Negócios</a:t>
            </a:r>
            <a:endParaRPr lang="en-US" sz="3240" dirty="0"/>
          </a:p>
        </p:txBody>
      </p:sp>
      <p:sp>
        <p:nvSpPr>
          <p:cNvPr id="5" name="e9c4e89b-141d-4b25-9947-e17547212edc"/>
          <p:cNvSpPr/>
          <p:nvPr/>
        </p:nvSpPr>
        <p:spPr>
          <a:xfrm>
            <a:off x="4914900" y="2823210"/>
            <a:ext cx="3829050" cy="9555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Decisões inteligentes usando números, porcentagens e tendências reais na gestão.</a:t>
            </a:r>
            <a:endParaRPr lang="en-US" sz="16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2" descr="/home/forge/chalkie-production-workers-3/releases/77481733/backend/storage/app/render-specs/e1b35558-1a9c-4b78-a315-d8c571d0a62a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2d5189fe-8625-4ceb-81f0-ce7689512e17" descr="/home/forge/chalkie-production-workers-3/releases/77481733/backend/storage/app/render-specs/e1b35558-1a9c-4b78-a315-d8c571d0a62a/img_59e17192f8db76a7a744490d7fe7c08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7850" y="0"/>
            <a:ext cx="3486150" cy="5143500"/>
          </a:xfrm>
          <a:prstGeom prst="roundRect">
            <a:avLst>
              <a:gd name="adj" fmla="val 3934"/>
            </a:avLst>
          </a:prstGeom>
        </p:spPr>
      </p:pic>
      <p:sp>
        <p:nvSpPr>
          <p:cNvPr id="4" name="39b8ef47-80b2-431e-993a-50825ecbff54"/>
          <p:cNvSpPr/>
          <p:nvPr/>
        </p:nvSpPr>
        <p:spPr>
          <a:xfrm>
            <a:off x="285750" y="1463040"/>
            <a:ext cx="5143500" cy="111556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Decidir no Chute ou com Dados?</a:t>
            </a:r>
            <a:endParaRPr lang="en-US" sz="2880" dirty="0"/>
          </a:p>
        </p:txBody>
      </p:sp>
      <p:sp>
        <p:nvSpPr>
          <p:cNvPr id="5" name="d3cea941-ad05-47a0-9ece-3d0f70f655bd"/>
          <p:cNvSpPr/>
          <p:nvPr/>
        </p:nvSpPr>
        <p:spPr>
          <a:xfrm>
            <a:off x="285750" y="2514600"/>
            <a:ext cx="5143500" cy="9555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Imagine uma loja com 500 produtos em estoque. Como o gerente sabe exatamente qual item comprar mais sem arriscar prejuízo?</a:t>
            </a:r>
            <a:endParaRPr lang="en-US" sz="16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3" descr="/home/forge/chalkie-production-workers-3/releases/77481733/backend/storage/app/render-specs/e1b35558-1a9c-4b78-a315-d8c571d0a62a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2476907e-96cc-46d6-9393-4410abdc1809" descr="/home/forge/chalkie-production-workers-3/releases/77481733/backend/storage/app/render-specs/e1b35558-1a9c-4b78-a315-d8c571d0a62a/img_fcb3d635d250a5a824b77cf810c55bb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788670"/>
            <a:ext cx="3829050" cy="4069080"/>
          </a:xfrm>
          <a:prstGeom prst="roundRect">
            <a:avLst>
              <a:gd name="adj" fmla="val 3582"/>
            </a:avLst>
          </a:prstGeom>
        </p:spPr>
      </p:pic>
      <p:sp>
        <p:nvSpPr>
          <p:cNvPr id="4" name="69d272be-f534-463c-b4a0-90f062936343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Objetivos da Nossa Aula</a:t>
            </a:r>
            <a:endParaRPr lang="en-US" sz="2880" dirty="0"/>
          </a:p>
        </p:txBody>
      </p:sp>
      <p:sp>
        <p:nvSpPr>
          <p:cNvPr id="5" name="1d3ed4c5-89d0-49cf-a5fc-2f0019fc94a7"/>
          <p:cNvSpPr/>
          <p:nvPr/>
        </p:nvSpPr>
        <p:spPr>
          <a:xfrm>
            <a:off x="4286250" y="857250"/>
            <a:ext cx="2103120" cy="262890"/>
          </a:xfrm>
          <a:prstGeom prst="roundRect">
            <a:avLst>
              <a:gd name="adj" fmla="val 17391"/>
            </a:avLst>
          </a:prstGeom>
          <a:solidFill>
            <a:srgbClr val="D32F2F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METAS DE APRENDIZAGEM</a:t>
            </a:r>
            <a:endParaRPr lang="en-US" sz="1080" dirty="0"/>
          </a:p>
        </p:txBody>
      </p:sp>
      <p:sp>
        <p:nvSpPr>
          <p:cNvPr id="6" name="03282124-ab70-4f73-8e60-370d8c72e470"/>
          <p:cNvSpPr/>
          <p:nvPr/>
        </p:nvSpPr>
        <p:spPr>
          <a:xfrm>
            <a:off x="4286250" y="1165860"/>
            <a:ext cx="4572000" cy="9555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Nesta aula você desenvolverá competências analíticas indispensáveis para o mercado:</a:t>
            </a:r>
            <a:endParaRPr lang="en-US" sz="162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Calcular e interpretar</a:t>
            </a:r>
            <a:pPr algn="l" indent="0" marL="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variações percentuais em lucros, custos e descontos comerciais.</a:t>
            </a:r>
            <a:endParaRPr lang="en-US" sz="162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Aplicar medidas estatísticas</a:t>
            </a:r>
            <a:pPr algn="l" indent="0" marL="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 tendência central e dispersão em dados operacionais.</a:t>
            </a:r>
            <a:endParaRPr lang="en-US" sz="1620" dirty="0"/>
          </a:p>
          <a:p>
            <a:pPr algn="l" marL="228600" indent="-6858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Identificar padrões lógicos</a:t>
            </a:r>
            <a:pPr algn="l" indent="0" marL="0">
              <a:lnSpc>
                <a:spcPts val="1944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 frequências para prever cenários e evitar erros de gestão.</a:t>
            </a:r>
            <a:endParaRPr lang="en-US" sz="16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4" descr="/home/forge/chalkie-production-workers-3/releases/77481733/backend/storage/app/render-specs/e1b35558-1a9c-4b78-a315-d8c571d0a62a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270c2e88-f41b-43ba-a9b4-37fceaf34118" descr="/home/forge/chalkie-production-workers-3/releases/77481733/backend/storage/app/render-specs/e1b35558-1a9c-4b78-a315-d8c571d0a62a/img_2f2348221289cd7a56d87729aa08c6d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1588770"/>
            <a:ext cx="1977390" cy="1714500"/>
          </a:xfrm>
          <a:prstGeom prst="roundRect">
            <a:avLst>
              <a:gd name="adj" fmla="val 8000"/>
            </a:avLst>
          </a:prstGeom>
        </p:spPr>
      </p:pic>
      <p:pic>
        <p:nvPicPr>
          <p:cNvPr id="4" name="57a2da49-9d45-4dee-8dce-92297af04648" descr="/home/forge/chalkie-production-workers-3/releases/77481733/backend/storage/app/render-specs/e1b35558-1a9c-4b78-a315-d8c571d0a62a/img_7a8b93d10b15183d3b0ae1f988f41e8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1740" y="902970"/>
            <a:ext cx="1977390" cy="1714500"/>
          </a:xfrm>
          <a:prstGeom prst="roundRect">
            <a:avLst>
              <a:gd name="adj" fmla="val 8000"/>
            </a:avLst>
          </a:prstGeom>
        </p:spPr>
      </p:pic>
      <p:pic>
        <p:nvPicPr>
          <p:cNvPr id="5" name="2aa1398b-fcd6-43c4-870c-ce8893180793" descr="/home/forge/chalkie-production-workers-3/releases/77481733/backend/storage/app/render-specs/e1b35558-1a9c-4b78-a315-d8c571d0a62a/img_c65fae050a67c2114fdf42b25b86cc49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6300" y="1588770"/>
            <a:ext cx="1977390" cy="1714500"/>
          </a:xfrm>
          <a:prstGeom prst="roundRect">
            <a:avLst>
              <a:gd name="adj" fmla="val 8000"/>
            </a:avLst>
          </a:prstGeom>
        </p:spPr>
      </p:pic>
      <p:pic>
        <p:nvPicPr>
          <p:cNvPr id="6" name="64ef88ff-5dba-4c9b-aae2-ac3f6667dbf0" descr="/home/forge/chalkie-production-workers-3/releases/77481733/backend/storage/app/render-specs/e1b35558-1a9c-4b78-a315-d8c571d0a62a/img_9b75028977c9ff6eaa9140510127b64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2290" y="902970"/>
            <a:ext cx="1977390" cy="1714500"/>
          </a:xfrm>
          <a:prstGeom prst="roundRect">
            <a:avLst>
              <a:gd name="adj" fmla="val 8000"/>
            </a:avLst>
          </a:prstGeom>
        </p:spPr>
      </p:pic>
      <p:sp>
        <p:nvSpPr>
          <p:cNvPr id="7" name="cff989cf-efbf-4b96-a8cd-b433e5846939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Vocabulário Essencial da Gestão</a:t>
            </a:r>
            <a:endParaRPr lang="en-US" sz="2880" dirty="0"/>
          </a:p>
        </p:txBody>
      </p:sp>
      <p:sp>
        <p:nvSpPr>
          <p:cNvPr id="8" name="4d850260-6d14-4f84-98ea-83d84293c4cb"/>
          <p:cNvSpPr/>
          <p:nvPr/>
        </p:nvSpPr>
        <p:spPr>
          <a:xfrm>
            <a:off x="285750" y="3417570"/>
            <a:ext cx="1977390" cy="18516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ctr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98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Média</a:t>
            </a:r>
            <a:endParaRPr lang="en-US" sz="1980" dirty="0"/>
          </a:p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Equilíbrio numérico obtido pela soma dividida pela contagem.</a:t>
            </a:r>
            <a:endParaRPr lang="en-US" sz="1980" dirty="0"/>
          </a:p>
        </p:txBody>
      </p:sp>
      <p:sp>
        <p:nvSpPr>
          <p:cNvPr id="9" name="1fe9061d-54d1-4a2f-98f6-1900e4c46dba"/>
          <p:cNvSpPr/>
          <p:nvPr/>
        </p:nvSpPr>
        <p:spPr>
          <a:xfrm>
            <a:off x="2491740" y="2731770"/>
            <a:ext cx="1977390" cy="149961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ctr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98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Porcentagem</a:t>
            </a:r>
            <a:endParaRPr lang="en-US" sz="1980" dirty="0"/>
          </a:p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Razão matemática por cem para medir partes e variações.</a:t>
            </a:r>
            <a:endParaRPr lang="en-US" sz="1980" dirty="0"/>
          </a:p>
        </p:txBody>
      </p:sp>
      <p:sp>
        <p:nvSpPr>
          <p:cNvPr id="10" name="032ebe08-0c08-47f7-b409-d2b627a27964"/>
          <p:cNvSpPr/>
          <p:nvPr/>
        </p:nvSpPr>
        <p:spPr>
          <a:xfrm>
            <a:off x="4686300" y="3417570"/>
            <a:ext cx="1977390" cy="149961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ctr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98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Desvio</a:t>
            </a:r>
            <a:endParaRPr lang="en-US" sz="1980" dirty="0"/>
          </a:p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Distância entre cada dado coletado e a média geral.</a:t>
            </a:r>
            <a:endParaRPr lang="en-US" sz="1980" dirty="0"/>
          </a:p>
        </p:txBody>
      </p:sp>
      <p:sp>
        <p:nvSpPr>
          <p:cNvPr id="11" name="64616b6c-6b46-4414-bc08-cec76fa5a54a"/>
          <p:cNvSpPr/>
          <p:nvPr/>
        </p:nvSpPr>
        <p:spPr>
          <a:xfrm>
            <a:off x="6892290" y="2731770"/>
            <a:ext cx="1977390" cy="18516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ctr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98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Frequência</a:t>
            </a:r>
            <a:endParaRPr lang="en-US" sz="1980" dirty="0"/>
          </a:p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Número de ocorrências de determinado evento em uma amostragem.</a:t>
            </a:r>
            <a:endParaRPr lang="en-US" sz="19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5" descr="/home/forge/chalkie-production-workers-3/releases/77481733/backend/storage/app/render-specs/e1b35558-1a9c-4b78-a315-d8c571d0a62a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88cda21d-3dc8-494d-85d7-8e72523e220c" descr="/home/forge/chalkie-production-workers-3/releases/77481733/backend/storage/app/render-specs/e1b35558-1a9c-4b78-a315-d8c571d0a62a/img_d7f984dc5c87f54006e9a7443021c3d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788670"/>
            <a:ext cx="3829050" cy="4069080"/>
          </a:xfrm>
          <a:prstGeom prst="roundRect">
            <a:avLst>
              <a:gd name="adj" fmla="val 3582"/>
            </a:avLst>
          </a:prstGeom>
        </p:spPr>
      </p:pic>
      <p:sp>
        <p:nvSpPr>
          <p:cNvPr id="4" name="e0b9e0b3-fe75-4792-9733-11e503aa29c0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Ponte com a Aula Anterior</a:t>
            </a:r>
            <a:endParaRPr lang="en-US" sz="2880" dirty="0"/>
          </a:p>
        </p:txBody>
      </p:sp>
      <p:sp>
        <p:nvSpPr>
          <p:cNvPr id="5" name="90fc585e-c507-4a75-b904-3c4f47072c0d"/>
          <p:cNvSpPr/>
          <p:nvPr/>
        </p:nvSpPr>
        <p:spPr>
          <a:xfrm>
            <a:off x="285750" y="857250"/>
            <a:ext cx="1417320" cy="262890"/>
          </a:xfrm>
          <a:prstGeom prst="roundRect">
            <a:avLst>
              <a:gd name="adj" fmla="val 17391"/>
            </a:avLst>
          </a:prstGeom>
          <a:solidFill>
            <a:srgbClr val="D32F2F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RECAPITULAÇÃO</a:t>
            </a:r>
            <a:endParaRPr lang="en-US" sz="1080" dirty="0"/>
          </a:p>
        </p:txBody>
      </p:sp>
      <p:sp>
        <p:nvSpPr>
          <p:cNvPr id="6" name="0e2da4b5-94fd-4ebd-ac22-1af6f8ae70bc"/>
          <p:cNvSpPr/>
          <p:nvPr/>
        </p:nvSpPr>
        <p:spPr>
          <a:xfrm>
            <a:off x="285750" y="1165860"/>
            <a:ext cx="4572000" cy="239572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 aula passada, exploramos como as 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operações fundamentais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 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proporção direta e inversa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 a 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regra de três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equilibram orçamentos e insumos.</a:t>
            </a:r>
            <a:endParaRPr lang="en-US" sz="162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 gestão moderna de compras, se a demanda sobe 50%, a regra de três ajusta os pedidos de compra para impedir o desabastecimento da fábrica.</a:t>
            </a:r>
            <a:endParaRPr lang="en-US" sz="1620" dirty="0"/>
          </a:p>
        </p:txBody>
      </p:sp>
      <p:sp>
        <p:nvSpPr>
          <p:cNvPr id="7" name="d31d4859-e569-40dd-a571-4b4392a4a6c8_card"/>
          <p:cNvSpPr/>
          <p:nvPr/>
        </p:nvSpPr>
        <p:spPr>
          <a:xfrm>
            <a:off x="285750" y="3509010"/>
            <a:ext cx="4572000" cy="1348740"/>
          </a:xfrm>
          <a:prstGeom prst="roundRect">
            <a:avLst>
              <a:gd name="adj" fmla="val 6780"/>
            </a:avLst>
          </a:prstGeom>
          <a:solidFill>
            <a:srgbClr val="E6F1FB"/>
          </a:solidFill>
          <a:ln w="11430">
            <a:solidFill>
              <a:srgbClr val="0B2F50">
                <a:alpha val="20000"/>
              </a:srgbClr>
            </a:solidFill>
            <a:prstDash val="solid"/>
          </a:ln>
        </p:spPr>
      </p:sp>
      <p:sp>
        <p:nvSpPr>
          <p:cNvPr id="8" name="d31d4859-e569-40dd-a571-4b4392a4a6c8_emoji"/>
          <p:cNvSpPr/>
          <p:nvPr/>
        </p:nvSpPr>
        <p:spPr>
          <a:xfrm>
            <a:off x="400050" y="365760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🧠</a:t>
            </a:r>
            <a:endParaRPr lang="en-US" sz="2160" dirty="0"/>
          </a:p>
        </p:txBody>
      </p:sp>
      <p:sp>
        <p:nvSpPr>
          <p:cNvPr id="9" name="d31d4859-e569-40dd-a571-4b4392a4a6c8_text"/>
          <p:cNvSpPr/>
          <p:nvPr/>
        </p:nvSpPr>
        <p:spPr>
          <a:xfrm>
            <a:off x="765810" y="3623310"/>
            <a:ext cx="3977640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440" b="1" dirty="0">
                <a:solidFill>
                  <a:srgbClr val="0B2F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Lembre-se</a:t>
            </a:r>
            <a:endParaRPr lang="en-US" sz="144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B2F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Proporção é a igualdade entre razões. Ela nos permite projetar quantidades com precisão matemática.</a:t>
            </a:r>
            <a:endParaRPr lang="en-US" sz="14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6" descr="/home/forge/chalkie-production-workers-3/releases/77481733/backend/storage/app/render-specs/e1b35558-1a9c-4b78-a315-d8c571d0a62a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sp>
        <p:nvSpPr>
          <p:cNvPr id="3" name="32eaf561-d104-4459-82c4-933fed32f57b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Desafio de Proporção em Estoque</a:t>
            </a:r>
            <a:endParaRPr lang="en-US" sz="2880" dirty="0"/>
          </a:p>
        </p:txBody>
      </p:sp>
      <p:sp>
        <p:nvSpPr>
          <p:cNvPr id="4" name="357a83f0-50f4-462a-a4aa-6264abdbb279"/>
          <p:cNvSpPr/>
          <p:nvPr/>
        </p:nvSpPr>
        <p:spPr>
          <a:xfrm>
            <a:off x="285750" y="685800"/>
            <a:ext cx="8572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4 caixas contêm 200 parafusos industriais, quantos parafusos teremos em 9 caixas idênticas?</a:t>
            </a:r>
            <a:endParaRPr lang="en-US" sz="1620" dirty="0"/>
          </a:p>
        </p:txBody>
      </p:sp>
      <p:sp>
        <p:nvSpPr>
          <p:cNvPr id="5" name="2c348e33-297e-4317-a21c-67b350a4f0bb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02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5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</a:t>
            </a:r>
            <a:endParaRPr lang="en-US" sz="2520" dirty="0"/>
          </a:p>
        </p:txBody>
      </p:sp>
      <p:sp>
        <p:nvSpPr>
          <p:cNvPr id="6" name="175b70ad-6ff2-47d0-8cc6-37412be2ce87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500 parafusos</a:t>
            </a:r>
            <a:endParaRPr lang="en-US" sz="1620" dirty="0"/>
          </a:p>
        </p:txBody>
      </p:sp>
      <p:sp>
        <p:nvSpPr>
          <p:cNvPr id="7" name="fade3bd6-a4d3-4ecd-94fc-dff67bd192a7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02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5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</a:t>
            </a:r>
            <a:endParaRPr lang="en-US" sz="2520" dirty="0"/>
          </a:p>
        </p:txBody>
      </p:sp>
      <p:sp>
        <p:nvSpPr>
          <p:cNvPr id="8" name="a7f42617-76bb-4036-8d58-afea39c26936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400 parafusos</a:t>
            </a:r>
            <a:endParaRPr lang="en-US" sz="1620" dirty="0"/>
          </a:p>
        </p:txBody>
      </p:sp>
      <p:sp>
        <p:nvSpPr>
          <p:cNvPr id="9" name="6efbbe35-70e4-465f-b988-8b0af3e73245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02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5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</a:t>
            </a:r>
            <a:endParaRPr lang="en-US" sz="2520" dirty="0"/>
          </a:p>
        </p:txBody>
      </p:sp>
      <p:sp>
        <p:nvSpPr>
          <p:cNvPr id="10" name="0211129c-94d7-4984-94dc-5d40685008f9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350 parafusos</a:t>
            </a:r>
            <a:endParaRPr lang="en-US" sz="1620" dirty="0"/>
          </a:p>
        </p:txBody>
      </p:sp>
      <p:sp>
        <p:nvSpPr>
          <p:cNvPr id="11" name="21508e1d-3b2f-42af-8ea8-1499688e8c99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02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5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</a:t>
            </a:r>
            <a:endParaRPr lang="en-US" sz="2520" dirty="0"/>
          </a:p>
        </p:txBody>
      </p:sp>
      <p:sp>
        <p:nvSpPr>
          <p:cNvPr id="12" name="41737d5e-f726-4e02-be63-94fc13ca1afb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450 parafusos</a:t>
            </a:r>
            <a:endParaRPr lang="en-US" sz="16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7" descr="/home/forge/chalkie-production-workers-3/releases/77481733/backend/storage/app/render-specs/e1b35558-1a9c-4b78-a315-d8c571d0a62a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sp>
        <p:nvSpPr>
          <p:cNvPr id="3" name="32eaf561-d104-4459-82c4-933fed32f57b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Desafio de Proporção em Estoque</a:t>
            </a:r>
            <a:endParaRPr lang="en-US" sz="2880" dirty="0"/>
          </a:p>
        </p:txBody>
      </p:sp>
      <p:sp>
        <p:nvSpPr>
          <p:cNvPr id="4" name="357a83f0-50f4-462a-a4aa-6264abdbb279"/>
          <p:cNvSpPr/>
          <p:nvPr/>
        </p:nvSpPr>
        <p:spPr>
          <a:xfrm>
            <a:off x="285750" y="685800"/>
            <a:ext cx="8572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4 caixas contêm 200 parafusos industriais, quantos parafusos teremos em 9 caixas idênticas?</a:t>
            </a:r>
            <a:endParaRPr lang="en-US" sz="1620" dirty="0"/>
          </a:p>
        </p:txBody>
      </p:sp>
      <p:sp>
        <p:nvSpPr>
          <p:cNvPr id="5" name="2c348e33-297e-4317-a21c-67b350a4f0bb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02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5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</a:t>
            </a:r>
            <a:endParaRPr lang="en-US" sz="2520" dirty="0"/>
          </a:p>
        </p:txBody>
      </p:sp>
      <p:sp>
        <p:nvSpPr>
          <p:cNvPr id="6" name="175b70ad-6ff2-47d0-8cc6-37412be2ce87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500 parafusos</a:t>
            </a:r>
            <a:endParaRPr lang="en-US" sz="1620" dirty="0"/>
          </a:p>
        </p:txBody>
      </p:sp>
      <p:sp>
        <p:nvSpPr>
          <p:cNvPr id="7" name="fade3bd6-a4d3-4ecd-94fc-dff67bd192a7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02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5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</a:t>
            </a:r>
            <a:endParaRPr lang="en-US" sz="2520" dirty="0"/>
          </a:p>
        </p:txBody>
      </p:sp>
      <p:sp>
        <p:nvSpPr>
          <p:cNvPr id="8" name="a7f42617-76bb-4036-8d58-afea39c26936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400 parafusos</a:t>
            </a:r>
            <a:endParaRPr lang="en-US" sz="1620" dirty="0"/>
          </a:p>
        </p:txBody>
      </p:sp>
      <p:sp>
        <p:nvSpPr>
          <p:cNvPr id="9" name="6efbbe35-70e4-465f-b988-8b0af3e73245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02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5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</a:t>
            </a:r>
            <a:endParaRPr lang="en-US" sz="2520" dirty="0"/>
          </a:p>
        </p:txBody>
      </p:sp>
      <p:sp>
        <p:nvSpPr>
          <p:cNvPr id="10" name="0211129c-94d7-4984-94dc-5d40685008f9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350 parafusos</a:t>
            </a:r>
            <a:endParaRPr lang="en-US" sz="1620" dirty="0"/>
          </a:p>
        </p:txBody>
      </p:sp>
      <p:sp>
        <p:nvSpPr>
          <p:cNvPr id="11" name="21508e1d-3b2f-42af-8ea8-1499688e8c99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02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5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</a:t>
            </a:r>
            <a:endParaRPr lang="en-US" sz="2520" dirty="0"/>
          </a:p>
        </p:txBody>
      </p:sp>
      <p:sp>
        <p:nvSpPr>
          <p:cNvPr id="12" name="41737d5e-f726-4e02-be63-94fc13ca1afb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2C6E49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450 parafusos</a:t>
            </a:r>
            <a:endParaRPr lang="en-US" sz="1620" dirty="0"/>
          </a:p>
        </p:txBody>
      </p:sp>
      <p:sp>
        <p:nvSpPr>
          <p:cNvPr id="13" name="6a15f3fb-5fb6-4a58-84cf-577fd72faa40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r" indent="0" marL="0">
              <a:lnSpc>
                <a:spcPts val="432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36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endParaRPr lang="en-US" sz="3600" dirty="0"/>
          </a:p>
        </p:txBody>
      </p:sp>
      <p:sp>
        <p:nvSpPr>
          <p:cNvPr id="14" name="1b16be85-0429-4e7a-9476-c2870223c21d"/>
          <p:cNvSpPr/>
          <p:nvPr/>
        </p:nvSpPr>
        <p:spPr>
          <a:xfrm>
            <a:off x="8721090" y="409194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2C6E49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404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17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8" descr="/home/forge/chalkie-production-workers-3/releases/77481733/backend/storage/app/render-specs/e1b35558-1a9c-4b78-a315-d8c571d0a62a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021281d9-f629-4fab-94e0-845bf9ed31ea" descr="/home/forge/chalkie-production-workers-3/releases/77481733/backend/storage/app/render-specs/e1b35558-1a9c-4b78-a315-d8c571d0a62a/img_77ffd39dc0d61050fc3e7e26bf74afc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788670"/>
            <a:ext cx="3829050" cy="4069080"/>
          </a:xfrm>
          <a:prstGeom prst="roundRect">
            <a:avLst>
              <a:gd name="adj" fmla="val 3582"/>
            </a:avLst>
          </a:prstGeom>
        </p:spPr>
      </p:pic>
      <p:sp>
        <p:nvSpPr>
          <p:cNvPr id="4" name="0fc69ff5-d63e-4c30-a7e7-8790579d6f74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Entendendo Porcentagem nos Negócios</a:t>
            </a:r>
            <a:endParaRPr lang="en-US" sz="2880" dirty="0"/>
          </a:p>
        </p:txBody>
      </p:sp>
      <p:sp>
        <p:nvSpPr>
          <p:cNvPr id="5" name="9534ee68-1fc5-4bce-b737-7fde2620b5db"/>
          <p:cNvSpPr/>
          <p:nvPr/>
        </p:nvSpPr>
        <p:spPr>
          <a:xfrm>
            <a:off x="4286250" y="857250"/>
            <a:ext cx="1325880" cy="262890"/>
          </a:xfrm>
          <a:prstGeom prst="roundRect">
            <a:avLst>
              <a:gd name="adj" fmla="val 17391"/>
            </a:avLst>
          </a:prstGeom>
          <a:solidFill>
            <a:srgbClr val="D32F2F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FUNDAMENTOS</a:t>
            </a:r>
            <a:endParaRPr lang="en-US" sz="1080" dirty="0"/>
          </a:p>
        </p:txBody>
      </p:sp>
      <p:sp>
        <p:nvSpPr>
          <p:cNvPr id="6" name="2f7a0851-e4dc-4d47-86db-f85a7e03f0b1"/>
          <p:cNvSpPr/>
          <p:nvPr/>
        </p:nvSpPr>
        <p:spPr>
          <a:xfrm>
            <a:off x="4286250" y="1165860"/>
            <a:ext cx="4572000" cy="239572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porcentagem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traduz qualquer fração para uma base comum de 100 partes. Isso simplifica a comparação entre operações de portes totalmente distintos.</a:t>
            </a:r>
            <a:endParaRPr lang="en-US" sz="162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Comparar o lucro de R$ 50 mil de uma fábrica com o de R$ 5 mil de uma papelaria só é justo calculando a 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taxa percentual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sobre o investimento.</a:t>
            </a:r>
            <a:endParaRPr lang="en-US" sz="1620" dirty="0"/>
          </a:p>
        </p:txBody>
      </p:sp>
      <p:sp>
        <p:nvSpPr>
          <p:cNvPr id="7" name="a9afcb96-47ae-4b93-9ef4-c3db2d62cc3d_card"/>
          <p:cNvSpPr/>
          <p:nvPr/>
        </p:nvSpPr>
        <p:spPr>
          <a:xfrm>
            <a:off x="4286250" y="3509010"/>
            <a:ext cx="4572000" cy="1348740"/>
          </a:xfrm>
          <a:prstGeom prst="roundRect">
            <a:avLst>
              <a:gd name="adj" fmla="val 6780"/>
            </a:avLst>
          </a:prstGeom>
          <a:solidFill>
            <a:srgbClr val="FAEFDA"/>
          </a:solidFill>
          <a:ln w="11430">
            <a:solidFill>
              <a:srgbClr val="573B06">
                <a:alpha val="20000"/>
              </a:srgbClr>
            </a:solidFill>
            <a:prstDash val="solid"/>
          </a:ln>
        </p:spPr>
      </p:sp>
      <p:sp>
        <p:nvSpPr>
          <p:cNvPr id="8" name="a9afcb96-47ae-4b93-9ef4-c3db2d62cc3d_emoji"/>
          <p:cNvSpPr/>
          <p:nvPr/>
        </p:nvSpPr>
        <p:spPr>
          <a:xfrm>
            <a:off x="4400550" y="365760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🔑</a:t>
            </a:r>
            <a:endParaRPr lang="en-US" sz="2160" dirty="0"/>
          </a:p>
        </p:txBody>
      </p:sp>
      <p:sp>
        <p:nvSpPr>
          <p:cNvPr id="9" name="a9afcb96-47ae-4b93-9ef4-c3db2d62cc3d_text"/>
          <p:cNvSpPr/>
          <p:nvPr/>
        </p:nvSpPr>
        <p:spPr>
          <a:xfrm>
            <a:off x="4766310" y="3623310"/>
            <a:ext cx="3977640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440" b="1" dirty="0">
                <a:solidFill>
                  <a:srgbClr val="573B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Ponto-chave</a:t>
            </a:r>
            <a:endParaRPr lang="en-US" sz="144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573B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Calcular 25% equivale a multiplicar pelo fator decimal 0,25 ou dividir por 4.</a:t>
            </a:r>
            <a:endParaRPr lang="en-US" sz="14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9" descr="/home/forge/chalkie-production-workers-3/releases/77481733/backend/storage/app/render-specs/e1b35558-1a9c-4b78-a315-d8c571d0a62a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4f78b3c4-bbe9-4621-a1db-d78e5bd0b8e6" descr="/home/forge/chalkie-production-workers-3/releases/77481733/backend/storage/app/render-specs/e1b35558-1a9c-4b78-a315-d8c571d0a62a/img_3febdf1596697489ebcffa2117e50bb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1668780"/>
            <a:ext cx="8572500" cy="2057400"/>
          </a:xfrm>
          <a:prstGeom prst="roundRect">
            <a:avLst>
              <a:gd name="adj" fmla="val 6667"/>
            </a:avLst>
          </a:prstGeom>
        </p:spPr>
      </p:pic>
      <p:sp>
        <p:nvSpPr>
          <p:cNvPr id="4" name="fea0a9cc-e6fa-4d53-8277-3e3b02953834"/>
          <p:cNvSpPr/>
          <p:nvPr/>
        </p:nvSpPr>
        <p:spPr>
          <a:xfrm>
            <a:off x="285750" y="18288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Cálculo da Variação Percentual</a:t>
            </a:r>
            <a:endParaRPr lang="en-US" sz="2880" dirty="0"/>
          </a:p>
        </p:txBody>
      </p:sp>
      <p:sp>
        <p:nvSpPr>
          <p:cNvPr id="5" name="3ba0e050-da91-4aa5-b21c-43df183ddc5c"/>
          <p:cNvSpPr/>
          <p:nvPr/>
        </p:nvSpPr>
        <p:spPr>
          <a:xfrm>
            <a:off x="285750" y="800100"/>
            <a:ext cx="8572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Fórmula: 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Var% = ((Final - Inicial) ÷ Inicial) × 100</a:t>
            </a:r>
            <a:endParaRPr lang="en-US" sz="162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Ex: R$ 80k p/ R$ 100k: ((100-80)÷80)×100 = 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+25%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620" dirty="0"/>
          </a:p>
        </p:txBody>
      </p:sp>
      <p:sp>
        <p:nvSpPr>
          <p:cNvPr id="6" name="b15d6a91-6ece-47d5-9532-5156e18dc321_card"/>
          <p:cNvSpPr/>
          <p:nvPr/>
        </p:nvSpPr>
        <p:spPr>
          <a:xfrm>
            <a:off x="285750" y="3863340"/>
            <a:ext cx="8572500" cy="854964"/>
          </a:xfrm>
          <a:prstGeom prst="roundRect">
            <a:avLst>
              <a:gd name="adj" fmla="val 10695"/>
            </a:avLst>
          </a:prstGeom>
          <a:solidFill>
            <a:srgbClr val="E1F6EF"/>
          </a:solidFill>
          <a:ln w="11430">
            <a:solidFill>
              <a:srgbClr val="084D36">
                <a:alpha val="20000"/>
              </a:srgbClr>
            </a:solidFill>
            <a:prstDash val="solid"/>
          </a:ln>
        </p:spPr>
      </p:sp>
      <p:sp>
        <p:nvSpPr>
          <p:cNvPr id="7" name="b15d6a91-6ece-47d5-9532-5156e18dc321_emoji"/>
          <p:cNvSpPr/>
          <p:nvPr/>
        </p:nvSpPr>
        <p:spPr>
          <a:xfrm>
            <a:off x="400050" y="401193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🔍</a:t>
            </a:r>
            <a:endParaRPr lang="en-US" sz="2160" dirty="0"/>
          </a:p>
        </p:txBody>
      </p:sp>
      <p:sp>
        <p:nvSpPr>
          <p:cNvPr id="8" name="b15d6a91-6ece-47d5-9532-5156e18dc321_text"/>
          <p:cNvSpPr/>
          <p:nvPr/>
        </p:nvSpPr>
        <p:spPr>
          <a:xfrm>
            <a:off x="765810" y="3977640"/>
            <a:ext cx="7978140" cy="626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440" b="1" dirty="0">
                <a:solidFill>
                  <a:srgbClr val="084D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Exemplo</a:t>
            </a:r>
            <a:endParaRPr lang="en-US" sz="144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84D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Despesas R$ 50k p/ R$ 40k: 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084D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-20%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84D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(redução).</a:t>
            </a:r>
            <a:endParaRPr lang="en-US" sz="14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10" descr="/home/forge/chalkie-production-workers-3/releases/77481733/backend/storage/app/render-specs/e1b35558-1a9c-4b78-a315-d8c571d0a62a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2e5ea1fc-ddee-4c60-839b-b603de74cd21" descr="/home/forge/chalkie-production-workers-3/releases/77481733/backend/storage/app/render-specs/e1b35558-1a9c-4b78-a315-d8c571d0a62a/img_3500514997146ff22cdda3cf0b937c4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822960"/>
            <a:ext cx="4194810" cy="2057400"/>
          </a:xfrm>
          <a:prstGeom prst="roundRect">
            <a:avLst>
              <a:gd name="adj" fmla="val 6667"/>
            </a:avLst>
          </a:prstGeom>
        </p:spPr>
      </p:pic>
      <p:pic>
        <p:nvPicPr>
          <p:cNvPr id="4" name="e0b049ac-e5f0-4d87-921c-9c3ef840a79c" descr="/home/forge/chalkie-production-workers-3/releases/77481733/backend/storage/app/render-specs/e1b35558-1a9c-4b78-a315-d8c571d0a62a/img_9fd17f2e665349eab2a80eca8c9de80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2010" y="822960"/>
            <a:ext cx="4194810" cy="2057400"/>
          </a:xfrm>
          <a:prstGeom prst="roundRect">
            <a:avLst>
              <a:gd name="adj" fmla="val 6667"/>
            </a:avLst>
          </a:prstGeom>
        </p:spPr>
      </p:pic>
      <p:sp>
        <p:nvSpPr>
          <p:cNvPr id="5" name="b96dafd6-f04a-4301-bddf-cb365f0f3f60"/>
          <p:cNvSpPr/>
          <p:nvPr/>
        </p:nvSpPr>
        <p:spPr>
          <a:xfrm>
            <a:off x="285750" y="20574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Margem de Lucro e Formação de Preço</a:t>
            </a:r>
            <a:endParaRPr lang="en-US" sz="2880" dirty="0"/>
          </a:p>
        </p:txBody>
      </p:sp>
      <p:sp>
        <p:nvSpPr>
          <p:cNvPr id="6" name="d91b9834-2937-4929-9428-a2a77ad8e4a8"/>
          <p:cNvSpPr/>
          <p:nvPr/>
        </p:nvSpPr>
        <p:spPr>
          <a:xfrm>
            <a:off x="285750" y="3017520"/>
            <a:ext cx="4194810" cy="18516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98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 e Desconto</a:t>
            </a:r>
            <a:endParaRPr lang="en-US" sz="198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custo engloba insumos, mão de obra e energia. Um 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desconto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comercial reduz o preço bruto de venda para estimular giro de estoque.</a:t>
            </a:r>
            <a:endParaRPr lang="en-US" sz="1980" dirty="0"/>
          </a:p>
        </p:txBody>
      </p:sp>
      <p:sp>
        <p:nvSpPr>
          <p:cNvPr id="7" name="aac19492-a8ec-40ff-bee7-59ee4de11458"/>
          <p:cNvSpPr/>
          <p:nvPr/>
        </p:nvSpPr>
        <p:spPr>
          <a:xfrm>
            <a:off x="4652010" y="3017520"/>
            <a:ext cx="4194810" cy="18516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98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Margem de Lucro</a:t>
            </a:r>
            <a:endParaRPr lang="en-US" sz="198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Representa o percentual da receita que sobra após pagar os custos: 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Margem Líquida (%) = (Lucro Líquido ÷ Receita Total) × 100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9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11" descr="/home/forge/chalkie-production-workers-3/releases/77481733/backend/storage/app/render-specs/e1b35558-1a9c-4b78-a315-d8c571d0a62a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sp>
        <p:nvSpPr>
          <p:cNvPr id="3" name="ce806783-fb2d-4edb-b694-fb87369cc911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Verificação: Desconto e Margem</a:t>
            </a:r>
            <a:endParaRPr lang="en-US" sz="2880" dirty="0"/>
          </a:p>
        </p:txBody>
      </p:sp>
      <p:sp>
        <p:nvSpPr>
          <p:cNvPr id="4" name="cf195b93-b9e8-4940-a758-248fa5254f2f"/>
          <p:cNvSpPr/>
          <p:nvPr/>
        </p:nvSpPr>
        <p:spPr>
          <a:xfrm>
            <a:off x="285750" y="685800"/>
            <a:ext cx="8572500" cy="37947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 produto custa R$ 200 e recebe desconto de 15%. Qual é o novo preço de venda?</a:t>
            </a:r>
            <a:endParaRPr lang="en-US" sz="1620" dirty="0"/>
          </a:p>
        </p:txBody>
      </p:sp>
      <p:sp>
        <p:nvSpPr>
          <p:cNvPr id="5" name="b776aafb-fdb2-4b99-8ff3-35004a7b479c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02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5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</a:t>
            </a:r>
            <a:endParaRPr lang="en-US" sz="2520" dirty="0"/>
          </a:p>
        </p:txBody>
      </p:sp>
      <p:sp>
        <p:nvSpPr>
          <p:cNvPr id="6" name="1dc86d92-23a0-46e5-a2b2-7c751984df3b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R$ 185</a:t>
            </a:r>
            <a:endParaRPr lang="en-US" sz="1620" dirty="0"/>
          </a:p>
        </p:txBody>
      </p:sp>
      <p:sp>
        <p:nvSpPr>
          <p:cNvPr id="7" name="023d2437-ab47-4cb9-9f95-cafda38b6231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02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5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</a:t>
            </a:r>
            <a:endParaRPr lang="en-US" sz="2520" dirty="0"/>
          </a:p>
        </p:txBody>
      </p:sp>
      <p:sp>
        <p:nvSpPr>
          <p:cNvPr id="8" name="1c85ba6c-3eca-434d-80dd-21ef84e7ee48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R$ 160</a:t>
            </a:r>
            <a:endParaRPr lang="en-US" sz="1620" dirty="0"/>
          </a:p>
        </p:txBody>
      </p:sp>
      <p:sp>
        <p:nvSpPr>
          <p:cNvPr id="9" name="1584df7b-46a0-43da-8f63-dc8b08f21ad2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02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5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</a:t>
            </a:r>
            <a:endParaRPr lang="en-US" sz="2520" dirty="0"/>
          </a:p>
        </p:txBody>
      </p:sp>
      <p:sp>
        <p:nvSpPr>
          <p:cNvPr id="10" name="3515f422-156c-4c77-9e8c-c9e3efea7862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R$ 170</a:t>
            </a:r>
            <a:endParaRPr lang="en-US" sz="1620" dirty="0"/>
          </a:p>
        </p:txBody>
      </p:sp>
      <p:sp>
        <p:nvSpPr>
          <p:cNvPr id="11" name="dc3dab4a-d825-410c-970e-0c40c2c21919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02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5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</a:t>
            </a:r>
            <a:endParaRPr lang="en-US" sz="2520" dirty="0"/>
          </a:p>
        </p:txBody>
      </p:sp>
      <p:sp>
        <p:nvSpPr>
          <p:cNvPr id="12" name="fdf0cafe-a30e-4311-a508-5f51c6803207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R$ 175</a:t>
            </a:r>
            <a:endParaRPr lang="en-US" sz="16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12" descr="/home/forge/chalkie-production-workers-3/releases/77481733/backend/storage/app/render-specs/e1b35558-1a9c-4b78-a315-d8c571d0a62a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sp>
        <p:nvSpPr>
          <p:cNvPr id="3" name="ce806783-fb2d-4edb-b694-fb87369cc911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Verificação: Desconto e Margem</a:t>
            </a:r>
            <a:endParaRPr lang="en-US" sz="2880" dirty="0"/>
          </a:p>
        </p:txBody>
      </p:sp>
      <p:sp>
        <p:nvSpPr>
          <p:cNvPr id="4" name="cf195b93-b9e8-4940-a758-248fa5254f2f"/>
          <p:cNvSpPr/>
          <p:nvPr/>
        </p:nvSpPr>
        <p:spPr>
          <a:xfrm>
            <a:off x="285750" y="685800"/>
            <a:ext cx="8572500" cy="37947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 produto custa R$ 200 e recebe desconto de 15%. Qual é o novo preço de venda?</a:t>
            </a:r>
            <a:endParaRPr lang="en-US" sz="1620" dirty="0"/>
          </a:p>
        </p:txBody>
      </p:sp>
      <p:sp>
        <p:nvSpPr>
          <p:cNvPr id="5" name="b776aafb-fdb2-4b99-8ff3-35004a7b479c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02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5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</a:t>
            </a:r>
            <a:endParaRPr lang="en-US" sz="2520" dirty="0"/>
          </a:p>
        </p:txBody>
      </p:sp>
      <p:sp>
        <p:nvSpPr>
          <p:cNvPr id="6" name="1dc86d92-23a0-46e5-a2b2-7c751984df3b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R$ 185</a:t>
            </a:r>
            <a:endParaRPr lang="en-US" sz="1620" dirty="0"/>
          </a:p>
        </p:txBody>
      </p:sp>
      <p:sp>
        <p:nvSpPr>
          <p:cNvPr id="7" name="023d2437-ab47-4cb9-9f95-cafda38b6231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02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5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</a:t>
            </a:r>
            <a:endParaRPr lang="en-US" sz="2520" dirty="0"/>
          </a:p>
        </p:txBody>
      </p:sp>
      <p:sp>
        <p:nvSpPr>
          <p:cNvPr id="8" name="1c85ba6c-3eca-434d-80dd-21ef84e7ee48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R$ 160</a:t>
            </a:r>
            <a:endParaRPr lang="en-US" sz="1620" dirty="0"/>
          </a:p>
        </p:txBody>
      </p:sp>
      <p:sp>
        <p:nvSpPr>
          <p:cNvPr id="9" name="1584df7b-46a0-43da-8f63-dc8b08f21ad2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02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5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</a:t>
            </a:r>
            <a:endParaRPr lang="en-US" sz="2520" dirty="0"/>
          </a:p>
        </p:txBody>
      </p:sp>
      <p:sp>
        <p:nvSpPr>
          <p:cNvPr id="10" name="3515f422-156c-4c77-9e8c-c9e3efea7862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2C6E49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R$ 170</a:t>
            </a:r>
            <a:endParaRPr lang="en-US" sz="1620" dirty="0"/>
          </a:p>
        </p:txBody>
      </p:sp>
      <p:sp>
        <p:nvSpPr>
          <p:cNvPr id="11" name="dc3dab4a-d825-410c-970e-0c40c2c21919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02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5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</a:t>
            </a:r>
            <a:endParaRPr lang="en-US" sz="2520" dirty="0"/>
          </a:p>
        </p:txBody>
      </p:sp>
      <p:sp>
        <p:nvSpPr>
          <p:cNvPr id="12" name="fdf0cafe-a30e-4311-a508-5f51c6803207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R$ 175</a:t>
            </a:r>
            <a:endParaRPr lang="en-US" sz="1620" dirty="0"/>
          </a:p>
        </p:txBody>
      </p:sp>
      <p:sp>
        <p:nvSpPr>
          <p:cNvPr id="13" name="42ae78fb-68a2-4391-91e5-49fc07977dce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r" indent="0" marL="0">
              <a:lnSpc>
                <a:spcPts val="432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36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endParaRPr lang="en-US" sz="3600" dirty="0"/>
          </a:p>
        </p:txBody>
      </p:sp>
      <p:sp>
        <p:nvSpPr>
          <p:cNvPr id="14" name="e79d617f-14e0-45a7-9219-c68a458161bb"/>
          <p:cNvSpPr/>
          <p:nvPr/>
        </p:nvSpPr>
        <p:spPr>
          <a:xfrm>
            <a:off x="8721090" y="323469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2C6E49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404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17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13" descr="/home/forge/chalkie-production-workers-3/releases/77481733/backend/storage/app/render-specs/e1b35558-1a9c-4b78-a315-d8c571d0a62a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sp>
        <p:nvSpPr>
          <p:cNvPr id="3" name="ef689262-3895-4d3f-bbab-6bc966e66152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Porcentagem em Ação nos Negócios</a:t>
            </a:r>
            <a:endParaRPr lang="en-US" sz="2880" dirty="0"/>
          </a:p>
        </p:txBody>
      </p:sp>
      <p:sp>
        <p:nvSpPr>
          <p:cNvPr id="4" name="126d2c1a-783a-46de-968a-9c321b3b6582"/>
          <p:cNvSpPr/>
          <p:nvPr/>
        </p:nvSpPr>
        <p:spPr>
          <a:xfrm>
            <a:off x="285750" y="788670"/>
            <a:ext cx="8572500" cy="37947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Percentuais guiam decisões e investimentos:</a:t>
            </a:r>
            <a:endParaRPr lang="en-US" sz="1620" dirty="0"/>
          </a:p>
        </p:txBody>
      </p:sp>
      <p:pic>
        <p:nvPicPr>
          <p:cNvPr id="5" name="5ae7bca5-d1d3-46ab-b4cb-178f02e8415d" descr="/home/forge/chalkie-production-workers-3/releases/77481733/backend/storage/app/render-specs/e1b35558-1a9c-4b78-a315-d8c571d0a62a/poster_JMU_ksS3fq4.jpg">
            <a:hlinkClick r:id="rId3" tooltip="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/>
              </p:ext>
              <p:ext uri="{C809E66F-F1BF-436E-b5F7-EEA9579F0CBA}">
                <p15:webVideoPr xmlns:p15="http://schemas.microsoft.com/office/powerpoint/2012/main" embeddedHtml="&lt;iframe width=&quot;560&quot; height=&quot;315&quot; src=&quot;https://www.youtube.com/embed/JMU_ksS3fq4?feature=oembed&quot; frameborder=&quot;0&quot; allowfullscreen=&quot;&quot;&gt;&lt;/iframe&gt;" h="315" w="560"/>
              </p:ext>
            </p:extLst>
          </p:nvPr>
        </p:nvPicPr>
        <p:blipFill>
          <a:blip r:embed="rId2"/>
          <a:stretch>
            <a:fillRect/>
          </a:stretch>
        </p:blipFill>
        <p:spPr>
          <a:xfrm>
            <a:off x="1440180" y="1337310"/>
            <a:ext cx="6252210" cy="35204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14" descr="/home/forge/chalkie-production-workers-3/releases/77481733/backend/storage/app/render-specs/e1b35558-1a9c-4b78-a315-d8c571d0a62a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08959ba7-c8b7-4974-b360-b4bb176a9829" descr="/home/forge/chalkie-production-workers-3/releases/77481733/backend/storage/app/render-specs/e1b35558-1a9c-4b78-a315-d8c571d0a62a/img_655795b445c1a18d552363f8479ef48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828800"/>
          </a:xfrm>
          <a:prstGeom prst="roundRect">
            <a:avLst>
              <a:gd name="adj" fmla="val 7500"/>
            </a:avLst>
          </a:prstGeom>
        </p:spPr>
      </p:pic>
      <p:sp>
        <p:nvSpPr>
          <p:cNvPr id="4" name="2c3147b9-16ee-49e2-b84b-edffef50834b"/>
          <p:cNvSpPr/>
          <p:nvPr/>
        </p:nvSpPr>
        <p:spPr>
          <a:xfrm>
            <a:off x="285750" y="220599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Medidas de Tendência Central</a:t>
            </a:r>
            <a:endParaRPr lang="en-US" sz="2880" dirty="0"/>
          </a:p>
        </p:txBody>
      </p:sp>
      <p:sp>
        <p:nvSpPr>
          <p:cNvPr id="5" name="cbf0cfab-9f9d-4413-b49b-1206592084eb"/>
          <p:cNvSpPr/>
          <p:nvPr/>
        </p:nvSpPr>
        <p:spPr>
          <a:xfrm>
            <a:off x="285750" y="2891790"/>
            <a:ext cx="2045970" cy="262890"/>
          </a:xfrm>
          <a:prstGeom prst="roundRect">
            <a:avLst>
              <a:gd name="adj" fmla="val 17391"/>
            </a:avLst>
          </a:prstGeom>
          <a:solidFill>
            <a:srgbClr val="D32F2F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ESTATÍSTICA DESCRITIVA</a:t>
            </a:r>
            <a:endParaRPr lang="en-US" sz="1080" dirty="0"/>
          </a:p>
        </p:txBody>
      </p:sp>
      <p:sp>
        <p:nvSpPr>
          <p:cNvPr id="6" name="f204b81b-293e-4fed-b18d-3b14c54dd852"/>
          <p:cNvSpPr/>
          <p:nvPr/>
        </p:nvSpPr>
        <p:spPr>
          <a:xfrm>
            <a:off x="285750" y="3200400"/>
            <a:ext cx="8572500" cy="124358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 análises gerenciais, precisamos de valores únicos que sintetizem o comportamento de centenas de registros.</a:t>
            </a:r>
            <a:endParaRPr lang="en-US" sz="162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 três principais medidas são a 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média aritmética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 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mediana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 a 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moda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cada uma revelando um aspecto fundamental do conjunto de dados.</a:t>
            </a:r>
            <a:endParaRPr lang="en-US" sz="162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15" descr="/home/forge/chalkie-production-workers-3/releases/77481733/backend/storage/app/render-specs/e1b35558-1a9c-4b78-a315-d8c571d0a62a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d4a532d3-fa1f-4143-9f9c-e590b8a81949" descr="/home/forge/chalkie-production-workers-3/releases/77481733/backend/storage/app/render-specs/e1b35558-1a9c-4b78-a315-d8c571d0a62a/img_0a64352cf67b824885b46f5e7fccc37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486150" cy="5143500"/>
          </a:xfrm>
          <a:prstGeom prst="roundRect">
            <a:avLst>
              <a:gd name="adj" fmla="val 3934"/>
            </a:avLst>
          </a:prstGeom>
        </p:spPr>
      </p:pic>
      <p:sp>
        <p:nvSpPr>
          <p:cNvPr id="4" name="5c5a7039-7930-45a4-aa84-3a4aadf1dd88"/>
          <p:cNvSpPr/>
          <p:nvPr/>
        </p:nvSpPr>
        <p:spPr>
          <a:xfrm>
            <a:off x="3714750" y="194310"/>
            <a:ext cx="5143500" cy="111556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Calculando a Média Aritmética</a:t>
            </a:r>
            <a:endParaRPr lang="en-US" sz="2880" dirty="0"/>
          </a:p>
        </p:txBody>
      </p:sp>
      <p:sp>
        <p:nvSpPr>
          <p:cNvPr id="5" name="be06cfb7-5302-4b91-ab11-c6d533ec9f5a"/>
          <p:cNvSpPr/>
          <p:nvPr/>
        </p:nvSpPr>
        <p:spPr>
          <a:xfrm>
            <a:off x="3714750" y="1314450"/>
            <a:ext cx="1783080" cy="262890"/>
          </a:xfrm>
          <a:prstGeom prst="roundRect">
            <a:avLst>
              <a:gd name="adj" fmla="val 17391"/>
            </a:avLst>
          </a:prstGeom>
          <a:solidFill>
            <a:srgbClr val="D32F2F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CONCEITO E CÁLCULO</a:t>
            </a:r>
            <a:endParaRPr lang="en-US" sz="1080" dirty="0"/>
          </a:p>
        </p:txBody>
      </p:sp>
      <p:sp>
        <p:nvSpPr>
          <p:cNvPr id="6" name="c62719fa-d8da-4c8b-9abf-b98a46d46af0"/>
          <p:cNvSpPr/>
          <p:nvPr/>
        </p:nvSpPr>
        <p:spPr>
          <a:xfrm>
            <a:off x="3714750" y="1623060"/>
            <a:ext cx="5143500" cy="181965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média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é a soma dos valores dividida pelo total de elementos.</a:t>
            </a:r>
            <a:endParaRPr lang="en-US" sz="162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uma equipe vendeu 10, 15, 20 e 35 contratos em quatro dias:</a:t>
            </a:r>
            <a:endParaRPr lang="en-US" sz="162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Soma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= 80 contratos.</a:t>
            </a:r>
            <a:endParaRPr lang="en-US" sz="162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Média diária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= 80 ÷ 4 = 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 contratos/dia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620" dirty="0"/>
          </a:p>
        </p:txBody>
      </p:sp>
      <p:sp>
        <p:nvSpPr>
          <p:cNvPr id="7" name="a3b06d76-e81f-4934-b474-a720caadb525_card"/>
          <p:cNvSpPr/>
          <p:nvPr/>
        </p:nvSpPr>
        <p:spPr>
          <a:xfrm>
            <a:off x="3714750" y="3611880"/>
            <a:ext cx="5143500" cy="1101852"/>
          </a:xfrm>
          <a:prstGeom prst="roundRect">
            <a:avLst>
              <a:gd name="adj" fmla="val 8299"/>
            </a:avLst>
          </a:prstGeom>
          <a:solidFill>
            <a:srgbClr val="FCEBEB"/>
          </a:solidFill>
          <a:ln w="11430">
            <a:solidFill>
              <a:srgbClr val="460606">
                <a:alpha val="20000"/>
              </a:srgbClr>
            </a:solidFill>
            <a:prstDash val="solid"/>
          </a:ln>
        </p:spPr>
      </p:sp>
      <p:sp>
        <p:nvSpPr>
          <p:cNvPr id="8" name="a3b06d76-e81f-4934-b474-a720caadb525_emoji"/>
          <p:cNvSpPr/>
          <p:nvPr/>
        </p:nvSpPr>
        <p:spPr>
          <a:xfrm>
            <a:off x="3829050" y="376047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⚠️</a:t>
            </a:r>
            <a:endParaRPr lang="en-US" sz="2160" dirty="0"/>
          </a:p>
        </p:txBody>
      </p:sp>
      <p:sp>
        <p:nvSpPr>
          <p:cNvPr id="9" name="a3b06d76-e81f-4934-b474-a720caadb525_text"/>
          <p:cNvSpPr/>
          <p:nvPr/>
        </p:nvSpPr>
        <p:spPr>
          <a:xfrm>
            <a:off x="4194810" y="3726180"/>
            <a:ext cx="4549140" cy="873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440" b="1" dirty="0">
                <a:solidFill>
                  <a:srgbClr val="4606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Atenção</a:t>
            </a:r>
            <a:endParaRPr lang="en-US" sz="144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4606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Atenção: valores muito altos ou baixos (outliers) distorcem a média aritmética.</a:t>
            </a:r>
            <a:endParaRPr lang="en-US" sz="144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16" descr="/home/forge/chalkie-production-workers-3/releases/77481733/backend/storage/app/render-specs/e1b35558-1a9c-4b78-a315-d8c571d0a62a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2de87bcc-e2c0-4810-817a-9452f14f1f48" descr="/home/forge/chalkie-production-workers-3/releases/77481733/backend/storage/app/render-specs/e1b35558-1a9c-4b78-a315-d8c571d0a62a/img_93e4ee907b10fdf4820a906b0b14dd1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822960"/>
            <a:ext cx="4194810" cy="2057400"/>
          </a:xfrm>
          <a:prstGeom prst="roundRect">
            <a:avLst>
              <a:gd name="adj" fmla="val 6667"/>
            </a:avLst>
          </a:prstGeom>
        </p:spPr>
      </p:pic>
      <p:pic>
        <p:nvPicPr>
          <p:cNvPr id="4" name="f7543537-99c1-42a7-b253-cdbbd911862d" descr="/home/forge/chalkie-production-workers-3/releases/77481733/backend/storage/app/render-specs/e1b35558-1a9c-4b78-a315-d8c571d0a62a/img_9a0b47bdc80587666bab0fefcab2156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2010" y="822960"/>
            <a:ext cx="4194810" cy="2057400"/>
          </a:xfrm>
          <a:prstGeom prst="roundRect">
            <a:avLst>
              <a:gd name="adj" fmla="val 6667"/>
            </a:avLst>
          </a:prstGeom>
        </p:spPr>
      </p:pic>
      <p:sp>
        <p:nvSpPr>
          <p:cNvPr id="5" name="496f3923-ab53-4dd5-8e9b-ca4b92b8c1bd"/>
          <p:cNvSpPr/>
          <p:nvPr/>
        </p:nvSpPr>
        <p:spPr>
          <a:xfrm>
            <a:off x="285750" y="20574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Mediana: O Centro dos Dados</a:t>
            </a:r>
            <a:endParaRPr lang="en-US" sz="2880" dirty="0"/>
          </a:p>
        </p:txBody>
      </p:sp>
      <p:sp>
        <p:nvSpPr>
          <p:cNvPr id="6" name="7c324b54-55cb-45de-92cb-d8293a4cf33b"/>
          <p:cNvSpPr/>
          <p:nvPr/>
        </p:nvSpPr>
        <p:spPr>
          <a:xfrm>
            <a:off x="285750" y="3017520"/>
            <a:ext cx="4194810" cy="149961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98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Número Ímpar de Dados</a:t>
            </a:r>
            <a:endParaRPr lang="en-US" sz="198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Ordene os dados em ordem crescente. O elemento central exato é a mediana, imune a valores discrepantes extremos.</a:t>
            </a:r>
            <a:endParaRPr lang="en-US" sz="1980" dirty="0"/>
          </a:p>
        </p:txBody>
      </p:sp>
      <p:sp>
        <p:nvSpPr>
          <p:cNvPr id="7" name="8940420c-c581-4009-842d-c78e89a7fb67"/>
          <p:cNvSpPr/>
          <p:nvPr/>
        </p:nvSpPr>
        <p:spPr>
          <a:xfrm>
            <a:off x="4652010" y="3017520"/>
            <a:ext cx="4194810" cy="149961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98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Número Par de Dados</a:t>
            </a:r>
            <a:endParaRPr lang="en-US" sz="198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 quantidade par de registros, somamos os dois termos centrais e dividimos por dois para fixar o ponto médio.</a:t>
            </a:r>
            <a:endParaRPr lang="en-US" sz="198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17" descr="/home/forge/chalkie-production-workers-3/releases/77481733/backend/storage/app/render-specs/e1b35558-1a9c-4b78-a315-d8c571d0a62a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807d699f-b4a4-4ba7-abc4-2bdd0e2ae15d" descr="/home/forge/chalkie-production-workers-3/releases/77481733/backend/storage/app/render-specs/e1b35558-1a9c-4b78-a315-d8c571d0a62a/img_8f54b38591b25fbe74a1166e8b7adbe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7850" y="0"/>
            <a:ext cx="3486150" cy="5143500"/>
          </a:xfrm>
          <a:prstGeom prst="roundRect">
            <a:avLst>
              <a:gd name="adj" fmla="val 3934"/>
            </a:avLst>
          </a:prstGeom>
        </p:spPr>
      </p:pic>
      <p:sp>
        <p:nvSpPr>
          <p:cNvPr id="4" name="3605b622-5fd6-4d38-be52-ae88fa73ef7a"/>
          <p:cNvSpPr/>
          <p:nvPr/>
        </p:nvSpPr>
        <p:spPr>
          <a:xfrm>
            <a:off x="285750" y="171450"/>
            <a:ext cx="5143500" cy="111556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Moda e Suas Aplicações Comerciais</a:t>
            </a:r>
            <a:endParaRPr lang="en-US" sz="2880" dirty="0"/>
          </a:p>
        </p:txBody>
      </p:sp>
      <p:sp>
        <p:nvSpPr>
          <p:cNvPr id="5" name="fc23f539-d2d3-47ba-9d44-52d78cbf771f"/>
          <p:cNvSpPr/>
          <p:nvPr/>
        </p:nvSpPr>
        <p:spPr>
          <a:xfrm>
            <a:off x="285750" y="1291590"/>
            <a:ext cx="1874520" cy="262890"/>
          </a:xfrm>
          <a:prstGeom prst="roundRect">
            <a:avLst>
              <a:gd name="adj" fmla="val 17391"/>
            </a:avLst>
          </a:prstGeom>
          <a:solidFill>
            <a:srgbClr val="D32F2F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PREFERÊNCIA POPULAR</a:t>
            </a:r>
            <a:endParaRPr lang="en-US" sz="1080" dirty="0"/>
          </a:p>
        </p:txBody>
      </p:sp>
      <p:sp>
        <p:nvSpPr>
          <p:cNvPr id="6" name="affc83c6-890a-47cf-95af-aa9957215e11"/>
          <p:cNvSpPr/>
          <p:nvPr/>
        </p:nvSpPr>
        <p:spPr>
          <a:xfrm>
            <a:off x="285750" y="1600200"/>
            <a:ext cx="5143500" cy="15316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moda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é o valor com maior frequência absoluta em uma pesquisa ou banco de dados.</a:t>
            </a:r>
            <a:endParaRPr lang="en-US" sz="162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 gestão de varejo de calçados, saber que o sapato de tamanho 38 é a moda orienta o estoquista a encomendar o dobro de pares dessa numeração.</a:t>
            </a:r>
            <a:endParaRPr lang="en-US" sz="1620" dirty="0"/>
          </a:p>
        </p:txBody>
      </p:sp>
      <p:sp>
        <p:nvSpPr>
          <p:cNvPr id="7" name="d2e780f9-ab16-4092-9be1-d6a9ee843799_card"/>
          <p:cNvSpPr/>
          <p:nvPr/>
        </p:nvSpPr>
        <p:spPr>
          <a:xfrm>
            <a:off x="285750" y="3451860"/>
            <a:ext cx="5143500" cy="1348740"/>
          </a:xfrm>
          <a:prstGeom prst="roundRect">
            <a:avLst>
              <a:gd name="adj" fmla="val 6780"/>
            </a:avLst>
          </a:prstGeom>
          <a:solidFill>
            <a:srgbClr val="EEEDFE"/>
          </a:solidFill>
          <a:ln w="11430">
            <a:solidFill>
              <a:srgbClr val="08044D">
                <a:alpha val="20000"/>
              </a:srgbClr>
            </a:solidFill>
            <a:prstDash val="solid"/>
          </a:ln>
        </p:spPr>
      </p:sp>
      <p:sp>
        <p:nvSpPr>
          <p:cNvPr id="8" name="d2e780f9-ab16-4092-9be1-d6a9ee843799_emoji"/>
          <p:cNvSpPr/>
          <p:nvPr/>
        </p:nvSpPr>
        <p:spPr>
          <a:xfrm>
            <a:off x="400050" y="360045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🤯</a:t>
            </a:r>
            <a:endParaRPr lang="en-US" sz="2160" dirty="0"/>
          </a:p>
        </p:txBody>
      </p:sp>
      <p:sp>
        <p:nvSpPr>
          <p:cNvPr id="9" name="d2e780f9-ab16-4092-9be1-d6a9ee843799_text"/>
          <p:cNvSpPr/>
          <p:nvPr/>
        </p:nvSpPr>
        <p:spPr>
          <a:xfrm>
            <a:off x="765810" y="3566160"/>
            <a:ext cx="4549140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440" b="1" dirty="0">
                <a:solidFill>
                  <a:srgbClr val="0804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Curiosidade</a:t>
            </a:r>
            <a:endParaRPr lang="en-US" sz="144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8044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 conjunto pode ter mais de uma moda (bimodal) ou nenhuma moda, quando todos os valores têm repetição idêntica.</a:t>
            </a:r>
            <a:endParaRPr lang="en-US" sz="144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18" descr="/home/forge/chalkie-production-workers-3/releases/77481733/backend/storage/app/render-specs/e1b35558-1a9c-4b78-a315-d8c571d0a62a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sp>
        <p:nvSpPr>
          <p:cNvPr id="3" name="488311b9-c512-47f4-b324-f73ff344e18d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Verificando Medidas Centrais</a:t>
            </a:r>
            <a:endParaRPr lang="en-US" sz="2880" dirty="0"/>
          </a:p>
        </p:txBody>
      </p:sp>
      <p:sp>
        <p:nvSpPr>
          <p:cNvPr id="4" name="8f7120eb-5b05-46d0-ab46-688ff656ef97-shadow"/>
          <p:cNvSpPr/>
          <p:nvPr/>
        </p:nvSpPr>
        <p:spPr>
          <a:xfrm>
            <a:off x="914400" y="1234440"/>
            <a:ext cx="7372350" cy="1143000"/>
          </a:xfrm>
          <a:prstGeom prst="roundRect">
            <a:avLst>
              <a:gd name="adj" fmla="val 10000"/>
            </a:avLst>
          </a:prstGeom>
          <a:solidFill>
            <a:srgbClr val="000000"/>
          </a:solidFill>
          <a:ln/>
        </p:spPr>
      </p:sp>
      <p:sp>
        <p:nvSpPr>
          <p:cNvPr id="5" name="8f7120eb-5b05-46d0-ab46-688ff656ef97"/>
          <p:cNvSpPr/>
          <p:nvPr/>
        </p:nvSpPr>
        <p:spPr>
          <a:xfrm>
            <a:off x="822960" y="1143000"/>
            <a:ext cx="7372350" cy="1143000"/>
          </a:xfrm>
          <a:prstGeom prst="roundRect">
            <a:avLst>
              <a:gd name="adj" fmla="val 10000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média aritmética é sempre a medida mais confiável para representar salários de uma empresa.</a:t>
            </a:r>
            <a:endParaRPr lang="en-US" sz="1620" dirty="0"/>
          </a:p>
        </p:txBody>
      </p:sp>
      <p:sp>
        <p:nvSpPr>
          <p:cNvPr id="6" name="102f136e-1f51-4fb4-bb1e-f1de4e29ab1d"/>
          <p:cNvSpPr/>
          <p:nvPr/>
        </p:nvSpPr>
        <p:spPr>
          <a:xfrm>
            <a:off x="2571750" y="2628900"/>
            <a:ext cx="1714500" cy="80010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45720">
            <a:solidFill>
              <a:srgbClr val="000000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lnSpc>
                <a:spcPts val="2808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34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👍 </a:t>
            </a:r>
            <a:pPr algn="ctr" indent="0" marL="0">
              <a:lnSpc>
                <a:spcPts val="2808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340" b="1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VERDADEIRO</a:t>
            </a:r>
            <a:endParaRPr lang="en-US" sz="2340" dirty="0"/>
          </a:p>
        </p:txBody>
      </p:sp>
      <p:sp>
        <p:nvSpPr>
          <p:cNvPr id="7" name="f6d55bc5-39f8-4e56-b194-1473963c5956"/>
          <p:cNvSpPr/>
          <p:nvPr/>
        </p:nvSpPr>
        <p:spPr>
          <a:xfrm>
            <a:off x="4857750" y="2628900"/>
            <a:ext cx="1714500" cy="80010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45720">
            <a:solidFill>
              <a:srgbClr val="000000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lnSpc>
                <a:spcPts val="2808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34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👎 </a:t>
            </a:r>
            <a:pPr algn="ctr" indent="0" marL="0">
              <a:lnSpc>
                <a:spcPts val="2808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340" b="1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FALSO</a:t>
            </a:r>
            <a:endParaRPr lang="en-US" sz="2340" dirty="0"/>
          </a:p>
        </p:txBody>
      </p:sp>
      <p:sp>
        <p:nvSpPr>
          <p:cNvPr id="8" name="353fcc40-789f-4736-a9a8-2d882de066d8"/>
          <p:cNvSpPr/>
          <p:nvPr/>
        </p:nvSpPr>
        <p:spPr>
          <a:xfrm>
            <a:off x="2571750" y="3714750"/>
            <a:ext cx="5715000" cy="4572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D32F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🤔 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i="1" dirty="0">
                <a:solidFill>
                  <a:srgbClr val="D32F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Prepare-se para explicar o seu raciocínio.</a:t>
            </a:r>
            <a:endParaRPr lang="en-US" sz="162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19" descr="/home/forge/chalkie-production-workers-3/releases/77481733/backend/storage/app/render-specs/e1b35558-1a9c-4b78-a315-d8c571d0a62a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sp>
        <p:nvSpPr>
          <p:cNvPr id="3" name="488311b9-c512-47f4-b324-f73ff344e18d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Verificando Medidas Centrais</a:t>
            </a:r>
            <a:endParaRPr lang="en-US" sz="2880" dirty="0"/>
          </a:p>
        </p:txBody>
      </p:sp>
      <p:sp>
        <p:nvSpPr>
          <p:cNvPr id="4" name="8f7120eb-5b05-46d0-ab46-688ff656ef97-shadow"/>
          <p:cNvSpPr/>
          <p:nvPr/>
        </p:nvSpPr>
        <p:spPr>
          <a:xfrm>
            <a:off x="914400" y="1234440"/>
            <a:ext cx="7372350" cy="1143000"/>
          </a:xfrm>
          <a:prstGeom prst="roundRect">
            <a:avLst>
              <a:gd name="adj" fmla="val 10000"/>
            </a:avLst>
          </a:prstGeom>
          <a:solidFill>
            <a:srgbClr val="000000"/>
          </a:solidFill>
          <a:ln/>
        </p:spPr>
      </p:sp>
      <p:sp>
        <p:nvSpPr>
          <p:cNvPr id="5" name="8f7120eb-5b05-46d0-ab46-688ff656ef97"/>
          <p:cNvSpPr/>
          <p:nvPr/>
        </p:nvSpPr>
        <p:spPr>
          <a:xfrm>
            <a:off x="822960" y="1143000"/>
            <a:ext cx="7372350" cy="1143000"/>
          </a:xfrm>
          <a:prstGeom prst="roundRect">
            <a:avLst>
              <a:gd name="adj" fmla="val 10000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média aritmética é sempre a medida mais confiável para representar salários de uma empresa.</a:t>
            </a:r>
            <a:endParaRPr lang="en-US" sz="1620" dirty="0"/>
          </a:p>
        </p:txBody>
      </p:sp>
      <p:sp>
        <p:nvSpPr>
          <p:cNvPr id="6" name="102f136e-1f51-4fb4-bb1e-f1de4e29ab1d"/>
          <p:cNvSpPr/>
          <p:nvPr/>
        </p:nvSpPr>
        <p:spPr>
          <a:xfrm>
            <a:off x="2571750" y="2628900"/>
            <a:ext cx="1714500" cy="80010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45720">
            <a:solidFill>
              <a:srgbClr val="000000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lnSpc>
                <a:spcPts val="2808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34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👍 </a:t>
            </a:r>
            <a:pPr algn="ctr" indent="0" marL="0">
              <a:lnSpc>
                <a:spcPts val="2808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340" b="1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VERDADEIRO</a:t>
            </a:r>
            <a:endParaRPr lang="en-US" sz="2340" dirty="0"/>
          </a:p>
        </p:txBody>
      </p:sp>
      <p:sp>
        <p:nvSpPr>
          <p:cNvPr id="7" name="f6d55bc5-39f8-4e56-b194-1473963c5956"/>
          <p:cNvSpPr/>
          <p:nvPr/>
        </p:nvSpPr>
        <p:spPr>
          <a:xfrm>
            <a:off x="4857750" y="2628900"/>
            <a:ext cx="1714500" cy="80010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45720">
            <a:solidFill>
              <a:srgbClr val="2C6E49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lnSpc>
                <a:spcPts val="2808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34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👎 </a:t>
            </a:r>
            <a:pPr algn="ctr" indent="0" marL="0">
              <a:lnSpc>
                <a:spcPts val="2808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340" b="1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FALSO</a:t>
            </a:r>
            <a:endParaRPr lang="en-US" sz="2340" dirty="0"/>
          </a:p>
        </p:txBody>
      </p:sp>
      <p:sp>
        <p:nvSpPr>
          <p:cNvPr id="8" name="228b3d4c-1a62-4afc-9fb5-162354b8b6a9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r" indent="0" marL="0">
              <a:lnSpc>
                <a:spcPts val="432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36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endParaRPr lang="en-US" sz="3600" dirty="0"/>
          </a:p>
        </p:txBody>
      </p:sp>
      <p:sp>
        <p:nvSpPr>
          <p:cNvPr id="9" name="b98c252d-f35d-4ef7-a18a-711de5088ee8_card"/>
          <p:cNvSpPr/>
          <p:nvPr/>
        </p:nvSpPr>
        <p:spPr>
          <a:xfrm>
            <a:off x="457200" y="3657600"/>
            <a:ext cx="8229600" cy="1101852"/>
          </a:xfrm>
          <a:prstGeom prst="roundRect">
            <a:avLst>
              <a:gd name="adj" fmla="val 8299"/>
            </a:avLst>
          </a:prstGeom>
          <a:solidFill>
            <a:srgbClr val="FAEFDA"/>
          </a:solidFill>
          <a:ln w="11430">
            <a:solidFill>
              <a:srgbClr val="573B06">
                <a:alpha val="20000"/>
              </a:srgbClr>
            </a:solidFill>
            <a:prstDash val="solid"/>
          </a:ln>
        </p:spPr>
      </p:sp>
      <p:sp>
        <p:nvSpPr>
          <p:cNvPr id="10" name="b98c252d-f35d-4ef7-a18a-711de5088ee8_emoji"/>
          <p:cNvSpPr/>
          <p:nvPr/>
        </p:nvSpPr>
        <p:spPr>
          <a:xfrm>
            <a:off x="571500" y="380619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🔑</a:t>
            </a:r>
            <a:endParaRPr lang="en-US" sz="2160" dirty="0"/>
          </a:p>
        </p:txBody>
      </p:sp>
      <p:sp>
        <p:nvSpPr>
          <p:cNvPr id="11" name="b98c252d-f35d-4ef7-a18a-711de5088ee8_text"/>
          <p:cNvSpPr/>
          <p:nvPr/>
        </p:nvSpPr>
        <p:spPr>
          <a:xfrm>
            <a:off x="937260" y="3771900"/>
            <a:ext cx="7635240" cy="873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44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 que é isso?</a:t>
            </a:r>
            <a:endParaRPr lang="en-US" sz="144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573B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Salários milionários de diretores puxam a média para cima, enquanto a mediana reflete melhor o salário típico.</a:t>
            </a:r>
            <a:endParaRPr lang="en-US" sz="1440" dirty="0"/>
          </a:p>
        </p:txBody>
      </p:sp>
      <p:sp>
        <p:nvSpPr>
          <p:cNvPr id="12" name="e48678e7-e95c-4806-808b-b1c9e1ec31bd"/>
          <p:cNvSpPr/>
          <p:nvPr/>
        </p:nvSpPr>
        <p:spPr>
          <a:xfrm>
            <a:off x="6435090" y="249174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2C6E49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404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17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20" descr="/home/forge/chalkie-production-workers-3/releases/77481733/backend/storage/app/render-specs/e1b35558-1a9c-4b78-a315-d8c571d0a62a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8732056b-eace-491e-8026-af4329522d9f" descr="/home/forge/chalkie-production-workers-3/releases/77481733/backend/storage/app/render-specs/e1b35558-1a9c-4b78-a315-d8c571d0a62a/img_ea58cb79649d20d13ade6b5c9636767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788670"/>
            <a:ext cx="3829050" cy="4069080"/>
          </a:xfrm>
          <a:prstGeom prst="roundRect">
            <a:avLst>
              <a:gd name="adj" fmla="val 3582"/>
            </a:avLst>
          </a:prstGeom>
        </p:spPr>
      </p:pic>
      <p:sp>
        <p:nvSpPr>
          <p:cNvPr id="4" name="e8b0b17e-dd42-44b4-a0df-22f0fa277948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 que Medir a Dispersão?</a:t>
            </a:r>
            <a:endParaRPr lang="en-US" sz="2880" dirty="0"/>
          </a:p>
        </p:txBody>
      </p:sp>
      <p:sp>
        <p:nvSpPr>
          <p:cNvPr id="5" name="62ed5dd3-d926-4b2f-b20c-4c28744b84a8"/>
          <p:cNvSpPr/>
          <p:nvPr/>
        </p:nvSpPr>
        <p:spPr>
          <a:xfrm>
            <a:off x="4286250" y="857250"/>
            <a:ext cx="1303020" cy="262890"/>
          </a:xfrm>
          <a:prstGeom prst="roundRect">
            <a:avLst>
              <a:gd name="adj" fmla="val 17391"/>
            </a:avLst>
          </a:prstGeom>
          <a:solidFill>
            <a:srgbClr val="D32F2F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VARIABILIDADE</a:t>
            </a:r>
            <a:endParaRPr lang="en-US" sz="1080" dirty="0"/>
          </a:p>
        </p:txBody>
      </p:sp>
      <p:sp>
        <p:nvSpPr>
          <p:cNvPr id="6" name="1cc966c6-1540-47a0-92d7-9fd342da7580"/>
          <p:cNvSpPr/>
          <p:nvPr/>
        </p:nvSpPr>
        <p:spPr>
          <a:xfrm>
            <a:off x="4286250" y="1165860"/>
            <a:ext cx="4572000" cy="210769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Duas fábricas podem produzir com a mesma média de 500 peças por hora, mas uma entrega entre 498 e 502, enquanto a outra oscila entre 200 e 800 peças.</a:t>
            </a:r>
            <a:endParaRPr lang="en-US" sz="162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dispersão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mede essa instabilidade. Nos negócios, menor dispersão significa 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previsibilidade e qualidade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assegurada.</a:t>
            </a:r>
            <a:endParaRPr lang="en-US" sz="1620" dirty="0"/>
          </a:p>
        </p:txBody>
      </p:sp>
      <p:sp>
        <p:nvSpPr>
          <p:cNvPr id="7" name="2edcc8c2-e7ec-4c86-bde4-506555aa9b36_card"/>
          <p:cNvSpPr/>
          <p:nvPr/>
        </p:nvSpPr>
        <p:spPr>
          <a:xfrm>
            <a:off x="4286250" y="3509010"/>
            <a:ext cx="4572000" cy="1348740"/>
          </a:xfrm>
          <a:prstGeom prst="roundRect">
            <a:avLst>
              <a:gd name="adj" fmla="val 6780"/>
            </a:avLst>
          </a:prstGeom>
          <a:solidFill>
            <a:srgbClr val="FAEFDA"/>
          </a:solidFill>
          <a:ln w="11430">
            <a:solidFill>
              <a:srgbClr val="573B06">
                <a:alpha val="20000"/>
              </a:srgbClr>
            </a:solidFill>
            <a:prstDash val="solid"/>
          </a:ln>
        </p:spPr>
      </p:sp>
      <p:sp>
        <p:nvSpPr>
          <p:cNvPr id="8" name="2edcc8c2-e7ec-4c86-bde4-506555aa9b36_emoji"/>
          <p:cNvSpPr/>
          <p:nvPr/>
        </p:nvSpPr>
        <p:spPr>
          <a:xfrm>
            <a:off x="4400550" y="365760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🔑</a:t>
            </a:r>
            <a:endParaRPr lang="en-US" sz="2160" dirty="0"/>
          </a:p>
        </p:txBody>
      </p:sp>
      <p:sp>
        <p:nvSpPr>
          <p:cNvPr id="9" name="2edcc8c2-e7ec-4c86-bde4-506555aa9b36_text"/>
          <p:cNvSpPr/>
          <p:nvPr/>
        </p:nvSpPr>
        <p:spPr>
          <a:xfrm>
            <a:off x="4766310" y="3623310"/>
            <a:ext cx="3977640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440" b="1" dirty="0">
                <a:solidFill>
                  <a:srgbClr val="573B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Ponto-chave</a:t>
            </a:r>
            <a:endParaRPr lang="en-US" sz="144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573B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Médias iguais não significam processos idênticos. O risco mora na oscilação dos dados.</a:t>
            </a:r>
            <a:endParaRPr lang="en-US" sz="144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21" descr="/home/forge/chalkie-production-workers-3/releases/77481733/backend/storage/app/render-specs/e1b35558-1a9c-4b78-a315-d8c571d0a62a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701ede53-7b7a-4498-add7-60d2f67f4002" descr="/home/forge/chalkie-production-workers-3/releases/77481733/backend/storage/app/render-specs/e1b35558-1a9c-4b78-a315-d8c571d0a62a/img_3f44bb8c89f5708e4d265ea05c118e5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822960"/>
            <a:ext cx="4194810" cy="2057400"/>
          </a:xfrm>
          <a:prstGeom prst="roundRect">
            <a:avLst>
              <a:gd name="adj" fmla="val 6667"/>
            </a:avLst>
          </a:prstGeom>
        </p:spPr>
      </p:pic>
      <p:pic>
        <p:nvPicPr>
          <p:cNvPr id="4" name="adb6adaa-c105-4f92-95ae-f10634947709" descr="/home/forge/chalkie-production-workers-3/releases/77481733/backend/storage/app/render-specs/e1b35558-1a9c-4b78-a315-d8c571d0a62a/img_e1625a17bc7e4d0fb3c1bdb1434ab5c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2010" y="822960"/>
            <a:ext cx="4194810" cy="2057400"/>
          </a:xfrm>
          <a:prstGeom prst="roundRect">
            <a:avLst>
              <a:gd name="adj" fmla="val 6667"/>
            </a:avLst>
          </a:prstGeom>
        </p:spPr>
      </p:pic>
      <p:sp>
        <p:nvSpPr>
          <p:cNvPr id="5" name="b963cc89-7f1c-4d07-b315-aa9fe7c65dff"/>
          <p:cNvSpPr/>
          <p:nvPr/>
        </p:nvSpPr>
        <p:spPr>
          <a:xfrm>
            <a:off x="285750" y="20574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Variância e Desvio Padrão</a:t>
            </a:r>
            <a:endParaRPr lang="en-US" sz="2880" dirty="0"/>
          </a:p>
        </p:txBody>
      </p:sp>
      <p:sp>
        <p:nvSpPr>
          <p:cNvPr id="6" name="4b8787bc-0eb2-4d6c-96a6-52f749375ab7"/>
          <p:cNvSpPr/>
          <p:nvPr/>
        </p:nvSpPr>
        <p:spPr>
          <a:xfrm>
            <a:off x="285750" y="3017520"/>
            <a:ext cx="4194810" cy="18516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98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Variância (s²)</a:t>
            </a:r>
            <a:endParaRPr lang="en-US" sz="198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Mede a média dos desvios quadráticos em relação à média. Como os desvios são elevados ao quadrado, sua unidade fica distorcida.</a:t>
            </a:r>
            <a:endParaRPr lang="en-US" sz="1980" dirty="0"/>
          </a:p>
        </p:txBody>
      </p:sp>
      <p:sp>
        <p:nvSpPr>
          <p:cNvPr id="7" name="89d6bb06-fd2f-4013-a439-175a80897385"/>
          <p:cNvSpPr/>
          <p:nvPr/>
        </p:nvSpPr>
        <p:spPr>
          <a:xfrm>
            <a:off x="4652010" y="3017520"/>
            <a:ext cx="4194810" cy="149961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98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Desvio Padrão (s)</a:t>
            </a:r>
            <a:endParaRPr lang="en-US" sz="198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 a raiz quadrada da variância. Retorna à unidade original (reais, quilos ou horas), facilitando a tomada de decisão.</a:t>
            </a:r>
            <a:endParaRPr lang="en-US" sz="198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22" descr="/home/forge/chalkie-production-workers-3/releases/77481733/backend/storage/app/render-specs/e1b35558-1a9c-4b78-a315-d8c571d0a62a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1fe17357-4da1-42d2-8e20-cea7f1126bc8" descr="/home/forge/chalkie-production-workers-3/releases/77481733/backend/storage/app/render-specs/e1b35558-1a9c-4b78-a315-d8c571d0a62a/img_7613290a1cc0c9a172d45b0e7968bda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788670"/>
            <a:ext cx="3829050" cy="4069080"/>
          </a:xfrm>
          <a:prstGeom prst="roundRect">
            <a:avLst>
              <a:gd name="adj" fmla="val 3582"/>
            </a:avLst>
          </a:prstGeom>
        </p:spPr>
      </p:pic>
      <p:sp>
        <p:nvSpPr>
          <p:cNvPr id="4" name="a7b84288-3395-463e-a4f8-3d74a76d6751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Desvio Padrão no Controle de Qualidade</a:t>
            </a:r>
            <a:endParaRPr lang="en-US" sz="2880" dirty="0"/>
          </a:p>
        </p:txBody>
      </p:sp>
      <p:sp>
        <p:nvSpPr>
          <p:cNvPr id="5" name="48ee23ae-2ff9-4019-ac0c-a3d8dd9f3a40"/>
          <p:cNvSpPr/>
          <p:nvPr/>
        </p:nvSpPr>
        <p:spPr>
          <a:xfrm>
            <a:off x="285750" y="857250"/>
            <a:ext cx="1703070" cy="262890"/>
          </a:xfrm>
          <a:prstGeom prst="roundRect">
            <a:avLst>
              <a:gd name="adj" fmla="val 17391"/>
            </a:avLst>
          </a:prstGeom>
          <a:solidFill>
            <a:srgbClr val="D32F2F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APLICAÇÃO PRÁTICA</a:t>
            </a:r>
            <a:endParaRPr lang="en-US" sz="1080" dirty="0"/>
          </a:p>
        </p:txBody>
      </p:sp>
      <p:sp>
        <p:nvSpPr>
          <p:cNvPr id="6" name="cb61d172-831e-4214-a7e1-92f6ae929fc9"/>
          <p:cNvSpPr/>
          <p:nvPr/>
        </p:nvSpPr>
        <p:spPr>
          <a:xfrm>
            <a:off x="285750" y="1165860"/>
            <a:ext cx="4572000" cy="181965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 uma linha de envase de refrigerantes de 2 litros, toleram-se variações minúsculas.</a:t>
            </a:r>
            <a:endParaRPr lang="en-US" sz="162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o desvio padrão subir de 2 mL para 25 mL, centenas de garrafas sairão transbordando ou com volume inferior ao rótulo, gerando autuações legais imediatas.</a:t>
            </a:r>
            <a:endParaRPr lang="en-US" sz="1620" dirty="0"/>
          </a:p>
        </p:txBody>
      </p:sp>
      <p:sp>
        <p:nvSpPr>
          <p:cNvPr id="7" name="9c7b2248-dc6a-4f5b-b1a4-37334a60b239_card"/>
          <p:cNvSpPr/>
          <p:nvPr/>
        </p:nvSpPr>
        <p:spPr>
          <a:xfrm>
            <a:off x="285750" y="3268980"/>
            <a:ext cx="4572000" cy="1348740"/>
          </a:xfrm>
          <a:prstGeom prst="roundRect">
            <a:avLst>
              <a:gd name="adj" fmla="val 6780"/>
            </a:avLst>
          </a:prstGeom>
          <a:solidFill>
            <a:srgbClr val="E1F6EF"/>
          </a:solidFill>
          <a:ln w="11430">
            <a:solidFill>
              <a:srgbClr val="084D36">
                <a:alpha val="20000"/>
              </a:srgbClr>
            </a:solidFill>
            <a:prstDash val="solid"/>
          </a:ln>
        </p:spPr>
      </p:sp>
      <p:sp>
        <p:nvSpPr>
          <p:cNvPr id="8" name="9c7b2248-dc6a-4f5b-b1a4-37334a60b239_emoji"/>
          <p:cNvSpPr/>
          <p:nvPr/>
        </p:nvSpPr>
        <p:spPr>
          <a:xfrm>
            <a:off x="400050" y="341757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🔍</a:t>
            </a:r>
            <a:endParaRPr lang="en-US" sz="2160" dirty="0"/>
          </a:p>
        </p:txBody>
      </p:sp>
      <p:sp>
        <p:nvSpPr>
          <p:cNvPr id="9" name="9c7b2248-dc6a-4f5b-b1a4-37334a60b239_text"/>
          <p:cNvSpPr/>
          <p:nvPr/>
        </p:nvSpPr>
        <p:spPr>
          <a:xfrm>
            <a:off x="765810" y="3383280"/>
            <a:ext cx="3977640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440" b="1" dirty="0">
                <a:solidFill>
                  <a:srgbClr val="084D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Exemplo</a:t>
            </a:r>
            <a:endParaRPr lang="en-US" sz="144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84D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Metodologias como Six Sigma utilizam o desvio padrão para reduzir falhas a quase zero.</a:t>
            </a:r>
            <a:endParaRPr lang="en-US" sz="144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23" descr="/home/forge/chalkie-production-workers-3/releases/77481733/backend/storage/app/render-specs/e1b35558-1a9c-4b78-a315-d8c571d0a62a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sp>
        <p:nvSpPr>
          <p:cNvPr id="3" name="7ef6e2f7-6320-42d8-a5aa-fed84b159800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Fatos Sobre Medidas de Dispersão</a:t>
            </a:r>
            <a:endParaRPr lang="en-US" sz="2880" dirty="0"/>
          </a:p>
        </p:txBody>
      </p:sp>
      <p:sp>
        <p:nvSpPr>
          <p:cNvPr id="4" name="f6e06226-eefb-4aca-a459-1bc9b646db81"/>
          <p:cNvSpPr/>
          <p:nvPr/>
        </p:nvSpPr>
        <p:spPr>
          <a:xfrm>
            <a:off x="285750" y="685800"/>
            <a:ext cx="8572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Quais afirmações a respeito do desvio padrão e da dispersão nos negócios são verdadeiras?</a:t>
            </a:r>
            <a:endParaRPr lang="en-US" sz="1620" dirty="0"/>
          </a:p>
        </p:txBody>
      </p:sp>
      <p:sp>
        <p:nvSpPr>
          <p:cNvPr id="5" name="7a2875c1-c412-4959-9310-d39df755b37f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02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5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</a:t>
            </a:r>
            <a:endParaRPr lang="en-US" sz="2520" dirty="0"/>
          </a:p>
        </p:txBody>
      </p:sp>
      <p:sp>
        <p:nvSpPr>
          <p:cNvPr id="6" name="f4d9dfcb-9573-4779-9a15-5929f075d6be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desvio padrão só pode assumir valores negativos em finanças empresariais.</a:t>
            </a:r>
            <a:endParaRPr lang="en-US" sz="1620" dirty="0"/>
          </a:p>
        </p:txBody>
      </p:sp>
      <p:sp>
        <p:nvSpPr>
          <p:cNvPr id="7" name="91ffa4bb-0886-437f-85d7-862ad7bcf38a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02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5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</a:t>
            </a:r>
            <a:endParaRPr lang="en-US" sz="2520" dirty="0"/>
          </a:p>
        </p:txBody>
      </p:sp>
      <p:sp>
        <p:nvSpPr>
          <p:cNvPr id="8" name="9face6e0-7efa-4428-bb3b-62ef6919c552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desvio padrão é obtido calculando-se a raiz quadrada da variância.</a:t>
            </a:r>
            <a:endParaRPr lang="en-US" sz="1620" dirty="0"/>
          </a:p>
        </p:txBody>
      </p:sp>
      <p:sp>
        <p:nvSpPr>
          <p:cNvPr id="9" name="25f38509-6790-45b6-8f26-9aa9f98b3a98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02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5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</a:t>
            </a:r>
            <a:endParaRPr lang="en-US" sz="2520" dirty="0"/>
          </a:p>
        </p:txBody>
      </p:sp>
      <p:sp>
        <p:nvSpPr>
          <p:cNvPr id="10" name="69462802-bd59-430c-9a5e-57d98683ae7f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Quanto maior for o desvio padrão, mais homogêneo e previsível é o processo produtivo.</a:t>
            </a:r>
            <a:endParaRPr lang="en-US" sz="1620" dirty="0"/>
          </a:p>
        </p:txBody>
      </p:sp>
      <p:sp>
        <p:nvSpPr>
          <p:cNvPr id="11" name="a60b5e5f-98b8-4979-80e5-d63fc21690a8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02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5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</a:t>
            </a:r>
            <a:endParaRPr lang="en-US" sz="2520" dirty="0"/>
          </a:p>
        </p:txBody>
      </p:sp>
      <p:sp>
        <p:nvSpPr>
          <p:cNvPr id="12" name="82e62953-06cc-4fb4-b233-274468c6b3d7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 desvio padrão baixo indica que a maioria dos valores está muito próxima da média.</a:t>
            </a:r>
            <a:endParaRPr lang="en-US" sz="162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24" descr="/home/forge/chalkie-production-workers-3/releases/77481733/backend/storage/app/render-specs/e1b35558-1a9c-4b78-a315-d8c571d0a62a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sp>
        <p:nvSpPr>
          <p:cNvPr id="3" name="7ef6e2f7-6320-42d8-a5aa-fed84b159800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Fatos Sobre Medidas de Dispersão</a:t>
            </a:r>
            <a:endParaRPr lang="en-US" sz="2880" dirty="0"/>
          </a:p>
        </p:txBody>
      </p:sp>
      <p:sp>
        <p:nvSpPr>
          <p:cNvPr id="4" name="f6e06226-eefb-4aca-a459-1bc9b646db81"/>
          <p:cNvSpPr/>
          <p:nvPr/>
        </p:nvSpPr>
        <p:spPr>
          <a:xfrm>
            <a:off x="285750" y="685800"/>
            <a:ext cx="8572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Quais afirmações a respeito do desvio padrão e da dispersão nos negócios são verdadeiras?</a:t>
            </a:r>
            <a:endParaRPr lang="en-US" sz="1620" dirty="0"/>
          </a:p>
        </p:txBody>
      </p:sp>
      <p:sp>
        <p:nvSpPr>
          <p:cNvPr id="5" name="7a2875c1-c412-4959-9310-d39df755b37f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02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5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</a:t>
            </a:r>
            <a:endParaRPr lang="en-US" sz="2520" dirty="0"/>
          </a:p>
        </p:txBody>
      </p:sp>
      <p:sp>
        <p:nvSpPr>
          <p:cNvPr id="6" name="f4d9dfcb-9573-4779-9a15-5929f075d6be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desvio padrão só pode assumir valores negativos em finanças empresariais.</a:t>
            </a:r>
            <a:endParaRPr lang="en-US" sz="1620" dirty="0"/>
          </a:p>
        </p:txBody>
      </p:sp>
      <p:sp>
        <p:nvSpPr>
          <p:cNvPr id="7" name="91ffa4bb-0886-437f-85d7-862ad7bcf38a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02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5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</a:t>
            </a:r>
            <a:endParaRPr lang="en-US" sz="2520" dirty="0"/>
          </a:p>
        </p:txBody>
      </p:sp>
      <p:sp>
        <p:nvSpPr>
          <p:cNvPr id="8" name="9face6e0-7efa-4428-bb3b-62ef6919c552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2C6E49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desvio padrão é obtido calculando-se a raiz quadrada da variância.</a:t>
            </a:r>
            <a:endParaRPr lang="en-US" sz="1620" dirty="0"/>
          </a:p>
        </p:txBody>
      </p:sp>
      <p:sp>
        <p:nvSpPr>
          <p:cNvPr id="9" name="25f38509-6790-45b6-8f26-9aa9f98b3a98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02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5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</a:t>
            </a:r>
            <a:endParaRPr lang="en-US" sz="2520" dirty="0"/>
          </a:p>
        </p:txBody>
      </p:sp>
      <p:sp>
        <p:nvSpPr>
          <p:cNvPr id="10" name="69462802-bd59-430c-9a5e-57d98683ae7f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Quanto maior for o desvio padrão, mais homogêneo e previsível é o processo produtivo.</a:t>
            </a:r>
            <a:endParaRPr lang="en-US" sz="1620" dirty="0"/>
          </a:p>
        </p:txBody>
      </p:sp>
      <p:sp>
        <p:nvSpPr>
          <p:cNvPr id="11" name="a60b5e5f-98b8-4979-80e5-d63fc21690a8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02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5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</a:t>
            </a:r>
            <a:endParaRPr lang="en-US" sz="2520" dirty="0"/>
          </a:p>
        </p:txBody>
      </p:sp>
      <p:sp>
        <p:nvSpPr>
          <p:cNvPr id="12" name="82e62953-06cc-4fb4-b233-274468c6b3d7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2C6E49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 desvio padrão baixo indica que a maioria dos valores está muito próxima da média.</a:t>
            </a:r>
            <a:endParaRPr lang="en-US" sz="1620" dirty="0"/>
          </a:p>
        </p:txBody>
      </p:sp>
      <p:sp>
        <p:nvSpPr>
          <p:cNvPr id="13" name="fcac9580-7c57-4522-97c4-d9c4c8887491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r" indent="0" marL="0">
              <a:lnSpc>
                <a:spcPts val="432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36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endParaRPr lang="en-US" sz="3600" dirty="0"/>
          </a:p>
        </p:txBody>
      </p:sp>
      <p:sp>
        <p:nvSpPr>
          <p:cNvPr id="14" name="542dcf8e-14c6-4ac3-91a9-8172b83a2bd5"/>
          <p:cNvSpPr/>
          <p:nvPr/>
        </p:nvSpPr>
        <p:spPr>
          <a:xfrm>
            <a:off x="8721090" y="237744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2C6E49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404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170" dirty="0"/>
          </a:p>
        </p:txBody>
      </p:sp>
      <p:sp>
        <p:nvSpPr>
          <p:cNvPr id="15" name="2d58b7ad-a387-4df0-809d-4dbbaffae978"/>
          <p:cNvSpPr/>
          <p:nvPr/>
        </p:nvSpPr>
        <p:spPr>
          <a:xfrm>
            <a:off x="8721090" y="409194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2C6E49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404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17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25" descr="/home/forge/chalkie-production-workers-3/releases/77481733/backend/storage/app/render-specs/e1b35558-1a9c-4b78-a315-d8c571d0a62a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08085127-ae77-4530-beea-070d66a4f862" descr="/home/forge/chalkie-production-workers-3/releases/77481733/backend/storage/app/render-specs/e1b35558-1a9c-4b78-a315-d8c571d0a62a/img_a5b40ba3b2a727bf34e6b5ea13db081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486150" cy="5143500"/>
          </a:xfrm>
          <a:prstGeom prst="roundRect">
            <a:avLst>
              <a:gd name="adj" fmla="val 3934"/>
            </a:avLst>
          </a:prstGeom>
        </p:spPr>
      </p:pic>
      <p:sp>
        <p:nvSpPr>
          <p:cNvPr id="4" name="4709d3ea-450d-4c68-b605-0681baef69be"/>
          <p:cNvSpPr/>
          <p:nvPr/>
        </p:nvSpPr>
        <p:spPr>
          <a:xfrm>
            <a:off x="3714750" y="262890"/>
            <a:ext cx="5143500" cy="111556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Construindo Tabelas de Frequência</a:t>
            </a:r>
            <a:endParaRPr lang="en-US" sz="2880" dirty="0"/>
          </a:p>
        </p:txBody>
      </p:sp>
      <p:sp>
        <p:nvSpPr>
          <p:cNvPr id="5" name="46ffc4d7-6420-472b-93ca-920ca6094e44"/>
          <p:cNvSpPr/>
          <p:nvPr/>
        </p:nvSpPr>
        <p:spPr>
          <a:xfrm>
            <a:off x="3714750" y="1383030"/>
            <a:ext cx="2137410" cy="262890"/>
          </a:xfrm>
          <a:prstGeom prst="roundRect">
            <a:avLst>
              <a:gd name="adj" fmla="val 17391"/>
            </a:avLst>
          </a:prstGeom>
          <a:solidFill>
            <a:srgbClr val="D32F2F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ESTRUTURAÇÃO DE DADOS</a:t>
            </a:r>
            <a:endParaRPr lang="en-US" sz="1080" dirty="0"/>
          </a:p>
        </p:txBody>
      </p:sp>
      <p:sp>
        <p:nvSpPr>
          <p:cNvPr id="6" name="01baf0b2-e10c-4c14-bf9c-3d2feffbd1d1"/>
          <p:cNvSpPr/>
          <p:nvPr/>
        </p:nvSpPr>
        <p:spPr>
          <a:xfrm>
            <a:off x="3714750" y="1691640"/>
            <a:ext cx="5143500" cy="15316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Quando coletamos centenas de respostas de clientes, os dados brutos são confusos.</a:t>
            </a:r>
            <a:endParaRPr lang="en-US" sz="162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tabela de frequência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agrupa registros idênticos em classes, revelando padrões ocultos de comportamento e queixas recorrentes.</a:t>
            </a:r>
            <a:endParaRPr lang="en-US" sz="1620" dirty="0"/>
          </a:p>
        </p:txBody>
      </p:sp>
      <p:sp>
        <p:nvSpPr>
          <p:cNvPr id="7" name="cbac1aa2-e1fc-425c-aaf1-a8e05bfc6399_card"/>
          <p:cNvSpPr/>
          <p:nvPr/>
        </p:nvSpPr>
        <p:spPr>
          <a:xfrm>
            <a:off x="3714750" y="3291840"/>
            <a:ext cx="5143500" cy="1348740"/>
          </a:xfrm>
          <a:prstGeom prst="roundRect">
            <a:avLst>
              <a:gd name="adj" fmla="val 6780"/>
            </a:avLst>
          </a:prstGeom>
          <a:solidFill>
            <a:srgbClr val="E6F1FB"/>
          </a:solidFill>
          <a:ln w="11430">
            <a:solidFill>
              <a:srgbClr val="0B2F50">
                <a:alpha val="20000"/>
              </a:srgbClr>
            </a:solidFill>
            <a:prstDash val="solid"/>
          </a:ln>
        </p:spPr>
      </p:sp>
      <p:sp>
        <p:nvSpPr>
          <p:cNvPr id="8" name="cbac1aa2-e1fc-425c-aaf1-a8e05bfc6399_emoji"/>
          <p:cNvSpPr/>
          <p:nvPr/>
        </p:nvSpPr>
        <p:spPr>
          <a:xfrm>
            <a:off x="3829050" y="344043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🧠</a:t>
            </a:r>
            <a:endParaRPr lang="en-US" sz="2160" dirty="0"/>
          </a:p>
        </p:txBody>
      </p:sp>
      <p:sp>
        <p:nvSpPr>
          <p:cNvPr id="9" name="cbac1aa2-e1fc-425c-aaf1-a8e05bfc6399_text"/>
          <p:cNvSpPr/>
          <p:nvPr/>
        </p:nvSpPr>
        <p:spPr>
          <a:xfrm>
            <a:off x="4194810" y="3406140"/>
            <a:ext cx="4549140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440" b="1" dirty="0">
                <a:solidFill>
                  <a:srgbClr val="0B2F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Lembre-se</a:t>
            </a:r>
            <a:endParaRPr lang="en-US" sz="144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B2F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Frequência Absoluta é a contagem simples. Frequência Relativa é essa contagem expressa em porcentagem do total.</a:t>
            </a:r>
            <a:endParaRPr lang="en-US" sz="144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26" descr="/home/forge/chalkie-production-workers-3/releases/77481733/backend/storage/app/render-specs/e1b35558-1a9c-4b78-a315-d8c571d0a62a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962957dc-f0ea-4bca-97b6-e8ca64a94be1" descr="/home/forge/chalkie-production-workers-3/releases/77481733/backend/storage/app/render-specs/e1b35558-1a9c-4b78-a315-d8c571d0a62a/img_4d7ab5336fb81b62981e26b4362e9ee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822960"/>
            <a:ext cx="4194810" cy="2057400"/>
          </a:xfrm>
          <a:prstGeom prst="roundRect">
            <a:avLst>
              <a:gd name="adj" fmla="val 6667"/>
            </a:avLst>
          </a:prstGeom>
        </p:spPr>
      </p:pic>
      <p:pic>
        <p:nvPicPr>
          <p:cNvPr id="4" name="d5587b84-9970-4bba-9e55-6e9edf166487" descr="/home/forge/chalkie-production-workers-3/releases/77481733/backend/storage/app/render-specs/e1b35558-1a9c-4b78-a315-d8c571d0a62a/img_0a1fc5f5d2800845abf6dd1eca37958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2010" y="822960"/>
            <a:ext cx="4194810" cy="2057400"/>
          </a:xfrm>
          <a:prstGeom prst="roundRect">
            <a:avLst>
              <a:gd name="adj" fmla="val 6667"/>
            </a:avLst>
          </a:prstGeom>
        </p:spPr>
      </p:pic>
      <p:sp>
        <p:nvSpPr>
          <p:cNvPr id="5" name="65d67093-7e50-4e4b-ad39-d4e738cb148f"/>
          <p:cNvSpPr/>
          <p:nvPr/>
        </p:nvSpPr>
        <p:spPr>
          <a:xfrm>
            <a:off x="285750" y="20574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Frequência Absoluta vs Relativa</a:t>
            </a:r>
            <a:endParaRPr lang="en-US" sz="2880" dirty="0"/>
          </a:p>
        </p:txBody>
      </p:sp>
      <p:sp>
        <p:nvSpPr>
          <p:cNvPr id="6" name="9524f1bb-dc14-4107-9735-f44cee3ae0f1"/>
          <p:cNvSpPr/>
          <p:nvPr/>
        </p:nvSpPr>
        <p:spPr>
          <a:xfrm>
            <a:off x="285750" y="3017520"/>
            <a:ext cx="4194810" cy="149961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98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Frequência Absoluta (fi)</a:t>
            </a:r>
            <a:endParaRPr lang="en-US" sz="198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Indica a contagem real de ocorrências. Exemplo: 40 clientes reclamaram de atraso na entrega durante a semana.</a:t>
            </a:r>
            <a:endParaRPr lang="en-US" sz="1980" dirty="0"/>
          </a:p>
        </p:txBody>
      </p:sp>
      <p:sp>
        <p:nvSpPr>
          <p:cNvPr id="7" name="00b9baba-9378-41b3-84d8-bafd2cf98c9b"/>
          <p:cNvSpPr/>
          <p:nvPr/>
        </p:nvSpPr>
        <p:spPr>
          <a:xfrm>
            <a:off x="4652010" y="3017520"/>
            <a:ext cx="4194810" cy="149961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98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Frequência Relativa (fr)</a:t>
            </a:r>
            <a:endParaRPr lang="en-US" sz="198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Representa a proporção: 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 = (fi ÷ Total) × 100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Se houve 200 reclamações, 40 atrasos representam 20% do volume total.</a:t>
            </a:r>
            <a:endParaRPr lang="en-US" sz="198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27" descr="/home/forge/chalkie-production-workers-3/releases/77481733/backend/storage/app/render-specs/e1b35558-1a9c-4b78-a315-d8c571d0a62a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sp>
        <p:nvSpPr>
          <p:cNvPr id="3" name="0b2a2ddd-d9c1-4061-b26e-3563a6164a58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Reunião Operacional da TecnoSul</a:t>
            </a:r>
            <a:endParaRPr lang="en-US" sz="2880" dirty="0"/>
          </a:p>
        </p:txBody>
      </p:sp>
      <p:sp>
        <p:nvSpPr>
          <p:cNvPr id="4" name="0059357f-6485-488b-aab4-35b41bf1cd23"/>
          <p:cNvSpPr/>
          <p:nvPr/>
        </p:nvSpPr>
        <p:spPr>
          <a:xfrm>
            <a:off x="285750" y="742950"/>
            <a:ext cx="8572500" cy="34747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728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44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Ouça o áudio e responda às perguntas</a:t>
            </a:r>
            <a:endParaRPr lang="en-US" sz="1440" dirty="0"/>
          </a:p>
        </p:txBody>
      </p:sp>
      <p:sp>
        <p:nvSpPr>
          <p:cNvPr id="5" name="3aaa4a45-d4f1-4fb3-86d4-c053a122315d"/>
          <p:cNvSpPr/>
          <p:nvPr/>
        </p:nvSpPr>
        <p:spPr>
          <a:xfrm>
            <a:off x="285750" y="2686050"/>
            <a:ext cx="388620" cy="388620"/>
          </a:xfrm>
          <a:prstGeom prst="roundRect">
            <a:avLst>
              <a:gd name="adj" fmla="val 50000"/>
            </a:avLst>
          </a:prstGeom>
          <a:solidFill>
            <a:srgbClr val="D32F2F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259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1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2160" dirty="0"/>
          </a:p>
        </p:txBody>
      </p:sp>
      <p:sp>
        <p:nvSpPr>
          <p:cNvPr id="6" name="e714a1f5-604e-438d-8b82-1526ae71395a"/>
          <p:cNvSpPr/>
          <p:nvPr/>
        </p:nvSpPr>
        <p:spPr>
          <a:xfrm>
            <a:off x="788670" y="2686050"/>
            <a:ext cx="8069580" cy="3886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 foi a média diária de chamados técnicos registrados na última semana?</a:t>
            </a:r>
            <a:endParaRPr lang="en-US" sz="1620" dirty="0"/>
          </a:p>
        </p:txBody>
      </p:sp>
      <p:sp>
        <p:nvSpPr>
          <p:cNvPr id="7" name="4416e7f4-db6e-43ee-83c6-87d013ace438"/>
          <p:cNvSpPr/>
          <p:nvPr/>
        </p:nvSpPr>
        <p:spPr>
          <a:xfrm>
            <a:off x="285750" y="3188970"/>
            <a:ext cx="388620" cy="388620"/>
          </a:xfrm>
          <a:prstGeom prst="roundRect">
            <a:avLst>
              <a:gd name="adj" fmla="val 50000"/>
            </a:avLst>
          </a:prstGeom>
          <a:solidFill>
            <a:srgbClr val="D32F2F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259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1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2160" dirty="0"/>
          </a:p>
        </p:txBody>
      </p:sp>
      <p:sp>
        <p:nvSpPr>
          <p:cNvPr id="8" name="9fcda10f-3526-4185-a305-19013bab7a70"/>
          <p:cNvSpPr/>
          <p:nvPr/>
        </p:nvSpPr>
        <p:spPr>
          <a:xfrm>
            <a:off x="788670" y="3188970"/>
            <a:ext cx="8069580" cy="3886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que causou o desvio padrão elevado nos atendimentos da equipe?</a:t>
            </a:r>
            <a:endParaRPr lang="en-US" sz="1620" dirty="0"/>
          </a:p>
        </p:txBody>
      </p:sp>
      <p:sp>
        <p:nvSpPr>
          <p:cNvPr id="9" name="c9ee94ce-c0e8-4d50-ae13-a7e7aa916182"/>
          <p:cNvSpPr/>
          <p:nvPr/>
        </p:nvSpPr>
        <p:spPr>
          <a:xfrm>
            <a:off x="285750" y="3691890"/>
            <a:ext cx="388620" cy="388620"/>
          </a:xfrm>
          <a:prstGeom prst="roundRect">
            <a:avLst>
              <a:gd name="adj" fmla="val 50000"/>
            </a:avLst>
          </a:prstGeom>
          <a:solidFill>
            <a:srgbClr val="D32F2F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259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1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2160" dirty="0"/>
          </a:p>
        </p:txBody>
      </p:sp>
      <p:sp>
        <p:nvSpPr>
          <p:cNvPr id="10" name="4f6410b2-a15e-48e9-be57-1ff9144f2ef3"/>
          <p:cNvSpPr/>
          <p:nvPr/>
        </p:nvSpPr>
        <p:spPr>
          <a:xfrm>
            <a:off x="788670" y="3691890"/>
            <a:ext cx="8069580" cy="3886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 percentual das reclamações totais foi concentrado em problemas de login?</a:t>
            </a:r>
            <a:endParaRPr lang="en-US" sz="1620" dirty="0"/>
          </a:p>
        </p:txBody>
      </p:sp>
      <p:sp>
        <p:nvSpPr>
          <p:cNvPr id="11" name="5a9aa1b8-eda6-4f84-ade5-388858b78a4a"/>
          <p:cNvSpPr/>
          <p:nvPr/>
        </p:nvSpPr>
        <p:spPr>
          <a:xfrm>
            <a:off x="285750" y="4194810"/>
            <a:ext cx="388620" cy="388620"/>
          </a:xfrm>
          <a:prstGeom prst="roundRect">
            <a:avLst>
              <a:gd name="adj" fmla="val 50000"/>
            </a:avLst>
          </a:prstGeom>
          <a:solidFill>
            <a:srgbClr val="D32F2F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259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1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2160" dirty="0"/>
          </a:p>
        </p:txBody>
      </p:sp>
      <p:sp>
        <p:nvSpPr>
          <p:cNvPr id="12" name="61c9eb21-28ae-479a-aaa1-9636f416763c"/>
          <p:cNvSpPr/>
          <p:nvPr/>
        </p:nvSpPr>
        <p:spPr>
          <a:xfrm>
            <a:off x="788670" y="4194810"/>
            <a:ext cx="8069580" cy="3886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 medida prática Carlos propôs para reduzir a variabilidade dos chamados?</a:t>
            </a:r>
            <a:endParaRPr lang="en-US" sz="1620" dirty="0"/>
          </a:p>
        </p:txBody>
      </p:sp>
      <p:sp>
        <p:nvSpPr>
          <p:cNvPr id="13" name="cf872303-950a-4ed7-aa91-378f9daff2b8_card"/>
          <p:cNvSpPr/>
          <p:nvPr/>
        </p:nvSpPr>
        <p:spPr>
          <a:xfrm>
            <a:off x="285750" y="1291590"/>
            <a:ext cx="8572500" cy="857250"/>
          </a:xfrm>
          <a:prstGeom prst="roundRect">
            <a:avLst/>
          </a:prstGeom>
          <a:solidFill>
            <a:srgbClr val="FFF4F1"/>
          </a:solidFill>
          <a:ln w="76200">
            <a:solidFill>
              <a:srgbClr val="FFFFFF"/>
            </a:solidFill>
            <a:prstDash val="solid"/>
          </a:ln>
        </p:spPr>
      </p:sp>
      <p:pic>
        <p:nvPicPr>
          <p:cNvPr id="14" name="cf872303-950a-4ed7-aa91-378f9daff2b8_icon" descr="/home/forge/chalkie-production-workers-3/releases/77481733/backend/storage/app/render-specs/e1b35558-1a9c-4b78-a315-d8c571d0a62a/audio_ic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070" y="1594485"/>
            <a:ext cx="251460" cy="251460"/>
          </a:xfrm>
          <a:prstGeom prst="rect">
            <a:avLst/>
          </a:prstGeom>
        </p:spPr>
      </p:pic>
      <p:sp>
        <p:nvSpPr>
          <p:cNvPr id="15" name="cf872303-950a-4ed7-aa91-378f9daff2b8_title"/>
          <p:cNvSpPr/>
          <p:nvPr/>
        </p:nvSpPr>
        <p:spPr>
          <a:xfrm>
            <a:off x="902970" y="1291590"/>
            <a:ext cx="532638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Alinhamento Semanal de Indicadores</a:t>
            </a:r>
            <a:endParaRPr lang="en-US" sz="1800" dirty="0"/>
          </a:p>
        </p:txBody>
      </p:sp>
      <p:sp>
        <p:nvSpPr>
          <p:cNvPr id="16" name="cf872303-950a-4ed7-aa91-378f9daff2b8_btn"/>
          <p:cNvSpPr/>
          <p:nvPr/>
        </p:nvSpPr>
        <p:spPr>
          <a:xfrm>
            <a:off x="6412230" y="1520190"/>
            <a:ext cx="2171700" cy="400050"/>
          </a:xfrm>
          <a:prstGeom prst="roundRect">
            <a:avLst/>
          </a:prstGeom>
          <a:solidFill>
            <a:srgbClr val="2C6E49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▶ Reproduzir áudio</a:t>
            </a:r>
            <a:endParaRPr lang="en-US" sz="1440" dirty="0"/>
          </a:p>
        </p:txBody>
      </p:sp>
      <p:sp>
        <p:nvSpPr>
          <p:cNvPr id="17" name="cf872303-950a-4ed7-aa91-378f9daff2b8_btn_link">
            <a:hlinkClick r:id="rId3" tooltip=""/>
          </p:cNvPr>
          <p:cNvSpPr/>
          <p:nvPr/>
        </p:nvSpPr>
        <p:spPr>
          <a:xfrm>
            <a:off x="6412230" y="1520190"/>
            <a:ext cx="2171700" cy="400050"/>
          </a:xfrm>
          <a:prstGeom prst="roundRect">
            <a:avLst/>
          </a:prstGeom>
          <a:solidFill>
            <a:srgbClr val="2C6E49">
              <a:alpha val="0"/>
            </a:srgbClr>
          </a:solidFill>
          <a:ln w="12700">
            <a:solidFill>
              <a:srgbClr val="2C6E49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28" descr="/home/forge/chalkie-production-workers-3/releases/77481733/backend/storage/app/render-specs/e1b35558-1a9c-4b78-a315-d8c571d0a62a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sp>
        <p:nvSpPr>
          <p:cNvPr id="3" name="0b2a2ddd-d9c1-4061-b26e-3563a6164a58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Reunião Operacional da TecnoSul</a:t>
            </a:r>
            <a:endParaRPr lang="en-US" sz="2880" dirty="0"/>
          </a:p>
        </p:txBody>
      </p:sp>
      <p:sp>
        <p:nvSpPr>
          <p:cNvPr id="4" name="b1d4b032-7cab-47dd-ace4-58c9767d66bd"/>
          <p:cNvSpPr/>
          <p:nvPr/>
        </p:nvSpPr>
        <p:spPr>
          <a:xfrm>
            <a:off x="285750" y="742950"/>
            <a:ext cx="8572500" cy="34747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728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44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Verifica as tuas respostas abaixo</a:t>
            </a:r>
            <a:endParaRPr lang="en-US" sz="1440" dirty="0"/>
          </a:p>
        </p:txBody>
      </p:sp>
      <p:sp>
        <p:nvSpPr>
          <p:cNvPr id="5" name="ee60c43a-bbf3-4be0-9201-90d496a79be3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r" indent="0" marL="0">
              <a:lnSpc>
                <a:spcPts val="432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36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endParaRPr lang="en-US" sz="3600" dirty="0"/>
          </a:p>
        </p:txBody>
      </p:sp>
      <p:sp>
        <p:nvSpPr>
          <p:cNvPr id="6" name="dd9b5bcb-a40f-42c8-a796-96cfd569d114"/>
          <p:cNvSpPr/>
          <p:nvPr/>
        </p:nvSpPr>
        <p:spPr>
          <a:xfrm>
            <a:off x="285750" y="2686050"/>
            <a:ext cx="388620" cy="388620"/>
          </a:xfrm>
          <a:prstGeom prst="roundRect">
            <a:avLst>
              <a:gd name="adj" fmla="val 50000"/>
            </a:avLst>
          </a:prstGeom>
          <a:solidFill>
            <a:srgbClr val="D32F2F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259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1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2160" dirty="0"/>
          </a:p>
        </p:txBody>
      </p:sp>
      <p:sp>
        <p:nvSpPr>
          <p:cNvPr id="7" name="2f4ceaeb-e8a0-4c03-9f89-9b4a730f9ff9"/>
          <p:cNvSpPr/>
          <p:nvPr/>
        </p:nvSpPr>
        <p:spPr>
          <a:xfrm>
            <a:off x="788670" y="2686050"/>
            <a:ext cx="8069580" cy="3886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média diária foi de 45 chamados por dia.</a:t>
            </a:r>
            <a:endParaRPr lang="en-US" sz="1620" dirty="0"/>
          </a:p>
        </p:txBody>
      </p:sp>
      <p:sp>
        <p:nvSpPr>
          <p:cNvPr id="8" name="0fa8a3e8-b914-4148-90e0-1a8a8e9ad037"/>
          <p:cNvSpPr/>
          <p:nvPr/>
        </p:nvSpPr>
        <p:spPr>
          <a:xfrm>
            <a:off x="285750" y="3188970"/>
            <a:ext cx="388620" cy="388620"/>
          </a:xfrm>
          <a:prstGeom prst="roundRect">
            <a:avLst>
              <a:gd name="adj" fmla="val 50000"/>
            </a:avLst>
          </a:prstGeom>
          <a:solidFill>
            <a:srgbClr val="D32F2F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259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1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2160" dirty="0"/>
          </a:p>
        </p:txBody>
      </p:sp>
      <p:sp>
        <p:nvSpPr>
          <p:cNvPr id="9" name="f1cea882-4f9d-4c84-987a-9e3010223b14"/>
          <p:cNvSpPr/>
          <p:nvPr/>
        </p:nvSpPr>
        <p:spPr>
          <a:xfrm>
            <a:off x="788670" y="3188970"/>
            <a:ext cx="8069580" cy="3886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pico atípico ocorrido após a instabilidade do servidor na terça-feira.</a:t>
            </a:r>
            <a:endParaRPr lang="en-US" sz="1620" dirty="0"/>
          </a:p>
        </p:txBody>
      </p:sp>
      <p:sp>
        <p:nvSpPr>
          <p:cNvPr id="10" name="0fb1f22c-c57e-40b6-913e-d6d543a528ed"/>
          <p:cNvSpPr/>
          <p:nvPr/>
        </p:nvSpPr>
        <p:spPr>
          <a:xfrm>
            <a:off x="285750" y="3691890"/>
            <a:ext cx="388620" cy="388620"/>
          </a:xfrm>
          <a:prstGeom prst="roundRect">
            <a:avLst>
              <a:gd name="adj" fmla="val 50000"/>
            </a:avLst>
          </a:prstGeom>
          <a:solidFill>
            <a:srgbClr val="D32F2F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259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1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2160" dirty="0"/>
          </a:p>
        </p:txBody>
      </p:sp>
      <p:sp>
        <p:nvSpPr>
          <p:cNvPr id="11" name="4b861712-2953-47d2-b2ee-54fff86fbf83"/>
          <p:cNvSpPr/>
          <p:nvPr/>
        </p:nvSpPr>
        <p:spPr>
          <a:xfrm>
            <a:off x="788670" y="3691890"/>
            <a:ext cx="8069580" cy="3886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Aproximadamente sessenta por cento dos chamados totais.</a:t>
            </a:r>
            <a:endParaRPr lang="en-US" sz="1620" dirty="0"/>
          </a:p>
        </p:txBody>
      </p:sp>
      <p:sp>
        <p:nvSpPr>
          <p:cNvPr id="12" name="6a18e0bf-3c94-40d3-8111-0d2b681ab542"/>
          <p:cNvSpPr/>
          <p:nvPr/>
        </p:nvSpPr>
        <p:spPr>
          <a:xfrm>
            <a:off x="285750" y="4194810"/>
            <a:ext cx="388620" cy="388620"/>
          </a:xfrm>
          <a:prstGeom prst="roundRect">
            <a:avLst>
              <a:gd name="adj" fmla="val 50000"/>
            </a:avLst>
          </a:prstGeom>
          <a:solidFill>
            <a:srgbClr val="D32F2F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259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16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2160" dirty="0"/>
          </a:p>
        </p:txBody>
      </p:sp>
      <p:sp>
        <p:nvSpPr>
          <p:cNvPr id="13" name="4de54a33-8202-4b08-b963-1cec33d85925"/>
          <p:cNvSpPr/>
          <p:nvPr/>
        </p:nvSpPr>
        <p:spPr>
          <a:xfrm>
            <a:off x="788670" y="4194810"/>
            <a:ext cx="8069580" cy="3886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Automatizar a redefinição de senhas para liberar a equipe de suporte.</a:t>
            </a:r>
            <a:endParaRPr lang="en-US" sz="1620" dirty="0"/>
          </a:p>
        </p:txBody>
      </p:sp>
      <p:sp>
        <p:nvSpPr>
          <p:cNvPr id="14" name="cf872303-950a-4ed7-aa91-378f9daff2b8_card"/>
          <p:cNvSpPr/>
          <p:nvPr/>
        </p:nvSpPr>
        <p:spPr>
          <a:xfrm>
            <a:off x="285750" y="1291590"/>
            <a:ext cx="8572500" cy="857250"/>
          </a:xfrm>
          <a:prstGeom prst="roundRect">
            <a:avLst/>
          </a:prstGeom>
          <a:solidFill>
            <a:srgbClr val="FFF4F1"/>
          </a:solidFill>
          <a:ln w="76200">
            <a:solidFill>
              <a:srgbClr val="FFFFFF"/>
            </a:solidFill>
            <a:prstDash val="solid"/>
          </a:ln>
        </p:spPr>
      </p:sp>
      <p:pic>
        <p:nvPicPr>
          <p:cNvPr id="15" name="cf872303-950a-4ed7-aa91-378f9daff2b8_icon" descr="/home/forge/chalkie-production-workers-3/releases/77481733/backend/storage/app/render-specs/e1b35558-1a9c-4b78-a315-d8c571d0a62a/audio_ic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070" y="1594485"/>
            <a:ext cx="251460" cy="251460"/>
          </a:xfrm>
          <a:prstGeom prst="rect">
            <a:avLst/>
          </a:prstGeom>
        </p:spPr>
      </p:pic>
      <p:sp>
        <p:nvSpPr>
          <p:cNvPr id="16" name="cf872303-950a-4ed7-aa91-378f9daff2b8_title"/>
          <p:cNvSpPr/>
          <p:nvPr/>
        </p:nvSpPr>
        <p:spPr>
          <a:xfrm>
            <a:off x="902970" y="1291590"/>
            <a:ext cx="532638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000000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Alinhamento Semanal de Indicadores</a:t>
            </a:r>
            <a:endParaRPr lang="en-US" sz="1800" dirty="0"/>
          </a:p>
        </p:txBody>
      </p:sp>
      <p:sp>
        <p:nvSpPr>
          <p:cNvPr id="17" name="cf872303-950a-4ed7-aa91-378f9daff2b8_btn"/>
          <p:cNvSpPr/>
          <p:nvPr/>
        </p:nvSpPr>
        <p:spPr>
          <a:xfrm>
            <a:off x="6412230" y="1520190"/>
            <a:ext cx="2171700" cy="400050"/>
          </a:xfrm>
          <a:prstGeom prst="roundRect">
            <a:avLst/>
          </a:prstGeom>
          <a:solidFill>
            <a:srgbClr val="2C6E49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▶ Reproduzir áudio</a:t>
            </a:r>
            <a:endParaRPr lang="en-US" sz="1440" dirty="0"/>
          </a:p>
        </p:txBody>
      </p:sp>
      <p:sp>
        <p:nvSpPr>
          <p:cNvPr id="18" name="cf872303-950a-4ed7-aa91-378f9daff2b8_btn_link">
            <a:hlinkClick r:id="rId3" tooltip=""/>
          </p:cNvPr>
          <p:cNvSpPr/>
          <p:nvPr/>
        </p:nvSpPr>
        <p:spPr>
          <a:xfrm>
            <a:off x="6412230" y="1520190"/>
            <a:ext cx="2171700" cy="400050"/>
          </a:xfrm>
          <a:prstGeom prst="roundRect">
            <a:avLst/>
          </a:prstGeom>
          <a:solidFill>
            <a:srgbClr val="2C6E49">
              <a:alpha val="0"/>
            </a:srgbClr>
          </a:solidFill>
          <a:ln w="12700">
            <a:solidFill>
              <a:srgbClr val="2C6E49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29" descr="/home/forge/chalkie-production-workers-3/releases/77481733/backend/storage/app/render-specs/e1b35558-1a9c-4b78-a315-d8c571d0a62a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3193be39-8700-45dc-81a9-1eecbbed26e2" descr="/home/forge/chalkie-production-workers-3/releases/77481733/backend/storage/app/render-specs/e1b35558-1a9c-4b78-a315-d8c571d0a62a/img_b07556119b8175e1392504bec93c9dd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828800"/>
          </a:xfrm>
          <a:prstGeom prst="roundRect">
            <a:avLst>
              <a:gd name="adj" fmla="val 7500"/>
            </a:avLst>
          </a:prstGeom>
        </p:spPr>
      </p:pic>
      <p:sp>
        <p:nvSpPr>
          <p:cNvPr id="4" name="3f350edf-dfc2-4279-a5f2-757a4e2628ca"/>
          <p:cNvSpPr/>
          <p:nvPr/>
        </p:nvSpPr>
        <p:spPr>
          <a:xfrm>
            <a:off x="285750" y="236601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Identificando Padrões e Sequências</a:t>
            </a:r>
            <a:endParaRPr lang="en-US" sz="2880" dirty="0"/>
          </a:p>
        </p:txBody>
      </p:sp>
      <p:sp>
        <p:nvSpPr>
          <p:cNvPr id="5" name="a9a01a1c-bc4d-42d3-8529-499e2cea24f0"/>
          <p:cNvSpPr/>
          <p:nvPr/>
        </p:nvSpPr>
        <p:spPr>
          <a:xfrm>
            <a:off x="285750" y="3051810"/>
            <a:ext cx="2194560" cy="262890"/>
          </a:xfrm>
          <a:prstGeom prst="roundRect">
            <a:avLst>
              <a:gd name="adj" fmla="val 17391"/>
            </a:avLst>
          </a:prstGeom>
          <a:solidFill>
            <a:srgbClr val="D32F2F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PREVISIBILIDADE NUMÉRICA</a:t>
            </a:r>
            <a:endParaRPr lang="en-US" sz="1080" dirty="0"/>
          </a:p>
        </p:txBody>
      </p:sp>
      <p:sp>
        <p:nvSpPr>
          <p:cNvPr id="6" name="9c5d0f54-3b24-41bc-99f7-88a70115f027"/>
          <p:cNvSpPr/>
          <p:nvPr/>
        </p:nvSpPr>
        <p:spPr>
          <a:xfrm>
            <a:off x="285750" y="3360420"/>
            <a:ext cx="8572500" cy="9555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Negócios estruturados crescem seguindo padrões previsíveis. A matemática organiza essas trajetórias por meio de 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sequências lógicas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essenciais no planejamento de investimentos e metas.</a:t>
            </a:r>
            <a:endParaRPr lang="en-US" sz="162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30" descr="/home/forge/chalkie-production-workers-3/releases/77481733/backend/storage/app/render-specs/e1b35558-1a9c-4b78-a315-d8c571d0a62a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475c2be3-a341-4ff8-a3e6-8cd3e2db6bd3" descr="/home/forge/chalkie-production-workers-3/releases/77481733/backend/storage/app/render-specs/e1b35558-1a9c-4b78-a315-d8c571d0a62a/img_4becb9debd05c19286cca81e9ae0ab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1588770"/>
            <a:ext cx="8572500" cy="2057400"/>
          </a:xfrm>
          <a:prstGeom prst="roundRect">
            <a:avLst>
              <a:gd name="adj" fmla="val 6667"/>
            </a:avLst>
          </a:prstGeom>
        </p:spPr>
      </p:pic>
      <p:sp>
        <p:nvSpPr>
          <p:cNvPr id="4" name="4321bbc1-6aa6-4a1d-9d2d-d0e7e62207af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Progressão Aritmética na Operação</a:t>
            </a:r>
            <a:endParaRPr lang="en-US" sz="2880" dirty="0"/>
          </a:p>
        </p:txBody>
      </p:sp>
      <p:sp>
        <p:nvSpPr>
          <p:cNvPr id="5" name="44a38080-768b-453f-8f8a-4b7c49b380fd"/>
          <p:cNvSpPr/>
          <p:nvPr/>
        </p:nvSpPr>
        <p:spPr>
          <a:xfrm>
            <a:off x="285750" y="788670"/>
            <a:ext cx="8572500" cy="37947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 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cada valor soma uma constante 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ao anterior. Fórmula: 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= a1 + (n - 1) × r</a:t>
            </a:r>
            <a:endParaRPr lang="en-US" sz="1620" dirty="0"/>
          </a:p>
        </p:txBody>
      </p:sp>
      <p:sp>
        <p:nvSpPr>
          <p:cNvPr id="6" name="cfbfeac5-6943-40ff-a2e7-b6cc8513596a_card"/>
          <p:cNvSpPr/>
          <p:nvPr/>
        </p:nvSpPr>
        <p:spPr>
          <a:xfrm>
            <a:off x="285750" y="3783330"/>
            <a:ext cx="8572500" cy="854964"/>
          </a:xfrm>
          <a:prstGeom prst="roundRect">
            <a:avLst>
              <a:gd name="adj" fmla="val 10695"/>
            </a:avLst>
          </a:prstGeom>
          <a:solidFill>
            <a:srgbClr val="E1F6EF"/>
          </a:solidFill>
          <a:ln w="11430">
            <a:solidFill>
              <a:srgbClr val="084D36">
                <a:alpha val="20000"/>
              </a:srgbClr>
            </a:solidFill>
            <a:prstDash val="solid"/>
          </a:ln>
        </p:spPr>
      </p:sp>
      <p:sp>
        <p:nvSpPr>
          <p:cNvPr id="7" name="cfbfeac5-6943-40ff-a2e7-b6cc8513596a_emoji"/>
          <p:cNvSpPr/>
          <p:nvPr/>
        </p:nvSpPr>
        <p:spPr>
          <a:xfrm>
            <a:off x="400050" y="393192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🔍</a:t>
            </a:r>
            <a:endParaRPr lang="en-US" sz="2160" dirty="0"/>
          </a:p>
        </p:txBody>
      </p:sp>
      <p:sp>
        <p:nvSpPr>
          <p:cNvPr id="8" name="cfbfeac5-6943-40ff-a2e7-b6cc8513596a_text"/>
          <p:cNvSpPr/>
          <p:nvPr/>
        </p:nvSpPr>
        <p:spPr>
          <a:xfrm>
            <a:off x="765810" y="3897630"/>
            <a:ext cx="7978140" cy="626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440" b="1" dirty="0">
                <a:solidFill>
                  <a:srgbClr val="084D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Exemplo</a:t>
            </a:r>
            <a:endParaRPr lang="en-US" sz="144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84D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Início: 1.000 (a1), ganho 200/mês (r). No 6º mês: 1.000 + (5 × 200) = 2.000.</a:t>
            </a:r>
            <a:endParaRPr lang="en-US" sz="144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31" descr="/home/forge/chalkie-production-workers-3/releases/77481733/backend/storage/app/render-specs/e1b35558-1a9c-4b78-a315-d8c571d0a62a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242dfb67-f3c5-4129-8cf2-2e07d2e02cd7" descr="/home/forge/chalkie-production-workers-3/releases/77481733/backend/storage/app/render-specs/e1b35558-1a9c-4b78-a315-d8c571d0a62a/img_a128f71905b50107a98822c1f9b6748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1588770"/>
            <a:ext cx="8572500" cy="2057400"/>
          </a:xfrm>
          <a:prstGeom prst="roundRect">
            <a:avLst>
              <a:gd name="adj" fmla="val 6667"/>
            </a:avLst>
          </a:prstGeom>
        </p:spPr>
      </p:pic>
      <p:sp>
        <p:nvSpPr>
          <p:cNvPr id="4" name="c3b46be8-86a2-42cf-b750-5535beaaae16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Progressão Geométrica nos Negócios</a:t>
            </a:r>
            <a:endParaRPr lang="en-US" sz="2880" dirty="0"/>
          </a:p>
        </p:txBody>
      </p:sp>
      <p:sp>
        <p:nvSpPr>
          <p:cNvPr id="5" name="f853041e-3d3e-43a7-8ce8-34a65b9543ab"/>
          <p:cNvSpPr/>
          <p:nvPr/>
        </p:nvSpPr>
        <p:spPr>
          <a:xfrm>
            <a:off x="285750" y="788670"/>
            <a:ext cx="8572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 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PG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cada termo é o anterior vezes a razão 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(q)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Define crescimento exponencial e juros: 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= a1 × q^(n-1)</a:t>
            </a:r>
            <a:endParaRPr lang="en-US" sz="1620" dirty="0"/>
          </a:p>
        </p:txBody>
      </p:sp>
      <p:sp>
        <p:nvSpPr>
          <p:cNvPr id="6" name="e7161c6b-079b-4027-a4b3-a7598266d02c_card"/>
          <p:cNvSpPr/>
          <p:nvPr/>
        </p:nvSpPr>
        <p:spPr>
          <a:xfrm>
            <a:off x="285750" y="3783330"/>
            <a:ext cx="8572500" cy="1101852"/>
          </a:xfrm>
          <a:prstGeom prst="roundRect">
            <a:avLst>
              <a:gd name="adj" fmla="val 8299"/>
            </a:avLst>
          </a:prstGeom>
          <a:solidFill>
            <a:srgbClr val="FCEBEB"/>
          </a:solidFill>
          <a:ln w="11430">
            <a:solidFill>
              <a:srgbClr val="460606">
                <a:alpha val="20000"/>
              </a:srgbClr>
            </a:solidFill>
            <a:prstDash val="solid"/>
          </a:ln>
        </p:spPr>
      </p:sp>
      <p:sp>
        <p:nvSpPr>
          <p:cNvPr id="7" name="e7161c6b-079b-4027-a4b3-a7598266d02c_emoji"/>
          <p:cNvSpPr/>
          <p:nvPr/>
        </p:nvSpPr>
        <p:spPr>
          <a:xfrm>
            <a:off x="400050" y="393192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⚠️</a:t>
            </a:r>
            <a:endParaRPr lang="en-US" sz="2160" dirty="0"/>
          </a:p>
        </p:txBody>
      </p:sp>
      <p:sp>
        <p:nvSpPr>
          <p:cNvPr id="8" name="e7161c6b-079b-4027-a4b3-a7598266d02c_text"/>
          <p:cNvSpPr/>
          <p:nvPr/>
        </p:nvSpPr>
        <p:spPr>
          <a:xfrm>
            <a:off x="765810" y="3897630"/>
            <a:ext cx="7978140" cy="873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440" b="1" dirty="0">
                <a:solidFill>
                  <a:srgbClr val="4606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Atenção</a:t>
            </a:r>
            <a:endParaRPr lang="en-US" sz="144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4606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Startup que dobra clientes/mês (q=2) segue PG, exigindo servidores escaláveis.</a:t>
            </a:r>
            <a:endParaRPr lang="en-US" sz="144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32" descr="/home/forge/chalkie-production-workers-3/releases/77481733/backend/storage/app/render-specs/e1b35558-1a9c-4b78-a315-d8c571d0a62a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30b414eb-3610-4f0d-b0a9-8dd6b9a50918" descr="/home/forge/chalkie-production-workers-3/releases/77481733/backend/storage/app/render-specs/e1b35558-1a9c-4b78-a315-d8c571d0a62a/img_55468a820af3a145b525af998103166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788670"/>
            <a:ext cx="3829050" cy="4069080"/>
          </a:xfrm>
          <a:prstGeom prst="roundRect">
            <a:avLst>
              <a:gd name="adj" fmla="val 3582"/>
            </a:avLst>
          </a:prstGeom>
        </p:spPr>
      </p:pic>
      <p:sp>
        <p:nvSpPr>
          <p:cNvPr id="4" name="5e36bbbb-ef0d-465d-854e-a958ad24c7e3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Lógica de Causa e Efeito Empresarial</a:t>
            </a:r>
            <a:endParaRPr lang="en-US" sz="2880" dirty="0"/>
          </a:p>
        </p:txBody>
      </p:sp>
      <p:sp>
        <p:nvSpPr>
          <p:cNvPr id="5" name="f9b54789-51fa-42b4-935a-eaff665ff1a9"/>
          <p:cNvSpPr/>
          <p:nvPr/>
        </p:nvSpPr>
        <p:spPr>
          <a:xfrm>
            <a:off x="285750" y="857250"/>
            <a:ext cx="1737360" cy="262890"/>
          </a:xfrm>
          <a:prstGeom prst="roundRect">
            <a:avLst>
              <a:gd name="adj" fmla="val 17391"/>
            </a:avLst>
          </a:prstGeom>
          <a:solidFill>
            <a:srgbClr val="D32F2F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TOMADA DE DECISÃO</a:t>
            </a:r>
            <a:endParaRPr lang="en-US" sz="1080" dirty="0"/>
          </a:p>
        </p:txBody>
      </p:sp>
      <p:sp>
        <p:nvSpPr>
          <p:cNvPr id="6" name="3a576d45-875f-4ef3-9762-95e038505c35"/>
          <p:cNvSpPr/>
          <p:nvPr/>
        </p:nvSpPr>
        <p:spPr>
          <a:xfrm>
            <a:off x="285750" y="1165860"/>
            <a:ext cx="4572000" cy="210769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 análise de dados, um erro perigoso é confundir 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correlação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(coincidência temporal) com 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causalidade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(relação direta de causa e efeito).</a:t>
            </a:r>
            <a:endParaRPr lang="en-US" sz="162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 prever cenários, precisamos testar se a alteração na variável X realmente provoca a mudança no resultado Y.</a:t>
            </a:r>
            <a:endParaRPr lang="en-US" sz="1620" dirty="0"/>
          </a:p>
        </p:txBody>
      </p:sp>
      <p:sp>
        <p:nvSpPr>
          <p:cNvPr id="7" name="81e57010-018e-410c-8068-20323ff49af8_card"/>
          <p:cNvSpPr/>
          <p:nvPr/>
        </p:nvSpPr>
        <p:spPr>
          <a:xfrm>
            <a:off x="285750" y="3268980"/>
            <a:ext cx="4572000" cy="1348740"/>
          </a:xfrm>
          <a:prstGeom prst="roundRect">
            <a:avLst>
              <a:gd name="adj" fmla="val 6780"/>
            </a:avLst>
          </a:prstGeom>
          <a:solidFill>
            <a:srgbClr val="FAEFDA"/>
          </a:solidFill>
          <a:ln w="11430">
            <a:solidFill>
              <a:srgbClr val="573B06">
                <a:alpha val="20000"/>
              </a:srgbClr>
            </a:solidFill>
            <a:prstDash val="solid"/>
          </a:ln>
        </p:spPr>
      </p:sp>
      <p:sp>
        <p:nvSpPr>
          <p:cNvPr id="8" name="81e57010-018e-410c-8068-20323ff49af8_emoji"/>
          <p:cNvSpPr/>
          <p:nvPr/>
        </p:nvSpPr>
        <p:spPr>
          <a:xfrm>
            <a:off x="400050" y="341757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🔑</a:t>
            </a:r>
            <a:endParaRPr lang="en-US" sz="2160" dirty="0"/>
          </a:p>
        </p:txBody>
      </p:sp>
      <p:sp>
        <p:nvSpPr>
          <p:cNvPr id="9" name="81e57010-018e-410c-8068-20323ff49af8_text"/>
          <p:cNvSpPr/>
          <p:nvPr/>
        </p:nvSpPr>
        <p:spPr>
          <a:xfrm>
            <a:off x="765810" y="3383280"/>
            <a:ext cx="3977640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440" b="1" dirty="0">
                <a:solidFill>
                  <a:srgbClr val="573B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Ponto-chave</a:t>
            </a:r>
            <a:endParaRPr lang="en-US" sz="144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573B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Mais sorvetes vendidos coincide com mais pessoas na praia, mas a causa de ambos é o calor do verão.</a:t>
            </a:r>
            <a:endParaRPr lang="en-US" sz="144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33" descr="/home/forge/chalkie-production-workers-3/releases/77481733/backend/storage/app/render-specs/e1b35558-1a9c-4b78-a315-d8c571d0a62a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sp>
        <p:nvSpPr>
          <p:cNvPr id="3" name="26b35ea2-5aa3-434e-8341-d4b04186d8c9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Etapas de uma Análise Estatística</a:t>
            </a:r>
            <a:endParaRPr lang="en-US" sz="2880" dirty="0"/>
          </a:p>
        </p:txBody>
      </p:sp>
      <p:sp>
        <p:nvSpPr>
          <p:cNvPr id="4" name="29995b5e-d92a-4723-a08d-2c0c4d67538f"/>
          <p:cNvSpPr/>
          <p:nvPr/>
        </p:nvSpPr>
        <p:spPr>
          <a:xfrm>
            <a:off x="285750" y="685800"/>
            <a:ext cx="8572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Ordene as quatro etapas fundamentais para conduzir uma análise estatística de qualidade:</a:t>
            </a:r>
            <a:endParaRPr lang="en-US" sz="1620" dirty="0"/>
          </a:p>
        </p:txBody>
      </p:sp>
      <p:sp>
        <p:nvSpPr>
          <p:cNvPr id="5" name="72f074ae-a455-4557-abb6-9d27e93a7235"/>
          <p:cNvSpPr/>
          <p:nvPr/>
        </p:nvSpPr>
        <p:spPr>
          <a:xfrm>
            <a:off x="1714500" y="165735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Organizar os dados em tabelas de frequência e calcular médias</a:t>
            </a:r>
            <a:endParaRPr lang="en-US" sz="1620" dirty="0"/>
          </a:p>
        </p:txBody>
      </p:sp>
      <p:sp>
        <p:nvSpPr>
          <p:cNvPr id="6" name="45a41bb3-06c7-4bb3-b413-7f2c6dfb9311"/>
          <p:cNvSpPr/>
          <p:nvPr/>
        </p:nvSpPr>
        <p:spPr>
          <a:xfrm>
            <a:off x="1714500" y="240030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Coletar os dados brutos de forma padronizada no sistema</a:t>
            </a:r>
            <a:endParaRPr lang="en-US" sz="1620" dirty="0"/>
          </a:p>
        </p:txBody>
      </p:sp>
      <p:sp>
        <p:nvSpPr>
          <p:cNvPr id="7" name="c0e7db6d-b619-49be-8fcd-795d13db92f2"/>
          <p:cNvSpPr/>
          <p:nvPr/>
        </p:nvSpPr>
        <p:spPr>
          <a:xfrm>
            <a:off x="1714500" y="314325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Analisar a dispersão, desvios e causas fundamentais</a:t>
            </a:r>
            <a:endParaRPr lang="en-US" sz="1620" dirty="0"/>
          </a:p>
        </p:txBody>
      </p:sp>
      <p:sp>
        <p:nvSpPr>
          <p:cNvPr id="8" name="95f88d07-1cf6-4511-b3e0-26e186b8f555"/>
          <p:cNvSpPr/>
          <p:nvPr/>
        </p:nvSpPr>
        <p:spPr>
          <a:xfrm>
            <a:off x="1714500" y="388620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Implementar ações corretivas e monitorar novos resultados</a:t>
            </a:r>
            <a:endParaRPr lang="en-US" sz="162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34" descr="/home/forge/chalkie-production-workers-3/releases/77481733/backend/storage/app/render-specs/e1b35558-1a9c-4b78-a315-d8c571d0a62a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sp>
        <p:nvSpPr>
          <p:cNvPr id="3" name="26b35ea2-5aa3-434e-8341-d4b04186d8c9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Etapas de uma Análise Estatística</a:t>
            </a:r>
            <a:endParaRPr lang="en-US" sz="2880" dirty="0"/>
          </a:p>
        </p:txBody>
      </p:sp>
      <p:sp>
        <p:nvSpPr>
          <p:cNvPr id="4" name="29995b5e-d92a-4723-a08d-2c0c4d67538f"/>
          <p:cNvSpPr/>
          <p:nvPr/>
        </p:nvSpPr>
        <p:spPr>
          <a:xfrm>
            <a:off x="285750" y="685800"/>
            <a:ext cx="8572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Ordene as quatro etapas fundamentais para conduzir uma análise estatística de qualidade:</a:t>
            </a:r>
            <a:endParaRPr lang="en-US" sz="1620" dirty="0"/>
          </a:p>
        </p:txBody>
      </p:sp>
      <p:sp>
        <p:nvSpPr>
          <p:cNvPr id="5" name="72f074ae-a455-4557-abb6-9d27e93a7235"/>
          <p:cNvSpPr/>
          <p:nvPr/>
        </p:nvSpPr>
        <p:spPr>
          <a:xfrm>
            <a:off x="1714500" y="240030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Organizar os dados em tabelas de frequência e calcular médias</a:t>
            </a:r>
            <a:endParaRPr lang="en-US" sz="1620" dirty="0"/>
          </a:p>
        </p:txBody>
      </p:sp>
      <p:sp>
        <p:nvSpPr>
          <p:cNvPr id="6" name="45a41bb3-06c7-4bb3-b413-7f2c6dfb9311"/>
          <p:cNvSpPr/>
          <p:nvPr/>
        </p:nvSpPr>
        <p:spPr>
          <a:xfrm>
            <a:off x="1714500" y="165735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Coletar os dados brutos de forma padronizada no sistema</a:t>
            </a:r>
            <a:endParaRPr lang="en-US" sz="1620" dirty="0"/>
          </a:p>
        </p:txBody>
      </p:sp>
      <p:sp>
        <p:nvSpPr>
          <p:cNvPr id="7" name="c0e7db6d-b619-49be-8fcd-795d13db92f2"/>
          <p:cNvSpPr/>
          <p:nvPr/>
        </p:nvSpPr>
        <p:spPr>
          <a:xfrm>
            <a:off x="1714500" y="314325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Analisar a dispersão, desvios e causas fundamentais</a:t>
            </a:r>
            <a:endParaRPr lang="en-US" sz="1620" dirty="0"/>
          </a:p>
        </p:txBody>
      </p:sp>
      <p:sp>
        <p:nvSpPr>
          <p:cNvPr id="8" name="95f88d07-1cf6-4511-b3e0-26e186b8f555"/>
          <p:cNvSpPr/>
          <p:nvPr/>
        </p:nvSpPr>
        <p:spPr>
          <a:xfrm>
            <a:off x="1714500" y="388620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Implementar ações corretivas e monitorar novos resultados</a:t>
            </a:r>
            <a:endParaRPr lang="en-US" sz="1620" dirty="0"/>
          </a:p>
        </p:txBody>
      </p:sp>
      <p:sp>
        <p:nvSpPr>
          <p:cNvPr id="9" name="7689d5ce-3643-4bcd-bc17-9d5d87e3b7fb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r" indent="0" marL="0">
              <a:lnSpc>
                <a:spcPts val="432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36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endParaRPr lang="en-US" sz="3600" dirty="0"/>
          </a:p>
        </p:txBody>
      </p:sp>
      <p:sp>
        <p:nvSpPr>
          <p:cNvPr id="10" name="1df13d8f-5b1c-497f-af68-66b977089bd6"/>
          <p:cNvSpPr/>
          <p:nvPr/>
        </p:nvSpPr>
        <p:spPr>
          <a:xfrm>
            <a:off x="7292340" y="152019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404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170" dirty="0"/>
          </a:p>
        </p:txBody>
      </p:sp>
      <p:sp>
        <p:nvSpPr>
          <p:cNvPr id="11" name="35f2a970-69a5-4e4c-9bfd-8a52771a6959"/>
          <p:cNvSpPr/>
          <p:nvPr/>
        </p:nvSpPr>
        <p:spPr>
          <a:xfrm>
            <a:off x="7292340" y="226314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404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170" dirty="0"/>
          </a:p>
        </p:txBody>
      </p:sp>
      <p:sp>
        <p:nvSpPr>
          <p:cNvPr id="12" name="f600b949-106e-4d09-8550-338bf75b598d"/>
          <p:cNvSpPr/>
          <p:nvPr/>
        </p:nvSpPr>
        <p:spPr>
          <a:xfrm>
            <a:off x="7292340" y="300609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404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170" dirty="0"/>
          </a:p>
        </p:txBody>
      </p:sp>
      <p:sp>
        <p:nvSpPr>
          <p:cNvPr id="13" name="52132f91-c21f-4cea-bfb9-4b7f627c8f17"/>
          <p:cNvSpPr/>
          <p:nvPr/>
        </p:nvSpPr>
        <p:spPr>
          <a:xfrm>
            <a:off x="7292340" y="374904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404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17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35" descr="/home/forge/chalkie-production-workers-3/releases/77481733/backend/storage/app/render-specs/e1b35558-1a9c-4b78-a315-d8c571d0a62a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c5fe8c94-200d-4b00-a827-34a379157daf" descr="/home/forge/chalkie-production-workers-3/releases/77481733/backend/storage/app/render-specs/e1b35558-1a9c-4b78-a315-d8c571d0a62a/img_8cb75244b73e66463457accc0d25944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788670"/>
            <a:ext cx="3829050" cy="4069080"/>
          </a:xfrm>
          <a:prstGeom prst="roundRect">
            <a:avLst>
              <a:gd name="adj" fmla="val 3582"/>
            </a:avLst>
          </a:prstGeom>
        </p:spPr>
      </p:pic>
      <p:sp>
        <p:nvSpPr>
          <p:cNvPr id="4" name="010d7049-a7ac-40bc-bbe6-e946eabe50b7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Análise de Datasets Operacionais</a:t>
            </a:r>
            <a:endParaRPr lang="en-US" sz="2880" dirty="0"/>
          </a:p>
        </p:txBody>
      </p:sp>
      <p:sp>
        <p:nvSpPr>
          <p:cNvPr id="5" name="66ffc7d8-8119-4f57-b846-a51509899d8e"/>
          <p:cNvSpPr/>
          <p:nvPr/>
        </p:nvSpPr>
        <p:spPr>
          <a:xfrm>
            <a:off x="4286250" y="857250"/>
            <a:ext cx="2011680" cy="262890"/>
          </a:xfrm>
          <a:prstGeom prst="roundRect">
            <a:avLst>
              <a:gd name="adj" fmla="val 17391"/>
            </a:avLst>
          </a:prstGeom>
          <a:solidFill>
            <a:srgbClr val="D32F2F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GESTÃO POR EVIDÊNCIAS</a:t>
            </a:r>
            <a:endParaRPr lang="en-US" sz="1080" dirty="0"/>
          </a:p>
        </p:txBody>
      </p:sp>
      <p:sp>
        <p:nvSpPr>
          <p:cNvPr id="6" name="0923405f-11e9-4faa-b838-7c43e72d3521"/>
          <p:cNvSpPr/>
          <p:nvPr/>
        </p:nvSpPr>
        <p:spPr>
          <a:xfrm>
            <a:off x="4286250" y="1165860"/>
            <a:ext cx="4572000" cy="210769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 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dataset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é um conjunto estruturado de registros operacionais, como horários de entrega, notas fiscais e tempos de atendimento.</a:t>
            </a:r>
            <a:endParaRPr lang="en-US" sz="162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Analisar esses registros permite aos gestores enxergar gargalos ocultos, prever demandas futuras e cortar desperdícios antes que gerem prejuízo.</a:t>
            </a:r>
            <a:endParaRPr lang="en-US" sz="1620" dirty="0"/>
          </a:p>
        </p:txBody>
      </p:sp>
      <p:sp>
        <p:nvSpPr>
          <p:cNvPr id="7" name="969eee8d-cc04-430b-aecc-450cd95324a7_card"/>
          <p:cNvSpPr/>
          <p:nvPr/>
        </p:nvSpPr>
        <p:spPr>
          <a:xfrm>
            <a:off x="4286250" y="3509010"/>
            <a:ext cx="4572000" cy="1348740"/>
          </a:xfrm>
          <a:prstGeom prst="roundRect">
            <a:avLst>
              <a:gd name="adj" fmla="val 6780"/>
            </a:avLst>
          </a:prstGeom>
          <a:solidFill>
            <a:srgbClr val="E1F6EF"/>
          </a:solidFill>
          <a:ln w="11430">
            <a:solidFill>
              <a:srgbClr val="084D36">
                <a:alpha val="20000"/>
              </a:srgbClr>
            </a:solidFill>
            <a:prstDash val="solid"/>
          </a:ln>
        </p:spPr>
      </p:sp>
      <p:sp>
        <p:nvSpPr>
          <p:cNvPr id="8" name="969eee8d-cc04-430b-aecc-450cd95324a7_emoji"/>
          <p:cNvSpPr/>
          <p:nvPr/>
        </p:nvSpPr>
        <p:spPr>
          <a:xfrm>
            <a:off x="4400550" y="365760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🔍</a:t>
            </a:r>
            <a:endParaRPr lang="en-US" sz="2160" dirty="0"/>
          </a:p>
        </p:txBody>
      </p:sp>
      <p:sp>
        <p:nvSpPr>
          <p:cNvPr id="9" name="969eee8d-cc04-430b-aecc-450cd95324a7_text"/>
          <p:cNvSpPr/>
          <p:nvPr/>
        </p:nvSpPr>
        <p:spPr>
          <a:xfrm>
            <a:off x="4766310" y="3623310"/>
            <a:ext cx="3977640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440" b="1" dirty="0">
                <a:solidFill>
                  <a:srgbClr val="084D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Exemplo</a:t>
            </a:r>
            <a:endParaRPr lang="en-US" sz="144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84D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Planilhas com milhares de linhas mostram quais turnos sofrem maior fadiga e geram mais retrabalho.</a:t>
            </a:r>
            <a:endParaRPr lang="en-US" sz="144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36" descr="/home/forge/chalkie-production-workers-3/releases/77481733/backend/storage/app/render-specs/e1b35558-1a9c-4b78-a315-d8c571d0a62a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59782a1e-7549-46d6-b3e3-c0dbf97c0aae" descr="/home/forge/chalkie-production-workers-3/releases/77481733/backend/storage/app/render-specs/e1b35558-1a9c-4b78-a315-d8c571d0a62a/img_56fb6c4d03a4405a08108a9aac8f7c1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822960"/>
            <a:ext cx="4194810" cy="2057400"/>
          </a:xfrm>
          <a:prstGeom prst="roundRect">
            <a:avLst>
              <a:gd name="adj" fmla="val 6667"/>
            </a:avLst>
          </a:prstGeom>
        </p:spPr>
      </p:pic>
      <p:pic>
        <p:nvPicPr>
          <p:cNvPr id="4" name="dc3d126b-ab9d-47a9-bff4-1ef7c3afd957" descr="/home/forge/chalkie-production-workers-3/releases/77481733/backend/storage/app/render-specs/e1b35558-1a9c-4b78-a315-d8c571d0a62a/img_5463021a8b52d8059c3fc97d9397632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2010" y="822960"/>
            <a:ext cx="4194810" cy="2057400"/>
          </a:xfrm>
          <a:prstGeom prst="roundRect">
            <a:avLst>
              <a:gd name="adj" fmla="val 6667"/>
            </a:avLst>
          </a:prstGeom>
        </p:spPr>
      </p:pic>
      <p:sp>
        <p:nvSpPr>
          <p:cNvPr id="5" name="22389c68-0296-4561-a213-b5e2e14bff48"/>
          <p:cNvSpPr/>
          <p:nvPr/>
        </p:nvSpPr>
        <p:spPr>
          <a:xfrm>
            <a:off x="285750" y="20574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Estudo de Caso: Controle de Qualidade</a:t>
            </a:r>
            <a:endParaRPr lang="en-US" sz="2880" dirty="0"/>
          </a:p>
        </p:txBody>
      </p:sp>
      <p:sp>
        <p:nvSpPr>
          <p:cNvPr id="6" name="e260e948-6826-47eb-806a-0b8186467943"/>
          <p:cNvSpPr/>
          <p:nvPr/>
        </p:nvSpPr>
        <p:spPr>
          <a:xfrm>
            <a:off x="285750" y="3017520"/>
            <a:ext cx="4194810" cy="18516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98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Problema Coletado</a:t>
            </a:r>
            <a:endParaRPr lang="en-US" sz="198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Peças com diâmetro padrão de 50 mm foram medidas em 2 turnos: Turno Manhã (média 50 mm, desvio 0,2 mm); Turno Noite (média 50 mm, desvio 1,8 mm).</a:t>
            </a:r>
            <a:endParaRPr lang="en-US" sz="1980" dirty="0"/>
          </a:p>
        </p:txBody>
      </p:sp>
      <p:sp>
        <p:nvSpPr>
          <p:cNvPr id="7" name="5331c98d-cda0-49dd-b733-7f346ce3bf37"/>
          <p:cNvSpPr/>
          <p:nvPr/>
        </p:nvSpPr>
        <p:spPr>
          <a:xfrm>
            <a:off x="4652010" y="3017520"/>
            <a:ext cx="4194810" cy="18516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376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98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Diagnóstico Gerencial</a:t>
            </a:r>
            <a:endParaRPr lang="en-US" sz="198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Embora a média seja idêntica, o Turno Noite apresenta desvio crítico. A causa real era descalibração térmica da máquina às 23h.</a:t>
            </a:r>
            <a:endParaRPr lang="en-US" sz="198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37" descr="/home/forge/chalkie-production-workers-3/releases/77481733/backend/storage/app/render-specs/e1b35558-1a9c-4b78-a315-d8c571d0a62a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9dfe6348-1e4a-4be9-8873-9568d7d03ab0" descr="/home/forge/chalkie-production-workers-3/releases/77481733/backend/storage/app/render-specs/e1b35558-1a9c-4b78-a315-d8c571d0a62a/img_e55ecfe6702459449ae20917630e639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914400"/>
            <a:ext cx="8572500" cy="2343150"/>
          </a:xfrm>
          <a:prstGeom prst="roundRect">
            <a:avLst>
              <a:gd name="adj" fmla="val 5854"/>
            </a:avLst>
          </a:prstGeom>
        </p:spPr>
      </p:pic>
      <p:sp>
        <p:nvSpPr>
          <p:cNvPr id="4" name="aa50dd50-bf5c-41fc-80d7-d9d08ce8d9fa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Fixando Conceitos Estatísticos</a:t>
            </a:r>
            <a:endParaRPr lang="en-US" sz="2880" dirty="0"/>
          </a:p>
        </p:txBody>
      </p:sp>
      <p:sp>
        <p:nvSpPr>
          <p:cNvPr id="5" name="d112f9af-e4d5-47d3-9f87-6fea1b2d3aff"/>
          <p:cNvSpPr/>
          <p:nvPr/>
        </p:nvSpPr>
        <p:spPr>
          <a:xfrm>
            <a:off x="754380" y="1211580"/>
            <a:ext cx="7429500" cy="14859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 calcular a estabilidade de uma linha fabril, utilizamos o </a:t>
            </a:r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____</a:t>
            </a:r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padrão; já para agrupar as ocorrências de defeitos por tipo, montamos uma tabela de </a:t>
            </a:r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____</a:t>
            </a:r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620" dirty="0"/>
          </a:p>
        </p:txBody>
      </p:sp>
      <p:sp>
        <p:nvSpPr>
          <p:cNvPr id="6" name="b9fa668d-3bdc-4701-8657-1304209129fd"/>
          <p:cNvSpPr/>
          <p:nvPr/>
        </p:nvSpPr>
        <p:spPr>
          <a:xfrm>
            <a:off x="285750" y="3314700"/>
            <a:ext cx="8572500" cy="3429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Banco de palavras 🏦</a:t>
            </a:r>
            <a:endParaRPr lang="en-US" sz="1620" dirty="0"/>
          </a:p>
        </p:txBody>
      </p:sp>
      <p:sp>
        <p:nvSpPr>
          <p:cNvPr id="7" name="fbb7cf5f-65d1-4ec5-abf2-bef80f9b8017"/>
          <p:cNvSpPr/>
          <p:nvPr/>
        </p:nvSpPr>
        <p:spPr>
          <a:xfrm>
            <a:off x="285750" y="3771900"/>
            <a:ext cx="1554480" cy="4114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860">
            <a:solidFill>
              <a:srgbClr val="000000"/>
            </a:solidFill>
          </a:ln>
        </p:spPr>
        <p:txBody>
          <a:bodyPr wrap="square" lIns="68580" tIns="68580" rIns="68580" bIns="68580" rtlCol="0" anchor="ctr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proporção</a:t>
            </a:r>
            <a:endParaRPr lang="en-US" sz="1620" dirty="0"/>
          </a:p>
        </p:txBody>
      </p:sp>
      <p:sp>
        <p:nvSpPr>
          <p:cNvPr id="8" name="827bdabf-9d95-4809-82e0-a1c6516546cb"/>
          <p:cNvSpPr/>
          <p:nvPr/>
        </p:nvSpPr>
        <p:spPr>
          <a:xfrm>
            <a:off x="1977390" y="3771900"/>
            <a:ext cx="1165860" cy="4114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860">
            <a:solidFill>
              <a:srgbClr val="000000"/>
            </a:solidFill>
          </a:ln>
        </p:spPr>
        <p:txBody>
          <a:bodyPr wrap="square" lIns="68580" tIns="68580" rIns="68580" bIns="68580" rtlCol="0" anchor="ctr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desvio</a:t>
            </a:r>
            <a:endParaRPr lang="en-US" sz="1620" dirty="0"/>
          </a:p>
        </p:txBody>
      </p:sp>
      <p:sp>
        <p:nvSpPr>
          <p:cNvPr id="9" name="d670a2c6-660c-4e28-9a10-a07f47a309a7"/>
          <p:cNvSpPr/>
          <p:nvPr/>
        </p:nvSpPr>
        <p:spPr>
          <a:xfrm>
            <a:off x="3280410" y="3771900"/>
            <a:ext cx="1680210" cy="4114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860">
            <a:solidFill>
              <a:srgbClr val="000000"/>
            </a:solidFill>
          </a:ln>
        </p:spPr>
        <p:txBody>
          <a:bodyPr wrap="square" lIns="68580" tIns="68580" rIns="68580" bIns="68580" rtlCol="0" anchor="ctr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frequência</a:t>
            </a:r>
            <a:endParaRPr lang="en-US" sz="1620" dirty="0"/>
          </a:p>
        </p:txBody>
      </p:sp>
      <p:sp>
        <p:nvSpPr>
          <p:cNvPr id="10" name="43184401-e15e-47ee-a5cc-34be98d041a8"/>
          <p:cNvSpPr/>
          <p:nvPr/>
        </p:nvSpPr>
        <p:spPr>
          <a:xfrm>
            <a:off x="5097780" y="3771900"/>
            <a:ext cx="1040130" cy="4114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860">
            <a:solidFill>
              <a:srgbClr val="000000"/>
            </a:solidFill>
          </a:ln>
        </p:spPr>
        <p:txBody>
          <a:bodyPr wrap="square" lIns="68580" tIns="68580" rIns="68580" bIns="68580" rtlCol="0" anchor="ctr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lucro</a:t>
            </a:r>
            <a:endParaRPr lang="en-US" sz="162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38" descr="/home/forge/chalkie-production-workers-3/releases/77481733/backend/storage/app/render-specs/e1b35558-1a9c-4b78-a315-d8c571d0a62a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9dfe6348-1e4a-4be9-8873-9568d7d03ab0" descr="/home/forge/chalkie-production-workers-3/releases/77481733/backend/storage/app/render-specs/e1b35558-1a9c-4b78-a315-d8c571d0a62a/img_e55ecfe6702459449ae20917630e639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914400"/>
            <a:ext cx="8572500" cy="2343150"/>
          </a:xfrm>
          <a:prstGeom prst="roundRect">
            <a:avLst>
              <a:gd name="adj" fmla="val 5854"/>
            </a:avLst>
          </a:prstGeom>
        </p:spPr>
      </p:pic>
      <p:sp>
        <p:nvSpPr>
          <p:cNvPr id="4" name="aa50dd50-bf5c-41fc-80d7-d9d08ce8d9fa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Fixando Conceitos Estatísticos</a:t>
            </a:r>
            <a:endParaRPr lang="en-US" sz="2880" dirty="0"/>
          </a:p>
        </p:txBody>
      </p:sp>
      <p:sp>
        <p:nvSpPr>
          <p:cNvPr id="5" name="d112f9af-e4d5-47d3-9f87-6fea1b2d3aff"/>
          <p:cNvSpPr/>
          <p:nvPr/>
        </p:nvSpPr>
        <p:spPr>
          <a:xfrm>
            <a:off x="754380" y="1211580"/>
            <a:ext cx="7429500" cy="14859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 calcular a estabilidade de uma linha fabril, utilizamos o </a:t>
            </a:r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2C6E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desvio</a:t>
            </a:r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padrão; já para agrupar as ocorrências de defeitos por tipo, montamos uma tabela de </a:t>
            </a:r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2C6E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frequência</a:t>
            </a:r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620" dirty="0"/>
          </a:p>
        </p:txBody>
      </p:sp>
      <p:sp>
        <p:nvSpPr>
          <p:cNvPr id="6" name="b9fa668d-3bdc-4701-8657-1304209129fd"/>
          <p:cNvSpPr/>
          <p:nvPr/>
        </p:nvSpPr>
        <p:spPr>
          <a:xfrm>
            <a:off x="285750" y="3314700"/>
            <a:ext cx="8572500" cy="3429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Banco de palavras 🏦</a:t>
            </a:r>
            <a:endParaRPr lang="en-US" sz="1620" dirty="0"/>
          </a:p>
        </p:txBody>
      </p:sp>
      <p:sp>
        <p:nvSpPr>
          <p:cNvPr id="7" name="fbb7cf5f-65d1-4ec5-abf2-bef80f9b8017"/>
          <p:cNvSpPr/>
          <p:nvPr/>
        </p:nvSpPr>
        <p:spPr>
          <a:xfrm>
            <a:off x="285750" y="3771900"/>
            <a:ext cx="1554480" cy="4114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860">
            <a:solidFill>
              <a:srgbClr val="767676"/>
            </a:solidFill>
          </a:ln>
        </p:spPr>
        <p:txBody>
          <a:bodyPr wrap="square" lIns="68580" tIns="68580" rIns="68580" bIns="68580" rtlCol="0" anchor="ctr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767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proporção</a:t>
            </a:r>
            <a:endParaRPr lang="en-US" sz="1620" dirty="0"/>
          </a:p>
        </p:txBody>
      </p:sp>
      <p:sp>
        <p:nvSpPr>
          <p:cNvPr id="8" name="827bdabf-9d95-4809-82e0-a1c6516546cb"/>
          <p:cNvSpPr/>
          <p:nvPr/>
        </p:nvSpPr>
        <p:spPr>
          <a:xfrm>
            <a:off x="1977390" y="3771900"/>
            <a:ext cx="1165860" cy="4114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860">
            <a:solidFill>
              <a:srgbClr val="2C6E49"/>
            </a:solidFill>
          </a:ln>
        </p:spPr>
        <p:txBody>
          <a:bodyPr wrap="square" lIns="68580" tIns="68580" rIns="68580" bIns="68580" rtlCol="0" anchor="ctr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desvio</a:t>
            </a:r>
            <a:endParaRPr lang="en-US" sz="1620" dirty="0"/>
          </a:p>
        </p:txBody>
      </p:sp>
      <p:sp>
        <p:nvSpPr>
          <p:cNvPr id="9" name="d670a2c6-660c-4e28-9a10-a07f47a309a7"/>
          <p:cNvSpPr/>
          <p:nvPr/>
        </p:nvSpPr>
        <p:spPr>
          <a:xfrm>
            <a:off x="3280410" y="3771900"/>
            <a:ext cx="1680210" cy="4114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860">
            <a:solidFill>
              <a:srgbClr val="2C6E49"/>
            </a:solidFill>
          </a:ln>
        </p:spPr>
        <p:txBody>
          <a:bodyPr wrap="square" lIns="68580" tIns="68580" rIns="68580" bIns="68580" rtlCol="0" anchor="ctr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frequência</a:t>
            </a:r>
            <a:endParaRPr lang="en-US" sz="1620" dirty="0"/>
          </a:p>
        </p:txBody>
      </p:sp>
      <p:sp>
        <p:nvSpPr>
          <p:cNvPr id="10" name="43184401-e15e-47ee-a5cc-34be98d041a8"/>
          <p:cNvSpPr/>
          <p:nvPr/>
        </p:nvSpPr>
        <p:spPr>
          <a:xfrm>
            <a:off x="5097780" y="3771900"/>
            <a:ext cx="1040130" cy="4114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860">
            <a:solidFill>
              <a:srgbClr val="767676"/>
            </a:solidFill>
          </a:ln>
        </p:spPr>
        <p:txBody>
          <a:bodyPr wrap="square" lIns="68580" tIns="68580" rIns="68580" bIns="68580" rtlCol="0" anchor="ctr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7676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lucro</a:t>
            </a:r>
            <a:endParaRPr lang="en-US" sz="1620" dirty="0"/>
          </a:p>
        </p:txBody>
      </p:sp>
      <p:sp>
        <p:nvSpPr>
          <p:cNvPr id="11" name="cf6405c6-4cbe-41fa-8ac6-a97136f00137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r" indent="0" marL="0">
              <a:lnSpc>
                <a:spcPts val="432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36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endParaRPr lang="en-US" sz="36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39" descr="/home/forge/chalkie-production-workers-3/releases/77481733/backend/storage/app/render-specs/e1b35558-1a9c-4b78-a315-d8c571d0a62a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6a281c5d-44e8-4738-93dc-f498e205bc22" descr="/home/forge/chalkie-production-workers-3/releases/77481733/backend/storage/app/render-specs/e1b35558-1a9c-4b78-a315-d8c571d0a62a/img_8b90b8d09ef9ea0683b92a5889137cb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788670"/>
            <a:ext cx="3829050" cy="4069080"/>
          </a:xfrm>
          <a:prstGeom prst="roundRect">
            <a:avLst>
              <a:gd name="adj" fmla="val 3582"/>
            </a:avLst>
          </a:prstGeom>
        </p:spPr>
      </p:pic>
      <p:sp>
        <p:nvSpPr>
          <p:cNvPr id="4" name="5548112d-2d38-4d83-8b4a-6ec3a015a7b0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Estatística Previne Erros de Gestão</a:t>
            </a:r>
            <a:endParaRPr lang="en-US" sz="2880" dirty="0"/>
          </a:p>
        </p:txBody>
      </p:sp>
      <p:sp>
        <p:nvSpPr>
          <p:cNvPr id="5" name="9246be20-462d-445c-a680-61e654140d37"/>
          <p:cNvSpPr/>
          <p:nvPr/>
        </p:nvSpPr>
        <p:spPr>
          <a:xfrm>
            <a:off x="285750" y="857250"/>
            <a:ext cx="1737360" cy="262890"/>
          </a:xfrm>
          <a:prstGeom prst="roundRect">
            <a:avLst>
              <a:gd name="adj" fmla="val 17391"/>
            </a:avLst>
          </a:prstGeom>
          <a:solidFill>
            <a:srgbClr val="D32F2F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VALOR ESTRATÉGICO</a:t>
            </a:r>
            <a:endParaRPr lang="en-US" sz="1080" dirty="0"/>
          </a:p>
        </p:txBody>
      </p:sp>
      <p:sp>
        <p:nvSpPr>
          <p:cNvPr id="6" name="631d3c1e-99fc-4208-bf51-05226873d0de"/>
          <p:cNvSpPr/>
          <p:nvPr/>
        </p:nvSpPr>
        <p:spPr>
          <a:xfrm>
            <a:off x="285750" y="1165860"/>
            <a:ext cx="4572000" cy="181965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 estatística, gestores tomam decisões baseadas na opinião de quem fala mais alto ou na ilusão do último acontecimento.</a:t>
            </a:r>
            <a:endParaRPr lang="en-US" sz="162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 ferramentas estatísticas, substituímos o achismo por 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fatos mensuráveis</a:t>
            </a:r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garantindo segurança aos investimentos da organização.</a:t>
            </a:r>
            <a:endParaRPr lang="en-US" sz="1620" dirty="0"/>
          </a:p>
        </p:txBody>
      </p:sp>
      <p:sp>
        <p:nvSpPr>
          <p:cNvPr id="7" name="bc0a33ec-053b-4ce9-9d33-5ddd870ba56d_bar"/>
          <p:cNvSpPr/>
          <p:nvPr/>
        </p:nvSpPr>
        <p:spPr>
          <a:xfrm>
            <a:off x="285750" y="3509010"/>
            <a:ext cx="45720" cy="809244"/>
          </a:xfrm>
          <a:prstGeom prst="roundRect">
            <a:avLst>
              <a:gd name="adj" fmla="val 50000"/>
            </a:avLst>
          </a:prstGeom>
          <a:solidFill>
            <a:srgbClr val="D32F2F"/>
          </a:solidFill>
          <a:ln/>
        </p:spPr>
      </p:sp>
      <p:sp>
        <p:nvSpPr>
          <p:cNvPr id="8" name="bc0a33ec-053b-4ce9-9d33-5ddd870ba56d_text"/>
          <p:cNvSpPr/>
          <p:nvPr/>
        </p:nvSpPr>
        <p:spPr>
          <a:xfrm>
            <a:off x="445770" y="3509010"/>
            <a:ext cx="4411980" cy="809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i="1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 Deus nós confiamos; todos os outros devem apresentar dados. — W. Edwards Deming</a:t>
            </a:r>
            <a:endParaRPr lang="en-US" sz="162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40" descr="/home/forge/chalkie-production-workers-3/releases/77481733/backend/storage/app/render-specs/e1b35558-1a9c-4b78-a315-d8c571d0a62a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1611f8a8-12f0-48ad-8841-6c789d0284a5" descr="/home/forge/chalkie-production-workers-3/releases/77481733/backend/storage/app/render-specs/e1b35558-1a9c-4b78-a315-d8c571d0a62a/img_88f2cf22d50efe57d124336ea25cb3a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330" y="651510"/>
            <a:ext cx="8332470" cy="4309110"/>
          </a:xfrm>
          <a:prstGeom prst="roundRect">
            <a:avLst>
              <a:gd name="adj" fmla="val 3183"/>
            </a:avLst>
          </a:prstGeom>
        </p:spPr>
      </p:pic>
      <p:pic>
        <p:nvPicPr>
          <p:cNvPr id="4" name="07d4a3be-f5d3-4e62-8364-d8f5c6a22cc8" descr="/home/forge/chalkie-production-workers-3/releases/77481733/backend/storage/app/render-specs/e1b35558-1a9c-4b78-a315-d8c571d0a62a/img_e85d749007370731d4d3346d4a95dfa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3020" y="1657350"/>
            <a:ext cx="2834640" cy="2194560"/>
          </a:xfrm>
          <a:prstGeom prst="roundRect">
            <a:avLst>
              <a:gd name="adj" fmla="val 6250"/>
            </a:avLst>
          </a:prstGeom>
        </p:spPr>
      </p:pic>
      <p:sp>
        <p:nvSpPr>
          <p:cNvPr id="5" name="937e8210-b2e6-4159-bcbb-11e2c46530da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Debate: Decisões Baseadas em Dados</a:t>
            </a:r>
            <a:endParaRPr lang="en-US" sz="2880" dirty="0"/>
          </a:p>
        </p:txBody>
      </p:sp>
      <p:sp>
        <p:nvSpPr>
          <p:cNvPr id="6" name="1450655b-6c5c-4cc3-b2c2-055d9e801d99"/>
          <p:cNvSpPr/>
          <p:nvPr/>
        </p:nvSpPr>
        <p:spPr>
          <a:xfrm>
            <a:off x="4297680" y="1828800"/>
            <a:ext cx="3726180" cy="19888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Como a análise estatística de dados impede que um gestor tome decisões precipitadas ao enfrentar uma queda momentânea nas vendas?</a:t>
            </a:r>
            <a:endParaRPr lang="en-US" sz="162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41" descr="/home/forge/chalkie-production-workers-3/releases/77481733/backend/storage/app/render-specs/e1b35558-1a9c-4b78-a315-d8c571d0a62a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1611f8a8-12f0-48ad-8841-6c789d0284a5" descr="/home/forge/chalkie-production-workers-3/releases/77481733/backend/storage/app/render-specs/e1b35558-1a9c-4b78-a315-d8c571d0a62a/img_88f2cf22d50efe57d124336ea25cb3a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330" y="651510"/>
            <a:ext cx="8332470" cy="4309110"/>
          </a:xfrm>
          <a:prstGeom prst="roundRect">
            <a:avLst>
              <a:gd name="adj" fmla="val 3183"/>
            </a:avLst>
          </a:prstGeom>
        </p:spPr>
      </p:pic>
      <p:sp>
        <p:nvSpPr>
          <p:cNvPr id="4" name="937e8210-b2e6-4159-bcbb-11e2c46530da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Debate: Decisões Baseadas em Dados</a:t>
            </a:r>
            <a:endParaRPr lang="en-US" sz="2880" dirty="0"/>
          </a:p>
        </p:txBody>
      </p:sp>
      <p:sp>
        <p:nvSpPr>
          <p:cNvPr id="5" name="c51451fb-7ef1-47d0-8326-4edf7438f9aa"/>
          <p:cNvSpPr/>
          <p:nvPr/>
        </p:nvSpPr>
        <p:spPr>
          <a:xfrm>
            <a:off x="982980" y="1657350"/>
            <a:ext cx="7040880" cy="19888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Você poderia ter dito...</a:t>
            </a:r>
            <a:endParaRPr lang="en-US" sz="1620" dirty="0"/>
          </a:p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estatística compara a queda recente com séries históricas, calculando desvios e variações típicas do negócio.</a:t>
            </a:r>
            <a:endParaRPr lang="en-US" sz="1620" dirty="0"/>
          </a:p>
          <a:p>
            <a:pPr algn="ctr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040F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Isso identifica se a queda decorre de sazonalidade ou falha real, evitando demissões ou gastos impulsivos.</a:t>
            </a:r>
            <a:endParaRPr lang="en-US" sz="1620" dirty="0"/>
          </a:p>
        </p:txBody>
      </p:sp>
      <p:sp>
        <p:nvSpPr>
          <p:cNvPr id="6" name="bcb5b409-9f2d-4069-bc60-e549a20952c5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r" indent="0" marL="0">
              <a:lnSpc>
                <a:spcPts val="432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36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endParaRPr lang="en-US" sz="36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42" descr="/home/forge/chalkie-production-workers-3/releases/77481733/backend/storage/app/render-specs/e1b35558-1a9c-4b78-a315-d8c571d0a62a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790de8c4-0e0b-4be4-82eb-a81aa7b2ca65" descr="/home/forge/chalkie-production-workers-3/releases/77481733/backend/storage/app/render-specs/e1b35558-1a9c-4b78-a315-d8c571d0a62a/img_74db676abbf9321227487417a15623c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9490" y="-91440"/>
            <a:ext cx="1828800" cy="1828800"/>
          </a:xfrm>
          <a:prstGeom prst="roundRect">
            <a:avLst>
              <a:gd name="adj" fmla="val 7500"/>
            </a:avLst>
          </a:prstGeom>
        </p:spPr>
      </p:pic>
      <p:sp>
        <p:nvSpPr>
          <p:cNvPr id="4" name="39c19926-e281-4018-b898-1fd64e81834b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Desafio Final de Fixação</a:t>
            </a:r>
            <a:endParaRPr lang="en-US" sz="2880" dirty="0"/>
          </a:p>
        </p:txBody>
      </p:sp>
      <p:sp>
        <p:nvSpPr>
          <p:cNvPr id="5" name="4da08ee2-cf95-482c-aae6-03bc10005b5e"/>
          <p:cNvSpPr/>
          <p:nvPr/>
        </p:nvSpPr>
        <p:spPr>
          <a:xfrm>
            <a:off x="285750" y="1143000"/>
            <a:ext cx="8572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D32F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Pergunta 1:</a:t>
            </a:r>
            <a:endParaRPr lang="en-US" sz="162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Como se calcula a variação percentual entre uma receita inicial e uma final?</a:t>
            </a:r>
            <a:endParaRPr lang="en-US" sz="1620" dirty="0"/>
          </a:p>
        </p:txBody>
      </p:sp>
      <p:sp>
        <p:nvSpPr>
          <p:cNvPr id="6" name="dcf4020d-f6b8-4679-b59a-e5c2f02a3291"/>
          <p:cNvSpPr/>
          <p:nvPr/>
        </p:nvSpPr>
        <p:spPr>
          <a:xfrm>
            <a:off x="285750" y="2286000"/>
            <a:ext cx="8572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D32F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Pergunta 2:</a:t>
            </a:r>
            <a:endParaRPr lang="en-US" sz="162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 é a diferença conceitual essencial entre a média aritmética e a mediana?</a:t>
            </a:r>
            <a:endParaRPr lang="en-US" sz="1620" dirty="0"/>
          </a:p>
        </p:txBody>
      </p:sp>
      <p:sp>
        <p:nvSpPr>
          <p:cNvPr id="7" name="71d942f2-5042-4099-b603-a3fe712ba59e"/>
          <p:cNvSpPr/>
          <p:nvPr/>
        </p:nvSpPr>
        <p:spPr>
          <a:xfrm>
            <a:off x="285750" y="3429000"/>
            <a:ext cx="8572500" cy="9555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D32F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Pergunta 3:</a:t>
            </a:r>
            <a:endParaRPr lang="en-US" sz="162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 uma sequência de produção que segue uma Progressão Aritmética, como se obtém cada termo seguinte?</a:t>
            </a:r>
            <a:endParaRPr lang="en-US" sz="162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43" descr="/home/forge/chalkie-production-workers-3/releases/77481733/backend/storage/app/render-specs/e1b35558-1a9c-4b78-a315-d8c571d0a62a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sp>
        <p:nvSpPr>
          <p:cNvPr id="3" name="39c19926-e281-4018-b898-1fd64e81834b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Desafio Final de Fixação</a:t>
            </a:r>
            <a:endParaRPr lang="en-US" sz="2880" dirty="0"/>
          </a:p>
        </p:txBody>
      </p:sp>
      <p:sp>
        <p:nvSpPr>
          <p:cNvPr id="4" name="cef74a8d-fc3f-4848-87d5-c21a473509d8"/>
          <p:cNvSpPr/>
          <p:nvPr/>
        </p:nvSpPr>
        <p:spPr>
          <a:xfrm>
            <a:off x="285750" y="1143000"/>
            <a:ext cx="8572500" cy="9555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D32F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Resposta 1:</a:t>
            </a:r>
            <a:endParaRPr lang="en-US" sz="162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Subtrai-se o valor inicial do valor final, divide-se pelo valor inicial e multiplica-se o resultado por 100.</a:t>
            </a:r>
            <a:endParaRPr lang="en-US" sz="1620" dirty="0"/>
          </a:p>
        </p:txBody>
      </p:sp>
      <p:sp>
        <p:nvSpPr>
          <p:cNvPr id="5" name="73609027-7051-4863-9d70-8e9e4d962f53"/>
          <p:cNvSpPr/>
          <p:nvPr/>
        </p:nvSpPr>
        <p:spPr>
          <a:xfrm>
            <a:off x="285750" y="2286000"/>
            <a:ext cx="8572500" cy="9555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D32F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Resposta 2:</a:t>
            </a:r>
            <a:endParaRPr lang="en-US" sz="162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média soma todos os dados e divide pelo total, sendo afetada por extremos, enquanto a mediana é o ponto central exato dos dados ordenados.</a:t>
            </a:r>
            <a:endParaRPr lang="en-US" sz="1620" dirty="0"/>
          </a:p>
        </p:txBody>
      </p:sp>
      <p:sp>
        <p:nvSpPr>
          <p:cNvPr id="6" name="3c1c7678-c552-4a5a-a799-298f716fa9bd"/>
          <p:cNvSpPr/>
          <p:nvPr/>
        </p:nvSpPr>
        <p:spPr>
          <a:xfrm>
            <a:off x="285750" y="3429000"/>
            <a:ext cx="8572500" cy="9555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b="1" dirty="0">
                <a:solidFill>
                  <a:srgbClr val="D32F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Resposta 3:</a:t>
            </a:r>
            <a:endParaRPr lang="en-US" sz="1620" dirty="0"/>
          </a:p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Soma-se uma quantidade fixa constante, denominada razão, ao valor do termo imediatamente anterior.</a:t>
            </a:r>
            <a:endParaRPr lang="en-US" sz="1620" dirty="0"/>
          </a:p>
        </p:txBody>
      </p:sp>
      <p:sp>
        <p:nvSpPr>
          <p:cNvPr id="7" name="f355494b-890d-45e6-87ed-8d26a4d67537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r" indent="0" marL="0">
              <a:lnSpc>
                <a:spcPts val="432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36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endParaRPr lang="en-US" sz="36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heme-logo-44" descr="/home/forge/chalkie-production-workers-3/releases/77481733/backend/storage/app/render-specs/e1b35558-1a9c-4b78-a315-d8c571d0a62a/img_67db2e6a5fb9230f9de86baa7e51a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9800" y="127000"/>
            <a:ext cx="457200" cy="457200"/>
          </a:xfrm>
          <a:prstGeom prst="rect">
            <a:avLst/>
          </a:prstGeom>
        </p:spPr>
      </p:pic>
      <p:pic>
        <p:nvPicPr>
          <p:cNvPr id="3" name="162dda44-4018-4f7e-a061-d512e0b7d9c3" descr="/home/forge/chalkie-production-workers-3/releases/77481733/backend/storage/app/render-specs/e1b35558-1a9c-4b78-a315-d8c571d0a62a/img_d3c7e6f403da6920c11d089d6ff3cb2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7850" y="0"/>
            <a:ext cx="3486150" cy="5143500"/>
          </a:xfrm>
          <a:prstGeom prst="roundRect">
            <a:avLst>
              <a:gd name="adj" fmla="val 3934"/>
            </a:avLst>
          </a:prstGeom>
        </p:spPr>
      </p:pic>
      <p:sp>
        <p:nvSpPr>
          <p:cNvPr id="4" name="153b40b0-f243-4239-a848-05ac36c7375d"/>
          <p:cNvSpPr/>
          <p:nvPr/>
        </p:nvSpPr>
        <p:spPr>
          <a:xfrm>
            <a:off x="285750" y="1337310"/>
            <a:ext cx="5143500" cy="111556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456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80" b="1" dirty="0">
                <a:solidFill>
                  <a:srgbClr val="0050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Próximo Passo: Excel na Prática!</a:t>
            </a:r>
            <a:endParaRPr lang="en-US" sz="2880" dirty="0"/>
          </a:p>
        </p:txBody>
      </p:sp>
      <p:sp>
        <p:nvSpPr>
          <p:cNvPr id="5" name="807af62b-7da0-402c-a116-0ed49d74c322"/>
          <p:cNvSpPr/>
          <p:nvPr/>
        </p:nvSpPr>
        <p:spPr>
          <a:xfrm>
            <a:off x="285750" y="2388870"/>
            <a:ext cx="5143500" cy="124358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1944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62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Parabéns pelo domínio dos fundamentos estatísticos! Na Aula 3 entraremos no laboratório de informática para automatizar todos esses cálculos e fórmulas dentro do Excel.</a:t>
            </a:r>
            <a:endParaRPr lang="en-US" sz="16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44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Estatística e Lógica Aplicada aos Negócios</dc:title>
  <dc:subject>PptxGenJS Presentation</dc:subject>
  <dc:creator>PptxGenJS</dc:creator>
  <cp:lastModifiedBy>PptxGenJS</cp:lastModifiedBy>
  <cp:revision>1</cp:revision>
  <dcterms:created xsi:type="dcterms:W3CDTF">2026-09-11T10:48:07Z</dcterms:created>
  <dcterms:modified xsi:type="dcterms:W3CDTF">2026-09-11T10:48:07Z</dcterms:modified>
</cp:coreProperties>
</file>