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embeddedFontLst>
    <p:embeddedFont>
      <p:font typeface="Inter"/>
      <p:regular r:id="rId51"/>
      <p:bold r:id="rId52"/>
    </p:embeddedFont>
    <p:embeddedFont>
      <p:font typeface="Karla"/>
      <p:regular r:id="rId5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font" Target="fonts/font1.fntdata"/><Relationship Id="rId52" Type="http://schemas.openxmlformats.org/officeDocument/2006/relationships/font" Target="fonts/font2.fntdata"/><Relationship Id="rId5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oqyLABRxjo" TargetMode="External"/><Relationship Id="rId1" Type="http://schemas.openxmlformats.org/officeDocument/2006/relationships/image" Target="../media/image-26-1.png"/><Relationship Id="rId2" Type="http://schemas.openxmlformats.org/officeDocument/2006/relationships/image" Target="../media/image-26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Relationship Id="rId6" Type="http://schemas.openxmlformats.org/officeDocument/2006/relationships/video" Target="https://www.youtube.com/embed/goqyLABRxjo?feature=oembed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ebd9-4d35-ae46-42ec9f0f03a0/4a93af40-05cf-43b9-abf6-4b14ac8f15bc?source=exported_presentation&amp;exportFormat=powerpoint" TargetMode="External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ebd9-4d35-ae46-42ec9f0f03a0/4a93af40-05cf-43b9-abf6-4b14ac8f15bc?source=exported_presentation&amp;exportFormat=powerpoint" TargetMode="External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cae823d-5db6-439c-b959-6bda515b57b7" descr="/home/forge/chalkie-production-workers-3/releases/77481733/backend/storage/app/render-specs/3d416761-999c-4b92-a2c6-b5492123996d/img_01297edbf284c39882da3aa24ea8b3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4" name="2603b49a-c79d-4c14-8d0e-28ea809bb165"/>
          <p:cNvSpPr/>
          <p:nvPr/>
        </p:nvSpPr>
        <p:spPr>
          <a:xfrm>
            <a:off x="4914900" y="1280160"/>
            <a:ext cx="382905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2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 Matemáticos para Gestão</a:t>
            </a:r>
            <a:endParaRPr lang="en-US" sz="3240" dirty="0"/>
          </a:p>
        </p:txBody>
      </p:sp>
      <p:sp>
        <p:nvSpPr>
          <p:cNvPr id="5" name="7d1ec30c-dccc-4af8-9d07-aa7bea80a3ad"/>
          <p:cNvSpPr/>
          <p:nvPr/>
        </p:nvSpPr>
        <p:spPr>
          <a:xfrm>
            <a:off x="4914900" y="293751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Operações, Proporções e Tomada de Decisão Empresarial</a:t>
            </a:r>
            <a:endParaRPr lang="en-US" sz="1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9cbe5cc-7720-4bd0-bf21-69f37a1ace6e" descr="/home/forge/chalkie-production-workers-3/releases/77481733/backend/storage/app/render-specs/3d416761-999c-4b92-a2c6-b5492123996d/img_db3e87a736cd31fc5ede7e73d821d1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c979dfad-bb27-4039-828b-a81882c66b7b"/>
          <p:cNvSpPr/>
          <p:nvPr/>
        </p:nvSpPr>
        <p:spPr>
          <a:xfrm>
            <a:off x="285750" y="144018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Enigma de Produção</a:t>
            </a:r>
            <a:endParaRPr lang="en-US" sz="2880" dirty="0"/>
          </a:p>
        </p:txBody>
      </p:sp>
      <p:sp>
        <p:nvSpPr>
          <p:cNvPr id="5" name="59ce3a67-82b8-4ab4-89b5-dce6904566d1"/>
          <p:cNvSpPr/>
          <p:nvPr/>
        </p:nvSpPr>
        <p:spPr>
          <a:xfrm>
            <a:off x="285750" y="205740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dobrarmos a quantidade de operadores em uma linha de montagem, o tempo total de produção cai pela metade ou o consumo de insumos dobra? Na gestão moderna, intuição sem cálculo custa caro.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af6e0545-4507-489a-a3d0-1352049a8814" descr="/home/forge/chalkie-production-workers-3/releases/77481733/backend/storage/app/render-specs/3d416761-999c-4b92-a2c6-b5492123996d/img_0fa0974f29dc4b1230f9f3b689a6dc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ef2232a6-e901-4b46-82fc-2f7eed3e7961"/>
          <p:cNvSpPr/>
          <p:nvPr/>
        </p:nvSpPr>
        <p:spPr>
          <a:xfrm>
            <a:off x="3714750" y="2400300"/>
            <a:ext cx="5143500" cy="66294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5" name="f60362e0-8934-4e73-8c81-0a32226314d1"/>
          <p:cNvSpPr/>
          <p:nvPr/>
        </p:nvSpPr>
        <p:spPr>
          <a:xfrm>
            <a:off x="3714750" y="3177540"/>
            <a:ext cx="5143500" cy="66294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6" name="2113bad5-3eff-4064-b667-67a145656241"/>
          <p:cNvSpPr/>
          <p:nvPr/>
        </p:nvSpPr>
        <p:spPr>
          <a:xfrm>
            <a:off x="3714750" y="3954780"/>
            <a:ext cx="5143500" cy="90297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7" name="cd11ab1f-c63c-4921-9d7a-aa3e60be4042"/>
          <p:cNvSpPr/>
          <p:nvPr/>
        </p:nvSpPr>
        <p:spPr>
          <a:xfrm>
            <a:off x="3714750" y="17145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da Unidade Curricular</a:t>
            </a:r>
            <a:endParaRPr lang="en-US" sz="2880" dirty="0"/>
          </a:p>
        </p:txBody>
      </p:sp>
      <p:sp>
        <p:nvSpPr>
          <p:cNvPr id="8" name="b6e2520c-dbc5-4208-ad63-f9d33f899ea9"/>
          <p:cNvSpPr/>
          <p:nvPr/>
        </p:nvSpPr>
        <p:spPr>
          <a:xfrm>
            <a:off x="3714750" y="129159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CURSO</a:t>
            </a:r>
            <a:endParaRPr lang="en-US" sz="1080" dirty="0"/>
          </a:p>
        </p:txBody>
      </p:sp>
      <p:sp>
        <p:nvSpPr>
          <p:cNvPr id="9" name="6e754074-bdbc-4729-a692-b413ed4e7b96"/>
          <p:cNvSpPr/>
          <p:nvPr/>
        </p:nvSpPr>
        <p:spPr>
          <a:xfrm>
            <a:off x="3714750" y="160020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 competências analíticas para gerir processos operacionais e financeiros.</a:t>
            </a:r>
            <a:endParaRPr lang="en-US" sz="1620" dirty="0"/>
          </a:p>
        </p:txBody>
      </p:sp>
      <p:sp>
        <p:nvSpPr>
          <p:cNvPr id="10" name="41a3c1c8-dd59-4435-8d8d-16bd43127b4b"/>
          <p:cNvSpPr/>
          <p:nvPr/>
        </p:nvSpPr>
        <p:spPr>
          <a:xfrm>
            <a:off x="3829050" y="2514600"/>
            <a:ext cx="4914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Dominar operações, razões e proporções.</a:t>
            </a:r>
            <a:endParaRPr lang="en-US" sz="1620" dirty="0"/>
          </a:p>
        </p:txBody>
      </p:sp>
      <p:sp>
        <p:nvSpPr>
          <p:cNvPr id="11" name="49c66e54-6cd9-435e-ac56-163a642f5a62"/>
          <p:cNvSpPr/>
          <p:nvPr/>
        </p:nvSpPr>
        <p:spPr>
          <a:xfrm>
            <a:off x="3829050" y="3291840"/>
            <a:ext cx="4914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Dimensionar recursos, estoques e custos.</a:t>
            </a:r>
            <a:endParaRPr lang="en-US" sz="1620" dirty="0"/>
          </a:p>
        </p:txBody>
      </p:sp>
      <p:sp>
        <p:nvSpPr>
          <p:cNvPr id="12" name="9bc4c481-ff21-406e-9bb1-2dce88f33cc9"/>
          <p:cNvSpPr/>
          <p:nvPr/>
        </p:nvSpPr>
        <p:spPr>
          <a:xfrm>
            <a:off x="3829050" y="4069080"/>
            <a:ext cx="4914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Decidir estrategicamente usando dados reais.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871a7ac-f72c-4d81-8fe4-36645b3c1ba1" descr="/home/forge/chalkie-production-workers-3/releases/77481733/backend/storage/app/render-specs/3d416761-999c-4b92-a2c6-b5492123996d/img_930006c6a1cb70376f8954fc47acc78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6528cc7f-5ebc-44ad-aea1-29d1bab9dace" descr="/home/forge/chalkie-production-workers-3/releases/77481733/backend/storage/app/render-specs/3d416761-999c-4b92-a2c6-b5492123996d/img_623dd14a6e0aad25d984d83355384f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eae5bb4e-8964-47b9-bdca-e731996c066e" descr="/home/forge/chalkie-production-workers-3/releases/77481733/backend/storage/app/render-specs/3d416761-999c-4b92-a2c6-b5492123996d/img_46c7a88c054dd8f74981191678257b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9a94965f-588d-450e-b69e-de0e2922b4b0" descr="/home/forge/chalkie-production-workers-3/releases/77481733/backend/storage/app/render-specs/3d416761-999c-4b92-a2c6-b5492123996d/img_2d9accb4cbce0ddf29965f957b87b76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d018ca4f-ba1f-4ec2-bc2d-6021eb3009f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Essencial da Gestão</a:t>
            </a:r>
            <a:endParaRPr lang="en-US" sz="2880" dirty="0"/>
          </a:p>
        </p:txBody>
      </p:sp>
      <p:sp>
        <p:nvSpPr>
          <p:cNvPr id="8" name="ec9334b0-ea17-4963-98ff-cb2f78264c2d"/>
          <p:cNvSpPr/>
          <p:nvPr/>
        </p:nvSpPr>
        <p:spPr>
          <a:xfrm>
            <a:off x="285750" y="34175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 direta entre duas grandezas por meio de uma divisão.</a:t>
            </a:r>
            <a:endParaRPr lang="en-US" sz="1980" dirty="0"/>
          </a:p>
        </p:txBody>
      </p:sp>
      <p:sp>
        <p:nvSpPr>
          <p:cNvPr id="9" name="a8fadde0-9060-44b8-9795-3a91e46a70e3"/>
          <p:cNvSpPr/>
          <p:nvPr/>
        </p:nvSpPr>
        <p:spPr>
          <a:xfrm>
            <a:off x="2491740" y="2731770"/>
            <a:ext cx="197739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Igualdade matemática entre duas razões que mantém relações de escala constantes.</a:t>
            </a:r>
            <a:endParaRPr lang="en-US" sz="1980" dirty="0"/>
          </a:p>
        </p:txBody>
      </p:sp>
      <p:sp>
        <p:nvSpPr>
          <p:cNvPr id="10" name="cf7dba99-6829-4c5e-88c3-8810218457b6"/>
          <p:cNvSpPr/>
          <p:nvPr/>
        </p:nvSpPr>
        <p:spPr>
          <a:xfrm>
            <a:off x="4686300" y="34175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monetário consumido na aquisição de insumos, mão de obra e operações.</a:t>
            </a:r>
            <a:endParaRPr lang="en-US" sz="1980" dirty="0"/>
          </a:p>
        </p:txBody>
      </p:sp>
      <p:sp>
        <p:nvSpPr>
          <p:cNvPr id="11" name="04fc6a78-75a7-4f43-83d5-860e277f7980"/>
          <p:cNvSpPr/>
          <p:nvPr/>
        </p:nvSpPr>
        <p:spPr>
          <a:xfrm>
            <a:off x="6892290" y="27317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de gerar o máximo resultado útil com o menor consumo de recursos.</a:t>
            </a:r>
            <a:endParaRPr lang="en-US" sz="1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5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0cb789a-4eba-404c-8e0e-ca1673c728c6" descr="/home/forge/chalkie-production-workers-3/releases/77481733/backend/storage/app/render-specs/3d416761-999c-4b92-a2c6-b5492123996d/img_eef514edd7bc2774036e2605f5dce5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98919b91-5717-4956-960a-1297728ff35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Conjuntos Numéricos no Cotidiano</a:t>
            </a:r>
            <a:endParaRPr lang="en-US" sz="2880" dirty="0"/>
          </a:p>
        </p:txBody>
      </p:sp>
      <p:sp>
        <p:nvSpPr>
          <p:cNvPr id="5" name="f9bef14a-0818-4bff-8899-a2bb4c49a2b8"/>
          <p:cNvSpPr/>
          <p:nvPr/>
        </p:nvSpPr>
        <p:spPr>
          <a:xfrm>
            <a:off x="285750" y="857250"/>
            <a:ext cx="242316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 MATEMÁTICOS</a:t>
            </a:r>
            <a:endParaRPr lang="en-US" sz="1080" dirty="0"/>
          </a:p>
        </p:txBody>
      </p:sp>
      <p:sp>
        <p:nvSpPr>
          <p:cNvPr id="6" name="2100e9ee-36c3-4162-acd5-3dc436ceb8f9"/>
          <p:cNvSpPr/>
          <p:nvPr/>
        </p:nvSpPr>
        <p:spPr>
          <a:xfrm>
            <a:off x="285750" y="1165860"/>
            <a:ext cx="45720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gerenciais usam conjuntos: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Naturais (N)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estoque físico.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Inteiros (Z)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saldos bancários.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Racionais (Q)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taxas, pesos, valores.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Reais (R)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índices contínuos.</a:t>
            </a:r>
            <a:endParaRPr lang="en-US" sz="1620" dirty="0"/>
          </a:p>
        </p:txBody>
      </p:sp>
      <p:sp>
        <p:nvSpPr>
          <p:cNvPr id="7" name="373a60d0-af9b-4d8b-9579-5ca1f2a93e9c_card"/>
          <p:cNvSpPr/>
          <p:nvPr/>
        </p:nvSpPr>
        <p:spPr>
          <a:xfrm>
            <a:off x="285750" y="324612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373a60d0-af9b-4d8b-9579-5ca1f2a93e9c_emoji"/>
          <p:cNvSpPr/>
          <p:nvPr/>
        </p:nvSpPr>
        <p:spPr>
          <a:xfrm>
            <a:off x="400050" y="33947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373a60d0-af9b-4d8b-9579-5ca1f2a93e9c_text"/>
          <p:cNvSpPr/>
          <p:nvPr/>
        </p:nvSpPr>
        <p:spPr>
          <a:xfrm>
            <a:off x="765810" y="336042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é positivo; balanços usam negativos.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6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6d1f4c95-3fd1-4382-8a69-5ebabf593368" descr="/home/forge/chalkie-production-workers-3/releases/77481733/backend/storage/app/render-specs/3d416761-999c-4b92-a2c6-b5492123996d/img_ad0a5d71db405ed83c124d7b323b25d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30a43690-ea1e-4ea2-81aa-9c1fe30fdb58" descr="/home/forge/chalkie-production-workers-3/releases/77481733/backend/storage/app/render-specs/3d416761-999c-4b92-a2c6-b5492123996d/img_601c15e9ccaeff90905267cb222516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60a1cddb-5a3f-484e-a5e1-a9fdf36180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Aplicações Empresariais dos Números</a:t>
            </a:r>
            <a:endParaRPr lang="en-US" sz="2880" dirty="0"/>
          </a:p>
        </p:txBody>
      </p:sp>
      <p:sp>
        <p:nvSpPr>
          <p:cNvPr id="6" name="e3ca2084-3f2a-4524-878f-b01fdda0fd85"/>
          <p:cNvSpPr/>
          <p:nvPr/>
        </p:nvSpPr>
        <p:spPr>
          <a:xfrm>
            <a:off x="285750" y="298323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Naturais e Inteiros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de inventário: 150 motores em estoque (número natural). Se a conta bancária fechar no vermelho em R$ 4.200, registramos -4200 (número inteiro).</a:t>
            </a:r>
            <a:endParaRPr lang="en-US" sz="1980" dirty="0"/>
          </a:p>
        </p:txBody>
      </p:sp>
      <p:sp>
        <p:nvSpPr>
          <p:cNvPr id="7" name="2911ec3b-a460-4037-a30d-6f2e7e729a2b"/>
          <p:cNvSpPr/>
          <p:nvPr/>
        </p:nvSpPr>
        <p:spPr>
          <a:xfrm>
            <a:off x="4652010" y="298323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Racionais e Reais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Precificação e consumo: 3,75 metros de cabo de cobre por unidade montada ou custo unitário de R$ 14,80 por embalagem expedida.</a:t>
            </a:r>
            <a:endParaRPr lang="en-US" sz="1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7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4b73136-ca1d-4201-a5e7-e7fc1e960945" descr="/home/forge/chalkie-production-workers-3/releases/77481733/backend/storage/app/render-specs/3d416761-999c-4b92-a2c6-b5492123996d/img_30195eb8ad20e02a30c93fbdb67e19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7fb4fe12-e9d5-47a1-a099-ad3d907d8c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Operações Básicas na Empresa</a:t>
            </a:r>
            <a:endParaRPr lang="en-US" sz="2880" dirty="0"/>
          </a:p>
        </p:txBody>
      </p:sp>
      <p:sp>
        <p:nvSpPr>
          <p:cNvPr id="5" name="4986951f-94bb-4070-85c4-96d459ff53a4"/>
          <p:cNvSpPr/>
          <p:nvPr/>
        </p:nvSpPr>
        <p:spPr>
          <a:xfrm>
            <a:off x="285750" y="857250"/>
            <a:ext cx="242316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 MATEMÁTICOS</a:t>
            </a:r>
            <a:endParaRPr lang="en-US" sz="1080" dirty="0"/>
          </a:p>
        </p:txBody>
      </p:sp>
      <p:sp>
        <p:nvSpPr>
          <p:cNvPr id="6" name="e17687fe-0c02-4302-bd7a-07b537b9f1db"/>
          <p:cNvSpPr/>
          <p:nvPr/>
        </p:nvSpPr>
        <p:spPr>
          <a:xfrm>
            <a:off x="285750" y="1165860"/>
            <a:ext cx="45720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Rotina administrativa: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Adição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somar receitas.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Subtração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deduzir despesas e tributos.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Multiplicação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projetar lotes e insumos.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Divisão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calcular custos e rateios.</a:t>
            </a:r>
            <a:endParaRPr lang="en-US" sz="1620" dirty="0"/>
          </a:p>
        </p:txBody>
      </p:sp>
      <p:sp>
        <p:nvSpPr>
          <p:cNvPr id="7" name="e3fe3630-4535-4d01-879d-8b588619a976_card"/>
          <p:cNvSpPr/>
          <p:nvPr/>
        </p:nvSpPr>
        <p:spPr>
          <a:xfrm>
            <a:off x="285750" y="349758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e3fe3630-4535-4d01-879d-8b588619a976_emoji"/>
          <p:cNvSpPr/>
          <p:nvPr/>
        </p:nvSpPr>
        <p:spPr>
          <a:xfrm>
            <a:off x="400050" y="36461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e3fe3630-4535-4d01-879d-8b588619a976_text"/>
          <p:cNvSpPr/>
          <p:nvPr/>
        </p:nvSpPr>
        <p:spPr>
          <a:xfrm>
            <a:off x="765810" y="361188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Dividir custo total por unidades evita erros de preço.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8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ffea9fb7-6465-4fe8-a91d-4575d92f4c6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Conjuntos e Operações</a:t>
            </a:r>
            <a:endParaRPr lang="en-US" sz="2880" dirty="0"/>
          </a:p>
        </p:txBody>
      </p:sp>
      <p:sp>
        <p:nvSpPr>
          <p:cNvPr id="4" name="978a45f7-b954-4770-b7de-c80adc45469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dos seguintes registros empresariais pertence obrigatoriamente ao conjunto dos números inteiros não naturais?</a:t>
            </a:r>
            <a:endParaRPr lang="en-US" sz="1620" dirty="0"/>
          </a:p>
        </p:txBody>
      </p:sp>
      <p:sp>
        <p:nvSpPr>
          <p:cNvPr id="5" name="39482950-411f-4bcd-a3d6-5b5213c4643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ec9f8926-010e-423a-b431-bc92c1d97f9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peso líquido de 4,75 kg de matéria-prima</a:t>
            </a:r>
            <a:endParaRPr lang="en-US" sz="1620" dirty="0"/>
          </a:p>
        </p:txBody>
      </p:sp>
      <p:sp>
        <p:nvSpPr>
          <p:cNvPr id="7" name="e0004dd8-db59-4ece-b3c4-9f4c99dd772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f92fc14c-938b-42d3-b716-aecc932b2aee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faturamento bruto de R$ 12.000,00</a:t>
            </a:r>
            <a:endParaRPr lang="en-US" sz="1620" dirty="0"/>
          </a:p>
        </p:txBody>
      </p:sp>
      <p:sp>
        <p:nvSpPr>
          <p:cNvPr id="9" name="8f18127c-75cd-4b21-a33b-fa4ad34536bb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f44ff41a-3892-415c-9ba8-7286b5d1415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saldo bancário devedor de R$ -1.500,00</a:t>
            </a:r>
            <a:endParaRPr lang="en-US" sz="1620" dirty="0"/>
          </a:p>
        </p:txBody>
      </p:sp>
      <p:sp>
        <p:nvSpPr>
          <p:cNvPr id="11" name="72fb2b18-8be2-40af-b66d-dc843136363a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8ecbb7c3-5449-4838-8e46-3d52de0946e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contagem física de 28 caixas de ferramentas</a:t>
            </a:r>
            <a:endParaRPr lang="en-US" sz="1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9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ffea9fb7-6465-4fe8-a91d-4575d92f4c6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Conjuntos e Operações</a:t>
            </a:r>
            <a:endParaRPr lang="en-US" sz="2880" dirty="0"/>
          </a:p>
        </p:txBody>
      </p:sp>
      <p:sp>
        <p:nvSpPr>
          <p:cNvPr id="4" name="978a45f7-b954-4770-b7de-c80adc45469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dos seguintes registros empresariais pertence obrigatoriamente ao conjunto dos números inteiros não naturais?</a:t>
            </a:r>
            <a:endParaRPr lang="en-US" sz="1620" dirty="0"/>
          </a:p>
        </p:txBody>
      </p:sp>
      <p:sp>
        <p:nvSpPr>
          <p:cNvPr id="5" name="39482950-411f-4bcd-a3d6-5b5213c4643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ec9f8926-010e-423a-b431-bc92c1d97f9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peso líquido de 4,75 kg de matéria-prima</a:t>
            </a:r>
            <a:endParaRPr lang="en-US" sz="1620" dirty="0"/>
          </a:p>
        </p:txBody>
      </p:sp>
      <p:sp>
        <p:nvSpPr>
          <p:cNvPr id="7" name="e0004dd8-db59-4ece-b3c4-9f4c99dd772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f92fc14c-938b-42d3-b716-aecc932b2aee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faturamento bruto de R$ 12.000,00</a:t>
            </a:r>
            <a:endParaRPr lang="en-US" sz="1620" dirty="0"/>
          </a:p>
        </p:txBody>
      </p:sp>
      <p:sp>
        <p:nvSpPr>
          <p:cNvPr id="9" name="8f18127c-75cd-4b21-a33b-fa4ad34536bb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f44ff41a-3892-415c-9ba8-7286b5d1415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saldo bancário devedor de R$ -1.500,00</a:t>
            </a:r>
            <a:endParaRPr lang="en-US" sz="1620" dirty="0"/>
          </a:p>
        </p:txBody>
      </p:sp>
      <p:sp>
        <p:nvSpPr>
          <p:cNvPr id="11" name="72fb2b18-8be2-40af-b66d-dc843136363a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8ecbb7c3-5449-4838-8e46-3d52de0946e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contagem física de 28 caixas de ferramentas</a:t>
            </a:r>
            <a:endParaRPr lang="en-US" sz="1620" dirty="0"/>
          </a:p>
        </p:txBody>
      </p:sp>
      <p:sp>
        <p:nvSpPr>
          <p:cNvPr id="13" name="8972ae6a-8abd-4477-b953-3cbeb8f1968e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939edfc7-fcaa-4c8d-b505-a0ebdc451c45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0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20d92f6-10ff-4db5-ae47-5c91384abbd7" descr="/home/forge/chalkie-production-workers-3/releases/77481733/backend/storage/app/render-specs/3d416761-999c-4b92-a2c6-b5492123996d/img_79ee53e53532c4fd0bbcc9ecac9651c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21732948-9175-4539-abc2-9757dd01c112"/>
          <p:cNvSpPr/>
          <p:nvPr/>
        </p:nvSpPr>
        <p:spPr>
          <a:xfrm>
            <a:off x="3714750" y="53721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Conceito Gerencial de Razão</a:t>
            </a:r>
            <a:endParaRPr lang="en-US" sz="2880" dirty="0"/>
          </a:p>
        </p:txBody>
      </p:sp>
      <p:sp>
        <p:nvSpPr>
          <p:cNvPr id="5" name="98ba71c2-85d7-4b60-ac27-36c75b07af0c"/>
          <p:cNvSpPr/>
          <p:nvPr/>
        </p:nvSpPr>
        <p:spPr>
          <a:xfrm>
            <a:off x="3714750" y="1657350"/>
            <a:ext cx="219456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PROPORÇÕES E PROCESSOS</a:t>
            </a:r>
            <a:endParaRPr lang="en-US" sz="1080" dirty="0"/>
          </a:p>
        </p:txBody>
      </p:sp>
      <p:sp>
        <p:nvSpPr>
          <p:cNvPr id="6" name="8da431dc-4d22-47dd-940f-c82808c7de84"/>
          <p:cNvSpPr/>
          <p:nvPr/>
        </p:nvSpPr>
        <p:spPr>
          <a:xfrm>
            <a:off x="3714750" y="196596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razão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o quociente entre duas grandezas. Se uma transportadora entrega 450 encomendas em 5 horas, a produtividade é: 450 ÷ 5 = 90 encomendas/hora.</a:t>
            </a:r>
            <a:endParaRPr lang="en-US" sz="1620" dirty="0"/>
          </a:p>
        </p:txBody>
      </p:sp>
      <p:sp>
        <p:nvSpPr>
          <p:cNvPr id="7" name="7a22affa-6592-4cda-9b32-9eedd54fed21_card"/>
          <p:cNvSpPr/>
          <p:nvPr/>
        </p:nvSpPr>
        <p:spPr>
          <a:xfrm>
            <a:off x="3714750" y="3257550"/>
            <a:ext cx="514350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8" name="7a22affa-6592-4cda-9b32-9eedd54fed21_emoji"/>
          <p:cNvSpPr/>
          <p:nvPr/>
        </p:nvSpPr>
        <p:spPr>
          <a:xfrm>
            <a:off x="3829050" y="34061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9" name="7a22affa-6592-4cda-9b32-9eedd54fed21_text"/>
          <p:cNvSpPr/>
          <p:nvPr/>
        </p:nvSpPr>
        <p:spPr>
          <a:xfrm>
            <a:off x="4194810" y="3371850"/>
            <a:ext cx="4549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Liquidez corrente: razão entre ativos e passivos, indicando a saúde financeira.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1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b14d88d-56fc-4641-8b5c-00b1eb6d9820" descr="/home/forge/chalkie-production-workers-3/releases/77481733/backend/storage/app/render-specs/3d416761-999c-4b92-a2c6-b5492123996d/img_ffe4df13ad3a59da710e0756cb8608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802f033c-4b6b-403d-ac29-e2b86b3f1295" descr="/home/forge/chalkie-production-workers-3/releases/77481733/backend/storage/app/render-specs/3d416761-999c-4b92-a2c6-b5492123996d/img_eef6f701707981a455c0f99e14b0db3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d94feb9b-48ed-4580-adb9-c73882c1813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Proporção: Igualdade de Razões</a:t>
            </a:r>
            <a:endParaRPr lang="en-US" sz="2880" dirty="0"/>
          </a:p>
        </p:txBody>
      </p:sp>
      <p:sp>
        <p:nvSpPr>
          <p:cNvPr id="6" name="b6f37abc-8d09-48dd-a5e6-2ac798565039"/>
          <p:cNvSpPr/>
          <p:nvPr/>
        </p:nvSpPr>
        <p:spPr>
          <a:xfrm>
            <a:off x="285750" y="298323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Propriedade Fundamental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toda proporção a/b = c/d, o produto dos extremos é rigorosamente igual ao produto dos meios: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× d = b × c.</a:t>
            </a:r>
            <a:endParaRPr lang="en-US" sz="1980" dirty="0"/>
          </a:p>
        </p:txBody>
      </p:sp>
      <p:sp>
        <p:nvSpPr>
          <p:cNvPr id="7" name="f8d6c729-f01a-4a4d-ae7d-9942334298b0"/>
          <p:cNvSpPr/>
          <p:nvPr/>
        </p:nvSpPr>
        <p:spPr>
          <a:xfrm>
            <a:off x="4652010" y="298323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 Prática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2 máquinas produzem 80 unidades, 6 máquinas idênticas produzirão 240 unidades no mesmo período: 2/80 = 6/240.</a:t>
            </a:r>
            <a:endParaRPr lang="en-US" sz="1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2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9973ca8-2c74-456d-bb3b-2fef0152b6d1" descr="/home/forge/chalkie-production-workers-3/releases/77481733/backend/storage/app/render-specs/3d416761-999c-4b92-a2c6-b5492123996d/img_1bcc059a8913a8d8794fc427d1459b4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671ef2f2-d1d9-4055-ae84-eb6ec7818f13"/>
          <p:cNvSpPr/>
          <p:nvPr/>
        </p:nvSpPr>
        <p:spPr>
          <a:xfrm>
            <a:off x="285750" y="29718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Panorama das Grandezas Proporcionais</a:t>
            </a:r>
            <a:endParaRPr lang="en-US" sz="2880" dirty="0"/>
          </a:p>
        </p:txBody>
      </p:sp>
      <p:sp>
        <p:nvSpPr>
          <p:cNvPr id="5" name="6fe9f6f3-cf23-4c77-a4ba-a973e0780ab9"/>
          <p:cNvSpPr/>
          <p:nvPr/>
        </p:nvSpPr>
        <p:spPr>
          <a:xfrm>
            <a:off x="285750" y="1417320"/>
            <a:ext cx="219456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PROPORÇÕES E PROCESSOS</a:t>
            </a:r>
            <a:endParaRPr lang="en-US" sz="1080" dirty="0"/>
          </a:p>
        </p:txBody>
      </p:sp>
      <p:sp>
        <p:nvSpPr>
          <p:cNvPr id="6" name="71e4e015-9dbc-42ec-a1af-543a39e5d34e"/>
          <p:cNvSpPr/>
          <p:nvPr/>
        </p:nvSpPr>
        <p:spPr>
          <a:xfrm>
            <a:off x="285750" y="172593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gestão de processos, compreender se duas grandezas caminham na mesma direção ou em sentidos opostos é crucial para dimensionar recursos humanos, prazos de entrega e materiais de forma sustentável.</a:t>
            </a:r>
            <a:endParaRPr lang="en-US" sz="1620" dirty="0"/>
          </a:p>
        </p:txBody>
      </p:sp>
      <p:sp>
        <p:nvSpPr>
          <p:cNvPr id="7" name="c483d868-6ce8-472e-961b-2228da55b5f6_card"/>
          <p:cNvSpPr/>
          <p:nvPr/>
        </p:nvSpPr>
        <p:spPr>
          <a:xfrm>
            <a:off x="285750" y="3257550"/>
            <a:ext cx="5143500" cy="1348740"/>
          </a:xfrm>
          <a:prstGeom prst="roundRect">
            <a:avLst>
              <a:gd name="adj" fmla="val 6780"/>
            </a:avLst>
          </a:prstGeom>
          <a:solidFill>
            <a:srgbClr val="FCEBEB"/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8" name="c483d868-6ce8-472e-961b-2228da55b5f6_emoji"/>
          <p:cNvSpPr/>
          <p:nvPr/>
        </p:nvSpPr>
        <p:spPr>
          <a:xfrm>
            <a:off x="400050" y="34061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9" name="c483d868-6ce8-472e-961b-2228da55b5f6_text"/>
          <p:cNvSpPr/>
          <p:nvPr/>
        </p:nvSpPr>
        <p:spPr>
          <a:xfrm>
            <a:off x="765810" y="3371850"/>
            <a:ext cx="45491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aplique fórmulas antes de analisar qualitativamente se a relação entre as variáveis é direta ou inversa.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3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178e08d-0c15-4b66-9da4-bca0b83318b6" descr="/home/forge/chalkie-production-workers-3/releases/77481733/backend/storage/app/render-specs/3d416761-999c-4b92-a2c6-b5492123996d/img_6c36c1a1e3d909b45a07ede578446a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25fd4865-79e9-4b32-ae77-6b3ac06e2982" descr="/home/forge/chalkie-production-workers-3/releases/77481733/backend/storage/app/render-specs/3d416761-999c-4b92-a2c6-b5492123996d/img_1ecb33a4d714dfc2a1a3ed06146d7a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0f639db0-4815-4801-baee-e5fc4830828b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Grandezas Diretas vs. Inversas</a:t>
            </a:r>
            <a:endParaRPr lang="en-US" sz="2880" dirty="0"/>
          </a:p>
        </p:txBody>
      </p:sp>
      <p:sp>
        <p:nvSpPr>
          <p:cNvPr id="6" name="8f3ed982-6331-4568-bab0-9f53fabd83ce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Diretamente Proporcionais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uma grandeza aumenta, a outra aumenta na mesma razão. Exemplo: quanto maior a produção, maior o consumo de matéria-prima.</a:t>
            </a:r>
            <a:endParaRPr lang="en-US" sz="1980" dirty="0"/>
          </a:p>
        </p:txBody>
      </p:sp>
      <p:sp>
        <p:nvSpPr>
          <p:cNvPr id="7" name="9c9b86fa-01d2-4ca6-9842-df1781decfc6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Inversamente Proporcionais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uma grandeza aumenta, a outra diminui na razão inversa. Exemplo: mais operadores no mesmo posto reduzem o tempo da tarefa.</a:t>
            </a:r>
            <a:endParaRPr lang="en-US" sz="1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4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d2874765-d58c-4ea9-9250-b39bd7b3717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Crítica de Grandezas</a:t>
            </a:r>
            <a:endParaRPr lang="en-US" sz="2880" dirty="0"/>
          </a:p>
        </p:txBody>
      </p:sp>
      <p:sp>
        <p:nvSpPr>
          <p:cNvPr id="4" name="dafbb018-e248-48e5-8d80-b20b151a3599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dafbb018-e248-48e5-8d80-b20b151a3599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aumentarmos a velocidade de tráfego dos caminhões de entrega de uma frota, o tempo total da rota aumentará proporcionalmente.</a:t>
            </a:r>
            <a:endParaRPr lang="en-US" sz="1620" dirty="0"/>
          </a:p>
        </p:txBody>
      </p:sp>
      <p:sp>
        <p:nvSpPr>
          <p:cNvPr id="6" name="6da977b4-6788-47e6-84af-a9277a1d4a9f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cc7fb1d6-3acf-47ff-9437-1053a8499f8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06581a6f-1e42-454a-ab5b-564f2d80ad34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🤔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i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Prepare-se para explicar o seu raciocínio.</a:t>
            </a:r>
            <a:endParaRPr lang="en-US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5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d2874765-d58c-4ea9-9250-b39bd7b3717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Crítica de Grandezas</a:t>
            </a:r>
            <a:endParaRPr lang="en-US" sz="2880" dirty="0"/>
          </a:p>
        </p:txBody>
      </p:sp>
      <p:sp>
        <p:nvSpPr>
          <p:cNvPr id="4" name="dafbb018-e248-48e5-8d80-b20b151a3599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dafbb018-e248-48e5-8d80-b20b151a3599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aumentarmos a velocidade de tráfego dos caminhões de entrega de uma frota, o tempo total da rota aumentará proporcionalmente.</a:t>
            </a:r>
            <a:endParaRPr lang="en-US" sz="1620" dirty="0"/>
          </a:p>
        </p:txBody>
      </p:sp>
      <p:sp>
        <p:nvSpPr>
          <p:cNvPr id="6" name="6da977b4-6788-47e6-84af-a9277a1d4a9f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cc7fb1d6-3acf-47ff-9437-1053a8499f8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4df4b5eb-64e6-40c9-a8f1-f2ed6bceff1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9" name="99ebe491-e314-4d9d-9587-0c2cb2932149_card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0" name="99ebe491-e314-4d9d-9587-0c2cb2932149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1" name="99ebe491-e314-4d9d-9587-0c2cb2932149_text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é isso?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Velocidade e tempo de percurso são grandezas inversamente proporcionais: maior velocidade resulta em menor tempo de viagem.</a:t>
            </a:r>
            <a:endParaRPr lang="en-US" sz="1440" dirty="0"/>
          </a:p>
        </p:txBody>
      </p:sp>
      <p:sp>
        <p:nvSpPr>
          <p:cNvPr id="12" name="ddcd2a86-5517-47b8-a2d8-32bf84b10dbf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6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ab7100c4-1b6c-4afe-9a54-febce1c5a18a" descr="/home/forge/chalkie-production-workers-3/releases/77481733/backend/storage/app/render-specs/3d416761-999c-4b92-a2c6-b5492123996d/img_3178385a1bd7a85d4de085f5a827d4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db891f95-1f51-45c4-a7d8-ad7fa8cc847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de Três Simples Direta</a:t>
            </a:r>
            <a:endParaRPr lang="en-US" sz="2880" dirty="0"/>
          </a:p>
        </p:txBody>
      </p:sp>
      <p:sp>
        <p:nvSpPr>
          <p:cNvPr id="5" name="a8318bfc-fbae-441e-9278-a15763b7ed43"/>
          <p:cNvSpPr/>
          <p:nvPr/>
        </p:nvSpPr>
        <p:spPr>
          <a:xfrm>
            <a:off x="285750" y="857250"/>
            <a:ext cx="268605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DIMENSIONAMENTO OPERACIONAL</a:t>
            </a:r>
            <a:endParaRPr lang="en-US" sz="1080" dirty="0"/>
          </a:p>
        </p:txBody>
      </p:sp>
      <p:sp>
        <p:nvSpPr>
          <p:cNvPr id="6" name="f6c9496f-d92f-4e61-b17e-b68886952fd1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de três resolve problemas com duas grandezas e três valores conhecidos.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120kg para 800 frascos. Quanto para 2.000?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 frascos → 120 kg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2.000 frascos → x kg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800x = 240.000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= 300 kg.</a:t>
            </a:r>
            <a:endParaRPr lang="en-US" sz="1620" dirty="0"/>
          </a:p>
        </p:txBody>
      </p:sp>
      <p:sp>
        <p:nvSpPr>
          <p:cNvPr id="7" name="68f5bf44-9ff1-4069-8311-307bc7349e9d_card"/>
          <p:cNvSpPr/>
          <p:nvPr/>
        </p:nvSpPr>
        <p:spPr>
          <a:xfrm>
            <a:off x="285750" y="380619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68f5bf44-9ff1-4069-8311-307bc7349e9d_emoji"/>
          <p:cNvSpPr/>
          <p:nvPr/>
        </p:nvSpPr>
        <p:spPr>
          <a:xfrm>
            <a:off x="400050" y="39547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68f5bf44-9ff1-4069-8311-307bc7349e9d_text"/>
          <p:cNvSpPr/>
          <p:nvPr/>
        </p:nvSpPr>
        <p:spPr>
          <a:xfrm>
            <a:off x="765810" y="392049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Multiplicação cruzada: grandezas proporcionais.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7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a663e18-026b-41a7-9c15-c8c4437bf73a" descr="/home/forge/chalkie-production-workers-3/releases/77481733/backend/storage/app/render-specs/3d416761-999c-4b92-a2c6-b5492123996d/img_584a0123e7c0040f70dfda72e26cfb7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ac24260e-4518-4ce1-951b-bdfc63afd81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de Três Simples Inversa</a:t>
            </a:r>
            <a:endParaRPr lang="en-US" sz="2880" dirty="0"/>
          </a:p>
        </p:txBody>
      </p:sp>
      <p:sp>
        <p:nvSpPr>
          <p:cNvPr id="5" name="f28e2ed0-dbbf-4d3a-9530-fea385fbb877"/>
          <p:cNvSpPr/>
          <p:nvPr/>
        </p:nvSpPr>
        <p:spPr>
          <a:xfrm>
            <a:off x="4286250" y="857250"/>
            <a:ext cx="268605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DIMENSIONAMENTO OPERACIONAL</a:t>
            </a:r>
            <a:endParaRPr lang="en-US" sz="1080" dirty="0"/>
          </a:p>
        </p:txBody>
      </p:sp>
      <p:sp>
        <p:nvSpPr>
          <p:cNvPr id="6" name="a66e21ab-6abf-4644-8ceb-ae4e5a93a507"/>
          <p:cNvSpPr/>
          <p:nvPr/>
        </p:nvSpPr>
        <p:spPr>
          <a:xfrm>
            <a:off x="4286250" y="116586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Relação inversa: multiplique em linha.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6 analistas levam 10 dias. Com 15, quantos dias?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analistas → 10 dias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analistas → x dias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15x = 60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= 4 dias.</a:t>
            </a:r>
            <a:endParaRPr lang="en-US" sz="1620" dirty="0"/>
          </a:p>
        </p:txBody>
      </p:sp>
      <p:sp>
        <p:nvSpPr>
          <p:cNvPr id="7" name="12a6e2b9-6ee3-4d10-b565-721941a6b3fd_card"/>
          <p:cNvSpPr/>
          <p:nvPr/>
        </p:nvSpPr>
        <p:spPr>
          <a:xfrm>
            <a:off x="4286250" y="3566160"/>
            <a:ext cx="4572000" cy="854964"/>
          </a:xfrm>
          <a:prstGeom prst="roundRect">
            <a:avLst>
              <a:gd name="adj" fmla="val 10695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12a6e2b9-6ee3-4d10-b565-721941a6b3fd_emoji"/>
          <p:cNvSpPr/>
          <p:nvPr/>
        </p:nvSpPr>
        <p:spPr>
          <a:xfrm>
            <a:off x="4400550" y="37147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12a6e2b9-6ee3-4d10-b565-721941a6b3fd_text"/>
          <p:cNvSpPr/>
          <p:nvPr/>
        </p:nvSpPr>
        <p:spPr>
          <a:xfrm>
            <a:off x="4766310" y="3680460"/>
            <a:ext cx="39776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mão de obra reduz o prazo.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8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c8b9e4e-5081-465c-8ceb-cdb03f129659" descr="/home/forge/chalkie-production-workers-3/releases/77481733/backend/storage/app/render-specs/3d416761-999c-4b92-a2c6-b5492123996d/img_e55ecfe6702459449ae20917630e639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14400"/>
            <a:ext cx="8572500" cy="2343150"/>
          </a:xfrm>
          <a:prstGeom prst="roundRect">
            <a:avLst>
              <a:gd name="adj" fmla="val 5854"/>
            </a:avLst>
          </a:prstGeom>
        </p:spPr>
      </p:pic>
      <p:sp>
        <p:nvSpPr>
          <p:cNvPr id="4" name="003261fd-0b0e-43d9-87e1-01eedd8c2ec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Fixação: Proporcionalidade</a:t>
            </a:r>
            <a:endParaRPr lang="en-US" sz="2880" dirty="0"/>
          </a:p>
        </p:txBody>
      </p:sp>
      <p:sp>
        <p:nvSpPr>
          <p:cNvPr id="5" name="73cf1c32-7d54-470a-91a3-009eaf7f5fc7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grandezas diretamente proporcionais a multiplicação ocorre em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enquanto em grandezas inversamente proporcionais o produto das grandezas é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  <p:sp>
        <p:nvSpPr>
          <p:cNvPr id="6" name="170af4ad-1cc4-4799-bf6f-890f0d52a13b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palavras 🏦</a:t>
            </a:r>
            <a:endParaRPr lang="en-US" sz="1620" dirty="0"/>
          </a:p>
        </p:txBody>
      </p:sp>
      <p:sp>
        <p:nvSpPr>
          <p:cNvPr id="7" name="07979b2f-0b96-4e3d-a393-74270fd492a2"/>
          <p:cNvSpPr/>
          <p:nvPr/>
        </p:nvSpPr>
        <p:spPr>
          <a:xfrm>
            <a:off x="285750" y="37719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constante</a:t>
            </a:r>
            <a:endParaRPr lang="en-US" sz="1620" dirty="0"/>
          </a:p>
        </p:txBody>
      </p:sp>
      <p:sp>
        <p:nvSpPr>
          <p:cNvPr id="8" name="53e685f3-62ff-41e5-9bb3-1f5f7c20b4c2"/>
          <p:cNvSpPr/>
          <p:nvPr/>
        </p:nvSpPr>
        <p:spPr>
          <a:xfrm>
            <a:off x="197739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nulo</a:t>
            </a:r>
            <a:endParaRPr lang="en-US" sz="1620" dirty="0"/>
          </a:p>
        </p:txBody>
      </p:sp>
      <p:sp>
        <p:nvSpPr>
          <p:cNvPr id="9" name="ef27e625-4d09-4c60-ab46-8629757b5776"/>
          <p:cNvSpPr/>
          <p:nvPr/>
        </p:nvSpPr>
        <p:spPr>
          <a:xfrm>
            <a:off x="3143250" y="37719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aleatório</a:t>
            </a:r>
            <a:endParaRPr lang="en-US" sz="1620" dirty="0"/>
          </a:p>
        </p:txBody>
      </p:sp>
      <p:sp>
        <p:nvSpPr>
          <p:cNvPr id="10" name="88af521c-0256-45e7-8e49-024a062253a8"/>
          <p:cNvSpPr/>
          <p:nvPr/>
        </p:nvSpPr>
        <p:spPr>
          <a:xfrm>
            <a:off x="483489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cruz</a:t>
            </a:r>
            <a:endParaRPr lang="en-US" sz="1620" dirty="0"/>
          </a:p>
        </p:txBody>
      </p:sp>
      <p:sp>
        <p:nvSpPr>
          <p:cNvPr id="11" name="0c4c7853-d453-49e2-8b40-7d0b5b759929"/>
          <p:cNvSpPr/>
          <p:nvPr/>
        </p:nvSpPr>
        <p:spPr>
          <a:xfrm>
            <a:off x="600075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</a:t>
            </a:r>
            <a:endParaRPr lang="en-US" sz="16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9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c8b9e4e-5081-465c-8ceb-cdb03f129659" descr="/home/forge/chalkie-production-workers-3/releases/77481733/backend/storage/app/render-specs/3d416761-999c-4b92-a2c6-b5492123996d/img_e55ecfe6702459449ae20917630e639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14400"/>
            <a:ext cx="8572500" cy="2343150"/>
          </a:xfrm>
          <a:prstGeom prst="roundRect">
            <a:avLst>
              <a:gd name="adj" fmla="val 5854"/>
            </a:avLst>
          </a:prstGeom>
        </p:spPr>
      </p:pic>
      <p:sp>
        <p:nvSpPr>
          <p:cNvPr id="4" name="003261fd-0b0e-43d9-87e1-01eedd8c2ec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Fixação: Proporcionalidade</a:t>
            </a:r>
            <a:endParaRPr lang="en-US" sz="2880" dirty="0"/>
          </a:p>
        </p:txBody>
      </p:sp>
      <p:sp>
        <p:nvSpPr>
          <p:cNvPr id="5" name="73cf1c32-7d54-470a-91a3-009eaf7f5fc7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grandezas diretamente proporcionais a multiplicação ocorre em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2C6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cruz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enquanto em grandezas inversamente proporcionais o produto das grandezas é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2C6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constante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  <p:sp>
        <p:nvSpPr>
          <p:cNvPr id="6" name="170af4ad-1cc4-4799-bf6f-890f0d52a13b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palavras 🏦</a:t>
            </a:r>
            <a:endParaRPr lang="en-US" sz="1620" dirty="0"/>
          </a:p>
        </p:txBody>
      </p:sp>
      <p:sp>
        <p:nvSpPr>
          <p:cNvPr id="7" name="07979b2f-0b96-4e3d-a393-74270fd492a2"/>
          <p:cNvSpPr/>
          <p:nvPr/>
        </p:nvSpPr>
        <p:spPr>
          <a:xfrm>
            <a:off x="285750" y="37719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2C6E4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constante</a:t>
            </a:r>
            <a:endParaRPr lang="en-US" sz="1620" dirty="0"/>
          </a:p>
        </p:txBody>
      </p:sp>
      <p:sp>
        <p:nvSpPr>
          <p:cNvPr id="8" name="53e685f3-62ff-41e5-9bb3-1f5f7c20b4c2"/>
          <p:cNvSpPr/>
          <p:nvPr/>
        </p:nvSpPr>
        <p:spPr>
          <a:xfrm>
            <a:off x="197739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nulo</a:t>
            </a:r>
            <a:endParaRPr lang="en-US" sz="1620" dirty="0"/>
          </a:p>
        </p:txBody>
      </p:sp>
      <p:sp>
        <p:nvSpPr>
          <p:cNvPr id="9" name="ef27e625-4d09-4c60-ab46-8629757b5776"/>
          <p:cNvSpPr/>
          <p:nvPr/>
        </p:nvSpPr>
        <p:spPr>
          <a:xfrm>
            <a:off x="3143250" y="37719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aleatório</a:t>
            </a:r>
            <a:endParaRPr lang="en-US" sz="1620" dirty="0"/>
          </a:p>
        </p:txBody>
      </p:sp>
      <p:sp>
        <p:nvSpPr>
          <p:cNvPr id="10" name="88af521c-0256-45e7-8e49-024a062253a8"/>
          <p:cNvSpPr/>
          <p:nvPr/>
        </p:nvSpPr>
        <p:spPr>
          <a:xfrm>
            <a:off x="4834890" y="3771900"/>
            <a:ext cx="10287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2C6E4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cruz</a:t>
            </a:r>
            <a:endParaRPr lang="en-US" sz="1620" dirty="0"/>
          </a:p>
        </p:txBody>
      </p:sp>
      <p:sp>
        <p:nvSpPr>
          <p:cNvPr id="11" name="0c4c7853-d453-49e2-8b40-7d0b5b759929"/>
          <p:cNvSpPr/>
          <p:nvPr/>
        </p:nvSpPr>
        <p:spPr>
          <a:xfrm>
            <a:off x="600075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</a:t>
            </a:r>
            <a:endParaRPr lang="en-US" sz="1620" dirty="0"/>
          </a:p>
        </p:txBody>
      </p:sp>
      <p:sp>
        <p:nvSpPr>
          <p:cNvPr id="12" name="ecf4d2f6-6903-464d-b8fb-d9464c9e7b0b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0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5603ee40-24ca-411d-9c6a-e81f4f0dde8e" descr="/home/forge/chalkie-production-workers-3/releases/77481733/backend/storage/app/render-specs/3d416761-999c-4b92-a2c6-b5492123996d/img_53146c5ed9350bd3fbac705a30f85d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0062446d-2a4a-4094-be50-029187cb16e0" descr="/home/forge/chalkie-production-workers-3/releases/77481733/backend/storage/app/render-specs/3d416761-999c-4b92-a2c6-b5492123996d/img_e85973f682b2044adda61065ba44fd0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3563649b-6ac0-4746-bb73-ec5190bbf8e1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Consumo de Materiais em Escala</a:t>
            </a:r>
            <a:endParaRPr lang="en-US" sz="2880" dirty="0"/>
          </a:p>
        </p:txBody>
      </p:sp>
      <p:sp>
        <p:nvSpPr>
          <p:cNvPr id="6" name="2f9ad3b7-7802-403c-9812-12a12104741d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Lote Econômico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consumo de insumos na indústria cresce em escala direta com o volume programado. Saber a razão por unidade previne paradas fabris por ruptura.</a:t>
            </a:r>
            <a:endParaRPr lang="en-US" sz="1980" dirty="0"/>
          </a:p>
        </p:txBody>
      </p:sp>
      <p:sp>
        <p:nvSpPr>
          <p:cNvPr id="7" name="2093f11a-40a2-4426-9bad-4fb0e6771308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de Desperdício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Desvios na proporção padrão acusam vazamentos, falhas mecânicas ou erros de medição na linha de envase.</a:t>
            </a:r>
            <a:endParaRPr lang="en-US" sz="19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1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417961f-dd96-4237-8c0b-75733ebc6217" descr="/home/forge/chalkie-production-workers-3/releases/77481733/backend/storage/app/render-specs/3d416761-999c-4b92-a2c6-b5492123996d/img_0d3739f559b585a8356aa214962682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75067153-a9ee-4770-8fc4-56d0d5d750c0"/>
          <p:cNvSpPr/>
          <p:nvPr/>
        </p:nvSpPr>
        <p:spPr>
          <a:xfrm>
            <a:off x="285750" y="133731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Desafio da Escala Operacional</a:t>
            </a:r>
            <a:endParaRPr lang="en-US" sz="2880" dirty="0"/>
          </a:p>
        </p:txBody>
      </p:sp>
      <p:sp>
        <p:nvSpPr>
          <p:cNvPr id="5" name="33390d79-88da-4756-b725-76dbe5ef189f"/>
          <p:cNvSpPr/>
          <p:nvPr/>
        </p:nvSpPr>
        <p:spPr>
          <a:xfrm>
            <a:off x="285750" y="238887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ocorre quando o prazo, a quantidade de máquinas, as horas de trabalho e o volume de produtos variam simultaneamente? Entramos no domínio da regra de três composta.</a:t>
            </a:r>
            <a:endParaRPr lang="en-US" sz="16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2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ef64da1-9c30-4ab9-ad82-640d9fac71c8"/>
          <p:cNvSpPr/>
          <p:nvPr/>
        </p:nvSpPr>
        <p:spPr>
          <a:xfrm>
            <a:off x="171450" y="17030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4" name="329fca24-ceab-4a38-932d-1bddd38e4776"/>
          <p:cNvSpPr/>
          <p:nvPr/>
        </p:nvSpPr>
        <p:spPr>
          <a:xfrm>
            <a:off x="2377440" y="17030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5" name="7d159f46-3455-400e-8b62-a3e3b8f16aa3"/>
          <p:cNvSpPr/>
          <p:nvPr/>
        </p:nvSpPr>
        <p:spPr>
          <a:xfrm>
            <a:off x="4572000" y="17030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6" name="dbfff3ea-cbd2-4d58-aba6-5df34e4b1913"/>
          <p:cNvSpPr/>
          <p:nvPr/>
        </p:nvSpPr>
        <p:spPr>
          <a:xfrm>
            <a:off x="6777990" y="17030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7" name="d53d64ae-ec4b-4058-9628-1010ba7a028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de Três Composta: Estrutura</a:t>
            </a:r>
            <a:endParaRPr lang="en-US" sz="2880" dirty="0"/>
          </a:p>
        </p:txBody>
      </p:sp>
      <p:sp>
        <p:nvSpPr>
          <p:cNvPr id="8" name="3f806c24-61a0-4ae2-8ad3-3815383a4a69"/>
          <p:cNvSpPr/>
          <p:nvPr/>
        </p:nvSpPr>
        <p:spPr>
          <a:xfrm>
            <a:off x="285750" y="78867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resolver problemas com mais de duas grandezas, isolamos a grandeza da incógnita e comparamos cada uma das demais diretamente com ela.</a:t>
            </a:r>
            <a:endParaRPr lang="en-US" sz="1620" dirty="0"/>
          </a:p>
        </p:txBody>
      </p:sp>
      <p:sp>
        <p:nvSpPr>
          <p:cNvPr id="9" name="6086cb43-6797-4a83-b6aa-3d7441595f54"/>
          <p:cNvSpPr/>
          <p:nvPr/>
        </p:nvSpPr>
        <p:spPr>
          <a:xfrm>
            <a:off x="285750" y="21602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Monte a tabela alinhando todas as grandezas em colunas distintas.</a:t>
            </a:r>
            <a:endParaRPr lang="en-US" sz="1620" dirty="0"/>
          </a:p>
        </p:txBody>
      </p:sp>
      <p:sp>
        <p:nvSpPr>
          <p:cNvPr id="10" name="98555ae2-873e-4270-854e-b06d04f4d0f3"/>
          <p:cNvSpPr/>
          <p:nvPr/>
        </p:nvSpPr>
        <p:spPr>
          <a:xfrm>
            <a:off x="2491740" y="21602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a coluna da incógnita com as outras: direta (D) ou inversa (I).</a:t>
            </a:r>
            <a:endParaRPr lang="en-US" sz="1620" dirty="0"/>
          </a:p>
        </p:txBody>
      </p:sp>
      <p:sp>
        <p:nvSpPr>
          <p:cNvPr id="11" name="63f1e26f-5f23-4f7d-a62d-66291114193f"/>
          <p:cNvSpPr/>
          <p:nvPr/>
        </p:nvSpPr>
        <p:spPr>
          <a:xfrm>
            <a:off x="4686300" y="21602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Inverta os termos das grandezas inversas antes de montar a proporção.</a:t>
            </a:r>
            <a:endParaRPr lang="en-US" sz="1620" dirty="0"/>
          </a:p>
        </p:txBody>
      </p:sp>
      <p:sp>
        <p:nvSpPr>
          <p:cNvPr id="12" name="a04a94a0-3d61-45b9-a7c4-9309daf6f669"/>
          <p:cNvSpPr/>
          <p:nvPr/>
        </p:nvSpPr>
        <p:spPr>
          <a:xfrm>
            <a:off x="6892290" y="21602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Isole a variável x e calcule a solução final com rigor aritmético.</a:t>
            </a:r>
            <a:endParaRPr lang="en-US" sz="16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3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56364e10-72ee-40ea-a011-786e2fe90144" descr="/home/forge/chalkie-production-workers-3/releases/77481733/backend/storage/app/render-specs/3d416761-999c-4b92-a2c6-b5492123996d/img_f1bd1b69b59ad03a36ed155183ea12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d49bf69a-d98c-4940-83fc-d1de67aa3d3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Guiado: Regra Composta</a:t>
            </a:r>
            <a:endParaRPr lang="en-US" sz="2880" dirty="0"/>
          </a:p>
        </p:txBody>
      </p:sp>
      <p:sp>
        <p:nvSpPr>
          <p:cNvPr id="5" name="fb7ec231-71cf-411f-b5f5-8e8447cc1435"/>
          <p:cNvSpPr/>
          <p:nvPr/>
        </p:nvSpPr>
        <p:spPr>
          <a:xfrm>
            <a:off x="285750" y="857250"/>
            <a:ext cx="268605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DIMENSIONAMENTO OPERACIONAL</a:t>
            </a:r>
            <a:endParaRPr lang="en-US" sz="1080" dirty="0"/>
          </a:p>
        </p:txBody>
      </p:sp>
      <p:sp>
        <p:nvSpPr>
          <p:cNvPr id="6" name="7672a6f6-f6ca-40d4-b46f-b4cae8bdf9eb"/>
          <p:cNvSpPr/>
          <p:nvPr/>
        </p:nvSpPr>
        <p:spPr>
          <a:xfrm>
            <a:off x="285750" y="116586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impressoras imprimem 1.200 catálogos em 6h/dia. Quantos 6 impressoras produzem em 8h/dia?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Catálogos/Impressoras: Direta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Catálogos/Horas: Direta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1.200/x = (4/6) × (6/8)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1.200/x = 24/48 = 1/2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= 2.400 catálogos.</a:t>
            </a:r>
            <a:endParaRPr lang="en-US" sz="1620" dirty="0"/>
          </a:p>
        </p:txBody>
      </p:sp>
      <p:sp>
        <p:nvSpPr>
          <p:cNvPr id="7" name="a1bf7105-a2da-4a15-8f69-c3a3d8f68459_card"/>
          <p:cNvSpPr/>
          <p:nvPr/>
        </p:nvSpPr>
        <p:spPr>
          <a:xfrm>
            <a:off x="285750" y="379476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a1bf7105-a2da-4a15-8f69-c3a3d8f68459_emoji"/>
          <p:cNvSpPr/>
          <p:nvPr/>
        </p:nvSpPr>
        <p:spPr>
          <a:xfrm>
            <a:off x="400050" y="39433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a1bf7105-a2da-4a15-8f69-c3a3d8f68459_text"/>
          <p:cNvSpPr/>
          <p:nvPr/>
        </p:nvSpPr>
        <p:spPr>
          <a:xfrm>
            <a:off x="765810" y="390906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50% mais máquinas e 33% mais tempo, a produção dobrou.</a:t>
            </a:r>
            <a:endParaRPr lang="en-US" sz="14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4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c0e7177c-e4f9-465b-ac1b-634bd4fa944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da Resolução Composta</a:t>
            </a:r>
            <a:endParaRPr lang="en-US" sz="2880" dirty="0"/>
          </a:p>
        </p:txBody>
      </p:sp>
      <p:sp>
        <p:nvSpPr>
          <p:cNvPr id="4" name="2cb12d96-f5e7-4180-984c-05d8568651fe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passos metodológicos para resolver uma regra de três composta na gestão:</a:t>
            </a:r>
            <a:endParaRPr lang="en-US" sz="1620" dirty="0"/>
          </a:p>
        </p:txBody>
      </p:sp>
      <p:sp>
        <p:nvSpPr>
          <p:cNvPr id="5" name="ac126aeb-48a0-4d69-8bc2-98876c7e6779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cada grandeza com a incógnita para classificar como direta ou inversa</a:t>
            </a:r>
            <a:endParaRPr lang="en-US" sz="1620" dirty="0"/>
          </a:p>
        </p:txBody>
      </p:sp>
      <p:sp>
        <p:nvSpPr>
          <p:cNvPr id="6" name="65bc5cce-05b0-4760-b57b-6753fe0f5668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Inverter as frações classificadas como inversamente proporcionais</a:t>
            </a:r>
            <a:endParaRPr lang="en-US" sz="1620" dirty="0"/>
          </a:p>
        </p:txBody>
      </p:sp>
      <p:sp>
        <p:nvSpPr>
          <p:cNvPr id="7" name="2385dede-295e-46aa-b317-d41460b492ad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Mapear as grandezas e organizar os dados em linhas e colunas</a:t>
            </a:r>
            <a:endParaRPr lang="en-US" sz="1620" dirty="0"/>
          </a:p>
        </p:txBody>
      </p:sp>
      <p:sp>
        <p:nvSpPr>
          <p:cNvPr id="8" name="ae3986a9-a043-4b17-87f1-70d31e0b6d9f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Igualar a razão da incógnita ao produto das demais e calcular o valor final</a:t>
            </a:r>
            <a:endParaRPr lang="en-US" sz="16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5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c0e7177c-e4f9-465b-ac1b-634bd4fa944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da Resolução Composta</a:t>
            </a:r>
            <a:endParaRPr lang="en-US" sz="2880" dirty="0"/>
          </a:p>
        </p:txBody>
      </p:sp>
      <p:sp>
        <p:nvSpPr>
          <p:cNvPr id="4" name="2cb12d96-f5e7-4180-984c-05d8568651fe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passos metodológicos para resolver uma regra de três composta na gestão:</a:t>
            </a:r>
            <a:endParaRPr lang="en-US" sz="1620" dirty="0"/>
          </a:p>
        </p:txBody>
      </p:sp>
      <p:sp>
        <p:nvSpPr>
          <p:cNvPr id="5" name="ac126aeb-48a0-4d69-8bc2-98876c7e677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cada grandeza com a incógnita para classificar como direta ou inversa</a:t>
            </a:r>
            <a:endParaRPr lang="en-US" sz="1620" dirty="0"/>
          </a:p>
        </p:txBody>
      </p:sp>
      <p:sp>
        <p:nvSpPr>
          <p:cNvPr id="6" name="65bc5cce-05b0-4760-b57b-6753fe0f5668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Inverter as frações classificadas como inversamente proporcionais</a:t>
            </a:r>
            <a:endParaRPr lang="en-US" sz="1620" dirty="0"/>
          </a:p>
        </p:txBody>
      </p:sp>
      <p:sp>
        <p:nvSpPr>
          <p:cNvPr id="7" name="2385dede-295e-46aa-b317-d41460b492ad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Mapear as grandezas e organizar os dados em linhas e colunas</a:t>
            </a:r>
            <a:endParaRPr lang="en-US" sz="1620" dirty="0"/>
          </a:p>
        </p:txBody>
      </p:sp>
      <p:sp>
        <p:nvSpPr>
          <p:cNvPr id="8" name="ae3986a9-a043-4b17-87f1-70d31e0b6d9f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Igualar a razão da incógnita ao produto das demais e calcular o valor final</a:t>
            </a:r>
            <a:endParaRPr lang="en-US" sz="1620" dirty="0"/>
          </a:p>
        </p:txBody>
      </p:sp>
      <p:sp>
        <p:nvSpPr>
          <p:cNvPr id="9" name="2733516b-afe5-40c3-a1d1-5cba219a9b0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0" name="25299465-8397-4a36-a8fd-15b24ab20409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70" dirty="0"/>
          </a:p>
        </p:txBody>
      </p:sp>
      <p:sp>
        <p:nvSpPr>
          <p:cNvPr id="11" name="86e8d61a-60dd-4619-a542-ca1b1783bfb6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" name="67ec437d-4c9e-4686-8586-e0f1fdd2a4d8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70" dirty="0"/>
          </a:p>
        </p:txBody>
      </p:sp>
      <p:sp>
        <p:nvSpPr>
          <p:cNvPr id="13" name="f0385a00-add2-4328-9b36-7a798b0de7f7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6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c06e0c3c-c498-4a09-aa65-22f2f831367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 da Tomada de Decisão</a:t>
            </a:r>
            <a:endParaRPr lang="en-US" sz="2880" dirty="0"/>
          </a:p>
        </p:txBody>
      </p:sp>
      <p:sp>
        <p:nvSpPr>
          <p:cNvPr id="4" name="60ae3ff8-cf47-4057-847a-4fd6224b215e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quantitativa guia decisões gerenciais e operacionais:</a:t>
            </a:r>
            <a:endParaRPr lang="en-US" sz="1620" dirty="0"/>
          </a:p>
        </p:txBody>
      </p:sp>
      <p:pic>
        <p:nvPicPr>
          <p:cNvPr id="5" name="3631fb2e-9e17-4796-9bb3-db496396c5ae" descr="/home/forge/chalkie-production-workers-3/releases/77481733/backend/storage/app/render-specs/3d416761-999c-4b92-a2c6-b5492123996d/poster_goqyLABRxjo.jpg">
            <a:hlinkClick r:id="rId3" tooltip="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goqyLABRxjo?feature=oembed&quot; frameborder=&quot;0&quot; allowfullscreen=&quot;&quot;&gt;&lt;/iframe&gt;" h="315" w="560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0180" y="1337310"/>
            <a:ext cx="625221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7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fbe0ef9-0067-4b45-9189-1f77f9f8b955" descr="/home/forge/chalkie-production-workers-3/releases/77481733/backend/storage/app/render-specs/3d416761-999c-4b92-a2c6-b5492123996d/img_cd5b03463a0aa15cc0bc9bbd5895bd8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332ed1f4-c20d-480a-aebe-c9330b11492d"/>
          <p:cNvSpPr/>
          <p:nvPr/>
        </p:nvSpPr>
        <p:spPr>
          <a:xfrm>
            <a:off x="3714750" y="17145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de Custos Operacionais</a:t>
            </a:r>
            <a:endParaRPr lang="en-US" sz="2880" dirty="0"/>
          </a:p>
        </p:txBody>
      </p:sp>
      <p:sp>
        <p:nvSpPr>
          <p:cNvPr id="5" name="864f63d9-3f73-4fb3-b44f-61928d0636e4"/>
          <p:cNvSpPr/>
          <p:nvPr/>
        </p:nvSpPr>
        <p:spPr>
          <a:xfrm>
            <a:off x="3714750" y="1291590"/>
            <a:ext cx="158877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CUSTOS E DECISÃO</a:t>
            </a:r>
            <a:endParaRPr lang="en-US" sz="1080" dirty="0"/>
          </a:p>
        </p:txBody>
      </p:sp>
      <p:sp>
        <p:nvSpPr>
          <p:cNvPr id="6" name="06f01ebd-c7cb-4c02-8f0c-c16682154c65"/>
          <p:cNvSpPr/>
          <p:nvPr/>
        </p:nvSpPr>
        <p:spPr>
          <a:xfrm>
            <a:off x="3714750" y="160020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Custos fabris: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Fixos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aluguel, seguros, salários (independentes da produção).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matéria-prima, energia (proporcionais à produção).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 = CF + (CVu × Qtd).</a:t>
            </a:r>
            <a:endParaRPr lang="en-US" sz="1620" dirty="0"/>
          </a:p>
        </p:txBody>
      </p:sp>
      <p:sp>
        <p:nvSpPr>
          <p:cNvPr id="7" name="5b0e913d-4c69-4e42-b5eb-62ac491b89fd_card"/>
          <p:cNvSpPr/>
          <p:nvPr/>
        </p:nvSpPr>
        <p:spPr>
          <a:xfrm>
            <a:off x="3714750" y="3634740"/>
            <a:ext cx="514350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8" name="5b0e913d-4c69-4e42-b5eb-62ac491b89fd_emoji"/>
          <p:cNvSpPr/>
          <p:nvPr/>
        </p:nvSpPr>
        <p:spPr>
          <a:xfrm>
            <a:off x="3829050" y="37833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9" name="5b0e913d-4c69-4e42-b5eb-62ac491b89fd_text"/>
          <p:cNvSpPr/>
          <p:nvPr/>
        </p:nvSpPr>
        <p:spPr>
          <a:xfrm>
            <a:off x="4194810" y="3749040"/>
            <a:ext cx="4549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Exemplo: CF R$ 10.000, CVu R$ 15. Produzir 1.000 unidades: CT = R$ 25.000.</a:t>
            </a:r>
            <a:endParaRPr lang="en-US" sz="14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8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99f7352-fd3b-4a16-8f57-7f42be71f8a7" descr="/home/forge/chalkie-production-workers-3/releases/77481733/backend/storage/app/render-specs/3d416761-999c-4b92-a2c6-b5492123996d/img_441c84da067898dd6224b46ed4c05a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4a0805f4-4287-4507-975c-c6ed7424ac0d" descr="/home/forge/chalkie-production-workers-3/releases/77481733/backend/storage/app/render-specs/3d416761-999c-4b92-a2c6-b5492123996d/img_e7fed1ee4151017f39d870b4b6ee6f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ffa72a2c-ce80-4d7b-b6a9-28e13b5d0b85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Estudo de Caso: Otimização de Estoque</a:t>
            </a:r>
            <a:endParaRPr lang="en-US" sz="2880" dirty="0"/>
          </a:p>
        </p:txBody>
      </p:sp>
      <p:sp>
        <p:nvSpPr>
          <p:cNvPr id="6" name="ea2ed52b-077a-4017-bf65-cd0732716355"/>
          <p:cNvSpPr/>
          <p:nvPr/>
        </p:nvSpPr>
        <p:spPr>
          <a:xfrm>
            <a:off x="28575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do Estoque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empresa Alfa consome 600 kg de resina por semana. O pedido demora 2 semanas para chegar do fornecedor.</a:t>
            </a:r>
            <a:endParaRPr lang="en-US" sz="1980" dirty="0"/>
          </a:p>
        </p:txBody>
      </p:sp>
      <p:sp>
        <p:nvSpPr>
          <p:cNvPr id="7" name="b6dda687-12e5-4cee-af93-dad1b5df17b3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Ponto de Ressuprimento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Consumo no prazo = 600 × 2 = 1.200 kg. Adicionando margem de segurança de 300 kg, a compra deve ocorrer ao atingir 1.500 kg.</a:t>
            </a:r>
            <a:endParaRPr lang="en-US" sz="19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9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6aefd80a-159b-4d03-9fab-f8faf9ae3f69" descr="/home/forge/chalkie-production-workers-3/releases/77481733/backend/storage/app/render-specs/3d416761-999c-4b92-a2c6-b5492123996d/img_53b48e04e65a61b6ad330a04a35f39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c64bfa7c-b4f6-4cde-a264-aefe177f065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Dimensionando a Equipe de Suporte</a:t>
            </a:r>
            <a:endParaRPr lang="en-US" sz="2880" dirty="0"/>
          </a:p>
        </p:txBody>
      </p:sp>
      <p:sp>
        <p:nvSpPr>
          <p:cNvPr id="5" name="3d7ae0de-a596-4837-904d-e9afce07284f"/>
          <p:cNvSpPr/>
          <p:nvPr/>
        </p:nvSpPr>
        <p:spPr>
          <a:xfrm>
            <a:off x="285750" y="857250"/>
            <a:ext cx="158877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CUSTOS E DECISÃO</a:t>
            </a:r>
            <a:endParaRPr lang="en-US" sz="1080" dirty="0"/>
          </a:p>
        </p:txBody>
      </p:sp>
      <p:sp>
        <p:nvSpPr>
          <p:cNvPr id="6" name="08ef93ea-d259-44e2-a7ce-77328e979e3e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recebe 720 chamados/turno (8h). Analista atende 15/h.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Capacidade/analista: 15 × 8 = 120 chamados.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Analistas necessários: 720 ÷ 120 = 6.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volume subir para 1.080: 1.080 ÷ 120 = 9 analistas.</a:t>
            </a:r>
            <a:endParaRPr lang="en-US" sz="1620" dirty="0"/>
          </a:p>
        </p:txBody>
      </p:sp>
      <p:sp>
        <p:nvSpPr>
          <p:cNvPr id="7" name="62614c58-4da6-429e-b2c8-4bddaef1cb69_card"/>
          <p:cNvSpPr/>
          <p:nvPr/>
        </p:nvSpPr>
        <p:spPr>
          <a:xfrm>
            <a:off x="285750" y="345186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62614c58-4da6-429e-b2c8-4bddaef1cb69_emoji"/>
          <p:cNvSpPr/>
          <p:nvPr/>
        </p:nvSpPr>
        <p:spPr>
          <a:xfrm>
            <a:off x="400050" y="36004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62614c58-4da6-429e-b2c8-4bddaef1cb69_text"/>
          <p:cNvSpPr/>
          <p:nvPr/>
        </p:nvSpPr>
        <p:spPr>
          <a:xfrm>
            <a:off x="765810" y="356616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 evita sobrecarga e custos com ociosidade.</a:t>
            </a:r>
            <a:endParaRPr lang="en-US" sz="14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0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482a1e5-3764-40ce-bcec-37adf1e3b86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Compreensão Oral: Reunião Operacional</a:t>
            </a:r>
            <a:endParaRPr lang="en-US" sz="2880" dirty="0"/>
          </a:p>
        </p:txBody>
      </p:sp>
      <p:sp>
        <p:nvSpPr>
          <p:cNvPr id="4" name="4e320d69-3b58-449f-95b0-f56da0fe8f25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Ouça o áudio e responda às perguntas</a:t>
            </a:r>
            <a:endParaRPr lang="en-US" sz="1440" dirty="0"/>
          </a:p>
        </p:txBody>
      </p:sp>
      <p:sp>
        <p:nvSpPr>
          <p:cNvPr id="5" name="4b2c9008-e7f9-47c8-bc03-fe1ee5cf7e30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6" name="239c6c7b-a49b-4d55-a747-ac073792316b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é a produção diária da linha com as máquinas atuais?</a:t>
            </a:r>
            <a:endParaRPr lang="en-US" sz="1620" dirty="0"/>
          </a:p>
        </p:txBody>
      </p:sp>
      <p:sp>
        <p:nvSpPr>
          <p:cNvPr id="7" name="222ebc73-cb79-4fb2-b085-f192a50a6287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8" name="78030d4a-6992-4199-b7e8-51158b617311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Quantas máquinas estão ativas na fábrica atualmente?</a:t>
            </a:r>
            <a:endParaRPr lang="en-US" sz="1620" dirty="0"/>
          </a:p>
        </p:txBody>
      </p:sp>
      <p:sp>
        <p:nvSpPr>
          <p:cNvPr id="9" name="52f90e7f-e6c4-4c53-9e1d-6c5372e17d4e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0" name="040b9da0-b167-4e13-91af-58069a2c5f72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é a meta exigida pelo novo contrato com o cliente?</a:t>
            </a:r>
            <a:endParaRPr lang="en-US" sz="1620" dirty="0"/>
          </a:p>
        </p:txBody>
      </p:sp>
      <p:sp>
        <p:nvSpPr>
          <p:cNvPr id="11" name="e72aded8-9c77-4a1a-ab3b-26c4b2114b44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2" name="325dcbe2-9094-4a4e-9374-8507217c2e71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foi a solução calculada por Carlos para atender à demanda?</a:t>
            </a:r>
            <a:endParaRPr lang="en-US" sz="1620" dirty="0"/>
          </a:p>
        </p:txBody>
      </p:sp>
      <p:sp>
        <p:nvSpPr>
          <p:cNvPr id="13" name="4a93af40-05cf-43b9-abf6-4b14ac8f15bc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4" name="4a93af40-05cf-43b9-abf6-4b14ac8f15bc_icon" descr="/home/forge/chalkie-production-workers-3/releases/77481733/backend/storage/app/render-specs/3d416761-999c-4b92-a2c6-b5492123996d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5" name="4a93af40-05cf-43b9-abf6-4b14ac8f15bc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Alinhamento de Produção e Estoque</a:t>
            </a:r>
            <a:endParaRPr lang="en-US" sz="1800" dirty="0"/>
          </a:p>
        </p:txBody>
      </p:sp>
      <p:sp>
        <p:nvSpPr>
          <p:cNvPr id="16" name="4a93af40-05cf-43b9-abf6-4b14ac8f15bc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7" name="4a93af40-05cf-43b9-abf6-4b14ac8f15bc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1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482a1e5-3764-40ce-bcec-37adf1e3b86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Compreensão Oral: Reunião Operacional</a:t>
            </a:r>
            <a:endParaRPr lang="en-US" sz="2880" dirty="0"/>
          </a:p>
        </p:txBody>
      </p:sp>
      <p:sp>
        <p:nvSpPr>
          <p:cNvPr id="4" name="81c27f74-ce38-44fc-8efa-3e9b404522ac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as tuas respostas abaixo</a:t>
            </a:r>
            <a:endParaRPr lang="en-US" sz="1440" dirty="0"/>
          </a:p>
        </p:txBody>
      </p:sp>
      <p:sp>
        <p:nvSpPr>
          <p:cNvPr id="5" name="ff9e1b82-25c5-40d2-9e1b-328d5dfc02f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6" name="c8b78e66-08c5-4225-aeba-034fe204b1ac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7" name="db211309-b873-4a3b-9782-f9da5217c53b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fábrica produz 500 peças por dia operando 10 horas.</a:t>
            </a:r>
            <a:endParaRPr lang="en-US" sz="1620" dirty="0"/>
          </a:p>
        </p:txBody>
      </p:sp>
      <p:sp>
        <p:nvSpPr>
          <p:cNvPr id="8" name="e1f75a0e-de5c-48bb-850e-94df6e40aa8b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9" name="648b107e-aa13-4c85-a34b-627427d4028a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Atualmente estão operando 4 máquinas.</a:t>
            </a:r>
            <a:endParaRPr lang="en-US" sz="1620" dirty="0"/>
          </a:p>
        </p:txBody>
      </p:sp>
      <p:sp>
        <p:nvSpPr>
          <p:cNvPr id="10" name="7e0938a2-bdb6-4fe6-8dbc-e5976c6fe9ef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1" name="c2087e80-bb2b-4053-b1b9-6f2f41a09f46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nova meta é atingir 1.000 peças diárias.</a:t>
            </a:r>
            <a:endParaRPr lang="en-US" sz="1620" dirty="0"/>
          </a:p>
        </p:txBody>
      </p:sp>
      <p:sp>
        <p:nvSpPr>
          <p:cNvPr id="12" name="46c17fe3-ccdc-4461-976c-e5c16f9de385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3" name="b05b49c2-ed12-4ea9-9011-69df881501bb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Adicionar 4 máquinas idênticas ou dobrar o turno de trabalho.</a:t>
            </a:r>
            <a:endParaRPr lang="en-US" sz="1620" dirty="0"/>
          </a:p>
        </p:txBody>
      </p:sp>
      <p:sp>
        <p:nvSpPr>
          <p:cNvPr id="14" name="4a93af40-05cf-43b9-abf6-4b14ac8f15bc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5" name="4a93af40-05cf-43b9-abf6-4b14ac8f15bc_icon" descr="/home/forge/chalkie-production-workers-3/releases/77481733/backend/storage/app/render-specs/3d416761-999c-4b92-a2c6-b5492123996d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6" name="4a93af40-05cf-43b9-abf6-4b14ac8f15bc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Alinhamento de Produção e Estoque</a:t>
            </a:r>
            <a:endParaRPr lang="en-US" sz="1800" dirty="0"/>
          </a:p>
        </p:txBody>
      </p:sp>
      <p:sp>
        <p:nvSpPr>
          <p:cNvPr id="17" name="4a93af40-05cf-43b9-abf6-4b14ac8f15bc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8" name="4a93af40-05cf-43b9-abf6-4b14ac8f15bc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2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2a3982e-845a-440f-9c02-8a9a2af106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Fixação de Vocabulário Técnico</a:t>
            </a:r>
            <a:endParaRPr lang="en-US" sz="2880" dirty="0"/>
          </a:p>
        </p:txBody>
      </p:sp>
      <p:sp>
        <p:nvSpPr>
          <p:cNvPr id="4" name="e64bc0fc-8d80-4c15-a1bc-88ed802107b6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Relacione as palavras com as definições</a:t>
            </a:r>
            <a:endParaRPr lang="en-US" sz="1440" dirty="0"/>
          </a:p>
        </p:txBody>
      </p:sp>
      <p:sp>
        <p:nvSpPr>
          <p:cNvPr id="5" name="bccb3182-c346-4f75-97d9-76bf2bee9c5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</a:t>
            </a:r>
            <a:endParaRPr lang="en-US" sz="1800" dirty="0"/>
          </a:p>
        </p:txBody>
      </p:sp>
      <p:sp>
        <p:nvSpPr>
          <p:cNvPr id="6" name="5276dc5a-49a4-4046-9e66-d99d65b4e33f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</a:t>
            </a:r>
            <a:endParaRPr lang="en-US" sz="1800" dirty="0"/>
          </a:p>
        </p:txBody>
      </p:sp>
      <p:sp>
        <p:nvSpPr>
          <p:cNvPr id="7" name="cd793cb4-9a55-46d1-8828-769accfadd1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Razão</a:t>
            </a:r>
            <a:endParaRPr lang="en-US" sz="1800" dirty="0"/>
          </a:p>
        </p:txBody>
      </p:sp>
      <p:sp>
        <p:nvSpPr>
          <p:cNvPr id="8" name="b8366000-07da-48a2-9a68-9f38c92c9ed1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</a:t>
            </a:r>
            <a:endParaRPr lang="en-US" sz="1800" dirty="0"/>
          </a:p>
        </p:txBody>
      </p:sp>
      <p:sp>
        <p:nvSpPr>
          <p:cNvPr id="9" name="e8e0f76b-e22d-47d7-b58e-785fc5132c09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 monetário decorrente de bens e serviços aplicados na produção.</a:t>
            </a:r>
            <a:endParaRPr lang="en-US" sz="1620" dirty="0"/>
          </a:p>
        </p:txBody>
      </p:sp>
      <p:sp>
        <p:nvSpPr>
          <p:cNvPr id="10" name="a11f75c9-c4e2-4bf9-b338-8797f53b7893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Obtenção do melhor rendimento produtivo utilizando o mínimo de recursos.</a:t>
            </a:r>
            <a:endParaRPr lang="en-US" sz="1620" dirty="0"/>
          </a:p>
        </p:txBody>
      </p:sp>
      <p:sp>
        <p:nvSpPr>
          <p:cNvPr id="11" name="73f58c1c-2653-4634-8bf9-91bcbb507417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Quociente da divisão comparativa entre duas medidas ou grandezas.</a:t>
            </a:r>
            <a:endParaRPr lang="en-US" sz="1620" dirty="0"/>
          </a:p>
        </p:txBody>
      </p:sp>
      <p:sp>
        <p:nvSpPr>
          <p:cNvPr id="12" name="782180cd-8eb5-4df4-8009-9d3ef1f5d9b9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Igualdade que expressa equivalência constante entre duas razões.</a:t>
            </a:r>
            <a:endParaRPr lang="en-US" sz="16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3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2a3982e-845a-440f-9c02-8a9a2af106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Fixação de Vocabulário Técnico</a:t>
            </a:r>
            <a:endParaRPr lang="en-US" sz="2880" dirty="0"/>
          </a:p>
        </p:txBody>
      </p:sp>
      <p:sp>
        <p:nvSpPr>
          <p:cNvPr id="4" name="e64bc0fc-8d80-4c15-a1bc-88ed802107b6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Relacione as palavras com as definições</a:t>
            </a:r>
            <a:endParaRPr lang="en-US" sz="1440" dirty="0"/>
          </a:p>
        </p:txBody>
      </p:sp>
      <p:sp>
        <p:nvSpPr>
          <p:cNvPr id="5" name="bccb3182-c346-4f75-97d9-76bf2bee9c5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</a:t>
            </a:r>
            <a:endParaRPr lang="en-US" sz="1800" dirty="0"/>
          </a:p>
        </p:txBody>
      </p:sp>
      <p:sp>
        <p:nvSpPr>
          <p:cNvPr id="6" name="5276dc5a-49a4-4046-9e66-d99d65b4e33f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</a:t>
            </a:r>
            <a:endParaRPr lang="en-US" sz="1800" dirty="0"/>
          </a:p>
        </p:txBody>
      </p:sp>
      <p:sp>
        <p:nvSpPr>
          <p:cNvPr id="7" name="cd793cb4-9a55-46d1-8828-769accfadd1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Razão</a:t>
            </a:r>
            <a:endParaRPr lang="en-US" sz="1800" dirty="0"/>
          </a:p>
        </p:txBody>
      </p:sp>
      <p:sp>
        <p:nvSpPr>
          <p:cNvPr id="8" name="b8366000-07da-48a2-9a68-9f38c92c9ed1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</a:t>
            </a:r>
            <a:endParaRPr lang="en-US" sz="1800" dirty="0"/>
          </a:p>
        </p:txBody>
      </p:sp>
      <p:sp>
        <p:nvSpPr>
          <p:cNvPr id="9" name="e8e0f76b-e22d-47d7-b58e-785fc5132c09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 monetário decorrente de bens e serviços aplicados na produção.</a:t>
            </a:r>
            <a:endParaRPr lang="en-US" sz="1620" dirty="0"/>
          </a:p>
        </p:txBody>
      </p:sp>
      <p:sp>
        <p:nvSpPr>
          <p:cNvPr id="10" name="a11f75c9-c4e2-4bf9-b338-8797f53b7893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Obtenção do melhor rendimento produtivo utilizando o mínimo de recursos.</a:t>
            </a:r>
            <a:endParaRPr lang="en-US" sz="1620" dirty="0"/>
          </a:p>
        </p:txBody>
      </p:sp>
      <p:sp>
        <p:nvSpPr>
          <p:cNvPr id="11" name="73f58c1c-2653-4634-8bf9-91bcbb507417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Quociente da divisão comparativa entre duas medidas ou grandezas.</a:t>
            </a:r>
            <a:endParaRPr lang="en-US" sz="1620" dirty="0"/>
          </a:p>
        </p:txBody>
      </p:sp>
      <p:sp>
        <p:nvSpPr>
          <p:cNvPr id="12" name="782180cd-8eb5-4df4-8009-9d3ef1f5d9b9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Igualdade que expressa equivalência constante entre duas razões.</a:t>
            </a:r>
            <a:endParaRPr lang="en-US" sz="1620" dirty="0"/>
          </a:p>
        </p:txBody>
      </p:sp>
      <p:sp>
        <p:nvSpPr>
          <p:cNvPr id="13" name="899aa5d7-11f0-4673-8701-9205de8b6dfc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connector-2e768401-f5fb-495c-a6f2-d788f4996d17-0"/>
          <p:cNvSpPr/>
          <p:nvPr/>
        </p:nvSpPr>
        <p:spPr>
          <a:xfrm>
            <a:off x="2571750" y="1623060"/>
            <a:ext cx="994410" cy="891540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5" name="connector-2e768401-f5fb-495c-a6f2-d788f4996d17-1"/>
          <p:cNvSpPr/>
          <p:nvPr/>
        </p:nvSpPr>
        <p:spPr>
          <a:xfrm>
            <a:off x="2571750" y="2537460"/>
            <a:ext cx="994410" cy="1805940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6" name="connector-2e768401-f5fb-495c-a6f2-d788f4996d17-2"/>
          <p:cNvSpPr/>
          <p:nvPr/>
        </p:nvSpPr>
        <p:spPr>
          <a:xfrm flipV="1">
            <a:off x="2571750" y="3429000"/>
            <a:ext cx="994410" cy="22860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7" name="connector-2e768401-f5fb-495c-a6f2-d788f4996d17-3"/>
          <p:cNvSpPr/>
          <p:nvPr/>
        </p:nvSpPr>
        <p:spPr>
          <a:xfrm flipV="1">
            <a:off x="2571750" y="1600200"/>
            <a:ext cx="994410" cy="2766060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8" name="5f4cb691-fba7-4fda-a175-46a0969a2b2f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70" dirty="0"/>
          </a:p>
        </p:txBody>
      </p:sp>
      <p:sp>
        <p:nvSpPr>
          <p:cNvPr id="19" name="fe536578-a53a-4ea6-9f59-a590b1fa3b37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170" dirty="0"/>
          </a:p>
        </p:txBody>
      </p:sp>
      <p:sp>
        <p:nvSpPr>
          <p:cNvPr id="20" name="f7527033-976c-4c2e-a6ee-93678a66bad4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70" dirty="0"/>
          </a:p>
        </p:txBody>
      </p:sp>
      <p:sp>
        <p:nvSpPr>
          <p:cNvPr id="21" name="e2f8a3b8-853b-454b-a602-17023a50c8a1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7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4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469a8868-9ec4-41fc-9e70-4bca964c7062" descr="/home/forge/chalkie-production-workers-3/releases/77481733/backend/storage/app/render-specs/3d416761-999c-4b92-a2c6-b5492123996d/img_34a6e00f54824ac6a64e27bf8a9219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ea762893-3d39-4c42-81af-ddcad54c52eb" descr="/home/forge/chalkie-production-workers-3/releases/77481733/backend/storage/app/render-specs/3d416761-999c-4b92-a2c6-b5492123996d/img_152ed5468c08ec8e7bf39290c738740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1ab7d001-24bf-45fb-bb3f-f0c5a0401908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Simulação de Tomada de Decisão</a:t>
            </a:r>
            <a:endParaRPr lang="en-US" sz="2880" dirty="0"/>
          </a:p>
        </p:txBody>
      </p:sp>
      <p:sp>
        <p:nvSpPr>
          <p:cNvPr id="6" name="2a92add6-a3f4-4c59-acca-008dc9a021d6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Dilema do Gerente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lote urgente de 3.000 peças deve ser entregue em 5 dias. Nossa capacidade normal é de 400 peças por dia com 8 operadores.</a:t>
            </a:r>
            <a:endParaRPr lang="en-US" sz="1980" dirty="0"/>
          </a:p>
        </p:txBody>
      </p:sp>
      <p:sp>
        <p:nvSpPr>
          <p:cNvPr id="7" name="a0439d20-1dae-4541-a270-5eb83fb6bf14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Resolução Analítica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Demanda diária necessária = 3.000 ÷ 5 = 600 peças/dia. Se 8 operadores geram 400, para gerar 600 precisamos de: (8 × 600) ÷ 400 = 12 operadores.</a:t>
            </a:r>
            <a:endParaRPr lang="en-US" sz="19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5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f9b4a4ab-c1a6-4b02-8f53-ce26197a9a1e" descr="/home/forge/chalkie-production-workers-3/releases/77481733/backend/storage/app/render-specs/3d416761-999c-4b92-a2c6-b5492123996d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4" name="6f3dcd7a-9e69-4cae-b4e4-669a928151b8" descr="/home/forge/chalkie-production-workers-3/releases/77481733/backend/storage/app/render-specs/3d416761-999c-4b92-a2c6-b5492123996d/img_732f9328134870d4fcd15426f7222b6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5" name="0d4cb0b0-d8c8-4644-8fa9-07716ee87a2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Decisão: Horas Extras ou Contratação?</a:t>
            </a:r>
            <a:endParaRPr lang="en-US" sz="2880" dirty="0"/>
          </a:p>
        </p:txBody>
      </p:sp>
      <p:sp>
        <p:nvSpPr>
          <p:cNvPr id="6" name="64139a08-5436-4b85-9ec1-cf787a1f04f0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atender ao aumento de produção de 400 para 600 peças diárias, a empresa deve contratar 4 trabalhadores temporários ou pagar horas extras para a equipe atual de 8 pessoas? Quais variáveis matemáticas e humanas devem ser avaliadas?</a:t>
            </a:r>
            <a:endParaRPr lang="en-US" sz="16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6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f9b4a4ab-c1a6-4b02-8f53-ce26197a9a1e" descr="/home/forge/chalkie-production-workers-3/releases/77481733/backend/storage/app/render-specs/3d416761-999c-4b92-a2c6-b5492123996d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4" name="0d4cb0b0-d8c8-4644-8fa9-07716ee87a2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Decisão: Horas Extras ou Contratação?</a:t>
            </a:r>
            <a:endParaRPr lang="en-US" sz="2880" dirty="0"/>
          </a:p>
        </p:txBody>
      </p:sp>
      <p:sp>
        <p:nvSpPr>
          <p:cNvPr id="5" name="987f5272-7806-4811-a12c-8626200a935e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poderia ter dito...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Analise custos de encargos e treinamento de temporários versus o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adicional de 50% sobre horas extras da equipe atual.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Pontue a fadiga e a queda na produtividade horária quando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turnos são estendidos por períodos longos.</a:t>
            </a:r>
            <a:endParaRPr lang="en-US" sz="1620" dirty="0"/>
          </a:p>
        </p:txBody>
      </p:sp>
      <p:sp>
        <p:nvSpPr>
          <p:cNvPr id="6" name="66567504-641a-485c-98d7-dfee8790815d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7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6a74457-0b4a-4930-a38c-5a87e15e8e84" descr="/home/forge/chalkie-production-workers-3/releases/77481733/backend/storage/app/render-specs/3d416761-999c-4b92-a2c6-b5492123996d/img_1022538f40d055d884afd713d20adb6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8fc90f6d-ceb0-4272-b807-4dc6189c90d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Armadilhas Comuns nos Cálculos</a:t>
            </a:r>
            <a:endParaRPr lang="en-US" sz="2880" dirty="0"/>
          </a:p>
        </p:txBody>
      </p:sp>
      <p:sp>
        <p:nvSpPr>
          <p:cNvPr id="5" name="66ce24e1-b985-45cf-8dc5-8c446e2a1e1f"/>
          <p:cNvSpPr/>
          <p:nvPr/>
        </p:nvSpPr>
        <p:spPr>
          <a:xfrm>
            <a:off x="285750" y="857250"/>
            <a:ext cx="147447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PRÁTICA</a:t>
            </a:r>
            <a:endParaRPr lang="en-US" sz="1080" dirty="0"/>
          </a:p>
        </p:txBody>
      </p:sp>
      <p:sp>
        <p:nvSpPr>
          <p:cNvPr id="6" name="f514236a-a6cf-437d-8023-03836bba7d38"/>
          <p:cNvSpPr/>
          <p:nvPr/>
        </p:nvSpPr>
        <p:spPr>
          <a:xfrm>
            <a:off x="285750" y="1165860"/>
            <a:ext cx="45720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Confundir grandezas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tratar inversas como diretas (ex: equipe vs. tempo).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Errar unidades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misturar medidas sem conversão (ex: horas/minutos).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Omitir custos fixos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calcular custo total ignorando taxas fixas.</a:t>
            </a:r>
            <a:endParaRPr lang="en-US" sz="1620" dirty="0"/>
          </a:p>
        </p:txBody>
      </p:sp>
      <p:sp>
        <p:nvSpPr>
          <p:cNvPr id="7" name="c61388d0-3f7d-4f94-bcfd-2ab184b4e828_card"/>
          <p:cNvSpPr/>
          <p:nvPr/>
        </p:nvSpPr>
        <p:spPr>
          <a:xfrm>
            <a:off x="285750" y="312039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CEBEB"/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8" name="c61388d0-3f7d-4f94-bcfd-2ab184b4e828_emoji"/>
          <p:cNvSpPr/>
          <p:nvPr/>
        </p:nvSpPr>
        <p:spPr>
          <a:xfrm>
            <a:off x="400050" y="32689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9" name="c61388d0-3f7d-4f94-bcfd-2ab184b4e828_text"/>
          <p:cNvSpPr/>
          <p:nvPr/>
        </p:nvSpPr>
        <p:spPr>
          <a:xfrm>
            <a:off x="765810" y="323469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Padronize unidades de tempo e massa antes de montar proporções.</a:t>
            </a:r>
            <a:endParaRPr lang="en-US" sz="14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8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c8c8d20-d8d5-48c0-8f0d-e61d58fabeec" descr="/home/forge/chalkie-production-workers-3/releases/77481733/backend/storage/app/render-specs/3d416761-999c-4b92-a2c6-b5492123996d/img_73b00b06018457b3e2e66b2e7c88238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9f390460-e768-4be6-807a-5080d27319c0" descr="/home/forge/chalkie-production-workers-3/releases/77481733/backend/storage/app/render-specs/3d416761-999c-4b92-a2c6-b5492123996d/img_59e323ea76eb1b8e75b9bc7cdb04e12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4376722f-f572-4e39-8514-7411c8c11533" descr="/home/forge/chalkie-production-workers-3/releases/77481733/backend/storage/app/render-specs/3d416761-999c-4b92-a2c6-b5492123996d/img_5f0658a299042a5f3a912e16291f1c7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5eb36f69-948a-429a-be64-954756ca8171" descr="/home/forge/chalkie-production-workers-3/releases/77481733/backend/storage/app/render-specs/3d416761-999c-4b92-a2c6-b5492123996d/img_085c1c727548755b67e4c2770d767ff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b1fe99df-f3a1-4210-9edc-74ec943ba37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dos Métodos Proporcionais</a:t>
            </a:r>
            <a:endParaRPr lang="en-US" sz="2880" dirty="0"/>
          </a:p>
        </p:txBody>
      </p:sp>
      <p:sp>
        <p:nvSpPr>
          <p:cNvPr id="8" name="2541df50-0320-404a-a060-485b539e9309"/>
          <p:cNvSpPr/>
          <p:nvPr/>
        </p:nvSpPr>
        <p:spPr>
          <a:xfrm>
            <a:off x="285750" y="34175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Razão Unitária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Rendimento base por unidade de tempo, pessoa ou máquina.</a:t>
            </a:r>
            <a:endParaRPr lang="en-US" sz="1620" dirty="0"/>
          </a:p>
        </p:txBody>
      </p:sp>
      <p:sp>
        <p:nvSpPr>
          <p:cNvPr id="9" name="fe305a02-5b30-47f1-84bc-9590f120e7a8"/>
          <p:cNvSpPr/>
          <p:nvPr/>
        </p:nvSpPr>
        <p:spPr>
          <a:xfrm>
            <a:off x="2491740" y="27317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 Direta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Crescimento conjunto de variáveis com quociente constante.</a:t>
            </a:r>
            <a:endParaRPr lang="en-US" sz="1620" dirty="0"/>
          </a:p>
        </p:txBody>
      </p:sp>
      <p:sp>
        <p:nvSpPr>
          <p:cNvPr id="10" name="bc7716fd-567a-4af2-9b38-ebb0d8748c14"/>
          <p:cNvSpPr/>
          <p:nvPr/>
        </p:nvSpPr>
        <p:spPr>
          <a:xfrm>
            <a:off x="4686300" y="34175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 Inversa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Relação onde o aumento de uma reduz a outra proporcionalmente.</a:t>
            </a:r>
            <a:endParaRPr lang="en-US" sz="1620" dirty="0"/>
          </a:p>
        </p:txBody>
      </p:sp>
      <p:sp>
        <p:nvSpPr>
          <p:cNvPr id="11" name="235bfa6c-c773-42af-81ea-538da60bccd5"/>
          <p:cNvSpPr/>
          <p:nvPr/>
        </p:nvSpPr>
        <p:spPr>
          <a:xfrm>
            <a:off x="6892290" y="27317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 Composta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Integração de múltiplos fatores para dimensionamento global.</a:t>
            </a:r>
            <a:endParaRPr lang="en-US" sz="16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9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6e684bd5-a436-4440-9858-ef1eddba924e" descr="/home/forge/chalkie-production-workers-3/releases/77481733/backend/storage/app/render-specs/3d416761-999c-4b92-a2c6-b5492123996d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fb874fef-201e-4c8e-8c07-56fe12737fd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de Fixação Rápida</a:t>
            </a:r>
            <a:endParaRPr lang="en-US" sz="2880" dirty="0"/>
          </a:p>
        </p:txBody>
      </p:sp>
      <p:sp>
        <p:nvSpPr>
          <p:cNvPr id="5" name="c6fad330-9821-405c-acec-b4a74df0f36d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veículo percorre uma distância em 6 horas a 80 km/h. Quanto tempo levaria se trafegasse a 120 km/h?</a:t>
            </a:r>
            <a:endParaRPr lang="en-US" sz="1620" dirty="0"/>
          </a:p>
        </p:txBody>
      </p:sp>
      <p:sp>
        <p:nvSpPr>
          <p:cNvPr id="6" name="d63b3a52-0029-4abb-930b-17854a3f40a4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5 quilos de matéria-prima custam R$ 35,00, qual é o valor exato de 18 quilos desse mesmo insumo?</a:t>
            </a:r>
            <a:endParaRPr lang="en-US" sz="1620" dirty="0"/>
          </a:p>
        </p:txBody>
      </p:sp>
      <p:sp>
        <p:nvSpPr>
          <p:cNvPr id="7" name="0a426e6d-e5c2-4325-b070-cb85d26af710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se calcula o custo total de fabricação de um lote quando há custos fixos e variáveis?</a:t>
            </a:r>
            <a:endParaRPr lang="en-US" sz="16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0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fb874fef-201e-4c8e-8c07-56fe12737fd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de Fixação Rápida</a:t>
            </a:r>
            <a:endParaRPr lang="en-US" sz="2880" dirty="0"/>
          </a:p>
        </p:txBody>
      </p:sp>
      <p:sp>
        <p:nvSpPr>
          <p:cNvPr id="4" name="1e47579f-c3ef-4d37-afaa-9ea84c6a72e3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horas (relação inversa: 6 × 80 = x × 120 -&gt; 480 / 120 = 4).</a:t>
            </a:r>
            <a:endParaRPr lang="en-US" sz="1620" dirty="0"/>
          </a:p>
        </p:txBody>
      </p:sp>
      <p:sp>
        <p:nvSpPr>
          <p:cNvPr id="5" name="c1bbbaff-b3fa-40a2-8402-37a7f8130f6a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R$ 126,00 (relação direta: 35 / 5 = 7 reais por kg; 18 × 7 = 126).</a:t>
            </a:r>
            <a:endParaRPr lang="en-US" sz="1620" dirty="0"/>
          </a:p>
        </p:txBody>
      </p:sp>
      <p:sp>
        <p:nvSpPr>
          <p:cNvPr id="6" name="5be69b05-c7c3-40bc-87a4-d4f1fab06af4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Soma-se o custo fixo ao produto do custo variável unitário pela quantidade fabricada.</a:t>
            </a:r>
            <a:endParaRPr lang="en-US" sz="1620" dirty="0"/>
          </a:p>
        </p:txBody>
      </p:sp>
      <p:sp>
        <p:nvSpPr>
          <p:cNvPr id="7" name="46f5e0e2-6d1e-47d0-ac7f-49c42b19bffc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1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a0404d73-c12a-4c00-82ba-a5a6e34d10e3" descr="/home/forge/chalkie-production-workers-3/releases/77481733/backend/storage/app/render-specs/3d416761-999c-4b92-a2c6-b5492123996d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4" name="dc2a0378-f804-4d8c-a93c-28899c486b58" descr="/home/forge/chalkie-production-workers-3/releases/77481733/backend/storage/app/render-specs/3d416761-999c-4b92-a2c6-b5492123996d/img_68e1eb15992a6266209c70dfa5b3b17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5" name="25e921a5-a37c-49b6-874e-72053ecbcb0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Estudo de Caso: Dimensionamento Real</a:t>
            </a:r>
            <a:endParaRPr lang="en-US" sz="2880" dirty="0"/>
          </a:p>
        </p:txBody>
      </p:sp>
      <p:sp>
        <p:nvSpPr>
          <p:cNvPr id="6" name="e0ad90ac-d326-4c33-9ce4-6e1f3a212e0e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RápidaLog: 5 caminhões, 240 entregas, 6 dias.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Dias para 480 entregas com 8 caminhões: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(5/8) * (480/240) = 6/x =&gt; 10/8 = 6/x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10x = 48 =&gt; x = 4,8 dias.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total (8 caminhões, 4,8 dias):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Op: 8 * 4,8 * R$ 350 = R$ 13.440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Total: R$ 13.440 + R$ 1.500 = R$ 14.940.</a:t>
            </a:r>
            <a:endParaRPr lang="en-US" sz="16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2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08bce6d2-9e43-4964-89c0-1b93eff2cf9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 Final: Fundamentos e Gestão</a:t>
            </a:r>
            <a:endParaRPr lang="en-US" sz="2880" dirty="0"/>
          </a:p>
        </p:txBody>
      </p:sp>
      <p:sp>
        <p:nvSpPr>
          <p:cNvPr id="4" name="516cef61-8d9f-4e59-987e-6c18af7d982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Analise as afirmações abaixo e assinale as duas alternativas verdadeiras sobre as operações e proporções aplicadas à gestão:</a:t>
            </a:r>
            <a:endParaRPr lang="en-US" sz="1620" dirty="0"/>
          </a:p>
        </p:txBody>
      </p:sp>
      <p:sp>
        <p:nvSpPr>
          <p:cNvPr id="5" name="043ec4de-f546-4638-831b-41d5232bcea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b04c39fc-c24d-4a9c-9339-451fca3a058e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problemas de regra de três simples inversa, multiplicamos os valores cruzando numerador e denominador.</a:t>
            </a:r>
            <a:endParaRPr lang="en-US" sz="1620" dirty="0"/>
          </a:p>
        </p:txBody>
      </p:sp>
      <p:sp>
        <p:nvSpPr>
          <p:cNvPr id="7" name="65e68bb9-5ac5-4f7c-ab89-ac31dd42259e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047dd62f-95f1-47e1-b4cb-c72d54be7d9b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quantidade de trabalhadores e o tempo para concluir uma tarefa de ritmo constante são grandezas inversamente proporcionais.</a:t>
            </a:r>
            <a:endParaRPr lang="en-US" sz="1620" dirty="0"/>
          </a:p>
        </p:txBody>
      </p:sp>
      <p:sp>
        <p:nvSpPr>
          <p:cNvPr id="9" name="e43b226f-501e-4b0c-a8d5-e858804725e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9e9a45ef-3bf5-458b-aad3-30739f2fa17f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triplicar a velocidade de atendimento em um caixa, o tempo de espera do cliente triplica.</a:t>
            </a:r>
            <a:endParaRPr lang="en-US" sz="1620" dirty="0"/>
          </a:p>
        </p:txBody>
      </p:sp>
      <p:sp>
        <p:nvSpPr>
          <p:cNvPr id="11" name="fe85bf7d-4e07-4bf9-b676-c7f9872d450b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07b85864-f386-436d-b7f4-01903284ed4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custo variável total de uma fábrica cresce em proporção direta com o volume de unidades fabricadas.</a:t>
            </a:r>
            <a:endParaRPr lang="en-US" sz="16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3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08bce6d2-9e43-4964-89c0-1b93eff2cf9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 Final: Fundamentos e Gestão</a:t>
            </a:r>
            <a:endParaRPr lang="en-US" sz="2880" dirty="0"/>
          </a:p>
        </p:txBody>
      </p:sp>
      <p:sp>
        <p:nvSpPr>
          <p:cNvPr id="4" name="516cef61-8d9f-4e59-987e-6c18af7d982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Analise as afirmações abaixo e assinale as duas alternativas verdadeiras sobre as operações e proporções aplicadas à gestão:</a:t>
            </a:r>
            <a:endParaRPr lang="en-US" sz="1620" dirty="0"/>
          </a:p>
        </p:txBody>
      </p:sp>
      <p:sp>
        <p:nvSpPr>
          <p:cNvPr id="5" name="043ec4de-f546-4638-831b-41d5232bcea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b04c39fc-c24d-4a9c-9339-451fca3a058e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problemas de regra de três simples inversa, multiplicamos os valores cruzando numerador e denominador.</a:t>
            </a:r>
            <a:endParaRPr lang="en-US" sz="1620" dirty="0"/>
          </a:p>
        </p:txBody>
      </p:sp>
      <p:sp>
        <p:nvSpPr>
          <p:cNvPr id="7" name="65e68bb9-5ac5-4f7c-ab89-ac31dd42259e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047dd62f-95f1-47e1-b4cb-c72d54be7d9b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quantidade de trabalhadores e o tempo para concluir uma tarefa de ritmo constante são grandezas inversamente proporcionais.</a:t>
            </a:r>
            <a:endParaRPr lang="en-US" sz="1620" dirty="0"/>
          </a:p>
        </p:txBody>
      </p:sp>
      <p:sp>
        <p:nvSpPr>
          <p:cNvPr id="9" name="e43b226f-501e-4b0c-a8d5-e858804725e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9e9a45ef-3bf5-458b-aad3-30739f2fa17f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triplicar a velocidade de atendimento em um caixa, o tempo de espera do cliente triplica.</a:t>
            </a:r>
            <a:endParaRPr lang="en-US" sz="1620" dirty="0"/>
          </a:p>
        </p:txBody>
      </p:sp>
      <p:sp>
        <p:nvSpPr>
          <p:cNvPr id="11" name="fe85bf7d-4e07-4bf9-b676-c7f9872d450b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07b85864-f386-436d-b7f4-01903284ed4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custo variável total de uma fábrica cresce em proporção direta com o volume de unidades fabricadas.</a:t>
            </a:r>
            <a:endParaRPr lang="en-US" sz="1620" dirty="0"/>
          </a:p>
        </p:txBody>
      </p:sp>
      <p:sp>
        <p:nvSpPr>
          <p:cNvPr id="13" name="2f4ff4e9-37e2-4f2e-83e0-79e12e99601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323fc289-fed8-44ae-b506-29577d6f4469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  <p:sp>
        <p:nvSpPr>
          <p:cNvPr id="15" name="c4087731-8b52-4554-8163-60fedca48814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4" descr="/home/forge/chalkie-production-workers-3/releases/77481733/backend/storage/app/render-specs/3d416761-999c-4b92-a2c6-b5492123996d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2b3075e-c865-4d0c-8af7-a2dbd6feb0c6" descr="/home/forge/chalkie-production-workers-3/releases/77481733/backend/storage/app/render-specs/3d416761-999c-4b92-a2c6-b5492123996d/img_071de5c823ea3ae943514d5b6ecb069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b1557f25-1a33-43f1-b7d6-6f98cede78e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Conexão com a Próxima Aula</a:t>
            </a:r>
            <a:endParaRPr lang="en-US" sz="2880" dirty="0"/>
          </a:p>
        </p:txBody>
      </p:sp>
      <p:sp>
        <p:nvSpPr>
          <p:cNvPr id="5" name="1cbf1708-a9e7-457d-9d1c-748ae2068e1e"/>
          <p:cNvSpPr/>
          <p:nvPr/>
        </p:nvSpPr>
        <p:spPr>
          <a:xfrm>
            <a:off x="285750" y="857250"/>
            <a:ext cx="147447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PRÁTICA</a:t>
            </a:r>
            <a:endParaRPr lang="en-US" sz="1080" dirty="0"/>
          </a:p>
        </p:txBody>
      </p:sp>
      <p:sp>
        <p:nvSpPr>
          <p:cNvPr id="6" name="08cc89e5-89d0-46b2-9fac-c30ab3f16dbd"/>
          <p:cNvSpPr/>
          <p:nvPr/>
        </p:nvSpPr>
        <p:spPr>
          <a:xfrm>
            <a:off x="285750" y="116586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Dominamos operações, proporções e dimensionamento de recursos. Na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 2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veremos: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Porcentagem, margens e descontos.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Média, mediana e moda.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Padrões em séries temporais.</a:t>
            </a:r>
            <a:endParaRPr lang="en-US" sz="1620" dirty="0"/>
          </a:p>
        </p:txBody>
      </p:sp>
      <p:sp>
        <p:nvSpPr>
          <p:cNvPr id="7" name="cdb6d312-2f43-470a-9ee0-30ee30752d00_card"/>
          <p:cNvSpPr/>
          <p:nvPr/>
        </p:nvSpPr>
        <p:spPr>
          <a:xfrm>
            <a:off x="285750" y="318897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cdb6d312-2f43-470a-9ee0-30ee30752d00_emoji"/>
          <p:cNvSpPr/>
          <p:nvPr/>
        </p:nvSpPr>
        <p:spPr>
          <a:xfrm>
            <a:off x="400050" y="33375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cdb6d312-2f43-470a-9ee0-30ee30752d00_text"/>
          <p:cNvSpPr/>
          <p:nvPr/>
        </p:nvSpPr>
        <p:spPr>
          <a:xfrm>
            <a:off x="765810" y="330327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Matemática converte dados brutos em decisões lucrativas.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Matemáticos para Gestão</dc:title>
  <dc:subject>PptxGenJS Presentation</dc:subject>
  <dc:creator>PptxGenJS</dc:creator>
  <cp:lastModifiedBy>PptxGenJS</cp:lastModifiedBy>
  <cp:revision>1</cp:revision>
  <dcterms:created xsi:type="dcterms:W3CDTF">2026-09-11T10:48:07Z</dcterms:created>
  <dcterms:modified xsi:type="dcterms:W3CDTF">2026-09-11T10:48:07Z</dcterms:modified>
</cp:coreProperties>
</file>