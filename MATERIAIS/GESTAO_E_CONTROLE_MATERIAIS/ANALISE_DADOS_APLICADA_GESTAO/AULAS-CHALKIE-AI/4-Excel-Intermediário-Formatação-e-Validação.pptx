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embeddedFontLst>
    <p:embeddedFont>
      <p:font typeface="Inter"/>
      <p:regular r:id="rId50"/>
      <p:bold r:id="rId51"/>
    </p:embeddedFont>
    <p:embeddedFont>
      <p:font typeface="Karla"/>
      <p:regular r:id="rId5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font" Target="fonts/font1.fntdata"/><Relationship Id="rId51" Type="http://schemas.openxmlformats.org/officeDocument/2006/relationships/font" Target="fonts/font2.fntdata"/><Relationship Id="rId5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Y3DQxPlpxs" TargetMode="External"/><Relationship Id="rId1" Type="http://schemas.openxmlformats.org/officeDocument/2006/relationships/image" Target="../media/image-27-1.png"/><Relationship Id="rId2" Type="http://schemas.openxmlformats.org/officeDocument/2006/relationships/image" Target="../media/image-27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Relationship Id="rId6" Type="http://schemas.openxmlformats.org/officeDocument/2006/relationships/video" Target="https://www.youtube.com/embed/MY3DQxPlpxs?feature=oembed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halkie.ai/player/a2b70bdf-f0a1-424a-a3ad-ccdfffe37382/2ef31c9e-9d73-4cbf-b581-0b3dd4f2f841?source=exported_presentation&amp;exportFormat=powerpoint" TargetMode="External"/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halkie.ai/player/a2b70bdf-f0a1-424a-a3ad-ccdfffe37382/2ef31c9e-9d73-4cbf-b581-0b3dd4f2f841?source=exported_presentation&amp;exportFormat=powerpoint" TargetMode="External"/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d257516e-ea5f-4178-b2cf-73097a996ea5" descr="/home/forge/chalkie-production-workers-3/releases/77481733/backend/storage/app/render-specs/89dc6e1f-7a67-4474-ab8c-f028990bfa7a/img_32a7b7d5e770b2848cb644c165c66cf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4" name="b1c72745-a5b7-4cd1-9697-89cb12ff16fe"/>
          <p:cNvSpPr/>
          <p:nvPr/>
        </p:nvSpPr>
        <p:spPr>
          <a:xfrm>
            <a:off x="4914900" y="1165860"/>
            <a:ext cx="382905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88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24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Intermediário: Formatação e Validação</a:t>
            </a:r>
            <a:endParaRPr lang="en-US" sz="3240" dirty="0"/>
          </a:p>
        </p:txBody>
      </p:sp>
      <p:sp>
        <p:nvSpPr>
          <p:cNvPr id="5" name="aa2f1755-0086-424f-ad35-7b32a0fdd2ea"/>
          <p:cNvSpPr/>
          <p:nvPr/>
        </p:nvSpPr>
        <p:spPr>
          <a:xfrm>
            <a:off x="4914900" y="2823210"/>
            <a:ext cx="382905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Técnicas essenciais de apresentação visual, integridade e segurança de planilhas.</a:t>
            </a:r>
            <a:endParaRPr lang="en-US" sz="1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c2a57b3-2f5f-4ea3-a1bb-3e45045cd85c" descr="/home/forge/chalkie-production-workers-3/releases/77481733/backend/storage/app/render-specs/89dc6e1f-7a67-4474-ab8c-f028990bfa7a/img_917a0cc56b1c5413720313384ca008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bac36226-7fd7-423f-ac96-ba1e79425c0f"/>
          <p:cNvSpPr/>
          <p:nvPr/>
        </p:nvSpPr>
        <p:spPr>
          <a:xfrm>
            <a:off x="285750" y="146304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Poder da Primeira Impressão</a:t>
            </a:r>
            <a:endParaRPr lang="en-US" sz="2880" dirty="0"/>
          </a:p>
        </p:txBody>
      </p:sp>
      <p:sp>
        <p:nvSpPr>
          <p:cNvPr id="5" name="efc73ac1-d143-407b-9ad8-932c39f9d9bc"/>
          <p:cNvSpPr/>
          <p:nvPr/>
        </p:nvSpPr>
        <p:spPr>
          <a:xfrm>
            <a:off x="285750" y="251460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confiaria as finanças de uma grande empresa a uma planilha confusa, cheia de erros de digitação e sem alinhamento?</a:t>
            </a:r>
            <a:endParaRPr lang="en-US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1d366d2-4f04-4dbd-898c-ce35c3efab86" descr="/home/forge/chalkie-production-workers-3/releases/77481733/backend/storage/app/render-specs/89dc6e1f-7a67-4474-ab8c-f028990bfa7a/img_b93aa5d1e714736a691ed1d256d103d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a316fdaa-86d8-4c8f-ad6e-35aa974caea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de Aprendizagem</a:t>
            </a:r>
            <a:endParaRPr lang="en-US" sz="2880" dirty="0"/>
          </a:p>
        </p:txBody>
      </p:sp>
      <p:sp>
        <p:nvSpPr>
          <p:cNvPr id="5" name="5e9ccf7f-10f9-423f-9436-69da226041a9"/>
          <p:cNvSpPr/>
          <p:nvPr/>
        </p:nvSpPr>
        <p:spPr>
          <a:xfrm>
            <a:off x="285750" y="788670"/>
            <a:ext cx="45720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dominaremos hoje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Nesta aula, desenvolveremos competências essenciais para construir relatórios gerenciais funcionais, elegantes e seguros: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Formatar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dados com moedas, percentuais e regras visuais condicionais.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Controlar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entradas utilizando validação de dados e listas suspensas.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Proteger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fórmulas críticas e filtrar registros para tomada de decisão.</a:t>
            </a:r>
            <a:endParaRPr lang="en-US" sz="1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76f46920-7bde-46f2-81ae-1218a5312fd8" descr="/home/forge/chalkie-production-workers-3/releases/77481733/backend/storage/app/render-specs/89dc6e1f-7a67-4474-ab8c-f028990bfa7a/img_75a783b831b69c89b618c40b77fe27c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c2757e0f-5c8f-4a77-897f-a3f0137d7972" descr="/home/forge/chalkie-production-workers-3/releases/77481733/backend/storage/app/render-specs/89dc6e1f-7a67-4474-ab8c-f028990bfa7a/img_da3acfc5d26087773709a8e6dae4ecf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c1b0da18-5657-4c64-81a8-9f4aaddf151a" descr="/home/forge/chalkie-production-workers-3/releases/77481733/backend/storage/app/render-specs/89dc6e1f-7a67-4474-ab8c-f028990bfa7a/img_7e19aceb83f87fd21eedac74425f8c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6" name="065a6ce5-3657-4008-be14-c54e1cc7a2da" descr="/home/forge/chalkie-production-workers-3/releases/77481733/backend/storage/app/render-specs/89dc6e1f-7a67-4474-ab8c-f028990bfa7a/img_b189a1a630f71a12d81fe4b3bd1c756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5c350dda-6e40-4983-aa06-16d1f7d84a8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Vocabulário Essencial da Aula</a:t>
            </a:r>
            <a:endParaRPr lang="en-US" sz="2880" dirty="0"/>
          </a:p>
        </p:txBody>
      </p:sp>
      <p:sp>
        <p:nvSpPr>
          <p:cNvPr id="8" name="17eb1cda-6d86-4544-b2a5-28da671a7e6a"/>
          <p:cNvSpPr/>
          <p:nvPr/>
        </p:nvSpPr>
        <p:spPr>
          <a:xfrm>
            <a:off x="285750" y="34175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que restringem os valores que um usuário pode inserir.</a:t>
            </a:r>
            <a:endParaRPr lang="en-US" sz="1980" dirty="0"/>
          </a:p>
        </p:txBody>
      </p:sp>
      <p:sp>
        <p:nvSpPr>
          <p:cNvPr id="9" name="686f7078-427a-49d6-ad15-a22b80d500fb"/>
          <p:cNvSpPr/>
          <p:nvPr/>
        </p:nvSpPr>
        <p:spPr>
          <a:xfrm>
            <a:off x="2491740" y="27317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Formatação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visual de tipos numéricos, bordas, fontes e cores.</a:t>
            </a:r>
            <a:endParaRPr lang="en-US" sz="1980" dirty="0"/>
          </a:p>
        </p:txBody>
      </p:sp>
      <p:sp>
        <p:nvSpPr>
          <p:cNvPr id="10" name="e8cbe47e-dcad-46fa-9adc-a394760d9415"/>
          <p:cNvSpPr/>
          <p:nvPr/>
        </p:nvSpPr>
        <p:spPr>
          <a:xfrm>
            <a:off x="4686300" y="34175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Ferramenta que oculta temporariamente dados fora de critérios específicos.</a:t>
            </a:r>
            <a:endParaRPr lang="en-US" sz="1980" dirty="0"/>
          </a:p>
        </p:txBody>
      </p:sp>
      <p:sp>
        <p:nvSpPr>
          <p:cNvPr id="11" name="76aa0f11-e077-4386-a77c-80ccf45e3e33"/>
          <p:cNvSpPr/>
          <p:nvPr/>
        </p:nvSpPr>
        <p:spPr>
          <a:xfrm>
            <a:off x="6892290" y="27317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Proteção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Bloqueio de células contra edições não autorizadas com ou sem senha.</a:t>
            </a:r>
            <a:endParaRPr lang="en-US" sz="1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5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33c117a-0679-459e-9275-fe2093b3e865" descr="/home/forge/chalkie-production-workers-3/releases/77481733/backend/storage/app/render-specs/89dc6e1f-7a67-4474-ab8c-f028990bfa7a/img_d5d745f1ef46368ff0047349624166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232a9873-8a54-4c3a-97b1-5c79cf2dcbf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Revisão: Fórmulas e Função SE</a:t>
            </a:r>
            <a:endParaRPr lang="en-US" sz="2880" dirty="0"/>
          </a:p>
        </p:txBody>
      </p:sp>
      <p:sp>
        <p:nvSpPr>
          <p:cNvPr id="5" name="9983a42a-e05c-472e-b5a5-cb079e6493cd"/>
          <p:cNvSpPr/>
          <p:nvPr/>
        </p:nvSpPr>
        <p:spPr>
          <a:xfrm>
            <a:off x="4286250" y="857250"/>
            <a:ext cx="141732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RECAPITULAÇÃO</a:t>
            </a:r>
            <a:endParaRPr lang="en-US" sz="1080" dirty="0"/>
          </a:p>
        </p:txBody>
      </p:sp>
      <p:sp>
        <p:nvSpPr>
          <p:cNvPr id="6" name="d6983515-2429-4aa7-838c-7d5d9427cc1d"/>
          <p:cNvSpPr/>
          <p:nvPr/>
        </p:nvSpPr>
        <p:spPr>
          <a:xfrm>
            <a:off x="4286250" y="1165860"/>
            <a:ext cx="4572000" cy="25557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vimos na aula anterior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aula passada, exploramos funções essenciais como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além da lógica condicional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permite que a planilha tome decisões automáticas, como categorizar lucros ou sinalizar estoque baixo.</a:t>
            </a:r>
            <a:endParaRPr lang="en-US" sz="1980" dirty="0"/>
          </a:p>
        </p:txBody>
      </p:sp>
      <p:sp>
        <p:nvSpPr>
          <p:cNvPr id="7" name="68378555-809c-4d24-8f80-d98d7f9908d2_card"/>
          <p:cNvSpPr/>
          <p:nvPr/>
        </p:nvSpPr>
        <p:spPr>
          <a:xfrm>
            <a:off x="4286250" y="338328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68378555-809c-4d24-8f80-d98d7f9908d2_emoji"/>
          <p:cNvSpPr/>
          <p:nvPr/>
        </p:nvSpPr>
        <p:spPr>
          <a:xfrm>
            <a:off x="4400550" y="35318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68378555-809c-4d24-8f80-d98d7f9908d2_text"/>
          <p:cNvSpPr/>
          <p:nvPr/>
        </p:nvSpPr>
        <p:spPr>
          <a:xfrm>
            <a:off x="4766310" y="349758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referências absolutas com cifrão ($A$1) fixam células ao arrastar fórmulas.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6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9d5b829-0f70-4912-8ec7-ce530a1d5c2a" descr="/home/forge/chalkie-production-workers-3/releases/77481733/backend/storage/app/render-specs/89dc6e1f-7a67-4474-ab8c-f028990bfa7a/img_74db676abbf9321227487417a15623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4" name="8c41ccde-87a6-4352-a93e-c45dce65162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Rápido: Fórmulas e Referências</a:t>
            </a:r>
            <a:endParaRPr lang="en-US" sz="2880" dirty="0"/>
          </a:p>
        </p:txBody>
      </p:sp>
      <p:sp>
        <p:nvSpPr>
          <p:cNvPr id="5" name="f1b56f39-d145-4ed4-a8fc-6de69b92b710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1: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fórmula calcula o valor médio do intervalo de células B2 até B10?</a:t>
            </a:r>
            <a:endParaRPr lang="en-US" sz="1620" dirty="0"/>
          </a:p>
        </p:txBody>
      </p:sp>
      <p:sp>
        <p:nvSpPr>
          <p:cNvPr id="6" name="80b0aa7b-b335-4ea6-822c-b878cbb8c215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2: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caractere é utilizado para transformar uma referência relativa em absoluta (ex: fixar $C$1)?</a:t>
            </a:r>
            <a:endParaRPr lang="en-US" sz="1620" dirty="0"/>
          </a:p>
        </p:txBody>
      </p:sp>
      <p:sp>
        <p:nvSpPr>
          <p:cNvPr id="7" name="29765342-527a-44d4-9263-cb3aa732c5b3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3: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 fórmula =SE(D2&gt;=7; "Aprovado"; "Recuperação") exibe se a célula D2 contiver o número 6?</a:t>
            </a:r>
            <a:endParaRPr lang="en-US" sz="1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7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8c41ccde-87a6-4352-a93e-c45dce65162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Rápido: Fórmulas e Referências</a:t>
            </a:r>
            <a:endParaRPr lang="en-US" sz="2880" dirty="0"/>
          </a:p>
        </p:txBody>
      </p:sp>
      <p:sp>
        <p:nvSpPr>
          <p:cNvPr id="4" name="7d94742a-3d4b-4556-9f18-037d041350f6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1: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=MÉDIA(B2:B10)</a:t>
            </a:r>
            <a:endParaRPr lang="en-US" sz="1620" dirty="0"/>
          </a:p>
        </p:txBody>
      </p:sp>
      <p:sp>
        <p:nvSpPr>
          <p:cNvPr id="5" name="f2101766-b0db-4501-85d7-db734dcae048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2: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caractere cifrão ($)</a:t>
            </a:r>
            <a:endParaRPr lang="en-US" sz="1620" dirty="0"/>
          </a:p>
        </p:txBody>
      </p:sp>
      <p:sp>
        <p:nvSpPr>
          <p:cNvPr id="6" name="b39f5784-68aa-4b12-8251-5fec548b6fd1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3: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Recuperação</a:t>
            </a:r>
            <a:endParaRPr lang="en-US" sz="1620" dirty="0"/>
          </a:p>
        </p:txBody>
      </p:sp>
      <p:sp>
        <p:nvSpPr>
          <p:cNvPr id="7" name="da665031-740a-42e4-ad1d-3d263fd20c8f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8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aeba02c-bcfd-46e7-ba18-38ea75074f7e" descr="/home/forge/chalkie-production-workers-3/releases/77481733/backend/storage/app/render-specs/89dc6e1f-7a67-4474-ab8c-f028990bfa7a/img_1d539bbe1f47b69a214eef859a9d207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6c380df6-a1e3-4680-8bf2-b8b0c42b602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a Formatação Importa?</a:t>
            </a:r>
            <a:endParaRPr lang="en-US" sz="2880" dirty="0"/>
          </a:p>
        </p:txBody>
      </p:sp>
      <p:sp>
        <p:nvSpPr>
          <p:cNvPr id="5" name="f94304b8-cc6d-4d76-b0f3-65fecd615fcf"/>
          <p:cNvSpPr/>
          <p:nvPr/>
        </p:nvSpPr>
        <p:spPr>
          <a:xfrm>
            <a:off x="285750" y="788670"/>
            <a:ext cx="4572000" cy="21076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número isolado como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gera dúvidas imediatas em um relatório executivo. São unidades, quilos ou reais?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formatação profissional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transforma dados brutos em informação legível, evitando interpretações errôneas e conferindo credibilidade aos relatórios gerenciais.</a:t>
            </a:r>
            <a:endParaRPr lang="en-US" sz="1620" dirty="0"/>
          </a:p>
        </p:txBody>
      </p:sp>
      <p:sp>
        <p:nvSpPr>
          <p:cNvPr id="6" name="4e24b07c-e016-4ee7-9c52-49cfef167964_card"/>
          <p:cNvSpPr/>
          <p:nvPr/>
        </p:nvSpPr>
        <p:spPr>
          <a:xfrm>
            <a:off x="285750" y="3131820"/>
            <a:ext cx="4572000" cy="1595628"/>
          </a:xfrm>
          <a:prstGeom prst="roundRect">
            <a:avLst>
              <a:gd name="adj" fmla="val 5731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4e24b07c-e016-4ee7-9c52-49cfef167964_emoji"/>
          <p:cNvSpPr/>
          <p:nvPr/>
        </p:nvSpPr>
        <p:spPr>
          <a:xfrm>
            <a:off x="400050" y="32804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4e24b07c-e016-4ee7-9c52-49cfef167964_text"/>
          <p:cNvSpPr/>
          <p:nvPr/>
        </p:nvSpPr>
        <p:spPr>
          <a:xfrm>
            <a:off x="765810" y="3246120"/>
            <a:ext cx="3977640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Formatar altera apenas a exibição visual do dado, mantendo o valor numérico exato na memória para cálculos.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9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4a5a1a4-c8f8-473f-a346-f0cc30f9a5c1" descr="/home/forge/chalkie-production-workers-3/releases/77481733/backend/storage/app/render-specs/89dc6e1f-7a67-4474-ab8c-f028990bfa7a/img_30be451e09953950f0e2731b8653c0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95e87687-eb67-4a88-96a2-4908897d23cb" descr="/home/forge/chalkie-production-workers-3/releases/77481733/backend/storage/app/render-specs/89dc6e1f-7a67-4474-ab8c-f028990bfa7a/img_6ffeb8dc7541082f33c7684835f6cc5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f808634e-dfad-4829-8f1c-ec1f00268172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Tipos Numéricos: Moedas e Percentuais</a:t>
            </a:r>
            <a:endParaRPr lang="en-US" sz="2880" dirty="0"/>
          </a:p>
        </p:txBody>
      </p:sp>
      <p:sp>
        <p:nvSpPr>
          <p:cNvPr id="6" name="f7db1d20-6f34-46ca-9234-1258bfc2258a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Contábil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Alinha o símbolo monetário (R$) à esquerda e as casas decimais perfeitamente à direita, facilitando a leitura vertical de balanços.</a:t>
            </a:r>
            <a:endParaRPr lang="en-US" sz="1980" dirty="0"/>
          </a:p>
        </p:txBody>
      </p:sp>
      <p:sp>
        <p:nvSpPr>
          <p:cNvPr id="7" name="7332e8ca-6d15-4db4-80a7-3b0358e0913c"/>
          <p:cNvSpPr/>
          <p:nvPr/>
        </p:nvSpPr>
        <p:spPr>
          <a:xfrm>
            <a:off x="4652010" y="30175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Porcentagem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Multiplica visualmente o valor decimal armazenado por 100 e adiciona o símbolo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exibindo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0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f7626983-cf72-4581-a3f2-dc95dadeb00f" descr="/home/forge/chalkie-production-workers-3/releases/77481733/backend/storage/app/render-specs/89dc6e1f-7a67-4474-ab8c-f028990bfa7a/img_bf2fd38881fc6d351a09f2968ad81b8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4d4defe4-848c-468b-9937-bf1219cf30b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Casas Decimais e Formatos de Data</a:t>
            </a:r>
            <a:endParaRPr lang="en-US" sz="2880" dirty="0"/>
          </a:p>
        </p:txBody>
      </p:sp>
      <p:sp>
        <p:nvSpPr>
          <p:cNvPr id="5" name="d538152c-10a1-4b47-8bcf-4e8302316f85"/>
          <p:cNvSpPr/>
          <p:nvPr/>
        </p:nvSpPr>
        <p:spPr>
          <a:xfrm>
            <a:off x="4286250" y="78867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Precisão e Temporalidade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controle de decimais evita poluição visual: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Aumentar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essencial para cotações e precisão.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Diminuir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ideal para relatórios e resumos.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converte números em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</p:txBody>
      </p:sp>
      <p:sp>
        <p:nvSpPr>
          <p:cNvPr id="6" name="5e92bd66-4c0c-4593-bcb7-f24ac14aeee2_card"/>
          <p:cNvSpPr/>
          <p:nvPr/>
        </p:nvSpPr>
        <p:spPr>
          <a:xfrm>
            <a:off x="4286250" y="342900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FCEBEB"/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5e92bd66-4c0c-4593-bcb7-f24ac14aeee2_emoji"/>
          <p:cNvSpPr/>
          <p:nvPr/>
        </p:nvSpPr>
        <p:spPr>
          <a:xfrm>
            <a:off x="4400550" y="35775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5e92bd66-4c0c-4593-bcb7-f24ac14aeee2_text"/>
          <p:cNvSpPr/>
          <p:nvPr/>
        </p:nvSpPr>
        <p:spPr>
          <a:xfrm>
            <a:off x="4766310" y="354330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Ocultar decimais apenas arredonda a exibição; a planilha mantém os cálculos originais!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1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634cdfa4-7073-4fc3-bef0-a23d31ea35b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Verificação: Formatos Numéricos</a:t>
            </a:r>
            <a:endParaRPr lang="en-US" sz="2880" dirty="0"/>
          </a:p>
        </p:txBody>
      </p:sp>
      <p:sp>
        <p:nvSpPr>
          <p:cNvPr id="4" name="ce533609-ce9c-45b4-9fed-431322340f0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você digitar o número 0,25 em uma célula e aplicar a formatação de Porcentagem (com zero casas decimais), o que aparecerá na tela?</a:t>
            </a:r>
            <a:endParaRPr lang="en-US" sz="1620" dirty="0"/>
          </a:p>
        </p:txBody>
      </p:sp>
      <p:sp>
        <p:nvSpPr>
          <p:cNvPr id="5" name="7a40e4d5-4b8e-4a3b-96ae-9538ffe923b1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dd10ba0a-64f3-4c10-88d1-316067af2bbe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620" dirty="0"/>
          </a:p>
        </p:txBody>
      </p:sp>
      <p:sp>
        <p:nvSpPr>
          <p:cNvPr id="7" name="05b1d92f-cf1e-4f11-bc0f-d80d3ff5f112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d4611743-0cb0-41b1-b405-e16c6e0f17bb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1620" dirty="0"/>
          </a:p>
        </p:txBody>
      </p:sp>
      <p:sp>
        <p:nvSpPr>
          <p:cNvPr id="9" name="6476b705-1d89-4898-95fa-912bb91e0c9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3cefbb79-5566-417d-8610-90782b71924c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0,25%</a:t>
            </a:r>
            <a:endParaRPr lang="en-US" sz="1620" dirty="0"/>
          </a:p>
        </p:txBody>
      </p:sp>
      <p:sp>
        <p:nvSpPr>
          <p:cNvPr id="11" name="209869b4-eb7f-419f-b996-c9ac08ac7aca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7c959383-1348-44bc-a83f-29b44e5e903a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250%</a:t>
            </a:r>
            <a:endParaRPr lang="en-US" sz="1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2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634cdfa4-7073-4fc3-bef0-a23d31ea35b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Verificação: Formatos Numéricos</a:t>
            </a:r>
            <a:endParaRPr lang="en-US" sz="2880" dirty="0"/>
          </a:p>
        </p:txBody>
      </p:sp>
      <p:sp>
        <p:nvSpPr>
          <p:cNvPr id="4" name="ce533609-ce9c-45b4-9fed-431322340f0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você digitar o número 0,25 em uma célula e aplicar a formatação de Porcentagem (com zero casas decimais), o que aparecerá na tela?</a:t>
            </a:r>
            <a:endParaRPr lang="en-US" sz="1620" dirty="0"/>
          </a:p>
        </p:txBody>
      </p:sp>
      <p:sp>
        <p:nvSpPr>
          <p:cNvPr id="5" name="7a40e4d5-4b8e-4a3b-96ae-9538ffe923b1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dd10ba0a-64f3-4c10-88d1-316067af2bbe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620" dirty="0"/>
          </a:p>
        </p:txBody>
      </p:sp>
      <p:sp>
        <p:nvSpPr>
          <p:cNvPr id="7" name="05b1d92f-cf1e-4f11-bc0f-d80d3ff5f112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d4611743-0cb0-41b1-b405-e16c6e0f17bb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1620" dirty="0"/>
          </a:p>
        </p:txBody>
      </p:sp>
      <p:sp>
        <p:nvSpPr>
          <p:cNvPr id="9" name="6476b705-1d89-4898-95fa-912bb91e0c9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3cefbb79-5566-417d-8610-90782b71924c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0,25%</a:t>
            </a:r>
            <a:endParaRPr lang="en-US" sz="1620" dirty="0"/>
          </a:p>
        </p:txBody>
      </p:sp>
      <p:sp>
        <p:nvSpPr>
          <p:cNvPr id="11" name="209869b4-eb7f-419f-b996-c9ac08ac7aca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7c959383-1348-44bc-a83f-29b44e5e903a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250%</a:t>
            </a:r>
            <a:endParaRPr lang="en-US" sz="1620" dirty="0"/>
          </a:p>
        </p:txBody>
      </p:sp>
      <p:sp>
        <p:nvSpPr>
          <p:cNvPr id="13" name="7f607a76-f38a-476a-b8d6-49ede416285c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91e9acf9-81f6-450b-a827-08a6d3862322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3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5aabcd6-0d62-48b4-86f8-1d1292d96beb" descr="/home/forge/chalkie-production-workers-3/releases/77481733/backend/storage/app/render-specs/89dc6e1f-7a67-4474-ab8c-f028990bfa7a/img_f53de5f3be5552ac0b02e85aafa6cdd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4" name="c9c25359-1618-4389-a1fd-caaf1c7ac681"/>
          <p:cNvSpPr/>
          <p:nvPr/>
        </p:nvSpPr>
        <p:spPr>
          <a:xfrm>
            <a:off x="285750" y="206883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Formatação Condicional em Destaque</a:t>
            </a:r>
            <a:endParaRPr lang="en-US" sz="2880" dirty="0"/>
          </a:p>
        </p:txBody>
      </p:sp>
      <p:sp>
        <p:nvSpPr>
          <p:cNvPr id="5" name="f1380664-d126-4fa2-a296-d37f327b3d1d"/>
          <p:cNvSpPr/>
          <p:nvPr/>
        </p:nvSpPr>
        <p:spPr>
          <a:xfrm>
            <a:off x="285750" y="268605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formatação condicional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altera cores, fontes e preenchimentos automaticamente com base em critérios lógicos pré-estabelecidos.</a:t>
            </a:r>
            <a:endParaRPr lang="en-US" sz="1620" dirty="0"/>
          </a:p>
        </p:txBody>
      </p:sp>
      <p:sp>
        <p:nvSpPr>
          <p:cNvPr id="6" name="757e461d-3791-476d-b9a7-18b4f4046f80_card"/>
          <p:cNvSpPr/>
          <p:nvPr/>
        </p:nvSpPr>
        <p:spPr>
          <a:xfrm>
            <a:off x="285750" y="3486150"/>
            <a:ext cx="8572500" cy="1101852"/>
          </a:xfrm>
          <a:prstGeom prst="roundRect">
            <a:avLst>
              <a:gd name="adj" fmla="val 8299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757e461d-3791-476d-b9a7-18b4f4046f80_emoji"/>
          <p:cNvSpPr/>
          <p:nvPr/>
        </p:nvSpPr>
        <p:spPr>
          <a:xfrm>
            <a:off x="400050" y="36347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757e461d-3791-476d-b9a7-18b4f4046f80_text"/>
          <p:cNvSpPr/>
          <p:nvPr/>
        </p:nvSpPr>
        <p:spPr>
          <a:xfrm>
            <a:off x="765810" y="3600450"/>
            <a:ext cx="79781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Pintar automaticamente de vermelho todas as despesas acima do orçamento ou destacar em verde metas superadas.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4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7a0cb10a-34c8-4ed4-8953-8ef01cc251bc" descr="/home/forge/chalkie-production-workers-3/releases/77481733/backend/storage/app/render-specs/89dc6e1f-7a67-4474-ab8c-f028990bfa7a/img_626a7997aa1ca326346117a8541168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7a404948-fcdf-4080-9bdc-d2ef80b1bf83" descr="/home/forge/chalkie-production-workers-3/releases/77481733/backend/storage/app/render-specs/89dc6e1f-7a67-4474-ab8c-f028990bfa7a/img_d7ee2208fadd272b65882516319ce76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a3682adc-01c4-46c2-ad32-bdd1761297c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Escalas de Cores e Barras de Dados</a:t>
            </a:r>
            <a:endParaRPr lang="en-US" sz="2880" dirty="0"/>
          </a:p>
        </p:txBody>
      </p:sp>
      <p:sp>
        <p:nvSpPr>
          <p:cNvPr id="6" name="fada21f4-9bc1-459b-a46d-78a3c60a8448"/>
          <p:cNvSpPr/>
          <p:nvPr/>
        </p:nvSpPr>
        <p:spPr>
          <a:xfrm>
            <a:off x="285750" y="298323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Barras de Dados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Inserem uma barra horizontal proporcional ao valor contido na própria célula, criando um minigráfico instantâneo.</a:t>
            </a:r>
            <a:endParaRPr lang="en-US" sz="1980" dirty="0"/>
          </a:p>
        </p:txBody>
      </p:sp>
      <p:sp>
        <p:nvSpPr>
          <p:cNvPr id="7" name="c61f684b-7ff4-4695-b873-be277fbf4f90"/>
          <p:cNvSpPr/>
          <p:nvPr/>
        </p:nvSpPr>
        <p:spPr>
          <a:xfrm>
            <a:off x="4652010" y="298323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Escalas de Cor (Mapas de Calor)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Aplicam gradientes contínuos para identificar visualmente discrepâncias, pontos críticos e líderes de desempenho.</a:t>
            </a:r>
            <a:endParaRPr lang="en-US" sz="19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5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64cb8551-9d55-48b8-9055-8484b4db4b1a" descr="/home/forge/chalkie-production-workers-3/releases/77481733/backend/storage/app/render-specs/89dc6e1f-7a67-4474-ab8c-f028990bfa7a/img_6fca25a1d3a7ac1019df7d9ed303bc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f3096972-cfa7-45aa-9fbd-94a6667908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Baseadas em Fórmulas</a:t>
            </a:r>
            <a:endParaRPr lang="en-US" sz="2880" dirty="0"/>
          </a:p>
        </p:txBody>
      </p:sp>
      <p:sp>
        <p:nvSpPr>
          <p:cNvPr id="5" name="4a305c74-b747-4bb5-b3a8-7ba5cbf6111d"/>
          <p:cNvSpPr/>
          <p:nvPr/>
        </p:nvSpPr>
        <p:spPr>
          <a:xfrm>
            <a:off x="285750" y="78867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Além das regras padrão, você pode usar fórmulas personalizadas para formatar uma linha inteira com base em uma única célula.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exemplo, aplicar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colore toda a linha do item sempre que a quantidade em estoque for crítica, agilizando compras.</a:t>
            </a:r>
            <a:endParaRPr lang="en-US" sz="1620" dirty="0"/>
          </a:p>
        </p:txBody>
      </p:sp>
      <p:sp>
        <p:nvSpPr>
          <p:cNvPr id="6" name="2fa65aad-a790-4e87-b99c-678f90059672_card"/>
          <p:cNvSpPr/>
          <p:nvPr/>
        </p:nvSpPr>
        <p:spPr>
          <a:xfrm>
            <a:off x="285750" y="289179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2fa65aad-a790-4e87-b99c-678f90059672_emoji"/>
          <p:cNvSpPr/>
          <p:nvPr/>
        </p:nvSpPr>
        <p:spPr>
          <a:xfrm>
            <a:off x="400050" y="30403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2fa65aad-a790-4e87-b99c-678f90059672_text"/>
          <p:cNvSpPr/>
          <p:nvPr/>
        </p:nvSpPr>
        <p:spPr>
          <a:xfrm>
            <a:off x="765810" y="300609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 a coluna com o cifrão ($D2) para que a regra avalie a mesma coluna em todas as células da linha.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6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5a1b6e2c-b3be-4bbe-b583-c8e9586324a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Avaliação: Formatação Condicional</a:t>
            </a:r>
            <a:endParaRPr lang="en-US" sz="2880" dirty="0"/>
          </a:p>
        </p:txBody>
      </p:sp>
      <p:sp>
        <p:nvSpPr>
          <p:cNvPr id="4" name="38852765-5516-43b9-be27-4b50cad01bf4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38852765-5516-43b9-be27-4b50cad01bf4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formatação condicional substitui definitivamente o valor numérico contido na célula.</a:t>
            </a:r>
            <a:endParaRPr lang="en-US" sz="1620" dirty="0"/>
          </a:p>
        </p:txBody>
      </p:sp>
      <p:sp>
        <p:nvSpPr>
          <p:cNvPr id="6" name="9c6da316-70fb-472a-8264-82f843f3af25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</a:t>
            </a:r>
            <a:endParaRPr lang="en-US" sz="2340" dirty="0"/>
          </a:p>
        </p:txBody>
      </p:sp>
      <p:sp>
        <p:nvSpPr>
          <p:cNvPr id="7" name="caa65c9a-20d4-4867-bf31-570eae3b25a3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👎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</a:t>
            </a:r>
            <a:endParaRPr lang="en-US" sz="2340" dirty="0"/>
          </a:p>
        </p:txBody>
      </p:sp>
      <p:sp>
        <p:nvSpPr>
          <p:cNvPr id="8" name="3fe6c1e3-0c0c-4686-acba-152386808c0a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🤔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i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Prepare-se para explicar o seu raciocínio.</a:t>
            </a:r>
            <a:endParaRPr lang="en-US" sz="16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7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5a1b6e2c-b3be-4bbe-b583-c8e9586324a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Avaliação: Formatação Condicional</a:t>
            </a:r>
            <a:endParaRPr lang="en-US" sz="2880" dirty="0"/>
          </a:p>
        </p:txBody>
      </p:sp>
      <p:sp>
        <p:nvSpPr>
          <p:cNvPr id="4" name="38852765-5516-43b9-be27-4b50cad01bf4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38852765-5516-43b9-be27-4b50cad01bf4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formatação condicional substitui definitivamente o valor numérico contido na célula.</a:t>
            </a:r>
            <a:endParaRPr lang="en-US" sz="1620" dirty="0"/>
          </a:p>
        </p:txBody>
      </p:sp>
      <p:sp>
        <p:nvSpPr>
          <p:cNvPr id="6" name="9c6da316-70fb-472a-8264-82f843f3af25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</a:t>
            </a:r>
            <a:endParaRPr lang="en-US" sz="2340" dirty="0"/>
          </a:p>
        </p:txBody>
      </p:sp>
      <p:sp>
        <p:nvSpPr>
          <p:cNvPr id="7" name="caa65c9a-20d4-4867-bf31-570eae3b25a3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👎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</a:t>
            </a:r>
            <a:endParaRPr lang="en-US" sz="2340" dirty="0"/>
          </a:p>
        </p:txBody>
      </p:sp>
      <p:sp>
        <p:nvSpPr>
          <p:cNvPr id="8" name="e76c2868-13a0-47a7-945f-9a37dd56445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9" name="1d7eac9b-a79b-4f11-a057-1d301ffd0bc0_card"/>
          <p:cNvSpPr/>
          <p:nvPr/>
        </p:nvSpPr>
        <p:spPr>
          <a:xfrm>
            <a:off x="457200" y="3657600"/>
            <a:ext cx="82296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10" name="1d7eac9b-a79b-4f11-a057-1d301ffd0bc0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1" name="1d7eac9b-a79b-4f11-a057-1d301ffd0bc0_text"/>
          <p:cNvSpPr/>
          <p:nvPr/>
        </p:nvSpPr>
        <p:spPr>
          <a:xfrm>
            <a:off x="937260" y="3771900"/>
            <a:ext cx="76352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é isso?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ferramenta altera apenas a aparência visual, mantendo o número intacto para fórmulas.</a:t>
            </a:r>
            <a:endParaRPr lang="en-US" sz="1440" dirty="0"/>
          </a:p>
        </p:txBody>
      </p:sp>
      <p:sp>
        <p:nvSpPr>
          <p:cNvPr id="12" name="e3f23873-2174-4f16-92fe-a12380138f3a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8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ed0444bd-fbfc-4a07-8314-9c59f1c263f9" descr="/home/forge/chalkie-production-workers-3/releases/77481733/backend/storage/app/render-specs/89dc6e1f-7a67-4474-ab8c-f028990bfa7a/img_dd4315e8743fee1111268eace3442b9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a9b7bf0e-b36f-43a2-a219-61cfadeebaa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e Padronização de Planilhas</a:t>
            </a:r>
            <a:endParaRPr lang="en-US" sz="2880" dirty="0"/>
          </a:p>
        </p:txBody>
      </p:sp>
      <p:sp>
        <p:nvSpPr>
          <p:cNvPr id="5" name="9027fbb0-f87c-42ff-bba5-02bc8b816f17"/>
          <p:cNvSpPr/>
          <p:nvPr/>
        </p:nvSpPr>
        <p:spPr>
          <a:xfrm>
            <a:off x="285750" y="78867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Diretrizes de Design Corporativo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planilha limpa transmite profissionalismo: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Tipografia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use duas fontes limpas (ex: Calibri, Segoe UI).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adote paleta sóbria; evite saturação excessiva.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Bordas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use linhas finas para separar seções.</a:t>
            </a:r>
            <a:endParaRPr lang="en-US" sz="1980" dirty="0"/>
          </a:p>
        </p:txBody>
      </p:sp>
      <p:sp>
        <p:nvSpPr>
          <p:cNvPr id="6" name="8bf265af-b98c-4ef9-bc0b-d8c32c45f58c_card"/>
          <p:cNvSpPr/>
          <p:nvPr/>
        </p:nvSpPr>
        <p:spPr>
          <a:xfrm>
            <a:off x="285750" y="368046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8bf265af-b98c-4ef9-bc0b-d8c32c45f58c_emoji"/>
          <p:cNvSpPr/>
          <p:nvPr/>
        </p:nvSpPr>
        <p:spPr>
          <a:xfrm>
            <a:off x="400050" y="38290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8bf265af-b98c-4ef9-bc0b-d8c32c45f58c_text"/>
          <p:cNvSpPr/>
          <p:nvPr/>
        </p:nvSpPr>
        <p:spPr>
          <a:xfrm>
            <a:off x="765810" y="379476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Alinhe textos à esquerda e números à direita para leitura rápida.</a:t>
            </a:r>
            <a:endParaRPr lang="en-US" sz="14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9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ece65364-37d8-4a39-abaf-21ba671525ec" descr="/home/forge/chalkie-production-workers-3/releases/77481733/backend/storage/app/render-specs/89dc6e1f-7a67-4474-ab8c-f028990bfa7a/img_0fbb1d1d4f7c37052af94f74b420cd0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5be067af-ce5f-478c-813e-6f2d1ff28ca9" descr="/home/forge/chalkie-production-workers-3/releases/77481733/backend/storage/app/render-specs/89dc6e1f-7a67-4474-ab8c-f028990bfa7a/img_d7c8d86b8ff259b9aeb36f2e7d5b589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e7544fd3-7635-49dd-97f3-78e9a4ce861f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Comparação: Design Amador vs Profissional</a:t>
            </a:r>
            <a:endParaRPr lang="en-US" sz="2880" dirty="0"/>
          </a:p>
        </p:txBody>
      </p:sp>
      <p:sp>
        <p:nvSpPr>
          <p:cNvPr id="6" name="4f7ee134-5b7d-4dee-be16-2a0dfbde9c1c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 Desorganizado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Múltiplas cores saturadas, textos centralizados sem critério, números desalinhados e poluição visual que dificulta a tomada de decisões.</a:t>
            </a:r>
            <a:endParaRPr lang="en-US" sz="1980" dirty="0"/>
          </a:p>
        </p:txBody>
      </p:sp>
      <p:sp>
        <p:nvSpPr>
          <p:cNvPr id="7" name="6dbd2eee-f8b0-4f0c-b2e6-c1850ad9ea3c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 Profissional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Hierarquia clara, cabeçalhos contrastantes, alinhamento técnico perfeito e cores suaves reservadas exclusivamente para indicadores-chave.</a:t>
            </a:r>
            <a:endParaRPr lang="en-US" sz="19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0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ea98f7c-00f3-4a99-b3b7-1b177a050b9c" descr="/home/forge/chalkie-production-workers-3/releases/77481733/backend/storage/app/render-specs/89dc6e1f-7a67-4474-ab8c-f028990bfa7a/img_b6a60f2d212b2f392ab0f8fc36b77b1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096a4d00-a6be-4bf5-9ea9-470ed00f16d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Navegação: Congelamento de Painéis</a:t>
            </a:r>
            <a:endParaRPr lang="en-US" sz="2880" dirty="0"/>
          </a:p>
        </p:txBody>
      </p:sp>
      <p:sp>
        <p:nvSpPr>
          <p:cNvPr id="5" name="4cee59d8-ae2d-4d48-baa2-b3873f34a892"/>
          <p:cNvSpPr/>
          <p:nvPr/>
        </p:nvSpPr>
        <p:spPr>
          <a:xfrm>
            <a:off x="4286250" y="788670"/>
            <a:ext cx="4572000" cy="21076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tabelas extensas com centenas de linhas, rolar a tela faz o cabeçalho desaparecer, tornando impossível identificar o conteúdo das colunas.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recurso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Congelar Painéis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fixa a linha superior ou colunas essenciais, mantendo os títulos sempre visíveis durante a navegação.</a:t>
            </a:r>
            <a:endParaRPr lang="en-US" sz="1620" dirty="0"/>
          </a:p>
        </p:txBody>
      </p:sp>
      <p:sp>
        <p:nvSpPr>
          <p:cNvPr id="6" name="59ea58c5-da85-4bf3-afdc-8f87caa69f19_card"/>
          <p:cNvSpPr/>
          <p:nvPr/>
        </p:nvSpPr>
        <p:spPr>
          <a:xfrm>
            <a:off x="4286250" y="313182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EEDFE"/>
          </a:solidFill>
          <a:ln w="11430">
            <a:solidFill>
              <a:srgbClr val="08044D">
                <a:alpha val="20000"/>
              </a:srgbClr>
            </a:solidFill>
            <a:prstDash val="solid"/>
          </a:ln>
        </p:spPr>
      </p:sp>
      <p:sp>
        <p:nvSpPr>
          <p:cNvPr id="7" name="59ea58c5-da85-4bf3-afdc-8f87caa69f19_emoji"/>
          <p:cNvSpPr/>
          <p:nvPr/>
        </p:nvSpPr>
        <p:spPr>
          <a:xfrm>
            <a:off x="4400550" y="32804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🤯</a:t>
            </a:r>
            <a:endParaRPr lang="en-US" sz="2160" dirty="0"/>
          </a:p>
        </p:txBody>
      </p:sp>
      <p:sp>
        <p:nvSpPr>
          <p:cNvPr id="8" name="59ea58c5-da85-4bf3-afdc-8f87caa69f19_text"/>
          <p:cNvSpPr/>
          <p:nvPr/>
        </p:nvSpPr>
        <p:spPr>
          <a:xfrm>
            <a:off x="4766310" y="324612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04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Curiosidade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04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Excel, você encontra essa opção na guia Exibir &gt; Congelar Painéis.</a:t>
            </a:r>
            <a:endParaRPr lang="en-US" sz="14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1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bb995938-015c-4925-9bd2-9d267f3e8e1e" descr="/home/forge/chalkie-production-workers-3/releases/77481733/backend/storage/app/render-specs/89dc6e1f-7a67-4474-ab8c-f028990bfa7a/img_c7bc39d4f0ee224dca1c93bb26a3b7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b4aa42eb-ad11-46a3-bd97-5b0ab8742f84"/>
          <p:cNvSpPr/>
          <p:nvPr/>
        </p:nvSpPr>
        <p:spPr>
          <a:xfrm>
            <a:off x="285750" y="168021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Desafio dos Dados Ruins</a:t>
            </a:r>
            <a:endParaRPr lang="en-US" sz="2880" dirty="0"/>
          </a:p>
        </p:txBody>
      </p:sp>
      <p:sp>
        <p:nvSpPr>
          <p:cNvPr id="5" name="ea344d45-1298-452e-8360-9ea75a25c3ed"/>
          <p:cNvSpPr/>
          <p:nvPr/>
        </p:nvSpPr>
        <p:spPr>
          <a:xfrm>
            <a:off x="285750" y="229743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um operador digita 'São Paulo', outro 'SP' e um terceiro 'sao paulo', seu filtro corporativo conseguirá consolidar as vendas?</a:t>
            </a:r>
            <a:endParaRPr lang="en-US" sz="16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2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7762061e-f8a3-48bf-b4ad-fbceb052c52f" descr="/home/forge/chalkie-production-workers-3/releases/77481733/backend/storage/app/render-specs/89dc6e1f-7a67-4474-ab8c-f028990bfa7a/img_b3a4c371f92e4a7fd4fc893b3d48595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b66cb336-9314-4916-80b5-cba0fca5b46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Introdução à Validação de Dados</a:t>
            </a:r>
            <a:endParaRPr lang="en-US" sz="2880" dirty="0"/>
          </a:p>
        </p:txBody>
      </p:sp>
      <p:sp>
        <p:nvSpPr>
          <p:cNvPr id="5" name="8b43bcfc-990d-4499-a9ca-c88017a698d3"/>
          <p:cNvSpPr/>
          <p:nvPr/>
        </p:nvSpPr>
        <p:spPr>
          <a:xfrm>
            <a:off x="4286250" y="857250"/>
            <a:ext cx="117729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INTEGRIDADE</a:t>
            </a:r>
            <a:endParaRPr lang="en-US" sz="1080" dirty="0"/>
          </a:p>
        </p:txBody>
      </p:sp>
      <p:sp>
        <p:nvSpPr>
          <p:cNvPr id="6" name="595cf3d3-6dbd-42d5-b482-c55a937f2d27"/>
          <p:cNvSpPr/>
          <p:nvPr/>
        </p:nvSpPr>
        <p:spPr>
          <a:xfrm>
            <a:off x="4286250" y="1165860"/>
            <a:ext cx="457200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Validação de Dados?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de Dados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cria regras para impedir entradas incorretas.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Podemos restringir entradas para números (ex: idade 14-100), datas ou comprimentos de texto.</a:t>
            </a:r>
            <a:endParaRPr lang="en-US" sz="1980" dirty="0"/>
          </a:p>
        </p:txBody>
      </p:sp>
      <p:sp>
        <p:nvSpPr>
          <p:cNvPr id="7" name="23580f95-22f8-403a-9244-5453dbc537bb_card"/>
          <p:cNvSpPr/>
          <p:nvPr/>
        </p:nvSpPr>
        <p:spPr>
          <a:xfrm>
            <a:off x="4286250" y="314325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23580f95-22f8-403a-9244-5453dbc537bb_emoji"/>
          <p:cNvSpPr/>
          <p:nvPr/>
        </p:nvSpPr>
        <p:spPr>
          <a:xfrm>
            <a:off x="4400550" y="32918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23580f95-22f8-403a-9244-5453dbc537bb_text"/>
          <p:cNvSpPr/>
          <p:nvPr/>
        </p:nvSpPr>
        <p:spPr>
          <a:xfrm>
            <a:off x="4766310" y="325755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melhor forma de limpar dados é impedir erros na fonte.</a:t>
            </a:r>
            <a:endParaRPr lang="en-US" sz="14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3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92389abd-e017-4eba-ad1a-ea4013c403e1"/>
          <p:cNvSpPr/>
          <p:nvPr/>
        </p:nvSpPr>
        <p:spPr>
          <a:xfrm>
            <a:off x="17145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4" name="625c56e9-1f9a-487a-909b-74065a04c050"/>
          <p:cNvSpPr/>
          <p:nvPr/>
        </p:nvSpPr>
        <p:spPr>
          <a:xfrm>
            <a:off x="237744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5" name="2cea8334-75f3-4f58-aa35-b7af17bb0fd9"/>
          <p:cNvSpPr/>
          <p:nvPr/>
        </p:nvSpPr>
        <p:spPr>
          <a:xfrm>
            <a:off x="457200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6" name="8a413840-2d56-4fa6-bc54-6358c3627a79"/>
          <p:cNvSpPr/>
          <p:nvPr/>
        </p:nvSpPr>
        <p:spPr>
          <a:xfrm>
            <a:off x="677799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7" name="25ca16a3-b49f-43c3-bbf1-279e911298f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a Passo: Criando Listas Suspensas</a:t>
            </a:r>
            <a:endParaRPr lang="en-US" sz="2880" dirty="0"/>
          </a:p>
        </p:txBody>
      </p:sp>
      <p:sp>
        <p:nvSpPr>
          <p:cNvPr id="8" name="a936a01f-0e46-4132-b176-1d171138b376"/>
          <p:cNvSpPr/>
          <p:nvPr/>
        </p:nvSpPr>
        <p:spPr>
          <a:xfrm>
            <a:off x="285750" y="136017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Selecione as células que receberão o menu suspenso.</a:t>
            </a:r>
            <a:endParaRPr lang="en-US" sz="1620" dirty="0"/>
          </a:p>
        </p:txBody>
      </p:sp>
      <p:sp>
        <p:nvSpPr>
          <p:cNvPr id="9" name="17187e61-6bb5-48b1-900d-184b8fc07fc2"/>
          <p:cNvSpPr/>
          <p:nvPr/>
        </p:nvSpPr>
        <p:spPr>
          <a:xfrm>
            <a:off x="2491740" y="136017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Acesse a guia Dados e clique em Validação de Dados.</a:t>
            </a:r>
            <a:endParaRPr lang="en-US" sz="1620" dirty="0"/>
          </a:p>
        </p:txBody>
      </p:sp>
      <p:sp>
        <p:nvSpPr>
          <p:cNvPr id="10" name="76cdb35c-6c85-4ec9-bbac-def0fced8562"/>
          <p:cNvSpPr/>
          <p:nvPr/>
        </p:nvSpPr>
        <p:spPr>
          <a:xfrm>
            <a:off x="4686300" y="1360170"/>
            <a:ext cx="197739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Permitir, escolha a opção Lista.</a:t>
            </a:r>
            <a:endParaRPr lang="en-US" sz="1620" dirty="0"/>
          </a:p>
        </p:txBody>
      </p:sp>
      <p:sp>
        <p:nvSpPr>
          <p:cNvPr id="11" name="9da2b4b8-ee86-4f24-a6d4-edbad76170a7"/>
          <p:cNvSpPr/>
          <p:nvPr/>
        </p:nvSpPr>
        <p:spPr>
          <a:xfrm>
            <a:off x="6892290" y="136017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Fonte, selecione o intervalo dos valores permitidos.</a:t>
            </a:r>
            <a:endParaRPr lang="en-US" sz="16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4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ab987109-723c-4dbc-a11b-df166c964edb" descr="/home/forge/chalkie-production-workers-3/releases/77481733/backend/storage/app/render-specs/89dc6e1f-7a67-4474-ab8c-f028990bfa7a/img_902878d81b8eab5488766cbc6dc6368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155aa983-f2b1-406b-8e62-2d82004d2aa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Mensagens de Entrada e Alertas de Erro</a:t>
            </a:r>
            <a:endParaRPr lang="en-US" sz="2880" dirty="0"/>
          </a:p>
        </p:txBody>
      </p:sp>
      <p:sp>
        <p:nvSpPr>
          <p:cNvPr id="5" name="01ea5dfe-2cd9-4f47-a22a-de55e465cde9"/>
          <p:cNvSpPr/>
          <p:nvPr/>
        </p:nvSpPr>
        <p:spPr>
          <a:xfrm>
            <a:off x="285750" y="78867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validação oferece comunicação direta com quem preenche a planilha: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 de Entrada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dica flutuante que orienta antes da digitação.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 de Parada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bloqueia totalmente a inserção incorreta.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Aviso ou Informação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adverte sobre o valor atípico, mas permite prosseguir.</a:t>
            </a:r>
            <a:endParaRPr lang="en-US" sz="1620" dirty="0"/>
          </a:p>
        </p:txBody>
      </p:sp>
      <p:sp>
        <p:nvSpPr>
          <p:cNvPr id="6" name="e14c7ca9-b6dc-4a36-bb96-3c5a555bd1cb_card"/>
          <p:cNvSpPr/>
          <p:nvPr/>
        </p:nvSpPr>
        <p:spPr>
          <a:xfrm>
            <a:off x="285750" y="355473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e14c7ca9-b6dc-4a36-bb96-3c5a555bd1cb_emoji"/>
          <p:cNvSpPr/>
          <p:nvPr/>
        </p:nvSpPr>
        <p:spPr>
          <a:xfrm>
            <a:off x="400050" y="37033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e14c7ca9-b6dc-4a36-bb96-3c5a555bd1cb_text"/>
          <p:cNvSpPr/>
          <p:nvPr/>
        </p:nvSpPr>
        <p:spPr>
          <a:xfrm>
            <a:off x="765810" y="366903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alerta 'Parar' é o único que impede fisicamente a entrada de dados inválidos.</a:t>
            </a:r>
            <a:endParaRPr lang="en-US" sz="14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5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d0f680e-460e-465a-b192-3220f8d9b0e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Ordem de Configuração de Validação</a:t>
            </a:r>
            <a:endParaRPr lang="en-US" sz="2880" dirty="0"/>
          </a:p>
        </p:txBody>
      </p:sp>
      <p:sp>
        <p:nvSpPr>
          <p:cNvPr id="4" name="1e96a973-24c3-4a67-8ce4-e118743a20f4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os passos para criar uma lista suspensa de departamentos em uma planilha:</a:t>
            </a:r>
            <a:endParaRPr lang="en-US" sz="1620" dirty="0"/>
          </a:p>
        </p:txBody>
      </p:sp>
      <p:sp>
        <p:nvSpPr>
          <p:cNvPr id="5" name="6d15cbc5-fe2d-412c-8685-227f09cbff7a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Indicar o intervalo de origem dos departamentos ou digitar os itens</a:t>
            </a:r>
            <a:endParaRPr lang="en-US" sz="1620" dirty="0"/>
          </a:p>
        </p:txBody>
      </p:sp>
      <p:sp>
        <p:nvSpPr>
          <p:cNvPr id="6" name="c91db4f4-3b18-4322-9718-e762d8952915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Alterar o critério de validação em Permitir para a opção Lista</a:t>
            </a:r>
            <a:endParaRPr lang="en-US" sz="1620" dirty="0"/>
          </a:p>
        </p:txBody>
      </p:sp>
      <p:sp>
        <p:nvSpPr>
          <p:cNvPr id="7" name="f52ce6a8-a334-4b8d-a2cf-2ea0d8a550a1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Clicar no botão Validação de Dados na guia Dados</a:t>
            </a:r>
            <a:endParaRPr lang="en-US" sz="1620" dirty="0"/>
          </a:p>
        </p:txBody>
      </p:sp>
      <p:sp>
        <p:nvSpPr>
          <p:cNvPr id="8" name="59c041d5-a65d-4c1d-92e0-30229c45bfe8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Selecionar o intervalo de células onde os usuários farão o cadastro</a:t>
            </a:r>
            <a:endParaRPr lang="en-US" sz="16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6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d0f680e-460e-465a-b192-3220f8d9b0e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Ordem de Configuração de Validação</a:t>
            </a:r>
            <a:endParaRPr lang="en-US" sz="2880" dirty="0"/>
          </a:p>
        </p:txBody>
      </p:sp>
      <p:sp>
        <p:nvSpPr>
          <p:cNvPr id="4" name="1e96a973-24c3-4a67-8ce4-e118743a20f4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os passos para criar uma lista suspensa de departamentos em uma planilha:</a:t>
            </a:r>
            <a:endParaRPr lang="en-US" sz="1620" dirty="0"/>
          </a:p>
        </p:txBody>
      </p:sp>
      <p:sp>
        <p:nvSpPr>
          <p:cNvPr id="5" name="6d15cbc5-fe2d-412c-8685-227f09cbff7a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Indicar o intervalo de origem dos departamentos ou digitar os itens</a:t>
            </a:r>
            <a:endParaRPr lang="en-US" sz="1620" dirty="0"/>
          </a:p>
        </p:txBody>
      </p:sp>
      <p:sp>
        <p:nvSpPr>
          <p:cNvPr id="6" name="c91db4f4-3b18-4322-9718-e762d8952915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Alterar o critério de validação em Permitir para a opção Lista</a:t>
            </a:r>
            <a:endParaRPr lang="en-US" sz="1620" dirty="0"/>
          </a:p>
        </p:txBody>
      </p:sp>
      <p:sp>
        <p:nvSpPr>
          <p:cNvPr id="7" name="f52ce6a8-a334-4b8d-a2cf-2ea0d8a550a1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Clicar no botão Validação de Dados na guia Dados</a:t>
            </a:r>
            <a:endParaRPr lang="en-US" sz="1620" dirty="0"/>
          </a:p>
        </p:txBody>
      </p:sp>
      <p:sp>
        <p:nvSpPr>
          <p:cNvPr id="8" name="59c041d5-a65d-4c1d-92e0-30229c45bfe8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Selecionar o intervalo de células onde os usuários farão o cadastro</a:t>
            </a:r>
            <a:endParaRPr lang="en-US" sz="1620" dirty="0"/>
          </a:p>
        </p:txBody>
      </p:sp>
      <p:sp>
        <p:nvSpPr>
          <p:cNvPr id="9" name="42c9599c-5838-4425-baf7-749f1101b2a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0" name="7f9cb6e8-3b37-4d49-85cc-a7fb9c01dc4a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70" dirty="0"/>
          </a:p>
        </p:txBody>
      </p:sp>
      <p:sp>
        <p:nvSpPr>
          <p:cNvPr id="11" name="6f65b683-c82c-4abb-bf76-38dcc767a06c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70" dirty="0"/>
          </a:p>
        </p:txBody>
      </p:sp>
      <p:sp>
        <p:nvSpPr>
          <p:cNvPr id="12" name="51c6175a-4bb5-4de5-8ebb-ad96f3427a1d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70" dirty="0"/>
          </a:p>
        </p:txBody>
      </p:sp>
      <p:sp>
        <p:nvSpPr>
          <p:cNvPr id="13" name="8f2281d3-840b-4923-97e2-5e41ce956298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7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7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1ee66c22-0faf-41c8-a2b4-d87ec3dcb6a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Vídeo: Validação de Dados na Prática</a:t>
            </a:r>
            <a:endParaRPr lang="en-US" sz="2880" dirty="0"/>
          </a:p>
        </p:txBody>
      </p:sp>
      <p:sp>
        <p:nvSpPr>
          <p:cNvPr id="4" name="9ae98f47-a06b-4365-976b-4f94cb61ed54"/>
          <p:cNvSpPr/>
          <p:nvPr/>
        </p:nvSpPr>
        <p:spPr>
          <a:xfrm>
            <a:off x="285750" y="78867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listas suspensas e alertas de erro.</a:t>
            </a:r>
            <a:endParaRPr lang="en-US" sz="1620" dirty="0"/>
          </a:p>
        </p:txBody>
      </p:sp>
      <p:pic>
        <p:nvPicPr>
          <p:cNvPr id="5" name="9d3bef7f-56ed-4d34-940e-edbbe1eb6def" descr="/home/forge/chalkie-production-workers-3/releases/77481733/backend/storage/app/render-specs/89dc6e1f-7a67-4474-ab8c-f028990bfa7a/poster_MY3DQxPlpxs.jpg">
            <a:hlinkClick r:id="rId3" tooltip="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/>
              </p:ext>
              <p:ext uri="{C809E66F-F1BF-436E-b5F7-EEA9579F0CBA}">
                <p15:webVideoPr xmlns:p15="http://schemas.microsoft.com/office/powerpoint/2012/main" embeddedHtml="&lt;iframe width=&quot;560&quot; height=&quot;315&quot; src=&quot;https://www.youtube.com/embed/MY3DQxPlpxs?feature=oembed&quot; frameborder=&quot;0&quot; allowfullscreen=&quot;&quot;&gt;&lt;/iframe&gt;" h="315" w="560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440180" y="1337310"/>
            <a:ext cx="625221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8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e7d41e3-9c2a-411b-b1cb-addbcf16d62b" descr="/home/forge/chalkie-production-workers-3/releases/77481733/backend/storage/app/render-specs/89dc6e1f-7a67-4474-ab8c-f028990bfa7a/img_40a3ffec9c7390ad285ad1431c1c11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ed85ccd7-fdfe-40a4-a26e-5982d62d90b5"/>
          <p:cNvSpPr/>
          <p:nvPr/>
        </p:nvSpPr>
        <p:spPr>
          <a:xfrm>
            <a:off x="3714750" y="17145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Segurança: Proteção de Células</a:t>
            </a:r>
            <a:endParaRPr lang="en-US" sz="2880" dirty="0"/>
          </a:p>
        </p:txBody>
      </p:sp>
      <p:sp>
        <p:nvSpPr>
          <p:cNvPr id="5" name="0d75afb1-2718-4352-ba51-0c7c2cee96ef"/>
          <p:cNvSpPr/>
          <p:nvPr/>
        </p:nvSpPr>
        <p:spPr>
          <a:xfrm>
            <a:off x="3714750" y="1291590"/>
            <a:ext cx="117729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INTEGRIDADE</a:t>
            </a:r>
            <a:endParaRPr lang="en-US" sz="1080" dirty="0"/>
          </a:p>
        </p:txBody>
      </p:sp>
      <p:sp>
        <p:nvSpPr>
          <p:cNvPr id="6" name="024eccc8-c767-44b9-9290-ac6957fc2e94"/>
          <p:cNvSpPr/>
          <p:nvPr/>
        </p:nvSpPr>
        <p:spPr>
          <a:xfrm>
            <a:off x="3714750" y="1600200"/>
            <a:ext cx="51435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Preservando Fórmulas Críticas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Modelagens podem ser perdidas por um clique que apaga fórmulas complexas. Por padrão, células nascem com a propriedade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Bloqueada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ativa, mas ela só funciona após proteger a planilha.</a:t>
            </a:r>
            <a:endParaRPr lang="en-US" sz="1980" dirty="0"/>
          </a:p>
        </p:txBody>
      </p:sp>
      <p:sp>
        <p:nvSpPr>
          <p:cNvPr id="7" name="46bdd0f4-89fa-486a-abe2-fdfc04b09da7_card"/>
          <p:cNvSpPr/>
          <p:nvPr/>
        </p:nvSpPr>
        <p:spPr>
          <a:xfrm>
            <a:off x="3714750" y="3509010"/>
            <a:ext cx="5143500" cy="1348740"/>
          </a:xfrm>
          <a:prstGeom prst="roundRect">
            <a:avLst>
              <a:gd name="adj" fmla="val 6780"/>
            </a:avLst>
          </a:prstGeom>
          <a:solidFill>
            <a:srgbClr val="FCEBEB"/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8" name="46bdd0f4-89fa-486a-abe2-fdfc04b09da7_emoji"/>
          <p:cNvSpPr/>
          <p:nvPr/>
        </p:nvSpPr>
        <p:spPr>
          <a:xfrm>
            <a:off x="38290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9" name="46bdd0f4-89fa-486a-abe2-fdfc04b09da7_text"/>
          <p:cNvSpPr/>
          <p:nvPr/>
        </p:nvSpPr>
        <p:spPr>
          <a:xfrm>
            <a:off x="4194810" y="3623310"/>
            <a:ext cx="45491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Proteja a planilha apenas após desbloquear as células de entrada, caso contrário, ninguém conseguirá inserir dados.</a:t>
            </a:r>
            <a:endParaRPr lang="en-US" sz="14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9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d261ce4c-0d70-43da-9f47-82824ab3c781" descr="/home/forge/chalkie-production-workers-3/releases/77481733/backend/storage/app/render-specs/89dc6e1f-7a67-4474-ab8c-f028990bfa7a/img_792ff12d104b8a832d07395f3f3b49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ce0b700e-9035-4b11-a46b-a76041ef3617" descr="/home/forge/chalkie-production-workers-3/releases/77481733/backend/storage/app/render-specs/89dc6e1f-7a67-4474-ab8c-f028990bfa7a/img_d249eb53998ff40e359e9ca23f27c6a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b3995657-aaf0-4fee-a0c0-12ac95f74278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de Trabalho: Como Proteger Fórmulas</a:t>
            </a:r>
            <a:endParaRPr lang="en-US" sz="2880" dirty="0"/>
          </a:p>
        </p:txBody>
      </p:sp>
      <p:sp>
        <p:nvSpPr>
          <p:cNvPr id="6" name="1a778ef2-3e0e-423a-a0a1-320719763316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Desbloquear Entradas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Selecione apenas as células onde os usuários digitarão dados, abra Formatar Células &gt; Proteção e desmarque a opção 'Bloqueadas'.</a:t>
            </a:r>
            <a:endParaRPr lang="en-US" sz="1980" dirty="0"/>
          </a:p>
        </p:txBody>
      </p:sp>
      <p:sp>
        <p:nvSpPr>
          <p:cNvPr id="7" name="a34609be-ca15-42dc-b01e-46e67670feb3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Proteger a Planilha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Acesse a guia Revisão &gt; Proteger Planilha, defina uma senha e permita que usuários selecionem apenas células desbloqueadas.</a:t>
            </a:r>
            <a:endParaRPr lang="en-US" sz="19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0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0790214-5a7d-4cba-8ca2-37aa2cb407f6" descr="/home/forge/chalkie-production-workers-3/releases/77481733/backend/storage/app/render-specs/89dc6e1f-7a67-4474-ab8c-f028990bfa7a/img_c1852b918feb87514c14803c92e407b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7eb538ce-08ad-4867-bd06-fac6e995c0b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Protegendo a Pasta de Trabalho</a:t>
            </a:r>
            <a:endParaRPr lang="en-US" sz="2880" dirty="0"/>
          </a:p>
        </p:txBody>
      </p:sp>
      <p:sp>
        <p:nvSpPr>
          <p:cNvPr id="5" name="963de3b4-e29e-41fc-815f-caf433f2d7ee"/>
          <p:cNvSpPr/>
          <p:nvPr/>
        </p:nvSpPr>
        <p:spPr>
          <a:xfrm>
            <a:off x="285750" y="788670"/>
            <a:ext cx="4572000" cy="21076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Proteger uma planilha individual impede alterações nas células. Já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Proteger a Pasta de Trabalho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bloqueia a estrutura geral do arquivo.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Isso impede que usuários não autorizados excluam abas, criem novas planilhas, renomeiem guias ou alterem sua ordem.</a:t>
            </a:r>
            <a:endParaRPr lang="en-US" sz="1620" dirty="0"/>
          </a:p>
        </p:txBody>
      </p:sp>
      <p:sp>
        <p:nvSpPr>
          <p:cNvPr id="6" name="7c855721-aa62-420b-8667-f11037c42caa_card"/>
          <p:cNvSpPr/>
          <p:nvPr/>
        </p:nvSpPr>
        <p:spPr>
          <a:xfrm>
            <a:off x="285750" y="289179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7c855721-aa62-420b-8667-f11037c42caa_emoji"/>
          <p:cNvSpPr/>
          <p:nvPr/>
        </p:nvSpPr>
        <p:spPr>
          <a:xfrm>
            <a:off x="400050" y="30403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7c855721-aa62-420b-8667-f11037c42caa_text"/>
          <p:cNvSpPr/>
          <p:nvPr/>
        </p:nvSpPr>
        <p:spPr>
          <a:xfrm>
            <a:off x="765810" y="300609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Proteja a planilha para resguardar células; proteja a pasta para resguardar as abas.</a:t>
            </a:r>
            <a:endParaRPr lang="en-US" sz="14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1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cbfa2d8b-c670-40c6-a5f2-e6f9892f5bb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Verificação: Proteção de Fórmulas</a:t>
            </a:r>
            <a:endParaRPr lang="en-US" sz="2880" dirty="0"/>
          </a:p>
        </p:txBody>
      </p:sp>
      <p:sp>
        <p:nvSpPr>
          <p:cNvPr id="4" name="3d218fa7-0e15-49fb-bde1-7972e71ae03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é a primeira etapa necessária antes de ativar a proteção com senha em uma planilha para que os operadores possam preencher dados?</a:t>
            </a:r>
            <a:endParaRPr lang="en-US" sz="1620" dirty="0"/>
          </a:p>
        </p:txBody>
      </p:sp>
      <p:sp>
        <p:nvSpPr>
          <p:cNvPr id="5" name="70be7c74-3d4c-4c36-a860-397426e90da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cddd2c48-4d9c-4cfc-9a86-c174ad05e4ff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Ocultar todas as colunas que contenham cálculos</a:t>
            </a:r>
            <a:endParaRPr lang="en-US" sz="1620" dirty="0"/>
          </a:p>
        </p:txBody>
      </p:sp>
      <p:sp>
        <p:nvSpPr>
          <p:cNvPr id="7" name="ada63442-9042-4787-8eef-6797c1bc401b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3182aa59-8bcc-4f5b-8654-e13f3ca7b7db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Desmarcar a opção 'Bloqueada' nas células destinadas à digitação</a:t>
            </a:r>
            <a:endParaRPr lang="en-US" sz="1620" dirty="0"/>
          </a:p>
        </p:txBody>
      </p:sp>
      <p:sp>
        <p:nvSpPr>
          <p:cNvPr id="9" name="d15c8eed-174d-4714-afe6-4aaf47c7f8b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80272171-ecc0-45f0-9e8a-7c343756ef4d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Salvar o arquivo obrigatoriamente no formato PDF</a:t>
            </a:r>
            <a:endParaRPr lang="en-US" sz="1620" dirty="0"/>
          </a:p>
        </p:txBody>
      </p:sp>
      <p:sp>
        <p:nvSpPr>
          <p:cNvPr id="11" name="2ef9a50c-f43d-45cb-962e-85bd0ce6c8cd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93cac2ed-1a0a-42b9-8498-c880070b62b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Excluir todas as fórmulas para que ninguém as visualize</a:t>
            </a:r>
            <a:endParaRPr lang="en-US" sz="16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2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cbfa2d8b-c670-40c6-a5f2-e6f9892f5bb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Verificação: Proteção de Fórmulas</a:t>
            </a:r>
            <a:endParaRPr lang="en-US" sz="2880" dirty="0"/>
          </a:p>
        </p:txBody>
      </p:sp>
      <p:sp>
        <p:nvSpPr>
          <p:cNvPr id="4" name="3d218fa7-0e15-49fb-bde1-7972e71ae03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é a primeira etapa necessária antes de ativar a proteção com senha em uma planilha para que os operadores possam preencher dados?</a:t>
            </a:r>
            <a:endParaRPr lang="en-US" sz="1620" dirty="0"/>
          </a:p>
        </p:txBody>
      </p:sp>
      <p:sp>
        <p:nvSpPr>
          <p:cNvPr id="5" name="70be7c74-3d4c-4c36-a860-397426e90da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cddd2c48-4d9c-4cfc-9a86-c174ad05e4ff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Ocultar todas as colunas que contenham cálculos</a:t>
            </a:r>
            <a:endParaRPr lang="en-US" sz="1620" dirty="0"/>
          </a:p>
        </p:txBody>
      </p:sp>
      <p:sp>
        <p:nvSpPr>
          <p:cNvPr id="7" name="ada63442-9042-4787-8eef-6797c1bc401b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3182aa59-8bcc-4f5b-8654-e13f3ca7b7db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Desmarcar a opção 'Bloqueada' nas células destinadas à digitação</a:t>
            </a:r>
            <a:endParaRPr lang="en-US" sz="1620" dirty="0"/>
          </a:p>
        </p:txBody>
      </p:sp>
      <p:sp>
        <p:nvSpPr>
          <p:cNvPr id="9" name="d15c8eed-174d-4714-afe6-4aaf47c7f8b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80272171-ecc0-45f0-9e8a-7c343756ef4d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Salvar o arquivo obrigatoriamente no formato PDF</a:t>
            </a:r>
            <a:endParaRPr lang="en-US" sz="1620" dirty="0"/>
          </a:p>
        </p:txBody>
      </p:sp>
      <p:sp>
        <p:nvSpPr>
          <p:cNvPr id="11" name="2ef9a50c-f43d-45cb-962e-85bd0ce6c8cd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93cac2ed-1a0a-42b9-8498-c880070b62b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Excluir todas as fórmulas para que ninguém as visualize</a:t>
            </a:r>
            <a:endParaRPr lang="en-US" sz="1620" dirty="0"/>
          </a:p>
        </p:txBody>
      </p:sp>
      <p:sp>
        <p:nvSpPr>
          <p:cNvPr id="13" name="4e84bf80-e056-4a09-8230-aa7bb152080f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b53a85c8-8f17-4059-b883-6071fc40b5fb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3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8365e56-e37a-4bbf-9ffa-72cae3326a28" descr="/home/forge/chalkie-production-workers-3/releases/77481733/backend/storage/app/render-specs/89dc6e1f-7a67-4474-ab8c-f028990bfa7a/img_82932e907f951042669cd25ebd0b4d7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4" name="36c81a98-0fde-4d96-bae5-98618ae499d8"/>
          <p:cNvSpPr/>
          <p:nvPr/>
        </p:nvSpPr>
        <p:spPr>
          <a:xfrm>
            <a:off x="285750" y="206883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Filtros Automáticos para Análise Rápida</a:t>
            </a:r>
            <a:endParaRPr lang="en-US" sz="2880" dirty="0"/>
          </a:p>
        </p:txBody>
      </p:sp>
      <p:sp>
        <p:nvSpPr>
          <p:cNvPr id="5" name="ca38dff8-16d4-4b57-9bb1-7f2071beb0ab"/>
          <p:cNvSpPr/>
          <p:nvPr/>
        </p:nvSpPr>
        <p:spPr>
          <a:xfrm>
            <a:off x="285750" y="268605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 Automático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adiciona setas no cabeçalho de cada coluna, permitindo segmentar dados por texto, valores ou intervalos temporais.</a:t>
            </a:r>
            <a:endParaRPr lang="en-US" sz="1620" dirty="0"/>
          </a:p>
        </p:txBody>
      </p:sp>
      <p:sp>
        <p:nvSpPr>
          <p:cNvPr id="6" name="89bc3ec9-9028-4f6a-857a-4336f66852e3_card"/>
          <p:cNvSpPr/>
          <p:nvPr/>
        </p:nvSpPr>
        <p:spPr>
          <a:xfrm>
            <a:off x="285750" y="3486150"/>
            <a:ext cx="85725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89bc3ec9-9028-4f6a-857a-4336f66852e3_emoji"/>
          <p:cNvSpPr/>
          <p:nvPr/>
        </p:nvSpPr>
        <p:spPr>
          <a:xfrm>
            <a:off x="400050" y="36347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89bc3ec9-9028-4f6a-857a-4336f66852e3_text"/>
          <p:cNvSpPr/>
          <p:nvPr/>
        </p:nvSpPr>
        <p:spPr>
          <a:xfrm>
            <a:off x="765810" y="3600450"/>
            <a:ext cx="79781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Filtrar oculta temporariamente linhas indesejadas sem apagar nenhum registro do banco de dados.</a:t>
            </a:r>
            <a:endParaRPr lang="en-US" sz="14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4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4ebc9c7b-7ef8-4335-b4d4-830f83e0c790" descr="/home/forge/chalkie-production-workers-3/releases/77481733/backend/storage/app/render-specs/89dc6e1f-7a67-4474-ab8c-f028990bfa7a/img_2c412e0d785623251ea05623d0dee2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1335cd5d-8d79-4417-8779-0d2a19631846" descr="/home/forge/chalkie-production-workers-3/releases/77481733/backend/storage/app/render-specs/89dc6e1f-7a67-4474-ab8c-f028990bfa7a/img_b9326f51042586b3f15096451c15db3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7935fbb0-40e3-4a10-998e-ac7587d9165c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Recursos Avançados dos Filtros</a:t>
            </a:r>
            <a:endParaRPr lang="en-US" sz="2880" dirty="0"/>
          </a:p>
        </p:txBody>
      </p:sp>
      <p:sp>
        <p:nvSpPr>
          <p:cNvPr id="6" name="3af4c698-b6a3-4193-b2ec-4ba52a49b5e8"/>
          <p:cNvSpPr/>
          <p:nvPr/>
        </p:nvSpPr>
        <p:spPr>
          <a:xfrm>
            <a:off x="285750" y="30175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Filtros por Valor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Permitem isolar rapidamente vendas 'Maiores que R$ 10.000', itens 'Abaixo da Média' ou os '10 Primeiros' colocados.</a:t>
            </a:r>
            <a:endParaRPr lang="en-US" sz="1980" dirty="0"/>
          </a:p>
        </p:txBody>
      </p:sp>
      <p:sp>
        <p:nvSpPr>
          <p:cNvPr id="7" name="4067d595-99fb-4b4a-bd84-cf11544a1369"/>
          <p:cNvSpPr/>
          <p:nvPr/>
        </p:nvSpPr>
        <p:spPr>
          <a:xfrm>
            <a:off x="4652010" y="30175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Filtrar por Cor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exibir apenas as linhas marcadas pela Formatação Condicional, unindo inteligência visual e filtragem direta.</a:t>
            </a:r>
            <a:endParaRPr lang="en-US" sz="19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5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6d5c58f6-55de-4bfa-ac83-92d886d7d5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Áudio: Diálogo de Gestão de Dados</a:t>
            </a:r>
            <a:endParaRPr lang="en-US" sz="2880" dirty="0"/>
          </a:p>
        </p:txBody>
      </p:sp>
      <p:sp>
        <p:nvSpPr>
          <p:cNvPr id="4" name="38d1a53c-4923-49b1-9979-81ad058d52c5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Ouça o áudio e responda às perguntas</a:t>
            </a:r>
            <a:endParaRPr lang="en-US" sz="1440" dirty="0"/>
          </a:p>
        </p:txBody>
      </p:sp>
      <p:sp>
        <p:nvSpPr>
          <p:cNvPr id="5" name="2e58ba47-17bd-4114-a581-ce3ca74a8def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60" dirty="0"/>
          </a:p>
        </p:txBody>
      </p:sp>
      <p:sp>
        <p:nvSpPr>
          <p:cNvPr id="6" name="73ed2bd7-d22f-4b3e-b1cf-9c77b8bcfeb1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a equipe de logística estava reclamando da planilha antiga?</a:t>
            </a:r>
            <a:endParaRPr lang="en-US" sz="1620" dirty="0"/>
          </a:p>
        </p:txBody>
      </p:sp>
      <p:sp>
        <p:nvSpPr>
          <p:cNvPr id="7" name="6d50cd0a-7751-4ed9-8f89-19e8e1280084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60" dirty="0"/>
          </a:p>
        </p:txBody>
      </p:sp>
      <p:sp>
        <p:nvSpPr>
          <p:cNvPr id="8" name="73bc36fa-7ddb-4c7a-946a-781b5933f829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solução técnica Carlos e Beatriz adotaram para padronizar as entradas?</a:t>
            </a:r>
            <a:endParaRPr lang="en-US" sz="1620" dirty="0"/>
          </a:p>
        </p:txBody>
      </p:sp>
      <p:sp>
        <p:nvSpPr>
          <p:cNvPr id="9" name="60125d0d-afc8-481e-939a-100608c1a299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60" dirty="0"/>
          </a:p>
        </p:txBody>
      </p:sp>
      <p:sp>
        <p:nvSpPr>
          <p:cNvPr id="10" name="3a9024ee-08c0-4962-a4df-e2f3ad4542c7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eles fizeram para garantir que as fórmulas de total não fossem apagadas?</a:t>
            </a:r>
            <a:endParaRPr lang="en-US" sz="1620" dirty="0"/>
          </a:p>
        </p:txBody>
      </p:sp>
      <p:sp>
        <p:nvSpPr>
          <p:cNvPr id="11" name="ebf38b5b-d5f1-43c3-971a-785e09d60d9f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60" dirty="0"/>
          </a:p>
        </p:txBody>
      </p:sp>
      <p:sp>
        <p:nvSpPr>
          <p:cNvPr id="12" name="b064d762-9a80-4e4c-8bde-e3fefa646f15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recurso visual foi sugerido para alertar sobre prazos de entrega atrasados?</a:t>
            </a:r>
            <a:endParaRPr lang="en-US" sz="1620" dirty="0"/>
          </a:p>
        </p:txBody>
      </p:sp>
      <p:sp>
        <p:nvSpPr>
          <p:cNvPr id="13" name="2ef31c9e-9d73-4cbf-b581-0b3dd4f2f841_card"/>
          <p:cNvSpPr/>
          <p:nvPr/>
        </p:nvSpPr>
        <p:spPr>
          <a:xfrm>
            <a:off x="285750" y="1291590"/>
            <a:ext cx="8572500" cy="857250"/>
          </a:xfrm>
          <a:prstGeom prst="roundRect">
            <a:avLst/>
          </a:prstGeom>
          <a:solidFill>
            <a:srgbClr val="FFF4F1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4" name="2ef31c9e-9d73-4cbf-b581-0b3dd4f2f841_icon" descr="/home/forge/chalkie-production-workers-3/releases/77481733/backend/storage/app/render-specs/89dc6e1f-7a67-4474-ab8c-f028990bfa7a/audi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594485"/>
            <a:ext cx="251460" cy="251460"/>
          </a:xfrm>
          <a:prstGeom prst="rect">
            <a:avLst/>
          </a:prstGeom>
        </p:spPr>
      </p:pic>
      <p:sp>
        <p:nvSpPr>
          <p:cNvPr id="15" name="2ef31c9e-9d73-4cbf-b581-0b3dd4f2f841_title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Alinhamento entre Analistas de Dados</a:t>
            </a:r>
            <a:endParaRPr lang="en-US" sz="1800" dirty="0"/>
          </a:p>
        </p:txBody>
      </p:sp>
      <p:sp>
        <p:nvSpPr>
          <p:cNvPr id="16" name="2ef31c9e-9d73-4cbf-b581-0b3dd4f2f841_btn"/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Reproduzir áudio</a:t>
            </a:r>
            <a:endParaRPr lang="en-US" sz="1440" dirty="0"/>
          </a:p>
        </p:txBody>
      </p:sp>
      <p:sp>
        <p:nvSpPr>
          <p:cNvPr id="17" name="2ef31c9e-9d73-4cbf-b581-0b3dd4f2f841_btn_link">
            <a:hlinkClick r:id="rId3" tooltip="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>
              <a:alpha val="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6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6d5c58f6-55de-4bfa-ac83-92d886d7d5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Áudio: Diálogo de Gestão de Dados</a:t>
            </a:r>
            <a:endParaRPr lang="en-US" sz="2880" dirty="0"/>
          </a:p>
        </p:txBody>
      </p:sp>
      <p:sp>
        <p:nvSpPr>
          <p:cNvPr id="4" name="3a3d5374-9694-4494-ac9e-f2e92fd0aeb2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as tuas respostas abaixo</a:t>
            </a:r>
            <a:endParaRPr lang="en-US" sz="1440" dirty="0"/>
          </a:p>
        </p:txBody>
      </p:sp>
      <p:sp>
        <p:nvSpPr>
          <p:cNvPr id="5" name="77940a8b-7dd6-4422-843e-67228dcd13bf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6" name="0a761fb6-825c-4c69-b000-6575611fbaa7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60" dirty="0"/>
          </a:p>
        </p:txBody>
      </p:sp>
      <p:sp>
        <p:nvSpPr>
          <p:cNvPr id="7" name="e7261060-45c1-42d1-937a-5140d7e160c1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Porque colaboradores digitavam os nomes das cidades e status com erros de ortografia.</a:t>
            </a:r>
            <a:endParaRPr lang="en-US" sz="1620" dirty="0"/>
          </a:p>
        </p:txBody>
      </p:sp>
      <p:sp>
        <p:nvSpPr>
          <p:cNvPr id="8" name="829ef566-aa40-4280-878d-ec165b769670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60" dirty="0"/>
          </a:p>
        </p:txBody>
      </p:sp>
      <p:sp>
        <p:nvSpPr>
          <p:cNvPr id="9" name="0b47ca1f-dbe3-433a-8eb5-c66076a56481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Implementaram a Validação de Dados com listas suspensas nas colunas de entrada.</a:t>
            </a:r>
            <a:endParaRPr lang="en-US" sz="1620" dirty="0"/>
          </a:p>
        </p:txBody>
      </p:sp>
      <p:sp>
        <p:nvSpPr>
          <p:cNvPr id="10" name="0e409224-e00d-4c94-b3f3-9109b00582d1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60" dirty="0"/>
          </a:p>
        </p:txBody>
      </p:sp>
      <p:sp>
        <p:nvSpPr>
          <p:cNvPr id="11" name="3147f94c-aa83-420e-9c32-53799a1768c5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Desbloquearam as células de digitação e protegeram a planilha com senha.</a:t>
            </a:r>
            <a:endParaRPr lang="en-US" sz="1620" dirty="0"/>
          </a:p>
        </p:txBody>
      </p:sp>
      <p:sp>
        <p:nvSpPr>
          <p:cNvPr id="12" name="cd161c5d-f243-4477-be9d-00912328aef0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60" dirty="0"/>
          </a:p>
        </p:txBody>
      </p:sp>
      <p:sp>
        <p:nvSpPr>
          <p:cNvPr id="13" name="0514b549-247f-4ce2-a8fc-8daa87ca796f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Formatação condicional com realce em vermelho suave.</a:t>
            </a:r>
            <a:endParaRPr lang="en-US" sz="1620" dirty="0"/>
          </a:p>
        </p:txBody>
      </p:sp>
      <p:sp>
        <p:nvSpPr>
          <p:cNvPr id="14" name="2ef31c9e-9d73-4cbf-b581-0b3dd4f2f841_card"/>
          <p:cNvSpPr/>
          <p:nvPr/>
        </p:nvSpPr>
        <p:spPr>
          <a:xfrm>
            <a:off x="285750" y="1291590"/>
            <a:ext cx="8572500" cy="857250"/>
          </a:xfrm>
          <a:prstGeom prst="roundRect">
            <a:avLst/>
          </a:prstGeom>
          <a:solidFill>
            <a:srgbClr val="FFF4F1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5" name="2ef31c9e-9d73-4cbf-b581-0b3dd4f2f841_icon" descr="/home/forge/chalkie-production-workers-3/releases/77481733/backend/storage/app/render-specs/89dc6e1f-7a67-4474-ab8c-f028990bfa7a/audi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594485"/>
            <a:ext cx="251460" cy="251460"/>
          </a:xfrm>
          <a:prstGeom prst="rect">
            <a:avLst/>
          </a:prstGeom>
        </p:spPr>
      </p:pic>
      <p:sp>
        <p:nvSpPr>
          <p:cNvPr id="16" name="2ef31c9e-9d73-4cbf-b581-0b3dd4f2f841_title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Alinhamento entre Analistas de Dados</a:t>
            </a:r>
            <a:endParaRPr lang="en-US" sz="1800" dirty="0"/>
          </a:p>
        </p:txBody>
      </p:sp>
      <p:sp>
        <p:nvSpPr>
          <p:cNvPr id="17" name="2ef31c9e-9d73-4cbf-b581-0b3dd4f2f841_btn"/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Reproduzir áudio</a:t>
            </a:r>
            <a:endParaRPr lang="en-US" sz="1440" dirty="0"/>
          </a:p>
        </p:txBody>
      </p:sp>
      <p:sp>
        <p:nvSpPr>
          <p:cNvPr id="18" name="2ef31c9e-9d73-4cbf-b581-0b3dd4f2f841_btn_link">
            <a:hlinkClick r:id="rId3" tooltip="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>
              <a:alpha val="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7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6adbb36e-b404-44e6-b55d-688da72bcb10"/>
          <p:cNvSpPr/>
          <p:nvPr/>
        </p:nvSpPr>
        <p:spPr>
          <a:xfrm>
            <a:off x="285750" y="1714500"/>
            <a:ext cx="8572500" cy="662940"/>
          </a:xfrm>
          <a:prstGeom prst="roundRect">
            <a:avLst/>
          </a:prstGeom>
          <a:solidFill>
            <a:srgbClr val="FFFFFF">
              <a:alpha val="40000"/>
            </a:srgbClr>
          </a:solidFill>
          <a:ln w="11430">
            <a:solidFill>
              <a:srgbClr val="D32F2F"/>
            </a:solidFill>
            <a:prstDash val="solid"/>
          </a:ln>
        </p:spPr>
      </p:sp>
      <p:sp>
        <p:nvSpPr>
          <p:cNvPr id="4" name="4375496b-be87-4c8b-bc5d-6e81c7dbc2c3"/>
          <p:cNvSpPr/>
          <p:nvPr/>
        </p:nvSpPr>
        <p:spPr>
          <a:xfrm>
            <a:off x="400050" y="1874520"/>
            <a:ext cx="342900" cy="3429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" name="6ef39ca4-aa88-4581-bd1b-89919dc7905e"/>
          <p:cNvSpPr/>
          <p:nvPr/>
        </p:nvSpPr>
        <p:spPr>
          <a:xfrm>
            <a:off x="285750" y="2491740"/>
            <a:ext cx="8572500" cy="662940"/>
          </a:xfrm>
          <a:prstGeom prst="roundRect">
            <a:avLst/>
          </a:prstGeom>
          <a:solidFill>
            <a:srgbClr val="FFFFFF">
              <a:alpha val="40000"/>
            </a:srgbClr>
          </a:solidFill>
          <a:ln w="11430">
            <a:solidFill>
              <a:srgbClr val="D32F2F"/>
            </a:solidFill>
            <a:prstDash val="solid"/>
          </a:ln>
        </p:spPr>
      </p:sp>
      <p:sp>
        <p:nvSpPr>
          <p:cNvPr id="6" name="900ef62e-ff81-44f6-a616-bab1d48cb936"/>
          <p:cNvSpPr/>
          <p:nvPr/>
        </p:nvSpPr>
        <p:spPr>
          <a:xfrm>
            <a:off x="400050" y="2651760"/>
            <a:ext cx="342900" cy="3429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7" name="3b4526bd-20a4-468e-9e66-2255acd72661"/>
          <p:cNvSpPr/>
          <p:nvPr/>
        </p:nvSpPr>
        <p:spPr>
          <a:xfrm>
            <a:off x="285750" y="3268980"/>
            <a:ext cx="8572500" cy="662940"/>
          </a:xfrm>
          <a:prstGeom prst="roundRect">
            <a:avLst/>
          </a:prstGeom>
          <a:solidFill>
            <a:srgbClr val="FFFFFF">
              <a:alpha val="40000"/>
            </a:srgbClr>
          </a:solidFill>
          <a:ln w="11430">
            <a:solidFill>
              <a:srgbClr val="D32F2F"/>
            </a:solidFill>
            <a:prstDash val="solid"/>
          </a:ln>
        </p:spPr>
      </p:sp>
      <p:sp>
        <p:nvSpPr>
          <p:cNvPr id="8" name="e075180b-687d-4f1e-8647-f4bbd17e1dbb"/>
          <p:cNvSpPr/>
          <p:nvPr/>
        </p:nvSpPr>
        <p:spPr>
          <a:xfrm>
            <a:off x="400050" y="3429000"/>
            <a:ext cx="342900" cy="3429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9" name="871c15cc-23f6-4e90-8380-0325411af185"/>
          <p:cNvSpPr/>
          <p:nvPr/>
        </p:nvSpPr>
        <p:spPr>
          <a:xfrm>
            <a:off x="285750" y="4046220"/>
            <a:ext cx="8572500" cy="662940"/>
          </a:xfrm>
          <a:prstGeom prst="roundRect">
            <a:avLst/>
          </a:prstGeom>
          <a:solidFill>
            <a:srgbClr val="FFFFFF">
              <a:alpha val="40000"/>
            </a:srgbClr>
          </a:solidFill>
          <a:ln w="11430">
            <a:solidFill>
              <a:srgbClr val="D32F2F"/>
            </a:solidFill>
            <a:prstDash val="solid"/>
          </a:ln>
        </p:spPr>
      </p:sp>
      <p:sp>
        <p:nvSpPr>
          <p:cNvPr id="10" name="7d848652-2882-45b2-956c-5093bb18748c"/>
          <p:cNvSpPr/>
          <p:nvPr/>
        </p:nvSpPr>
        <p:spPr>
          <a:xfrm>
            <a:off x="400050" y="4206240"/>
            <a:ext cx="342900" cy="3429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1" name="959fcc65-7fd3-42cc-8b71-f5c2a46f5621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Prática Guiada: Reformatação Gerencial</a:t>
            </a:r>
            <a:endParaRPr lang="en-US" sz="2880" dirty="0"/>
          </a:p>
        </p:txBody>
      </p:sp>
      <p:sp>
        <p:nvSpPr>
          <p:cNvPr id="12" name="35a44861-af26-4dad-832c-c85bb1dbd821"/>
          <p:cNvSpPr/>
          <p:nvPr/>
        </p:nvSpPr>
        <p:spPr>
          <a:xfrm>
            <a:off x="285750" y="800100"/>
            <a:ext cx="857250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Roteiro de Transformação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Converta dados brutos em relatório executivo:</a:t>
            </a:r>
            <a:endParaRPr lang="en-US" sz="1980" dirty="0"/>
          </a:p>
        </p:txBody>
      </p:sp>
      <p:sp>
        <p:nvSpPr>
          <p:cNvPr id="13" name="48b3bd40-2cd0-4827-b68a-12fc35e5833e"/>
          <p:cNvSpPr/>
          <p:nvPr/>
        </p:nvSpPr>
        <p:spPr>
          <a:xfrm>
            <a:off x="400050" y="187452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20" dirty="0"/>
          </a:p>
        </p:txBody>
      </p:sp>
      <p:sp>
        <p:nvSpPr>
          <p:cNvPr id="14" name="b9db097d-58d9-4cdd-9408-fe8856d7072d"/>
          <p:cNvSpPr/>
          <p:nvPr/>
        </p:nvSpPr>
        <p:spPr>
          <a:xfrm>
            <a:off x="834390" y="1828800"/>
            <a:ext cx="7909560" cy="4343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Formate valores como Moeda e comissões como Porcentagem.</a:t>
            </a:r>
            <a:endParaRPr lang="en-US" sz="1620" dirty="0"/>
          </a:p>
        </p:txBody>
      </p:sp>
      <p:sp>
        <p:nvSpPr>
          <p:cNvPr id="15" name="5597da2e-1de8-4f66-a543-c17732db6c4c"/>
          <p:cNvSpPr/>
          <p:nvPr/>
        </p:nvSpPr>
        <p:spPr>
          <a:xfrm>
            <a:off x="400050" y="265176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20" dirty="0"/>
          </a:p>
        </p:txBody>
      </p:sp>
      <p:sp>
        <p:nvSpPr>
          <p:cNvPr id="16" name="632b2f1f-5291-42e0-8dd2-cb5482fccdf5"/>
          <p:cNvSpPr/>
          <p:nvPr/>
        </p:nvSpPr>
        <p:spPr>
          <a:xfrm>
            <a:off x="834390" y="2606040"/>
            <a:ext cx="7909560" cy="4343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bordas discretas e cabeçalhos em azul corporativo.</a:t>
            </a:r>
            <a:endParaRPr lang="en-US" sz="1620" dirty="0"/>
          </a:p>
        </p:txBody>
      </p:sp>
      <p:sp>
        <p:nvSpPr>
          <p:cNvPr id="17" name="33de844b-b01c-4799-8623-2e0da0976bc7"/>
          <p:cNvSpPr/>
          <p:nvPr/>
        </p:nvSpPr>
        <p:spPr>
          <a:xfrm>
            <a:off x="400050" y="342900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20" dirty="0"/>
          </a:p>
        </p:txBody>
      </p:sp>
      <p:sp>
        <p:nvSpPr>
          <p:cNvPr id="18" name="966d5e4a-3310-46e7-a518-2dedf83d0f25"/>
          <p:cNvSpPr/>
          <p:nvPr/>
        </p:nvSpPr>
        <p:spPr>
          <a:xfrm>
            <a:off x="834390" y="3383280"/>
            <a:ext cx="7909560" cy="4343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Congele a primeira linha para facilitar a navegação.</a:t>
            </a:r>
            <a:endParaRPr lang="en-US" sz="1620" dirty="0"/>
          </a:p>
        </p:txBody>
      </p:sp>
      <p:sp>
        <p:nvSpPr>
          <p:cNvPr id="19" name="d9e99557-4028-43e7-ab2c-7b077491beda"/>
          <p:cNvSpPr/>
          <p:nvPr/>
        </p:nvSpPr>
        <p:spPr>
          <a:xfrm>
            <a:off x="400050" y="420624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20" dirty="0"/>
          </a:p>
        </p:txBody>
      </p:sp>
      <p:sp>
        <p:nvSpPr>
          <p:cNvPr id="20" name="3477ec88-63dc-4d9d-a171-12eb5b521469"/>
          <p:cNvSpPr/>
          <p:nvPr/>
        </p:nvSpPr>
        <p:spPr>
          <a:xfrm>
            <a:off x="834390" y="4160520"/>
            <a:ext cx="7909560" cy="4343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Insira barras de dados na coluna de volume de vendas.</a:t>
            </a:r>
            <a:endParaRPr lang="en-US" sz="16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8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d631d0ac-92dc-4f55-be39-742f623af029" descr="/home/forge/chalkie-production-workers-3/releases/77481733/backend/storage/app/render-specs/89dc6e1f-7a67-4474-ab8c-f028990bfa7a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pic>
        <p:nvPicPr>
          <p:cNvPr id="4" name="ca9e96aa-b0f7-438f-a25b-02f33c062962" descr="/home/forge/chalkie-production-workers-3/releases/77481733/backend/storage/app/render-specs/89dc6e1f-7a67-4474-ab8c-f028990bfa7a/img_bca6ffecd24c0b5ea323262bb09eaa4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</p:spPr>
      </p:pic>
      <p:sp>
        <p:nvSpPr>
          <p:cNvPr id="5" name="48fe4253-b89e-4a0d-9255-99aad5b7b9d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Atividade Prática: Auditoria de Planilha</a:t>
            </a:r>
            <a:endParaRPr lang="en-US" sz="2880" dirty="0"/>
          </a:p>
        </p:txBody>
      </p:sp>
      <p:sp>
        <p:nvSpPr>
          <p:cNvPr id="6" name="8a146500-b303-4e64-a727-7963e3cd5a43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Abra 'Relatorio_Desorganizado.xlsx':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Formate valores como Moeda (R$, 2 casas).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 'Região': Norte, Sul, Leste, Oeste.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Formatação Condicional: vendas &gt; R$ 5.000 em verde.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Desbloqueie B4:D20; proteja planilha (senha 'aula4') para travar coluna E.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Filtre a região 'Sul'.</a:t>
            </a:r>
            <a:endParaRPr lang="en-US" sz="16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9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39755d7-1efb-4d7c-926d-717b2efdcc78" descr="/home/forge/chalkie-production-workers-3/releases/77481733/backend/storage/app/render-specs/89dc6e1f-7a67-4474-ab8c-f028990bfa7a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4" name="60eb10c6-1448-498f-a02a-c6bc1683c1e6" descr="/home/forge/chalkie-production-workers-3/releases/77481733/backend/storage/app/render-specs/89dc6e1f-7a67-4474-ab8c-f028990bfa7a/img_5d77380955daed0cf438ed72f0ec168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5" name="363a4004-f416-4b0c-94ee-dc3bd1e6cd8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Debate: Facilidade vs Controle Rígido</a:t>
            </a:r>
            <a:endParaRPr lang="en-US" sz="2880" dirty="0"/>
          </a:p>
        </p:txBody>
      </p:sp>
      <p:sp>
        <p:nvSpPr>
          <p:cNvPr id="6" name="ae706440-9bda-4c10-a6a1-dba57aca6147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proteger células e impor validações de dados torna a planilha mais segura, por que algumas equipes resistem a usar essas regras no dia a dia?</a:t>
            </a:r>
            <a:endParaRPr lang="en-US" sz="16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0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39755d7-1efb-4d7c-926d-717b2efdcc78" descr="/home/forge/chalkie-production-workers-3/releases/77481733/backend/storage/app/render-specs/89dc6e1f-7a67-4474-ab8c-f028990bfa7a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4" name="363a4004-f416-4b0c-94ee-dc3bd1e6cd8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Debate: Facilidade vs Controle Rígido</a:t>
            </a:r>
            <a:endParaRPr lang="en-US" sz="2880" dirty="0"/>
          </a:p>
        </p:txBody>
      </p:sp>
      <p:sp>
        <p:nvSpPr>
          <p:cNvPr id="5" name="d600f701-f091-417f-b8c8-82f2d64ec4fa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poderia ter dito...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Perspectivas dos alunos: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Resistência à rigidez em exceções.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Necessidade de atualizar listas.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Bloqueios por esquecimento de senhas.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Equilíbrio entre controle e agilidade.</a:t>
            </a:r>
            <a:endParaRPr lang="en-US" sz="1620" dirty="0"/>
          </a:p>
        </p:txBody>
      </p:sp>
      <p:sp>
        <p:nvSpPr>
          <p:cNvPr id="6" name="c1c666e0-4acb-4ce7-9110-f294a7977cca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1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e560174c-72f7-457b-a66f-2033b05fa0e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 Final: Melhores Práticas</a:t>
            </a:r>
            <a:endParaRPr lang="en-US" sz="2880" dirty="0"/>
          </a:p>
        </p:txBody>
      </p:sp>
      <p:sp>
        <p:nvSpPr>
          <p:cNvPr id="4" name="be2a3195-3a20-4715-b5a3-3f1b412c35f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Quais das afirmações a seguir representam boas práticas recomendadas de formatação e segurança em planilhas? (Mais de uma opção está correta)</a:t>
            </a:r>
            <a:endParaRPr lang="en-US" sz="1620" dirty="0"/>
          </a:p>
        </p:txBody>
      </p:sp>
      <p:sp>
        <p:nvSpPr>
          <p:cNvPr id="5" name="aab5d006-daf0-4b86-b934-6c7eed44733a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4ed691f9-0ec8-4b05-886e-5c195e4cacd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fundamental desbloquear as células de preenchimento antes de proteger a planilha com senha.</a:t>
            </a:r>
            <a:endParaRPr lang="en-US" sz="1620" dirty="0"/>
          </a:p>
        </p:txBody>
      </p:sp>
      <p:sp>
        <p:nvSpPr>
          <p:cNvPr id="7" name="f2c09dc2-9221-401b-b523-5a273b20411d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32fcd4a9-641c-45c2-9049-4785a1489b8c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formatação condicional exclui automaticamente os dados que não atingem a meta definida.</a:t>
            </a:r>
            <a:endParaRPr lang="en-US" sz="1620" dirty="0"/>
          </a:p>
        </p:txBody>
      </p:sp>
      <p:sp>
        <p:nvSpPr>
          <p:cNvPr id="9" name="3106bab4-24a0-4d2a-95ba-ddbc6c5c3fe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74d936b5-a612-4185-b0b1-4377a523316c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Listas suspensas evitam erros de digitação e facilitam o agrupamento por filtros.</a:t>
            </a:r>
            <a:endParaRPr lang="en-US" sz="1620" dirty="0"/>
          </a:p>
        </p:txBody>
      </p:sp>
      <p:sp>
        <p:nvSpPr>
          <p:cNvPr id="11" name="e5472cab-533c-4c3e-996c-343caf5fdfaf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2a42b1ca-45a3-4bd5-9a44-5886b512c20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Deve-se usar o maior número possível de cores vibrantes para chamar a atenção de executivos.</a:t>
            </a:r>
            <a:endParaRPr lang="en-US" sz="16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2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e560174c-72f7-457b-a66f-2033b05fa0e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 Final: Melhores Práticas</a:t>
            </a:r>
            <a:endParaRPr lang="en-US" sz="2880" dirty="0"/>
          </a:p>
        </p:txBody>
      </p:sp>
      <p:sp>
        <p:nvSpPr>
          <p:cNvPr id="4" name="be2a3195-3a20-4715-b5a3-3f1b412c35f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Quais das afirmações a seguir representam boas práticas recomendadas de formatação e segurança em planilhas? (Mais de uma opção está correta)</a:t>
            </a:r>
            <a:endParaRPr lang="en-US" sz="1620" dirty="0"/>
          </a:p>
        </p:txBody>
      </p:sp>
      <p:sp>
        <p:nvSpPr>
          <p:cNvPr id="5" name="aab5d006-daf0-4b86-b934-6c7eed44733a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4ed691f9-0ec8-4b05-886e-5c195e4cacd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fundamental desbloquear as células de preenchimento antes de proteger a planilha com senha.</a:t>
            </a:r>
            <a:endParaRPr lang="en-US" sz="1620" dirty="0"/>
          </a:p>
        </p:txBody>
      </p:sp>
      <p:sp>
        <p:nvSpPr>
          <p:cNvPr id="7" name="f2c09dc2-9221-401b-b523-5a273b20411d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32fcd4a9-641c-45c2-9049-4785a1489b8c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formatação condicional exclui automaticamente os dados que não atingem a meta definida.</a:t>
            </a:r>
            <a:endParaRPr lang="en-US" sz="1620" dirty="0"/>
          </a:p>
        </p:txBody>
      </p:sp>
      <p:sp>
        <p:nvSpPr>
          <p:cNvPr id="9" name="3106bab4-24a0-4d2a-95ba-ddbc6c5c3fe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74d936b5-a612-4185-b0b1-4377a523316c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Listas suspensas evitam erros de digitação e facilitam o agrupamento por filtros.</a:t>
            </a:r>
            <a:endParaRPr lang="en-US" sz="1620" dirty="0"/>
          </a:p>
        </p:txBody>
      </p:sp>
      <p:sp>
        <p:nvSpPr>
          <p:cNvPr id="11" name="e5472cab-533c-4c3e-996c-343caf5fdfaf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2a42b1ca-45a3-4bd5-9a44-5886b512c20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Deve-se usar o maior número possível de cores vibrantes para chamar a atenção de executivos.</a:t>
            </a:r>
            <a:endParaRPr lang="en-US" sz="1620" dirty="0"/>
          </a:p>
        </p:txBody>
      </p:sp>
      <p:sp>
        <p:nvSpPr>
          <p:cNvPr id="13" name="7ce570ce-3b04-477f-a73c-8e1f8aec3e0f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e48aa88d-037b-403c-ab1c-80f594a9c3cd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  <p:sp>
        <p:nvSpPr>
          <p:cNvPr id="15" name="7619bdf2-e396-4596-ab70-27a557ae35ac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3" descr="/home/forge/chalkie-production-workers-3/releases/77481733/backend/storage/app/render-specs/89dc6e1f-7a67-4474-ab8c-f028990bfa7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1b9d636-1678-41ad-9952-f69c373465b6" descr="/home/forge/chalkie-production-workers-3/releases/77481733/backend/storage/app/render-specs/89dc6e1f-7a67-4474-ab8c-f028990bfa7a/img_18d0371e28599c81fbb2088927debf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b496378c-75ac-4af1-9369-3d27396317d5"/>
          <p:cNvSpPr/>
          <p:nvPr/>
        </p:nvSpPr>
        <p:spPr>
          <a:xfrm>
            <a:off x="285750" y="24003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Síntese e Próximos Passos</a:t>
            </a:r>
            <a:endParaRPr lang="en-US" sz="2880" dirty="0"/>
          </a:p>
        </p:txBody>
      </p:sp>
      <p:sp>
        <p:nvSpPr>
          <p:cNvPr id="5" name="85c2ef8c-78d4-4445-853e-d25d05b7a20d"/>
          <p:cNvSpPr/>
          <p:nvPr/>
        </p:nvSpPr>
        <p:spPr>
          <a:xfrm>
            <a:off x="285750" y="857250"/>
            <a:ext cx="5143500" cy="29077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conquistamos hoje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Agora você domina a formatação profissional, congelamento de visualização, validação de entradas, segurança contra edições indevidas e filtros automáticos.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Aula 5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daremos um grande salto analítico aprendendo funções avançadas de busca como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PROCV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cálculos agregados com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SOMASE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980" dirty="0"/>
          </a:p>
        </p:txBody>
      </p:sp>
      <p:sp>
        <p:nvSpPr>
          <p:cNvPr id="6" name="496d47f3-e156-4e50-9867-f0e72b7bdb59_card"/>
          <p:cNvSpPr/>
          <p:nvPr/>
        </p:nvSpPr>
        <p:spPr>
          <a:xfrm>
            <a:off x="285750" y="3326130"/>
            <a:ext cx="51435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496d47f3-e156-4e50-9867-f0e72b7bdb59_emoji"/>
          <p:cNvSpPr/>
          <p:nvPr/>
        </p:nvSpPr>
        <p:spPr>
          <a:xfrm>
            <a:off x="400050" y="34747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496d47f3-e156-4e50-9867-f0e72b7bdb59_text"/>
          <p:cNvSpPr/>
          <p:nvPr/>
        </p:nvSpPr>
        <p:spPr>
          <a:xfrm>
            <a:off x="765810" y="3440430"/>
            <a:ext cx="45491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planilha profissional une exatidão matemática, clareza estética e segurança de dados.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Intermediário: Formatação e Validação</dc:title>
  <dc:subject>PptxGenJS Presentation</dc:subject>
  <dc:creator>PptxGenJS</dc:creator>
  <cp:lastModifiedBy>PptxGenJS</cp:lastModifiedBy>
  <cp:revision>1</cp:revision>
  <dcterms:created xsi:type="dcterms:W3CDTF">2026-09-11T10:48:06Z</dcterms:created>
  <dcterms:modified xsi:type="dcterms:W3CDTF">2026-09-11T10:48:06Z</dcterms:modified>
</cp:coreProperties>
</file>