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5143500" cy="9144000"/>
  <p:embeddedFontLst>
    <p:embeddedFont>
      <p:font typeface="Inter"/>
      <p:regular r:id="rId49"/>
      <p:bold r:id="rId50"/>
      <p:italic r:id="rId51"/>
      <p:boldItalic r:id="rId52"/>
    </p:embeddedFont>
    <p:embeddedFont>
      <p:font typeface="Inter ExtraBold"/>
      <p:bold r:id="rId53"/>
      <p:boldItalic r:id="rId54"/>
    </p:embeddedFont>
    <p:embeddedFont>
      <p:font typeface="Karla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In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-italic.fntdata"/><Relationship Id="rId50" Type="http://schemas.openxmlformats.org/officeDocument/2006/relationships/font" Target="fonts/Inter-bold.fntdata"/><Relationship Id="rId53" Type="http://schemas.openxmlformats.org/officeDocument/2006/relationships/font" Target="fonts/InterExtraBold-bold.fntdata"/><Relationship Id="rId52" Type="http://schemas.openxmlformats.org/officeDocument/2006/relationships/font" Target="fonts/Inter-boldItalic.fntdata"/><Relationship Id="rId11" Type="http://schemas.openxmlformats.org/officeDocument/2006/relationships/slide" Target="slides/slide7.xml"/><Relationship Id="rId55" Type="http://schemas.openxmlformats.org/officeDocument/2006/relationships/font" Target="fonts/Karla-regular.fntdata"/><Relationship Id="rId10" Type="http://schemas.openxmlformats.org/officeDocument/2006/relationships/slide" Target="slides/slide6.xml"/><Relationship Id="rId54" Type="http://schemas.openxmlformats.org/officeDocument/2006/relationships/font" Target="fonts/InterExtraBold-boldItalic.fntdata"/><Relationship Id="rId13" Type="http://schemas.openxmlformats.org/officeDocument/2006/relationships/slide" Target="slides/slide9.xml"/><Relationship Id="rId57" Type="http://schemas.openxmlformats.org/officeDocument/2006/relationships/font" Target="fonts/Karla-italic.fntdata"/><Relationship Id="rId12" Type="http://schemas.openxmlformats.org/officeDocument/2006/relationships/slide" Target="slides/slide8.xml"/><Relationship Id="rId56" Type="http://schemas.openxmlformats.org/officeDocument/2006/relationships/font" Target="fonts/Karla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font" Target="fonts/Karla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0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5" Type="http://schemas.openxmlformats.org/officeDocument/2006/relationships/image" Target="../media/image7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57.png"/><Relationship Id="rId5" Type="http://schemas.openxmlformats.org/officeDocument/2006/relationships/image" Target="../media/image6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7.png"/><Relationship Id="rId5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hyperlink" Target="http://www.youtube.com/watch?v=goqyLABRxjo" TargetMode="External"/><Relationship Id="rId5" Type="http://schemas.openxmlformats.org/officeDocument/2006/relationships/image" Target="../media/image4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8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55.png"/><Relationship Id="rId5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6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60.png"/><Relationship Id="rId5" Type="http://schemas.openxmlformats.org/officeDocument/2006/relationships/hyperlink" Target="https://app.chalkie.ai/player/a2b70bdf-ebd9-4d35-ae46-42ec9f0f03a0/4a93af40-05cf-43b9-abf6-4b14ac8f15bc?source=exported_presentation&amp;exportFormat=slide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60.png"/><Relationship Id="rId5" Type="http://schemas.openxmlformats.org/officeDocument/2006/relationships/hyperlink" Target="https://app.chalkie.ai/player/a2b70bdf-ebd9-4d35-ae46-42ec9f0f03a0/4a93af40-05cf-43b9-abf6-4b14ac8f15bc?source=exported_presentation&amp;exportFormat=slide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69.png"/><Relationship Id="rId5" Type="http://schemas.openxmlformats.org/officeDocument/2006/relationships/image" Target="../media/image8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80.png"/><Relationship Id="rId5" Type="http://schemas.openxmlformats.org/officeDocument/2006/relationships/image" Target="../media/image76.png"/><Relationship Id="rId6" Type="http://schemas.openxmlformats.org/officeDocument/2006/relationships/image" Target="../media/image89.png"/><Relationship Id="rId7" Type="http://schemas.openxmlformats.org/officeDocument/2006/relationships/image" Target="../media/image7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7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78.png"/><Relationship Id="rId5" Type="http://schemas.openxmlformats.org/officeDocument/2006/relationships/image" Target="../media/image8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01297edbf284c39882da3aa24ea8b329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914900" y="1280160"/>
            <a:ext cx="382905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3240"/>
              <a:buFont typeface="Inter ExtraBold"/>
              <a:buNone/>
            </a:pPr>
            <a:r>
              <a:rPr b="0" i="0" lang="en-US" sz="32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Fundamentos Matemáticos para Gestão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14900" y="293751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Operações, Proporções e Tomada de Decisão Empresarial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db3e87a736cd31fc5ede7e73d821d1ce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14401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Um Enigma de Produção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5750" y="205740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dobrarmos a quantidade de operadores em uma linha de montagem, o tempo total de produção cai pela metade ou o consumo de insumos dobra? Na gestão moderna, intuição sem cálculo custa caro.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0fa0974f29dc4b1230f9f3b689a6dc00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3714750" y="2400300"/>
            <a:ext cx="5143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714750" y="3177540"/>
            <a:ext cx="5143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3714750" y="3954780"/>
            <a:ext cx="5143500" cy="90297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 da Unidade Curricular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714750" y="1291590"/>
            <a:ext cx="145161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PLANO DE CURSO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714750" y="160020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Desenvolver competências analíticas para gerir processos operacionais e financeiros.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829050" y="2514600"/>
            <a:ext cx="49149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Dominar operações, razões e proporções.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829050" y="3291840"/>
            <a:ext cx="49149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Dimensionar recursos, estoques e custos.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829050" y="4069080"/>
            <a:ext cx="49149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Decidir estrategicamente usando dados reais.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0" name="Google Shape;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930006c6a1cb70376f8954fc47acc785.png" id="51" name="Google Shape;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623dd14a6e0aad25d984d83355384fad.png" id="52" name="Google Shape;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46c7a88c054dd8f74981191678257bbe.png" id="53" name="Google Shape;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2d9accb4cbce0ddf29965f957b87b76e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Essencial da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Razão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Comparação direta entre duas grandezas por meio de uma divisão.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491740" y="2731770"/>
            <a:ext cx="197739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Proporção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Igualdade matemática entre duas razões que mantém relações de escala constantes.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Custo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Valor monetário consumido na aquisição de insumos, mão de obra e operações.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Eficiência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Capacidade de gerar o máximo resultado útil com o menor consumo de recursos.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eef514edd7bc2774036e2605f5dce5e2.png"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Conjuntos Numéricos no Cotidiano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285750" y="857250"/>
            <a:ext cx="24231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FUNDAMENTOS MATEMÁTICOS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285750" y="116586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Dados gerenciais usam conjuntos: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Naturais (N)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estoque físico.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Inteiros (Z)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saldos bancários.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Racionais (Q)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taxas, pesos, valores.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Reais (R)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índices contínuos.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85750" y="324612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65810" y="336042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Estoque é positivo; balanços usam negativos.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ad0a5d71db405ed83c124d7b323b25d7.png"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601c15e9ccaeff90905267cb22251656.png" id="80" name="Google Shape;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Aplicações Empresariais dos Números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285750" y="298323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Naturais e Inteiros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Controle de inventário: 150 motores em estoque (número natural). Se a conta bancária fechar no vermelho em R$ 4.200, registramos -4200 (número inteiro).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4652010" y="298323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Racionais e Reais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Precificação e consumo: 3,75 metros de cabo de cobre por unidade montada ou custo unitário de R$ 14,80 por embalagem expedida.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30195eb8ad20e02a30c93fbdb67e1903.png"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91" name="Google Shape;91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Operações Básicas na Empresa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85750" y="857250"/>
            <a:ext cx="24231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FUNDAMENTOS MATEMÁTICOS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285750" y="116586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Rotina administrativa: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Adição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somar receitas.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Subtração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deduzir despesas e tributos.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Multiplicação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projetar lotes e insumos.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Divisão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calcular custos e rateios.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285750" y="34975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400050" y="36461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765810" y="36118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Dividir custo total por unidades evita erros de preço.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02" name="Google Shape;1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Conjuntos e Operações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dos seguintes registros empresariais pertence obrigatoriamente ao conjunto dos números inteiros não naturais?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peso líquido de 4,75 kg de matéria-prima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faturamento bruto de R$ 12.000,00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saldo bancário devedor de R$ -1.500,00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contagem física de 28 caixas de ferramentas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Conjuntos e Operações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dos seguintes registros empresariais pertence obrigatoriamente ao conjunto dos números inteiros não naturais?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peso líquido de 4,75 kg de matéria-prima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faturamento bruto de R$ 12.000,00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saldo bancário devedor de R$ -1.500,00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contagem física de 28 caixas de ferramentas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79ee53e53532c4fd0bbcc9ecac9651c6.png" id="137" name="Google Shape;1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38" name="Google Shape;138;p12"/>
          <p:cNvSpPr/>
          <p:nvPr/>
        </p:nvSpPr>
        <p:spPr>
          <a:xfrm>
            <a:off x="3714750" y="53721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Conceito Gerencial de Razão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3714750" y="1657350"/>
            <a:ext cx="21945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PROPORÇÕES E PROCESSOS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3714750" y="196596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razão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é o quociente entre duas grandezas. Se uma transportadora entrega 450 encomendas em 5 horas, a produtividade é: 450 ÷ 5 = 90 encomendas/hora.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3714750" y="3257550"/>
            <a:ext cx="51435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"/>
          <p:cNvSpPr/>
          <p:nvPr/>
        </p:nvSpPr>
        <p:spPr>
          <a:xfrm>
            <a:off x="38290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4194810" y="3371850"/>
            <a:ext cx="4549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Liquidez corrente: razão entre ativos e passivos, indicando a saúde financeira.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49" name="Google Shape;1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ffe4df13ad3a59da710e0756cb860807.png" id="150" name="Google Shape;1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eef6f701707981a455c0f99e14b0db35.png" id="151" name="Google Shape;15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52" name="Google Shape;152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Proporção: Igualdade de Razões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285750" y="298323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Propriedade Fundamental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toda proporção a/b = c/d, o produto dos extremos é rigorosamente igual ao produto dos meios: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× d = b × c.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4652010" y="298323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Aplicação Prática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2 máquinas produzem 80 unidades, 6 máquinas idênticas produzirão 240 unidades no mesmo período: 2/80 = 6/240.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60" name="Google Shape;1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1bcc059a8913a8d8794fc427d1459b4f.png" id="161" name="Google Shape;1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62" name="Google Shape;162;p14"/>
          <p:cNvSpPr/>
          <p:nvPr/>
        </p:nvSpPr>
        <p:spPr>
          <a:xfrm>
            <a:off x="285750" y="29718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Panorama das Grandezas Proporcionais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285750" y="1417320"/>
            <a:ext cx="21945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PROPORÇÕES E PROCESSOS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285750" y="172593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gestão de processos, compreender se duas grandezas caminham na mesma direção ou em sentidos opostos é crucial para dimensionar recursos humanos, prazos de entrega e materiais de forma sustentável.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285750" y="3257550"/>
            <a:ext cx="5143500" cy="1348740"/>
          </a:xfrm>
          <a:prstGeom prst="roundRect">
            <a:avLst>
              <a:gd fmla="val 6780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765810" y="3371850"/>
            <a:ext cx="45491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Nunca aplique fórmulas antes de analisar qualitativamente se a relação entre as variáveis é direta ou inversa.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6c36c1a1e3d909b45a07ede578446a3f.png" id="174" name="Google Shape;1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1ecb33a4d714dfc2a1a3ed06146d7a2a.png" id="175" name="Google Shape;1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76" name="Google Shape;176;p15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Grandezas Diretas vs. Inversas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Diretamente Proporcionais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uma grandeza aumenta, a outra aumenta na mesma razão. Exemplo: quanto maior a produção, maior o consumo de matéria-prima.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Inversamente Proporcionais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uma grandeza aumenta, a outra diminui na razão inversa. Exemplo: mais operadores no mesmo posto reduzem o tempo da tarefa.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Análise Crítica de Grandezas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 aumentarmos a velocidade de tráfego dos caminhões de entrega de uma frota, o tempo total da rota aumentará proporcionalmente.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🤔 </a:t>
            </a:r>
            <a:r>
              <a:rPr b="0" i="1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Análise Crítica de Grandezas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 aumentarmos a velocidade de tráfego dos caminhões de entrega de uma frota, o tempo total da rota aumentará proporcionalmente.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1440"/>
              <a:buFont typeface="Inter ExtraBold"/>
              <a:buNone/>
            </a:pPr>
            <a:r>
              <a:rPr b="0" i="0" lang="en-US" sz="14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Velocidade e tempo de percurso são grandezas inversamente proporcionais: maior velocidade resulta em menor tempo de viagem.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3178385a1bd7a85d4de085f5a827d4fe.png" id="213" name="Google Shape;2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Regra de Três Simples Direta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285750" y="857250"/>
            <a:ext cx="268605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DIMENSIONAMENTO OPERACIONAL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Regra de três resolve problemas com duas grandezas e três valores conhecidos.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120kg para 800 frascos. Quanto para 2.000?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800 frascos → 120 kg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2.000 frascos → x kg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800x = 240.000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x = 300 kg.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285750" y="380619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400050" y="39547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765810" y="392049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Multiplicação cruzada: grandezas proporcionais.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25" name="Google Shape;2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584a0123e7c0040f70dfda72e26cfb7e.png" id="226" name="Google Shape;2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Regra de Três Simples Inversa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286250" y="857250"/>
            <a:ext cx="268605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DIMENSIONAMENTO OPERACIONAL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Relação inversa: multiplique em linha.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6 analistas levam 10 dias. Com 15, quantos dias?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6 analistas → 10 dias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15 analistas → x dias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15x = 60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x = 4 dias.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286250" y="3566160"/>
            <a:ext cx="4572000" cy="854964"/>
          </a:xfrm>
          <a:prstGeom prst="roundRect">
            <a:avLst>
              <a:gd fmla="val 10695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4400550" y="37147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766310" y="3680460"/>
            <a:ext cx="39776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Mais mão de obra reduz o prazo.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e55ecfe6702459449ae20917630e639d.png" id="239" name="Google Shape;2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240" name="Google Shape;240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Fixação: Proporcionalidade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Em grandezas diretamente proporcionais a multiplicação ocorre em ____, enquanto em grandezas inversamente proporcionais o produto das grandezas é ____.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constante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977390" y="3771900"/>
            <a:ext cx="10287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nulo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14325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aleatório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834890" y="3771900"/>
            <a:ext cx="10287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cruz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000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linha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e55ecfe6702459449ae20917630e639d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Fixação: Proporcionalidade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Em grandezas diretamente proporcionais a multiplicação ocorre em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Inter"/>
                <a:ea typeface="Inter"/>
                <a:cs typeface="Inter"/>
                <a:sym typeface="Inter"/>
              </a:rPr>
              <a:t>cruz</a:t>
            </a: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, enquanto em grandezas inversamente proporcionais o produto das grandezas é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Inter"/>
                <a:ea typeface="Inter"/>
                <a:cs typeface="Inter"/>
                <a:sym typeface="Inter"/>
              </a:rPr>
              <a:t>constante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constante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977390" y="3771900"/>
            <a:ext cx="10287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nulo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14325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aleatório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834890" y="3771900"/>
            <a:ext cx="10287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cruz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6000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linha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53146c5ed9350bd3fbac705a30f85dc9.png"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e85973f682b2044adda61065ba44fd0f.png" id="271" name="Google Shape;2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Consumo de Materiais em Escala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Lote Econômico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consumo de insumos na indústria cresce em escala direta com o volume programado. Saber a razão por unidade previne paradas fabris por ruptura.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Controle de Desperdício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Desvios na proporção padrão acusam vazamentos, falhas mecânicas ou erros de medição na linha de envase.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80" name="Google Shape;2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0d3739f559b585a8356aa21496268212.png" id="281" name="Google Shape;2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285750" y="133731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Desafio da Escala Operacional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85750" y="238887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ocorre quando o prazo, a quantidade de máquinas, as horas de trabalho e o volume de produtos variam simultaneamente? Entramos no domínio da regra de três composta.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/>
          <p:nvPr/>
        </p:nvSpPr>
        <p:spPr>
          <a:xfrm>
            <a:off x="171450" y="17030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2377440" y="17030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4572000" y="17030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6777990" y="17030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Regra de Três Composta: Estrutura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285750" y="78867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resolver problemas com mais de duas grandezas, isolamos a grandeza da incógnita e comparamos cada uma das demais diretamente com 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285750" y="21602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Monte a tabela alinhando todas as grandezas em colunas distintas.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2491740" y="21602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Compare a coluna da incógnita com as outras: direta (D) ou inversa (I).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686300" y="21602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Inverta os termos das grandezas inversas antes de montar a proporção.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6892290" y="21602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Isole a variável x e calcule a solução final com rigor aritmético.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f1bd1b69b59ad03a36ed155183ea121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07" name="Google Shape;307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Caso Guiado: Regra Composta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285750" y="857250"/>
            <a:ext cx="268605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DIMENSIONAMENTO OPERACIONAL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 impressoras imprimem 1.200 catálogos em 6h/dia. Quantos 6 impressoras produzem em 8h/dia?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Catálogos/Impressoras: Direta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Catálogos/Horas: Direta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1.200/x = (4/6) × (6/8)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1.200/x = 24/48 = 1/2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x = 2.400 catálogos.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285750" y="379476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400050" y="39433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765810" y="390906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Com 50% mais máquinas e 33% mais tempo, a produção dobrou.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18" name="Google Shape;3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Sequência da Resolução Composta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metodológicos para resolver uma regra de três composta na gestão: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Comparar cada grandeza com a incógnita para classificar como direta ou inversa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Inverter as frações classificadas como inversamente proporcionais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Mapear as grandezas e organizar os dados em linhas e colunas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Igualar a razão da incógnita ao produto das demais e calcular o valor final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30" name="Google Shape;3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Sequência da Resolução Composta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metodológicos para resolver uma regra de três composta na gestão: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Comparar cada grandeza com a incógnita para classificar como direta ou inversa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Inverter as frações classificadas como inversamente proporcionais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Mapear as grandezas e organizar os dados em linhas e colunas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Igualar a razão da incógnita ao produto das demais e calcular o valor final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47" name="Google Shape;3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Fundamentos da Tomada de Decisão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Modelagem quantitativa guia decisões gerenciais e operacionais: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2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56" name="Google Shape;3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cd5b03463a0aa15cc0bc9bbd5895bd89.png" id="357" name="Google Shape;35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58" name="Google Shape;358;p29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Cálculo de Custos Operacionais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3714750" y="1291590"/>
            <a:ext cx="15887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CUSTOS E DECISÃO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3714750" y="16002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Custos fabris: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Fixos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aluguel, seguros, salários (independentes da produção).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Variáveis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matéria-prima, energia (proporcionais à produção).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CT = CF + (CVu × Qtd).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3714750" y="3634740"/>
            <a:ext cx="51435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3829050" y="37833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4194810" y="3749040"/>
            <a:ext cx="4549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Exemplo: CF R$ 10.000, CVu R$ 15. Produzir 1.000 unidades: CT = R$ 25.000.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69" name="Google Shape;3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441c84da067898dd6224b46ed4c05a21.png" id="370" name="Google Shape;37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e7fed1ee4151017f39d870b4b6ee6fe2.png" id="371" name="Google Shape;37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72" name="Google Shape;372;p30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Estudo de Caso: Otimização de Estoque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Problema do Estoque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empresa Alfa consome 600 kg de resina por semana. O pedido demora 2 semanas para chegar do fornecedor.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Ponto de Ressuprimento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Consumo no prazo = 600 × 2 = 1.200 kg. Adicionando margem de segurança de 300 kg, a compra deve ocorrer ao atingir 1.500 kg.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80" name="Google Shape;38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53b48e04e65a61b6ad330a04a35f392e.png" id="381" name="Google Shape;38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82" name="Google Shape;382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Dimensionando a Equipe de Suporte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285750" y="857250"/>
            <a:ext cx="15887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CUSTOS E DECISÃO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Central recebe 720 chamados/turno (8h). Analista atende 15/h.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Capacidade/analista: 15 × 8 = 120 chamados.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Analistas necessários: 720 ÷ 120 = 6.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volume subir para 1.080: 1.080 ÷ 120 = 9 analistas.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285750" y="345186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765810" y="356616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Proporção evita sobrecarga e custos com ociosidade.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393" name="Google Shape;3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Compreensão Oral: Reunião Operacional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e responda às perguntas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é a produção diária da linha com as máquinas atuais?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Quantas máquinas estão ativas na fábrica atualmente?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é a meta exigida pelo novo contrato com o cliente?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foi a solução calculada por Carlos para atender à demanda?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fafe1157-85a6-4371-9ce9-2200f1c0cdef/audio_icon.png" id="405" name="Google Shape;40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2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Alinhamento de Produção e Estoque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414" name="Google Shape;4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Compreensão Oral: Reunião Operacional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Verifica as tuas respostas abaixo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fábrica produz 500 peças por dia operando 10 horas.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Atualmente estão operando 4 máquinas.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nova meta é atingir 1.000 peças diárias.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Adicionar 4 máquinas idênticas ou dobrar o turno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fafe1157-85a6-4371-9ce9-2200f1c0cdef/audio_icon.png" id="427" name="Google Shape;4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3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Alinhamento de Produção e Estoque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436" name="Google Shape;4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Fixação de Vocabulário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Eficiência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Proporção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Razão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Custo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Gasto monetário decorrente de bens e serviços aplicados na produção.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Obtenção do melhor rendimento produtivo utilizando o mínimo de recursos.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Quociente da divisão comparativa entre duas medidas ou grandezas.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Igualdade que expressa equivalência constante entre duas razões.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452" name="Google Shape;4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Fixação de Vocabulário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Eficiência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Proporção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Razão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Custo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5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Gasto monetário decorrente de bens e serviços aplicados na produção.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Obtenção do melhor rendimento produtivo utilizando o mínimo de recursos.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Quociente da divisão comparativa entre duas medidas ou grandezas.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Igualdade que expressa equivalência constante entre duas razões.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35"/>
          <p:cNvCxnSpPr/>
          <p:nvPr/>
        </p:nvCxnSpPr>
        <p:spPr>
          <a:xfrm>
            <a:off x="2571750" y="16230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35"/>
          <p:cNvCxnSpPr/>
          <p:nvPr/>
        </p:nvCxnSpPr>
        <p:spPr>
          <a:xfrm>
            <a:off x="2571750" y="2537460"/>
            <a:ext cx="994410" cy="180594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35"/>
          <p:cNvCxnSpPr/>
          <p:nvPr/>
        </p:nvCxnSpPr>
        <p:spPr>
          <a:xfrm flipH="1" rot="10800000">
            <a:off x="2571750" y="34290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35"/>
          <p:cNvCxnSpPr/>
          <p:nvPr/>
        </p:nvCxnSpPr>
        <p:spPr>
          <a:xfrm flipH="1" rot="10800000">
            <a:off x="2571750" y="1600200"/>
            <a:ext cx="994410" cy="27660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35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477" name="Google Shape;4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34a6e00f54824ac6a64e27bf8a921923.png" id="478" name="Google Shape;47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152ed5468c08ec8e7bf39290c738740d.png" id="479" name="Google Shape;47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80" name="Google Shape;480;p36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Simulação de Tomada de Decisão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Dilema do Gerente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lote urgente de 3.000 peças deve ser entregue em 5 dias. Nossa capacidade normal é de 400 peças por dia com 8 operadores.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Resolução Analítica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Demanda diária necessária = 3.000 ÷ 5 = 600 peças/dia. Se 8 operadores geram 400, para gerar 600 precisamos de: (8 × 600) ÷ 400 = 12 operadores.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488" name="Google Shape;4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88f2cf22d50efe57d124336ea25cb3a9.png" id="489" name="Google Shape;48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732f9328134870d4fcd15426f7222b6a.png" id="490" name="Google Shape;49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91" name="Google Shape;491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Decisão: Horas Extras ou Contratação?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7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Para atender ao aumento de produção de 400 para 600 peças diárias, a empresa deve contratar 4 trabalhadores temporários ou pagar horas extras para a equipe atual de 8 pessoas? Quais variáveis matemáticas e humanas devem ser avaliadas?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498" name="Google Shape;4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88f2cf22d50efe57d124336ea25cb3a9.png" id="499" name="Google Shape;49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Decisão: Horas Extras ou Contratação?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8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Analise custos de encargos e treinamento de temporários versus 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adicional de 50% sobre horas extras da equipe atual.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Pontue a fadiga e a queda na produtividade horária quando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turnos são estendidos por períodos longos.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08" name="Google Shape;50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1022538f40d055d884afd713d20adb67.png" id="509" name="Google Shape;50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10" name="Google Shape;510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Armadilhas Comuns nos Cálculos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9"/>
          <p:cNvSpPr/>
          <p:nvPr/>
        </p:nvSpPr>
        <p:spPr>
          <a:xfrm>
            <a:off x="285750" y="857250"/>
            <a:ext cx="14744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SÍNTESE PRÁTICA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9"/>
          <p:cNvSpPr/>
          <p:nvPr/>
        </p:nvSpPr>
        <p:spPr>
          <a:xfrm>
            <a:off x="285750" y="1165860"/>
            <a:ext cx="45720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Confundir grandezas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tratar inversas como diretas (ex: equipe vs. tempo).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Errar unidades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misturar medidas sem conversão (ex: horas/minutos).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Omitir custos fixos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calcular custo total ignorando taxas fixas.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285750" y="312039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9"/>
          <p:cNvSpPr/>
          <p:nvPr/>
        </p:nvSpPr>
        <p:spPr>
          <a:xfrm>
            <a:off x="400050" y="32689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765810" y="323469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Padronize unidades de tempo e massa antes de montar proporções.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21" name="Google Shape;52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73b00b06018457b3e2e66b2e7c88238f.png" id="522" name="Google Shape;52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59e323ea76eb1b8e75b9bc7cdb04e126.png" id="523" name="Google Shape;52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5f0658a299042a5f3a912e16291f1c72.png" id="524" name="Google Shape;52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085c1c727548755b67e4c2770d767ffe.png" id="525" name="Google Shape;52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526" name="Google Shape;526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Síntese dos Métodos Proporcionais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0"/>
          <p:cNvSpPr/>
          <p:nvPr/>
        </p:nvSpPr>
        <p:spPr>
          <a:xfrm>
            <a:off x="285750" y="34175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Razão Unitária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Rendimento base por unidade de tempo, pessoa ou máquina.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0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Proporção Direta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Crescimento conjunto de variáveis com quociente constante.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0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Proporção Inversa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Relação onde o aumento de uma reduz a outra proporcionalmente.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0"/>
          <p:cNvSpPr/>
          <p:nvPr/>
        </p:nvSpPr>
        <p:spPr>
          <a:xfrm>
            <a:off x="6892290" y="27317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Proporção Composta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Integração de múltiplos fatores para dimensionamento global.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36" name="Google Shape;53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74db676abbf9321227487417a15623c8.png" id="537" name="Google Shape;53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538" name="Google Shape;538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de Fixação Rápida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1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veículo percorre uma distância em 6 horas a 80 km/h. Quanto tempo levaria se trafegasse a 120 km/h?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1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5 quilos de matéria-prima custam R$ 35,00, qual é o valor exato de 18 quilos desse mesmo insumo?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1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Como se calcula o custo total de fabricação de um lote quando há custos fixos e variáveis?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47" name="Google Shape;54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de Fixação Rápida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2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 horas (relação inversa: 6 × 80 = x × 120 -&gt; 480 / 120 = 4).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2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R$ 126,00 (relação direta: 35 / 5 = 7 reais por kg; 18 × 7 = 126).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2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Soma-se o custo fixo ao produto do custo variável unitário pela quantidade fabricada.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58" name="Google Shape;55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b8e2e30cbb6ba10a8acb00af0ff4be05.png" id="559" name="Google Shape;55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68e1eb15992a6266209c70dfa5b3b17a.png" id="560" name="Google Shape;56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561" name="Google Shape;561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Estudo de Caso: Dimensionamento Real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3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RápidaLog: 5 caminhões, 240 entregas, 6 dias.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Dias para 480 entregas com 8 caminhões: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(5/8) * (480/240) = 6/x =&gt; 10/8 = 6/x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10x = 48 =&gt; x = 4,8 dias.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Custo total (8 caminhões, 4,8 dias):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Op: 8 * 4,8 * R$ 350 = R$ 13.440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Total: R$ 13.440 + R$ 1.500 = R$ 14.940.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68" name="Google Shape;56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Avaliação Final: Fundamentos e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Analise as afirmações abaixo e assinale as duas alternativas verdadeiras sobre as operações e proporções aplicadas à gestão: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Em problemas de regra de três simples inversa, multiplicamos os valores cruzando numerador e denominador.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quantidade de trabalhadores e o tempo para concluir uma tarefa de ritmo constante são grandezas inversamente proporcionais.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Ao triplicar a velocidade de atendimento em um caixa, o tempo de espera do cliente triplica.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custo variável total de uma fábrica cresce em proporção direta com o volume de unidades fabricadas.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584" name="Google Shape;5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Avaliação Final: Fundamentos e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Analise as afirmações abaixo e assinale as duas alternativas verdadeiras sobre as operações e proporções aplicadas à gestão: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Em problemas de regra de três simples inversa, multiplicamos os valores cruzando numerador e denominador.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quantidade de trabalhadores e o tempo para concluir uma tarefa de ritmo constante são grandezas inversamente proporcionais.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Ao triplicar a velocidade de atendimento em um caixa, o tempo de espera do cliente triplica.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custo variável total de uma fábrica cresce em proporção direta com o volume de unidades fabricadas.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5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fafe1157-85a6-4371-9ce9-2200f1c0cdef/img_67db2e6a5fb9230f9de86baa7e51a1c5.png" id="603" name="Google Shape;6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fafe1157-85a6-4371-9ce9-2200f1c0cdef/img_071de5c823ea3ae943514d5b6ecb069f.png" id="604" name="Google Shape;60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605" name="Google Shape;605;p4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Conexão com a Próxima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6"/>
          <p:cNvSpPr/>
          <p:nvPr/>
        </p:nvSpPr>
        <p:spPr>
          <a:xfrm>
            <a:off x="285750" y="857250"/>
            <a:ext cx="14744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SÍNTESE PRÁTICA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6"/>
          <p:cNvSpPr/>
          <p:nvPr/>
        </p:nvSpPr>
        <p:spPr>
          <a:xfrm>
            <a:off x="285750" y="116586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Dominamos operações, proporções e dimensionamento de recursos. Na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Aula 2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veremos: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Porcentagem, margens e descontos.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Média, mediana e moda.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Padrões em séries temporais.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6"/>
          <p:cNvSpPr/>
          <p:nvPr/>
        </p:nvSpPr>
        <p:spPr>
          <a:xfrm>
            <a:off x="285750" y="318897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6"/>
          <p:cNvSpPr/>
          <p:nvPr/>
        </p:nvSpPr>
        <p:spPr>
          <a:xfrm>
            <a:off x="400050" y="33375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765810" y="330327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Matemática converte dados brutos em decisões lucrativas.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