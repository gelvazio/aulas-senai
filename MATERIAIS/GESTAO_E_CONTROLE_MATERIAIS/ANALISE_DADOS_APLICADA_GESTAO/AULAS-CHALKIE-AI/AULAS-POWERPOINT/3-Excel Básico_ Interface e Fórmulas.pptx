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5143500" cy="9144000"/>
  <p:embeddedFontLst>
    <p:embeddedFont>
      <p:font typeface="Inter"/>
      <p:regular r:id="rId46"/>
      <p:bold r:id="rId47"/>
      <p:italic r:id="rId48"/>
      <p:boldItalic r:id="rId49"/>
    </p:embeddedFont>
    <p:embeddedFont>
      <p:font typeface="Inter ExtraBold"/>
      <p:bold r:id="rId50"/>
      <p:boldItalic r:id="rId51"/>
    </p:embeddedFont>
    <p:embeddedFont>
      <p:font typeface="Karla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font" Target="fonts/Inter-regular.fntdata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Inter-italic.fntdata"/><Relationship Id="rId47" Type="http://schemas.openxmlformats.org/officeDocument/2006/relationships/font" Target="fonts/Inter-bold.fntdata"/><Relationship Id="rId49" Type="http://schemas.openxmlformats.org/officeDocument/2006/relationships/font" Target="fonts/Inter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InterExtraBold-boldItalic.fntdata"/><Relationship Id="rId50" Type="http://schemas.openxmlformats.org/officeDocument/2006/relationships/font" Target="fonts/InterExtraBold-bold.fntdata"/><Relationship Id="rId53" Type="http://schemas.openxmlformats.org/officeDocument/2006/relationships/font" Target="fonts/Karla-bold.fntdata"/><Relationship Id="rId52" Type="http://schemas.openxmlformats.org/officeDocument/2006/relationships/font" Target="fonts/Karla-regular.fntdata"/><Relationship Id="rId11" Type="http://schemas.openxmlformats.org/officeDocument/2006/relationships/slide" Target="slides/slide7.xml"/><Relationship Id="rId55" Type="http://schemas.openxmlformats.org/officeDocument/2006/relationships/font" Target="fonts/Karla-boldItalic.fntdata"/><Relationship Id="rId10" Type="http://schemas.openxmlformats.org/officeDocument/2006/relationships/slide" Target="slides/slide6.xml"/><Relationship Id="rId54" Type="http://schemas.openxmlformats.org/officeDocument/2006/relationships/font" Target="fonts/Karla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9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hyperlink" Target="http://www.youtube.com/watch?v=W2vLx87KiKU" TargetMode="External"/><Relationship Id="rId5" Type="http://schemas.openxmlformats.org/officeDocument/2006/relationships/image" Target="../media/image2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65.png"/><Relationship Id="rId6" Type="http://schemas.openxmlformats.org/officeDocument/2006/relationships/image" Target="../media/image64.png"/><Relationship Id="rId7" Type="http://schemas.openxmlformats.org/officeDocument/2006/relationships/image" Target="../media/image7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5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6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53.png"/><Relationship Id="rId5" Type="http://schemas.openxmlformats.org/officeDocument/2006/relationships/image" Target="../media/image5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8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7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5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8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8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52.png"/><Relationship Id="rId5" Type="http://schemas.openxmlformats.org/officeDocument/2006/relationships/hyperlink" Target="https://app.chalkie.ai/player/a2b70bdf-edbe-4c6f-a65a-287b86004263/5f2e84ce-fe6e-4e3a-96cc-23036b41c1c6?source=exported_presentation&amp;exportFormat=slides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52.png"/><Relationship Id="rId5" Type="http://schemas.openxmlformats.org/officeDocument/2006/relationships/hyperlink" Target="https://app.chalkie.ai/player/a2b70bdf-edbe-4c6f-a65a-287b86004263/5f2e84ce-fe6e-4e3a-96cc-23036b41c1c6?source=exported_presentation&amp;exportFormat=slides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7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Relationship Id="rId4" Type="http://schemas.openxmlformats.org/officeDocument/2006/relationships/image" Target="../media/image6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77.png"/><Relationship Id="rId5" Type="http://schemas.openxmlformats.org/officeDocument/2006/relationships/image" Target="../media/image84.png"/><Relationship Id="rId6" Type="http://schemas.openxmlformats.org/officeDocument/2006/relationships/image" Target="../media/image67.png"/><Relationship Id="rId7" Type="http://schemas.openxmlformats.org/officeDocument/2006/relationships/image" Target="../media/image7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Relationship Id="rId4" Type="http://schemas.openxmlformats.org/officeDocument/2006/relationships/image" Target="../media/image8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Relationship Id="rId4" Type="http://schemas.openxmlformats.org/officeDocument/2006/relationships/image" Target="../media/image68.png"/><Relationship Id="rId5" Type="http://schemas.openxmlformats.org/officeDocument/2006/relationships/image" Target="../media/image7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Relationship Id="rId4" Type="http://schemas.openxmlformats.org/officeDocument/2006/relationships/image" Target="../media/image7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5bd8777c0873384491f30a23b8fb897a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260" y="742950"/>
            <a:ext cx="3657600" cy="3657600"/>
          </a:xfrm>
          <a:prstGeom prst="roundRect">
            <a:avLst>
              <a:gd fmla="val 3750" name="adj"/>
            </a:avLst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4914900" y="1165860"/>
            <a:ext cx="382905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3240"/>
              <a:buFont typeface="Inter ExtraBold"/>
              <a:buNone/>
            </a:pPr>
            <a:r>
              <a:rPr b="0" i="0" lang="en-US" sz="324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Excel Básico: Interface e Fórmulas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914900" y="2823210"/>
            <a:ext cx="382905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Dominando a ferramenta central da análise de dados e gestão moderna.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25" name="Google Shape;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df957e88358bfb96afdaa78d663f0e5a.png" id="26" name="Google Shape;2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7" name="Google Shape;27;p4"/>
          <p:cNvSpPr/>
          <p:nvPr/>
        </p:nvSpPr>
        <p:spPr>
          <a:xfrm>
            <a:off x="285750" y="168021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 Poder das Planilhas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285750" y="2297430"/>
            <a:ext cx="5143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Você sabia que mais de 80% das decisões corporativas no mundo ainda dependem de planilhas eletrônicas como o Excel?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34" name="Google Shape;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165900b88ff2efac949861f9d8f89a00.png" id="35" name="Google Shape;3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Objetivos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285750" y="857250"/>
            <a:ext cx="73152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METAS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85750" y="116586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Nesta aula de 4 horas, você alcançará três metas práticas essenciais: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Navegar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com confiança pela interface e estruturas do Excel.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Construir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fórmulas matemáticas e funções lógicas e estatísticas.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Automatizar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uma folha de pagamento com referências absolutas.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44" name="Google Shape;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3c5dbe8c9a1d2392bfe25bc0d3a032aa.png" id="45" name="Google Shape;4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95959eee9b6ba6bae5d170b852a62cbb.png" id="46" name="Google Shape;4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f7da455962311ff603056830bc0ef2c5.png" id="47" name="Google Shape;4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2188103cc694a4cafa243707e8950ddb.png" id="48" name="Google Shape;4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49" name="Google Shape;49;p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Vocabulário Essencial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285750" y="341757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Célula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Interseção única entre uma coluna e uma linha na planilha.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2491740" y="273177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Fórmula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Expressão que inicia com sinal de igual para efetuar cálculos.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4686300" y="341757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Função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Comando predefinido que automatiza operações complexas rapidamente.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6892290" y="273177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Referência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Endereço que localiza uma célula específica ou intervalo.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59" name="Google Shape;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9b02840d0ec220ec07f7e278d626d5b8.png" id="60" name="Google Shape;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61" name="Google Shape;61;p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Revisão: Estatística em Vendas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4286250" y="857250"/>
            <a:ext cx="104013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RETOMADA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4286250" y="1165860"/>
            <a:ext cx="457200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Na aula passada, analisamos variações percentuais e dispersão estatística. 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média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resume o desempenho geral da equipe, enquanto 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desvio padrão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mede a consistência: quanto menor o desvio, mais estáveis são os resultados diários.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4286250" y="294894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4400550" y="309753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4766310" y="306324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Variação percentual compara o valor final com o inicial para mostrar crescimento real.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72" name="Google Shape;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Quiz: Média e Desvio Padrão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 a equipe Alpha teve média de 100 vendas com desvio padrão de 5, e a equipe Beta teve média de 100 com desvio padrão de 25, qual equipe é mais regular?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Equipe Beta, pois desvio padrão maior indica desempenho superior.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É impossível determinar sem conhecer a variação percentual dos preços.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Equipe Alpha, pois o menor desvio padrão demonstra maior estabilidade.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Ambas possuem a mesma estabilidade, pois têm a mesma média.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88" name="Google Shape;8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Quiz: Média e Desvio Padrão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 a equipe Alpha teve média de 100 vendas com desvio padrão de 5, e a equipe Beta teve média de 100 com desvio padrão de 25, qual equipe é mais regular?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Equipe Beta, pois desvio padrão maior indica desempenho superior.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É impossível determinar sem conhecer a variação percentual dos preços.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Equipe Alpha, pois o menor desvio padrão demonstra maior estabilidade.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Ambas possuem a mesma estabilidade, pois têm a mesma média.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106" name="Google Shape;1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46f371f7dcf78c91faa4a301513b4049.png" id="107" name="Google Shape;10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108" name="Google Shape;108;p10"/>
          <p:cNvSpPr/>
          <p:nvPr/>
        </p:nvSpPr>
        <p:spPr>
          <a:xfrm>
            <a:off x="285750" y="22402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 Anatomia da Interface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285750" y="2926080"/>
            <a:ext cx="107442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ESTRUTURA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285750" y="323469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interface do Excel é composta pela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Faixa de Opções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no topo, 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Barra de Fórmulas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para digitação e inspeção, e 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Área de Trabalho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 Na base, encontramos as abas de planilhas independentes que compõem uma pasta de trabalho organizada.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116" name="Google Shape;11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b66984b66619e939b832cc79f6cb663a.png" id="117" name="Google Shape;11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4869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76ccc427cffdb0e7d83303e123702c49.png" id="118" name="Google Shape;11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94869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19" name="Google Shape;119;p11"/>
          <p:cNvSpPr/>
          <p:nvPr/>
        </p:nvSpPr>
        <p:spPr>
          <a:xfrm>
            <a:off x="285750" y="33147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Linhas, Colunas e Células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285750" y="314325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Colunas (Letras)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As colunas organizam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campos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verticais de dados, identificadas por letras (A até XFD).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4652010" y="314325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Linhas (Números)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As linhas representam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registros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horizontais, identificadas por números sequenciais (1 a 1.048.576).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127" name="Google Shape;12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7e2b674b055fd9b7eb3e241e4417f097.png" id="128" name="Google Shape;12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29" name="Google Shape;129;p1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Gerenciando Abas de Planilha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285750" y="857250"/>
            <a:ext cx="107442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ESTRUTURA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285750" y="1165860"/>
            <a:ext cx="45720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Um arquivo do Excel chama-se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Pasta de Trabalho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e pode conter dezenas de abas. Em gestão, separamos meses ou departamentos em abas distintas para evitar poluição visual e erros de agrupamento.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2"/>
          <p:cNvSpPr/>
          <p:nvPr/>
        </p:nvSpPr>
        <p:spPr>
          <a:xfrm>
            <a:off x="285750" y="269748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E1F6EF"/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"/>
          <p:cNvSpPr/>
          <p:nvPr/>
        </p:nvSpPr>
        <p:spPr>
          <a:xfrm>
            <a:off x="400050" y="28460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2"/>
          <p:cNvSpPr/>
          <p:nvPr/>
        </p:nvSpPr>
        <p:spPr>
          <a:xfrm>
            <a:off x="765810" y="281178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D3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4D3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Abas organizadas: 'Jan_2026', 'Fev_2026', 'Resumo_Anual'.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140" name="Google Shape;1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00186f94c6aeaaa2171491731c425bcc.png" id="141" name="Google Shape;14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5725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96aedcf5a9eb3c521aff0d6a3b3e7309.png" id="142" name="Google Shape;14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5725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43" name="Google Shape;143;p13"/>
          <p:cNvSpPr/>
          <p:nvPr/>
        </p:nvSpPr>
        <p:spPr>
          <a:xfrm>
            <a:off x="285750" y="24003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Boas Práticas de Digitação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285750" y="305181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Entrada Correta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Um tipo de dado por coluna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Cabeçalhos claros na linha 1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Números sem letras inseridas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4652010" y="305181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Erros Frequentes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Mesclar células em tabelas brutas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Deixar linhas em branco no meio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Char char="•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Digitar 'R$' manualmente na célula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151" name="Google Shape;1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95a612621c852b6407b853f5e6732f4e.png" id="152" name="Google Shape;15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53" name="Google Shape;153;p1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Formatação Inicial de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4286250" y="857250"/>
            <a:ext cx="129159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ORGANIZAÇÃO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4286250" y="1165860"/>
            <a:ext cx="45720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Excel interpreta tipos de dados de maneiras distintas. Ao digitar um número, você deve aplicar a formatação correta pela faixa de opções, e nunca misturar símbolos de moeda no texto da célula.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4286250" y="269748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4"/>
          <p:cNvSpPr/>
          <p:nvPr/>
        </p:nvSpPr>
        <p:spPr>
          <a:xfrm>
            <a:off x="4400550" y="28460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4766310" y="281178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Inter"/>
                <a:ea typeface="Inter"/>
                <a:cs typeface="Inter"/>
                <a:sym typeface="Inter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460606"/>
                </a:solidFill>
                <a:latin typeface="Inter"/>
                <a:ea typeface="Inter"/>
                <a:cs typeface="Inter"/>
                <a:sym typeface="Inter"/>
              </a:rPr>
              <a:t>Digitar 'R$ 50,00' transforma o valor em texto, impedindo somas e médias.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164" name="Google Shape;1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Explorando o Excel na Prática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285750" y="78867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Observe navegação, atalhos e preenchimento automático em tela: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5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0180" y="1337310"/>
            <a:ext cx="6252210" cy="3520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173" name="Google Shape;17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9abcdd11995621bcf227409d4d61ff18.png" id="174" name="Google Shape;17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75" name="Google Shape;175;p1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 Lógica das Fórmulas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285750" y="857250"/>
            <a:ext cx="100584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FÓRMULAS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285750" y="1165860"/>
            <a:ext cx="45720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Toda fórmula no Excel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obrigatoriamente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começa com o sinal de igual (). Esse caractere avisa o software que o conteúdo digitado deve ser calculado matematicamente em vez de tratado como texto comum.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285750" y="294894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400050" y="309753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765810" y="306324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Sem o sinal de igual no início, o Excel exibe a fórmula como texto estático.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186" name="Google Shape;18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3dc1eaaaa20a1639eaf8884e05a6ba18.png" id="187" name="Google Shape;18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36ef6bbd6525681e7582a6f9e166ce2e.png" id="188" name="Google Shape;18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583b3d5d88a190dc484d5312980aada7.png" id="189" name="Google Shape;18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b171a83ec35565a8823d3d655400af7d.png" id="190" name="Google Shape;19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191" name="Google Shape;191;p1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Operadores Matemáticos Básicos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285750" y="3417570"/>
            <a:ext cx="1977390" cy="1147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Soma (+)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Adiciona valores ou referências: 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2491740" y="2731770"/>
            <a:ext cx="1977390" cy="1147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Subtração (-)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Calcula diferenças: 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4686300" y="3417570"/>
            <a:ext cx="1977390" cy="1147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Multiplicação (*)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Utiliza asterisco: 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6892290" y="2731770"/>
            <a:ext cx="1977390" cy="1147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Divisão (/)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Utiliza barra diagonal: 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201" name="Google Shape;20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08cdfbfe210deb17ec90cac1add2bbf0.png" id="202" name="Google Shape;20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03" name="Google Shape;203;p1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Precedência Operacional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4286250" y="857250"/>
            <a:ext cx="100584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FÓRMULAS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4286250" y="1165860"/>
            <a:ext cx="45720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Assim como na matemática escolar, o Excel respeita ordens rígidas: potenciação primeiro, depois multiplicação e divisão, e por fim adição e subtração. Use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parênteses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para forçar a ordem desejada.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4286250" y="269748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E1F6EF"/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4400550" y="28460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4766310" y="281178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D3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4D3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 resulta em 60, enquanto  resulta em 50.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214" name="Google Shape;2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Verificação: Ordem de Cálculo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No Excel, a fórmula =5 + 2 * 10 produzirá exatamente o resultado 70.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🤔 </a:t>
            </a:r>
            <a:r>
              <a:rPr b="0" i="1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226" name="Google Shape;2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Verificação: Ordem de Cálculo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No Excel, a fórmula =5 + 2 * 10 produzirá exatamente o resultado 70.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457200" y="3657600"/>
            <a:ext cx="8229600" cy="854964"/>
          </a:xfrm>
          <a:prstGeom prst="roundRect">
            <a:avLst>
              <a:gd fmla="val 10695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937260" y="3771900"/>
            <a:ext cx="7635240" cy="6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1440"/>
              <a:buFont typeface="Inter ExtraBold"/>
              <a:buNone/>
            </a:pPr>
            <a:r>
              <a:rPr b="0" i="0" lang="en-US" sz="144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A multiplicação tem precedência sobre a soma, resultando em 20 + 5 = 25.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242" name="Google Shape;2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5141530c367a20e9cd730fbe70daa24b.png" id="243" name="Google Shape;24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44" name="Google Shape;244;p2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Função SOMA (SUM)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285750" y="857250"/>
            <a:ext cx="90297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FUNÇÕES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285750" y="1165860"/>
            <a:ext cx="45720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Em vez de somar dezenas de células individualmente (), usamos a função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SOMA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 O operador de dois pontos () indica um intervalo contínuo de células.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285750" y="245745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400050" y="2606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765810" y="257175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A sintaxe  soma todas as 9 células contidas entre B2 e B10.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255" name="Google Shape;2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54352c08190b521a1495539c1ed7c21f.png" id="256" name="Google Shape;25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57" name="Google Shape;257;p2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Função MÉDIA (AVERAGE)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4286250" y="857250"/>
            <a:ext cx="90297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FUNÇÕES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4286250" y="1165860"/>
            <a:ext cx="45720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função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MÉDIA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calcula automaticamente a média aritmética dos valores de um intervalo, dividindo a soma dos números pela quantidade de células numéricas válidas.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4286250" y="269748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2"/>
          <p:cNvSpPr/>
          <p:nvPr/>
        </p:nvSpPr>
        <p:spPr>
          <a:xfrm>
            <a:off x="4400550" y="28460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4766310" y="281178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Células vazias são desconsideradas pela função MÉDIA, não distorcendo o cálculo.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268" name="Google Shape;2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b013ae674bef43f210702d31160ac3c2.png" id="269" name="Google Shape;26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4869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ece232c393b5a1677c9fc32a72413c97.png" id="270" name="Google Shape;27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94869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71" name="Google Shape;271;p23"/>
          <p:cNvSpPr/>
          <p:nvPr/>
        </p:nvSpPr>
        <p:spPr>
          <a:xfrm>
            <a:off x="285750" y="33147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Contagem: NÚMEROS vs VALORES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285750" y="314325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CONT.NÚMEROS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Conta apenas células que contêm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valores numéricos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 Ignora células com texto ou vazias.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4652010" y="314325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CONT.VALORES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Conta qualquer célula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não vazia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, incluindo nomes de funcionários, códigos e datas.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279" name="Google Shape;2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Checagem: Funções de Contagem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Selecione todas as afirmações verdadeiras sobre CONT.NÚMEROS e CONT.VALORES (mais de uma alternativa está correta):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CONT.NÚMEROS conta células vazias como se fossem o número zero.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CONT.VALORES e CONT.NÚMEROS sempre geram resultados idênticos em qualquer coluna.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CONT.NÚMEROS ignora células que contêm palavras como 'Pendente' ou 'Ausente'.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CONT.VALORES contabiliza células preenchidas com nomes de clientes em texto.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295" name="Google Shape;2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Checagem: Funções de Contagem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Selecione todas as afirmações verdadeiras sobre CONT.NÚMEROS e CONT.VALORES (mais de uma alternativa está correta):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CONT.NÚMEROS conta células vazias como se fossem o número zero.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CONT.VALORES e CONT.NÚMEROS sempre geram resultados idênticos em qualquer coluna.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CONT.NÚMEROS ignora células que contêm palavras como 'Pendente' ou 'Ausente'.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CONT.VALORES contabiliza células preenchidas com nomes de clientes em texto.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314" name="Google Shape;31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830636ec353bb052dafabd6d704b0ce4.png" id="315" name="Google Shape;31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16" name="Google Shape;316;p2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Lógica Condicional: Função SE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285750" y="857250"/>
            <a:ext cx="76581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LÓGICA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285750" y="1165860"/>
            <a:ext cx="45720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função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avalia uma condição lógica e retorna um valor se a condição for verdadeira e outro se for falsa. É a base da tomada de decisão automatizada em sistemas gerenciais.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285750" y="2697480"/>
            <a:ext cx="4572000" cy="854964"/>
          </a:xfrm>
          <a:prstGeom prst="roundRect">
            <a:avLst>
              <a:gd fmla="val 10695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6"/>
          <p:cNvSpPr/>
          <p:nvPr/>
        </p:nvSpPr>
        <p:spPr>
          <a:xfrm>
            <a:off x="400050" y="28460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765810" y="2811780"/>
            <a:ext cx="3977640" cy="6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Sintaxe: 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327" name="Google Shape;32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077d6b8e874d891fb93b34202f355049.png" id="328" name="Google Shape;32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600200"/>
            <a:ext cx="85725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29" name="Google Shape;329;p27"/>
          <p:cNvSpPr/>
          <p:nvPr/>
        </p:nvSpPr>
        <p:spPr>
          <a:xfrm>
            <a:off x="285750" y="4343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Exemplo Prático da Função SE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7"/>
          <p:cNvSpPr/>
          <p:nvPr/>
        </p:nvSpPr>
        <p:spPr>
          <a:xfrm>
            <a:off x="285750" y="105156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Analisando o desempenho de um vendedor cuja meta mensal é de 10.000 reais: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7"/>
          <p:cNvSpPr/>
          <p:nvPr/>
        </p:nvSpPr>
        <p:spPr>
          <a:xfrm>
            <a:off x="285750" y="379476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Como o valor em B2 (12.500) é maior ou igual a 10.000, o Excel escreve instantaneamente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'Atingiu'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337" name="Google Shape;33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6a704c01922cef38075ae02eee0844a2.png" id="338" name="Google Shape;33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339" name="Google Shape;339;p28"/>
          <p:cNvSpPr/>
          <p:nvPr/>
        </p:nvSpPr>
        <p:spPr>
          <a:xfrm>
            <a:off x="285750" y="168021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 Mistério do Cifrão ($)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8"/>
          <p:cNvSpPr/>
          <p:nvPr/>
        </p:nvSpPr>
        <p:spPr>
          <a:xfrm>
            <a:off x="285750" y="2297430"/>
            <a:ext cx="5143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Por que algumas fórmulas usam  em vez de simplesmente ? Entender esse símbolo transforma você em um mestre de planilhas.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346" name="Google Shape;34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1bd13b1be221ade06493da44166ad7ff.png" id="347" name="Google Shape;34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48" name="Google Shape;348;p2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Referências Relativas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9"/>
          <p:cNvSpPr/>
          <p:nvPr/>
        </p:nvSpPr>
        <p:spPr>
          <a:xfrm>
            <a:off x="4286250" y="857250"/>
            <a:ext cx="118872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REFERÊNCIAS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9"/>
          <p:cNvSpPr/>
          <p:nvPr/>
        </p:nvSpPr>
        <p:spPr>
          <a:xfrm>
            <a:off x="4286250" y="1165860"/>
            <a:ext cx="45720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Por padrão, as referências no Excel são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relativas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 Quando você copia a fórmula  para a linha de baixo, o Excel ajusta automaticamente as referências para 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9"/>
          <p:cNvSpPr/>
          <p:nvPr/>
        </p:nvSpPr>
        <p:spPr>
          <a:xfrm>
            <a:off x="4286250" y="269748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9"/>
          <p:cNvSpPr/>
          <p:nvPr/>
        </p:nvSpPr>
        <p:spPr>
          <a:xfrm>
            <a:off x="4400550" y="28460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9"/>
          <p:cNvSpPr/>
          <p:nvPr/>
        </p:nvSpPr>
        <p:spPr>
          <a:xfrm>
            <a:off x="4766310" y="281178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O software memoriza a posição relativa (ex: 'multiplique os dois vizinhos à esquerda').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359" name="Google Shape;35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afa8b27d833eefeb086baaa71e568a28.png" id="360" name="Google Shape;36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61" name="Google Shape;361;p3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Referências Absolutas ($)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0"/>
          <p:cNvSpPr/>
          <p:nvPr/>
        </p:nvSpPr>
        <p:spPr>
          <a:xfrm>
            <a:off x="285750" y="857250"/>
            <a:ext cx="118872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REFERÊNCIAS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0"/>
          <p:cNvSpPr/>
          <p:nvPr/>
        </p:nvSpPr>
        <p:spPr>
          <a:xfrm>
            <a:off x="285750" y="1165860"/>
            <a:ext cx="45720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Quando uma taxa fixa (como INSS ou comissão) está isolada em uma célula como , precisamos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travar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essa coordenada para que ela não se desloque ao arrastar a fórmula.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0"/>
          <p:cNvSpPr/>
          <p:nvPr/>
        </p:nvSpPr>
        <p:spPr>
          <a:xfrm>
            <a:off x="285750" y="2697480"/>
            <a:ext cx="4572000" cy="1101852"/>
          </a:xfrm>
          <a:prstGeom prst="roundRect">
            <a:avLst>
              <a:gd fmla="val 8299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0"/>
          <p:cNvSpPr/>
          <p:nvPr/>
        </p:nvSpPr>
        <p:spPr>
          <a:xfrm>
            <a:off x="400050" y="28460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0"/>
          <p:cNvSpPr/>
          <p:nvPr/>
        </p:nvSpPr>
        <p:spPr>
          <a:xfrm>
            <a:off x="765810" y="2811780"/>
            <a:ext cx="39776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Pressione a tecla </a:t>
            </a:r>
            <a:r>
              <a:rPr b="1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F4</a:t>
            </a: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 no teclado para alternar e fixar o cifrão rapidamente.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372" name="Google Shape;37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1"/>
          <p:cNvSpPr/>
          <p:nvPr/>
        </p:nvSpPr>
        <p:spPr>
          <a:xfrm>
            <a:off x="171450" y="902970"/>
            <a:ext cx="293751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1"/>
          <p:cNvSpPr/>
          <p:nvPr/>
        </p:nvSpPr>
        <p:spPr>
          <a:xfrm>
            <a:off x="3108960" y="902970"/>
            <a:ext cx="293751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1"/>
          <p:cNvSpPr/>
          <p:nvPr/>
        </p:nvSpPr>
        <p:spPr>
          <a:xfrm>
            <a:off x="6035040" y="902970"/>
            <a:ext cx="293751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Propagação com Alça de Preenchimento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1"/>
          <p:cNvSpPr/>
          <p:nvPr/>
        </p:nvSpPr>
        <p:spPr>
          <a:xfrm>
            <a:off x="285750" y="1360170"/>
            <a:ext cx="27089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 Selecionar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Clique na célula que contém a fórmula perfeita e testada.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1"/>
          <p:cNvSpPr/>
          <p:nvPr/>
        </p:nvSpPr>
        <p:spPr>
          <a:xfrm>
            <a:off x="3223260" y="1360170"/>
            <a:ext cx="27089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 Posicionar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Pouse o cursor sobre o pequeno quadrado verde no canto inferior direito.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1"/>
          <p:cNvSpPr/>
          <p:nvPr/>
        </p:nvSpPr>
        <p:spPr>
          <a:xfrm>
            <a:off x="6149340" y="1360170"/>
            <a:ext cx="27089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 Duplo Clique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Dê um duplo clique na cruz preta para preencher toda a coluna até o fim.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385" name="Google Shape;38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Áudio: Diálogo no Laboratório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2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Ouça o áudio e responda às perguntas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2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2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erro aconteceu quando Lucas arrastou a fórmula do cálculo de comissão?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2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2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foi a solução ensinada por Mariana para travar a célula da alíquota?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2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2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Em qual célula ficava a alíquota fixa que Lucas precisava referenciar?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2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2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atalho de teclado Mariana sugeriu para inserir o cifrão rapidamente?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2"/>
          <p:cNvSpPr/>
          <p:nvPr/>
        </p:nvSpPr>
        <p:spPr>
          <a:xfrm>
            <a:off x="285750" y="1291590"/>
            <a:ext cx="8572500" cy="857250"/>
          </a:xfrm>
          <a:prstGeom prst="roundRect">
            <a:avLst>
              <a:gd fmla="val 16667" name="adj"/>
            </a:avLst>
          </a:prstGeom>
          <a:solidFill>
            <a:srgbClr val="FFF4F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7481629/backend/storage/app/render-specs/3506854a-1816-4245-b7e6-cd63ce116e50/audio_icon.png" id="397" name="Google Shape;39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070" y="1594485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2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Dúvida sobre Fixação de Células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▶ Reproduzir áudio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2">
            <a:hlinkClick r:id="rId5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>
              <a:alpha val="0"/>
            </a:srgbClr>
          </a:solidFill>
          <a:ln cap="flat" cmpd="sng" w="12700">
            <a:solidFill>
              <a:srgbClr val="2C6E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406" name="Google Shape;40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Áudio: Diálogo no Laboratório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3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Verifica as tuas respostas abaixo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3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3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Os valores da coluna resultaram em zero porque a referência da alíquota desceu para células em branco.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3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3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Adicionar o símbolo de cifrão antes da coluna e da linha na referência, digitando $B$1 ou usando a tecla F4.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3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3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alíquota percentual fixa de comissão estava localizada na célula B1.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3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3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Mariana recomendou selecionar a referência na barra de fórmulas e pressionar a tecla F4.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3"/>
          <p:cNvSpPr/>
          <p:nvPr/>
        </p:nvSpPr>
        <p:spPr>
          <a:xfrm>
            <a:off x="285750" y="1291590"/>
            <a:ext cx="8572500" cy="857250"/>
          </a:xfrm>
          <a:prstGeom prst="roundRect">
            <a:avLst>
              <a:gd fmla="val 16667" name="adj"/>
            </a:avLst>
          </a:prstGeom>
          <a:solidFill>
            <a:srgbClr val="FFF4F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7481629/backend/storage/app/render-specs/3506854a-1816-4245-b7e6-cd63ce116e50/audio_icon.png" id="419" name="Google Shape;41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070" y="1594485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3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Dúvida sobre Fixação de Células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3"/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▶ Reproduzir áudio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3">
            <a:hlinkClick r:id="rId5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>
              <a:alpha val="0"/>
            </a:srgbClr>
          </a:solidFill>
          <a:ln cap="flat" cmpd="sng" w="12700">
            <a:solidFill>
              <a:srgbClr val="2C6E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428" name="Google Shape;42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473bce213a3e7254bd5d67907347d734.png" id="429" name="Google Shape;42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430" name="Google Shape;430;p34"/>
          <p:cNvSpPr/>
          <p:nvPr/>
        </p:nvSpPr>
        <p:spPr>
          <a:xfrm>
            <a:off x="285750" y="236601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Projeto: Folha de Pagamento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4"/>
          <p:cNvSpPr/>
          <p:nvPr/>
        </p:nvSpPr>
        <p:spPr>
          <a:xfrm>
            <a:off x="285750" y="3051810"/>
            <a:ext cx="105156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APLICAÇÃO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4"/>
          <p:cNvSpPr/>
          <p:nvPr/>
        </p:nvSpPr>
        <p:spPr>
          <a:xfrm>
            <a:off x="285750" y="336042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Agora uniremos todos os conceitos em um case corporativo real: criar uma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Folha de Pagamento Automatizada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para 5 colaboradores de uma empresa parceira, calculando bônus por metas, descontos e salário líquido final.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/>
          <p:nvPr/>
        </p:nvSpPr>
        <p:spPr>
          <a:xfrm>
            <a:off x="285750" y="118872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Estrutura das Colunas da Folha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5"/>
          <p:cNvSpPr/>
          <p:nvPr/>
        </p:nvSpPr>
        <p:spPr>
          <a:xfrm>
            <a:off x="285750" y="180594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Dados Cadastrais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A: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Nome do Colaborador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B: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Departamento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C: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Salário Base (R$)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D: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Vendas Realizadas (R$)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5"/>
          <p:cNvSpPr/>
          <p:nvPr/>
        </p:nvSpPr>
        <p:spPr>
          <a:xfrm>
            <a:off x="4652010" y="180594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Fórmulas e Regras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E: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Bônus Meta ()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F: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Desconto INSS ()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G: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Salário Líquido ()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Rodapé: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Totais e Médias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447" name="Google Shape;44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8c26fa80ae0ba33d9ac6d7cf39732550.png" id="448" name="Google Shape;44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725930"/>
            <a:ext cx="85725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49" name="Google Shape;449;p36"/>
          <p:cNvSpPr/>
          <p:nvPr/>
        </p:nvSpPr>
        <p:spPr>
          <a:xfrm>
            <a:off x="285750" y="30861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Laboratório: Construção Passo a Passo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6"/>
          <p:cNvSpPr/>
          <p:nvPr/>
        </p:nvSpPr>
        <p:spPr>
          <a:xfrm>
            <a:off x="285750" y="92583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Passo 1: Para calcular o Bônus na coluna E, se Vendas (D2) &gt;= 15000, bônus de 500, senão 0: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6"/>
          <p:cNvSpPr/>
          <p:nvPr/>
        </p:nvSpPr>
        <p:spPr>
          <a:xfrm>
            <a:off x="285750" y="392049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Passo 2: Calcule o INSS na coluna F multiplicando o Salário Base (C2) pela alíquota fixa travada 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457" name="Google Shape;45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b9d9738e8f69a6434c08528f001ae275.png" id="458" name="Google Shape;45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0108aba3034662a200b6f51f42ae70b7.png" id="459" name="Google Shape;459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843f65b996c8ec54aab5a1c692d34120.png" id="460" name="Google Shape;460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c2253a496b32526e47f7a7981f4f4fc1.png" id="461" name="Google Shape;461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462" name="Google Shape;462;p3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Guia de Erros Comuns no Excel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7"/>
          <p:cNvSpPr/>
          <p:nvPr/>
        </p:nvSpPr>
        <p:spPr>
          <a:xfrm>
            <a:off x="285750" y="341757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#NOME?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Nome de função digitado incorretamente, como 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7"/>
          <p:cNvSpPr/>
          <p:nvPr/>
        </p:nvSpPr>
        <p:spPr>
          <a:xfrm>
            <a:off x="2491740" y="273177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#VALOR!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Operação matemática tentando somar texto e número.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7"/>
          <p:cNvSpPr/>
          <p:nvPr/>
        </p:nvSpPr>
        <p:spPr>
          <a:xfrm>
            <a:off x="4686300" y="341757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#DIV/0!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Fórmula tentando efetuar divisão por zero ou célula em branco.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7"/>
          <p:cNvSpPr/>
          <p:nvPr/>
        </p:nvSpPr>
        <p:spPr>
          <a:xfrm>
            <a:off x="6892290" y="273177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coluna está muito estreita para exibir o número por completo.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472" name="Google Shape;47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cbbc660d0e6054741b2c6c6318159e59.png" id="473" name="Google Shape;47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474" name="Google Shape;474;p3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Boas Práticas de Auditoria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8"/>
          <p:cNvSpPr/>
          <p:nvPr/>
        </p:nvSpPr>
        <p:spPr>
          <a:xfrm>
            <a:off x="285750" y="857250"/>
            <a:ext cx="129159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ORGANIZAÇÃO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8"/>
          <p:cNvSpPr/>
          <p:nvPr/>
        </p:nvSpPr>
        <p:spPr>
          <a:xfrm>
            <a:off x="285750" y="1165860"/>
            <a:ext cx="45720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Antes de entregar qualquer planilha ao gestor, realize uma auditoria visual: verifique se as colunas numéricas estão formatadas como Moeda, se os totais batem e se nenhuma fórmula exibe erros como 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8"/>
          <p:cNvSpPr/>
          <p:nvPr/>
        </p:nvSpPr>
        <p:spPr>
          <a:xfrm>
            <a:off x="285750" y="294894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8"/>
          <p:cNvSpPr/>
          <p:nvPr/>
        </p:nvSpPr>
        <p:spPr>
          <a:xfrm>
            <a:off x="400050" y="309753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8"/>
          <p:cNvSpPr/>
          <p:nvPr/>
        </p:nvSpPr>
        <p:spPr>
          <a:xfrm>
            <a:off x="765810" y="306324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Dê um duplo clique na divisória entre duas colunas para ajustar a largura automaticamente.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485" name="Google Shape;48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Ordem: Automação da Planilha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9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Ordene as etapas corretas para criar e propagar a coluna de cálculo de bônus: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9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Testar se a primeira fórmula retornou o valor correto para a primeira linha.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9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Digitar os cabeçalhos das colunas e os dados brutos de vendas dos colaboradores.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9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Propagar a fórmula pelas demais linhas usando a alça de preenchimento.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9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Inserir a fórmula condicional =SE na primeira célula de resultado da tabela.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497" name="Google Shape;49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4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Ordem: Automação da Planilha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40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Ordene as etapas corretas para criar e propagar a coluna de cálculo de bônus: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40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Testar se a primeira fórmula retornou o valor correto para a primeira linha.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40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Digitar os cabeçalhos das colunas e os dados brutos de vendas dos colaboradores.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40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Propagar a fórmula pelas demais linhas usando a alça de preenchimento.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0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Inserir a fórmula condicional =SE na primeira célula de resultado da tabela.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40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40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0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0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514" name="Google Shape;51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b8e2e30cbb6ba10a8acb00af0ff4be05.png" id="515" name="Google Shape;515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2667" name="adj"/>
            </a:avLst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c85d7c3e7d88bdc66c9d9107307cbd20.png" id="516" name="Google Shape;516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120" y="1908810"/>
            <a:ext cx="2697480" cy="2331720"/>
          </a:xfrm>
          <a:prstGeom prst="roundRect">
            <a:avLst>
              <a:gd fmla="val 5882" name="adj"/>
            </a:avLst>
          </a:prstGeom>
          <a:noFill/>
          <a:ln>
            <a:noFill/>
          </a:ln>
        </p:spPr>
      </p:pic>
      <p:sp>
        <p:nvSpPr>
          <p:cNvPr id="517" name="Google Shape;517;p4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Desafio Prático de Gestão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41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Abra o Excel em duplas e realize: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Crie tabela: 5 produtos, Preço e Qtd.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Calcule Faturamento (Preço x Qtd).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Defina imposto 10% na célula $F$1.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Calcule Imposto usando referência $F$1.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Some o Faturamento Total com SOMA.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524" name="Google Shape;52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7481629/backend/storage/app/render-specs/3506854a-1816-4245-b7e6-cd63ce116e50/img_74db676abbf9321227487417a15623c8.png" id="525" name="Google Shape;52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526" name="Google Shape;526;p4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Revisão Final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2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caractere deve obrigatoriamente iniciar qualquer fórmula ou função no Excel?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42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Para que serve o símbolo de cifrão ($) na referência $A$1?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2"/>
          <p:cNvSpPr/>
          <p:nvPr/>
        </p:nvSpPr>
        <p:spPr>
          <a:xfrm>
            <a:off x="285750" y="3429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é a principal diferença entre as funções CONT.VALORES e CONT.NUMEROS?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7481629/backend/storage/app/render-specs/3506854a-1816-4245-b7e6-cd63ce116e50/img_67db2e6a5fb9230f9de86baa7e51a1c5.png" id="535" name="Google Shape;53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Revisão Final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43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sinal de igual (=).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43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Para travar a célula como referência absoluta, impedindo que ela se altere ao ser copiada ou arrastada.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43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CONT.VALORES conta qualquer célula preenchida (texto ou número), enquanto CONT.NUMEROS conta apenas números.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4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