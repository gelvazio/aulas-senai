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Inter"/>
      <p:regular r:id="rId46"/>
      <p:bold r:id="rId47"/>
      <p:italic r:id="rId48"/>
      <p:boldItalic r:id="rId49"/>
    </p:embeddedFont>
    <p:embeddedFont>
      <p:font typeface="Inter ExtraBold"/>
      <p:bold r:id="rId50"/>
      <p:boldItalic r:id="rId51"/>
    </p:embeddedFont>
    <p:embeddedFont>
      <p:font typeface="Karla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font" Target="fonts/Inter-regular.fntdata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Inter-italic.fntdata"/><Relationship Id="rId47" Type="http://schemas.openxmlformats.org/officeDocument/2006/relationships/font" Target="fonts/Inter-bold.fntdata"/><Relationship Id="rId49" Type="http://schemas.openxmlformats.org/officeDocument/2006/relationships/font" Target="fonts/Int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nterExtraBold-boldItalic.fntdata"/><Relationship Id="rId50" Type="http://schemas.openxmlformats.org/officeDocument/2006/relationships/font" Target="fonts/InterExtraBold-bold.fntdata"/><Relationship Id="rId53" Type="http://schemas.openxmlformats.org/officeDocument/2006/relationships/font" Target="fonts/Karla-bold.fntdata"/><Relationship Id="rId52" Type="http://schemas.openxmlformats.org/officeDocument/2006/relationships/font" Target="fonts/Karla-regular.fntdata"/><Relationship Id="rId11" Type="http://schemas.openxmlformats.org/officeDocument/2006/relationships/slide" Target="slides/slide7.xml"/><Relationship Id="rId55" Type="http://schemas.openxmlformats.org/officeDocument/2006/relationships/font" Target="fonts/Karla-boldItalic.fntdata"/><Relationship Id="rId10" Type="http://schemas.openxmlformats.org/officeDocument/2006/relationships/slide" Target="slides/slide6.xml"/><Relationship Id="rId54" Type="http://schemas.openxmlformats.org/officeDocument/2006/relationships/font" Target="fonts/Karla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5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7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58.png"/><Relationship Id="rId5" Type="http://schemas.openxmlformats.org/officeDocument/2006/relationships/image" Target="../media/image44.png"/><Relationship Id="rId6" Type="http://schemas.openxmlformats.org/officeDocument/2006/relationships/image" Target="../media/image31.png"/><Relationship Id="rId7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hyperlink" Target="https://app.chalkie.ai/player/a2b70bdf-f60d-4025-8ad9-06a32a4a9a6d/2f4bae5d-2d2f-47cb-a090-7ca81a0a4e44?source=exported_presentation&amp;exportFormat=slides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hyperlink" Target="https://app.chalkie.ai/player/a2b70bdf-f60d-4025-8ad9-06a32a4a9a6d/2f4bae5d-2d2f-47cb-a090-7ca81a0a4e44?source=exported_presentation&amp;exportFormat=slides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5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8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hyperlink" Target="http://www.youtube.com/watch?v=N6FJxcYtI7k" TargetMode="External"/><Relationship Id="rId5" Type="http://schemas.openxmlformats.org/officeDocument/2006/relationships/image" Target="../media/image5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71.png"/><Relationship Id="rId5" Type="http://schemas.openxmlformats.org/officeDocument/2006/relationships/image" Target="../media/image53.png"/><Relationship Id="rId6" Type="http://schemas.openxmlformats.org/officeDocument/2006/relationships/image" Target="../media/image59.png"/><Relationship Id="rId7" Type="http://schemas.openxmlformats.org/officeDocument/2006/relationships/image" Target="../media/image5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5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65.png"/><Relationship Id="rId5" Type="http://schemas.openxmlformats.org/officeDocument/2006/relationships/image" Target="../media/image6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Relationship Id="rId4" Type="http://schemas.openxmlformats.org/officeDocument/2006/relationships/image" Target="../media/image6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7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66.png"/><Relationship Id="rId5" Type="http://schemas.openxmlformats.org/officeDocument/2006/relationships/image" Target="../media/image7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6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image" Target="../media/image81.png"/><Relationship Id="rId5" Type="http://schemas.openxmlformats.org/officeDocument/2006/relationships/image" Target="../media/image7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ca15dd8f9474fb71d194a35eb44462ba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742950"/>
            <a:ext cx="36576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4914900" y="1280160"/>
            <a:ext cx="382905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3240"/>
              <a:buFont typeface="Inter ExtraBold"/>
              <a:buNone/>
            </a:pPr>
            <a:r>
              <a:rPr b="0" i="0" lang="en-US" sz="324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Tabelas Dinâmicas e Gráficos Gerenciais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914900" y="2937510"/>
            <a:ext cx="382905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Excel Avançado para Análise de Dados na Gestão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26d974906cd9b4b67946c2b7ad16973b.png" id="26" name="Google Shape;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285750" y="146304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Desafio dos Dados Brutos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285750" y="251460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Imagine analisar 15 mil linhas de vendas sem usar nenhuma fórmula manual. Como obter respostas em segundos?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27654c42fdfb9e4731cfa4f8e7c8d6d3.png" id="35" name="Google Shape;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285750" y="1028700"/>
            <a:ext cx="5143500" cy="914400"/>
          </a:xfrm>
          <a:prstGeom prst="roundRect">
            <a:avLst>
              <a:gd fmla="val 1666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285750" y="2057400"/>
            <a:ext cx="5143500" cy="662940"/>
          </a:xfrm>
          <a:prstGeom prst="roundRect">
            <a:avLst>
              <a:gd fmla="val 1666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285750" y="2834640"/>
            <a:ext cx="5143500" cy="662940"/>
          </a:xfrm>
          <a:prstGeom prst="roundRect">
            <a:avLst>
              <a:gd fmla="val 1666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285750" y="41148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Objetivos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00050" y="1143000"/>
            <a:ext cx="49149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Criar tabelas dinâmicas com filtros e grupos.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00050" y="2171700"/>
            <a:ext cx="49149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Configurar cálculos e campos de valor.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00050" y="2948940"/>
            <a:ext cx="49149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Gerar gráficos dinâmicos com duplo eixo.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285750" y="3634740"/>
            <a:ext cx="5143500" cy="854964"/>
          </a:xfrm>
          <a:prstGeom prst="roundRect">
            <a:avLst>
              <a:gd fmla="val 10695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00050" y="37833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765810" y="3749040"/>
            <a:ext cx="4549140" cy="6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Converter dados brutos em decisões.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403dbc6fbf1b8f3043e842f9a6f26dc1.png" id="52" name="Google Shape;5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7ac1feb68e8c533a77ea0957cebc0abe.png" id="53" name="Google Shape;5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696412ca53d3a87ad67ff383aeb09c3d.png" id="54" name="Google Shape;5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cf377062f26979dbf8217fcd27a895d7.png" id="55" name="Google Shape;5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285750" y="341757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Dinamismo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Reorganiza cruzamentos de dados instantaneamente sem precisar reescrever fórmulas.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2491740" y="273177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Agrupamento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União de dados em blocos lógicos como meses, trimestres ou faixas de valores.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686300" y="341757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Gráfico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Representação visual de proporções, frequências, tendências e comparações métricas.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892290" y="2731770"/>
            <a:ext cx="197739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Segmentação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Botões interativos que filtram relatórios e gráficos simultaneamente com um clique.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Recapitulação: Funções de Busca e Agregação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285750" y="1223010"/>
            <a:ext cx="419481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PROCV e ÍNDICE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PROCV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realiza pesquisas verticais na primeira coluna da matriz. Já a combinação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ÍNDICE/CORRESPONDÊNCIA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oferece maior flexibilidade bidirecional sem travar na posição relativa das colunas.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285750" y="3371850"/>
            <a:ext cx="4194810" cy="1101852"/>
          </a:xfrm>
          <a:prstGeom prst="roundRect">
            <a:avLst>
              <a:gd fmla="val 8299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400050" y="35204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765810" y="3486150"/>
            <a:ext cx="360045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Use ÍNDICE quando a chave de busca estiver à direita do retorno.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4652010" y="122301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Agregações Condicionais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As funções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SOMASE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CONT.SE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totalizam valores ou contam ocorrências com base em critérios específicos definidos pelo analista, como filial ou categoria de item.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4652010" y="3131820"/>
            <a:ext cx="4194810" cy="1348740"/>
          </a:xfrm>
          <a:prstGeom prst="roundRect">
            <a:avLst>
              <a:gd fmla="val 6780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4766310" y="32804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5132070" y="3246120"/>
            <a:ext cx="360045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=SOMASE(Região; "Sul"; Faturamento) consolida as vendas regionais.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81" name="Google Shape;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Quiz: Busca e Agregação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ferramenta você utilizaria para somar o total faturado apenas dos pedidos entregues na região 'Sudeste'?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SOMASE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CONT.SE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PROCV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CORRESPONDÊNCIA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97" name="Google Shape;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Quiz: Busca e Agregação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ferramenta você utilizaria para somar o total faturado apenas dos pedidos entregues na região 'Sudeste'?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SOMASE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CONT.SE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PROCV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CORRESPONDÊNCIA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115" name="Google Shape;1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c97edfd091690c6f72820446f1728f96.png" id="116" name="Google Shape;11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17" name="Google Shape;117;p1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Que É uma Tabela Dinâmica?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285750" y="857250"/>
            <a:ext cx="208026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CONCEITO FUNDAMENTAL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285750" y="1165860"/>
            <a:ext cx="45720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Tabela Dinâmica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b="0" i="1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Pivot Table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) é um mecanismo de computação que resume, consolida e reorganiza milhares de dados brutos instantaneamente. Em vez de escrever dezenas de fórmulas complexas de soma e busca, o gestor apenas arrasta variáveis para eixos analíticos.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285750" y="320040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400050" y="33489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765810" y="331470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Velocidade na exploração de dados sem alterar a base original.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128" name="Google Shape;12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cd079e21538f160163db993e06c64d3d.png" id="129" name="Google Shape;12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30" name="Google Shape;130;p1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 Importância na Tomada de Decisão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4286250" y="857250"/>
            <a:ext cx="187452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APLICAÇÃO GERENCIAL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4286250" y="116586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Agilidade analítica evita perdas financeiras. Tabelas dinâmicas permitem responder rapidamente a questões críticas: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filial teve maior lucro?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Quais vendedores bateram metas?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Quais produtos têm margens negativas?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4286250" y="318897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EEEDFE"/>
          </a:solidFill>
          <a:ln cap="flat" cmpd="sng" w="11425">
            <a:solidFill>
              <a:srgbClr val="08044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"/>
          <p:cNvSpPr/>
          <p:nvPr/>
        </p:nvSpPr>
        <p:spPr>
          <a:xfrm>
            <a:off x="4400550" y="33375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🤯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4766310" y="330327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44D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044D"/>
                </a:solidFill>
                <a:latin typeface="Inter"/>
                <a:ea typeface="Inter"/>
                <a:cs typeface="Inter"/>
                <a:sym typeface="Inter"/>
              </a:rPr>
              <a:t>Curiosidade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044D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044D"/>
                </a:solidFill>
                <a:latin typeface="Inter"/>
                <a:ea typeface="Inter"/>
                <a:cs typeface="Inter"/>
                <a:sym typeface="Inter"/>
              </a:rPr>
              <a:t>Redes de varejo gerenciam estoques diariamente via tabelas dinâmicas.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141" name="Google Shape;1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872c07807084ada0c97376b064e3fa3f.png" id="142" name="Google Shape;14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dfaa3db4b9afa5888288fc750bc25a4b.png" id="143" name="Google Shape;14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44" name="Google Shape;144;p1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Requisitos da Base Bruta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285750" y="298323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Estrutura Correta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Cabeçalhos claros na primeira linha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Uma linha única por registro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Sem células mescladas na tabela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4652010" y="298323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Erros Comuns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Células mescladas nos dados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Linhas em branco dividindo blocos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Tipos de dados misturados na coluna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152" name="Google Shape;1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3"/>
          <p:cNvSpPr/>
          <p:nvPr/>
        </p:nvSpPr>
        <p:spPr>
          <a:xfrm>
            <a:off x="17145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"/>
          <p:cNvSpPr/>
          <p:nvPr/>
        </p:nvSpPr>
        <p:spPr>
          <a:xfrm>
            <a:off x="237744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457200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677799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Passo a Passo: Criação da Tabela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285750" y="136017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Selecionar qualquer célula dentro da base bruta organizada.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2491740" y="136017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Acessar a guia Inserir e clicar em Tabela Dinâmica.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4686300" y="136017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Confirmar o intervalo e criar em Nova Planilha.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6892290" y="136017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Distribuir os campos nos quadrantes analíticos da ferramenta.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167" name="Google Shape;1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570ac219f77787dcb1f00bbee6c69976.png" id="168" name="Google Shape;16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69" name="Google Shape;169;p1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Os Quatro Quadrantes da Dinâmica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285750" y="78867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interface organiza dados arrastando colunas para quatro áreas: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Filtros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restringe o escopo do relatório.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Colunas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cria divisões na horizontal.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Linhas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organiza categorias na vertical.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Valores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efetua cálculos consolidados.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285750" y="385191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"/>
          <p:cNvSpPr/>
          <p:nvPr/>
        </p:nvSpPr>
        <p:spPr>
          <a:xfrm>
            <a:off x="400050" y="40005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765810" y="396621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Textos vão para Linhas; números vão para Valores.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179" name="Google Shape;1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Ordenação: Criando a Dinâmica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Ordene os passos essenciais para criar uma Tabela Dinâmica do zero a partir de dados brutos: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Garantir cabeçalhos claros e ausência de células mescladas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Definir se o relatório será aberto em nova aba ou existente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Selecionar uma célula e acessar a guia Inserir &gt; Tabela Dinâmica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Arrastar os campos para os quadrantes de Linhas, Colunas e Valores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191" name="Google Shape;1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Ordenação: Criando a Dinâmica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Ordene os passos essenciais para criar uma Tabela Dinâmica do zero a partir de dados brutos: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Garantir cabeçalhos claros e ausência de células mescladas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Definir se o relatório será aberto em nova aba ou existente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Selecionar uma célula e acessar a guia Inserir &gt; Tabela Dinâmica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Arrastar os campos para os quadrantes de Linhas, Colunas e Valores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208" name="Google Shape;2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112420f99374a21de3464d7650b82d40.png" id="209" name="Google Shape;20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10" name="Google Shape;210;p1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Filtragem e Ordenação de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4286250" y="857250"/>
            <a:ext cx="129159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ORGANIZAÇÃO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4286250" y="1165860"/>
            <a:ext cx="45720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Relatórios tornam-se compreensíveis quando ordenados por relevância financeira. Use o filtro de rótulo para pesquisar categorias e aplique classificação decrescente para posicionar os maiores faturamentos no topo da visualização.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4286250" y="294894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7"/>
          <p:cNvSpPr/>
          <p:nvPr/>
        </p:nvSpPr>
        <p:spPr>
          <a:xfrm>
            <a:off x="4400550" y="30975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4766310" y="306324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Filtrar os 10 maiores clientes destaca rapidamente 80% do faturamento.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221" name="Google Shape;2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/>
          <p:nvPr/>
        </p:nvSpPr>
        <p:spPr>
          <a:xfrm>
            <a:off x="285750" y="44577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Agrupamento de Datas em Períodos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285750" y="10629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Datas Individuais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Milhares de registros com datas diárias dispersas (ex: 01/01, 02/01, 03/01) dificultam a identificação imediata de tendências de longo prazo na empresa.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285750" y="2971800"/>
            <a:ext cx="4194810" cy="1348740"/>
          </a:xfrm>
          <a:prstGeom prst="roundRect">
            <a:avLst>
              <a:gd fmla="val 6780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400050" y="31203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765810" y="3086100"/>
            <a:ext cx="360045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Evite tabelas com centenas de linhas contendo datas diárias brutas.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4652010" y="10629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Agrupamento Automático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Ao clicar com o botão direito na data e escolher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Agrupar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o Excel consolida automaticamente os registros em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Meses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Trimestres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Anos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4652010" y="2720340"/>
            <a:ext cx="4194810" cy="1348740"/>
          </a:xfrm>
          <a:prstGeom prst="roundRect">
            <a:avLst>
              <a:gd fmla="val 6780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4766310" y="28689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5132070" y="2834640"/>
            <a:ext cx="360045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Permite enxergar sazonalidade e comparar trimestres instantaneamente.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236" name="Google Shape;2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5566099d6f748dfd34974e720c761b82.png" id="237" name="Google Shape;23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38" name="Google Shape;238;p1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Agrupamento por Faixas Numéricas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285750" y="857250"/>
            <a:ext cx="190881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ESTATÍSTICA APLICADA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285750" y="1165860"/>
            <a:ext cx="45720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Além de datas, podemos agrupar valores numéricos contínuos em faixas ou classes (ex: pedidos de R$ 0 a R$ 500, de R$ 501 a R$ 1000).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Essa técnica cria distribuições de frequência sem precisar de fórmulas estatísticas complexas.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285750" y="326898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400050" y="34175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765810" y="338328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Identifica o ticket médio predominante nas vendas do período.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249" name="Google Shape;24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716e49587e02ecf3b90e7c9d6abe182b.png" id="250" name="Google Shape;25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d6dcb731ee6a69da87048f8bd879b18d.png" id="251" name="Google Shape;25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1e52b76d5b0227e3125718800a790943.png" id="252" name="Google Shape;25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0306f9127778b3cb5c64ab9bee9e977c.png" id="253" name="Google Shape;25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254" name="Google Shape;254;p2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Configuração dos Campos de Valor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285750" y="341757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Soma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Totaliza monetariamente os valores das transações comerciais.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2491740" y="273177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Contagem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Quantifica o número de ocorrências ou notas fiscais.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4686300" y="341757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Média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Calcula o ticket médio ou valor médio por cliente.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6892290" y="273177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Percentual (%)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Mostra a representatividade de cada categoria no total.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264" name="Google Shape;26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15427121938a0b574fe1dc9c56ed7ac3.png" id="265" name="Google Shape;26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66" name="Google Shape;266;p2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Cálculos Percentuais na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4286250" y="857250"/>
            <a:ext cx="184023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MÉTRICAS GERENCIAIS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4286250" y="1165860"/>
            <a:ext cx="4572000" cy="2107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 opção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Mostrar Valores Como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altere de 'Sem Cálculo' para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% do Total Geral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ou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% do Total da Coluna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Isso permite responder rapidamente qual linha de produto representa 40% da receita da empresa, auxiliando no planejamento de compras e estoques.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4286250" y="326898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4400550" y="34175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4766310" y="338328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Mantenha a formatação como porcentagem com 1 ou 2 casas decimais.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277" name="Google Shape;2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Verificação: Agrupamento em Dinâmicas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Para agrupar datas por meses em uma Tabela Dinâmica, é obrigatório criar uma coluna auxiliar com fórmula na base bruta.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🤔 </a:t>
            </a:r>
            <a:r>
              <a:rPr b="0" i="1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289" name="Google Shape;28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Verificação: Agrupamento em Dinâmicas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3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Para agrupar datas por meses em uma Tabela Dinâmica, é obrigatório criar uma coluna auxiliar com fórmula na base bruta.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457200" y="3657600"/>
            <a:ext cx="82296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3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937260" y="3771900"/>
            <a:ext cx="76352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1440"/>
              <a:buFont typeface="Inter ExtraBold"/>
              <a:buNone/>
            </a:pPr>
            <a:r>
              <a:rPr b="0" i="0" lang="en-US" sz="144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O Excel possui recurso nativo de agrupamento por datas diretamente na Tabela Dinâmica.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305" name="Google Shape;3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4"/>
          <p:cNvSpPr/>
          <p:nvPr/>
        </p:nvSpPr>
        <p:spPr>
          <a:xfrm>
            <a:off x="285750" y="107442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Ouvindo o Gestor de Operações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285750" y="169164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Ouça o áudio a seguir com atenção. O gerente comercial Carlos e a analista Sofia debatem como estruturar as tabelas dinâmicas para a reunião de diretoria da empresa.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285750" y="2731770"/>
            <a:ext cx="8572500" cy="854964"/>
          </a:xfrm>
          <a:prstGeom prst="roundRect">
            <a:avLst>
              <a:gd fmla="val 10695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4"/>
          <p:cNvSpPr/>
          <p:nvPr/>
        </p:nvSpPr>
        <p:spPr>
          <a:xfrm>
            <a:off x="400050" y="28803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765810" y="2846070"/>
            <a:ext cx="7978140" cy="6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Preste atenção aos campos escolhidos e às métricas percentuais discutidas.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316" name="Google Shape;3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Reunião de Alinhamento Analítico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Ouça o áudio e responda às perguntas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problema inicial Carlos apontou na planilha de vendas brutas?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dimensão Sofia sugeriu colocar no quadrante de Linhas?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Como eles resolveram analisar a evolução temporal das vendas?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configuração de valor Sofia propôs para identificar os líderes de venda?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285750" y="1291590"/>
            <a:ext cx="8572500" cy="857250"/>
          </a:xfrm>
          <a:prstGeom prst="roundRect">
            <a:avLst>
              <a:gd fmla="val 16667" name="adj"/>
            </a:avLst>
          </a:prstGeom>
          <a:solidFill>
            <a:srgbClr val="FFF4F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7481629/backend/storage/app/render-specs/14cc6bbf-0044-45fb-951a-502ebddc8938/audio_icon.png" id="328" name="Google Shape;32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" y="159448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5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Definindo Métricas da Tabela Dinâmica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▶ Reproduzir áudio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>
            <a:hlinkClick r:id="rId5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>
              <a:alpha val="0"/>
            </a:srgbClr>
          </a:solidFill>
          <a:ln cap="flat" cmpd="sng" w="12700">
            <a:solidFill>
              <a:srgbClr val="2C6E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337" name="Google Shape;33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Reunião de Alinhamento Analítico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Verifica as tuas respostas abaixo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Havia mais de doze mil linhas sem consolidação ou resumo gerencial.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categoria de produtos comercializados.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Agrupando as datas de vendas por trimestres nas colunas.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Exibir o faturamento como percentual do total geral.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285750" y="1291590"/>
            <a:ext cx="8572500" cy="857250"/>
          </a:xfrm>
          <a:prstGeom prst="roundRect">
            <a:avLst>
              <a:gd fmla="val 16667" name="adj"/>
            </a:avLst>
          </a:prstGeom>
          <a:solidFill>
            <a:srgbClr val="FFF4F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7481629/backend/storage/app/render-specs/14cc6bbf-0044-45fb-951a-502ebddc8938/audio_icon.png" id="350" name="Google Shape;3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" y="159448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6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Definindo Métricas da Tabela Dinâmica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▶ Reproduzir áudio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>
            <a:hlinkClick r:id="rId5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>
              <a:alpha val="0"/>
            </a:srgbClr>
          </a:solidFill>
          <a:ln cap="flat" cmpd="sng" w="12700">
            <a:solidFill>
              <a:srgbClr val="2C6E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359" name="Google Shape;35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62e5b3e2fba81b54ae10eadabd81d4cf.png" id="360" name="Google Shape;36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361" name="Google Shape;361;p27"/>
          <p:cNvSpPr/>
          <p:nvPr/>
        </p:nvSpPr>
        <p:spPr>
          <a:xfrm>
            <a:off x="285750" y="19202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Comunicação Visual: Gráficos Gerenciais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285750" y="2606040"/>
            <a:ext cx="203454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VISUALIZAÇÃO DE DADOS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7"/>
          <p:cNvSpPr/>
          <p:nvPr/>
        </p:nvSpPr>
        <p:spPr>
          <a:xfrm>
            <a:off x="285750" y="291465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Tabelas organizam valores com precisão matemática, mas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gráficos gerenciais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comunicam padrões, anomalias e tendências instantaneamente para líderes e tomadores de decisão.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7"/>
          <p:cNvSpPr/>
          <p:nvPr/>
        </p:nvSpPr>
        <p:spPr>
          <a:xfrm>
            <a:off x="285750" y="3954780"/>
            <a:ext cx="8572500" cy="854964"/>
          </a:xfrm>
          <a:prstGeom prst="roundRect">
            <a:avLst>
              <a:gd fmla="val 10695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7"/>
          <p:cNvSpPr/>
          <p:nvPr/>
        </p:nvSpPr>
        <p:spPr>
          <a:xfrm>
            <a:off x="400050" y="41033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7"/>
          <p:cNvSpPr/>
          <p:nvPr/>
        </p:nvSpPr>
        <p:spPr>
          <a:xfrm>
            <a:off x="765810" y="4069080"/>
            <a:ext cx="7978140" cy="6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Um gráfico eficiente deve ser compreendido em menos de cinco segundos.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372" name="Google Shape;37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99ab563dd240fba4f84903e1b41fe821.png" id="373" name="Google Shape;37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697480"/>
            <a:ext cx="4194810" cy="2160270"/>
          </a:xfrm>
          <a:prstGeom prst="roundRect">
            <a:avLst>
              <a:gd fmla="val 6349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0afcbb83c22ccd95c13e8885f8f0b8f5.png" id="374" name="Google Shape;37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2446020"/>
            <a:ext cx="4194810" cy="2411730"/>
          </a:xfrm>
          <a:prstGeom prst="roundRect">
            <a:avLst>
              <a:gd fmla="val 5687" name="adj"/>
            </a:avLst>
          </a:prstGeom>
          <a:noFill/>
          <a:ln>
            <a:noFill/>
          </a:ln>
        </p:spPr>
      </p:pic>
      <p:sp>
        <p:nvSpPr>
          <p:cNvPr id="375" name="Google Shape;375;p2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Escolhendo o Gráfico Ideal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285750" y="78867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Colunas e Barras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Ideais para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comparações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entre categorias discretas (filiais, produtos, vendedores). Barras horizontais facilitam a leitura de rótulos com nomes extensos.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4652010" y="78867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Linhas Contínuas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Perfeitas para ilustrar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evolução temporal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 tendências contínuas (vendas mensais, flutuação cambial, temperatura diária de armazenagem).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383" name="Google Shape;3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9"/>
          <p:cNvSpPr/>
          <p:nvPr/>
        </p:nvSpPr>
        <p:spPr>
          <a:xfrm>
            <a:off x="285750" y="69723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Quando Usar Pizza e Dispersão?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9"/>
          <p:cNvSpPr/>
          <p:nvPr/>
        </p:nvSpPr>
        <p:spPr>
          <a:xfrm>
            <a:off x="285750" y="131445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Pizza ou Rosca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Mostram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composição de partes de um todo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 Utilize com parcimônia: apenas para até 5 fatias com discrepâncias perceptíveis entre si.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9"/>
          <p:cNvSpPr/>
          <p:nvPr/>
        </p:nvSpPr>
        <p:spPr>
          <a:xfrm>
            <a:off x="285750" y="2971800"/>
            <a:ext cx="4194810" cy="1101852"/>
          </a:xfrm>
          <a:prstGeom prst="roundRect">
            <a:avLst>
              <a:gd fmla="val 8299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9"/>
          <p:cNvSpPr/>
          <p:nvPr/>
        </p:nvSpPr>
        <p:spPr>
          <a:xfrm>
            <a:off x="400050" y="31203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9"/>
          <p:cNvSpPr/>
          <p:nvPr/>
        </p:nvSpPr>
        <p:spPr>
          <a:xfrm>
            <a:off x="765810" y="3086100"/>
            <a:ext cx="360045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Evite pizza com muitas fatias semelhantes; use colunas.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4652010" y="131445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Gráfico de Dispersão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Indica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correlação matemática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entre duas variáveis quantitativas (ex: investimento em publicidade versus número de vendas geradas).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9"/>
          <p:cNvSpPr/>
          <p:nvPr/>
        </p:nvSpPr>
        <p:spPr>
          <a:xfrm>
            <a:off x="4652010" y="2971800"/>
            <a:ext cx="4194810" cy="1101852"/>
          </a:xfrm>
          <a:prstGeom prst="roundRect">
            <a:avLst>
              <a:gd fmla="val 8299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9"/>
          <p:cNvSpPr/>
          <p:nvPr/>
        </p:nvSpPr>
        <p:spPr>
          <a:xfrm>
            <a:off x="4766310" y="31203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5132070" y="3086100"/>
            <a:ext cx="360045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Ajuda a validar se maior preço impacta o volume vendido.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398" name="Google Shape;3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98207d64420f2ab98e34ec08e111440b.png" id="399" name="Google Shape;39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00" name="Google Shape;400;p3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Gráficos Dinâmicos Conectados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0"/>
          <p:cNvSpPr/>
          <p:nvPr/>
        </p:nvSpPr>
        <p:spPr>
          <a:xfrm>
            <a:off x="4286250" y="857250"/>
            <a:ext cx="116586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0"/>
          <p:cNvSpPr/>
          <p:nvPr/>
        </p:nvSpPr>
        <p:spPr>
          <a:xfrm>
            <a:off x="4286250" y="1165860"/>
            <a:ext cx="4572000" cy="2107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Diferente dos gráficos comuns, 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Gráfico Dinâmico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conecta-se diretamente à estrutura da Tabela Dinâmica.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Quando você expande um mês, adiciona uma região ou filtra uma categoria, o gráfico se redesenha automaticamente sem necessidade de redimensionar o intervalo.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0"/>
          <p:cNvSpPr/>
          <p:nvPr/>
        </p:nvSpPr>
        <p:spPr>
          <a:xfrm>
            <a:off x="4286250" y="326898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0"/>
          <p:cNvSpPr/>
          <p:nvPr/>
        </p:nvSpPr>
        <p:spPr>
          <a:xfrm>
            <a:off x="4400550" y="34175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0"/>
          <p:cNvSpPr/>
          <p:nvPr/>
        </p:nvSpPr>
        <p:spPr>
          <a:xfrm>
            <a:off x="4766310" y="338328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Sincronização instantânea entre a análise tabular e o visual.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411" name="Google Shape;4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Construção de Gráficos no Excel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3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120" y="788670"/>
            <a:ext cx="7223760" cy="4069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419" name="Google Shape;4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ec43cd88b8ea3f08e573f57cbe80d80f.png" id="420" name="Google Shape;42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ee34bf01a9a703fe0c1ddf4a10616b32.png" id="421" name="Google Shape;42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f516806da53e49a84ef40a49917e68e3.png" id="422" name="Google Shape;422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54c658c2fefad30f7d78fac801df7665.png" id="423" name="Google Shape;423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424" name="Google Shape;424;p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Estilização de Elementos Gráficos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2"/>
          <p:cNvSpPr/>
          <p:nvPr/>
        </p:nvSpPr>
        <p:spPr>
          <a:xfrm>
            <a:off x="285750" y="341757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Título Informativo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Comunique a conclusão do gráfico, não apenas as variáveis.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2491740" y="273177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Rótulos de Dados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Exiba valores exatos nas barras para remover linhas de grade poluídas.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2"/>
          <p:cNvSpPr/>
          <p:nvPr/>
        </p:nvSpPr>
        <p:spPr>
          <a:xfrm>
            <a:off x="4686300" y="341757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Eixos e Escalas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Inicie eixos verticais no zero para evitar distorções visuais.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2"/>
          <p:cNvSpPr/>
          <p:nvPr/>
        </p:nvSpPr>
        <p:spPr>
          <a:xfrm>
            <a:off x="6892290" y="273177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Legenda Objetiva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- Posicione a legenda próxima às séries ou integre nas linhas.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434" name="Google Shape;4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e8fda25694db88ebd86f42d6bf2cc1ca.png" id="435" name="Google Shape;43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36" name="Google Shape;436;p3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Gráfico Combinado com Eixo Duplo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3"/>
          <p:cNvSpPr/>
          <p:nvPr/>
        </p:nvSpPr>
        <p:spPr>
          <a:xfrm>
            <a:off x="285750" y="857250"/>
            <a:ext cx="169164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ANÁLISE AVANÇADA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3"/>
          <p:cNvSpPr/>
          <p:nvPr/>
        </p:nvSpPr>
        <p:spPr>
          <a:xfrm>
            <a:off x="285750" y="1165860"/>
            <a:ext cx="4572000" cy="2107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Quando comparamos grandezas de escalas totalmente discrepantes — como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Faturamento em Reais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(milhões) e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Margem Percentual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(de 0% a 100%) —, colocá-las no mesmo eixo inviabiliza a leitura.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solução é configurar 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Eixo Secundário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para a linha de margem.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3"/>
          <p:cNvSpPr/>
          <p:nvPr/>
        </p:nvSpPr>
        <p:spPr>
          <a:xfrm>
            <a:off x="285750" y="326898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3"/>
          <p:cNvSpPr/>
          <p:nvPr/>
        </p:nvSpPr>
        <p:spPr>
          <a:xfrm>
            <a:off x="400050" y="34175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3"/>
          <p:cNvSpPr/>
          <p:nvPr/>
        </p:nvSpPr>
        <p:spPr>
          <a:xfrm>
            <a:off x="765810" y="338328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Colunas para faturamento no eixo principal; linha para margem no secundário.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447" name="Google Shape;44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6c57ecfd2ba37e7a6983eb5c647bde6e.png" id="448" name="Google Shape;44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be1902442c9786649044de8c382d2880.png" id="449" name="Google Shape;44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50" name="Google Shape;450;p34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Interatividade com Segmentação de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4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Que São Segmentadores?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São botões visuais elegantes que substituem filtros suspensos lentos. Clicar em um botão filtra instantaneamente todas as tabelas e gráficos.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4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Linha do Tempo Dinâmica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Componente visual dedicado exclusivamente para filtros cronológicos. Arraste a barra para selecionar meses, trimestres ou anos.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458" name="Google Shape;45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Avaliação: Melhores Práticas Visuais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5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Quais afirmações a respeito da criação e estilização de gráficos gerenciais são verdadeiras?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5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gráfico dinâmico atualiza sua disposição visual automaticamente quando a tabela dinâmica é filtrada.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5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5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Gráficos de pizza são recomendados mesmo quando temos mais de vinte categorias complexas.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5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5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eixo secundário é essencial ao plotar métricas de ordens de grandeza distintas no mesmo gráfico.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5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5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Tabelas dinâmicas exigem recalcular fórmulas manuais sempre que novas colunas são ocultadas.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474" name="Google Shape;47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Avaliação: Melhores Práticas Visuais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6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Quais afirmações a respeito da criação e estilização de gráficos gerenciais são verdadeiras?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6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6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gráfico dinâmico atualiza sua disposição visual automaticamente quando a tabela dinâmica é filtrada.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Gráficos de pizza são recomendados mesmo quando temos mais de vinte categorias complexas.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6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eixo secundário é essencial ao plotar métricas de ordens de grandeza distintas no mesmo gráfico.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6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6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Tabelas dinâmicas exigem recalcular fórmulas manuais sempre que novas colunas são ocultadas.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6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6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493" name="Google Shape;49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82f439da2e7acfe89310edb5dbefb60b.png" id="494" name="Google Shape;49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95" name="Google Shape;495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Estudo de Caso: Análise de Vendas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7"/>
          <p:cNvSpPr/>
          <p:nvPr/>
        </p:nvSpPr>
        <p:spPr>
          <a:xfrm>
            <a:off x="285750" y="857250"/>
            <a:ext cx="144018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APLICAÇÃO REAL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7"/>
          <p:cNvSpPr/>
          <p:nvPr/>
        </p:nvSpPr>
        <p:spPr>
          <a:xfrm>
            <a:off x="285750" y="1165860"/>
            <a:ext cx="45720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distribuidora TechSul registrou 18.000 transações em 2025. A diretoria precisa identificar gargalos logísticos e os produtos mais lucrativos por canal de distribuição para renegociar contratos de fornecimento.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7"/>
          <p:cNvSpPr/>
          <p:nvPr/>
        </p:nvSpPr>
        <p:spPr>
          <a:xfrm>
            <a:off x="285750" y="294894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7"/>
          <p:cNvSpPr/>
          <p:nvPr/>
        </p:nvSpPr>
        <p:spPr>
          <a:xfrm>
            <a:off x="400050" y="30975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7"/>
          <p:cNvSpPr/>
          <p:nvPr/>
        </p:nvSpPr>
        <p:spPr>
          <a:xfrm>
            <a:off x="765810" y="306324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Construiremos uma tabela multidimensional para cruzar Regiões, Categorias e Canais.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506" name="Google Shape;50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8"/>
          <p:cNvSpPr/>
          <p:nvPr/>
        </p:nvSpPr>
        <p:spPr>
          <a:xfrm>
            <a:off x="17145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8"/>
          <p:cNvSpPr/>
          <p:nvPr/>
        </p:nvSpPr>
        <p:spPr>
          <a:xfrm>
            <a:off x="237744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8"/>
          <p:cNvSpPr/>
          <p:nvPr/>
        </p:nvSpPr>
        <p:spPr>
          <a:xfrm>
            <a:off x="457200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8"/>
          <p:cNvSpPr/>
          <p:nvPr/>
        </p:nvSpPr>
        <p:spPr>
          <a:xfrm>
            <a:off x="677799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Prática: Relatório Multidimensional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8"/>
          <p:cNvSpPr/>
          <p:nvPr/>
        </p:nvSpPr>
        <p:spPr>
          <a:xfrm>
            <a:off x="285750" y="136017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Inserir Tabela Dinâmica e colocar Região e Canal nas Linhas.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8"/>
          <p:cNvSpPr/>
          <p:nvPr/>
        </p:nvSpPr>
        <p:spPr>
          <a:xfrm>
            <a:off x="2491740" y="136017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Adicionar Categoria de Produto no quadrante de Colunas.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8"/>
          <p:cNvSpPr/>
          <p:nvPr/>
        </p:nvSpPr>
        <p:spPr>
          <a:xfrm>
            <a:off x="4686300" y="136017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Inserir Valor Total e Lucro Líquido no campo de Valores.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8"/>
          <p:cNvSpPr/>
          <p:nvPr/>
        </p:nvSpPr>
        <p:spPr>
          <a:xfrm>
            <a:off x="6892290" y="136017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Inserir Segmentação de Dados por Ano e Gerente Comercial.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521" name="Google Shape;52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5a45194547020409ac38b348347023e9.png" id="522" name="Google Shape;52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3714750" y="33147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Descobertas Operacionais da Análise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9"/>
          <p:cNvSpPr/>
          <p:nvPr/>
        </p:nvSpPr>
        <p:spPr>
          <a:xfrm>
            <a:off x="3714750" y="1451610"/>
            <a:ext cx="179451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INSIGHTS DE NEGÓCIO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9"/>
          <p:cNvSpPr/>
          <p:nvPr/>
        </p:nvSpPr>
        <p:spPr>
          <a:xfrm>
            <a:off x="3714750" y="1760220"/>
            <a:ext cx="5143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E-commerce: 65% do volume, 18% da margem.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Região Sul: maior ticket médio em equipamentos.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4º trimestre: frete reduziu lucros de filiais.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9"/>
          <p:cNvSpPr/>
          <p:nvPr/>
        </p:nvSpPr>
        <p:spPr>
          <a:xfrm>
            <a:off x="3714750" y="3463290"/>
            <a:ext cx="51435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9"/>
          <p:cNvSpPr/>
          <p:nvPr/>
        </p:nvSpPr>
        <p:spPr>
          <a:xfrm>
            <a:off x="3829050" y="36118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9"/>
          <p:cNvSpPr/>
          <p:nvPr/>
        </p:nvSpPr>
        <p:spPr>
          <a:xfrm>
            <a:off x="4194810" y="3577590"/>
            <a:ext cx="45491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Dados revelam a real rentabilidade do negócio.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534" name="Google Shape;53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88f2cf22d50efe57d124336ea25cb3a9.png" id="535" name="Google Shape;53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b968ea90ad54ac9ba5c4662e97db6a9b.png" id="536" name="Google Shape;53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oundRect">
            <a:avLst>
              <a:gd fmla="val 6250" name="adj"/>
            </a:avLst>
          </a:prstGeom>
          <a:noFill/>
          <a:ln>
            <a:noFill/>
          </a:ln>
        </p:spPr>
      </p:pic>
      <p:sp>
        <p:nvSpPr>
          <p:cNvPr id="537" name="Google Shape;537;p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Discussão Gerencial: Decisões Estratégicas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0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Com base na descoberta de que o E-commerce vende muito volume mas com margem baixa, a empresa deve reduzir as vendas online ou renegociar custos operacionais e logística? Como os gráficos gerenciais ajudam a convencer a diretoria?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544" name="Google Shape;54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88f2cf22d50efe57d124336ea25cb3a9.png" id="545" name="Google Shape;54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sp>
        <p:nvSpPr>
          <p:cNvPr id="546" name="Google Shape;546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Discussão Gerencial: Decisões Estratégicas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1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Reduzir o canal online pode ceder espaço de mercado aos concorrentes. O ideal é analisar os custos logísticos na tabela dinâmica e utilizar um gráfico combinado (volume versus margem) para evidenciar aos diretores onde ocorrem os desperdícios de frete e embalagem.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554" name="Google Shape;55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b8e2e30cbb6ba10a8acb00af0ff4be05.png" id="555" name="Google Shape;55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f317a1708348d66ea0b1e7a12ebc9c96.png" id="556" name="Google Shape;556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1908810"/>
            <a:ext cx="2697480" cy="2331720"/>
          </a:xfrm>
          <a:prstGeom prst="roundRect">
            <a:avLst>
              <a:gd fmla="val 5882" name="adj"/>
            </a:avLst>
          </a:prstGeom>
          <a:noFill/>
          <a:ln>
            <a:noFill/>
          </a:ln>
        </p:spPr>
      </p:pic>
      <p:sp>
        <p:nvSpPr>
          <p:cNvPr id="557" name="Google Shape;557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Desafio Prático Final de Consolidação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42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Com base nos dados do laboratório: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Tabela: Trimestres nas colunas, Vendedores nas linhas.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Valores: Soma do Faturamento e % do Total Geral.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Gráfico: Colunas para Faturamento (eixo principal) e linha para Margem Média (eixo secundário).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Filtro: Adicione Segmentação por Categoria. Identifique o vendedor com melhor desempenho relativo.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14cc6bbf-0044-45fb-951a-502ebddc8938/img_67db2e6a5fb9230f9de86baa7e51a1c5.png" id="564" name="Google Shape;56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14cc6bbf-0044-45fb-951a-502ebddc8938/img_e8859b48033bf71bd2ec0e5d33a0608a.png" id="565" name="Google Shape;56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566" name="Google Shape;566;p4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Conclusão e Próximos Passos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3"/>
          <p:cNvSpPr/>
          <p:nvPr/>
        </p:nvSpPr>
        <p:spPr>
          <a:xfrm>
            <a:off x="285750" y="857250"/>
            <a:ext cx="147447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SÍNTESE DA AULA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43"/>
          <p:cNvSpPr/>
          <p:nvPr/>
        </p:nvSpPr>
        <p:spPr>
          <a:xfrm>
            <a:off x="285750" y="1165860"/>
            <a:ext cx="4572000" cy="2107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Dominamos hoje a criação de Tabelas Dinâmicas, configurações avançadas de valores, gráficos combinados com duplo eixo e segmentadores interativos.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 próxima aula, integraremos todos esses componentes na construção de um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Dashboard Executivo Profissional Interativo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3"/>
          <p:cNvSpPr/>
          <p:nvPr/>
        </p:nvSpPr>
        <p:spPr>
          <a:xfrm>
            <a:off x="285750" y="350901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/>
          <p:nvPr/>
        </p:nvSpPr>
        <p:spPr>
          <a:xfrm>
            <a:off x="400050" y="36576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3"/>
          <p:cNvSpPr/>
          <p:nvPr/>
        </p:nvSpPr>
        <p:spPr>
          <a:xfrm>
            <a:off x="765810" y="362331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Dados bem estruturados geram visualizações claras e decisões ágeis.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