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</p:sldIdLst>
  <p:sldSz cy="5143500" cx="9144000"/>
  <p:notesSz cx="5143500" cy="9144000"/>
  <p:embeddedFontLst>
    <p:embeddedFont>
      <p:font typeface="Inter"/>
      <p:regular r:id="rId49"/>
      <p:bold r:id="rId50"/>
      <p:italic r:id="rId51"/>
      <p:boldItalic r:id="rId52"/>
    </p:embeddedFont>
    <p:embeddedFont>
      <p:font typeface="Inter ExtraBold"/>
      <p:bold r:id="rId53"/>
      <p:boldItalic r:id="rId54"/>
    </p:embeddedFont>
    <p:embeddedFont>
      <p:font typeface="Karla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font" Target="fonts/Inter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Inter-italic.fntdata"/><Relationship Id="rId50" Type="http://schemas.openxmlformats.org/officeDocument/2006/relationships/font" Target="fonts/Inter-bold.fntdata"/><Relationship Id="rId53" Type="http://schemas.openxmlformats.org/officeDocument/2006/relationships/font" Target="fonts/InterExtraBold-bold.fntdata"/><Relationship Id="rId52" Type="http://schemas.openxmlformats.org/officeDocument/2006/relationships/font" Target="fonts/Inter-boldItalic.fntdata"/><Relationship Id="rId11" Type="http://schemas.openxmlformats.org/officeDocument/2006/relationships/slide" Target="slides/slide7.xml"/><Relationship Id="rId55" Type="http://schemas.openxmlformats.org/officeDocument/2006/relationships/font" Target="fonts/Karla-regular.fntdata"/><Relationship Id="rId10" Type="http://schemas.openxmlformats.org/officeDocument/2006/relationships/slide" Target="slides/slide6.xml"/><Relationship Id="rId54" Type="http://schemas.openxmlformats.org/officeDocument/2006/relationships/font" Target="fonts/InterExtraBold-boldItalic.fntdata"/><Relationship Id="rId13" Type="http://schemas.openxmlformats.org/officeDocument/2006/relationships/slide" Target="slides/slide9.xml"/><Relationship Id="rId57" Type="http://schemas.openxmlformats.org/officeDocument/2006/relationships/font" Target="fonts/Karla-italic.fntdata"/><Relationship Id="rId12" Type="http://schemas.openxmlformats.org/officeDocument/2006/relationships/slide" Target="slides/slide8.xml"/><Relationship Id="rId56" Type="http://schemas.openxmlformats.org/officeDocument/2006/relationships/font" Target="fonts/Karla-bold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8" Type="http://schemas.openxmlformats.org/officeDocument/2006/relationships/font" Target="fonts/Karla-bold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" name="Google Shape;430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" name="Google Shape;455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" name="Google Shape;496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0" name="Google Shape;510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5" name="Google Shape;525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7" name="Google Shape;537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7" name="Google Shape;547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7" name="Google Shape;557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8" name="Google Shape;568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5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80.png"/><Relationship Id="rId6" Type="http://schemas.openxmlformats.org/officeDocument/2006/relationships/image" Target="../media/image23.png"/><Relationship Id="rId7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hyperlink" Target="http://www.youtube.com/watch?v=JMU_ksS3fq4" TargetMode="External"/><Relationship Id="rId5" Type="http://schemas.openxmlformats.org/officeDocument/2006/relationships/image" Target="../media/image5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3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40.png"/><Relationship Id="rId5" Type="http://schemas.openxmlformats.org/officeDocument/2006/relationships/image" Target="../media/image3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4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5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58.png"/><Relationship Id="rId5" Type="http://schemas.openxmlformats.org/officeDocument/2006/relationships/image" Target="../media/image4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5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Relationship Id="rId4" Type="http://schemas.openxmlformats.org/officeDocument/2006/relationships/image" Target="../media/image4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Relationship Id="rId4" Type="http://schemas.openxmlformats.org/officeDocument/2006/relationships/image" Target="../media/image81.png"/><Relationship Id="rId5" Type="http://schemas.openxmlformats.org/officeDocument/2006/relationships/image" Target="../media/image5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Relationship Id="rId4" Type="http://schemas.openxmlformats.org/officeDocument/2006/relationships/image" Target="../media/image46.png"/><Relationship Id="rId5" Type="http://schemas.openxmlformats.org/officeDocument/2006/relationships/hyperlink" Target="https://app.chalkie.ai/player/a2b70bdf-ece8-4d3e-95b6-31020acec47d/cf872303-950a-4ed7-aa91-378f9daff2b8?source=exported_presentation&amp;exportFormat=slides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Relationship Id="rId4" Type="http://schemas.openxmlformats.org/officeDocument/2006/relationships/image" Target="../media/image46.png"/><Relationship Id="rId5" Type="http://schemas.openxmlformats.org/officeDocument/2006/relationships/hyperlink" Target="https://app.chalkie.ai/player/a2b70bdf-ece8-4d3e-95b6-31020acec47d/cf872303-950a-4ed7-aa91-378f9daff2b8?source=exported_presentation&amp;exportFormat=slides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Relationship Id="rId4" Type="http://schemas.openxmlformats.org/officeDocument/2006/relationships/image" Target="../media/image6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Relationship Id="rId4" Type="http://schemas.openxmlformats.org/officeDocument/2006/relationships/image" Target="../media/image8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Relationship Id="rId4" Type="http://schemas.openxmlformats.org/officeDocument/2006/relationships/image" Target="../media/image8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png"/><Relationship Id="rId4" Type="http://schemas.openxmlformats.org/officeDocument/2006/relationships/image" Target="../media/image8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.png"/><Relationship Id="rId4" Type="http://schemas.openxmlformats.org/officeDocument/2006/relationships/image" Target="../media/image7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.png"/><Relationship Id="rId4" Type="http://schemas.openxmlformats.org/officeDocument/2006/relationships/image" Target="../media/image78.png"/><Relationship Id="rId5" Type="http://schemas.openxmlformats.org/officeDocument/2006/relationships/image" Target="../media/image7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.png"/><Relationship Id="rId4" Type="http://schemas.openxmlformats.org/officeDocument/2006/relationships/image" Target="../media/image6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.png"/><Relationship Id="rId4" Type="http://schemas.openxmlformats.org/officeDocument/2006/relationships/image" Target="../media/image6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.png"/><Relationship Id="rId4" Type="http://schemas.openxmlformats.org/officeDocument/2006/relationships/image" Target="../media/image8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.png"/><Relationship Id="rId4" Type="http://schemas.openxmlformats.org/officeDocument/2006/relationships/image" Target="../media/image69.png"/><Relationship Id="rId5" Type="http://schemas.openxmlformats.org/officeDocument/2006/relationships/image" Target="../media/image7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.png"/><Relationship Id="rId4" Type="http://schemas.openxmlformats.org/officeDocument/2006/relationships/image" Target="../media/image6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.png"/><Relationship Id="rId4" Type="http://schemas.openxmlformats.org/officeDocument/2006/relationships/image" Target="../media/image7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.png"/><Relationship Id="rId4" Type="http://schemas.openxmlformats.org/officeDocument/2006/relationships/image" Target="../media/image8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77f4d763-acf6-4063-9de4-09b4dc9e44bc/img_67db2e6a5fb9230f9de86baa7e51a1c5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77f4d763-acf6-4063-9de4-09b4dc9e44bc/img_69e3a4addeec4d5247944979b14bd725.png" id="17" name="Google Shape;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7260" y="742950"/>
            <a:ext cx="3657600" cy="3657600"/>
          </a:xfrm>
          <a:prstGeom prst="roundRect">
            <a:avLst>
              <a:gd fmla="val 3750" name="adj"/>
            </a:avLst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4914900" y="1165860"/>
            <a:ext cx="3829050" cy="1819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3240"/>
              <a:buFont typeface="Inter ExtraBold"/>
              <a:buNone/>
            </a:pPr>
            <a:r>
              <a:rPr b="0" i="0" lang="en-US" sz="324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Estatística e Lógica Aplicada aos Negócios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914900" y="2823210"/>
            <a:ext cx="382905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Decisões inteligentes usando números, porcentagens e tendências reais na gestão.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77f4d763-acf6-4063-9de4-09b4dc9e44bc/img_67db2e6a5fb9230f9de86baa7e51a1c5.png" id="25" name="Google Shape;2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77f4d763-acf6-4063-9de4-09b4dc9e44bc/img_59e17192f8db76a7a744490d7fe7c08f.png" id="26" name="Google Shape;2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785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27" name="Google Shape;27;p4"/>
          <p:cNvSpPr/>
          <p:nvPr/>
        </p:nvSpPr>
        <p:spPr>
          <a:xfrm>
            <a:off x="285750" y="1463040"/>
            <a:ext cx="514350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Decidir no Chute ou com Dados?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285750" y="2514600"/>
            <a:ext cx="5143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Imagine uma loja com 500 produtos em estoque. Como o gerente sabe exatamente qual item comprar mais sem arriscar prejuízo?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77f4d763-acf6-4063-9de4-09b4dc9e44bc/img_67db2e6a5fb9230f9de86baa7e51a1c5.png" id="34" name="Google Shape;3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77f4d763-acf6-4063-9de4-09b4dc9e44bc/img_fcb3d635d250a5a824b77cf810c55bb3.png" id="35" name="Google Shape;3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36" name="Google Shape;36;p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Objetivos da Nossa Aula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4286250" y="857250"/>
            <a:ext cx="210312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METAS DE APRENDIZAGEM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4286250" y="1165860"/>
            <a:ext cx="45720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Nesta aula você desenvolverá competências analíticas indispensáveis para o mercado: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Calcular e interpretar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variações percentuais em lucros, custos e descontos comerciais.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Aplicar medidas estatísticas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de tendência central e dispersão em dados operacionais.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Identificar padrões lógicos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e frequências para prever cenários e evitar erros de gestão.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77f4d763-acf6-4063-9de4-09b4dc9e44bc/img_67db2e6a5fb9230f9de86baa7e51a1c5.png" id="44" name="Google Shape;4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77f4d763-acf6-4063-9de4-09b4dc9e44bc/img_2f2348221289cd7a56d87729aa08c6d1.png" id="45" name="Google Shape;4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158877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77f4d763-acf6-4063-9de4-09b4dc9e44bc/img_7a8b93d10b15183d3b0ae1f988f41e89.png" id="46" name="Google Shape;4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91740" y="90297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77f4d763-acf6-4063-9de4-09b4dc9e44bc/img_c65fae050a67c2114fdf42b25b86cc49.png" id="47" name="Google Shape;47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6300" y="158877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77f4d763-acf6-4063-9de4-09b4dc9e44bc/img_9b75028977c9ff6eaa9140510127b64a.png" id="48" name="Google Shape;48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92290" y="90297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sp>
        <p:nvSpPr>
          <p:cNvPr id="49" name="Google Shape;49;p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Vocabulário Essencial da Gestão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285750" y="3417570"/>
            <a:ext cx="197739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Média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Equilíbrio numérico obtido pela soma dividida pela contagem.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2491740" y="2731770"/>
            <a:ext cx="197739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Porcentagem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Razão matemática por cem para medir partes e variações.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4686300" y="3417570"/>
            <a:ext cx="197739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Desvio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Distância entre cada dado coletado e a média geral.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6892290" y="2731770"/>
            <a:ext cx="197739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Frequência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Número de ocorrências de determinado evento em uma amostragem.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77f4d763-acf6-4063-9de4-09b4dc9e44bc/img_67db2e6a5fb9230f9de86baa7e51a1c5.png" id="59" name="Google Shape;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77f4d763-acf6-4063-9de4-09b4dc9e44bc/img_d7f984dc5c87f54006e9a7443021c3d7.png" id="60" name="Google Shape;6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61" name="Google Shape;61;p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Ponte com a Aula Anterior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285750" y="857250"/>
            <a:ext cx="141732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RECAPITULAÇÃO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285750" y="1165860"/>
            <a:ext cx="4572000" cy="2395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Na aula passada, exploramos como as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operações fundamentais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, a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proporção direta e inversa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e a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regra de três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equilibram orçamentos e insumos.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Na gestão moderna de compras, se a demanda sobe 50%, a regra de três ajusta os pedidos de compra para impedir o desabastecimento da fábrica.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285750" y="3509010"/>
            <a:ext cx="4572000" cy="1348740"/>
          </a:xfrm>
          <a:prstGeom prst="roundRect">
            <a:avLst>
              <a:gd fmla="val 6780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7"/>
          <p:cNvSpPr/>
          <p:nvPr/>
        </p:nvSpPr>
        <p:spPr>
          <a:xfrm>
            <a:off x="400050" y="365760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765810" y="3623310"/>
            <a:ext cx="3977640" cy="1120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B2F50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Proporção é a igualdade entre razões. Ela nos permite projetar quantidades com precisão matemática.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77f4d763-acf6-4063-9de4-09b4dc9e44bc/img_67db2e6a5fb9230f9de86baa7e51a1c5.png" id="72" name="Google Shape;7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Desafio de Proporção em Estoque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8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Se 4 caixas contêm 200 parafusos industriais, quantos parafusos teremos em 9 caixas idênticas?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8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8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500 parafusos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8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8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400 parafusos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8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8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350 parafusos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8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8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450 parafusos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77f4d763-acf6-4063-9de4-09b4dc9e44bc/img_67db2e6a5fb9230f9de86baa7e51a1c5.png" id="88" name="Google Shape;8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Desafio de Proporção em Estoque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9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Se 4 caixas contêm 200 parafusos industriais, quantos parafusos teremos em 9 caixas idênticas?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9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500 parafusos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9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9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400 parafusos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9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9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350 parafusos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450 parafusos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8721090" y="40919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77f4d763-acf6-4063-9de4-09b4dc9e44bc/img_67db2e6a5fb9230f9de86baa7e51a1c5.png" id="106" name="Google Shape;10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77f4d763-acf6-4063-9de4-09b4dc9e44bc/img_77ffd39dc0d61050fc3e7e26bf74afc3.png" id="107" name="Google Shape;10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108" name="Google Shape;108;p1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Entendendo Porcentagem nos Negócios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4286250" y="857250"/>
            <a:ext cx="132588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FUNDAMENTOS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4286250" y="1165860"/>
            <a:ext cx="4572000" cy="2395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porcentagem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traduz qualquer fração para uma base comum de 100 partes. Isso simplifica a comparação entre operações de portes totalmente distintos.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Comparar o lucro de R$ 50 mil de uma fábrica com o de R$ 5 mil de uma papelaria só é justo calculando a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taxa percentual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sobre o investimento.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4286250" y="3509010"/>
            <a:ext cx="4572000" cy="1348740"/>
          </a:xfrm>
          <a:prstGeom prst="roundRect">
            <a:avLst>
              <a:gd fmla="val 6780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0"/>
          <p:cNvSpPr/>
          <p:nvPr/>
        </p:nvSpPr>
        <p:spPr>
          <a:xfrm>
            <a:off x="4400550" y="365760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0"/>
          <p:cNvSpPr/>
          <p:nvPr/>
        </p:nvSpPr>
        <p:spPr>
          <a:xfrm>
            <a:off x="4766310" y="3623310"/>
            <a:ext cx="3977640" cy="1120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Calcular 25% equivale a multiplicar pelo fator decimal 0,25 ou dividir por 4.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77f4d763-acf6-4063-9de4-09b4dc9e44bc/img_67db2e6a5fb9230f9de86baa7e51a1c5.png" id="119" name="Google Shape;11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77f4d763-acf6-4063-9de4-09b4dc9e44bc/img_3febdf1596697489ebcffa2117e50bb7.png" id="120" name="Google Shape;12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1668780"/>
            <a:ext cx="85725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21" name="Google Shape;121;p11"/>
          <p:cNvSpPr/>
          <p:nvPr/>
        </p:nvSpPr>
        <p:spPr>
          <a:xfrm>
            <a:off x="285750" y="18288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Cálculo da Variação Percentual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1"/>
          <p:cNvSpPr/>
          <p:nvPr/>
        </p:nvSpPr>
        <p:spPr>
          <a:xfrm>
            <a:off x="285750" y="8001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Fórmula: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Var% = ((Final - Inicial) ÷ Inicial) × 100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Ex: R$ 80k p/ R$ 100k: ((100-80)÷80)×100 =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+25%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1"/>
          <p:cNvSpPr/>
          <p:nvPr/>
        </p:nvSpPr>
        <p:spPr>
          <a:xfrm>
            <a:off x="285750" y="3863340"/>
            <a:ext cx="8572500" cy="854964"/>
          </a:xfrm>
          <a:prstGeom prst="roundRect">
            <a:avLst>
              <a:gd fmla="val 10695" name="adj"/>
            </a:avLst>
          </a:prstGeom>
          <a:solidFill>
            <a:srgbClr val="E1F6EF"/>
          </a:solidFill>
          <a:ln cap="flat" cmpd="sng" w="11425">
            <a:solidFill>
              <a:srgbClr val="084D3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1"/>
          <p:cNvSpPr/>
          <p:nvPr/>
        </p:nvSpPr>
        <p:spPr>
          <a:xfrm>
            <a:off x="400050" y="401193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1"/>
          <p:cNvSpPr/>
          <p:nvPr/>
        </p:nvSpPr>
        <p:spPr>
          <a:xfrm>
            <a:off x="765810" y="3977640"/>
            <a:ext cx="7978140" cy="626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4D3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84D36"/>
                </a:solidFill>
                <a:latin typeface="Inter"/>
                <a:ea typeface="Inter"/>
                <a:cs typeface="Inter"/>
                <a:sym typeface="Inter"/>
              </a:rPr>
              <a:t>Exemplo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84D3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84D36"/>
                </a:solidFill>
                <a:latin typeface="Inter"/>
                <a:ea typeface="Inter"/>
                <a:cs typeface="Inter"/>
                <a:sym typeface="Inter"/>
              </a:rPr>
              <a:t>Despesas R$ 50k p/ R$ 40k: </a:t>
            </a:r>
            <a:r>
              <a:rPr b="1" i="0" lang="en-US" sz="1620" u="none" cap="none" strike="noStrike">
                <a:solidFill>
                  <a:srgbClr val="084D36"/>
                </a:solidFill>
                <a:latin typeface="Inter"/>
                <a:ea typeface="Inter"/>
                <a:cs typeface="Inter"/>
                <a:sym typeface="Inter"/>
              </a:rPr>
              <a:t>-20%</a:t>
            </a:r>
            <a:r>
              <a:rPr b="0" i="0" lang="en-US" sz="1620" u="none" cap="none" strike="noStrike">
                <a:solidFill>
                  <a:srgbClr val="084D36"/>
                </a:solidFill>
                <a:latin typeface="Inter"/>
                <a:ea typeface="Inter"/>
                <a:cs typeface="Inter"/>
                <a:sym typeface="Inter"/>
              </a:rPr>
              <a:t> (redução).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77f4d763-acf6-4063-9de4-09b4dc9e44bc/img_67db2e6a5fb9230f9de86baa7e51a1c5.png" id="131" name="Google Shape;13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77f4d763-acf6-4063-9de4-09b4dc9e44bc/img_3500514997146ff22cdda3cf0b937c49.png" id="132" name="Google Shape;13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2296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77f4d763-acf6-4063-9de4-09b4dc9e44bc/img_9fd17f2e665349eab2a80eca8c9de80b.png" id="133" name="Google Shape;133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82296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34" name="Google Shape;134;p12"/>
          <p:cNvSpPr/>
          <p:nvPr/>
        </p:nvSpPr>
        <p:spPr>
          <a:xfrm>
            <a:off x="285750" y="20574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Margem de Lucro e Formação de Preço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2"/>
          <p:cNvSpPr/>
          <p:nvPr/>
        </p:nvSpPr>
        <p:spPr>
          <a:xfrm>
            <a:off x="285750" y="301752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Custo e Desconto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 custo engloba insumos, mão de obra e energia. Um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desconto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comercial reduz o preço bruto de venda para estimular giro de estoque.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2"/>
          <p:cNvSpPr/>
          <p:nvPr/>
        </p:nvSpPr>
        <p:spPr>
          <a:xfrm>
            <a:off x="4652010" y="301752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Margem de Lucro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Representa o percentual da receita que sobra após pagar os custos: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Margem Líquida (%) = (Lucro Líquido ÷ Receita Total) × 100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77f4d763-acf6-4063-9de4-09b4dc9e44bc/img_67db2e6a5fb9230f9de86baa7e51a1c5.png" id="142" name="Google Shape;14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Verificação: Desconto e Margem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3"/>
          <p:cNvSpPr/>
          <p:nvPr/>
        </p:nvSpPr>
        <p:spPr>
          <a:xfrm>
            <a:off x="285750" y="685800"/>
            <a:ext cx="8572500" cy="379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Um produto custa R$ 200 e recebe desconto de 15%. Qual é o novo preço de venda?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3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3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R$ 185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3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3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R$ 160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3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3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R$ 170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3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3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R$ 175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77f4d763-acf6-4063-9de4-09b4dc9e44bc/img_67db2e6a5fb9230f9de86baa7e51a1c5.png" id="158" name="Google Shape;15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Verificação: Desconto e Margem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4"/>
          <p:cNvSpPr/>
          <p:nvPr/>
        </p:nvSpPr>
        <p:spPr>
          <a:xfrm>
            <a:off x="285750" y="685800"/>
            <a:ext cx="8572500" cy="379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Um produto custa R$ 200 e recebe desconto de 15%. Qual é o novo preço de venda?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4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4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R$ 185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4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4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R$ 160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4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4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R$ 170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4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4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R$ 175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4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4"/>
          <p:cNvSpPr/>
          <p:nvPr/>
        </p:nvSpPr>
        <p:spPr>
          <a:xfrm>
            <a:off x="8721090" y="32346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77f4d763-acf6-4063-9de4-09b4dc9e44bc/img_67db2e6a5fb9230f9de86baa7e51a1c5.png" id="176" name="Google Shape;17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Porcentagem em Ação nos Negócios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5"/>
          <p:cNvSpPr/>
          <p:nvPr/>
        </p:nvSpPr>
        <p:spPr>
          <a:xfrm>
            <a:off x="285750" y="788670"/>
            <a:ext cx="8572500" cy="379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Percentuais guiam decisões e investimentos: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15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40180" y="1337310"/>
            <a:ext cx="6252210" cy="3520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77f4d763-acf6-4063-9de4-09b4dc9e44bc/img_67db2e6a5fb9230f9de86baa7e51a1c5.png" id="185" name="Google Shape;18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77f4d763-acf6-4063-9de4-09b4dc9e44bc/img_655795b445c1a18d552363f8479ef489.png" id="186" name="Google Shape;18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1828800"/>
          </a:xfrm>
          <a:prstGeom prst="roundRect">
            <a:avLst>
              <a:gd fmla="val 7500" name="adj"/>
            </a:avLst>
          </a:prstGeom>
          <a:noFill/>
          <a:ln>
            <a:noFill/>
          </a:ln>
        </p:spPr>
      </p:pic>
      <p:sp>
        <p:nvSpPr>
          <p:cNvPr id="187" name="Google Shape;187;p16"/>
          <p:cNvSpPr/>
          <p:nvPr/>
        </p:nvSpPr>
        <p:spPr>
          <a:xfrm>
            <a:off x="285750" y="220599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Medidas de Tendência Central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6"/>
          <p:cNvSpPr/>
          <p:nvPr/>
        </p:nvSpPr>
        <p:spPr>
          <a:xfrm>
            <a:off x="285750" y="2891790"/>
            <a:ext cx="204597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ESTATÍSTICA DESCRITIVA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6"/>
          <p:cNvSpPr/>
          <p:nvPr/>
        </p:nvSpPr>
        <p:spPr>
          <a:xfrm>
            <a:off x="285750" y="3200400"/>
            <a:ext cx="857250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Em análises gerenciais, precisamos de valores únicos que sintetizem o comportamento de centenas de registros.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As três principais medidas são a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média aritmética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, a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mediana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e a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moda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, cada uma revelando um aspecto fundamental do conjunto de dados.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77f4d763-acf6-4063-9de4-09b4dc9e44bc/img_67db2e6a5fb9230f9de86baa7e51a1c5.png" id="195" name="Google Shape;19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77f4d763-acf6-4063-9de4-09b4dc9e44bc/img_0a64352cf67b824885b46f5e7fccc377.png" id="196" name="Google Shape;19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197" name="Google Shape;197;p17"/>
          <p:cNvSpPr/>
          <p:nvPr/>
        </p:nvSpPr>
        <p:spPr>
          <a:xfrm>
            <a:off x="3714750" y="194310"/>
            <a:ext cx="514350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Calculando a Média Aritmética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7"/>
          <p:cNvSpPr/>
          <p:nvPr/>
        </p:nvSpPr>
        <p:spPr>
          <a:xfrm>
            <a:off x="3714750" y="1314450"/>
            <a:ext cx="178308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CONCEITO E CÁLCULO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7"/>
          <p:cNvSpPr/>
          <p:nvPr/>
        </p:nvSpPr>
        <p:spPr>
          <a:xfrm>
            <a:off x="3714750" y="1623060"/>
            <a:ext cx="5143500" cy="1819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média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é a soma dos valores dividida pelo total de elementos.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Se uma equipe vendeu 10, 15, 20 e 35 contratos em quatro dias: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Soma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= 80 contratos.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Média diária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= 80 ÷ 4 =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20 contratos/dia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7"/>
          <p:cNvSpPr/>
          <p:nvPr/>
        </p:nvSpPr>
        <p:spPr>
          <a:xfrm>
            <a:off x="3714750" y="3611880"/>
            <a:ext cx="5143500" cy="1101852"/>
          </a:xfrm>
          <a:prstGeom prst="roundRect">
            <a:avLst>
              <a:gd fmla="val 8299" name="adj"/>
            </a:avLst>
          </a:prstGeom>
          <a:solidFill>
            <a:srgbClr val="FCEBEB"/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7"/>
          <p:cNvSpPr/>
          <p:nvPr/>
        </p:nvSpPr>
        <p:spPr>
          <a:xfrm>
            <a:off x="3829050" y="376047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7"/>
          <p:cNvSpPr/>
          <p:nvPr/>
        </p:nvSpPr>
        <p:spPr>
          <a:xfrm>
            <a:off x="4194810" y="3726180"/>
            <a:ext cx="4549140" cy="87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060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460606"/>
                </a:solidFill>
                <a:latin typeface="Inter"/>
                <a:ea typeface="Inter"/>
                <a:cs typeface="Inter"/>
                <a:sym typeface="Inter"/>
              </a:rPr>
              <a:t>Atenção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46060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460606"/>
                </a:solidFill>
                <a:latin typeface="Inter"/>
                <a:ea typeface="Inter"/>
                <a:cs typeface="Inter"/>
                <a:sym typeface="Inter"/>
              </a:rPr>
              <a:t>Atenção: valores muito altos ou baixos (outliers) distorcem a média aritmética.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77f4d763-acf6-4063-9de4-09b4dc9e44bc/img_67db2e6a5fb9230f9de86baa7e51a1c5.png" id="208" name="Google Shape;20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77f4d763-acf6-4063-9de4-09b4dc9e44bc/img_93e4ee907b10fdf4820a906b0b14dd19.png" id="209" name="Google Shape;20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2296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77f4d763-acf6-4063-9de4-09b4dc9e44bc/img_9a0b47bdc80587666bab0fefcab2156f.png" id="210" name="Google Shape;21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82296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11" name="Google Shape;211;p18"/>
          <p:cNvSpPr/>
          <p:nvPr/>
        </p:nvSpPr>
        <p:spPr>
          <a:xfrm>
            <a:off x="285750" y="20574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Mediana: O Centro dos Dados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285750" y="301752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Número Ímpar de Dados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Ordene os dados em ordem crescente. O elemento central exato é a mediana, imune a valores discrepantes extremos.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4652010" y="301752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Número Par de Dados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Com quantidade par de registros, somamos os dois termos centrais e dividimos por dois para fixar o ponto médio.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77f4d763-acf6-4063-9de4-09b4dc9e44bc/img_67db2e6a5fb9230f9de86baa7e51a1c5.png" id="219" name="Google Shape;21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77f4d763-acf6-4063-9de4-09b4dc9e44bc/img_8f54b38591b25fbe74a1166e8b7adbe5.png" id="220" name="Google Shape;22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785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221" name="Google Shape;221;p19"/>
          <p:cNvSpPr/>
          <p:nvPr/>
        </p:nvSpPr>
        <p:spPr>
          <a:xfrm>
            <a:off x="285750" y="171450"/>
            <a:ext cx="514350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 Moda e Suas Aplicações Comerciais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285750" y="1291590"/>
            <a:ext cx="187452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PREFERÊNCIA POPULAR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9"/>
          <p:cNvSpPr/>
          <p:nvPr/>
        </p:nvSpPr>
        <p:spPr>
          <a:xfrm>
            <a:off x="285750" y="1600200"/>
            <a:ext cx="514350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moda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é o valor com maior frequência absoluta em uma pesquisa ou banco de dados.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Na gestão de varejo de calçados, saber que o sapato de tamanho 38 é a moda orienta o estoquista a encomendar o dobro de pares dessa numeração.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9"/>
          <p:cNvSpPr/>
          <p:nvPr/>
        </p:nvSpPr>
        <p:spPr>
          <a:xfrm>
            <a:off x="285750" y="3451860"/>
            <a:ext cx="5143500" cy="1348740"/>
          </a:xfrm>
          <a:prstGeom prst="roundRect">
            <a:avLst>
              <a:gd fmla="val 6780" name="adj"/>
            </a:avLst>
          </a:prstGeom>
          <a:solidFill>
            <a:srgbClr val="EEEDFE"/>
          </a:solidFill>
          <a:ln cap="flat" cmpd="sng" w="11425">
            <a:solidFill>
              <a:srgbClr val="08044D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9"/>
          <p:cNvSpPr/>
          <p:nvPr/>
        </p:nvSpPr>
        <p:spPr>
          <a:xfrm>
            <a:off x="400050" y="360045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🤯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/>
          <p:nvPr/>
        </p:nvSpPr>
        <p:spPr>
          <a:xfrm>
            <a:off x="765810" y="3566160"/>
            <a:ext cx="4549140" cy="1120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44D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8044D"/>
                </a:solidFill>
                <a:latin typeface="Inter"/>
                <a:ea typeface="Inter"/>
                <a:cs typeface="Inter"/>
                <a:sym typeface="Inter"/>
              </a:rPr>
              <a:t>Curiosidade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8044D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8044D"/>
                </a:solidFill>
                <a:latin typeface="Inter"/>
                <a:ea typeface="Inter"/>
                <a:cs typeface="Inter"/>
                <a:sym typeface="Inter"/>
              </a:rPr>
              <a:t>Um conjunto pode ter mais de uma moda (bimodal) ou nenhuma moda, quando todos os valores têm repetição idêntica.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77f4d763-acf6-4063-9de4-09b4dc9e44bc/img_67db2e6a5fb9230f9de86baa7e51a1c5.png" id="232" name="Google Shape;23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Verificando Medidas Centrais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0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A média aritmética é sempre a medida mais confiável para representar salários de uma empresa.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Inter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Inter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2571750" y="371475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🤔 </a:t>
            </a:r>
            <a:r>
              <a:rPr b="0" i="1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Prepare-se para explicar o seu raciocínio.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77f4d763-acf6-4063-9de4-09b4dc9e44bc/img_67db2e6a5fb9230f9de86baa7e51a1c5.png" id="244" name="Google Shape;24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Verificando Medidas Centrais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1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1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A média aritmética é sempre a medida mais confiável para representar salários de uma empresa.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Inter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Inter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457200" y="3657600"/>
            <a:ext cx="8229600" cy="1101852"/>
          </a:xfrm>
          <a:prstGeom prst="roundRect">
            <a:avLst>
              <a:gd fmla="val 8299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1"/>
          <p:cNvSpPr/>
          <p:nvPr/>
        </p:nvSpPr>
        <p:spPr>
          <a:xfrm>
            <a:off x="571500" y="380619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937260" y="3771900"/>
            <a:ext cx="7635240" cy="87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1440"/>
              <a:buFont typeface="Inter ExtraBold"/>
              <a:buNone/>
            </a:pPr>
            <a:r>
              <a:rPr b="0" i="0" lang="en-US" sz="144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Por que é isso?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Salários milionários de diretores puxam a média para cima, enquanto a mediana reflete melhor o salário típico.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6435090" y="24917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77f4d763-acf6-4063-9de4-09b4dc9e44bc/img_67db2e6a5fb9230f9de86baa7e51a1c5.png" id="260" name="Google Shape;26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77f4d763-acf6-4063-9de4-09b4dc9e44bc/img_ea58cb79649d20d13ade6b5c9636767c.png" id="261" name="Google Shape;26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262" name="Google Shape;262;p2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Por que Medir a Dispersão?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2"/>
          <p:cNvSpPr/>
          <p:nvPr/>
        </p:nvSpPr>
        <p:spPr>
          <a:xfrm>
            <a:off x="4286250" y="857250"/>
            <a:ext cx="130302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VARIABILIDADE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4286250" y="1165860"/>
            <a:ext cx="4572000" cy="2107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Duas fábricas podem produzir com a mesma média de 500 peças por hora, mas uma entrega entre 498 e 502, enquanto a outra oscila entre 200 e 800 peças.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dispersão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mede essa instabilidade. Nos negócios, menor dispersão significa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previsibilidade e qualidade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assegurada.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2"/>
          <p:cNvSpPr/>
          <p:nvPr/>
        </p:nvSpPr>
        <p:spPr>
          <a:xfrm>
            <a:off x="4286250" y="3509010"/>
            <a:ext cx="4572000" cy="1348740"/>
          </a:xfrm>
          <a:prstGeom prst="roundRect">
            <a:avLst>
              <a:gd fmla="val 6780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2"/>
          <p:cNvSpPr/>
          <p:nvPr/>
        </p:nvSpPr>
        <p:spPr>
          <a:xfrm>
            <a:off x="4400550" y="365760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4766310" y="3623310"/>
            <a:ext cx="3977640" cy="1120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Médias iguais não significam processos idênticos. O risco mora na oscilação dos dados.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77f4d763-acf6-4063-9de4-09b4dc9e44bc/img_67db2e6a5fb9230f9de86baa7e51a1c5.png" id="273" name="Google Shape;27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77f4d763-acf6-4063-9de4-09b4dc9e44bc/img_3f44bb8c89f5708e4d265ea05c118e57.png" id="274" name="Google Shape;27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2296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77f4d763-acf6-4063-9de4-09b4dc9e44bc/img_e1625a17bc7e4d0fb3c1bdb1434ab5ce.png" id="275" name="Google Shape;27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82296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76" name="Google Shape;276;p23"/>
          <p:cNvSpPr/>
          <p:nvPr/>
        </p:nvSpPr>
        <p:spPr>
          <a:xfrm>
            <a:off x="285750" y="20574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Variância e Desvio Padrão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285750" y="301752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Variância (s²)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Mede a média dos desvios quadráticos em relação à média. Como os desvios são elevados ao quadrado, sua unidade fica distorcida.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4652010" y="301752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Desvio Padrão (s)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É a raiz quadrada da variância. Retorna à unidade original (reais, quilos ou horas), facilitando a tomada de decisão.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77f4d763-acf6-4063-9de4-09b4dc9e44bc/img_67db2e6a5fb9230f9de86baa7e51a1c5.png" id="284" name="Google Shape;28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77f4d763-acf6-4063-9de4-09b4dc9e44bc/img_7613290a1cc0c9a172d45b0e7968bdae.png" id="285" name="Google Shape;28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286" name="Google Shape;286;p2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Desvio Padrão no Controle de Qualidade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4"/>
          <p:cNvSpPr/>
          <p:nvPr/>
        </p:nvSpPr>
        <p:spPr>
          <a:xfrm>
            <a:off x="285750" y="857250"/>
            <a:ext cx="170307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APLICAÇÃO PRÁTICA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4"/>
          <p:cNvSpPr/>
          <p:nvPr/>
        </p:nvSpPr>
        <p:spPr>
          <a:xfrm>
            <a:off x="285750" y="1165860"/>
            <a:ext cx="4572000" cy="1819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Em uma linha de envase de refrigerantes de 2 litros, toleram-se variações minúsculas.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Se o desvio padrão subir de 2 mL para 25 mL, centenas de garrafas sairão transbordando ou com volume inferior ao rótulo, gerando autuações legais imediatas.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4"/>
          <p:cNvSpPr/>
          <p:nvPr/>
        </p:nvSpPr>
        <p:spPr>
          <a:xfrm>
            <a:off x="285750" y="3268980"/>
            <a:ext cx="4572000" cy="1348740"/>
          </a:xfrm>
          <a:prstGeom prst="roundRect">
            <a:avLst>
              <a:gd fmla="val 6780" name="adj"/>
            </a:avLst>
          </a:prstGeom>
          <a:solidFill>
            <a:srgbClr val="E1F6EF"/>
          </a:solidFill>
          <a:ln cap="flat" cmpd="sng" w="11425">
            <a:solidFill>
              <a:srgbClr val="084D3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4"/>
          <p:cNvSpPr/>
          <p:nvPr/>
        </p:nvSpPr>
        <p:spPr>
          <a:xfrm>
            <a:off x="400050" y="341757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4"/>
          <p:cNvSpPr/>
          <p:nvPr/>
        </p:nvSpPr>
        <p:spPr>
          <a:xfrm>
            <a:off x="765810" y="3383280"/>
            <a:ext cx="3977640" cy="1120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4D3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84D36"/>
                </a:solidFill>
                <a:latin typeface="Inter"/>
                <a:ea typeface="Inter"/>
                <a:cs typeface="Inter"/>
                <a:sym typeface="Inter"/>
              </a:rPr>
              <a:t>Exemplo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84D3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84D36"/>
                </a:solidFill>
                <a:latin typeface="Inter"/>
                <a:ea typeface="Inter"/>
                <a:cs typeface="Inter"/>
                <a:sym typeface="Inter"/>
              </a:rPr>
              <a:t>Metodologias como Six Sigma utilizam o desvio padrão para reduzir falhas a quase zero.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77f4d763-acf6-4063-9de4-09b4dc9e44bc/img_67db2e6a5fb9230f9de86baa7e51a1c5.png" id="297" name="Google Shape;29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Fatos Sobre Medidas de Dispersão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5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Quais afirmações a respeito do desvio padrão e da dispersão nos negócios são verdadeiras?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5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5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O desvio padrão só pode assumir valores negativos em finanças empresariais.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5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5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O desvio padrão é obtido calculando-se a raiz quadrada da variância.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5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5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Quanto maior for o desvio padrão, mais homogêneo e previsível é o processo produtivo.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5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5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Um desvio padrão baixo indica que a maioria dos valores está muito próxima da média.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77f4d763-acf6-4063-9de4-09b4dc9e44bc/img_67db2e6a5fb9230f9de86baa7e51a1c5.png" id="313" name="Google Shape;31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Fatos Sobre Medidas de Dispersão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6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Quais afirmações a respeito do desvio padrão e da dispersão nos negócios são verdadeiras?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6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6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O desvio padrão só pode assumir valores negativos em finanças empresariais.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6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6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O desvio padrão é obtido calculando-se a raiz quadrada da variância.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6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6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Quanto maior for o desvio padrão, mais homogêneo e previsível é o processo produtivo.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6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520"/>
              <a:buFont typeface="Inter"/>
              <a:buNone/>
            </a:pPr>
            <a:r>
              <a:rPr b="1" i="0" lang="en-US" sz="25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6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Um desvio padrão baixo indica que a maioria dos valores está muito próxima da média.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6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6"/>
          <p:cNvSpPr/>
          <p:nvPr/>
        </p:nvSpPr>
        <p:spPr>
          <a:xfrm>
            <a:off x="8721090" y="23774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6"/>
          <p:cNvSpPr/>
          <p:nvPr/>
        </p:nvSpPr>
        <p:spPr>
          <a:xfrm>
            <a:off x="8721090" y="40919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77f4d763-acf6-4063-9de4-09b4dc9e44bc/img_67db2e6a5fb9230f9de86baa7e51a1c5.png" id="332" name="Google Shape;33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77f4d763-acf6-4063-9de4-09b4dc9e44bc/img_a5b40ba3b2a727bf34e6b5ea13db081c.png" id="333" name="Google Shape;33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334" name="Google Shape;334;p27"/>
          <p:cNvSpPr/>
          <p:nvPr/>
        </p:nvSpPr>
        <p:spPr>
          <a:xfrm>
            <a:off x="3714750" y="262890"/>
            <a:ext cx="514350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Construindo Tabelas de Frequência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7"/>
          <p:cNvSpPr/>
          <p:nvPr/>
        </p:nvSpPr>
        <p:spPr>
          <a:xfrm>
            <a:off x="3714750" y="1383030"/>
            <a:ext cx="213741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ESTRUTURAÇÃO DE DADOS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7"/>
          <p:cNvSpPr/>
          <p:nvPr/>
        </p:nvSpPr>
        <p:spPr>
          <a:xfrm>
            <a:off x="3714750" y="1691640"/>
            <a:ext cx="514350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Quando coletamos centenas de respostas de clientes, os dados brutos são confusos.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tabela de frequência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agrupa registros idênticos em classes, revelando padrões ocultos de comportamento e queixas recorrentes.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7"/>
          <p:cNvSpPr/>
          <p:nvPr/>
        </p:nvSpPr>
        <p:spPr>
          <a:xfrm>
            <a:off x="3714750" y="3291840"/>
            <a:ext cx="5143500" cy="1348740"/>
          </a:xfrm>
          <a:prstGeom prst="roundRect">
            <a:avLst>
              <a:gd fmla="val 6780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7"/>
          <p:cNvSpPr/>
          <p:nvPr/>
        </p:nvSpPr>
        <p:spPr>
          <a:xfrm>
            <a:off x="3829050" y="344043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7"/>
          <p:cNvSpPr/>
          <p:nvPr/>
        </p:nvSpPr>
        <p:spPr>
          <a:xfrm>
            <a:off x="4194810" y="3406140"/>
            <a:ext cx="4549140" cy="1120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B2F50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B2F50"/>
                </a:solidFill>
                <a:latin typeface="Inter"/>
                <a:ea typeface="Inter"/>
                <a:cs typeface="Inter"/>
                <a:sym typeface="Inter"/>
              </a:rPr>
              <a:t>Frequência Absoluta é a contagem simples. Frequência Relativa é essa contagem expressa em porcentagem do total.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77f4d763-acf6-4063-9de4-09b4dc9e44bc/img_67db2e6a5fb9230f9de86baa7e51a1c5.png" id="345" name="Google Shape;34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77f4d763-acf6-4063-9de4-09b4dc9e44bc/img_4d7ab5336fb81b62981e26b4362e9eef.png" id="346" name="Google Shape;34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2296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77f4d763-acf6-4063-9de4-09b4dc9e44bc/img_0a1fc5f5d2800845abf6dd1eca379583.png" id="347" name="Google Shape;34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82296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48" name="Google Shape;348;p28"/>
          <p:cNvSpPr/>
          <p:nvPr/>
        </p:nvSpPr>
        <p:spPr>
          <a:xfrm>
            <a:off x="285750" y="20574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Frequência Absoluta vs Relativa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8"/>
          <p:cNvSpPr/>
          <p:nvPr/>
        </p:nvSpPr>
        <p:spPr>
          <a:xfrm>
            <a:off x="285750" y="301752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Frequência Absoluta (fi)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Indica a contagem real de ocorrências. Exemplo: 40 clientes reclamaram de atraso na entrega durante a semana.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8"/>
          <p:cNvSpPr/>
          <p:nvPr/>
        </p:nvSpPr>
        <p:spPr>
          <a:xfrm>
            <a:off x="4652010" y="301752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Frequência Relativa (fr)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Representa a proporção: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fr = (fi ÷ Total) × 100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. Se houve 200 reclamações, 40 atrasos representam 20% do volume total.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77f4d763-acf6-4063-9de4-09b4dc9e44bc/img_67db2e6a5fb9230f9de86baa7e51a1c5.png" id="356" name="Google Shape;35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Reunião Operacional da TecnoSul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9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Ouça o áudio e responda às perguntas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9"/>
          <p:cNvSpPr/>
          <p:nvPr/>
        </p:nvSpPr>
        <p:spPr>
          <a:xfrm>
            <a:off x="285750" y="268605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9"/>
          <p:cNvSpPr/>
          <p:nvPr/>
        </p:nvSpPr>
        <p:spPr>
          <a:xfrm>
            <a:off x="788670" y="268605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Qual foi a média diária de chamados técnicos registrados na última semana?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9"/>
          <p:cNvSpPr/>
          <p:nvPr/>
        </p:nvSpPr>
        <p:spPr>
          <a:xfrm>
            <a:off x="285750" y="318897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9"/>
          <p:cNvSpPr/>
          <p:nvPr/>
        </p:nvSpPr>
        <p:spPr>
          <a:xfrm>
            <a:off x="788670" y="318897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 que causou o desvio padrão elevado nos atendimentos da equipe?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9"/>
          <p:cNvSpPr/>
          <p:nvPr/>
        </p:nvSpPr>
        <p:spPr>
          <a:xfrm>
            <a:off x="285750" y="369189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9"/>
          <p:cNvSpPr/>
          <p:nvPr/>
        </p:nvSpPr>
        <p:spPr>
          <a:xfrm>
            <a:off x="788670" y="369189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Qual percentual das reclamações totais foi concentrado em problemas de login?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9"/>
          <p:cNvSpPr/>
          <p:nvPr/>
        </p:nvSpPr>
        <p:spPr>
          <a:xfrm>
            <a:off x="285750" y="419481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9"/>
          <p:cNvSpPr/>
          <p:nvPr/>
        </p:nvSpPr>
        <p:spPr>
          <a:xfrm>
            <a:off x="788670" y="419481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Qual medida prática Carlos propôs para reduzir a variabilidade dos chamados?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9"/>
          <p:cNvSpPr/>
          <p:nvPr/>
        </p:nvSpPr>
        <p:spPr>
          <a:xfrm>
            <a:off x="285750" y="1291590"/>
            <a:ext cx="8572500" cy="857250"/>
          </a:xfrm>
          <a:prstGeom prst="roundRect">
            <a:avLst>
              <a:gd fmla="val 16667" name="adj"/>
            </a:avLst>
          </a:prstGeom>
          <a:solidFill>
            <a:srgbClr val="FFF4F1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2/releases/77481695/backend/storage/app/render-specs/77f4d763-acf6-4063-9de4-09b4dc9e44bc/audio_icon.png" id="368" name="Google Shape;36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0070" y="1594485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9"/>
          <p:cNvSpPr/>
          <p:nvPr/>
        </p:nvSpPr>
        <p:spPr>
          <a:xfrm>
            <a:off x="902970" y="1291590"/>
            <a:ext cx="53263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Karla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Karla"/>
                <a:ea typeface="Karla"/>
                <a:cs typeface="Karla"/>
                <a:sym typeface="Karla"/>
              </a:rPr>
              <a:t>Alinhamento Semanal de Indicadores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9"/>
          <p:cNvSpPr/>
          <p:nvPr/>
        </p:nvSpPr>
        <p:spPr>
          <a:xfrm>
            <a:off x="6412230" y="1520190"/>
            <a:ext cx="2171700" cy="400050"/>
          </a:xfrm>
          <a:prstGeom prst="roundRect">
            <a:avLst>
              <a:gd fmla="val 16667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▶ Reproduzir áudio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9">
            <a:hlinkClick r:id="rId5"/>
          </p:cNvPr>
          <p:cNvSpPr/>
          <p:nvPr/>
        </p:nvSpPr>
        <p:spPr>
          <a:xfrm>
            <a:off x="6412230" y="1520190"/>
            <a:ext cx="2171700" cy="400050"/>
          </a:xfrm>
          <a:prstGeom prst="roundRect">
            <a:avLst>
              <a:gd fmla="val 16667" name="adj"/>
            </a:avLst>
          </a:prstGeom>
          <a:solidFill>
            <a:srgbClr val="2C6E49">
              <a:alpha val="0"/>
            </a:srgbClr>
          </a:solidFill>
          <a:ln cap="flat" cmpd="sng" w="12700">
            <a:solidFill>
              <a:srgbClr val="2C6E4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77f4d763-acf6-4063-9de4-09b4dc9e44bc/img_67db2e6a5fb9230f9de86baa7e51a1c5.png" id="377" name="Google Shape;37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Reunião Operacional da TecnoSul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0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40"/>
              <a:buFont typeface="Inter"/>
              <a:buNone/>
            </a:pPr>
            <a:r>
              <a:rPr b="0" i="0" lang="en-US" sz="144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Verifica as tuas respostas abaixo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0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0"/>
          <p:cNvSpPr/>
          <p:nvPr/>
        </p:nvSpPr>
        <p:spPr>
          <a:xfrm>
            <a:off x="285750" y="268605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0"/>
          <p:cNvSpPr/>
          <p:nvPr/>
        </p:nvSpPr>
        <p:spPr>
          <a:xfrm>
            <a:off x="788670" y="268605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 média diária foi de 45 chamados por dia.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0"/>
          <p:cNvSpPr/>
          <p:nvPr/>
        </p:nvSpPr>
        <p:spPr>
          <a:xfrm>
            <a:off x="285750" y="318897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0"/>
          <p:cNvSpPr/>
          <p:nvPr/>
        </p:nvSpPr>
        <p:spPr>
          <a:xfrm>
            <a:off x="788670" y="318897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 pico atípico ocorrido após a instabilidade do servidor na terça-feira.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0"/>
          <p:cNvSpPr/>
          <p:nvPr/>
        </p:nvSpPr>
        <p:spPr>
          <a:xfrm>
            <a:off x="285750" y="369189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0"/>
          <p:cNvSpPr/>
          <p:nvPr/>
        </p:nvSpPr>
        <p:spPr>
          <a:xfrm>
            <a:off x="788670" y="369189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Aproximadamente sessenta por cento dos chamados totais.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0"/>
          <p:cNvSpPr/>
          <p:nvPr/>
        </p:nvSpPr>
        <p:spPr>
          <a:xfrm>
            <a:off x="285750" y="4194810"/>
            <a:ext cx="388620" cy="388620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60"/>
              <a:buFont typeface="Inter"/>
              <a:buNone/>
            </a:pPr>
            <a:r>
              <a:rPr b="0" i="0" lang="en-US" sz="21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0"/>
          <p:cNvSpPr/>
          <p:nvPr/>
        </p:nvSpPr>
        <p:spPr>
          <a:xfrm>
            <a:off x="788670" y="4194810"/>
            <a:ext cx="8069580" cy="388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Automatizar a redefinição de senhas para liberar a equipe de suporte.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0"/>
          <p:cNvSpPr/>
          <p:nvPr/>
        </p:nvSpPr>
        <p:spPr>
          <a:xfrm>
            <a:off x="285750" y="1291590"/>
            <a:ext cx="8572500" cy="857250"/>
          </a:xfrm>
          <a:prstGeom prst="roundRect">
            <a:avLst>
              <a:gd fmla="val 16667" name="adj"/>
            </a:avLst>
          </a:prstGeom>
          <a:solidFill>
            <a:srgbClr val="FFF4F1"/>
          </a:solidFill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2/releases/77481695/backend/storage/app/render-specs/77f4d763-acf6-4063-9de4-09b4dc9e44bc/audio_icon.png" id="390" name="Google Shape;39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0070" y="1594485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30"/>
          <p:cNvSpPr/>
          <p:nvPr/>
        </p:nvSpPr>
        <p:spPr>
          <a:xfrm>
            <a:off x="902970" y="1291590"/>
            <a:ext cx="53263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Karla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Karla"/>
                <a:ea typeface="Karla"/>
                <a:cs typeface="Karla"/>
                <a:sym typeface="Karla"/>
              </a:rPr>
              <a:t>Alinhamento Semanal de Indicadores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0"/>
          <p:cNvSpPr/>
          <p:nvPr/>
        </p:nvSpPr>
        <p:spPr>
          <a:xfrm>
            <a:off x="6412230" y="1520190"/>
            <a:ext cx="2171700" cy="400050"/>
          </a:xfrm>
          <a:prstGeom prst="roundRect">
            <a:avLst>
              <a:gd fmla="val 16667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▶ Reproduzir áudio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0">
            <a:hlinkClick r:id="rId5"/>
          </p:cNvPr>
          <p:cNvSpPr/>
          <p:nvPr/>
        </p:nvSpPr>
        <p:spPr>
          <a:xfrm>
            <a:off x="6412230" y="1520190"/>
            <a:ext cx="2171700" cy="400050"/>
          </a:xfrm>
          <a:prstGeom prst="roundRect">
            <a:avLst>
              <a:gd fmla="val 16667" name="adj"/>
            </a:avLst>
          </a:prstGeom>
          <a:solidFill>
            <a:srgbClr val="2C6E49">
              <a:alpha val="0"/>
            </a:srgbClr>
          </a:solidFill>
          <a:ln cap="flat" cmpd="sng" w="12700">
            <a:solidFill>
              <a:srgbClr val="2C6E4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77f4d763-acf6-4063-9de4-09b4dc9e44bc/img_67db2e6a5fb9230f9de86baa7e51a1c5.png" id="399" name="Google Shape;39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77f4d763-acf6-4063-9de4-09b4dc9e44bc/img_b07556119b8175e1392504bec93c9dd8.png" id="400" name="Google Shape;40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1828800"/>
          </a:xfrm>
          <a:prstGeom prst="roundRect">
            <a:avLst>
              <a:gd fmla="val 7500" name="adj"/>
            </a:avLst>
          </a:prstGeom>
          <a:noFill/>
          <a:ln>
            <a:noFill/>
          </a:ln>
        </p:spPr>
      </p:pic>
      <p:sp>
        <p:nvSpPr>
          <p:cNvPr id="401" name="Google Shape;401;p31"/>
          <p:cNvSpPr/>
          <p:nvPr/>
        </p:nvSpPr>
        <p:spPr>
          <a:xfrm>
            <a:off x="285750" y="236601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Identificando Padrões e Sequências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1"/>
          <p:cNvSpPr/>
          <p:nvPr/>
        </p:nvSpPr>
        <p:spPr>
          <a:xfrm>
            <a:off x="285750" y="3051810"/>
            <a:ext cx="219456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PREVISIBILIDADE NUMÉRICA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1"/>
          <p:cNvSpPr/>
          <p:nvPr/>
        </p:nvSpPr>
        <p:spPr>
          <a:xfrm>
            <a:off x="285750" y="336042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Negócios estruturados crescem seguindo padrões previsíveis. A matemática organiza essas trajetórias por meio de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sequências lógicas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, essenciais no planejamento de investimentos e metas.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77f4d763-acf6-4063-9de4-09b4dc9e44bc/img_67db2e6a5fb9230f9de86baa7e51a1c5.png" id="409" name="Google Shape;40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77f4d763-acf6-4063-9de4-09b4dc9e44bc/img_4becb9debd05c19286cca81e9ae0ab01.png" id="410" name="Google Shape;410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1588770"/>
            <a:ext cx="85725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411" name="Google Shape;411;p3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Progressão Aritmética na Operação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2"/>
          <p:cNvSpPr/>
          <p:nvPr/>
        </p:nvSpPr>
        <p:spPr>
          <a:xfrm>
            <a:off x="285750" y="788670"/>
            <a:ext cx="8572500" cy="379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Na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PA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, cada valor soma uma constante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ao anterior. Fórmula: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an = a1 + (n - 1) × r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2"/>
          <p:cNvSpPr/>
          <p:nvPr/>
        </p:nvSpPr>
        <p:spPr>
          <a:xfrm>
            <a:off x="285750" y="3783330"/>
            <a:ext cx="8572500" cy="854964"/>
          </a:xfrm>
          <a:prstGeom prst="roundRect">
            <a:avLst>
              <a:gd fmla="val 10695" name="adj"/>
            </a:avLst>
          </a:prstGeom>
          <a:solidFill>
            <a:srgbClr val="E1F6EF"/>
          </a:solidFill>
          <a:ln cap="flat" cmpd="sng" w="11425">
            <a:solidFill>
              <a:srgbClr val="084D3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32"/>
          <p:cNvSpPr/>
          <p:nvPr/>
        </p:nvSpPr>
        <p:spPr>
          <a:xfrm>
            <a:off x="400050" y="393192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2"/>
          <p:cNvSpPr/>
          <p:nvPr/>
        </p:nvSpPr>
        <p:spPr>
          <a:xfrm>
            <a:off x="765810" y="3897630"/>
            <a:ext cx="7978140" cy="626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4D3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84D36"/>
                </a:solidFill>
                <a:latin typeface="Inter"/>
                <a:ea typeface="Inter"/>
                <a:cs typeface="Inter"/>
                <a:sym typeface="Inter"/>
              </a:rPr>
              <a:t>Exemplo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84D3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84D36"/>
                </a:solidFill>
                <a:latin typeface="Inter"/>
                <a:ea typeface="Inter"/>
                <a:cs typeface="Inter"/>
                <a:sym typeface="Inter"/>
              </a:rPr>
              <a:t>Início: 1.000 (a1), ganho 200/mês (r). No 6º mês: 1.000 + (5 × 200) = 2.000.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77f4d763-acf6-4063-9de4-09b4dc9e44bc/img_67db2e6a5fb9230f9de86baa7e51a1c5.png" id="421" name="Google Shape;42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77f4d763-acf6-4063-9de4-09b4dc9e44bc/img_a128f71905b50107a98822c1f9b67489.png" id="422" name="Google Shape;422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1588770"/>
            <a:ext cx="85725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423" name="Google Shape;423;p3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Progressão Geométrica nos Negócios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3"/>
          <p:cNvSpPr/>
          <p:nvPr/>
        </p:nvSpPr>
        <p:spPr>
          <a:xfrm>
            <a:off x="285750" y="78867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Na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PG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, cada termo é o anterior vezes a razão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(q)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. Define crescimento exponencial e juros: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an = a1 × q^(n-1)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3"/>
          <p:cNvSpPr/>
          <p:nvPr/>
        </p:nvSpPr>
        <p:spPr>
          <a:xfrm>
            <a:off x="285750" y="3783330"/>
            <a:ext cx="8572500" cy="1101852"/>
          </a:xfrm>
          <a:prstGeom prst="roundRect">
            <a:avLst>
              <a:gd fmla="val 8299" name="adj"/>
            </a:avLst>
          </a:prstGeom>
          <a:solidFill>
            <a:srgbClr val="FCEBEB"/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3"/>
          <p:cNvSpPr/>
          <p:nvPr/>
        </p:nvSpPr>
        <p:spPr>
          <a:xfrm>
            <a:off x="400050" y="393192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3"/>
          <p:cNvSpPr/>
          <p:nvPr/>
        </p:nvSpPr>
        <p:spPr>
          <a:xfrm>
            <a:off x="765810" y="3897630"/>
            <a:ext cx="7978140" cy="873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060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460606"/>
                </a:solidFill>
                <a:latin typeface="Inter"/>
                <a:ea typeface="Inter"/>
                <a:cs typeface="Inter"/>
                <a:sym typeface="Inter"/>
              </a:rPr>
              <a:t>Atenção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46060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460606"/>
                </a:solidFill>
                <a:latin typeface="Inter"/>
                <a:ea typeface="Inter"/>
                <a:cs typeface="Inter"/>
                <a:sym typeface="Inter"/>
              </a:rPr>
              <a:t>Startup que dobra clientes/mês (q=2) segue PG, exigindo servidores escaláveis.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77f4d763-acf6-4063-9de4-09b4dc9e44bc/img_67db2e6a5fb9230f9de86baa7e51a1c5.png" id="433" name="Google Shape;43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77f4d763-acf6-4063-9de4-09b4dc9e44bc/img_55468a820af3a145b525af9981031664.png" id="434" name="Google Shape;434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435" name="Google Shape;435;p3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Lógica de Causa e Efeito Empresarial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4"/>
          <p:cNvSpPr/>
          <p:nvPr/>
        </p:nvSpPr>
        <p:spPr>
          <a:xfrm>
            <a:off x="285750" y="857250"/>
            <a:ext cx="173736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TOMADA DE DECISÃO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4"/>
          <p:cNvSpPr/>
          <p:nvPr/>
        </p:nvSpPr>
        <p:spPr>
          <a:xfrm>
            <a:off x="285750" y="1165860"/>
            <a:ext cx="4572000" cy="2107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Em análise de dados, um erro perigoso é confundir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correlação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(coincidência temporal) com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causalidade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(relação direta de causa e efeito).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Para prever cenários, precisamos testar se a alteração na variável X realmente provoca a mudança no resultado Y.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4"/>
          <p:cNvSpPr/>
          <p:nvPr/>
        </p:nvSpPr>
        <p:spPr>
          <a:xfrm>
            <a:off x="285750" y="3268980"/>
            <a:ext cx="4572000" cy="1348740"/>
          </a:xfrm>
          <a:prstGeom prst="roundRect">
            <a:avLst>
              <a:gd fmla="val 6780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34"/>
          <p:cNvSpPr/>
          <p:nvPr/>
        </p:nvSpPr>
        <p:spPr>
          <a:xfrm>
            <a:off x="400050" y="341757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4"/>
          <p:cNvSpPr/>
          <p:nvPr/>
        </p:nvSpPr>
        <p:spPr>
          <a:xfrm>
            <a:off x="765810" y="3383280"/>
            <a:ext cx="3977640" cy="1120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573B06"/>
                </a:solidFill>
                <a:latin typeface="Inter"/>
                <a:ea typeface="Inter"/>
                <a:cs typeface="Inter"/>
                <a:sym typeface="Inter"/>
              </a:rPr>
              <a:t>Mais sorvetes vendidos coincide com mais pessoas na praia, mas a causa de ambos é o calor do verão.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77f4d763-acf6-4063-9de4-09b4dc9e44bc/img_67db2e6a5fb9230f9de86baa7e51a1c5.png" id="446" name="Google Shape;44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3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Etapas de uma Análise Estatística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5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Ordene as quatro etapas fundamentais para conduzir uma análise estatística de qualidade: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5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Organizar os dados em tabelas de frequência e calcular médias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35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Coletar os dados brutos de forma padronizada no sistema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5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Analisar a dispersão, desvios e causas fundamentais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35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Implementar ações corretivas e monitorar novos resultados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77f4d763-acf6-4063-9de4-09b4dc9e44bc/img_67db2e6a5fb9230f9de86baa7e51a1c5.png" id="458" name="Google Shape;45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3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Etapas de uma Análise Estatística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36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Ordene as quatro etapas fundamentais para conduzir uma análise estatística de qualidade: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6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Organizar os dados em tabelas de frequência e calcular médias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36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Coletar os dados brutos de forma padronizada no sistema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6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Analisar a dispersão, desvios e causas fundamentais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6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Implementar ações corretivas e monitorar novos resultados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6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6"/>
          <p:cNvSpPr/>
          <p:nvPr/>
        </p:nvSpPr>
        <p:spPr>
          <a:xfrm>
            <a:off x="729234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6"/>
          <p:cNvSpPr/>
          <p:nvPr/>
        </p:nvSpPr>
        <p:spPr>
          <a:xfrm>
            <a:off x="7292340" y="22631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6"/>
          <p:cNvSpPr/>
          <p:nvPr/>
        </p:nvSpPr>
        <p:spPr>
          <a:xfrm>
            <a:off x="7292340" y="30060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6"/>
          <p:cNvSpPr/>
          <p:nvPr/>
        </p:nvSpPr>
        <p:spPr>
          <a:xfrm>
            <a:off x="7292340" y="37490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Inter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77f4d763-acf6-4063-9de4-09b4dc9e44bc/img_67db2e6a5fb9230f9de86baa7e51a1c5.png" id="475" name="Google Shape;47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77f4d763-acf6-4063-9de4-09b4dc9e44bc/img_8cb75244b73e66463457accc0d25944c.png" id="476" name="Google Shape;476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Análise de Datasets Operacionais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37"/>
          <p:cNvSpPr/>
          <p:nvPr/>
        </p:nvSpPr>
        <p:spPr>
          <a:xfrm>
            <a:off x="4286250" y="857250"/>
            <a:ext cx="201168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GESTÃO POR EVIDÊNCIAS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37"/>
          <p:cNvSpPr/>
          <p:nvPr/>
        </p:nvSpPr>
        <p:spPr>
          <a:xfrm>
            <a:off x="4286250" y="1165860"/>
            <a:ext cx="4572000" cy="21076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Um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dataset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é um conjunto estruturado de registros operacionais, como horários de entrega, notas fiscais e tempos de atendimento.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Analisar esses registros permite aos gestores enxergar gargalos ocultos, prever demandas futuras e cortar desperdícios antes que gerem prejuízo.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37"/>
          <p:cNvSpPr/>
          <p:nvPr/>
        </p:nvSpPr>
        <p:spPr>
          <a:xfrm>
            <a:off x="4286250" y="3509010"/>
            <a:ext cx="4572000" cy="1348740"/>
          </a:xfrm>
          <a:prstGeom prst="roundRect">
            <a:avLst>
              <a:gd fmla="val 6780" name="adj"/>
            </a:avLst>
          </a:prstGeom>
          <a:solidFill>
            <a:srgbClr val="E1F6EF"/>
          </a:solidFill>
          <a:ln cap="flat" cmpd="sng" w="11425">
            <a:solidFill>
              <a:srgbClr val="084D3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37"/>
          <p:cNvSpPr/>
          <p:nvPr/>
        </p:nvSpPr>
        <p:spPr>
          <a:xfrm>
            <a:off x="4400550" y="365760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7"/>
          <p:cNvSpPr/>
          <p:nvPr/>
        </p:nvSpPr>
        <p:spPr>
          <a:xfrm>
            <a:off x="4766310" y="3623310"/>
            <a:ext cx="3977640" cy="1120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4D36"/>
              </a:buClr>
              <a:buSzPts val="1440"/>
              <a:buFont typeface="Inter"/>
              <a:buNone/>
            </a:pPr>
            <a:r>
              <a:rPr b="1" i="0" lang="en-US" sz="1440" u="none" cap="none" strike="noStrike">
                <a:solidFill>
                  <a:srgbClr val="084D36"/>
                </a:solidFill>
                <a:latin typeface="Inter"/>
                <a:ea typeface="Inter"/>
                <a:cs typeface="Inter"/>
                <a:sym typeface="Inter"/>
              </a:rPr>
              <a:t>Exemplo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84D36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84D36"/>
                </a:solidFill>
                <a:latin typeface="Inter"/>
                <a:ea typeface="Inter"/>
                <a:cs typeface="Inter"/>
                <a:sym typeface="Inter"/>
              </a:rPr>
              <a:t>Planilhas com milhares de linhas mostram quais turnos sofrem maior fadiga e geram mais retrabalho.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77f4d763-acf6-4063-9de4-09b4dc9e44bc/img_67db2e6a5fb9230f9de86baa7e51a1c5.png" id="488" name="Google Shape;48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77f4d763-acf6-4063-9de4-09b4dc9e44bc/img_56fb6c4d03a4405a08108a9aac8f7c1a.png" id="489" name="Google Shape;489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2296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77f4d763-acf6-4063-9de4-09b4dc9e44bc/img_5463021a8b52d8059c3fc97d9397632d.png" id="490" name="Google Shape;490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82296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491" name="Google Shape;491;p38"/>
          <p:cNvSpPr/>
          <p:nvPr/>
        </p:nvSpPr>
        <p:spPr>
          <a:xfrm>
            <a:off x="285750" y="20574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Estudo de Caso: Controle de Qualidade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38"/>
          <p:cNvSpPr/>
          <p:nvPr/>
        </p:nvSpPr>
        <p:spPr>
          <a:xfrm>
            <a:off x="285750" y="301752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O Problema Coletado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Peças com diâmetro padrão de 50 mm foram medidas em 2 turnos: Turno Manhã (média 50 mm, desvio 0,2 mm); Turno Noite (média 50 mm, desvio 1,8 mm).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38"/>
          <p:cNvSpPr/>
          <p:nvPr/>
        </p:nvSpPr>
        <p:spPr>
          <a:xfrm>
            <a:off x="4652010" y="301752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79"/>
              <a:buFont typeface="Inter"/>
              <a:buNone/>
            </a:pPr>
            <a:r>
              <a:rPr b="1" i="0" lang="en-US" sz="198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Diagnóstico Gerencial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Embora a média seja idêntica, o Turno Noite apresenta desvio crítico. A causa real era descalibração térmica da máquina às 23h.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77f4d763-acf6-4063-9de4-09b4dc9e44bc/img_67db2e6a5fb9230f9de86baa7e51a1c5.png" id="499" name="Google Shape;49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77f4d763-acf6-4063-9de4-09b4dc9e44bc/img_e55ecfe6702459449ae20917630e639d.png" id="500" name="Google Shape;500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914400"/>
            <a:ext cx="8572500" cy="2343150"/>
          </a:xfrm>
          <a:prstGeom prst="roundRect">
            <a:avLst>
              <a:gd fmla="val 5854" name="adj"/>
            </a:avLst>
          </a:prstGeom>
          <a:noFill/>
          <a:ln>
            <a:noFill/>
          </a:ln>
        </p:spPr>
      </p:pic>
      <p:sp>
        <p:nvSpPr>
          <p:cNvPr id="501" name="Google Shape;501;p3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Fixando Conceitos Estatísticos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9"/>
          <p:cNvSpPr/>
          <p:nvPr/>
        </p:nvSpPr>
        <p:spPr>
          <a:xfrm>
            <a:off x="754380" y="1211580"/>
            <a:ext cx="74295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Para calcular a estabilidade de uma linha fabril, utilizamos o ____ padrão; já para agrupar as ocorrências de defeitos por tipo, montamos uma tabela de ____.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39"/>
          <p:cNvSpPr/>
          <p:nvPr/>
        </p:nvSpPr>
        <p:spPr>
          <a:xfrm>
            <a:off x="285750" y="3314700"/>
            <a:ext cx="8572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Banco de palavras 🏦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39"/>
          <p:cNvSpPr/>
          <p:nvPr/>
        </p:nvSpPr>
        <p:spPr>
          <a:xfrm>
            <a:off x="285750" y="3771900"/>
            <a:ext cx="155448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proporção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39"/>
          <p:cNvSpPr/>
          <p:nvPr/>
        </p:nvSpPr>
        <p:spPr>
          <a:xfrm>
            <a:off x="1977390" y="3771900"/>
            <a:ext cx="116586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desvio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9"/>
          <p:cNvSpPr/>
          <p:nvPr/>
        </p:nvSpPr>
        <p:spPr>
          <a:xfrm>
            <a:off x="3280410" y="3771900"/>
            <a:ext cx="168021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frequência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39"/>
          <p:cNvSpPr/>
          <p:nvPr/>
        </p:nvSpPr>
        <p:spPr>
          <a:xfrm>
            <a:off x="5097780" y="3771900"/>
            <a:ext cx="104013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lucro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77f4d763-acf6-4063-9de4-09b4dc9e44bc/img_67db2e6a5fb9230f9de86baa7e51a1c5.png" id="513" name="Google Shape;51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77f4d763-acf6-4063-9de4-09b4dc9e44bc/img_e55ecfe6702459449ae20917630e639d.png" id="514" name="Google Shape;514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914400"/>
            <a:ext cx="8572500" cy="2343150"/>
          </a:xfrm>
          <a:prstGeom prst="roundRect">
            <a:avLst>
              <a:gd fmla="val 5854" name="adj"/>
            </a:avLst>
          </a:prstGeom>
          <a:noFill/>
          <a:ln>
            <a:noFill/>
          </a:ln>
        </p:spPr>
      </p:pic>
      <p:sp>
        <p:nvSpPr>
          <p:cNvPr id="515" name="Google Shape;515;p4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Fixando Conceitos Estatísticos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40"/>
          <p:cNvSpPr/>
          <p:nvPr/>
        </p:nvSpPr>
        <p:spPr>
          <a:xfrm>
            <a:off x="754380" y="1211580"/>
            <a:ext cx="74295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Para calcular a estabilidade de uma linha fabril, utilizamos o </a:t>
            </a:r>
            <a:r>
              <a:rPr b="1" i="0" lang="en-US" sz="1620" u="none" cap="none" strike="noStrike">
                <a:solidFill>
                  <a:srgbClr val="2C6E49"/>
                </a:solidFill>
                <a:latin typeface="Inter"/>
                <a:ea typeface="Inter"/>
                <a:cs typeface="Inter"/>
                <a:sym typeface="Inter"/>
              </a:rPr>
              <a:t>desvio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 padrão; já para agrupar as ocorrências de defeitos por tipo, montamos uma tabela de </a:t>
            </a:r>
            <a:r>
              <a:rPr b="1" i="0" lang="en-US" sz="1620" u="none" cap="none" strike="noStrike">
                <a:solidFill>
                  <a:srgbClr val="2C6E49"/>
                </a:solidFill>
                <a:latin typeface="Inter"/>
                <a:ea typeface="Inter"/>
                <a:cs typeface="Inter"/>
                <a:sym typeface="Inter"/>
              </a:rPr>
              <a:t>frequência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40"/>
          <p:cNvSpPr/>
          <p:nvPr/>
        </p:nvSpPr>
        <p:spPr>
          <a:xfrm>
            <a:off x="285750" y="3314700"/>
            <a:ext cx="8572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Banco de palavras 🏦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40"/>
          <p:cNvSpPr/>
          <p:nvPr/>
        </p:nvSpPr>
        <p:spPr>
          <a:xfrm>
            <a:off x="285750" y="3771900"/>
            <a:ext cx="155448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676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proporção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40"/>
          <p:cNvSpPr/>
          <p:nvPr/>
        </p:nvSpPr>
        <p:spPr>
          <a:xfrm>
            <a:off x="1977390" y="3771900"/>
            <a:ext cx="116586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desvio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40"/>
          <p:cNvSpPr/>
          <p:nvPr/>
        </p:nvSpPr>
        <p:spPr>
          <a:xfrm>
            <a:off x="3280410" y="3771900"/>
            <a:ext cx="168021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frequência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40"/>
          <p:cNvSpPr/>
          <p:nvPr/>
        </p:nvSpPr>
        <p:spPr>
          <a:xfrm>
            <a:off x="5097780" y="3771900"/>
            <a:ext cx="104013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676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lucro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40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77f4d763-acf6-4063-9de4-09b4dc9e44bc/img_67db2e6a5fb9230f9de86baa7e51a1c5.png" id="528" name="Google Shape;52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77f4d763-acf6-4063-9de4-09b4dc9e44bc/img_8b90b8d09ef9ea0683b92a5889137cb8.png" id="529" name="Google Shape;529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788670"/>
            <a:ext cx="3829050" cy="406908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530" name="Google Shape;530;p4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Estatística Previne Erros de Gestão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41"/>
          <p:cNvSpPr/>
          <p:nvPr/>
        </p:nvSpPr>
        <p:spPr>
          <a:xfrm>
            <a:off x="285750" y="857250"/>
            <a:ext cx="1737360" cy="262890"/>
          </a:xfrm>
          <a:prstGeom prst="roundRect">
            <a:avLst>
              <a:gd fmla="val 17391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Inter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VALOR ESTRATÉGICO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41"/>
          <p:cNvSpPr/>
          <p:nvPr/>
        </p:nvSpPr>
        <p:spPr>
          <a:xfrm>
            <a:off x="285750" y="1165860"/>
            <a:ext cx="4572000" cy="1819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Sem estatística, gestores tomam decisões baseadas na opinião de quem fala mais alto ou na ilusão do último acontecimento.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Com ferramentas estatísticas, substituímos o achismo por </a:t>
            </a:r>
            <a:r>
              <a:rPr b="1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fatos mensuráveis</a:t>
            </a: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, garantindo segurança aos investimentos da organização.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41"/>
          <p:cNvSpPr/>
          <p:nvPr/>
        </p:nvSpPr>
        <p:spPr>
          <a:xfrm>
            <a:off x="285750" y="3509010"/>
            <a:ext cx="45720" cy="809244"/>
          </a:xfrm>
          <a:prstGeom prst="roundRect">
            <a:avLst>
              <a:gd fmla="val 50000" name="adj"/>
            </a:avLst>
          </a:prstGeom>
          <a:solidFill>
            <a:srgbClr val="D32F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41"/>
          <p:cNvSpPr/>
          <p:nvPr/>
        </p:nvSpPr>
        <p:spPr>
          <a:xfrm>
            <a:off x="445770" y="3509010"/>
            <a:ext cx="4411980" cy="8092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1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Em Deus nós confiamos; todos os outros devem apresentar dados. — W. Edwards Deming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77f4d763-acf6-4063-9de4-09b4dc9e44bc/img_67db2e6a5fb9230f9de86baa7e51a1c5.png" id="540" name="Google Shape;54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77f4d763-acf6-4063-9de4-09b4dc9e44bc/img_88f2cf22d50efe57d124336ea25cb3a9.png" id="541" name="Google Shape;541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oundRect">
            <a:avLst>
              <a:gd fmla="val 3183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77f4d763-acf6-4063-9de4-09b4dc9e44bc/img_e85d749007370731d4d3346d4a95dfaa.png" id="542" name="Google Shape;542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3020" y="1657350"/>
            <a:ext cx="2834640" cy="2194560"/>
          </a:xfrm>
          <a:prstGeom prst="roundRect">
            <a:avLst>
              <a:gd fmla="val 6250" name="adj"/>
            </a:avLst>
          </a:prstGeom>
          <a:noFill/>
          <a:ln>
            <a:noFill/>
          </a:ln>
        </p:spPr>
      </p:pic>
      <p:sp>
        <p:nvSpPr>
          <p:cNvPr id="543" name="Google Shape;543;p4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Debate: Decisões Baseadas em Dados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42"/>
          <p:cNvSpPr/>
          <p:nvPr/>
        </p:nvSpPr>
        <p:spPr>
          <a:xfrm>
            <a:off x="4297680" y="1828800"/>
            <a:ext cx="37261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Como a análise estatística de dados impede que um gestor tome decisões precipitadas ao enfrentar uma queda momentânea nas vendas?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77f4d763-acf6-4063-9de4-09b4dc9e44bc/img_67db2e6a5fb9230f9de86baa7e51a1c5.png" id="550" name="Google Shape;550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77f4d763-acf6-4063-9de4-09b4dc9e44bc/img_88f2cf22d50efe57d124336ea25cb3a9.png" id="551" name="Google Shape;551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oundRect">
            <a:avLst>
              <a:gd fmla="val 3183" name="adj"/>
            </a:avLst>
          </a:prstGeom>
          <a:noFill/>
          <a:ln>
            <a:noFill/>
          </a:ln>
        </p:spPr>
      </p:pic>
      <p:sp>
        <p:nvSpPr>
          <p:cNvPr id="552" name="Google Shape;552;p4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Debate: Decisões Baseadas em Dados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43"/>
          <p:cNvSpPr/>
          <p:nvPr/>
        </p:nvSpPr>
        <p:spPr>
          <a:xfrm>
            <a:off x="982980" y="1657350"/>
            <a:ext cx="70408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Você poderia ter dito...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A estatística compara a queda recente com séries históricas, calculando desvios e variações típicas do negócio.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Isso identifica se a queda decorre de sazonalidade ou falha real, evitando demissões ou gastos impulsivos.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43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77f4d763-acf6-4063-9de4-09b4dc9e44bc/img_67db2e6a5fb9230f9de86baa7e51a1c5.png" id="560" name="Google Shape;56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77f4d763-acf6-4063-9de4-09b4dc9e44bc/img_74db676abbf9321227487417a15623c8.png" id="561" name="Google Shape;561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9490" y="-91440"/>
            <a:ext cx="1828800" cy="1828800"/>
          </a:xfrm>
          <a:prstGeom prst="roundRect">
            <a:avLst>
              <a:gd fmla="val 7500" name="adj"/>
            </a:avLst>
          </a:prstGeom>
          <a:noFill/>
          <a:ln>
            <a:noFill/>
          </a:ln>
        </p:spPr>
      </p:pic>
      <p:sp>
        <p:nvSpPr>
          <p:cNvPr id="562" name="Google Shape;562;p4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Desafio Final de Fixação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44"/>
          <p:cNvSpPr/>
          <p:nvPr/>
        </p:nvSpPr>
        <p:spPr>
          <a:xfrm>
            <a:off x="285750" y="11430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Pergunta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Como se calcula a variação percentual entre uma receita inicial e uma final?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44"/>
          <p:cNvSpPr/>
          <p:nvPr/>
        </p:nvSpPr>
        <p:spPr>
          <a:xfrm>
            <a:off x="285750" y="22860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Pergunta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Qual é a diferença conceitual essencial entre a média aritmética e a mediana?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44"/>
          <p:cNvSpPr/>
          <p:nvPr/>
        </p:nvSpPr>
        <p:spPr>
          <a:xfrm>
            <a:off x="285750" y="342900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Pergunta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Em uma sequência de produção que segue uma Progressão Aritmética, como se obtém cada termo seguinte?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77f4d763-acf6-4063-9de4-09b4dc9e44bc/img_67db2e6a5fb9230f9de86baa7e51a1c5.png" id="571" name="Google Shape;57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Desafio Final de Fixação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45"/>
          <p:cNvSpPr/>
          <p:nvPr/>
        </p:nvSpPr>
        <p:spPr>
          <a:xfrm>
            <a:off x="285750" y="114300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Resposta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Subtrai-se o valor inicial do valor final, divide-se pelo valor inicial e multiplica-se o resultado por 100.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45"/>
          <p:cNvSpPr/>
          <p:nvPr/>
        </p:nvSpPr>
        <p:spPr>
          <a:xfrm>
            <a:off x="285750" y="228600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Resposta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A média soma todos os dados e divide pelo total, sendo afetada por extremos, enquanto a mediana é o ponto central exato dos dados ordenados.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45"/>
          <p:cNvSpPr/>
          <p:nvPr/>
        </p:nvSpPr>
        <p:spPr>
          <a:xfrm>
            <a:off x="285750" y="342900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620"/>
              <a:buFont typeface="Inter"/>
              <a:buNone/>
            </a:pPr>
            <a:r>
              <a:rPr b="1" i="0" lang="en-US" sz="1620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Resposta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Soma-se uma quantidade fixa constante, denominada razão, ao valor do termo imediatamente anterior.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45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Inter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81695/backend/storage/app/render-specs/77f4d763-acf6-4063-9de4-09b4dc9e44bc/img_67db2e6a5fb9230f9de86baa7e51a1c5.png" id="582" name="Google Shape;582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00" y="127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2/releases/77481695/backend/storage/app/render-specs/77f4d763-acf6-4063-9de4-09b4dc9e44bc/img_d3c7e6f403da6920c11d089d6ff3cb2f.png" id="583" name="Google Shape;583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785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584" name="Google Shape;584;p46"/>
          <p:cNvSpPr/>
          <p:nvPr/>
        </p:nvSpPr>
        <p:spPr>
          <a:xfrm>
            <a:off x="285750" y="1337310"/>
            <a:ext cx="514350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09F"/>
              </a:buClr>
              <a:buSzPts val="2880"/>
              <a:buFont typeface="Inter ExtraBold"/>
              <a:buNone/>
            </a:pPr>
            <a:r>
              <a:rPr b="0" i="0" lang="en-US" sz="2880" u="none" cap="none" strike="noStrike">
                <a:solidFill>
                  <a:srgbClr val="00509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Próximo Passo: Excel na Prática!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46"/>
          <p:cNvSpPr/>
          <p:nvPr/>
        </p:nvSpPr>
        <p:spPr>
          <a:xfrm>
            <a:off x="285750" y="2388870"/>
            <a:ext cx="514350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20"/>
              <a:buFont typeface="Inter"/>
              <a:buNone/>
            </a:pPr>
            <a:r>
              <a:rPr b="0" i="0" lang="en-US" sz="162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Parabéns pelo domínio dos fundamentos estatísticos! Na Aula 3 entraremos no laboratório de informática para automatizar todos esses cálculos e fórmulas dentro do Excel.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