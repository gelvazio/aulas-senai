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embeddedFontLst>
    <p:embeddedFont>
      <p:font typeface="Inter"/>
      <p:regular r:id="rId47"/>
      <p:bold r:id="rId48"/>
      <p:italic r:id="rId49"/>
      <p:boldItalic r:id="rId50"/>
    </p:embeddedFont>
    <p:embeddedFont>
      <p:font typeface="Inter ExtraBold"/>
      <p:bold r:id="rId51"/>
      <p:boldItalic r:id="rId52"/>
    </p:embeddedFont>
    <p:embeddedFont>
      <p:font typeface="Karla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-bold.fntdata"/><Relationship Id="rId47" Type="http://schemas.openxmlformats.org/officeDocument/2006/relationships/font" Target="fonts/Inter-regular.fntdata"/><Relationship Id="rId49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ExtraBold-bold.fntdata"/><Relationship Id="rId50" Type="http://schemas.openxmlformats.org/officeDocument/2006/relationships/font" Target="fonts/Inter-boldItalic.fntdata"/><Relationship Id="rId53" Type="http://schemas.openxmlformats.org/officeDocument/2006/relationships/font" Target="fonts/Karla-regular.fntdata"/><Relationship Id="rId52" Type="http://schemas.openxmlformats.org/officeDocument/2006/relationships/font" Target="fonts/InterExtraBold-boldItalic.fntdata"/><Relationship Id="rId11" Type="http://schemas.openxmlformats.org/officeDocument/2006/relationships/slide" Target="slides/slide7.xml"/><Relationship Id="rId55" Type="http://schemas.openxmlformats.org/officeDocument/2006/relationships/font" Target="fonts/Karla-italic.fntdata"/><Relationship Id="rId10" Type="http://schemas.openxmlformats.org/officeDocument/2006/relationships/slide" Target="slides/slide6.xml"/><Relationship Id="rId54" Type="http://schemas.openxmlformats.org/officeDocument/2006/relationships/font" Target="fonts/Karla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Karla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hyperlink" Target="http://www.youtube.com/watch?v=7ONi0T63LJo" TargetMode="External"/><Relationship Id="rId5" Type="http://schemas.openxmlformats.org/officeDocument/2006/relationships/image" Target="../media/image5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6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54.png"/><Relationship Id="rId5" Type="http://schemas.openxmlformats.org/officeDocument/2006/relationships/image" Target="../media/image8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8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69.png"/><Relationship Id="rId5" Type="http://schemas.openxmlformats.org/officeDocument/2006/relationships/image" Target="../media/image8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7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62.png"/><Relationship Id="rId5" Type="http://schemas.openxmlformats.org/officeDocument/2006/relationships/hyperlink" Target="https://app.chalkie.ai/player/a2b70bdf-f707-41ee-9450-1f807b40a799/27ac8f4f-24ba-45f2-bbf9-d7d91c1f285a?source=exported_presentation&amp;exportFormat=slides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62.png"/><Relationship Id="rId5" Type="http://schemas.openxmlformats.org/officeDocument/2006/relationships/hyperlink" Target="https://app.chalkie.ai/player/a2b70bdf-f707-41ee-9450-1f807b40a799/27ac8f4f-24ba-45f2-bbf9-d7d91c1f285a?source=exported_presentation&amp;exportFormat=slides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71.png"/><Relationship Id="rId5" Type="http://schemas.openxmlformats.org/officeDocument/2006/relationships/image" Target="../media/image7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7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7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4659e634e62e1710e8296f692d05ea57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914900" y="1165860"/>
            <a:ext cx="382905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3240"/>
              <a:buFont typeface="Inter ExtraBold"/>
              <a:buNone/>
            </a:pPr>
            <a:r>
              <a:rPr b="0" i="0" lang="en-US" sz="32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Dashboards Executivos e Integração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914900" y="2823210"/>
            <a:ext cx="382905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Aprenda a construir painéis interativos para tomada de decisão estratégica.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05830b7bb5345aef87e4692f3e80ef00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285750" y="1314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Um Oceano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85750" y="1931670"/>
            <a:ext cx="51435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Imagine entrar em uma reunião com mais de cinquenta mil linhas de planilha abertas na tela. Os diretores têm exatamente três minutos para tomar uma decisão crucial sobre o estoque. Como você mostraria o caminho certo sem deixá-los perdidos em um labirinto numérico?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fb4f9c0650fb1569a3d2ccefa9c7e2be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 da Aula de Hoje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Metas de Aprendizagem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Nesta última aula do nosso módulo, você vai desenvolver três competências essenciais: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Estruturar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painéis visuais com hierarquia e indicadores-chave (KPIs).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Integrar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múltiplos relatórios dinâmicos usando segmentadores de dados.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Apresentar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insights analíticos claros para uma banca executiva.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9686a2d10dc5d0c1312345dd772edf82.png" id="45" name="Google Shape;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481d96e850bfffbfb9f22ef50caaa0b9.png" id="46" name="Google Shape;4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b0220035127438b3b4daa0ce05d63527.png" id="47" name="Google Shape;4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47157a1bf234121cd66771e211795e4c.png" id="48" name="Google Shape;4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Fundamental da 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285750" y="34175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Painel visual unificado que consolida métricas essenciais em tela única.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2491740" y="27317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Indicador (KPI)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Métrica quantitativa usada para medir o sucesso de metas estratégicas.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686300" y="34175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Interatividade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Capacidade do usuário filtrar e explorar dados com controles visuais.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892290" y="27317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Layout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Organização espacial e hierárquica de elementos gráficos e informativos.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a553c0ebdb90679eb28e090f8ee89256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que Aprendemos na Aula Passada?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286250" y="857250"/>
            <a:ext cx="14173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RECAPITULAÇÃO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286250" y="116586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Tabelas e Gráficos Dinâmicos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aula anterior, transformamos dados brutos em inteligência gerencial: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Agrupamos transações em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Tabelas Dinâmicas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sem precisar digitar fórmulas.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Construímos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Gráficos Dinâmicos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associados diretamente às tabelas calculadas.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Descobrimos que alterar um filtro recalcula instantaneamente toda a síntese.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69" name="Google Shape;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74db676abbf9321227487417a15623c8.png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Quiz: Tabelas e Gráficos Dinâmicos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é a principal função de uma Tabela Dinâmica no Excel?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acontece com um Gráfico Dinâmico quando você filtra a Tabela Dinâmica de origem?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 que não devemos desenhar gráficos diretamente sobre bases de dados brutas e desorganizadas?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80" name="Google Shape;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Quiz: Tabelas e Gráficos Dinâmicos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Resumir, agrupar e analisar grandes volumes de dados brutos rapidamente sem fórmulas manuais.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gráfico se atualiza automaticamente, refletindo apenas os dados filtrados na tabela.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Porque bases brutas contêm linhas duplicadas e detalhes excessivos que poluem e distorcem a leitura visual.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91" name="Google Shape;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0b2460fcd2082fd61fa0b95a95a414cb.png" id="92" name="Google Shape;9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93" name="Google Shape;93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que É um Dashboard Executivo?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285750" y="116586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Janela Estratégica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Dashboard é um painel que centraliza dados críticos. Substitui planilhas complexas, permitindo à liderança avaliar a saúde da operação e decidir rapidamente.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285750" y="282321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400050" y="29718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765810" y="293751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Dashboards eficientes priorizam clareza: menos poluição, foco total na decisão.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04" name="Google Shape;1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341e28bf2154f2283f4fda904e32eeea.png" id="105" name="Google Shape;10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1a42640f642f1d88de8d595e15fc0dfb.png" id="106" name="Google Shape;10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Planilha Tradicional vs Dashboard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285750" y="29832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Planilha de Dados Brutos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Registra milhares de transações.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Exige leitura lenta e cálculos extras.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Ideal para auditoria e arquivo.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4652010" y="29832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Dashboard Executivo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Sintetiza dados em indicadores visuais.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Permite diagnóstico em segundos.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Ideal para reuniões estratégicas.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294c155448999331a3cdf928930be7a5.png" id="116" name="Google Shape;1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Papel na Decisão Estratégica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2862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4286250" y="116586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Diagnóstico Rápido e Preciso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os números estão integrados visualmente, os gestores conseguem responder perguntas decisivas com agilidade: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filial teve a maior queda de margem neste trimestre?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estoque atual suportará o aumento de demanda previsto?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produto atingiu 100% da meta de vendas antes do prazo?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25" name="Google Shape;1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d1d5e95ee8eebb290fde6f6805764f90.png" id="126" name="Google Shape;12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Hierarquia Visual: A Regra de Ouro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Olhos seguem padrões. Estruture seu painel pela ordem de importância dos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85750" y="3783330"/>
            <a:ext cx="85725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765810" y="3897630"/>
            <a:ext cx="7978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Destaque o principal no canto superior esquerdo: onde executivos olham primeiro.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37" name="Google Shape;13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24efa8863e7b74f05f625121a6b8b86d.png" id="138" name="Google Shape;13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8a6e245e4958ca2003021e8b084de989.png" id="139" name="Google Shape;13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40" name="Google Shape;140;p14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Psicologia das Cores em Negócios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Tons Neutros e Foco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Use cinza, azul-marinho e branco para 80% do painel. Eles constroem a base e reduzem o cansaço visual.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Cores Semânticas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Reserve verde para metas batidas e vermelho para alertas críticos. Nunca use cores fortes apenas para enfeitar.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2415fd82c4f0cf13a9373d8db507d6f2.png"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Evitando Poluição Visual no Painel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Princípio do Minimalismo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Menos é mais quando tratamos de análise de dados executiva: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Remova bordas pesadas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linhas de grade desnecessárias dos gráficos.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Evite efeitos 3D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sombras exageradas e fundos coloridos escuros.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Deixe espaço em branco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para que os olhos dos diretores descansem.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Cores e Estética em Dashboards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Um dashboard eficaz deve utilizar o maior número possível de cores vibrantes para chamar a atenção da diretoria em cada gráfico.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🤔 </a:t>
            </a:r>
            <a:r>
              <a:rPr b="0" i="1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Cores e Estética em Dashboards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Um dashboard eficaz deve utilizar o maior número possível de cores vibrantes para chamar a atenção da diretoria em cada gráfico.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1440"/>
              <a:buFont typeface="Inter ExtraBold"/>
              <a:buNone/>
            </a:pPr>
            <a:r>
              <a:rPr b="0" i="0" lang="en-US" sz="14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O excesso de cores sobrecarrega a visão e cores semânticas como vermelho e verde devem ser reservadas para alertas específicos.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1acfc458b1331667a728614538e61e27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88" name="Google Shape;188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que São Indicadores-Chave (KPIs)?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2862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286250" y="116586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Key Performance Indicators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KPIs são métricas quantificáveis que refletem o desempenho dos objetivos centrais da organização: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Faturamento Total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soma financeira de vendas realizadas.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Ticket Médio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valor médio gasto por cliente em cada compra.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Margem de Lucro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porcentagem que sobra após abater os custos operacionais.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9073f4b950b30956d4dddeec873f6c45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0876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285750" y="34290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Anatomia de um Card de KPI Perfeito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85750" y="96012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card de KPI exibe a métrica, o valor atual e se houve melhora ou piora.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85750" y="3703320"/>
            <a:ext cx="8572500" cy="854964"/>
          </a:xfrm>
          <a:prstGeom prst="roundRect">
            <a:avLst>
              <a:gd fmla="val 10695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400050" y="38519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65810" y="3817620"/>
            <a:ext cx="79781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Destaque o valor consolidado em tamanho grande com a unidade correta.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8fce3002942ddfe54bc09394d7614d67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Calculando KPIs com Tabelas Dinâmicas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285750" y="116586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Motor por Trás do Número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 que o card exiba o valor exato, utilizamos uma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 Dinâmica de apoio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escondida em outra aba da planilha: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Inserimos o campo de valor na área de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Valores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(como Soma ou Média).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Vinculamos o texto da caixa gráfica à célula calculada usando a fórmula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a base é filtrada, a célula atualiza e o card reflete a nova soma instantaneamente.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e55ecfe6702459449ae20917630e639d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220" name="Google Shape;220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Conceitos Essenciais de KPIs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Um card executivo deve exibir o indicador com ____ destacado, contextualizado por uma meta ou ____ para indicar a direção do desempenho da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valor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146304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fórmula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903220" y="3771900"/>
            <a:ext cx="142875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variação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469130" y="3771900"/>
            <a:ext cx="168021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gráfico 3D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286500" y="3771900"/>
            <a:ext cx="11658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filtro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e55ecfe6702459449ae20917630e639d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Conceitos Essenciais de KPIs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Um card executivo deve exibir o indicador com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Inter"/>
                <a:ea typeface="Inter"/>
                <a:cs typeface="Inter"/>
                <a:sym typeface="Inter"/>
              </a:rPr>
              <a:t>valor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 destacado, contextualizado por uma meta ou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Inter"/>
                <a:ea typeface="Inter"/>
                <a:cs typeface="Inter"/>
                <a:sym typeface="Inter"/>
              </a:rPr>
              <a:t>variação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 para indicar a direção do desempenho da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valor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146304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fórmula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903220" y="3771900"/>
            <a:ext cx="142875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variação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4469130" y="3771900"/>
            <a:ext cx="168021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gráfico 3D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6286500" y="3771900"/>
            <a:ext cx="11658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filtro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Vídeo: Arquitetura de Dashboards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Analistas integram suporte técnico e interfaces executivas.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7fff941924dc00d0b21856bd0d071bd4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60" name="Google Shape;260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Estrutura de Três Abas no Excel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42862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4286250" y="116586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Organização Profissional de Arquivos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 evitar erros e travamentos, divida sua pasta de trabalho em três abas distintas: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 Base de Dados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os dados brutos em formato de tabela estruturada.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 Cálculos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as tabelas dinâmicas e fórmulas de suporte.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 Dashboard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a tela final com gráficos, cards e filtros para o usuário.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6ef0aa0bcd7839882f6cf40d3d446678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70" name="Google Shape;270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Alinhamento e Distribuição Harmônica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Precisão Visual na Tela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Gráficos desalinhados passam impressão de descuido técnico e dificultam a leitura: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Utilize a ferramenta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Alinhar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do Excel (Alinhar ao Topo, Distribuir Horizontalmente).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Mantenha tamanhos padronizados para todos os cards de métricas.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Desmarque a opção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Linhas de Grade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na guia Exibir para ter um fundo limpo.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78" name="Google Shape;2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9b45b121f9acabb99c8f5a1f5549c7c0.png" id="279" name="Google Shape;2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2cb2b396303f2b31460e0cc8a5af77b0.png" id="280" name="Google Shape;28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1" name="Google Shape;281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Poder dos Segmentadores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285750" y="2983230"/>
            <a:ext cx="419481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É um Slicer?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Segmentador de Dados substitui os antigos filtros suspensos por botões visuais clicáveis. Ele torna a navegação intuitiva para diretores que não dominam planilhas.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4652010" y="298323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Filtragem Instantânea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Ao clicar em um botão, os dados são recalculados sem recarregar a planilha, exibindo recortes por região, vendedor ou categoria em tempo real.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8b97d2d340cd2bde9a9c79c3122843e7.png" id="290" name="Google Shape;2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91" name="Google Shape;291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Conectando um Slicer a Múltiplas Tabelas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4286250" y="85725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CONTEÚDO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4286250" y="116586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Conexões de Relatório no Excel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 padrão, um segmentador atua apenas na tabela em que foi criado. Para controlar o dashboard inteiro: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Clique no segmentador com o botão direito e escolha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Conexões de Relatório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Marque todas as caixas das tabelas dinâmicas da aba de cálculos.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Agora, um único clique filtra cards, gráficos de barras e de linhas em sincronia perfeita!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299" name="Google Shape;2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079e54b96763c4d753d0bd45bfb590c4.png" id="300" name="Google Shape;3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1" name="Google Shape;301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Linha do Tempo para Filtros Temporais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285750" y="78867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Linha do Tempo filtra dados por datas, permitindo selecionar períodos de forma visual e rápida.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285750" y="3783330"/>
            <a:ext cx="85725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765810" y="3897630"/>
            <a:ext cx="7978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Alterne entre visualizações de Anos, Trimestres, Meses ou Dias com um clique.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11" name="Google Shape;3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Ordem de Montagem do Dashboard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para construir um dashboard executivo do zero: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Construir os Gráficos Dinâmicos e cards de KPIs.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Inserir os Segmentadores e vincular às Conexões de Relatório.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Formatar os dados brutos como Tabela oficial no Excel.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Criar as Tabelas Dinâmicas de apoio na aba de cálculos.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23" name="Google Shape;32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Ordem de Montagem do Dashboard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para construir um dashboard executivo do zero: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Construir os Gráficos Dinâmicos e cards de KPIs.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Inserir os Segmentadores e vincular às Conexões de Relatório.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Formatar os dados brutos como Tabela oficial no Excel.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Criar as Tabelas Dinâmicas de apoio na aba de cálculos.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40" name="Google Shape;3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/>
          <p:nvPr/>
        </p:nvSpPr>
        <p:spPr>
          <a:xfrm>
            <a:off x="17145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1"/>
          <p:cNvSpPr/>
          <p:nvPr/>
        </p:nvSpPr>
        <p:spPr>
          <a:xfrm>
            <a:off x="237744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1"/>
          <p:cNvSpPr/>
          <p:nvPr/>
        </p:nvSpPr>
        <p:spPr>
          <a:xfrm>
            <a:off x="457200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1"/>
          <p:cNvSpPr/>
          <p:nvPr/>
        </p:nvSpPr>
        <p:spPr>
          <a:xfrm>
            <a:off x="677799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Passo a Passo: Da Base ao Painel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285750" y="13601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 Preparação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Limpar dados e criar tabela oficial estruturada.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2491740" y="13601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 Agregação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Construir tabelas dinâmicas para cada visual.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4686300" y="13601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 Montagem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Posicionar cards e gráficos na grade visual.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6892290" y="13601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 Integração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Configurar segmentadores e testar filtros.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55" name="Google Shape;3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dfe38bdd0ea31fe367ad42842efedf39.png" id="356" name="Google Shape;35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57" name="Google Shape;357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Prática Guiada: Gestão de Materiais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285750" y="857250"/>
            <a:ext cx="85725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PRÁTICA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Desafio da Distribuidora Salete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Trabalharemos com uma base com mais de 3.000 entregas de materiais escolares: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Calcule 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Custo Total de Transporte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a taxa de entregas dentro do prazo.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Crie um gráfico comparativo de entregas por região geográfica.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Adicione segmentadores por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Tipo de Material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uma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Linha do Tempo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mensal.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662946f991b5e5f14cec52360ca286b3.png" id="366" name="Google Shape;36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67" name="Google Shape;367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Validação e Testes de Integridade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4286250" y="857250"/>
            <a:ext cx="85725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PRÁTICA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4286250" y="116586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Nunca Apresente Sem Testar!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Antes de mostrar seu trabalho aos gestores, faça um teste rigoroso: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Clique em cada botão do segmentador e veja se algum gráfico apresenta o erro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Verifique se os totais dos gráficos somam exatamente o mesmo valor dos cards de KPI.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Confirme se a escala dos eixos verticais está legível e proporcional.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75" name="Google Shape;3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cd5434f933c3ab9d9712e35e5fa2f20a.png" id="376" name="Google Shape;37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47e5edb1b97ed5093de71a7ade039a02.png" id="377" name="Google Shape;37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78" name="Google Shape;378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Storytelling com Dados para Gestores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285750" y="298323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É Storytelling?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É a habilidade de contar a história por trás dos números. Não diga apenas 'as vendas caíram 10%'; explique em que região e aponte uma causa provável.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4652010" y="298323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Foco na 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diretoria busca soluções. Finalize cada indicador com uma recomendação prática: remanejar estoque, renegociar frete ou reforçar divulgação.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86" name="Google Shape;3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6fc23443323dc8feee58e4bd1eef3dc3.png" id="387" name="Google Shape;38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88" name="Google Shape;388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Simulação: Apresentação para a Diretoria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285750" y="857250"/>
            <a:ext cx="108585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SIMULAÇÃO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Postura Executiva no Pitch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Ao apresentar o painel para a liderança, siga este roteiro de três passos: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 O Panorama Geral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comece pelos três cards de KPI no topo da tela.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 O Destaque Crítico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filtre a região com maior desvio usando o segmentador.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 O Plano de Ação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proponha uma decisão embasada nos dados observados.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396" name="Google Shape;3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Áudio: Reunião de Diretoria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6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Ouça o áudio e responda às perguntas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foi o primeiro elemento que a diretora Mariana elogiou no painel?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aconteceu quando Carlos clicou no botão da Região Sul no segmentador?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problema crítico o dashboard permitiu identificar imediatamente?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foi a recomendação final de Mariana para a tomada de decisão?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7481629/backend/storage/app/render-specs/e4d4a550-18ce-41a7-a28e-0735543832ab/audio_icon.png" id="408" name="Google Shape;40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6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Feedback do Diretor Executivo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6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417" name="Google Shape;4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Áudio: Reunião de Diretoria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Verifica as tuas respostas abaixo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7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clareza dos três cards de indicadores principais posicionados no topo da tela.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7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7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Todos os gráficos e métricas do painel se atualizaram instantaneamente em sincronia.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atraso severo nas entregas na Região Sul devido ao aumento do custo de frete.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7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Utilizar a linha do tempo para comparar os fretes dos últimos três meses antes de fechar novos contratos.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7481629/backend/storage/app/render-specs/e4d4a550-18ce-41a7-a28e-0735543832ab/audio_icon.png" id="430" name="Google Shape;43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7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Feedback do Diretor Executivo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7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7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439" name="Google Shape;43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Técnico do Painel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Slicer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Linha do Tempo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Conexões de Relatório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Painel visual integrado com métricas e gráficos em tela única.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Botão interativo que permite filtrar dados dinâmicos com um clique.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Configuração que vincula um segmentador a várias tabelas dinâmicas.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Controle visual específico para seleção e filtragem de períodos de datas.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455" name="Google Shape;45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Técnico do Painel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Slicer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Linha do Tempo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Conexões de Relatório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Painel visual integrado com métricas e gráficos em tela única.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9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Botão interativo que permite filtrar dados dinâmicos com um clique.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Configuração que vincula um segmentador a várias tabelas dinâmicas.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Controle visual específico para seleção e filtragem de períodos de datas.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39"/>
          <p:cNvCxnSpPr/>
          <p:nvPr/>
        </p:nvCxnSpPr>
        <p:spPr>
          <a:xfrm>
            <a:off x="2571750" y="1623060"/>
            <a:ext cx="994410" cy="89154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39"/>
          <p:cNvCxnSpPr/>
          <p:nvPr/>
        </p:nvCxnSpPr>
        <p:spPr>
          <a:xfrm>
            <a:off x="2571750" y="2537460"/>
            <a:ext cx="994410" cy="180594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39"/>
          <p:cNvCxnSpPr/>
          <p:nvPr/>
        </p:nvCxnSpPr>
        <p:spPr>
          <a:xfrm flipH="1" rot="10800000">
            <a:off x="2571750" y="1600200"/>
            <a:ext cx="994410" cy="185166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39"/>
          <p:cNvCxnSpPr/>
          <p:nvPr/>
        </p:nvCxnSpPr>
        <p:spPr>
          <a:xfrm flipH="1" rot="10800000">
            <a:off x="2571750" y="3429000"/>
            <a:ext cx="994410" cy="9372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39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480" name="Google Shape;4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88f2cf22d50efe57d124336ea25cb3a9.png" id="481" name="Google Shape;48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ec9b1abba2022e6c9de042a97c659369.png" id="482" name="Google Shape;48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83" name="Google Shape;483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Debate: Decisão Baseada em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0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 o dashboard indica que um produto querido dá prejuízo, o diretor deve retirá-lo de venda ou analisar outros fatores?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490" name="Google Shape;49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88f2cf22d50efe57d124336ea25cb3a9.png" id="491" name="Google Shape;49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492" name="Google Shape;492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Debate: Decisão Baseada em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1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Decisões avaliam se o produto atrai clientes para itens lucrativos.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Gestores devem investigar se o custo pode ser reduzido antes de cancelar.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dashboard aponta o sintoma, mas a decisão exige visão sistêmica.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500" name="Google Shape;50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2"/>
          <p:cNvSpPr/>
          <p:nvPr/>
        </p:nvSpPr>
        <p:spPr>
          <a:xfrm>
            <a:off x="285750" y="2686050"/>
            <a:ext cx="8572500" cy="22860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2"/>
          <p:cNvSpPr/>
          <p:nvPr/>
        </p:nvSpPr>
        <p:spPr>
          <a:xfrm>
            <a:off x="1451610" y="253746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2"/>
          <p:cNvSpPr/>
          <p:nvPr/>
        </p:nvSpPr>
        <p:spPr>
          <a:xfrm>
            <a:off x="2937510" y="253746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2"/>
          <p:cNvSpPr/>
          <p:nvPr/>
        </p:nvSpPr>
        <p:spPr>
          <a:xfrm>
            <a:off x="4411980" y="253746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2"/>
          <p:cNvSpPr/>
          <p:nvPr/>
        </p:nvSpPr>
        <p:spPr>
          <a:xfrm>
            <a:off x="5886450" y="253746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2"/>
          <p:cNvSpPr/>
          <p:nvPr/>
        </p:nvSpPr>
        <p:spPr>
          <a:xfrm>
            <a:off x="7372350" y="253746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Jornada Completa do Módulo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285750" y="2926080"/>
            <a:ext cx="26631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Aulas 1-2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Matemática Comercial e Proporções em Gestão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2"/>
          <p:cNvSpPr/>
          <p:nvPr/>
        </p:nvSpPr>
        <p:spPr>
          <a:xfrm>
            <a:off x="1760220" y="960120"/>
            <a:ext cx="266319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Aula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Excel Básico: Interface, Fórmulas e SE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2"/>
          <p:cNvSpPr/>
          <p:nvPr/>
        </p:nvSpPr>
        <p:spPr>
          <a:xfrm>
            <a:off x="3246120" y="2926080"/>
            <a:ext cx="26631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Aula 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Formatação Profissional e Validação de Células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2"/>
          <p:cNvSpPr/>
          <p:nvPr/>
        </p:nvSpPr>
        <p:spPr>
          <a:xfrm>
            <a:off x="4720590" y="960120"/>
            <a:ext cx="266319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Aula 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Funções Avançadas: PROCV, CONT.SE e SOMAIS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2"/>
          <p:cNvSpPr/>
          <p:nvPr/>
        </p:nvSpPr>
        <p:spPr>
          <a:xfrm>
            <a:off x="6206490" y="2926080"/>
            <a:ext cx="26631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Aulas 6-7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Tabelas Dinâmicas, Gráficos e Dashboards Finais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518" name="Google Shape;51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b8e2e30cbb6ba10a8acb00af0ff4be05.png" id="519" name="Google Shape;51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sp>
        <p:nvSpPr>
          <p:cNvPr id="520" name="Google Shape;520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Simulado para a Avaliação Integrada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Em duplas, abram a planilha de revisão e realizem as tarefas: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Criem Tabela Dinâmica com média de faturamento por filial.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Insiram gráfico de colunas dinâmico, sem poluição.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Adicionem Segmentador por Categoria às análises.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Recomendem melhoria baseada nos filtros.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e4d4a550-18ce-41a7-a28e-0735543832ab/img_67db2e6a5fb9230f9de86baa7e51a1c5.png" id="527" name="Google Shape;52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e4d4a550-18ce-41a7-a28e-0735543832ab/img_661fced970eeb2d4a03cc4f8e8d93948.png" id="528" name="Google Shape;52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29" name="Google Shape;529;p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Rumo à Avaliação Integrada!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4"/>
          <p:cNvSpPr/>
          <p:nvPr/>
        </p:nvSpPr>
        <p:spPr>
          <a:xfrm>
            <a:off x="285750" y="857250"/>
            <a:ext cx="140589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ENCERRAMENTO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4"/>
          <p:cNvSpPr/>
          <p:nvPr/>
        </p:nvSpPr>
        <p:spPr>
          <a:xfrm>
            <a:off x="285750" y="116586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Parabéns pela Dedicação!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Você concluiu as 28 horas de aulas teóricas e práticas de Análise de Dados Aplicada à Gestão: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Domine as fórmulas lógicas e as tabelas dinâmicas para a prova de 4 horas.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Lembre-se de priorizar organização, clareza visual e precisão nos cálculos.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Você agora possui ferramentas reais para transformar dados brutos em decisões de sucesso!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