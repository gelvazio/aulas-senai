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</p:sldIdLst>
  <p:sldSz cy="5143500" cx="9144000"/>
  <p:notesSz cx="5143500" cy="9144000"/>
  <p:embeddedFontLst>
    <p:embeddedFont>
      <p:font typeface="Inter"/>
      <p:regular r:id="rId47"/>
      <p:bold r:id="rId48"/>
      <p:italic r:id="rId49"/>
      <p:boldItalic r:id="rId50"/>
    </p:embeddedFont>
    <p:embeddedFont>
      <p:font typeface="Inter ExtraBold"/>
      <p:bold r:id="rId51"/>
      <p:boldItalic r:id="rId52"/>
    </p:embeddedFont>
    <p:embeddedFont>
      <p:font typeface="Karla"/>
      <p:regular r:id="rId53"/>
      <p:bold r:id="rId54"/>
      <p:italic r:id="rId55"/>
      <p:boldItalic r:id="rId5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Inter-bold.fntdata"/><Relationship Id="rId47" Type="http://schemas.openxmlformats.org/officeDocument/2006/relationships/font" Target="fonts/Inter-regular.fntdata"/><Relationship Id="rId49" Type="http://schemas.openxmlformats.org/officeDocument/2006/relationships/font" Target="fonts/Inter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InterExtraBold-bold.fntdata"/><Relationship Id="rId50" Type="http://schemas.openxmlformats.org/officeDocument/2006/relationships/font" Target="fonts/Inter-boldItalic.fntdata"/><Relationship Id="rId53" Type="http://schemas.openxmlformats.org/officeDocument/2006/relationships/font" Target="fonts/Karla-regular.fntdata"/><Relationship Id="rId52" Type="http://schemas.openxmlformats.org/officeDocument/2006/relationships/font" Target="fonts/InterExtraBold-boldItalic.fntdata"/><Relationship Id="rId11" Type="http://schemas.openxmlformats.org/officeDocument/2006/relationships/slide" Target="slides/slide7.xml"/><Relationship Id="rId55" Type="http://schemas.openxmlformats.org/officeDocument/2006/relationships/font" Target="fonts/Karla-italic.fntdata"/><Relationship Id="rId10" Type="http://schemas.openxmlformats.org/officeDocument/2006/relationships/slide" Target="slides/slide6.xml"/><Relationship Id="rId54" Type="http://schemas.openxmlformats.org/officeDocument/2006/relationships/font" Target="fonts/Karla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56" Type="http://schemas.openxmlformats.org/officeDocument/2006/relationships/font" Target="fonts/Karla-boldItalic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" name="Google Shape;382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0" name="Google Shape;400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3" name="Google Shape;423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5" name="Google Shape;435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7" name="Google Shape;447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9" name="Google Shape;459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1" name="Google Shape;471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2" name="Google Shape;492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4" name="Google Shape;514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5" name="Google Shape;525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1" name="Google Shape;541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6" name="Google Shape;566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6" name="Google Shape;576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5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2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14.png"/><Relationship Id="rId6" Type="http://schemas.openxmlformats.org/officeDocument/2006/relationships/image" Target="../media/image7.png"/><Relationship Id="rId7" Type="http://schemas.openxmlformats.org/officeDocument/2006/relationships/image" Target="../media/image3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2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3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2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49.png"/><Relationship Id="rId5" Type="http://schemas.openxmlformats.org/officeDocument/2006/relationships/image" Target="../media/image4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3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2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6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Relationship Id="rId4" Type="http://schemas.openxmlformats.org/officeDocument/2006/relationships/hyperlink" Target="http://www.youtube.com/watch?v=s6Vwzs-BF_I" TargetMode="External"/><Relationship Id="rId5" Type="http://schemas.openxmlformats.org/officeDocument/2006/relationships/image" Target="../media/image74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Relationship Id="rId4" Type="http://schemas.openxmlformats.org/officeDocument/2006/relationships/image" Target="../media/image5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Relationship Id="rId4" Type="http://schemas.openxmlformats.org/officeDocument/2006/relationships/image" Target="../media/image6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Relationship Id="rId4" Type="http://schemas.openxmlformats.org/officeDocument/2006/relationships/image" Target="../media/image4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png"/><Relationship Id="rId4" Type="http://schemas.openxmlformats.org/officeDocument/2006/relationships/image" Target="../media/image4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png"/><Relationship Id="rId4" Type="http://schemas.openxmlformats.org/officeDocument/2006/relationships/image" Target="../media/image70.png"/><Relationship Id="rId5" Type="http://schemas.openxmlformats.org/officeDocument/2006/relationships/image" Target="../media/image7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.png"/><Relationship Id="rId4" Type="http://schemas.openxmlformats.org/officeDocument/2006/relationships/image" Target="../media/image5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.png"/><Relationship Id="rId4" Type="http://schemas.openxmlformats.org/officeDocument/2006/relationships/image" Target="../media/image5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png"/><Relationship Id="rId4" Type="http://schemas.openxmlformats.org/officeDocument/2006/relationships/image" Target="../media/image7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.png"/><Relationship Id="rId4" Type="http://schemas.openxmlformats.org/officeDocument/2006/relationships/image" Target="../media/image7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.png"/><Relationship Id="rId4" Type="http://schemas.openxmlformats.org/officeDocument/2006/relationships/image" Target="../media/image60.png"/><Relationship Id="rId5" Type="http://schemas.openxmlformats.org/officeDocument/2006/relationships/hyperlink" Target="https://app.chalkie.ai/player/a2b70bdf-f490-47a0-ae89-f15692ab30ab/b8365111-99ca-4632-9346-8d7e5aaf812a?source=exported_presentation&amp;exportFormat=slides" TargetMode="Externa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.png"/><Relationship Id="rId4" Type="http://schemas.openxmlformats.org/officeDocument/2006/relationships/image" Target="../media/image60.png"/><Relationship Id="rId5" Type="http://schemas.openxmlformats.org/officeDocument/2006/relationships/hyperlink" Target="https://app.chalkie.ai/player/a2b70bdf-f490-47a0-ae89-f15692ab30ab/b8365111-99ca-4632-9346-8d7e5aaf812a?source=exported_presentation&amp;exportFormat=slides" TargetMode="Externa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.png"/><Relationship Id="rId4" Type="http://schemas.openxmlformats.org/officeDocument/2006/relationships/image" Target="../media/image66.png"/><Relationship Id="rId5" Type="http://schemas.openxmlformats.org/officeDocument/2006/relationships/image" Target="../media/image69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.png"/><Relationship Id="rId4" Type="http://schemas.openxmlformats.org/officeDocument/2006/relationships/image" Target="../media/image7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49332a99-f4bd-4c4a-91bd-5bdf703c197f/img_67db2e6a5fb9230f9de86baa7e51a1c5.png"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49332a99-f4bd-4c4a-91bd-5bdf703c197f/img_2d7b04f0585dae0c3b3c90ec6c95178f.png" id="17" name="Google Shape;1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7260" y="742950"/>
            <a:ext cx="3657600" cy="3657600"/>
          </a:xfrm>
          <a:prstGeom prst="roundRect">
            <a:avLst>
              <a:gd fmla="val 3750" name="adj"/>
            </a:avLst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4914900" y="1280160"/>
            <a:ext cx="3829050" cy="1819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3240"/>
              <a:buFont typeface="Inter ExtraBold"/>
              <a:buNone/>
            </a:pPr>
            <a:r>
              <a:rPr b="0" i="0" lang="en-US" sz="324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Excel Avançado: Funções de Busca e Agregações</a:t>
            </a:r>
            <a:endParaRPr b="0" i="0" sz="3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914900" y="2937510"/>
            <a:ext cx="382905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Domine PROCV, ÍNDICE, CORRESP e fórmulas condicionais para gestão.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49332a99-f4bd-4c4a-91bd-5bdf703c197f/img_67db2e6a5fb9230f9de86baa7e51a1c5.png" id="25" name="Google Shape;2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49332a99-f4bd-4c4a-91bd-5bdf703c197f/img_e98a204a36e59110e879780bc45a8b18.png" id="26" name="Google Shape;2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7850" y="0"/>
            <a:ext cx="3486150" cy="5143500"/>
          </a:xfrm>
          <a:prstGeom prst="roundRect">
            <a:avLst>
              <a:gd fmla="val 3934" name="adj"/>
            </a:avLst>
          </a:prstGeom>
          <a:noFill/>
          <a:ln>
            <a:noFill/>
          </a:ln>
        </p:spPr>
      </p:pic>
      <p:sp>
        <p:nvSpPr>
          <p:cNvPr id="27" name="Google Shape;27;p4"/>
          <p:cNvSpPr/>
          <p:nvPr/>
        </p:nvSpPr>
        <p:spPr>
          <a:xfrm>
            <a:off x="285750" y="937260"/>
            <a:ext cx="514350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Como Encontrar um Dado em 10.000 Linhas?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285750" y="1988820"/>
            <a:ext cx="5143500" cy="1819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Imagine procurar o preço unitário de um único parafuso em um catálogo imenso com mais de dez mil itens cadastrados.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Fazer isso manualmente consumiria horas e geraria erros graves de conferência. Fórmulas inteligentes automatizam esse processo em frações de segundo.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49332a99-f4bd-4c4a-91bd-5bdf703c197f/img_67db2e6a5fb9230f9de86baa7e51a1c5.png" id="34" name="Google Shape;3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49332a99-f4bd-4c4a-91bd-5bdf703c197f/img_bb620ea1fb6f30dd6b26162beccd1e8d.png" id="35" name="Google Shape;3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7850" y="0"/>
            <a:ext cx="3486150" cy="5143500"/>
          </a:xfrm>
          <a:prstGeom prst="roundRect">
            <a:avLst>
              <a:gd fmla="val 3934" name="adj"/>
            </a:avLst>
          </a:prstGeom>
          <a:noFill/>
          <a:ln>
            <a:noFill/>
          </a:ln>
        </p:spPr>
      </p:pic>
      <p:sp>
        <p:nvSpPr>
          <p:cNvPr id="36" name="Google Shape;36;p5"/>
          <p:cNvSpPr/>
          <p:nvPr/>
        </p:nvSpPr>
        <p:spPr>
          <a:xfrm>
            <a:off x="285750" y="788670"/>
            <a:ext cx="5143500" cy="914400"/>
          </a:xfrm>
          <a:prstGeom prst="roundRect">
            <a:avLst>
              <a:gd fmla="val 16667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D32F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400050" y="1074420"/>
            <a:ext cx="342900" cy="342900"/>
          </a:xfrm>
          <a:prstGeom prst="ellipse">
            <a:avLst/>
          </a:prstGeom>
          <a:solidFill>
            <a:srgbClr val="D32F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5"/>
          <p:cNvSpPr/>
          <p:nvPr/>
        </p:nvSpPr>
        <p:spPr>
          <a:xfrm>
            <a:off x="285750" y="1817370"/>
            <a:ext cx="5143500" cy="914400"/>
          </a:xfrm>
          <a:prstGeom prst="roundRect">
            <a:avLst>
              <a:gd fmla="val 16667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D32F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5"/>
          <p:cNvSpPr/>
          <p:nvPr/>
        </p:nvSpPr>
        <p:spPr>
          <a:xfrm>
            <a:off x="400050" y="2103120"/>
            <a:ext cx="342900" cy="342900"/>
          </a:xfrm>
          <a:prstGeom prst="ellipse">
            <a:avLst/>
          </a:prstGeom>
          <a:solidFill>
            <a:srgbClr val="D32F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5"/>
          <p:cNvSpPr/>
          <p:nvPr/>
        </p:nvSpPr>
        <p:spPr>
          <a:xfrm>
            <a:off x="285750" y="2846070"/>
            <a:ext cx="5143500" cy="914400"/>
          </a:xfrm>
          <a:prstGeom prst="roundRect">
            <a:avLst>
              <a:gd fmla="val 16667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D32F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5"/>
          <p:cNvSpPr/>
          <p:nvPr/>
        </p:nvSpPr>
        <p:spPr>
          <a:xfrm>
            <a:off x="400050" y="3131820"/>
            <a:ext cx="342900" cy="342900"/>
          </a:xfrm>
          <a:prstGeom prst="ellipse">
            <a:avLst/>
          </a:prstGeom>
          <a:solidFill>
            <a:srgbClr val="D32F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5"/>
          <p:cNvSpPr/>
          <p:nvPr/>
        </p:nvSpPr>
        <p:spPr>
          <a:xfrm>
            <a:off x="285750" y="171450"/>
            <a:ext cx="5143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Objetivos da Aula de Hoje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400050" y="107442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834390" y="902970"/>
            <a:ext cx="44805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Dominar buscas com PROCV, PROCH e ÍNDICE/CORRESP.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400050" y="210312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834390" y="1931670"/>
            <a:ext cx="44805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Consolidar métricas via SOMASE e CONT.SE.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400050" y="313182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834390" y="2960370"/>
            <a:ext cx="44805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Auditar fórmulas e prevenir erros com SEERRO e SE.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285750" y="3897630"/>
            <a:ext cx="5143500" cy="854964"/>
          </a:xfrm>
          <a:prstGeom prst="roundRect">
            <a:avLst>
              <a:gd fmla="val 10695" name="adj"/>
            </a:avLst>
          </a:prstGeom>
          <a:solidFill>
            <a:srgbClr val="E6F1FB"/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5"/>
          <p:cNvSpPr/>
          <p:nvPr/>
        </p:nvSpPr>
        <p:spPr>
          <a:xfrm>
            <a:off x="400050" y="404622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765810" y="4011930"/>
            <a:ext cx="4549140" cy="626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0B2F50"/>
                </a:solidFill>
                <a:latin typeface="Inter"/>
                <a:ea typeface="Inter"/>
                <a:cs typeface="Inter"/>
                <a:sym typeface="Inter"/>
              </a:rPr>
              <a:t>Lembre-se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B2F50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B2F50"/>
                </a:solidFill>
                <a:latin typeface="Inter"/>
                <a:ea typeface="Inter"/>
                <a:cs typeface="Inter"/>
                <a:sym typeface="Inter"/>
              </a:rPr>
              <a:t>Técnicas que integram tabelas em sistemas.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49332a99-f4bd-4c4a-91bd-5bdf703c197f/img_67db2e6a5fb9230f9de86baa7e51a1c5.png" id="57" name="Google Shape;5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49332a99-f4bd-4c4a-91bd-5bdf703c197f/img_789b3d1402c2f6831bb7199f80860ae6.png" id="58" name="Google Shape;5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158877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49332a99-f4bd-4c4a-91bd-5bdf703c197f/img_79ebf184d16e5db0026958da68ab41d4.png" id="59" name="Google Shape;5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91740" y="90297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49332a99-f4bd-4c4a-91bd-5bdf703c197f/img_2b478b95f385f3bd21fa37ab70d02d80.png" id="60" name="Google Shape;60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86300" y="158877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49332a99-f4bd-4c4a-91bd-5bdf703c197f/img_2fcf4298c26945278e25f126c5d92358.png" id="61" name="Google Shape;61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92290" y="90297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sp>
        <p:nvSpPr>
          <p:cNvPr id="62" name="Google Shape;62;p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Vocabulário Essencial de Gestão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285750" y="3417570"/>
            <a:ext cx="197739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Consulta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Localização dinâmica de registros específicos em outras tabelas por chave.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2491740" y="2731770"/>
            <a:ext cx="197739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Agregação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Cálculo que reúne e totaliza valores numéricos conforme critérios definidos.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4686300" y="3417570"/>
            <a:ext cx="197739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Aninhamento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Inserção de uma função dentro de outra para resolver testes múltiplos.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6892290" y="2731770"/>
            <a:ext cx="197739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Auditoria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Rastreamento de precedentes e dependentes para validar o fluxo de cálculo.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49332a99-f4bd-4c4a-91bd-5bdf703c197f/img_67db2e6a5fb9230f9de86baa7e51a1c5.png" id="72" name="Google Shape;7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49332a99-f4bd-4c4a-91bd-5bdf703c197f/img_8b83b17a993c4452d390333bf8601d82.png" id="73" name="Google Shape;7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788670"/>
            <a:ext cx="3829050" cy="406908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74" name="Google Shape;74;p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Recapitulando a Aula Anterior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4286250" y="788670"/>
            <a:ext cx="457200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Estrutura e Proteção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Na aula anterior, vimos como blindar planilhas: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Formatação condicional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para alertas.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Validação de dados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com listas suspensas.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Congelamento de painéis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para navegação.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4286250" y="3429000"/>
            <a:ext cx="4572000" cy="1101852"/>
          </a:xfrm>
          <a:prstGeom prst="roundRect">
            <a:avLst>
              <a:gd fmla="val 8299" name="adj"/>
            </a:avLst>
          </a:prstGeom>
          <a:solidFill>
            <a:srgbClr val="FAEFDA"/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7"/>
          <p:cNvSpPr/>
          <p:nvPr/>
        </p:nvSpPr>
        <p:spPr>
          <a:xfrm>
            <a:off x="4400550" y="357759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7"/>
          <p:cNvSpPr/>
          <p:nvPr/>
        </p:nvSpPr>
        <p:spPr>
          <a:xfrm>
            <a:off x="4766310" y="3543300"/>
            <a:ext cx="3977640" cy="873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3B06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573B06"/>
                </a:solidFill>
                <a:latin typeface="Inter"/>
                <a:ea typeface="Inter"/>
                <a:cs typeface="Inter"/>
                <a:sym typeface="Inter"/>
              </a:rPr>
              <a:t>Ponto-chave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573B06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573B06"/>
                </a:solidFill>
                <a:latin typeface="Inter"/>
                <a:ea typeface="Inter"/>
                <a:cs typeface="Inter"/>
                <a:sym typeface="Inter"/>
              </a:rPr>
              <a:t>Dados padronizados garantem o sucesso de fórmulas de busca.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49332a99-f4bd-4c4a-91bd-5bdf703c197f/img_67db2e6a5fb9230f9de86baa7e51a1c5.png" id="84" name="Google Shape;8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49332a99-f4bd-4c4a-91bd-5bdf703c197f/img_74db676abbf9321227487417a15623c8.png" id="85" name="Google Shape;8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49490" y="-91440"/>
            <a:ext cx="1828800" cy="1828800"/>
          </a:xfrm>
          <a:prstGeom prst="roundRect">
            <a:avLst>
              <a:gd fmla="val 7500" name="adj"/>
            </a:avLst>
          </a:prstGeom>
          <a:noFill/>
          <a:ln>
            <a:noFill/>
          </a:ln>
        </p:spPr>
      </p:pic>
      <p:sp>
        <p:nvSpPr>
          <p:cNvPr id="86" name="Google Shape;86;p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Quiz: Validação e Proteção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8"/>
          <p:cNvSpPr/>
          <p:nvPr/>
        </p:nvSpPr>
        <p:spPr>
          <a:xfrm>
            <a:off x="285750" y="1143000"/>
            <a:ext cx="85725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D32F2F"/>
                </a:solidFill>
                <a:latin typeface="Inter"/>
                <a:ea typeface="Inter"/>
                <a:cs typeface="Inter"/>
                <a:sym typeface="Inter"/>
              </a:rPr>
              <a:t>Pergunta 1: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Qual ferramenta impede digitação incorreta ao restringir escolhas a uma lista prévia?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8"/>
          <p:cNvSpPr/>
          <p:nvPr/>
        </p:nvSpPr>
        <p:spPr>
          <a:xfrm>
            <a:off x="285750" y="22860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D32F2F"/>
                </a:solidFill>
                <a:latin typeface="Inter"/>
                <a:ea typeface="Inter"/>
                <a:cs typeface="Inter"/>
                <a:sym typeface="Inter"/>
              </a:rPr>
              <a:t>Pergunta 2: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Qual recurso mantém cabeçalhos visíveis enquanto rolamos a planilha para baixo?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8"/>
          <p:cNvSpPr/>
          <p:nvPr/>
        </p:nvSpPr>
        <p:spPr>
          <a:xfrm>
            <a:off x="285750" y="34290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D32F2F"/>
                </a:solidFill>
                <a:latin typeface="Inter"/>
                <a:ea typeface="Inter"/>
                <a:cs typeface="Inter"/>
                <a:sym typeface="Inter"/>
              </a:rPr>
              <a:t>Pergunta 3: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Por que devemos proteger planilhas com senhas em relatórios compartilhados?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49332a99-f4bd-4c4a-91bd-5bdf703c197f/img_67db2e6a5fb9230f9de86baa7e51a1c5.png" id="95" name="Google Shape;9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Quiz: Validação e Proteção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"/>
          <p:cNvSpPr/>
          <p:nvPr/>
        </p:nvSpPr>
        <p:spPr>
          <a:xfrm>
            <a:off x="285750" y="11430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D32F2F"/>
                </a:solidFill>
                <a:latin typeface="Inter"/>
                <a:ea typeface="Inter"/>
                <a:cs typeface="Inter"/>
                <a:sym typeface="Inter"/>
              </a:rPr>
              <a:t>Resposta 1: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Validação de dados (lista suspensa).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9"/>
          <p:cNvSpPr/>
          <p:nvPr/>
        </p:nvSpPr>
        <p:spPr>
          <a:xfrm>
            <a:off x="285750" y="22860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D32F2F"/>
                </a:solidFill>
                <a:latin typeface="Inter"/>
                <a:ea typeface="Inter"/>
                <a:cs typeface="Inter"/>
                <a:sym typeface="Inter"/>
              </a:rPr>
              <a:t>Resposta 2: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Congelar painéis.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9"/>
          <p:cNvSpPr/>
          <p:nvPr/>
        </p:nvSpPr>
        <p:spPr>
          <a:xfrm>
            <a:off x="285750" y="34290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D32F2F"/>
                </a:solidFill>
                <a:latin typeface="Inter"/>
                <a:ea typeface="Inter"/>
                <a:cs typeface="Inter"/>
                <a:sym typeface="Inter"/>
              </a:rPr>
              <a:t>Resposta 3: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Para evitar alterações acidentais em fórmulas essenciais e regras de validação.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9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Font typeface="Inter"/>
              <a:buNone/>
            </a:pPr>
            <a:r>
              <a:rPr b="0" i="0" lang="en-US" sz="36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49332a99-f4bd-4c4a-91bd-5bdf703c197f/img_67db2e6a5fb9230f9de86baa7e51a1c5.png" id="106" name="Google Shape;10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49332a99-f4bd-4c4a-91bd-5bdf703c197f/img_8ba3012d2628bb67ef399ff335fd0d78.png" id="107" name="Google Shape;10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788670"/>
            <a:ext cx="3829050" cy="406908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108" name="Google Shape;108;p1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Apresentando a Função PROCV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0"/>
          <p:cNvSpPr/>
          <p:nvPr/>
        </p:nvSpPr>
        <p:spPr>
          <a:xfrm>
            <a:off x="285750" y="788670"/>
            <a:ext cx="4572000" cy="2203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O Motor da Busca Vertical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 função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PROCV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procura um código na primeira coluna à esquerda de uma matriz e retorna o valor correspondente situado na coluna indicada.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Sintaxe essencial: 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0"/>
          <p:cNvSpPr/>
          <p:nvPr/>
        </p:nvSpPr>
        <p:spPr>
          <a:xfrm>
            <a:off x="285750" y="2766060"/>
            <a:ext cx="4572000" cy="1595628"/>
          </a:xfrm>
          <a:prstGeom prst="roundRect">
            <a:avLst>
              <a:gd fmla="val 5731" name="adj"/>
            </a:avLst>
          </a:prstGeom>
          <a:solidFill>
            <a:srgbClr val="FCEBEB"/>
          </a:solidFill>
          <a:ln cap="flat" cmpd="sng" w="11425">
            <a:solidFill>
              <a:srgbClr val="4606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0"/>
          <p:cNvSpPr/>
          <p:nvPr/>
        </p:nvSpPr>
        <p:spPr>
          <a:xfrm>
            <a:off x="400050" y="291465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⚠️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0"/>
          <p:cNvSpPr/>
          <p:nvPr/>
        </p:nvSpPr>
        <p:spPr>
          <a:xfrm>
            <a:off x="765810" y="2880360"/>
            <a:ext cx="3977640" cy="13670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0606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460606"/>
                </a:solidFill>
                <a:latin typeface="Inter"/>
                <a:ea typeface="Inter"/>
                <a:cs typeface="Inter"/>
                <a:sym typeface="Inter"/>
              </a:rPr>
              <a:t>Atenção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460606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460606"/>
                </a:solidFill>
                <a:latin typeface="Inter"/>
                <a:ea typeface="Inter"/>
                <a:cs typeface="Inter"/>
                <a:sym typeface="Inter"/>
              </a:rPr>
              <a:t>Use sempre 0 ou FALSO no quarto argumento para exigir correspondência estrita e evitar retornos aproximados errôneos.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49332a99-f4bd-4c4a-91bd-5bdf703c197f/img_67db2e6a5fb9230f9de86baa7e51a1c5.png" id="118" name="Google Shape;11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1"/>
          <p:cNvSpPr/>
          <p:nvPr/>
        </p:nvSpPr>
        <p:spPr>
          <a:xfrm>
            <a:off x="171450" y="902970"/>
            <a:ext cx="2205990" cy="40005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D32F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1"/>
          <p:cNvSpPr/>
          <p:nvPr/>
        </p:nvSpPr>
        <p:spPr>
          <a:xfrm>
            <a:off x="2377440" y="902970"/>
            <a:ext cx="2205990" cy="40005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D32F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1"/>
          <p:cNvSpPr/>
          <p:nvPr/>
        </p:nvSpPr>
        <p:spPr>
          <a:xfrm>
            <a:off x="4572000" y="902970"/>
            <a:ext cx="2205990" cy="40005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D32F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1"/>
          <p:cNvSpPr/>
          <p:nvPr/>
        </p:nvSpPr>
        <p:spPr>
          <a:xfrm>
            <a:off x="6777990" y="902970"/>
            <a:ext cx="2205990" cy="40005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D32F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Passo a Passo da Sintaxe PROCV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1"/>
          <p:cNvSpPr/>
          <p:nvPr/>
        </p:nvSpPr>
        <p:spPr>
          <a:xfrm>
            <a:off x="285750" y="1360170"/>
            <a:ext cx="197739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1. Chave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Indique a célula buscada:  (ex: Código do produto).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1"/>
          <p:cNvSpPr/>
          <p:nvPr/>
        </p:nvSpPr>
        <p:spPr>
          <a:xfrm>
            <a:off x="2491740" y="1360170"/>
            <a:ext cx="1977390" cy="11475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2. Matriz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Selecione o intervalo com : 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1"/>
          <p:cNvSpPr/>
          <p:nvPr/>
        </p:nvSpPr>
        <p:spPr>
          <a:xfrm>
            <a:off x="4686300" y="1360170"/>
            <a:ext cx="197739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3. Índice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Informe o número da coluna desejada:  (Preço).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1"/>
          <p:cNvSpPr/>
          <p:nvPr/>
        </p:nvSpPr>
        <p:spPr>
          <a:xfrm>
            <a:off x="6892290" y="1360170"/>
            <a:ext cx="1977390" cy="11475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4. Exatidão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Digite  para exigir código idêntico.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49332a99-f4bd-4c4a-91bd-5bdf703c197f/img_67db2e6a5fb9230f9de86baa7e51a1c5.png" id="133" name="Google Shape;13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49332a99-f4bd-4c4a-91bd-5bdf703c197f/img_aca7c55d43daabbbef2b59ac52341271.png" id="134" name="Google Shape;134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788670"/>
            <a:ext cx="3829050" cy="406908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135" name="Google Shape;135;p1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 Grande Limitação do PROCV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2"/>
          <p:cNvSpPr/>
          <p:nvPr/>
        </p:nvSpPr>
        <p:spPr>
          <a:xfrm>
            <a:off x="4286250" y="788670"/>
            <a:ext cx="4572000" cy="2907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O Bloqueio da Esquerda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O PROCV possui uma regra rígida de projeto: o valor procurado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deve obrigatoriamente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estar localizado na coluna 1 da matriz selecionada.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Se você precisar descobrir o código do item buscando pelo nome que está à direita, o PROCV falha completamente.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2"/>
          <p:cNvSpPr/>
          <p:nvPr/>
        </p:nvSpPr>
        <p:spPr>
          <a:xfrm>
            <a:off x="4286250" y="3257550"/>
            <a:ext cx="4572000" cy="1348740"/>
          </a:xfrm>
          <a:prstGeom prst="roundRect">
            <a:avLst>
              <a:gd fmla="val 6780" name="adj"/>
            </a:avLst>
          </a:prstGeom>
          <a:solidFill>
            <a:srgbClr val="E6F1FB"/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2"/>
          <p:cNvSpPr/>
          <p:nvPr/>
        </p:nvSpPr>
        <p:spPr>
          <a:xfrm>
            <a:off x="4400550" y="340614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2"/>
          <p:cNvSpPr/>
          <p:nvPr/>
        </p:nvSpPr>
        <p:spPr>
          <a:xfrm>
            <a:off x="4766310" y="3371850"/>
            <a:ext cx="3977640" cy="1120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0B2F50"/>
                </a:solidFill>
                <a:latin typeface="Inter"/>
                <a:ea typeface="Inter"/>
                <a:cs typeface="Inter"/>
                <a:sym typeface="Inter"/>
              </a:rPr>
              <a:t>Lembre-se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B2F50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B2F50"/>
                </a:solidFill>
                <a:latin typeface="Inter"/>
                <a:ea typeface="Inter"/>
                <a:cs typeface="Inter"/>
                <a:sym typeface="Inter"/>
              </a:rPr>
              <a:t>O PROCV olha apenas para a frente (da esquerda para a direita), nunca para trás.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49332a99-f4bd-4c4a-91bd-5bdf703c197f/img_67db2e6a5fb9230f9de86baa7e51a1c5.png" id="145" name="Google Shape;14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3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Checando o Domínio do PROCV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3"/>
          <p:cNvSpPr/>
          <p:nvPr/>
        </p:nvSpPr>
        <p:spPr>
          <a:xfrm>
            <a:off x="285750" y="685800"/>
            <a:ext cx="8572500" cy="3794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Ao escrever =PROCV(D2; A2:C50; 2; FALSO), o que o número 2 representa?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3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3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A quantidade máxima de resultados idênticos permitidos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3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3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O código de segurança numérico exigido pela fórmula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3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3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O número da coluna de retorno na matriz selecionada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3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3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A segunda linha da planilha onde a busca começa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49332a99-f4bd-4c4a-91bd-5bdf703c197f/img_67db2e6a5fb9230f9de86baa7e51a1c5.png" id="161" name="Google Shape;16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4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Checando o Domínio do PROCV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4"/>
          <p:cNvSpPr/>
          <p:nvPr/>
        </p:nvSpPr>
        <p:spPr>
          <a:xfrm>
            <a:off x="285750" y="685800"/>
            <a:ext cx="8572500" cy="3794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Ao escrever =PROCV(D2; A2:C50; 2; FALSO), o que o número 2 representa?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4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4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A quantidade máxima de resultados idênticos permitidos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4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4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O código de segurança numérico exigido pela fórmula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4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4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O número da coluna de retorno na matriz selecionada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4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4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A segunda linha da planilha onde a busca começa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4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Font typeface="Inter"/>
              <a:buNone/>
            </a:pPr>
            <a:r>
              <a:rPr b="0" i="0" lang="en-US" sz="36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4"/>
          <p:cNvSpPr/>
          <p:nvPr/>
        </p:nvSpPr>
        <p:spPr>
          <a:xfrm>
            <a:off x="8721090" y="32346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Inter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49332a99-f4bd-4c4a-91bd-5bdf703c197f/img_67db2e6a5fb9230f9de86baa7e51a1c5.png" id="179" name="Google Shape;17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49332a99-f4bd-4c4a-91bd-5bdf703c197f/img_c6249d789abc03c39031c39b0f3336c0.png" id="180" name="Google Shape;18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788670"/>
            <a:ext cx="3829050" cy="406908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181" name="Google Shape;181;p15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PROCH: Consultas Horizontais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5"/>
          <p:cNvSpPr/>
          <p:nvPr/>
        </p:nvSpPr>
        <p:spPr>
          <a:xfrm>
            <a:off x="285750" y="788670"/>
            <a:ext cx="4572000" cy="25557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Estruturas em Linhas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Quando os cabeçalhos estão distribuídos verticalmente na primeira coluna e os registros seguem em colunas ao lado, usamos o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PROCH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 função varre a linha superior de ponta a ponta e desce até o número de linha indicado para extrair a métrica.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5"/>
          <p:cNvSpPr/>
          <p:nvPr/>
        </p:nvSpPr>
        <p:spPr>
          <a:xfrm>
            <a:off x="285750" y="3257550"/>
            <a:ext cx="4572000" cy="1348740"/>
          </a:xfrm>
          <a:prstGeom prst="roundRect">
            <a:avLst>
              <a:gd fmla="val 6780" name="adj"/>
            </a:avLst>
          </a:prstGeom>
          <a:solidFill>
            <a:srgbClr val="E1F6EF"/>
          </a:solidFill>
          <a:ln cap="flat" cmpd="sng" w="11425">
            <a:solidFill>
              <a:srgbClr val="084D3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5"/>
          <p:cNvSpPr/>
          <p:nvPr/>
        </p:nvSpPr>
        <p:spPr>
          <a:xfrm>
            <a:off x="400050" y="340614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5"/>
          <p:cNvSpPr/>
          <p:nvPr/>
        </p:nvSpPr>
        <p:spPr>
          <a:xfrm>
            <a:off x="765810" y="3371850"/>
            <a:ext cx="3977640" cy="1120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4D36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084D36"/>
                </a:solidFill>
                <a:latin typeface="Inter"/>
                <a:ea typeface="Inter"/>
                <a:cs typeface="Inter"/>
                <a:sym typeface="Inter"/>
              </a:rPr>
              <a:t>Exemplo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84D36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84D36"/>
                </a:solidFill>
                <a:latin typeface="Inter"/>
                <a:ea typeface="Inter"/>
                <a:cs typeface="Inter"/>
                <a:sym typeface="Inter"/>
              </a:rPr>
              <a:t>Tabelas de alíquotas fiscais ou faixas de comissão organizadas por meses lado a lado.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49332a99-f4bd-4c4a-91bd-5bdf703c197f/img_67db2e6a5fb9230f9de86baa7e51a1c5.png" id="191" name="Google Shape;19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49332a99-f4bd-4c4a-91bd-5bdf703c197f/img_5d0e5c017556f57da4ebd39e347b800a.png" id="192" name="Google Shape;19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78867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49332a99-f4bd-4c4a-91bd-5bdf703c197f/img_cccada8c4ebf88d84c958d46b077bd8e.png" id="193" name="Google Shape;19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52010" y="78867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194" name="Google Shape;194;p1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Comparando Estruturas de Busca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6"/>
          <p:cNvSpPr/>
          <p:nvPr/>
        </p:nvSpPr>
        <p:spPr>
          <a:xfrm>
            <a:off x="285750" y="2983230"/>
            <a:ext cx="4194810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PROCV (Vertical)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Char char="•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Ideal para bases em linhas.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Char char="•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Chave na coluna inicial à esquerda.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Char char="•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Retorna valor via índice de coluna.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6"/>
          <p:cNvSpPr/>
          <p:nvPr/>
        </p:nvSpPr>
        <p:spPr>
          <a:xfrm>
            <a:off x="4652010" y="2983230"/>
            <a:ext cx="4194810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PROCH (Horizontal)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Char char="•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Ideal para cronogramas em colunas.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Char char="•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Chave na linha superior da matriz.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Char char="•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Retorna valor via índice de linha.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49332a99-f4bd-4c4a-91bd-5bdf703c197f/img_67db2e6a5fb9230f9de86baa7e51a1c5.png" id="202" name="Google Shape;20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49332a99-f4bd-4c4a-91bd-5bdf703c197f/img_1de3397deb928fc04341a701ef79a6fc.png" id="203" name="Google Shape;20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7850" y="0"/>
            <a:ext cx="3486150" cy="5143500"/>
          </a:xfrm>
          <a:prstGeom prst="roundRect">
            <a:avLst>
              <a:gd fmla="val 3934" name="adj"/>
            </a:avLst>
          </a:prstGeom>
          <a:noFill/>
          <a:ln>
            <a:noFill/>
          </a:ln>
        </p:spPr>
      </p:pic>
      <p:sp>
        <p:nvSpPr>
          <p:cNvPr id="204" name="Google Shape;204;p17"/>
          <p:cNvSpPr/>
          <p:nvPr/>
        </p:nvSpPr>
        <p:spPr>
          <a:xfrm>
            <a:off x="285750" y="171450"/>
            <a:ext cx="514350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 Dupla Dinâmica: ÍNDICE e CORRESP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7"/>
          <p:cNvSpPr/>
          <p:nvPr/>
        </p:nvSpPr>
        <p:spPr>
          <a:xfrm>
            <a:off x="285750" y="1223010"/>
            <a:ext cx="5143500" cy="2907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Superando Limitações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 combinação das funções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ÍNDICE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e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CORRESP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substitui o PROCV com maior velocidade de processamento e total flexibilidade dimensional.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Essa técnica permite buscar valores para a esquerda, para a direita, para cima ou para baixo sem exigir alterações na ordem das colunas da tabela original.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7"/>
          <p:cNvSpPr/>
          <p:nvPr/>
        </p:nvSpPr>
        <p:spPr>
          <a:xfrm>
            <a:off x="285750" y="3943350"/>
            <a:ext cx="5143500" cy="1101852"/>
          </a:xfrm>
          <a:prstGeom prst="roundRect">
            <a:avLst>
              <a:gd fmla="val 8299" name="adj"/>
            </a:avLst>
          </a:prstGeom>
          <a:solidFill>
            <a:srgbClr val="FAEFDA"/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7"/>
          <p:cNvSpPr/>
          <p:nvPr/>
        </p:nvSpPr>
        <p:spPr>
          <a:xfrm>
            <a:off x="400050" y="409194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7"/>
          <p:cNvSpPr/>
          <p:nvPr/>
        </p:nvSpPr>
        <p:spPr>
          <a:xfrm>
            <a:off x="765810" y="4057650"/>
            <a:ext cx="4549140" cy="873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3B06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573B06"/>
                </a:solidFill>
                <a:latin typeface="Inter"/>
                <a:ea typeface="Inter"/>
                <a:cs typeface="Inter"/>
                <a:sym typeface="Inter"/>
              </a:rPr>
              <a:t>Ponto-chave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573B06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573B06"/>
                </a:solidFill>
                <a:latin typeface="Inter"/>
                <a:ea typeface="Inter"/>
                <a:cs typeface="Inter"/>
                <a:sym typeface="Inter"/>
              </a:rPr>
              <a:t>CORRESP localiza a coordenada; ÍNDICE extrai a informação exata naquela posição.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49332a99-f4bd-4c4a-91bd-5bdf703c197f/img_67db2e6a5fb9230f9de86baa7e51a1c5.png" id="214" name="Google Shape;21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49332a99-f4bd-4c4a-91bd-5bdf703c197f/img_b1fdc703cbbbd7bf70c3693e0cbb86f2.png" id="215" name="Google Shape;21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788670"/>
            <a:ext cx="3829050" cy="406908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216" name="Google Shape;216;p1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Compreendendo o Papel do CORRESP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8"/>
          <p:cNvSpPr/>
          <p:nvPr/>
        </p:nvSpPr>
        <p:spPr>
          <a:xfrm>
            <a:off x="4286250" y="788670"/>
            <a:ext cx="4572000" cy="25557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Localizador de Posições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 função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CORRESP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não traz o texto ou preço final; ela informa em qual posição relativa um elemento procurado se encontra num vetor.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Fórmula básica: . Se "Mouse" for o terceiro item, o resultado retornado será exatamente o número 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8"/>
          <p:cNvSpPr/>
          <p:nvPr/>
        </p:nvSpPr>
        <p:spPr>
          <a:xfrm>
            <a:off x="4286250" y="3257550"/>
            <a:ext cx="4572000" cy="1348740"/>
          </a:xfrm>
          <a:prstGeom prst="roundRect">
            <a:avLst>
              <a:gd fmla="val 6780" name="adj"/>
            </a:avLst>
          </a:prstGeom>
          <a:solidFill>
            <a:srgbClr val="E6F1FB"/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8"/>
          <p:cNvSpPr/>
          <p:nvPr/>
        </p:nvSpPr>
        <p:spPr>
          <a:xfrm>
            <a:off x="4400550" y="340614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8"/>
          <p:cNvSpPr/>
          <p:nvPr/>
        </p:nvSpPr>
        <p:spPr>
          <a:xfrm>
            <a:off x="4766310" y="3371850"/>
            <a:ext cx="3977640" cy="1120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0B2F50"/>
                </a:solidFill>
                <a:latin typeface="Inter"/>
                <a:ea typeface="Inter"/>
                <a:cs typeface="Inter"/>
                <a:sym typeface="Inter"/>
              </a:rPr>
              <a:t>Lembre-se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B2F50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B2F50"/>
                </a:solidFill>
                <a:latin typeface="Inter"/>
                <a:ea typeface="Inter"/>
                <a:cs typeface="Inter"/>
                <a:sym typeface="Inter"/>
              </a:rPr>
              <a:t>O valor zero final assegura que a função só responda caso localize o nome idêntico.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49332a99-f4bd-4c4a-91bd-5bdf703c197f/img_67db2e6a5fb9230f9de86baa7e51a1c5.png" id="226" name="Google Shape;22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49332a99-f4bd-4c4a-91bd-5bdf703c197f/img_1c9fe0905a23e385fa9e68a7e7b2ca2f.png" id="227" name="Google Shape;22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788670"/>
            <a:ext cx="3829050" cy="406908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228" name="Google Shape;228;p19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O Poder Extrator do ÍNDICE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9"/>
          <p:cNvSpPr/>
          <p:nvPr/>
        </p:nvSpPr>
        <p:spPr>
          <a:xfrm>
            <a:off x="285750" y="788670"/>
            <a:ext cx="4572000" cy="2907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Resgate de Coordenadas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 função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ÍNDICE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recebe um intervalo de dados e coleta o conteúdo que reside em uma linha e coluna específicas.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Ao alimentar a linha do ÍNDICE com o resultado gerado pelo CORRESP, criamos um sistema dinâmico e imune à inserção de novas colunas no relatório.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9"/>
          <p:cNvSpPr/>
          <p:nvPr/>
        </p:nvSpPr>
        <p:spPr>
          <a:xfrm>
            <a:off x="285750" y="3257550"/>
            <a:ext cx="4572000" cy="1101852"/>
          </a:xfrm>
          <a:prstGeom prst="roundRect">
            <a:avLst>
              <a:gd fmla="val 8299" name="adj"/>
            </a:avLst>
          </a:prstGeom>
          <a:solidFill>
            <a:srgbClr val="E1F6EF"/>
          </a:solidFill>
          <a:ln cap="flat" cmpd="sng" w="11425">
            <a:solidFill>
              <a:srgbClr val="084D3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9"/>
          <p:cNvSpPr/>
          <p:nvPr/>
        </p:nvSpPr>
        <p:spPr>
          <a:xfrm>
            <a:off x="400050" y="340614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765810" y="3371850"/>
            <a:ext cx="3977640" cy="873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4D36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084D36"/>
                </a:solidFill>
                <a:latin typeface="Inter"/>
                <a:ea typeface="Inter"/>
                <a:cs typeface="Inter"/>
                <a:sym typeface="Inter"/>
              </a:rPr>
              <a:t>Exemplo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84D36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84D36"/>
                </a:solidFill>
                <a:latin typeface="Inter"/>
                <a:ea typeface="Inter"/>
                <a:cs typeface="Inter"/>
                <a:sym typeface="Inter"/>
              </a:rPr>
              <a:t> consulta com total imunidade a mudanças estruturais.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49332a99-f4bd-4c4a-91bd-5bdf703c197f/img_67db2e6a5fb9230f9de86baa7e51a1c5.png" id="238" name="Google Shape;23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0"/>
          <p:cNvSpPr/>
          <p:nvPr/>
        </p:nvSpPr>
        <p:spPr>
          <a:xfrm>
            <a:off x="171450" y="902970"/>
            <a:ext cx="2205990" cy="40005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D32F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0"/>
          <p:cNvSpPr/>
          <p:nvPr/>
        </p:nvSpPr>
        <p:spPr>
          <a:xfrm>
            <a:off x="2377440" y="902970"/>
            <a:ext cx="2205990" cy="40005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D32F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0"/>
          <p:cNvSpPr/>
          <p:nvPr/>
        </p:nvSpPr>
        <p:spPr>
          <a:xfrm>
            <a:off x="4572000" y="902970"/>
            <a:ext cx="2205990" cy="40005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D32F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0"/>
          <p:cNvSpPr/>
          <p:nvPr/>
        </p:nvSpPr>
        <p:spPr>
          <a:xfrm>
            <a:off x="6777990" y="902970"/>
            <a:ext cx="2205990" cy="40005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D32F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Passos da Busca Flexível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0"/>
          <p:cNvSpPr/>
          <p:nvPr/>
        </p:nvSpPr>
        <p:spPr>
          <a:xfrm>
            <a:off x="285750" y="1360170"/>
            <a:ext cx="197739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1. Vetor de Retorno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Abra o ÍNDICE apontando a coluna com a resposta: 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0"/>
          <p:cNvSpPr/>
          <p:nvPr/>
        </p:nvSpPr>
        <p:spPr>
          <a:xfrm>
            <a:off x="2491740" y="1360170"/>
            <a:ext cx="197739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2. Ativar CORRESP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No argumento de linha, abra a função: 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0"/>
          <p:cNvSpPr/>
          <p:nvPr/>
        </p:nvSpPr>
        <p:spPr>
          <a:xfrm>
            <a:off x="4686300" y="1360170"/>
            <a:ext cx="197739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3. Vetor de Procura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Selecione a coluna que guarda a chave original: 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0"/>
          <p:cNvSpPr/>
          <p:nvPr/>
        </p:nvSpPr>
        <p:spPr>
          <a:xfrm>
            <a:off x="6892290" y="1360170"/>
            <a:ext cx="197739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4. Modo Exato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Finalize com  para travar correspondência exata.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49332a99-f4bd-4c4a-91bd-5bdf703c197f/img_67db2e6a5fb9230f9de86baa7e51a1c5.png" id="253" name="Google Shape;25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Ordenando a Fórmula Combinada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1"/>
          <p:cNvSpPr/>
          <p:nvPr/>
        </p:nvSpPr>
        <p:spPr>
          <a:xfrm>
            <a:off x="285750" y="685800"/>
            <a:ext cx="8572500" cy="3794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Ordene os passos lógicos para estruturar uma busca reversa com ÍNDICE e CORRESP: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1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Indicar o valor procurado e a coluna onde a busca ocorrerá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1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Selecionar a coluna que contém o dado final que desejamos exibir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1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Inserir a função CORRESP no parâmetro da linha do ÍNDICE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1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Definir o argumento 0 para garantir correspondência exata e fechar parênteses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49332a99-f4bd-4c4a-91bd-5bdf703c197f/img_67db2e6a5fb9230f9de86baa7e51a1c5.png" id="265" name="Google Shape;26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Ordenando a Fórmula Combinada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2"/>
          <p:cNvSpPr/>
          <p:nvPr/>
        </p:nvSpPr>
        <p:spPr>
          <a:xfrm>
            <a:off x="285750" y="685800"/>
            <a:ext cx="8572500" cy="3794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Ordene os passos lógicos para estruturar uma busca reversa com ÍNDICE e CORRESP: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2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Indicar o valor procurado e a coluna onde a busca ocorrerá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2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Selecionar a coluna que contém o dado final que desejamos exibir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2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Inserir a função CORRESP no parâmetro da linha do ÍNDICE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2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Definir o argumento 0 para garantir correspondência exata e fechar parênteses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2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Font typeface="Inter"/>
              <a:buNone/>
            </a:pPr>
            <a:r>
              <a:rPr b="0" i="0" lang="en-US" sz="36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2"/>
          <p:cNvSpPr/>
          <p:nvPr/>
        </p:nvSpPr>
        <p:spPr>
          <a:xfrm>
            <a:off x="7292340" y="15201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Inter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2"/>
          <p:cNvSpPr/>
          <p:nvPr/>
        </p:nvSpPr>
        <p:spPr>
          <a:xfrm>
            <a:off x="7292340" y="22631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Inter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2"/>
          <p:cNvSpPr/>
          <p:nvPr/>
        </p:nvSpPr>
        <p:spPr>
          <a:xfrm>
            <a:off x="7292340" y="30060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Inter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2"/>
          <p:cNvSpPr/>
          <p:nvPr/>
        </p:nvSpPr>
        <p:spPr>
          <a:xfrm>
            <a:off x="7292340" y="37490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Inter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49332a99-f4bd-4c4a-91bd-5bdf703c197f/img_67db2e6a5fb9230f9de86baa7e51a1c5.png" id="282" name="Google Shape;28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3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Aplicações Práticas em Negócios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4" name="Google Shape;284;p23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60120" y="788670"/>
            <a:ext cx="7223760" cy="4069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49332a99-f4bd-4c4a-91bd-5bdf703c197f/img_67db2e6a5fb9230f9de86baa7e51a1c5.png" id="290" name="Google Shape;29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49332a99-f4bd-4c4a-91bd-5bdf703c197f/img_4200635c358b87ca4b6e68c3c0aca59f.png" id="291" name="Google Shape;29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788670"/>
            <a:ext cx="3829050" cy="406908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292" name="Google Shape;292;p24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Tratamento de Erros com SEERRO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4"/>
          <p:cNvSpPr/>
          <p:nvPr/>
        </p:nvSpPr>
        <p:spPr>
          <a:xfrm>
            <a:off x="4286250" y="788670"/>
            <a:ext cx="4572000" cy="2907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Adeus #N/D e #VALOR!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Quando uma busca não localiza o registro ou uma divisão por zero ocorre, o Excel polui o relatório com erros visualmente desagradáveis.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 função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SEERRO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intercepta qualquer falha e exibe uma mensagem amigável ou o número zero para manter o dashboard limpo.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4"/>
          <p:cNvSpPr/>
          <p:nvPr/>
        </p:nvSpPr>
        <p:spPr>
          <a:xfrm>
            <a:off x="4286250" y="3509010"/>
            <a:ext cx="4572000" cy="854964"/>
          </a:xfrm>
          <a:prstGeom prst="roundRect">
            <a:avLst>
              <a:gd fmla="val 10695" name="adj"/>
            </a:avLst>
          </a:prstGeom>
          <a:solidFill>
            <a:srgbClr val="E1F6EF"/>
          </a:solidFill>
          <a:ln cap="flat" cmpd="sng" w="11425">
            <a:solidFill>
              <a:srgbClr val="084D3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4"/>
          <p:cNvSpPr/>
          <p:nvPr/>
        </p:nvSpPr>
        <p:spPr>
          <a:xfrm>
            <a:off x="4400550" y="365760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4"/>
          <p:cNvSpPr/>
          <p:nvPr/>
        </p:nvSpPr>
        <p:spPr>
          <a:xfrm>
            <a:off x="4766310" y="3623310"/>
            <a:ext cx="3977640" cy="626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4D36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084D36"/>
                </a:solidFill>
                <a:latin typeface="Inter"/>
                <a:ea typeface="Inter"/>
                <a:cs typeface="Inter"/>
                <a:sym typeface="Inter"/>
              </a:rPr>
              <a:t>Exemplo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84D36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84D36"/>
                </a:solidFill>
                <a:latin typeface="Inter"/>
                <a:ea typeface="Inter"/>
                <a:cs typeface="Inter"/>
                <a:sym typeface="Inter"/>
              </a:rPr>
              <a:t> substitui a mensagem de erro padrão.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49332a99-f4bd-4c4a-91bd-5bdf703c197f/img_67db2e6a5fb9230f9de86baa7e51a1c5.png" id="302" name="Google Shape;30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5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Checando o Uso de SEERRO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5"/>
          <p:cNvSpPr/>
          <p:nvPr/>
        </p:nvSpPr>
        <p:spPr>
          <a:xfrm>
            <a:off x="914400" y="123444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5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A função SEERRO altera o resultado de uma fórmula mesmo quando ela calcula um valor correto.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5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Inter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👍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VERDADEIRO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5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Inter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👎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FALSO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5"/>
          <p:cNvSpPr/>
          <p:nvPr/>
        </p:nvSpPr>
        <p:spPr>
          <a:xfrm>
            <a:off x="2571750" y="3714750"/>
            <a:ext cx="571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D32F2F"/>
                </a:solidFill>
                <a:latin typeface="Inter"/>
                <a:ea typeface="Inter"/>
                <a:cs typeface="Inter"/>
                <a:sym typeface="Inter"/>
              </a:rPr>
              <a:t>🤔 </a:t>
            </a:r>
            <a:r>
              <a:rPr b="0" i="1" lang="en-US" sz="1620" u="none" cap="none" strike="noStrike">
                <a:solidFill>
                  <a:srgbClr val="D32F2F"/>
                </a:solidFill>
                <a:latin typeface="Inter"/>
                <a:ea typeface="Inter"/>
                <a:cs typeface="Inter"/>
                <a:sym typeface="Inter"/>
              </a:rPr>
              <a:t>Prepare-se para explicar o seu raciocínio.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49332a99-f4bd-4c4a-91bd-5bdf703c197f/img_67db2e6a5fb9230f9de86baa7e51a1c5.png" id="314" name="Google Shape;31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Checando o Uso de SEERRO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6"/>
          <p:cNvSpPr/>
          <p:nvPr/>
        </p:nvSpPr>
        <p:spPr>
          <a:xfrm>
            <a:off x="914400" y="123444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6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A função SEERRO altera o resultado de uma fórmula mesmo quando ela calcula um valor correto.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6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Inter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👍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VERDADEIRO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6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Inter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👎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FALSO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6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Font typeface="Inter"/>
              <a:buNone/>
            </a:pPr>
            <a:r>
              <a:rPr b="0" i="0" lang="en-US" sz="36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6"/>
          <p:cNvSpPr/>
          <p:nvPr/>
        </p:nvSpPr>
        <p:spPr>
          <a:xfrm>
            <a:off x="457200" y="3657600"/>
            <a:ext cx="8229600" cy="1101852"/>
          </a:xfrm>
          <a:prstGeom prst="roundRect">
            <a:avLst>
              <a:gd fmla="val 8299" name="adj"/>
            </a:avLst>
          </a:prstGeom>
          <a:solidFill>
            <a:srgbClr val="FAEFDA"/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6"/>
          <p:cNvSpPr/>
          <p:nvPr/>
        </p:nvSpPr>
        <p:spPr>
          <a:xfrm>
            <a:off x="571500" y="380619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6"/>
          <p:cNvSpPr/>
          <p:nvPr/>
        </p:nvSpPr>
        <p:spPr>
          <a:xfrm>
            <a:off x="937260" y="3771900"/>
            <a:ext cx="7635240" cy="873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1440"/>
              <a:buFont typeface="Inter ExtraBold"/>
              <a:buNone/>
            </a:pPr>
            <a:r>
              <a:rPr b="0" i="0" lang="en-US" sz="144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Por que é isso?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573B06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573B06"/>
                </a:solidFill>
                <a:latin typeface="Inter"/>
                <a:ea typeface="Inter"/>
                <a:cs typeface="Inter"/>
                <a:sym typeface="Inter"/>
              </a:rPr>
              <a:t>O SEERRO apenas monitora o cálculo; se o valor for válido, ele o preserva intacto e só atua se houver falha.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6"/>
          <p:cNvSpPr/>
          <p:nvPr/>
        </p:nvSpPr>
        <p:spPr>
          <a:xfrm>
            <a:off x="6435090" y="24917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Inter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49332a99-f4bd-4c4a-91bd-5bdf703c197f/img_67db2e6a5fb9230f9de86baa7e51a1c5.png" id="330" name="Google Shape;33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49332a99-f4bd-4c4a-91bd-5bdf703c197f/img_9529a630b066fc513fcb0677425dfae8.png" id="331" name="Google Shape;331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788670"/>
            <a:ext cx="3829050" cy="406908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332" name="Google Shape;332;p2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Lógica Avançada: SE Aninhado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7"/>
          <p:cNvSpPr/>
          <p:nvPr/>
        </p:nvSpPr>
        <p:spPr>
          <a:xfrm>
            <a:off x="285750" y="788670"/>
            <a:ext cx="457200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Múltiplos Critérios em Cascata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Para avaliar mais de dois cenários, inserimos uma nova função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SE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no argumento falso da anterior. Essa estrutura classifica desempenho, faixas ou prioridades com precisão.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7"/>
          <p:cNvSpPr/>
          <p:nvPr/>
        </p:nvSpPr>
        <p:spPr>
          <a:xfrm>
            <a:off x="285750" y="2697480"/>
            <a:ext cx="4572000" cy="1101852"/>
          </a:xfrm>
          <a:prstGeom prst="roundRect">
            <a:avLst>
              <a:gd fmla="val 8299" name="adj"/>
            </a:avLst>
          </a:prstGeom>
          <a:solidFill>
            <a:srgbClr val="FAEFDA"/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7"/>
          <p:cNvSpPr/>
          <p:nvPr/>
        </p:nvSpPr>
        <p:spPr>
          <a:xfrm>
            <a:off x="400050" y="284607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7"/>
          <p:cNvSpPr/>
          <p:nvPr/>
        </p:nvSpPr>
        <p:spPr>
          <a:xfrm>
            <a:off x="765810" y="2811780"/>
            <a:ext cx="3977640" cy="873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3B06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573B06"/>
                </a:solidFill>
                <a:latin typeface="Inter"/>
                <a:ea typeface="Inter"/>
                <a:cs typeface="Inter"/>
                <a:sym typeface="Inter"/>
              </a:rPr>
              <a:t>Ponto-chave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573B06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573B06"/>
                </a:solidFill>
                <a:latin typeface="Inter"/>
                <a:ea typeface="Inter"/>
                <a:cs typeface="Inter"/>
                <a:sym typeface="Inter"/>
              </a:rPr>
              <a:t>Feche todos os parênteses abertos para cada teste SE criado.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49332a99-f4bd-4c4a-91bd-5bdf703c197f/img_67db2e6a5fb9230f9de86baa7e51a1c5.png" id="342" name="Google Shape;34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28"/>
          <p:cNvSpPr/>
          <p:nvPr/>
        </p:nvSpPr>
        <p:spPr>
          <a:xfrm>
            <a:off x="285750" y="24003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Exemplo Prático: Classificação de Vendas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8"/>
          <p:cNvSpPr/>
          <p:nvPr/>
        </p:nvSpPr>
        <p:spPr>
          <a:xfrm>
            <a:off x="285750" y="857250"/>
            <a:ext cx="4194810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 Regra de Negócio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Vendas a partir de R$ 10.000 recebem classificação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"Ouro"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Vendas entre R$ 5.000 e R$ 9.999 recebem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"Prata"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Valores abaixo de R$ 5.000 recebem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"Bronze"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8"/>
          <p:cNvSpPr/>
          <p:nvPr/>
        </p:nvSpPr>
        <p:spPr>
          <a:xfrm>
            <a:off x="285750" y="3177540"/>
            <a:ext cx="4194810" cy="1348740"/>
          </a:xfrm>
          <a:prstGeom prst="roundRect">
            <a:avLst>
              <a:gd fmla="val 6780" name="adj"/>
            </a:avLst>
          </a:prstGeom>
          <a:solidFill>
            <a:srgbClr val="E6F1FB"/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8"/>
          <p:cNvSpPr/>
          <p:nvPr/>
        </p:nvSpPr>
        <p:spPr>
          <a:xfrm>
            <a:off x="400050" y="332613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8"/>
          <p:cNvSpPr/>
          <p:nvPr/>
        </p:nvSpPr>
        <p:spPr>
          <a:xfrm>
            <a:off x="765810" y="3291840"/>
            <a:ext cx="3600450" cy="1120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0B2F50"/>
                </a:solidFill>
                <a:latin typeface="Inter"/>
                <a:ea typeface="Inter"/>
                <a:cs typeface="Inter"/>
                <a:sym typeface="Inter"/>
              </a:rPr>
              <a:t>Lembre-se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B2F50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B2F50"/>
                </a:solidFill>
                <a:latin typeface="Inter"/>
                <a:ea typeface="Inter"/>
                <a:cs typeface="Inter"/>
                <a:sym typeface="Inter"/>
              </a:rPr>
              <a:t>Teste sempre primeiro os valores mais altos para evitar falsos positivos na lógica sequencial.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8"/>
          <p:cNvSpPr/>
          <p:nvPr/>
        </p:nvSpPr>
        <p:spPr>
          <a:xfrm>
            <a:off x="4652010" y="857250"/>
            <a:ext cx="419481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 Fórmula Estruturada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O Excel avalia a primeira condição; se for falsa, segue para a segunda e só aplica o último valor se todas falharem.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8"/>
          <p:cNvSpPr/>
          <p:nvPr/>
        </p:nvSpPr>
        <p:spPr>
          <a:xfrm>
            <a:off x="4652010" y="2514600"/>
            <a:ext cx="4194810" cy="1348740"/>
          </a:xfrm>
          <a:prstGeom prst="roundRect">
            <a:avLst>
              <a:gd fmla="val 6780" name="adj"/>
            </a:avLst>
          </a:prstGeom>
          <a:solidFill>
            <a:srgbClr val="E1F6EF"/>
          </a:solidFill>
          <a:ln cap="flat" cmpd="sng" w="11425">
            <a:solidFill>
              <a:srgbClr val="084D3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8"/>
          <p:cNvSpPr/>
          <p:nvPr/>
        </p:nvSpPr>
        <p:spPr>
          <a:xfrm>
            <a:off x="4766310" y="266319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8"/>
          <p:cNvSpPr/>
          <p:nvPr/>
        </p:nvSpPr>
        <p:spPr>
          <a:xfrm>
            <a:off x="5132070" y="2628900"/>
            <a:ext cx="3600450" cy="1120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4D36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084D36"/>
                </a:solidFill>
                <a:latin typeface="Inter"/>
                <a:ea typeface="Inter"/>
                <a:cs typeface="Inter"/>
                <a:sym typeface="Inter"/>
              </a:rPr>
              <a:t>Exemplo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84D36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84D36"/>
                </a:solidFill>
                <a:latin typeface="Inter"/>
                <a:ea typeface="Inter"/>
                <a:cs typeface="Inter"/>
                <a:sym typeface="Inter"/>
              </a:rPr>
              <a:t>Para R$ 6.200: não atinge 10.000, mas supera 5.000, retornando "Prata".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49332a99-f4bd-4c4a-91bd-5bdf703c197f/img_67db2e6a5fb9230f9de86baa7e51a1c5.png" id="357" name="Google Shape;35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49332a99-f4bd-4c4a-91bd-5bdf703c197f/img_9d217038fc6cb50f40178de059ad2b5f.png" id="358" name="Google Shape;358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7850" y="0"/>
            <a:ext cx="3486150" cy="5143500"/>
          </a:xfrm>
          <a:prstGeom prst="roundRect">
            <a:avLst>
              <a:gd fmla="val 3934" name="adj"/>
            </a:avLst>
          </a:prstGeom>
          <a:noFill/>
          <a:ln>
            <a:noFill/>
          </a:ln>
        </p:spPr>
      </p:pic>
      <p:sp>
        <p:nvSpPr>
          <p:cNvPr id="359" name="Google Shape;359;p29"/>
          <p:cNvSpPr/>
          <p:nvPr/>
        </p:nvSpPr>
        <p:spPr>
          <a:xfrm>
            <a:off x="285750" y="480060"/>
            <a:ext cx="5143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Quantificação com CONT.SE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9"/>
          <p:cNvSpPr/>
          <p:nvPr/>
        </p:nvSpPr>
        <p:spPr>
          <a:xfrm>
            <a:off x="285750" y="1097280"/>
            <a:ext cx="5143500" cy="25557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Contagens Operacionais Segmentadas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 função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CONT.SE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calcula quantas vezes um determinado critério se repete dentro de um intervalo selecionado.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É essencial para auditoria operacional: saber quantas entregas atrasaram, quantos clientes residem em Curitiba ou quantos produtos estão sem estoque.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9"/>
          <p:cNvSpPr/>
          <p:nvPr/>
        </p:nvSpPr>
        <p:spPr>
          <a:xfrm>
            <a:off x="285750" y="3566160"/>
            <a:ext cx="5143500" cy="854964"/>
          </a:xfrm>
          <a:prstGeom prst="roundRect">
            <a:avLst>
              <a:gd fmla="val 10695" name="adj"/>
            </a:avLst>
          </a:prstGeom>
          <a:solidFill>
            <a:srgbClr val="E1F6EF"/>
          </a:solidFill>
          <a:ln cap="flat" cmpd="sng" w="11425">
            <a:solidFill>
              <a:srgbClr val="084D3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29"/>
          <p:cNvSpPr/>
          <p:nvPr/>
        </p:nvSpPr>
        <p:spPr>
          <a:xfrm>
            <a:off x="400050" y="371475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9"/>
          <p:cNvSpPr/>
          <p:nvPr/>
        </p:nvSpPr>
        <p:spPr>
          <a:xfrm>
            <a:off x="765810" y="3680460"/>
            <a:ext cx="4549140" cy="626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4D36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084D36"/>
                </a:solidFill>
                <a:latin typeface="Inter"/>
                <a:ea typeface="Inter"/>
                <a:cs typeface="Inter"/>
                <a:sym typeface="Inter"/>
              </a:rPr>
              <a:t>Exemplo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84D36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84D36"/>
                </a:solidFill>
                <a:latin typeface="Inter"/>
                <a:ea typeface="Inter"/>
                <a:cs typeface="Inter"/>
                <a:sym typeface="Inter"/>
              </a:rPr>
              <a:t> conta ocorrências exatas dessa palavra.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49332a99-f4bd-4c4a-91bd-5bdf703c197f/img_67db2e6a5fb9230f9de86baa7e51a1c5.png" id="369" name="Google Shape;36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3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Construindo Critérios no CONT.SE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0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Como devemos escrever a fórmula CONT.SE para contar valores estritamente maiores que 100 no intervalo B2:B20?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0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30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=CONT.SE(B2:B20; &gt;100)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30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30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=CONT.SE("&gt;100"; B2:B20)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30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30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=CONT.SE(B2:B20; MAIOR(100))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30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30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=CONT.SE(B2:B20; "&gt;100")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49332a99-f4bd-4c4a-91bd-5bdf703c197f/img_67db2e6a5fb9230f9de86baa7e51a1c5.png" id="385" name="Google Shape;38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3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Construindo Critérios no CONT.SE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31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Como devemos escrever a fórmula CONT.SE para contar valores estritamente maiores que 100 no intervalo B2:B20?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31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31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=CONT.SE(B2:B20; &gt;100)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31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31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=CONT.SE("&gt;100"; B2:B20)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31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31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=CONT.SE(B2:B20; MAIOR(100))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31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31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=CONT.SE(B2:B20; "&gt;100")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31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Font typeface="Inter"/>
              <a:buNone/>
            </a:pPr>
            <a:r>
              <a:rPr b="0" i="0" lang="en-US" sz="36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31"/>
          <p:cNvSpPr/>
          <p:nvPr/>
        </p:nvSpPr>
        <p:spPr>
          <a:xfrm>
            <a:off x="8721090" y="40919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Inter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49332a99-f4bd-4c4a-91bd-5bdf703c197f/img_67db2e6a5fb9230f9de86baa7e51a1c5.png" id="403" name="Google Shape;40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49332a99-f4bd-4c4a-91bd-5bdf703c197f/img_9898329528dd0800df0eb76c1cefd520.png" id="404" name="Google Shape;404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788670"/>
            <a:ext cx="3829050" cy="406908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405" name="Google Shape;405;p3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Consolidação com SOMASE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32"/>
          <p:cNvSpPr/>
          <p:nvPr/>
        </p:nvSpPr>
        <p:spPr>
          <a:xfrm>
            <a:off x="4286250" y="788670"/>
            <a:ext cx="4572000" cy="2907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Soma Condicional de Valores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 função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SOMASE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acumula valores monetários ou quantitativos somente das linhas que cumprem a condição estipulada.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Sintaxe: 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Se a coluna do critério for a mesma dos números somados, o terceiro argumento pode ser omitido.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32"/>
          <p:cNvSpPr/>
          <p:nvPr/>
        </p:nvSpPr>
        <p:spPr>
          <a:xfrm>
            <a:off x="4286250" y="3326130"/>
            <a:ext cx="4572000" cy="1348740"/>
          </a:xfrm>
          <a:prstGeom prst="roundRect">
            <a:avLst>
              <a:gd fmla="val 6780" name="adj"/>
            </a:avLst>
          </a:prstGeom>
          <a:solidFill>
            <a:srgbClr val="E6F1FB"/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32"/>
          <p:cNvSpPr/>
          <p:nvPr/>
        </p:nvSpPr>
        <p:spPr>
          <a:xfrm>
            <a:off x="4400550" y="347472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32"/>
          <p:cNvSpPr/>
          <p:nvPr/>
        </p:nvSpPr>
        <p:spPr>
          <a:xfrm>
            <a:off x="4766310" y="3440430"/>
            <a:ext cx="3977640" cy="1120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0B2F50"/>
                </a:solidFill>
                <a:latin typeface="Inter"/>
                <a:ea typeface="Inter"/>
                <a:cs typeface="Inter"/>
                <a:sym typeface="Inter"/>
              </a:rPr>
              <a:t>Lembre-se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B2F50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B2F50"/>
                </a:solidFill>
                <a:latin typeface="Inter"/>
                <a:ea typeface="Inter"/>
                <a:cs typeface="Inter"/>
                <a:sym typeface="Inter"/>
              </a:rPr>
              <a:t>Certifique-se de que os dois intervalos tenham exatamente o mesmo tamanho de linhas.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49332a99-f4bd-4c4a-91bd-5bdf703c197f/img_67db2e6a5fb9230f9de86baa7e51a1c5.png" id="415" name="Google Shape;41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49332a99-f4bd-4c4a-91bd-5bdf703c197f/img_f79c426e3948717de5a47453f8cdd920.png" id="416" name="Google Shape;416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78867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49332a99-f4bd-4c4a-91bd-5bdf703c197f/img_74acb13b48b45237f9f16abdff29da4f.png" id="417" name="Google Shape;417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52010" y="78867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418" name="Google Shape;418;p33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CONT.SE versus SOMASE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33"/>
          <p:cNvSpPr/>
          <p:nvPr/>
        </p:nvSpPr>
        <p:spPr>
          <a:xfrm>
            <a:off x="285750" y="2983230"/>
            <a:ext cx="4194810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CONT.SE (Frequência)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Char char="•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Responde: "Quantos pedidos atendem a regra?"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Char char="•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Opera sobre um intervalo único.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Char char="•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Resultado é sempre um número inteiro.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33"/>
          <p:cNvSpPr/>
          <p:nvPr/>
        </p:nvSpPr>
        <p:spPr>
          <a:xfrm>
            <a:off x="4652010" y="2983230"/>
            <a:ext cx="4194810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SOMASE (Volume Financeiro)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Char char="•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Responde: "Qual o total em reais dos pedidos?"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Char char="•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Compara critérios e soma valores em colunas distintas.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Char char="•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Resultado exibe moeda ou unidade.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49332a99-f4bd-4c4a-91bd-5bdf703c197f/img_67db2e6a5fb9230f9de86baa7e51a1c5.png" id="426" name="Google Shape;426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49332a99-f4bd-4c4a-91bd-5bdf703c197f/img_174aa7686ea054fa1a3012ac0a2b0580.png" id="427" name="Google Shape;427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788670"/>
            <a:ext cx="3829050" cy="406908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428" name="Google Shape;428;p34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Integração Entre Múltiplas Bases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34"/>
          <p:cNvSpPr/>
          <p:nvPr/>
        </p:nvSpPr>
        <p:spPr>
          <a:xfrm>
            <a:off x="285750" y="788670"/>
            <a:ext cx="457200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Conectando Tabelas Corporativas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Dados empresariais são divididos para segurança e organização: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Vendas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: pedidos e ID do cliente.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Clientes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: nome, cidade e telefone.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Produtos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: preço e custos.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34"/>
          <p:cNvSpPr/>
          <p:nvPr/>
        </p:nvSpPr>
        <p:spPr>
          <a:xfrm>
            <a:off x="285750" y="2937510"/>
            <a:ext cx="4572000" cy="1101852"/>
          </a:xfrm>
          <a:prstGeom prst="roundRect">
            <a:avLst>
              <a:gd fmla="val 8299" name="adj"/>
            </a:avLst>
          </a:prstGeom>
          <a:solidFill>
            <a:srgbClr val="FAEFDA"/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34"/>
          <p:cNvSpPr/>
          <p:nvPr/>
        </p:nvSpPr>
        <p:spPr>
          <a:xfrm>
            <a:off x="400050" y="308610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34"/>
          <p:cNvSpPr/>
          <p:nvPr/>
        </p:nvSpPr>
        <p:spPr>
          <a:xfrm>
            <a:off x="765810" y="3051810"/>
            <a:ext cx="3977640" cy="873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3B06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573B06"/>
                </a:solidFill>
                <a:latin typeface="Inter"/>
                <a:ea typeface="Inter"/>
                <a:cs typeface="Inter"/>
                <a:sym typeface="Inter"/>
              </a:rPr>
              <a:t>Ponto-chave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573B06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573B06"/>
                </a:solidFill>
                <a:latin typeface="Inter"/>
                <a:ea typeface="Inter"/>
                <a:cs typeface="Inter"/>
                <a:sym typeface="Inter"/>
              </a:rPr>
              <a:t>Use funções de busca para conectar tabelas via chaves únicas (IDs).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49332a99-f4bd-4c4a-91bd-5bdf703c197f/img_67db2e6a5fb9230f9de86baa7e51a1c5.png" id="438" name="Google Shape;43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49332a99-f4bd-4c4a-91bd-5bdf703c197f/img_1fab8aefdb169b52781e59ec9d05c947.png" id="439" name="Google Shape;439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788670"/>
            <a:ext cx="3829050" cy="406908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440" name="Google Shape;440;p35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Gestão Prática de Estoques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35"/>
          <p:cNvSpPr/>
          <p:nvPr/>
        </p:nvSpPr>
        <p:spPr>
          <a:xfrm>
            <a:off x="4286250" y="788670"/>
            <a:ext cx="457200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Monitoramento Automatizado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Usando SOMASE e PROCV em inventários, criamos alertas de reposição: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Calibri"/>
              <a:buAutoNum type="arabicPeriod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Somar saídas semanais com SOMASE.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Calibri"/>
              <a:buAutoNum type="arabicPeriod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Buscar saldo inicial com PROCV.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Calibri"/>
              <a:buAutoNum type="arabicPeriod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Calcular saldo e sinalizar itens abaixo do mínimo.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35"/>
          <p:cNvSpPr/>
          <p:nvPr/>
        </p:nvSpPr>
        <p:spPr>
          <a:xfrm>
            <a:off x="4286250" y="3177540"/>
            <a:ext cx="4572000" cy="1101852"/>
          </a:xfrm>
          <a:prstGeom prst="roundRect">
            <a:avLst>
              <a:gd fmla="val 8299" name="adj"/>
            </a:avLst>
          </a:prstGeom>
          <a:solidFill>
            <a:srgbClr val="E1F6EF"/>
          </a:solidFill>
          <a:ln cap="flat" cmpd="sng" w="11425">
            <a:solidFill>
              <a:srgbClr val="084D3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35"/>
          <p:cNvSpPr/>
          <p:nvPr/>
        </p:nvSpPr>
        <p:spPr>
          <a:xfrm>
            <a:off x="4400550" y="332613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35"/>
          <p:cNvSpPr/>
          <p:nvPr/>
        </p:nvSpPr>
        <p:spPr>
          <a:xfrm>
            <a:off x="4766310" y="3291840"/>
            <a:ext cx="3977640" cy="873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4D36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084D36"/>
                </a:solidFill>
                <a:latin typeface="Inter"/>
                <a:ea typeface="Inter"/>
                <a:cs typeface="Inter"/>
                <a:sym typeface="Inter"/>
              </a:rPr>
              <a:t>Exemplo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84D36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84D36"/>
                </a:solidFill>
                <a:latin typeface="Inter"/>
                <a:ea typeface="Inter"/>
                <a:cs typeface="Inter"/>
                <a:sym typeface="Inter"/>
              </a:rPr>
              <a:t>Estoque em nível crítico recebe status "Comprar Urgente" via função SE.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49332a99-f4bd-4c4a-91bd-5bdf703c197f/img_67db2e6a5fb9230f9de86baa7e51a1c5.png" id="450" name="Google Shape;450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49332a99-f4bd-4c4a-91bd-5bdf703c197f/img_b420f245f42c72b57b2b258d28f9d79f.png" id="451" name="Google Shape;451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7850" y="0"/>
            <a:ext cx="3486150" cy="5143500"/>
          </a:xfrm>
          <a:prstGeom prst="roundRect">
            <a:avLst>
              <a:gd fmla="val 3934" name="adj"/>
            </a:avLst>
          </a:prstGeom>
          <a:noFill/>
          <a:ln>
            <a:noFill/>
          </a:ln>
        </p:spPr>
      </p:pic>
      <p:sp>
        <p:nvSpPr>
          <p:cNvPr id="452" name="Google Shape;452;p36"/>
          <p:cNvSpPr/>
          <p:nvPr/>
        </p:nvSpPr>
        <p:spPr>
          <a:xfrm>
            <a:off x="285750" y="205740"/>
            <a:ext cx="514350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Auditoria de Fórmulas e Precedentes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36"/>
          <p:cNvSpPr/>
          <p:nvPr/>
        </p:nvSpPr>
        <p:spPr>
          <a:xfrm>
            <a:off x="285750" y="1257300"/>
            <a:ext cx="514350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Rastreando o Fluxo de Dados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Ao verificar fórmulas, a guia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Fórmulas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oferece ferramentas visuais: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Rastrear Precedentes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: setas azuis indicam células que alimentam o cálculo.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Rastrear Dependentes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: mostra quais células dependem do valor atual.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36"/>
          <p:cNvSpPr/>
          <p:nvPr/>
        </p:nvSpPr>
        <p:spPr>
          <a:xfrm>
            <a:off x="285750" y="3589020"/>
            <a:ext cx="5143500" cy="1101852"/>
          </a:xfrm>
          <a:prstGeom prst="roundRect">
            <a:avLst>
              <a:gd fmla="val 8299" name="adj"/>
            </a:avLst>
          </a:prstGeom>
          <a:solidFill>
            <a:srgbClr val="FAEFDA"/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36"/>
          <p:cNvSpPr/>
          <p:nvPr/>
        </p:nvSpPr>
        <p:spPr>
          <a:xfrm>
            <a:off x="400050" y="373761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36"/>
          <p:cNvSpPr/>
          <p:nvPr/>
        </p:nvSpPr>
        <p:spPr>
          <a:xfrm>
            <a:off x="765810" y="3703320"/>
            <a:ext cx="4549140" cy="873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3B06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573B06"/>
                </a:solidFill>
                <a:latin typeface="Inter"/>
                <a:ea typeface="Inter"/>
                <a:cs typeface="Inter"/>
                <a:sym typeface="Inter"/>
              </a:rPr>
              <a:t>Ponto-chave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573B06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573B06"/>
                </a:solidFill>
                <a:latin typeface="Inter"/>
                <a:ea typeface="Inter"/>
                <a:cs typeface="Inter"/>
                <a:sym typeface="Inter"/>
              </a:rPr>
              <a:t>Setas vermelhas indicam a origem de erros em cascata.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49332a99-f4bd-4c4a-91bd-5bdf703c197f/img_67db2e6a5fb9230f9de86baa7e51a1c5.png" id="462" name="Google Shape;462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49332a99-f4bd-4c4a-91bd-5bdf703c197f/img_e8f718534fc37744f7e7ec8aa2d80db1.png" id="463" name="Google Shape;463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788670"/>
            <a:ext cx="3829050" cy="406908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464" name="Google Shape;464;p3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 Ferramenta Avaliar Fórmula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37"/>
          <p:cNvSpPr/>
          <p:nvPr/>
        </p:nvSpPr>
        <p:spPr>
          <a:xfrm>
            <a:off x="285750" y="788670"/>
            <a:ext cx="4572000" cy="2907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Depuração Passo a Passo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O botão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Avaliar Fórmula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permite executar o cálculo em câmera lenta, resolvendo uma função interna de cada vez.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Essa técnica é indispensável ao lidar com funções aninhadas, pois revela exatamente qual trecho gerou um valor imprevisto antes do resultado final.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37"/>
          <p:cNvSpPr/>
          <p:nvPr/>
        </p:nvSpPr>
        <p:spPr>
          <a:xfrm>
            <a:off x="285750" y="3257550"/>
            <a:ext cx="4572000" cy="1348740"/>
          </a:xfrm>
          <a:prstGeom prst="roundRect">
            <a:avLst>
              <a:gd fmla="val 6780" name="adj"/>
            </a:avLst>
          </a:prstGeom>
          <a:solidFill>
            <a:srgbClr val="E6F1FB"/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37"/>
          <p:cNvSpPr/>
          <p:nvPr/>
        </p:nvSpPr>
        <p:spPr>
          <a:xfrm>
            <a:off x="400050" y="340614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37"/>
          <p:cNvSpPr/>
          <p:nvPr/>
        </p:nvSpPr>
        <p:spPr>
          <a:xfrm>
            <a:off x="765810" y="3371850"/>
            <a:ext cx="3977640" cy="1120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0B2F50"/>
                </a:solidFill>
                <a:latin typeface="Inter"/>
                <a:ea typeface="Inter"/>
                <a:cs typeface="Inter"/>
                <a:sym typeface="Inter"/>
              </a:rPr>
              <a:t>Lembre-se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B2F50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B2F50"/>
                </a:solidFill>
                <a:latin typeface="Inter"/>
                <a:ea typeface="Inter"/>
                <a:cs typeface="Inter"/>
                <a:sym typeface="Inter"/>
              </a:rPr>
              <a:t>Sublinhados no visor mostram qual operação matemática será processada no próximo clique.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49332a99-f4bd-4c4a-91bd-5bdf703c197f/img_67db2e6a5fb9230f9de86baa7e51a1c5.png" id="474" name="Google Shape;474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3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Áudio: Reunião de Fechamento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38"/>
          <p:cNvSpPr/>
          <p:nvPr/>
        </p:nvSpPr>
        <p:spPr>
          <a:xfrm>
            <a:off x="285750" y="742950"/>
            <a:ext cx="85725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40"/>
              <a:buFont typeface="Inter"/>
              <a:buNone/>
            </a:pPr>
            <a:r>
              <a:rPr b="0" i="0" lang="en-US" sz="144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Ouça o áudio e responda às perguntas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38"/>
          <p:cNvSpPr/>
          <p:nvPr/>
        </p:nvSpPr>
        <p:spPr>
          <a:xfrm>
            <a:off x="285750" y="2686050"/>
            <a:ext cx="388620" cy="388620"/>
          </a:xfrm>
          <a:prstGeom prst="roundRect">
            <a:avLst>
              <a:gd fmla="val 50000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60"/>
              <a:buFont typeface="Inter"/>
              <a:buNone/>
            </a:pPr>
            <a:r>
              <a:rPr b="0" i="0" lang="en-US" sz="216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38"/>
          <p:cNvSpPr/>
          <p:nvPr/>
        </p:nvSpPr>
        <p:spPr>
          <a:xfrm>
            <a:off x="788670" y="2686050"/>
            <a:ext cx="8069580" cy="3886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Qual erro visual apareceu na planilha de vendas de Carlos?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38"/>
          <p:cNvSpPr/>
          <p:nvPr/>
        </p:nvSpPr>
        <p:spPr>
          <a:xfrm>
            <a:off x="285750" y="3188970"/>
            <a:ext cx="388620" cy="388620"/>
          </a:xfrm>
          <a:prstGeom prst="roundRect">
            <a:avLst>
              <a:gd fmla="val 50000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60"/>
              <a:buFont typeface="Inter"/>
              <a:buNone/>
            </a:pPr>
            <a:r>
              <a:rPr b="0" i="0" lang="en-US" sz="216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38"/>
          <p:cNvSpPr/>
          <p:nvPr/>
        </p:nvSpPr>
        <p:spPr>
          <a:xfrm>
            <a:off x="788670" y="3188970"/>
            <a:ext cx="8069580" cy="3886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Por que o erro #N/D ocorreu ao aplicar a fórmula?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38"/>
          <p:cNvSpPr/>
          <p:nvPr/>
        </p:nvSpPr>
        <p:spPr>
          <a:xfrm>
            <a:off x="285750" y="3691890"/>
            <a:ext cx="388620" cy="388620"/>
          </a:xfrm>
          <a:prstGeom prst="roundRect">
            <a:avLst>
              <a:gd fmla="val 50000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60"/>
              <a:buFont typeface="Inter"/>
              <a:buNone/>
            </a:pPr>
            <a:r>
              <a:rPr b="0" i="0" lang="en-US" sz="216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38"/>
          <p:cNvSpPr/>
          <p:nvPr/>
        </p:nvSpPr>
        <p:spPr>
          <a:xfrm>
            <a:off x="788670" y="3691890"/>
            <a:ext cx="8069580" cy="3886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Qual função Mariana recomendou para tratar esse erro visual?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38"/>
          <p:cNvSpPr/>
          <p:nvPr/>
        </p:nvSpPr>
        <p:spPr>
          <a:xfrm>
            <a:off x="285750" y="4194810"/>
            <a:ext cx="388620" cy="388620"/>
          </a:xfrm>
          <a:prstGeom prst="roundRect">
            <a:avLst>
              <a:gd fmla="val 50000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60"/>
              <a:buFont typeface="Inter"/>
              <a:buNone/>
            </a:pPr>
            <a:r>
              <a:rPr b="0" i="0" lang="en-US" sz="216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38"/>
          <p:cNvSpPr/>
          <p:nvPr/>
        </p:nvSpPr>
        <p:spPr>
          <a:xfrm>
            <a:off x="788670" y="4194810"/>
            <a:ext cx="8069580" cy="3886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Qual função foi usada para consolidar o total financeiro das filiais?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38"/>
          <p:cNvSpPr/>
          <p:nvPr/>
        </p:nvSpPr>
        <p:spPr>
          <a:xfrm>
            <a:off x="285750" y="1291590"/>
            <a:ext cx="8572500" cy="857250"/>
          </a:xfrm>
          <a:prstGeom prst="roundRect">
            <a:avLst>
              <a:gd fmla="val 16667" name="adj"/>
            </a:avLst>
          </a:prstGeom>
          <a:solidFill>
            <a:srgbClr val="FFF4F1"/>
          </a:solidFill>
          <a:ln cap="flat" cmpd="sng" w="762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2/releases/77481695/backend/storage/app/render-specs/49332a99-f4bd-4c4a-91bd-5bdf703c197f/audio_icon.png" id="486" name="Google Shape;486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0070" y="1594485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38"/>
          <p:cNvSpPr/>
          <p:nvPr/>
        </p:nvSpPr>
        <p:spPr>
          <a:xfrm>
            <a:off x="902970" y="1291590"/>
            <a:ext cx="532638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Karla"/>
              <a:buNone/>
            </a:pPr>
            <a:r>
              <a:rPr b="0" i="1" lang="en-US" sz="1800" u="none" cap="none" strike="noStrike">
                <a:solidFill>
                  <a:srgbClr val="000000"/>
                </a:solidFill>
                <a:latin typeface="Karla"/>
                <a:ea typeface="Karla"/>
                <a:cs typeface="Karla"/>
                <a:sym typeface="Karla"/>
              </a:rPr>
              <a:t>Auditoria do Relatório de Vendas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38"/>
          <p:cNvSpPr/>
          <p:nvPr/>
        </p:nvSpPr>
        <p:spPr>
          <a:xfrm>
            <a:off x="6412230" y="1520190"/>
            <a:ext cx="2171700" cy="400050"/>
          </a:xfrm>
          <a:prstGeom prst="roundRect">
            <a:avLst>
              <a:gd fmla="val 16667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▶ Reproduzir áudio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38">
            <a:hlinkClick r:id="rId5"/>
          </p:cNvPr>
          <p:cNvSpPr/>
          <p:nvPr/>
        </p:nvSpPr>
        <p:spPr>
          <a:xfrm>
            <a:off x="6412230" y="1520190"/>
            <a:ext cx="2171700" cy="400050"/>
          </a:xfrm>
          <a:prstGeom prst="roundRect">
            <a:avLst>
              <a:gd fmla="val 16667" name="adj"/>
            </a:avLst>
          </a:prstGeom>
          <a:solidFill>
            <a:srgbClr val="2C6E49">
              <a:alpha val="0"/>
            </a:srgbClr>
          </a:solidFill>
          <a:ln cap="flat" cmpd="sng" w="12700">
            <a:solidFill>
              <a:srgbClr val="2C6E4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49332a99-f4bd-4c4a-91bd-5bdf703c197f/img_67db2e6a5fb9230f9de86baa7e51a1c5.png" id="495" name="Google Shape;49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39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Áudio: Reunião de Fechamento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39"/>
          <p:cNvSpPr/>
          <p:nvPr/>
        </p:nvSpPr>
        <p:spPr>
          <a:xfrm>
            <a:off x="285750" y="742950"/>
            <a:ext cx="85725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40"/>
              <a:buFont typeface="Inter"/>
              <a:buNone/>
            </a:pPr>
            <a:r>
              <a:rPr b="0" i="0" lang="en-US" sz="144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Verifica as tuas respostas abaixo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39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Font typeface="Inter"/>
              <a:buNone/>
            </a:pPr>
            <a:r>
              <a:rPr b="0" i="0" lang="en-US" sz="36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39"/>
          <p:cNvSpPr/>
          <p:nvPr/>
        </p:nvSpPr>
        <p:spPr>
          <a:xfrm>
            <a:off x="285750" y="2686050"/>
            <a:ext cx="388620" cy="388620"/>
          </a:xfrm>
          <a:prstGeom prst="roundRect">
            <a:avLst>
              <a:gd fmla="val 50000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60"/>
              <a:buFont typeface="Inter"/>
              <a:buNone/>
            </a:pPr>
            <a:r>
              <a:rPr b="0" i="0" lang="en-US" sz="216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39"/>
          <p:cNvSpPr/>
          <p:nvPr/>
        </p:nvSpPr>
        <p:spPr>
          <a:xfrm>
            <a:off x="788670" y="2686050"/>
            <a:ext cx="8069580" cy="3886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O erro #N/D na coluna de comissões de novos vendedores.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39"/>
          <p:cNvSpPr/>
          <p:nvPr/>
        </p:nvSpPr>
        <p:spPr>
          <a:xfrm>
            <a:off x="285750" y="3188970"/>
            <a:ext cx="388620" cy="388620"/>
          </a:xfrm>
          <a:prstGeom prst="roundRect">
            <a:avLst>
              <a:gd fmla="val 50000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60"/>
              <a:buFont typeface="Inter"/>
              <a:buNone/>
            </a:pPr>
            <a:r>
              <a:rPr b="0" i="0" lang="en-US" sz="216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39"/>
          <p:cNvSpPr/>
          <p:nvPr/>
        </p:nvSpPr>
        <p:spPr>
          <a:xfrm>
            <a:off x="788670" y="3188970"/>
            <a:ext cx="8069580" cy="3886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Porque alguns códigos de colaboradores novos ainda não estavam cadastrados na tabela de consulta.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39"/>
          <p:cNvSpPr/>
          <p:nvPr/>
        </p:nvSpPr>
        <p:spPr>
          <a:xfrm>
            <a:off x="285750" y="3691890"/>
            <a:ext cx="388620" cy="388620"/>
          </a:xfrm>
          <a:prstGeom prst="roundRect">
            <a:avLst>
              <a:gd fmla="val 50000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60"/>
              <a:buFont typeface="Inter"/>
              <a:buNone/>
            </a:pPr>
            <a:r>
              <a:rPr b="0" i="0" lang="en-US" sz="216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39"/>
          <p:cNvSpPr/>
          <p:nvPr/>
        </p:nvSpPr>
        <p:spPr>
          <a:xfrm>
            <a:off x="788670" y="3691890"/>
            <a:ext cx="8069580" cy="3886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 função SEERRO envolvendo a busca original.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39"/>
          <p:cNvSpPr/>
          <p:nvPr/>
        </p:nvSpPr>
        <p:spPr>
          <a:xfrm>
            <a:off x="285750" y="4194810"/>
            <a:ext cx="388620" cy="388620"/>
          </a:xfrm>
          <a:prstGeom prst="roundRect">
            <a:avLst>
              <a:gd fmla="val 50000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60"/>
              <a:buFont typeface="Inter"/>
              <a:buNone/>
            </a:pPr>
            <a:r>
              <a:rPr b="0" i="0" lang="en-US" sz="216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39"/>
          <p:cNvSpPr/>
          <p:nvPr/>
        </p:nvSpPr>
        <p:spPr>
          <a:xfrm>
            <a:off x="788670" y="4194810"/>
            <a:ext cx="8069580" cy="3886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 função SOMASE vinculada à coluna da região.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39"/>
          <p:cNvSpPr/>
          <p:nvPr/>
        </p:nvSpPr>
        <p:spPr>
          <a:xfrm>
            <a:off x="285750" y="1291590"/>
            <a:ext cx="8572500" cy="857250"/>
          </a:xfrm>
          <a:prstGeom prst="roundRect">
            <a:avLst>
              <a:gd fmla="val 16667" name="adj"/>
            </a:avLst>
          </a:prstGeom>
          <a:solidFill>
            <a:srgbClr val="FFF4F1"/>
          </a:solidFill>
          <a:ln cap="flat" cmpd="sng" w="762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2/releases/77481695/backend/storage/app/render-specs/49332a99-f4bd-4c4a-91bd-5bdf703c197f/audio_icon.png" id="508" name="Google Shape;508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0070" y="1594485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39"/>
          <p:cNvSpPr/>
          <p:nvPr/>
        </p:nvSpPr>
        <p:spPr>
          <a:xfrm>
            <a:off x="902970" y="1291590"/>
            <a:ext cx="532638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Karla"/>
              <a:buNone/>
            </a:pPr>
            <a:r>
              <a:rPr b="0" i="1" lang="en-US" sz="1800" u="none" cap="none" strike="noStrike">
                <a:solidFill>
                  <a:srgbClr val="000000"/>
                </a:solidFill>
                <a:latin typeface="Karla"/>
                <a:ea typeface="Karla"/>
                <a:cs typeface="Karla"/>
                <a:sym typeface="Karla"/>
              </a:rPr>
              <a:t>Auditoria do Relatório de Vendas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39"/>
          <p:cNvSpPr/>
          <p:nvPr/>
        </p:nvSpPr>
        <p:spPr>
          <a:xfrm>
            <a:off x="6412230" y="1520190"/>
            <a:ext cx="2171700" cy="400050"/>
          </a:xfrm>
          <a:prstGeom prst="roundRect">
            <a:avLst>
              <a:gd fmla="val 16667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▶ Reproduzir áudio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39">
            <a:hlinkClick r:id="rId5"/>
          </p:cNvPr>
          <p:cNvSpPr/>
          <p:nvPr/>
        </p:nvSpPr>
        <p:spPr>
          <a:xfrm>
            <a:off x="6412230" y="1520190"/>
            <a:ext cx="2171700" cy="400050"/>
          </a:xfrm>
          <a:prstGeom prst="roundRect">
            <a:avLst>
              <a:gd fmla="val 16667" name="adj"/>
            </a:avLst>
          </a:prstGeom>
          <a:solidFill>
            <a:srgbClr val="2C6E49">
              <a:alpha val="0"/>
            </a:srgbClr>
          </a:solidFill>
          <a:ln cap="flat" cmpd="sng" w="12700">
            <a:solidFill>
              <a:srgbClr val="2C6E4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49332a99-f4bd-4c4a-91bd-5bdf703c197f/img_67db2e6a5fb9230f9de86baa7e51a1c5.png" id="517" name="Google Shape;517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40"/>
          <p:cNvSpPr/>
          <p:nvPr/>
        </p:nvSpPr>
        <p:spPr>
          <a:xfrm>
            <a:off x="285750" y="41148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Vocabulário de Funções Aplicadas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40"/>
          <p:cNvSpPr/>
          <p:nvPr/>
        </p:nvSpPr>
        <p:spPr>
          <a:xfrm>
            <a:off x="285750" y="1028700"/>
            <a:ext cx="419481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PROCV e PROCH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Buscas verticais e horizontais em matrizes estáticas.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Exigem chave na coluna/linha 1.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40"/>
          <p:cNvSpPr/>
          <p:nvPr/>
        </p:nvSpPr>
        <p:spPr>
          <a:xfrm>
            <a:off x="285750" y="2514600"/>
            <a:ext cx="419481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ÍNDICE + CORRESP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Combinação flexível de coordenadas.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Permite buscas bidirecionais livres de posição.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40"/>
          <p:cNvSpPr/>
          <p:nvPr/>
        </p:nvSpPr>
        <p:spPr>
          <a:xfrm>
            <a:off x="4652010" y="1028700"/>
            <a:ext cx="419481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CONT.SE e SOMASE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Agregações com base em critérios definidos.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Quantificam frequências e totalizam finanças.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40"/>
          <p:cNvSpPr/>
          <p:nvPr/>
        </p:nvSpPr>
        <p:spPr>
          <a:xfrm>
            <a:off x="4652010" y="2754630"/>
            <a:ext cx="419481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SEERRO e Auditoria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Blindagem técnica e validação de precedentes.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Garantem segurança e relatórios profissionais.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49332a99-f4bd-4c4a-91bd-5bdf703c197f/img_67db2e6a5fb9230f9de86baa7e51a1c5.png" id="528" name="Google Shape;52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4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Associação de Conceitos e Fórmulas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41"/>
          <p:cNvSpPr/>
          <p:nvPr/>
        </p:nvSpPr>
        <p:spPr>
          <a:xfrm>
            <a:off x="285750" y="742950"/>
            <a:ext cx="85725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40"/>
              <a:buFont typeface="Inter"/>
              <a:buNone/>
            </a:pPr>
            <a:r>
              <a:rPr b="0" i="0" lang="en-US" sz="144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Relacione as palavras com as definições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41"/>
          <p:cNvSpPr/>
          <p:nvPr/>
        </p:nvSpPr>
        <p:spPr>
          <a:xfrm>
            <a:off x="285750" y="13144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SOMASE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41"/>
          <p:cNvSpPr/>
          <p:nvPr/>
        </p:nvSpPr>
        <p:spPr>
          <a:xfrm>
            <a:off x="285750" y="22288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SEERRO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41"/>
          <p:cNvSpPr/>
          <p:nvPr/>
        </p:nvSpPr>
        <p:spPr>
          <a:xfrm>
            <a:off x="285750" y="31432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PROCV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41"/>
          <p:cNvSpPr/>
          <p:nvPr/>
        </p:nvSpPr>
        <p:spPr>
          <a:xfrm>
            <a:off x="285750" y="40576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ÍNDICE + CORRESP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41"/>
          <p:cNvSpPr/>
          <p:nvPr/>
        </p:nvSpPr>
        <p:spPr>
          <a:xfrm>
            <a:off x="3829050" y="131445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Totaliza numericamente células que atendem a um critério específico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41"/>
          <p:cNvSpPr/>
          <p:nvPr/>
        </p:nvSpPr>
        <p:spPr>
          <a:xfrm>
            <a:off x="3829050" y="222885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Combinação flexível que busca em qualquer direção matricial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41"/>
          <p:cNvSpPr/>
          <p:nvPr/>
        </p:nvSpPr>
        <p:spPr>
          <a:xfrm>
            <a:off x="3829050" y="314325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Intercepta falhas de cálculo e exibe retorno personalizado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41"/>
          <p:cNvSpPr/>
          <p:nvPr/>
        </p:nvSpPr>
        <p:spPr>
          <a:xfrm>
            <a:off x="3829050" y="405765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Localiza valores verticalmente a partir da primeira coluna à esquerda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49332a99-f4bd-4c4a-91bd-5bdf703c197f/img_67db2e6a5fb9230f9de86baa7e51a1c5.png" id="544" name="Google Shape;544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4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Associação de Conceitos e Fórmulas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42"/>
          <p:cNvSpPr/>
          <p:nvPr/>
        </p:nvSpPr>
        <p:spPr>
          <a:xfrm>
            <a:off x="285750" y="742950"/>
            <a:ext cx="85725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40"/>
              <a:buFont typeface="Inter"/>
              <a:buNone/>
            </a:pPr>
            <a:r>
              <a:rPr b="0" i="0" lang="en-US" sz="144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Relacione as palavras com as definições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42"/>
          <p:cNvSpPr/>
          <p:nvPr/>
        </p:nvSpPr>
        <p:spPr>
          <a:xfrm>
            <a:off x="285750" y="13144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40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SOMASE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42"/>
          <p:cNvSpPr/>
          <p:nvPr/>
        </p:nvSpPr>
        <p:spPr>
          <a:xfrm>
            <a:off x="285750" y="22288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D903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SEERRO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42"/>
          <p:cNvSpPr/>
          <p:nvPr/>
        </p:nvSpPr>
        <p:spPr>
          <a:xfrm>
            <a:off x="285750" y="31432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D68C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PROCV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42"/>
          <p:cNvSpPr/>
          <p:nvPr/>
        </p:nvSpPr>
        <p:spPr>
          <a:xfrm>
            <a:off x="285750" y="40576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4579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ÍNDICE + CORRESP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42"/>
          <p:cNvSpPr/>
          <p:nvPr/>
        </p:nvSpPr>
        <p:spPr>
          <a:xfrm>
            <a:off x="3829050" y="131445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Totaliza numericamente células que atendem a um critério específico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42"/>
          <p:cNvSpPr/>
          <p:nvPr/>
        </p:nvSpPr>
        <p:spPr>
          <a:xfrm>
            <a:off x="3829050" y="222885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Combinação flexível que busca em qualquer direção matricial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42"/>
          <p:cNvSpPr/>
          <p:nvPr/>
        </p:nvSpPr>
        <p:spPr>
          <a:xfrm>
            <a:off x="3829050" y="314325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Intercepta falhas de cálculo e exibe retorno personalizado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42"/>
          <p:cNvSpPr/>
          <p:nvPr/>
        </p:nvSpPr>
        <p:spPr>
          <a:xfrm>
            <a:off x="3829050" y="405765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Localiza valores verticalmente a partir da primeira coluna à esquerda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42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Font typeface="Inter"/>
              <a:buNone/>
            </a:pPr>
            <a:r>
              <a:rPr b="0" i="0" lang="en-US" sz="36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6" name="Google Shape;556;p42"/>
          <p:cNvCxnSpPr/>
          <p:nvPr/>
        </p:nvCxnSpPr>
        <p:spPr>
          <a:xfrm flipH="1" rot="10800000">
            <a:off x="2571750" y="1600200"/>
            <a:ext cx="994410" cy="22860"/>
          </a:xfrm>
          <a:prstGeom prst="straightConnector1">
            <a:avLst/>
          </a:prstGeom>
          <a:noFill/>
          <a:ln cap="flat" cmpd="sng" w="28575">
            <a:solidFill>
              <a:srgbClr val="409E9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7" name="Google Shape;557;p42"/>
          <p:cNvCxnSpPr/>
          <p:nvPr/>
        </p:nvCxnSpPr>
        <p:spPr>
          <a:xfrm>
            <a:off x="2571750" y="2537460"/>
            <a:ext cx="994410" cy="891540"/>
          </a:xfrm>
          <a:prstGeom prst="straightConnector1">
            <a:avLst/>
          </a:prstGeom>
          <a:noFill/>
          <a:ln cap="flat" cmpd="sng" w="28575">
            <a:solidFill>
              <a:srgbClr val="D9036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8" name="Google Shape;558;p42"/>
          <p:cNvCxnSpPr/>
          <p:nvPr/>
        </p:nvCxnSpPr>
        <p:spPr>
          <a:xfrm>
            <a:off x="2571750" y="3451860"/>
            <a:ext cx="994410" cy="891540"/>
          </a:xfrm>
          <a:prstGeom prst="straightConnector1">
            <a:avLst/>
          </a:prstGeom>
          <a:noFill/>
          <a:ln cap="flat" cmpd="sng" w="28575">
            <a:solidFill>
              <a:srgbClr val="D68C4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9" name="Google Shape;559;p42"/>
          <p:cNvCxnSpPr/>
          <p:nvPr/>
        </p:nvCxnSpPr>
        <p:spPr>
          <a:xfrm flipH="1" rot="10800000">
            <a:off x="2571750" y="2514600"/>
            <a:ext cx="994410" cy="1851660"/>
          </a:xfrm>
          <a:prstGeom prst="straightConnector1">
            <a:avLst/>
          </a:prstGeom>
          <a:noFill/>
          <a:ln cap="flat" cmpd="sng" w="28575">
            <a:solidFill>
              <a:srgbClr val="4579A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0" name="Google Shape;560;p42"/>
          <p:cNvSpPr/>
          <p:nvPr/>
        </p:nvSpPr>
        <p:spPr>
          <a:xfrm>
            <a:off x="3394710" y="1428750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409E9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Inter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42"/>
          <p:cNvSpPr/>
          <p:nvPr/>
        </p:nvSpPr>
        <p:spPr>
          <a:xfrm>
            <a:off x="3394710" y="3257550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D90368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Inter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42"/>
          <p:cNvSpPr/>
          <p:nvPr/>
        </p:nvSpPr>
        <p:spPr>
          <a:xfrm>
            <a:off x="3394710" y="4171950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D68C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Inter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42"/>
          <p:cNvSpPr/>
          <p:nvPr/>
        </p:nvSpPr>
        <p:spPr>
          <a:xfrm>
            <a:off x="3394710" y="2343150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4579A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Inter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49332a99-f4bd-4c4a-91bd-5bdf703c197f/img_67db2e6a5fb9230f9de86baa7e51a1c5.png" id="569" name="Google Shape;569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49332a99-f4bd-4c4a-91bd-5bdf703c197f/img_b8e2e30cbb6ba10a8acb00af0ff4be05.png" id="570" name="Google Shape;570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oundRect">
            <a:avLst>
              <a:gd fmla="val 2667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49332a99-f4bd-4c4a-91bd-5bdf703c197f/img_1d033982ad48071329853742ae51392c.png" id="571" name="Google Shape;571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0120" y="1908810"/>
            <a:ext cx="2697480" cy="2331720"/>
          </a:xfrm>
          <a:prstGeom prst="roundRect">
            <a:avLst>
              <a:gd fmla="val 5882" name="adj"/>
            </a:avLst>
          </a:prstGeom>
          <a:noFill/>
          <a:ln>
            <a:noFill/>
          </a:ln>
        </p:spPr>
      </p:pic>
      <p:sp>
        <p:nvSpPr>
          <p:cNvPr id="572" name="Google Shape;572;p43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Desafio Prático de Gestão de Estoque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43"/>
          <p:cNvSpPr/>
          <p:nvPr/>
        </p:nvSpPr>
        <p:spPr>
          <a:xfrm>
            <a:off x="3806190" y="1440180"/>
            <a:ext cx="4194810" cy="31203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Calibri"/>
              <a:buAutoNum type="arabicPeriod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Use ÍNDICE e CORRESP na 'Descrição' para buscar nomes no 'Catálogo'.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Calibri"/>
              <a:buAutoNum type="arabicPeriod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Envolva com SEERRO para exibir 'Código Não Localizado' em falhas.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Calibri"/>
              <a:buAutoNum type="arabicPeriod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Resumo: use SOMASE para 'Avaria' e CONT.SE para lotes rejeitados.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Calibri"/>
              <a:buAutoNum type="arabicPeriod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Use 'Rastrear Precedentes' para validar os setores.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49332a99-f4bd-4c4a-91bd-5bdf703c197f/img_67db2e6a5fb9230f9de86baa7e51a1c5.png" id="579" name="Google Shape;579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49332a99-f4bd-4c4a-91bd-5bdf703c197f/img_599daab21a9ea7c3445ac4dcdcc7d85d.png" id="580" name="Google Shape;580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3486150" cy="5143500"/>
          </a:xfrm>
          <a:prstGeom prst="roundRect">
            <a:avLst>
              <a:gd fmla="val 3934" name="adj"/>
            </a:avLst>
          </a:prstGeom>
          <a:noFill/>
          <a:ln>
            <a:noFill/>
          </a:ln>
        </p:spPr>
      </p:pic>
      <p:sp>
        <p:nvSpPr>
          <p:cNvPr id="581" name="Google Shape;581;p44"/>
          <p:cNvSpPr/>
          <p:nvPr/>
        </p:nvSpPr>
        <p:spPr>
          <a:xfrm>
            <a:off x="3714750" y="228600"/>
            <a:ext cx="5143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Síntese e Próximos Passos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44"/>
          <p:cNvSpPr/>
          <p:nvPr/>
        </p:nvSpPr>
        <p:spPr>
          <a:xfrm>
            <a:off x="3714750" y="845820"/>
            <a:ext cx="5143500" cy="2907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O Próximo Nível: Tabelas Dinâmicas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Nesta aula, você aprendeu a integrar tabelas, automatizar buscas complexas e somar indicadores sob regras rígidas de negócio.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Na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Aula 6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, levaremos esses dados consolidados para as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Tabelas Dinâmicas (Pivot Tables)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e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Gráficos Dinâmicos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, construindo análises multidimensionais sem precisar digitar uma única fórmula.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44"/>
          <p:cNvSpPr/>
          <p:nvPr/>
        </p:nvSpPr>
        <p:spPr>
          <a:xfrm>
            <a:off x="3714750" y="3566160"/>
            <a:ext cx="5143500" cy="1101852"/>
          </a:xfrm>
          <a:prstGeom prst="roundRect">
            <a:avLst>
              <a:gd fmla="val 8299" name="adj"/>
            </a:avLst>
          </a:prstGeom>
          <a:solidFill>
            <a:srgbClr val="E6F1FB"/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44"/>
          <p:cNvSpPr/>
          <p:nvPr/>
        </p:nvSpPr>
        <p:spPr>
          <a:xfrm>
            <a:off x="3829050" y="371475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44"/>
          <p:cNvSpPr/>
          <p:nvPr/>
        </p:nvSpPr>
        <p:spPr>
          <a:xfrm>
            <a:off x="4194810" y="3680460"/>
            <a:ext cx="4549140" cy="873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0B2F50"/>
                </a:solidFill>
                <a:latin typeface="Inter"/>
                <a:ea typeface="Inter"/>
                <a:cs typeface="Inter"/>
                <a:sym typeface="Inter"/>
              </a:rPr>
              <a:t>Lembre-se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B2F50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B2F50"/>
                </a:solidFill>
                <a:latin typeface="Inter"/>
                <a:ea typeface="Inter"/>
                <a:cs typeface="Inter"/>
                <a:sym typeface="Inter"/>
              </a:rPr>
              <a:t>Bases limpas e auditadas geram relatórios executivos confiáveis e seguros.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