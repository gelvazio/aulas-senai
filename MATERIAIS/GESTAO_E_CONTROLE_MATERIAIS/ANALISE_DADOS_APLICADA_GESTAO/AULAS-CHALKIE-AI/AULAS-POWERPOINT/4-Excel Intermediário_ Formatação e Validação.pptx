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5143500" cx="9144000"/>
  <p:notesSz cx="5143500" cy="9144000"/>
  <p:embeddedFontLst>
    <p:embeddedFont>
      <p:font typeface="Inter"/>
      <p:regular r:id="rId48"/>
      <p:bold r:id="rId49"/>
      <p:italic r:id="rId50"/>
      <p:boldItalic r:id="rId51"/>
    </p:embeddedFont>
    <p:embeddedFont>
      <p:font typeface="Inter ExtraBold"/>
      <p:bold r:id="rId52"/>
      <p:boldItalic r:id="rId53"/>
    </p:embeddedFont>
    <p:embeddedFont>
      <p:font typeface="Karla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Inter-regular.fntdata"/><Relationship Id="rId47" Type="http://schemas.openxmlformats.org/officeDocument/2006/relationships/slide" Target="slides/slide43.xml"/><Relationship Id="rId49" Type="http://schemas.openxmlformats.org/officeDocument/2006/relationships/font" Target="fonts/Inter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Inter-boldItalic.fntdata"/><Relationship Id="rId50" Type="http://schemas.openxmlformats.org/officeDocument/2006/relationships/font" Target="fonts/Inter-italic.fntdata"/><Relationship Id="rId53" Type="http://schemas.openxmlformats.org/officeDocument/2006/relationships/font" Target="fonts/InterExtraBold-boldItalic.fntdata"/><Relationship Id="rId52" Type="http://schemas.openxmlformats.org/officeDocument/2006/relationships/font" Target="fonts/InterExtraBold-bold.fntdata"/><Relationship Id="rId11" Type="http://schemas.openxmlformats.org/officeDocument/2006/relationships/slide" Target="slides/slide7.xml"/><Relationship Id="rId55" Type="http://schemas.openxmlformats.org/officeDocument/2006/relationships/font" Target="fonts/Karla-bold.fntdata"/><Relationship Id="rId10" Type="http://schemas.openxmlformats.org/officeDocument/2006/relationships/slide" Target="slides/slide6.xml"/><Relationship Id="rId54" Type="http://schemas.openxmlformats.org/officeDocument/2006/relationships/font" Target="fonts/Karla-regular.fntdata"/><Relationship Id="rId13" Type="http://schemas.openxmlformats.org/officeDocument/2006/relationships/slide" Target="slides/slide9.xml"/><Relationship Id="rId57" Type="http://schemas.openxmlformats.org/officeDocument/2006/relationships/font" Target="fonts/Karla-boldItalic.fntdata"/><Relationship Id="rId12" Type="http://schemas.openxmlformats.org/officeDocument/2006/relationships/slide" Target="slides/slide8.xml"/><Relationship Id="rId56" Type="http://schemas.openxmlformats.org/officeDocument/2006/relationships/font" Target="fonts/Karla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3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7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81.png"/><Relationship Id="rId5" Type="http://schemas.openxmlformats.org/officeDocument/2006/relationships/image" Target="../media/image8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7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4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37.png"/><Relationship Id="rId5" Type="http://schemas.openxmlformats.org/officeDocument/2006/relationships/image" Target="../media/image3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4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7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4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4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hyperlink" Target="http://www.youtube.com/watch?v=MY3DQxPlpxs" TargetMode="External"/><Relationship Id="rId5" Type="http://schemas.openxmlformats.org/officeDocument/2006/relationships/image" Target="../media/image76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5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83.png"/><Relationship Id="rId5" Type="http://schemas.openxmlformats.org/officeDocument/2006/relationships/image" Target="../media/image6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6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image" Target="../media/image6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image" Target="../media/image54.png"/><Relationship Id="rId5" Type="http://schemas.openxmlformats.org/officeDocument/2006/relationships/image" Target="../media/image8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Relationship Id="rId4" Type="http://schemas.openxmlformats.org/officeDocument/2006/relationships/image" Target="../media/image58.png"/><Relationship Id="rId5" Type="http://schemas.openxmlformats.org/officeDocument/2006/relationships/hyperlink" Target="https://app.chalkie.ai/player/a2b70bdf-f0a1-424a-a3ad-ccdfffe37382/2ef31c9e-9d73-4cbf-b581-0b3dd4f2f841?source=exported_presentation&amp;exportFormat=slides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Relationship Id="rId4" Type="http://schemas.openxmlformats.org/officeDocument/2006/relationships/image" Target="../media/image58.png"/><Relationship Id="rId5" Type="http://schemas.openxmlformats.org/officeDocument/2006/relationships/hyperlink" Target="https://app.chalkie.ai/player/a2b70bdf-f0a1-424a-a3ad-ccdfffe37382/2ef31c9e-9d73-4cbf-b581-0b3dd4f2f841?source=exported_presentation&amp;exportFormat=slides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Relationship Id="rId4" Type="http://schemas.openxmlformats.org/officeDocument/2006/relationships/image" Target="../media/image69.png"/><Relationship Id="rId5" Type="http://schemas.openxmlformats.org/officeDocument/2006/relationships/image" Target="../media/image7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Relationship Id="rId4" Type="http://schemas.openxmlformats.org/officeDocument/2006/relationships/image" Target="../media/image7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Relationship Id="rId4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32a7b7d5e770b2848cb644c165c66cf3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260" y="742950"/>
            <a:ext cx="3657600" cy="3657600"/>
          </a:xfrm>
          <a:prstGeom prst="roundRect">
            <a:avLst>
              <a:gd fmla="val 3750" name="adj"/>
            </a:avLst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4914900" y="1165860"/>
            <a:ext cx="382905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3240"/>
              <a:buFont typeface="Inter ExtraBold"/>
              <a:buNone/>
            </a:pPr>
            <a:r>
              <a:rPr b="0" i="0" lang="en-US" sz="324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Excel Intermediário: Formatação e Validação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914900" y="2823210"/>
            <a:ext cx="382905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Técnicas essenciais de apresentação visual, integridade e segurança de planilhas.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25" name="Google Shape;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917a0cc56b1c5413720313384ca0084d.png" id="26" name="Google Shape;2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7" name="Google Shape;27;p4"/>
          <p:cNvSpPr/>
          <p:nvPr/>
        </p:nvSpPr>
        <p:spPr>
          <a:xfrm>
            <a:off x="285750" y="146304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 Poder da Primeira Impressão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285750" y="2514600"/>
            <a:ext cx="5143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Você confiaria as finanças de uma grande empresa a uma planilha confusa, cheia de erros de digitação e sem alinhamento?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34" name="Google Shape;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b93aa5d1e714736a691ed1d256d103d3.png" id="35" name="Google Shape;3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Objetivos de Aprendizagem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285750" y="788670"/>
            <a:ext cx="457200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que dominaremos hoje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Nesta aula, desenvolveremos competências essenciais para construir relatórios gerenciais funcionais, elegantes e seguros: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Formatar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dados com moedas, percentuais e regras visuais condicionais.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Controlar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entradas utilizando validação de dados e listas suspensas.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Proteger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fórmulas críticas e filtrar registros para tomada de decisão.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43" name="Google Shape;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75a783b831b69c89b618c40b77fe27cd.png" id="44" name="Google Shape;4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da3acfc5d26087773709a8e6dae4ecf5.png" id="45" name="Google Shape;4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7e19aceb83f87fd21eedac74425f8c33.png" id="46" name="Google Shape;4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b189a1a630f71a12d81fe4b3bd1c7566.png" id="47" name="Google Shape;4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Vocabulário Essencial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285750" y="341757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Validação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Regras que restringem os valores que um usuário pode inserir.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2491740" y="273177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Formatação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Definição visual de tipos numéricos, bordas, fontes e cores.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4686300" y="341757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Filtro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Ferramenta que oculta temporariamente dados fora de critérios específicos.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6892290" y="273177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Proteção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Bloqueio de células contra edições não autorizadas com ou sem senha.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58" name="Google Shape;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d5d745f1ef46368ff0047349624166e3.png" id="59" name="Google Shape;5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60" name="Google Shape;60;p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Revisão: Fórmulas e Função SE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4286250" y="857250"/>
            <a:ext cx="141732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RECAPITULAÇÃO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4286250" y="1165860"/>
            <a:ext cx="4572000" cy="2555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que vimos na aula anterior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Na aula passada, exploramos funções essenciais como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SOMA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MÉDIA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, além da lógica condicional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função  permite que a planilha tome decisões automáticas, como categorizar lucros ou sinalizar estoque baixo.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4286250" y="338328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7"/>
          <p:cNvSpPr/>
          <p:nvPr/>
        </p:nvSpPr>
        <p:spPr>
          <a:xfrm>
            <a:off x="4400550" y="35318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4766310" y="349758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As referências absolutas com cifrão ($A$1) fixam células ao arrastar fórmulas.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71" name="Google Shape;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74db676abbf9321227487417a15623c8.png" id="72" name="Google Shape;7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73" name="Google Shape;73;p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Quiz Rápido: Fórmulas e Referências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fórmula calcula o valor médio do intervalo de células B2 até B10?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caractere é utilizado para transformar uma referência relativa em absoluta (ex: fixar $C$1)?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que a fórmula =SE(D2&gt;=7; "Aprovado"; "Recuperação") exibe se a célula D2 contiver o número 6?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82" name="Google Shape;8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Quiz Rápido: Fórmulas e Referências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=MÉDIA(B2:B10)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caractere cifrão ($)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285750" y="3429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Recuperação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1d539bbe1f47b69a214eef859a9d207f.png"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95" name="Google Shape;95;p1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Por Que a Formatação Importa?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285750" y="788670"/>
            <a:ext cx="4572000" cy="2107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Um número isolado como  gera dúvidas imediatas em um relatório executivo. São unidades, quilos ou reais?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formatação profissional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transforma dados brutos em informação legível, evitando interpretações errôneas e conferindo credibilidade aos relatórios gerenciais.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285750" y="3131820"/>
            <a:ext cx="4572000" cy="1595628"/>
          </a:xfrm>
          <a:prstGeom prst="roundRect">
            <a:avLst>
              <a:gd fmla="val 5731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0"/>
          <p:cNvSpPr/>
          <p:nvPr/>
        </p:nvSpPr>
        <p:spPr>
          <a:xfrm>
            <a:off x="400050" y="32804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765810" y="3246120"/>
            <a:ext cx="3977640" cy="1367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Formatar altera apenas a exibição visual do dado, mantendo o valor numérico exato na memória para cálculos.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105" name="Google Shape;10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30be451e09953950f0e2731b8653c0d8.png" id="106" name="Google Shape;10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6ffeb8dc7541082f33c7684835f6cc59.png" id="107" name="Google Shape;10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08" name="Google Shape;108;p11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Tipos Numéricos: Moedas e Percentuais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285750" y="301752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Formato Contábil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Alinha o símbolo monetário (R$) à esquerda e as casas decimais perfeitamente à direita, facilitando a leitura vertical de balanços.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4652010" y="30175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Formato Porcentagem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Multiplica visualmente o valor decimal armazenado por 100 e adiciona o símbolo , exibindo  como 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116" name="Google Shape;11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bf2fd38881fc6d351a09f2968ad81b8c.png" id="117" name="Google Shape;11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18" name="Google Shape;118;p1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Casas Decimais e Formatos de Data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4286250" y="788670"/>
            <a:ext cx="45720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Precisão e Temporalidade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controle de decimais evita poluição visual: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Aumentar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essencial para cotações e precisão.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Diminuir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ideal para relatórios e resumos.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Data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converte números em 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4286250" y="342900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2"/>
          <p:cNvSpPr/>
          <p:nvPr/>
        </p:nvSpPr>
        <p:spPr>
          <a:xfrm>
            <a:off x="4400550" y="35775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4766310" y="354330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Inter"/>
                <a:ea typeface="Inter"/>
                <a:cs typeface="Inter"/>
                <a:sym typeface="Inter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460606"/>
                </a:solidFill>
                <a:latin typeface="Inter"/>
                <a:ea typeface="Inter"/>
                <a:cs typeface="Inter"/>
                <a:sym typeface="Inter"/>
              </a:rPr>
              <a:t>Ocultar decimais apenas arredonda a exibição; a planilha mantém os cálculos originais!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128" name="Google Shape;12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Verificação: Formatos Numéricos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 você digitar o número 0,25 em uma célula e aplicar a formatação de Porcentagem (com zero casas decimais), o que aparecerá na tela?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0%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25%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0,25%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250%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144" name="Google Shape;14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Verificação: Formatos Numéricos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 você digitar o número 0,25 em uma célula e aplicar a formatação de Porcentagem (com zero casas decimais), o que aparecerá na tela?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0%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25%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0,25%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250%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162" name="Google Shape;1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f53de5f3be5552ac0b02e85aafa6cddf.png" id="163" name="Google Shape;16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164" name="Google Shape;164;p15"/>
          <p:cNvSpPr/>
          <p:nvPr/>
        </p:nvSpPr>
        <p:spPr>
          <a:xfrm>
            <a:off x="285750" y="206883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Formatação Condicional em Destaque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285750" y="268605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formatação condicional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altera cores, fontes e preenchimentos automaticamente com base em critérios lógicos pré-estabelecidos.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285750" y="3486150"/>
            <a:ext cx="8572500" cy="1101852"/>
          </a:xfrm>
          <a:prstGeom prst="roundRect">
            <a:avLst>
              <a:gd fmla="val 8299" name="adj"/>
            </a:avLst>
          </a:prstGeom>
          <a:solidFill>
            <a:srgbClr val="E1F6EF"/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5"/>
          <p:cNvSpPr/>
          <p:nvPr/>
        </p:nvSpPr>
        <p:spPr>
          <a:xfrm>
            <a:off x="400050" y="36347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765810" y="3600450"/>
            <a:ext cx="79781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D3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4D3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Pintar automaticamente de vermelho todas as despesas acima do orçamento ou destacar em verde metas superadas.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174" name="Google Shape;1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626a7997aa1ca326346117a8541168fd.png" id="175" name="Google Shape;17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d7ee2208fadd272b65882516319ce76d.png" id="176" name="Google Shape;17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78867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77" name="Google Shape;177;p1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Escalas de Cores e Barras de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285750" y="298323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Barras de Dados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Inserem uma barra horizontal proporcional ao valor contido na própria célula, criando um minigráfico instantâneo.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4652010" y="298323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Escalas de Cor (Mapas de Calor)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Aplicam gradientes contínuos para identificar visualmente discrepâncias, pontos críticos e líderes de desempenho.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185" name="Google Shape;1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6fca25a1d3a7ac1019df7d9ed303bce1.png" id="186" name="Google Shape;18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87" name="Google Shape;187;p1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Regras Baseadas em Fórmulas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285750" y="788670"/>
            <a:ext cx="457200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Além das regras padrão, você pode usar fórmulas personalizadas para formatar uma linha inteira com base em uma única célula.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Por exemplo, aplicar  colore toda a linha do item sempre que a quantidade em estoque for crítica, agilizando compras.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285750" y="289179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400050" y="304038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765810" y="300609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Trave a coluna com o cifrão ($D2) para que a regra avalie a mesma coluna em todas as células da linha.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197" name="Google Shape;19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Avaliação: Formatação Condicional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 formatação condicional substitui definitivamente o valor numérico contido na célula.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🤔 </a:t>
            </a:r>
            <a:r>
              <a:rPr b="0" i="1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209" name="Google Shape;2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Avaliação: Formatação Condicional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 formatação condicional substitui definitivamente o valor numérico contido na célula.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457200" y="3657600"/>
            <a:ext cx="8229600" cy="1101852"/>
          </a:xfrm>
          <a:prstGeom prst="roundRect">
            <a:avLst>
              <a:gd fmla="val 829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937260" y="3771900"/>
            <a:ext cx="76352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1440"/>
              <a:buFont typeface="Inter ExtraBold"/>
              <a:buNone/>
            </a:pPr>
            <a:r>
              <a:rPr b="0" i="0" lang="en-US" sz="144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A ferramenta altera apenas a aparência visual, mantendo o número intacto para fórmulas.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225" name="Google Shape;2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dd4315e8743fee1111268eace3442b94.png" id="226" name="Google Shape;22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27" name="Google Shape;227;p2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Design e Padronização de Planilhas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285750" y="788670"/>
            <a:ext cx="45720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Diretrizes de Design Corporativo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Uma planilha limpa transmite profissionalismo: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Tipografia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use duas fontes limpas (ex: Calibri, Segoe UI).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Cores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adote paleta sóbria; evite saturação excessiva.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Bordas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use linhas finas para separar seções.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285750" y="368046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400050" y="382905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765810" y="379476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Alinhe textos à esquerda e números à direita para leitura rápida.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237" name="Google Shape;23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0fbb1d1d4f7c37052af94f74b420cd0d.png" id="238" name="Google Shape;23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d7c8d86b8ff259b9aeb36f2e7d5b5891.png" id="239" name="Google Shape;23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40" name="Google Shape;240;p21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Comparação: Design Amador vs Profissional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285750" y="301752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Layout Desorganizado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Múltiplas cores saturadas, textos centralizados sem critério, números desalinhados e poluição visual que dificulta a tomada de decisões.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4652010" y="301752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Layout Profissional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Hierarquia clara, cabeçalhos contrastantes, alinhamento técnico perfeito e cores suaves reservadas exclusivamente para indicadores-chave.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248" name="Google Shape;2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b6a60f2d212b2f392ab0f8fc36b77b1c.png" id="249" name="Google Shape;2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50" name="Google Shape;250;p2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Navegação: Congelamento de Painéis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4286250" y="788670"/>
            <a:ext cx="4572000" cy="2107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Em tabelas extensas com centenas de linhas, rolar a tela faz o cabeçalho desaparecer, tornando impossível identificar o conteúdo das colunas.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recurso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Congelar Painéis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fixa a linha superior ou colunas essenciais, mantendo os títulos sempre visíveis durante a navegação.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4286250" y="313182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EEEDFE"/>
          </a:solidFill>
          <a:ln cap="flat" cmpd="sng" w="11425">
            <a:solidFill>
              <a:srgbClr val="08044D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4400550" y="32804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🤯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4766310" y="324612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44D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044D"/>
                </a:solidFill>
                <a:latin typeface="Inter"/>
                <a:ea typeface="Inter"/>
                <a:cs typeface="Inter"/>
                <a:sym typeface="Inter"/>
              </a:rPr>
              <a:t>Curiosidade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044D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044D"/>
                </a:solidFill>
                <a:latin typeface="Inter"/>
                <a:ea typeface="Inter"/>
                <a:cs typeface="Inter"/>
                <a:sym typeface="Inter"/>
              </a:rPr>
              <a:t>No Excel, você encontra essa opção na guia Exibir &gt; Congelar Painéis.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c7bc39d4f0ee224dca1c93bb26a3b7d2.png" id="261" name="Google Shape;2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62" name="Google Shape;262;p23"/>
          <p:cNvSpPr/>
          <p:nvPr/>
        </p:nvSpPr>
        <p:spPr>
          <a:xfrm>
            <a:off x="285750" y="168021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 Desafio dos Dados Ruins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285750" y="2297430"/>
            <a:ext cx="5143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 um operador digita 'São Paulo', outro 'SP' e um terceiro 'sao paulo', seu filtro corporativo conseguirá consolidar as vendas?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269" name="Google Shape;26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b3a4c371f92e4a7fd4fc893b3d48595b.png" id="270" name="Google Shape;27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71" name="Google Shape;271;p2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Introdução à Validação de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4286250" y="857250"/>
            <a:ext cx="117729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INTEGRIDADE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4286250" y="1165860"/>
            <a:ext cx="4572000" cy="220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que é Validação de Dados?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Validação de Dados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cria regras para impedir entradas incorretas.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Podemos restringir entradas para números (ex: idade 14-100), datas ou comprimentos de texto.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4286250" y="314325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4400550" y="32918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4766310" y="325755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A melhor forma de limpar dados é impedir erros na fonte.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282" name="Google Shape;28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/>
          <p:nvPr/>
        </p:nvSpPr>
        <p:spPr>
          <a:xfrm>
            <a:off x="17145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5"/>
          <p:cNvSpPr/>
          <p:nvPr/>
        </p:nvSpPr>
        <p:spPr>
          <a:xfrm>
            <a:off x="237744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5"/>
          <p:cNvSpPr/>
          <p:nvPr/>
        </p:nvSpPr>
        <p:spPr>
          <a:xfrm>
            <a:off x="457200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5"/>
          <p:cNvSpPr/>
          <p:nvPr/>
        </p:nvSpPr>
        <p:spPr>
          <a:xfrm>
            <a:off x="6777990" y="90297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Passo a Passo: Criando Listas Suspensas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285750" y="1360170"/>
            <a:ext cx="197739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Selecione as células que receberão o menu suspenso.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2491740" y="1360170"/>
            <a:ext cx="197739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Acesse a guia Dados e clique em Validação de Dados.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4686300" y="1360170"/>
            <a:ext cx="197739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Em Permitir, escolha a opção Lista.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6892290" y="1360170"/>
            <a:ext cx="197739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Em Fonte, selecione o intervalo dos valores permitidos.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297" name="Google Shape;29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902878d81b8eab5488766cbc6dc63689.png" id="298" name="Google Shape;29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99" name="Google Shape;299;p2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Mensagens de Entrada e Alertas de Erro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285750" y="78867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validação oferece comunicação direta com quem preenche a planilha: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Mensagem de Entrada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dica flutuante que orienta antes da digitação.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Alerta de Parada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bloqueia totalmente a inserção incorreta.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Aviso ou Informação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 adverte sobre o valor atípico, mas permite prosseguir.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285750" y="355473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6"/>
          <p:cNvSpPr/>
          <p:nvPr/>
        </p:nvSpPr>
        <p:spPr>
          <a:xfrm>
            <a:off x="400050" y="370332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765810" y="366903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O alerta 'Parar' é o único que impede fisicamente a entrada de dados inválidos.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309" name="Google Shape;30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Ordem de Configuração de Validação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7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Ordene os passos para criar uma lista suspensa de departamentos em uma planilha: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7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Indicar o intervalo de origem dos departamentos ou digitar os itens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Alterar o critério de validação em Permitir para a opção Lista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7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Clicar no botão Validação de Dados na guia Dados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7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Selecionar o intervalo de células onde os usuários farão o cadastro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321" name="Google Shape;32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Ordem de Configuração de Validação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Ordene os passos para criar uma lista suspensa de departamentos em uma planilha: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Indicar o intervalo de origem dos departamentos ou digitar os itens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Alterar o critério de validação em Permitir para a opção Lista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Clicar no botão Validação de Dados na guia Dados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Selecionar o intervalo de células onde os usuários farão o cadastro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8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338" name="Google Shape;33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Vídeo: Validação de Dados na Prática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9"/>
          <p:cNvSpPr/>
          <p:nvPr/>
        </p:nvSpPr>
        <p:spPr>
          <a:xfrm>
            <a:off x="285750" y="78867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Use listas suspensas e alertas de erro.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1" name="Google Shape;341;p29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0180" y="1337310"/>
            <a:ext cx="6252210" cy="3520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347" name="Google Shape;34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40a3ffec9c7390ad285ad1431c1c1196.png" id="348" name="Google Shape;34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349" name="Google Shape;349;p30"/>
          <p:cNvSpPr/>
          <p:nvPr/>
        </p:nvSpPr>
        <p:spPr>
          <a:xfrm>
            <a:off x="3714750" y="17145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Segurança: Proteção de Células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0"/>
          <p:cNvSpPr/>
          <p:nvPr/>
        </p:nvSpPr>
        <p:spPr>
          <a:xfrm>
            <a:off x="3714750" y="1291590"/>
            <a:ext cx="117729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INTEGRIDADE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3714750" y="1600200"/>
            <a:ext cx="514350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Preservando Fórmulas Críticas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Modelagens podem ser perdidas por um clique que apaga fórmulas complexas. Por padrão, células nascem com a propriedade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Bloqueada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ativa, mas ela só funciona após proteger a planilha.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3714750" y="3509010"/>
            <a:ext cx="5143500" cy="1348740"/>
          </a:xfrm>
          <a:prstGeom prst="roundRect">
            <a:avLst>
              <a:gd fmla="val 6780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0"/>
          <p:cNvSpPr/>
          <p:nvPr/>
        </p:nvSpPr>
        <p:spPr>
          <a:xfrm>
            <a:off x="3829050" y="36576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0"/>
          <p:cNvSpPr/>
          <p:nvPr/>
        </p:nvSpPr>
        <p:spPr>
          <a:xfrm>
            <a:off x="4194810" y="3623310"/>
            <a:ext cx="45491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Inter"/>
                <a:ea typeface="Inter"/>
                <a:cs typeface="Inter"/>
                <a:sym typeface="Inter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460606"/>
                </a:solidFill>
                <a:latin typeface="Inter"/>
                <a:ea typeface="Inter"/>
                <a:cs typeface="Inter"/>
                <a:sym typeface="Inter"/>
              </a:rPr>
              <a:t>Proteja a planilha apenas após desbloquear as células de entrada, caso contrário, ninguém conseguirá inserir dados.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360" name="Google Shape;36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792ff12d104b8a832d07395f3f3b49d8.png" id="361" name="Google Shape;36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d249eb53998ff40e359e9ca23f27c6aa.png" id="362" name="Google Shape;36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63" name="Google Shape;363;p31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Fluxo de Trabalho: Como Proteger Fórmulas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1"/>
          <p:cNvSpPr/>
          <p:nvPr/>
        </p:nvSpPr>
        <p:spPr>
          <a:xfrm>
            <a:off x="285750" y="301752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 Desbloquear Entradas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Selecione apenas as células onde os usuários digitarão dados, abra Formatar Células &gt; Proteção e desmarque a opção 'Bloqueadas'.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1"/>
          <p:cNvSpPr/>
          <p:nvPr/>
        </p:nvSpPr>
        <p:spPr>
          <a:xfrm>
            <a:off x="4652010" y="301752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 Proteger a Planilha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Acesse a guia Revisão &gt; Proteger Planilha, defina uma senha e permita que usuários selecionem apenas células desbloqueadas.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371" name="Google Shape;37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c1852b918feb87514c14803c92e407b0.png" id="372" name="Google Shape;37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73" name="Google Shape;373;p3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Protegendo a Pasta de Trabalho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2"/>
          <p:cNvSpPr/>
          <p:nvPr/>
        </p:nvSpPr>
        <p:spPr>
          <a:xfrm>
            <a:off x="285750" y="788670"/>
            <a:ext cx="4572000" cy="2107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Proteger uma planilha individual impede alterações nas células. Já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Proteger a Pasta de Trabalho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bloqueia a estrutura geral do arquivo.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Isso impede que usuários não autorizados excluam abas, criem novas planilhas, renomeiem guias ou alterem sua ordem.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2"/>
          <p:cNvSpPr/>
          <p:nvPr/>
        </p:nvSpPr>
        <p:spPr>
          <a:xfrm>
            <a:off x="285750" y="289179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2"/>
          <p:cNvSpPr/>
          <p:nvPr/>
        </p:nvSpPr>
        <p:spPr>
          <a:xfrm>
            <a:off x="400050" y="304038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2"/>
          <p:cNvSpPr/>
          <p:nvPr/>
        </p:nvSpPr>
        <p:spPr>
          <a:xfrm>
            <a:off x="765810" y="300609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Proteja a planilha para resguardar células; proteja a pasta para resguardar as abas.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383" name="Google Shape;38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Verificação: Proteção de Fórmulas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3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é a primeira etapa necessária antes de ativar a proteção com senha em uma planilha para que os operadores possam preencher dados?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3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Ocultar todas as colunas que contenham cálculos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3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3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Desmarcar a opção 'Bloqueada' nas células destinadas à digitação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3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3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Salvar o arquivo obrigatoriamente no formato PDF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3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Excluir todas as fórmulas para que ninguém as visualize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399" name="Google Shape;39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Verificação: Proteção de Fórmulas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4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é a primeira etapa necessária antes de ativar a proteção com senha em uma planilha para que os operadores possam preencher dados?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4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Ocultar todas as colunas que contenham cálculos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4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4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Desmarcar a opção 'Bloqueada' nas células destinadas à digitação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4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4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Salvar o arquivo obrigatoriamente no formato PDF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4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4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Excluir todas as fórmulas para que ninguém as visualize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4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4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417" name="Google Shape;41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82932e907f951042669cd25ebd0b4d74.png" id="418" name="Google Shape;41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419" name="Google Shape;419;p35"/>
          <p:cNvSpPr/>
          <p:nvPr/>
        </p:nvSpPr>
        <p:spPr>
          <a:xfrm>
            <a:off x="285750" y="206883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Filtros Automáticos para Análise Rápida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5"/>
          <p:cNvSpPr/>
          <p:nvPr/>
        </p:nvSpPr>
        <p:spPr>
          <a:xfrm>
            <a:off x="285750" y="268605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Filtro Automático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adiciona setas no cabeçalho de cada coluna, permitindo segmentar dados por texto, valores ou intervalos temporais.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5"/>
          <p:cNvSpPr/>
          <p:nvPr/>
        </p:nvSpPr>
        <p:spPr>
          <a:xfrm>
            <a:off x="285750" y="3486150"/>
            <a:ext cx="8572500" cy="1101852"/>
          </a:xfrm>
          <a:prstGeom prst="roundRect">
            <a:avLst>
              <a:gd fmla="val 829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5"/>
          <p:cNvSpPr/>
          <p:nvPr/>
        </p:nvSpPr>
        <p:spPr>
          <a:xfrm>
            <a:off x="400050" y="36347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5"/>
          <p:cNvSpPr/>
          <p:nvPr/>
        </p:nvSpPr>
        <p:spPr>
          <a:xfrm>
            <a:off x="765810" y="3600450"/>
            <a:ext cx="79781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Filtrar oculta temporariamente linhas indesejadas sem apagar nenhum registro do banco de dados.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429" name="Google Shape;42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2c412e0d785623251ea05623d0dee229.png" id="430" name="Google Shape;43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b9326f51042586b3f15096451c15db38.png" id="431" name="Google Shape;43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32" name="Google Shape;432;p36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Recursos Avançados dos Filtros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6"/>
          <p:cNvSpPr/>
          <p:nvPr/>
        </p:nvSpPr>
        <p:spPr>
          <a:xfrm>
            <a:off x="285750" y="30175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Filtros por Valor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Permitem isolar rapidamente vendas 'Maiores que R$ 10.000', itens 'Abaixo da Média' ou os '10 Primeiros' colocados.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6"/>
          <p:cNvSpPr/>
          <p:nvPr/>
        </p:nvSpPr>
        <p:spPr>
          <a:xfrm>
            <a:off x="4652010" y="30175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Filtrar por Cor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Permite exibir apenas as linhas marcadas pela Formatação Condicional, unindo inteligência visual e filtragem direta.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440" name="Google Shape;44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Áudio: Diálogo de Gestão de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7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Ouça o áudio e responda às perguntas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7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7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Por que a equipe de logística estava reclamando da planilha antiga?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7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7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solução técnica Carlos e Beatriz adotaram para padronizar as entradas?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7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7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que eles fizeram para garantir que as fórmulas de total não fossem apagadas?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7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7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recurso visual foi sugerido para alertar sobre prazos de entrega atrasados?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7"/>
          <p:cNvSpPr/>
          <p:nvPr/>
        </p:nvSpPr>
        <p:spPr>
          <a:xfrm>
            <a:off x="285750" y="1291590"/>
            <a:ext cx="8572500" cy="857250"/>
          </a:xfrm>
          <a:prstGeom prst="roundRect">
            <a:avLst>
              <a:gd fmla="val 16667" name="adj"/>
            </a:avLst>
          </a:prstGeom>
          <a:solidFill>
            <a:srgbClr val="FFF4F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7481695/backend/storage/app/render-specs/cd76d0af-31de-420f-8c83-67bd8da8776f/audio_icon.png" id="452" name="Google Shape;45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070" y="1594485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7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Alinhamento entre Analistas de Dados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7"/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▶ Reproduzir áudio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7">
            <a:hlinkClick r:id="rId5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>
              <a:alpha val="0"/>
            </a:srgbClr>
          </a:solidFill>
          <a:ln cap="flat" cmpd="sng" w="12700">
            <a:solidFill>
              <a:srgbClr val="2C6E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461" name="Google Shape;46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Áudio: Diálogo de Gestão de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8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Verifica as tuas respostas abaixo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8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8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Porque colaboradores digitavam os nomes das cidades e status com erros de ortografia.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8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8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Implementaram a Validação de Dados com listas suspensas nas colunas de entrada.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8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8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Desbloquearam as células de digitação e protegeram a planilha com senha.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8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8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Formatação condicional com realce em vermelho suave.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8"/>
          <p:cNvSpPr/>
          <p:nvPr/>
        </p:nvSpPr>
        <p:spPr>
          <a:xfrm>
            <a:off x="285750" y="1291590"/>
            <a:ext cx="8572500" cy="857250"/>
          </a:xfrm>
          <a:prstGeom prst="roundRect">
            <a:avLst>
              <a:gd fmla="val 16667" name="adj"/>
            </a:avLst>
          </a:prstGeom>
          <a:solidFill>
            <a:srgbClr val="FFF4F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7481695/backend/storage/app/render-specs/cd76d0af-31de-420f-8c83-67bd8da8776f/audio_icon.png" id="474" name="Google Shape;47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070" y="1594485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8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Alinhamento entre Analistas de Dados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8"/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▶ Reproduzir áudio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8">
            <a:hlinkClick r:id="rId5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>
              <a:alpha val="0"/>
            </a:srgbClr>
          </a:solidFill>
          <a:ln cap="flat" cmpd="sng" w="12700">
            <a:solidFill>
              <a:srgbClr val="2C6E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/>
          <p:nvPr/>
        </p:nvSpPr>
        <p:spPr>
          <a:xfrm>
            <a:off x="285750" y="1714500"/>
            <a:ext cx="8572500" cy="662940"/>
          </a:xfrm>
          <a:prstGeom prst="roundRect">
            <a:avLst>
              <a:gd fmla="val 1666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9"/>
          <p:cNvSpPr/>
          <p:nvPr/>
        </p:nvSpPr>
        <p:spPr>
          <a:xfrm>
            <a:off x="400050" y="1874520"/>
            <a:ext cx="342900" cy="34290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9"/>
          <p:cNvSpPr/>
          <p:nvPr/>
        </p:nvSpPr>
        <p:spPr>
          <a:xfrm>
            <a:off x="285750" y="2491740"/>
            <a:ext cx="8572500" cy="662940"/>
          </a:xfrm>
          <a:prstGeom prst="roundRect">
            <a:avLst>
              <a:gd fmla="val 1666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9"/>
          <p:cNvSpPr/>
          <p:nvPr/>
        </p:nvSpPr>
        <p:spPr>
          <a:xfrm>
            <a:off x="400050" y="2651760"/>
            <a:ext cx="342900" cy="34290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9"/>
          <p:cNvSpPr/>
          <p:nvPr/>
        </p:nvSpPr>
        <p:spPr>
          <a:xfrm>
            <a:off x="285750" y="3268980"/>
            <a:ext cx="8572500" cy="662940"/>
          </a:xfrm>
          <a:prstGeom prst="roundRect">
            <a:avLst>
              <a:gd fmla="val 1666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9"/>
          <p:cNvSpPr/>
          <p:nvPr/>
        </p:nvSpPr>
        <p:spPr>
          <a:xfrm>
            <a:off x="400050" y="3429000"/>
            <a:ext cx="342900" cy="34290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9"/>
          <p:cNvSpPr/>
          <p:nvPr/>
        </p:nvSpPr>
        <p:spPr>
          <a:xfrm>
            <a:off x="285750" y="4046220"/>
            <a:ext cx="8572500" cy="662940"/>
          </a:xfrm>
          <a:prstGeom prst="roundRect">
            <a:avLst>
              <a:gd fmla="val 1666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9"/>
          <p:cNvSpPr/>
          <p:nvPr/>
        </p:nvSpPr>
        <p:spPr>
          <a:xfrm>
            <a:off x="400050" y="4206240"/>
            <a:ext cx="342900" cy="34290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9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Prática Guiada: Reformatação Gerencial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9"/>
          <p:cNvSpPr/>
          <p:nvPr/>
        </p:nvSpPr>
        <p:spPr>
          <a:xfrm>
            <a:off x="285750" y="800100"/>
            <a:ext cx="857250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Roteiro de Transformação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Converta dados brutos em relatório executivo: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9"/>
          <p:cNvSpPr/>
          <p:nvPr/>
        </p:nvSpPr>
        <p:spPr>
          <a:xfrm>
            <a:off x="400050" y="187452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9"/>
          <p:cNvSpPr/>
          <p:nvPr/>
        </p:nvSpPr>
        <p:spPr>
          <a:xfrm>
            <a:off x="834390" y="1828800"/>
            <a:ext cx="790956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Formate valores como Moeda e comissões como Porcentagem.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9"/>
          <p:cNvSpPr/>
          <p:nvPr/>
        </p:nvSpPr>
        <p:spPr>
          <a:xfrm>
            <a:off x="400050" y="265176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9"/>
          <p:cNvSpPr/>
          <p:nvPr/>
        </p:nvSpPr>
        <p:spPr>
          <a:xfrm>
            <a:off x="834390" y="2606040"/>
            <a:ext cx="790956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Use bordas discretas e cabeçalhos em azul corporativo.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9"/>
          <p:cNvSpPr/>
          <p:nvPr/>
        </p:nvSpPr>
        <p:spPr>
          <a:xfrm>
            <a:off x="400050" y="34290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9"/>
          <p:cNvSpPr/>
          <p:nvPr/>
        </p:nvSpPr>
        <p:spPr>
          <a:xfrm>
            <a:off x="834390" y="3383280"/>
            <a:ext cx="790956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Congele a primeira linha para facilitar a navegação.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9"/>
          <p:cNvSpPr/>
          <p:nvPr/>
        </p:nvSpPr>
        <p:spPr>
          <a:xfrm>
            <a:off x="400050" y="420624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9"/>
          <p:cNvSpPr/>
          <p:nvPr/>
        </p:nvSpPr>
        <p:spPr>
          <a:xfrm>
            <a:off x="834390" y="4160520"/>
            <a:ext cx="790956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Insira barras de dados na coluna de volume de vendas.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507" name="Google Shape;50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b8e2e30cbb6ba10a8acb00af0ff4be05.png" id="508" name="Google Shape;50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2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bca6ffecd24c0b5ea323262bb09eaa4c.png" id="509" name="Google Shape;509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120" y="1908810"/>
            <a:ext cx="2697480" cy="2331720"/>
          </a:xfrm>
          <a:prstGeom prst="roundRect">
            <a:avLst>
              <a:gd fmla="val 5882" name="adj"/>
            </a:avLst>
          </a:prstGeom>
          <a:noFill/>
          <a:ln>
            <a:noFill/>
          </a:ln>
        </p:spPr>
      </p:pic>
      <p:sp>
        <p:nvSpPr>
          <p:cNvPr id="510" name="Google Shape;510;p4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Atividade Prática: Auditoria de Planilha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0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Abra 'Relatorio_Desorganizado.xlsx':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Formate valores como Moeda (R$, 2 casas).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Valide 'Região': Norte, Sul, Leste, Oeste.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Formatação Condicional: vendas &gt; R$ 5.000 em verde.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Desbloqueie B4:D20; proteja planilha (senha 'aula4') para travar coluna 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Filtre a região 'Sul'.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517" name="Google Shape;51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88f2cf22d50efe57d124336ea25cb3a9.png" id="518" name="Google Shape;518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5d77380955daed0cf438ed72f0ec1688.png" id="519" name="Google Shape;519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oundRect">
            <a:avLst>
              <a:gd fmla="val 6250" name="adj"/>
            </a:avLst>
          </a:prstGeom>
          <a:noFill/>
          <a:ln>
            <a:noFill/>
          </a:ln>
        </p:spPr>
      </p:pic>
      <p:sp>
        <p:nvSpPr>
          <p:cNvPr id="520" name="Google Shape;520;p4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Debate: Facilidade vs Controle Rígido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1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Se proteger células e impor validações de dados torna a planilha mais segura, por que algumas equipes resistem a usar essas regras no dia a dia?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527" name="Google Shape;52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88f2cf22d50efe57d124336ea25cb3a9.png" id="528" name="Google Shape;528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sp>
        <p:nvSpPr>
          <p:cNvPr id="529" name="Google Shape;529;p4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Debate: Facilidade vs Controle Rígido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42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Perspectivas dos alunos: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Resistência à rigidez em exceções.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Necessidade de atualizar listas.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Bloqueios por esquecimento de senhas.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Equilíbrio entre controle e agilidade.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537" name="Google Shape;53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4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Desafio Final: Melhores Práticas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43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Quais das afirmações a seguir representam boas práticas recomendadas de formatação e segurança em planilhas? (Mais de uma opção está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4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3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É fundamental desbloquear as células de preenchimento antes de proteger a planilha com senha.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43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43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 formatação condicional exclui automaticamente os dados que não atingem a meta definida.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43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43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Listas suspensas evitam erros de digitação e facilitam o agrupamento por filtros.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4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43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Deve-se usar o maior número possível de cores vibrantes para chamar a atenção de executivos.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553" name="Google Shape;55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4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Desafio Final: Melhores Práticas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4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Quais das afirmações a seguir representam boas práticas recomendadas de formatação e segurança em planilhas? (Mais de uma opção está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44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44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É fundamental desbloquear as células de preenchimento antes de proteger a planilha com senha.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44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44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 formatação condicional exclui automaticamente os dados que não atingem a meta definida.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44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44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Listas suspensas evitam erros de digitação e facilitam o agrupamento por filtros.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44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44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Deve-se usar o maior número possível de cores vibrantes para chamar a atenção de executivos.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44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44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44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cd76d0af-31de-420f-8c83-67bd8da8776f/img_67db2e6a5fb9230f9de86baa7e51a1c5.png" id="572" name="Google Shape;57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cd76d0af-31de-420f-8c83-67bd8da8776f/img_18d0371e28599c81fbb2088927debf12.png" id="573" name="Google Shape;57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574" name="Google Shape;574;p45"/>
          <p:cNvSpPr/>
          <p:nvPr/>
        </p:nvSpPr>
        <p:spPr>
          <a:xfrm>
            <a:off x="285750" y="24003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Síntese e Próximos Passos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45"/>
          <p:cNvSpPr/>
          <p:nvPr/>
        </p:nvSpPr>
        <p:spPr>
          <a:xfrm>
            <a:off x="285750" y="857250"/>
            <a:ext cx="5143500" cy="29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que conquistamos hoje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Agora você domina a formatação profissional, congelamento de visualização, validação de entradas, segurança contra edições indevidas e filtros automáticos.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Aula 5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, daremos um grande salto analítico aprendendo funções avançadas de busca como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PROCV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e cálculos agregados com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SOMASE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!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5"/>
          <p:cNvSpPr/>
          <p:nvPr/>
        </p:nvSpPr>
        <p:spPr>
          <a:xfrm>
            <a:off x="285750" y="3326130"/>
            <a:ext cx="5143500" cy="1348740"/>
          </a:xfrm>
          <a:prstGeom prst="roundRect">
            <a:avLst>
              <a:gd fmla="val 6780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45"/>
          <p:cNvSpPr/>
          <p:nvPr/>
        </p:nvSpPr>
        <p:spPr>
          <a:xfrm>
            <a:off x="400050" y="347472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45"/>
          <p:cNvSpPr/>
          <p:nvPr/>
        </p:nvSpPr>
        <p:spPr>
          <a:xfrm>
            <a:off x="765810" y="3440430"/>
            <a:ext cx="45491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Uma planilha profissional une exatidão matemática, clareza estética e segurança de dados.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