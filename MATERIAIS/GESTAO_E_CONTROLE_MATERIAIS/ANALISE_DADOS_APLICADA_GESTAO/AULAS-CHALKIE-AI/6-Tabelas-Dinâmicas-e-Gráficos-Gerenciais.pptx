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9144000" cy="5143500"/>
  <p:notesSz cx="5143500" cy="9144000"/>
  <p:embeddedFontLst>
    <p:embeddedFont>
      <p:font typeface="Inter"/>
      <p:regular r:id="rId48"/>
      <p:bold r:id="rId49"/>
    </p:embeddedFont>
    <p:embeddedFont>
      <p:font typeface="Karla"/>
      <p:regular r:id="rId5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Relationship Id="rId48" Type="http://schemas.openxmlformats.org/officeDocument/2006/relationships/font" Target="fonts/font1.fntdata"/><Relationship Id="rId49" Type="http://schemas.openxmlformats.org/officeDocument/2006/relationships/font" Target="fonts/font2.fntdata"/><Relationship Id="rId50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chalkie.ai/player/a2b70bdf-f60d-4025-8ad9-06a32a4a9a6d/2f4bae5d-2d2f-47cb-a090-7ca81a0a4e44?source=exported_presentation&amp;exportFormat=powerpoint" TargetMode="External"/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chalkie.ai/player/a2b70bdf-f60d-4025-8ad9-06a32a4a9a6d/2f4bae5d-2d2f-47cb-a090-7ca81a0a4e44?source=exported_presentation&amp;exportFormat=powerpoint" TargetMode="External"/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N6FJxcYtI7k" TargetMode="External"/><Relationship Id="rId1" Type="http://schemas.openxmlformats.org/officeDocument/2006/relationships/image" Target="../media/image-29-1.png"/><Relationship Id="rId2" Type="http://schemas.openxmlformats.org/officeDocument/2006/relationships/image" Target="../media/image-29-2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Relationship Id="rId6" Type="http://schemas.openxmlformats.org/officeDocument/2006/relationships/video" Target="https://www.youtube.com/embed/N6FJxcYtI7k?feature=oembed" TargetMode="Externa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" descr="/home/forge/chalkie-production-workers-3/releases/77481733/backend/storage/app/render-specs/7275d6bb-0293-421a-9e9f-5c7a14d7cfc7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c0eda3c2-a46b-4edc-a6c7-41639d83e816" descr="/home/forge/chalkie-production-workers-3/releases/77481733/backend/storage/app/render-specs/7275d6bb-0293-421a-9e9f-5c7a14d7cfc7/img_ca15dd8f9474fb71d194a35eb44462b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742950"/>
            <a:ext cx="3657600" cy="3657600"/>
          </a:xfrm>
          <a:prstGeom prst="roundRect">
            <a:avLst>
              <a:gd name="adj" fmla="val 3750"/>
            </a:avLst>
          </a:prstGeom>
        </p:spPr>
      </p:pic>
      <p:sp>
        <p:nvSpPr>
          <p:cNvPr id="4" name="24ad4e66-a70b-416f-a421-5cb7497dfb2e"/>
          <p:cNvSpPr/>
          <p:nvPr/>
        </p:nvSpPr>
        <p:spPr>
          <a:xfrm>
            <a:off x="4914900" y="1280160"/>
            <a:ext cx="3829050" cy="181965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88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24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Tabelas Dinâmicas e Gráficos Gerenciais</a:t>
            </a:r>
            <a:endParaRPr lang="en-US" sz="3240" dirty="0"/>
          </a:p>
        </p:txBody>
      </p:sp>
      <p:sp>
        <p:nvSpPr>
          <p:cNvPr id="5" name="c14009ef-e36b-4a49-a27d-533372795149"/>
          <p:cNvSpPr/>
          <p:nvPr/>
        </p:nvSpPr>
        <p:spPr>
          <a:xfrm>
            <a:off x="4914900" y="2937510"/>
            <a:ext cx="382905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Avançado para Análise de Dados na Gestão</a:t>
            </a:r>
            <a:endParaRPr lang="en-US" sz="16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" descr="/home/forge/chalkie-production-workers-3/releases/77481733/backend/storage/app/render-specs/7275d6bb-0293-421a-9e9f-5c7a14d7cfc7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ab2dadd2-e6ae-4b63-a4f4-301cb5df07ff" descr="/home/forge/chalkie-production-workers-3/releases/77481733/backend/storage/app/render-specs/7275d6bb-0293-421a-9e9f-5c7a14d7cfc7/img_26d974906cd9b4b67946c2b7ad16973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4" name="5faafd82-728a-42ab-b830-6987f1b1105d"/>
          <p:cNvSpPr/>
          <p:nvPr/>
        </p:nvSpPr>
        <p:spPr>
          <a:xfrm>
            <a:off x="285750" y="1463040"/>
            <a:ext cx="5143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Desafio dos Dados Brutos</a:t>
            </a:r>
            <a:endParaRPr lang="en-US" sz="2880" dirty="0"/>
          </a:p>
        </p:txBody>
      </p:sp>
      <p:sp>
        <p:nvSpPr>
          <p:cNvPr id="5" name="fa17655a-3156-4fb5-b507-521f0338fee7"/>
          <p:cNvSpPr/>
          <p:nvPr/>
        </p:nvSpPr>
        <p:spPr>
          <a:xfrm>
            <a:off x="285750" y="2514600"/>
            <a:ext cx="5143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Imagine analisar 15 mil linhas de vendas sem usar nenhuma fórmula manual. Como obter respostas em segundos?</a:t>
            </a:r>
            <a:endParaRPr lang="en-US" sz="16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" descr="/home/forge/chalkie-production-workers-3/releases/77481733/backend/storage/app/render-specs/7275d6bb-0293-421a-9e9f-5c7a14d7cfc7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04328edb-5fba-45e8-bf54-eec0a3aa1344" descr="/home/forge/chalkie-production-workers-3/releases/77481733/backend/storage/app/render-specs/7275d6bb-0293-421a-9e9f-5c7a14d7cfc7/img_27654c42fdfb9e4731cfa4f8e7c8d6d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4" name="7d8105b7-615a-4cbf-86c8-730714720853"/>
          <p:cNvSpPr/>
          <p:nvPr/>
        </p:nvSpPr>
        <p:spPr>
          <a:xfrm>
            <a:off x="285750" y="1028700"/>
            <a:ext cx="5143500" cy="914400"/>
          </a:xfrm>
          <a:prstGeom prst="roundRect">
            <a:avLst/>
          </a:prstGeom>
          <a:solidFill>
            <a:srgbClr val="FFFFFF">
              <a:alpha val="40000"/>
            </a:srgbClr>
          </a:solidFill>
          <a:ln w="11430">
            <a:solidFill>
              <a:srgbClr val="D32F2F"/>
            </a:solidFill>
            <a:prstDash val="solid"/>
          </a:ln>
        </p:spPr>
      </p:sp>
      <p:sp>
        <p:nvSpPr>
          <p:cNvPr id="5" name="0805e1fd-c426-4da6-ad7b-5d7cf5a6aab6"/>
          <p:cNvSpPr/>
          <p:nvPr/>
        </p:nvSpPr>
        <p:spPr>
          <a:xfrm>
            <a:off x="285750" y="2057400"/>
            <a:ext cx="5143500" cy="662940"/>
          </a:xfrm>
          <a:prstGeom prst="roundRect">
            <a:avLst/>
          </a:prstGeom>
          <a:solidFill>
            <a:srgbClr val="FFFFFF">
              <a:alpha val="40000"/>
            </a:srgbClr>
          </a:solidFill>
          <a:ln w="11430">
            <a:solidFill>
              <a:srgbClr val="D32F2F"/>
            </a:solidFill>
            <a:prstDash val="solid"/>
          </a:ln>
        </p:spPr>
      </p:sp>
      <p:sp>
        <p:nvSpPr>
          <p:cNvPr id="6" name="6f050f2f-dad2-41f0-9b72-89aa658aa42f"/>
          <p:cNvSpPr/>
          <p:nvPr/>
        </p:nvSpPr>
        <p:spPr>
          <a:xfrm>
            <a:off x="285750" y="2834640"/>
            <a:ext cx="5143500" cy="662940"/>
          </a:xfrm>
          <a:prstGeom prst="roundRect">
            <a:avLst/>
          </a:prstGeom>
          <a:solidFill>
            <a:srgbClr val="FFFFFF">
              <a:alpha val="40000"/>
            </a:srgbClr>
          </a:solidFill>
          <a:ln w="11430">
            <a:solidFill>
              <a:srgbClr val="D32F2F"/>
            </a:solidFill>
            <a:prstDash val="solid"/>
          </a:ln>
        </p:spPr>
      </p:sp>
      <p:sp>
        <p:nvSpPr>
          <p:cNvPr id="7" name="be156e1a-c4be-4786-ab79-c74a47571bbc"/>
          <p:cNvSpPr/>
          <p:nvPr/>
        </p:nvSpPr>
        <p:spPr>
          <a:xfrm>
            <a:off x="285750" y="411480"/>
            <a:ext cx="5143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Objetivos da Aula</a:t>
            </a:r>
            <a:endParaRPr lang="en-US" sz="2880" dirty="0"/>
          </a:p>
        </p:txBody>
      </p:sp>
      <p:sp>
        <p:nvSpPr>
          <p:cNvPr id="8" name="4473f29f-9d68-4a00-8107-9f09dcd7d7b8"/>
          <p:cNvSpPr/>
          <p:nvPr/>
        </p:nvSpPr>
        <p:spPr>
          <a:xfrm>
            <a:off x="400050" y="1143000"/>
            <a:ext cx="49149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Criar tabelas dinâmicas com filtros e grupos.</a:t>
            </a:r>
            <a:endParaRPr lang="en-US" sz="1620" dirty="0"/>
          </a:p>
        </p:txBody>
      </p:sp>
      <p:sp>
        <p:nvSpPr>
          <p:cNvPr id="9" name="ab658e0f-03aa-4da0-a9f8-318611168892"/>
          <p:cNvSpPr/>
          <p:nvPr/>
        </p:nvSpPr>
        <p:spPr>
          <a:xfrm>
            <a:off x="400050" y="2171700"/>
            <a:ext cx="49149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Configurar cálculos e campos de valor.</a:t>
            </a:r>
            <a:endParaRPr lang="en-US" sz="1620" dirty="0"/>
          </a:p>
        </p:txBody>
      </p:sp>
      <p:sp>
        <p:nvSpPr>
          <p:cNvPr id="10" name="7bf0fa27-31f0-42c1-b575-dd431f916688"/>
          <p:cNvSpPr/>
          <p:nvPr/>
        </p:nvSpPr>
        <p:spPr>
          <a:xfrm>
            <a:off x="400050" y="2948940"/>
            <a:ext cx="49149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Gerar gráficos dinâmicos com duplo eixo.</a:t>
            </a:r>
            <a:endParaRPr lang="en-US" sz="1620" dirty="0"/>
          </a:p>
        </p:txBody>
      </p:sp>
      <p:sp>
        <p:nvSpPr>
          <p:cNvPr id="11" name="17c571af-375c-443e-a7dc-e85a45412a4c_card"/>
          <p:cNvSpPr/>
          <p:nvPr/>
        </p:nvSpPr>
        <p:spPr>
          <a:xfrm>
            <a:off x="285750" y="3634740"/>
            <a:ext cx="5143500" cy="854964"/>
          </a:xfrm>
          <a:prstGeom prst="roundRect">
            <a:avLst>
              <a:gd name="adj" fmla="val 10695"/>
            </a:avLst>
          </a:prstGeom>
          <a:solidFill>
            <a:srgbClr val="FAEFDA"/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12" name="17c571af-375c-443e-a7dc-e85a45412a4c_emoji"/>
          <p:cNvSpPr/>
          <p:nvPr/>
        </p:nvSpPr>
        <p:spPr>
          <a:xfrm>
            <a:off x="400050" y="378333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13" name="17c571af-375c-443e-a7dc-e85a45412a4c_text"/>
          <p:cNvSpPr/>
          <p:nvPr/>
        </p:nvSpPr>
        <p:spPr>
          <a:xfrm>
            <a:off x="765810" y="3749040"/>
            <a:ext cx="4549140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Ponto-chave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Converter dados brutos em decisões.</a:t>
            </a:r>
            <a:endParaRPr lang="en-US" sz="14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4" descr="/home/forge/chalkie-production-workers-3/releases/77481733/backend/storage/app/render-specs/7275d6bb-0293-421a-9e9f-5c7a14d7cfc7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b2b52c09-e5d8-426a-b637-47722cc79a0c" descr="/home/forge/chalkie-production-workers-3/releases/77481733/backend/storage/app/render-specs/7275d6bb-0293-421a-9e9f-5c7a14d7cfc7/img_403dbc6fbf1b8f3043e842f9a6f26dc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58877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4" name="f77706bb-ec55-4cb5-b4b2-50cf3bbb8588" descr="/home/forge/chalkie-production-workers-3/releases/77481733/backend/storage/app/render-specs/7275d6bb-0293-421a-9e9f-5c7a14d7cfc7/img_7ac1feb68e8c533a77ea0957cebc0a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1740" y="90297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5" name="d57f8e1a-b982-43e4-a02a-f08a54818363" descr="/home/forge/chalkie-production-workers-3/releases/77481733/backend/storage/app/render-specs/7275d6bb-0293-421a-9e9f-5c7a14d7cfc7/img_696412ca53d3a87ad67ff383aeb09c3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158877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6" name="9904d041-d693-491f-afc4-806c75a17ac0" descr="/home/forge/chalkie-production-workers-3/releases/77481733/backend/storage/app/render-specs/7275d6bb-0293-421a-9e9f-5c7a14d7cfc7/img_cf377062f26979dbf8217fcd27a895d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2290" y="902970"/>
            <a:ext cx="1977390" cy="1714500"/>
          </a:xfrm>
          <a:prstGeom prst="roundRect">
            <a:avLst>
              <a:gd name="adj" fmla="val 8000"/>
            </a:avLst>
          </a:prstGeom>
        </p:spPr>
      </p:pic>
      <p:sp>
        <p:nvSpPr>
          <p:cNvPr id="7" name="2d0a3d5a-e21c-4223-9b6b-8ab71a55277f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Vocabulário Essencial</a:t>
            </a:r>
            <a:endParaRPr lang="en-US" sz="2880" dirty="0"/>
          </a:p>
        </p:txBody>
      </p:sp>
      <p:sp>
        <p:nvSpPr>
          <p:cNvPr id="8" name="a0853f0a-2054-48b0-afeb-e3abbf00bf6c"/>
          <p:cNvSpPr/>
          <p:nvPr/>
        </p:nvSpPr>
        <p:spPr>
          <a:xfrm>
            <a:off x="285750" y="3417570"/>
            <a:ext cx="197739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Dinamismo</a:t>
            </a:r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Reorganiza cruzamentos de dados instantaneamente sem precisar reescrever fórmulas.</a:t>
            </a:r>
            <a:endParaRPr lang="en-US" sz="1620" dirty="0"/>
          </a:p>
        </p:txBody>
      </p:sp>
      <p:sp>
        <p:nvSpPr>
          <p:cNvPr id="9" name="4b2017b7-d1b8-4754-8ff0-2604dce25384"/>
          <p:cNvSpPr/>
          <p:nvPr/>
        </p:nvSpPr>
        <p:spPr>
          <a:xfrm>
            <a:off x="2491740" y="2731770"/>
            <a:ext cx="197739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Agrupamento</a:t>
            </a:r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União de dados em blocos lógicos como meses, trimestres ou faixas de valores.</a:t>
            </a:r>
            <a:endParaRPr lang="en-US" sz="1620" dirty="0"/>
          </a:p>
        </p:txBody>
      </p:sp>
      <p:sp>
        <p:nvSpPr>
          <p:cNvPr id="10" name="93dc711f-72e9-4dc5-a01f-7f2718cbf908"/>
          <p:cNvSpPr/>
          <p:nvPr/>
        </p:nvSpPr>
        <p:spPr>
          <a:xfrm>
            <a:off x="4686300" y="3417570"/>
            <a:ext cx="197739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Gráfico</a:t>
            </a:r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Representação visual de proporções, frequências, tendências e comparações métricas.</a:t>
            </a:r>
            <a:endParaRPr lang="en-US" sz="1620" dirty="0"/>
          </a:p>
        </p:txBody>
      </p:sp>
      <p:sp>
        <p:nvSpPr>
          <p:cNvPr id="11" name="3c109be0-aeae-4e5f-aea8-3223694de4bc"/>
          <p:cNvSpPr/>
          <p:nvPr/>
        </p:nvSpPr>
        <p:spPr>
          <a:xfrm>
            <a:off x="6892290" y="2731770"/>
            <a:ext cx="1977390" cy="181965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Segmentação</a:t>
            </a:r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Botões interativos que filtram relatórios e gráficos simultaneamente com um clique.</a:t>
            </a:r>
            <a:endParaRPr lang="en-US" sz="16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5" descr="/home/forge/chalkie-production-workers-3/releases/77481733/backend/storage/app/render-specs/7275d6bb-0293-421a-9e9f-5c7a14d7cfc7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2e2cb283-2c51-41ec-ab7c-dc90491a09d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Recapitulação: Funções de Busca e Agregação</a:t>
            </a:r>
            <a:endParaRPr lang="en-US" sz="2880" dirty="0"/>
          </a:p>
        </p:txBody>
      </p:sp>
      <p:sp>
        <p:nvSpPr>
          <p:cNvPr id="4" name="cd69b4dc-45d9-49bf-9cea-9d8d3143cb83"/>
          <p:cNvSpPr/>
          <p:nvPr/>
        </p:nvSpPr>
        <p:spPr>
          <a:xfrm>
            <a:off x="285750" y="1223010"/>
            <a:ext cx="4194810" cy="22037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PROCV e ÍNDICE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PROCV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realiza pesquisas verticais na primeira coluna da matriz. Já a combinação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ÍNDICE/CORRESPONDÊNCIA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oferece maior flexibilidade bidirecional sem travar na posição relativa das colunas.</a:t>
            </a:r>
            <a:endParaRPr lang="en-US" sz="1980" dirty="0"/>
          </a:p>
        </p:txBody>
      </p:sp>
      <p:sp>
        <p:nvSpPr>
          <p:cNvPr id="5" name="24c6ddbe-91ef-4233-93aa-638d8de0143f_card"/>
          <p:cNvSpPr/>
          <p:nvPr/>
        </p:nvSpPr>
        <p:spPr>
          <a:xfrm>
            <a:off x="285750" y="3371850"/>
            <a:ext cx="4194810" cy="1101852"/>
          </a:xfrm>
          <a:prstGeom prst="roundRect">
            <a:avLst>
              <a:gd name="adj" fmla="val 8299"/>
            </a:avLst>
          </a:prstGeom>
          <a:solidFill>
            <a:srgbClr val="E6F1FB"/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6" name="24c6ddbe-91ef-4233-93aa-638d8de0143f_emoji"/>
          <p:cNvSpPr/>
          <p:nvPr/>
        </p:nvSpPr>
        <p:spPr>
          <a:xfrm>
            <a:off x="400050" y="352044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7" name="24c6ddbe-91ef-4233-93aa-638d8de0143f_text"/>
          <p:cNvSpPr/>
          <p:nvPr/>
        </p:nvSpPr>
        <p:spPr>
          <a:xfrm>
            <a:off x="765810" y="3486150"/>
            <a:ext cx="360045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Lembre-se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ÍNDICE quando a chave de busca estiver à direita do retorno.</a:t>
            </a:r>
            <a:endParaRPr lang="en-US" sz="1440" dirty="0"/>
          </a:p>
        </p:txBody>
      </p:sp>
      <p:sp>
        <p:nvSpPr>
          <p:cNvPr id="8" name="98cdfb38-0a57-48dd-ab94-9a67a162b53e"/>
          <p:cNvSpPr/>
          <p:nvPr/>
        </p:nvSpPr>
        <p:spPr>
          <a:xfrm>
            <a:off x="4652010" y="122301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Agregações Condicionais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funções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SOMASE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CONT.SE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totalizam valores ou contam ocorrências com base em critérios específicos definidos pelo analista, como filial ou categoria de item.</a:t>
            </a:r>
            <a:endParaRPr lang="en-US" sz="1980" dirty="0"/>
          </a:p>
        </p:txBody>
      </p:sp>
      <p:sp>
        <p:nvSpPr>
          <p:cNvPr id="9" name="026e9ee8-2747-4dc1-a232-e84f1d8241f2_card"/>
          <p:cNvSpPr/>
          <p:nvPr/>
        </p:nvSpPr>
        <p:spPr>
          <a:xfrm>
            <a:off x="4652010" y="3131820"/>
            <a:ext cx="4194810" cy="1348740"/>
          </a:xfrm>
          <a:prstGeom prst="roundRect">
            <a:avLst>
              <a:gd name="adj" fmla="val 6780"/>
            </a:avLst>
          </a:prstGeom>
          <a:solidFill>
            <a:srgbClr val="E1F6EF"/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</p:sp>
      <p:sp>
        <p:nvSpPr>
          <p:cNvPr id="10" name="026e9ee8-2747-4dc1-a232-e84f1d8241f2_emoji"/>
          <p:cNvSpPr/>
          <p:nvPr/>
        </p:nvSpPr>
        <p:spPr>
          <a:xfrm>
            <a:off x="4766310" y="328041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11" name="026e9ee8-2747-4dc1-a232-e84f1d8241f2_text"/>
          <p:cNvSpPr/>
          <p:nvPr/>
        </p:nvSpPr>
        <p:spPr>
          <a:xfrm>
            <a:off x="5132070" y="3246120"/>
            <a:ext cx="360045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84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84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=SOMASE(Região; "Sul"; Faturamento) consolida as vendas regionais.</a:t>
            </a:r>
            <a:endParaRPr lang="en-US" sz="14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6" descr="/home/forge/chalkie-production-workers-3/releases/77481733/backend/storage/app/render-specs/7275d6bb-0293-421a-9e9f-5c7a14d7cfc7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daecb825-e2c7-4c71-89cc-cc5372ba94f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Quiz: Busca e Agregação</a:t>
            </a:r>
            <a:endParaRPr lang="en-US" sz="2880" dirty="0"/>
          </a:p>
        </p:txBody>
      </p:sp>
      <p:sp>
        <p:nvSpPr>
          <p:cNvPr id="4" name="70d13901-b778-4054-bcd1-7ad35c6125a9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ferramenta você utilizaria para somar o total faturado apenas dos pedidos entregues na região 'Sudeste'?</a:t>
            </a:r>
            <a:endParaRPr lang="en-US" sz="1620" dirty="0"/>
          </a:p>
        </p:txBody>
      </p:sp>
      <p:sp>
        <p:nvSpPr>
          <p:cNvPr id="5" name="8e204cb7-591a-4b4c-b9b4-05df3d21dfa3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</a:t>
            </a:r>
            <a:endParaRPr lang="en-US" sz="2520" dirty="0"/>
          </a:p>
        </p:txBody>
      </p:sp>
      <p:sp>
        <p:nvSpPr>
          <p:cNvPr id="6" name="5b9b42b0-45a9-48f5-8e48-d47b14104f82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SOMASE</a:t>
            </a:r>
            <a:endParaRPr lang="en-US" sz="1620" dirty="0"/>
          </a:p>
        </p:txBody>
      </p:sp>
      <p:sp>
        <p:nvSpPr>
          <p:cNvPr id="7" name="c213d1a1-64e8-4a14-b78e-260b628598b5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</a:t>
            </a:r>
            <a:endParaRPr lang="en-US" sz="2520" dirty="0"/>
          </a:p>
        </p:txBody>
      </p:sp>
      <p:sp>
        <p:nvSpPr>
          <p:cNvPr id="8" name="5cea0fa6-b5c6-4398-9a4e-a67027571d41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CONT.SE</a:t>
            </a:r>
            <a:endParaRPr lang="en-US" sz="1620" dirty="0"/>
          </a:p>
        </p:txBody>
      </p:sp>
      <p:sp>
        <p:nvSpPr>
          <p:cNvPr id="9" name="c60732cd-e55c-45fd-b49f-fbb9bdc4f59f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</a:t>
            </a:r>
            <a:endParaRPr lang="en-US" sz="2520" dirty="0"/>
          </a:p>
        </p:txBody>
      </p:sp>
      <p:sp>
        <p:nvSpPr>
          <p:cNvPr id="10" name="6ae500bd-d73d-4b50-942f-87f8283e4fee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PROCV</a:t>
            </a:r>
            <a:endParaRPr lang="en-US" sz="1620" dirty="0"/>
          </a:p>
        </p:txBody>
      </p:sp>
      <p:sp>
        <p:nvSpPr>
          <p:cNvPr id="11" name="2a4c7cd0-0910-4995-8ab4-5682219bfe9b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</a:t>
            </a:r>
            <a:endParaRPr lang="en-US" sz="2520" dirty="0"/>
          </a:p>
        </p:txBody>
      </p:sp>
      <p:sp>
        <p:nvSpPr>
          <p:cNvPr id="12" name="77906242-3beb-4525-8580-3e5a78db9350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CORRESPONDÊNCIA</a:t>
            </a:r>
            <a:endParaRPr lang="en-US" sz="16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7" descr="/home/forge/chalkie-production-workers-3/releases/77481733/backend/storage/app/render-specs/7275d6bb-0293-421a-9e9f-5c7a14d7cfc7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daecb825-e2c7-4c71-89cc-cc5372ba94f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Quiz: Busca e Agregação</a:t>
            </a:r>
            <a:endParaRPr lang="en-US" sz="2880" dirty="0"/>
          </a:p>
        </p:txBody>
      </p:sp>
      <p:sp>
        <p:nvSpPr>
          <p:cNvPr id="4" name="70d13901-b778-4054-bcd1-7ad35c6125a9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ferramenta você utilizaria para somar o total faturado apenas dos pedidos entregues na região 'Sudeste'?</a:t>
            </a:r>
            <a:endParaRPr lang="en-US" sz="1620" dirty="0"/>
          </a:p>
        </p:txBody>
      </p:sp>
      <p:sp>
        <p:nvSpPr>
          <p:cNvPr id="5" name="8e204cb7-591a-4b4c-b9b4-05df3d21dfa3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</a:t>
            </a:r>
            <a:endParaRPr lang="en-US" sz="2520" dirty="0"/>
          </a:p>
        </p:txBody>
      </p:sp>
      <p:sp>
        <p:nvSpPr>
          <p:cNvPr id="6" name="5b9b42b0-45a9-48f5-8e48-d47b14104f82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2C6E49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SOMASE</a:t>
            </a:r>
            <a:endParaRPr lang="en-US" sz="1620" dirty="0"/>
          </a:p>
        </p:txBody>
      </p:sp>
      <p:sp>
        <p:nvSpPr>
          <p:cNvPr id="7" name="c213d1a1-64e8-4a14-b78e-260b628598b5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</a:t>
            </a:r>
            <a:endParaRPr lang="en-US" sz="2520" dirty="0"/>
          </a:p>
        </p:txBody>
      </p:sp>
      <p:sp>
        <p:nvSpPr>
          <p:cNvPr id="8" name="5cea0fa6-b5c6-4398-9a4e-a67027571d41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CONT.SE</a:t>
            </a:r>
            <a:endParaRPr lang="en-US" sz="1620" dirty="0"/>
          </a:p>
        </p:txBody>
      </p:sp>
      <p:sp>
        <p:nvSpPr>
          <p:cNvPr id="9" name="c60732cd-e55c-45fd-b49f-fbb9bdc4f59f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</a:t>
            </a:r>
            <a:endParaRPr lang="en-US" sz="2520" dirty="0"/>
          </a:p>
        </p:txBody>
      </p:sp>
      <p:sp>
        <p:nvSpPr>
          <p:cNvPr id="10" name="6ae500bd-d73d-4b50-942f-87f8283e4fee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PROCV</a:t>
            </a:r>
            <a:endParaRPr lang="en-US" sz="1620" dirty="0"/>
          </a:p>
        </p:txBody>
      </p:sp>
      <p:sp>
        <p:nvSpPr>
          <p:cNvPr id="11" name="2a4c7cd0-0910-4995-8ab4-5682219bfe9b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</a:t>
            </a:r>
            <a:endParaRPr lang="en-US" sz="2520" dirty="0"/>
          </a:p>
        </p:txBody>
      </p:sp>
      <p:sp>
        <p:nvSpPr>
          <p:cNvPr id="12" name="77906242-3beb-4525-8580-3e5a78db9350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CORRESPONDÊNCIA</a:t>
            </a:r>
            <a:endParaRPr lang="en-US" sz="1620" dirty="0"/>
          </a:p>
        </p:txBody>
      </p:sp>
      <p:sp>
        <p:nvSpPr>
          <p:cNvPr id="13" name="92c6363a-f8c5-4e4c-bd5e-01d9b11087a2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3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3600" dirty="0"/>
          </a:p>
        </p:txBody>
      </p:sp>
      <p:sp>
        <p:nvSpPr>
          <p:cNvPr id="14" name="7fc45808-b30b-44ac-991e-e23a47a95872"/>
          <p:cNvSpPr/>
          <p:nvPr/>
        </p:nvSpPr>
        <p:spPr>
          <a:xfrm>
            <a:off x="8721090" y="15201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8" descr="/home/forge/chalkie-production-workers-3/releases/77481733/backend/storage/app/render-specs/7275d6bb-0293-421a-9e9f-5c7a14d7cfc7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ed030822-67f8-4dd7-beff-b7dadf953596" descr="/home/forge/chalkie-production-workers-3/releases/77481733/backend/storage/app/render-specs/7275d6bb-0293-421a-9e9f-5c7a14d7cfc7/img_c97edfd091690c6f72820446f1728f9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805e676f-0073-45c1-bc20-0f29db1cde2f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É uma Tabela Dinâmica?</a:t>
            </a:r>
            <a:endParaRPr lang="en-US" sz="2880" dirty="0"/>
          </a:p>
        </p:txBody>
      </p:sp>
      <p:sp>
        <p:nvSpPr>
          <p:cNvPr id="5" name="647fb5e1-c796-4f4d-86f8-63d66070609b"/>
          <p:cNvSpPr/>
          <p:nvPr/>
        </p:nvSpPr>
        <p:spPr>
          <a:xfrm>
            <a:off x="285750" y="857250"/>
            <a:ext cx="208026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CONCEITO FUNDAMENTAL</a:t>
            </a:r>
            <a:endParaRPr lang="en-US" sz="1080" dirty="0"/>
          </a:p>
        </p:txBody>
      </p:sp>
      <p:sp>
        <p:nvSpPr>
          <p:cNvPr id="6" name="a5fa6e14-8e48-4411-a09a-7307c299c009"/>
          <p:cNvSpPr/>
          <p:nvPr/>
        </p:nvSpPr>
        <p:spPr>
          <a:xfrm>
            <a:off x="285750" y="1165860"/>
            <a:ext cx="4572000" cy="181965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Tabela Dinâmica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i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Pivot Table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é um mecanismo de computação que resume, consolida e reorganiza milhares de dados brutos instantaneamente. Em vez de escrever dezenas de fórmulas complexas de soma e busca, o gestor apenas arrasta variáveis para eixos analíticos.</a:t>
            </a:r>
            <a:endParaRPr lang="en-US" sz="1620" dirty="0"/>
          </a:p>
        </p:txBody>
      </p:sp>
      <p:sp>
        <p:nvSpPr>
          <p:cNvPr id="7" name="9b8df041-9895-4b06-a4cc-bd993cc468b1_card"/>
          <p:cNvSpPr/>
          <p:nvPr/>
        </p:nvSpPr>
        <p:spPr>
          <a:xfrm>
            <a:off x="285750" y="3200400"/>
            <a:ext cx="4572000" cy="1101852"/>
          </a:xfrm>
          <a:prstGeom prst="roundRect">
            <a:avLst>
              <a:gd name="adj" fmla="val 8299"/>
            </a:avLst>
          </a:prstGeom>
          <a:solidFill>
            <a:srgbClr val="FAEFDA"/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8" name="9b8df041-9895-4b06-a4cc-bd993cc468b1_emoji"/>
          <p:cNvSpPr/>
          <p:nvPr/>
        </p:nvSpPr>
        <p:spPr>
          <a:xfrm>
            <a:off x="400050" y="334899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9" name="9b8df041-9895-4b06-a4cc-bd993cc468b1_text"/>
          <p:cNvSpPr/>
          <p:nvPr/>
        </p:nvSpPr>
        <p:spPr>
          <a:xfrm>
            <a:off x="765810" y="3314700"/>
            <a:ext cx="397764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Ponto-chave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Velocidade na exploração de dados sem alterar a base original.</a:t>
            </a:r>
            <a:endParaRPr lang="en-US" sz="14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9" descr="/home/forge/chalkie-production-workers-3/releases/77481733/backend/storage/app/render-specs/7275d6bb-0293-421a-9e9f-5c7a14d7cfc7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9a810a36-e22f-45a9-b577-cbd513e3b996" descr="/home/forge/chalkie-production-workers-3/releases/77481733/backend/storage/app/render-specs/7275d6bb-0293-421a-9e9f-5c7a14d7cfc7/img_cd079e21538f160163db993e06c64d3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0b22d081-c1df-49c8-b1a2-300e7a2b4c3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Importância na Tomada de Decisão</a:t>
            </a:r>
            <a:endParaRPr lang="en-US" sz="2880" dirty="0"/>
          </a:p>
        </p:txBody>
      </p:sp>
      <p:sp>
        <p:nvSpPr>
          <p:cNvPr id="5" name="feb72000-dfd4-44d1-8f5e-0a9b0c8c6fb6"/>
          <p:cNvSpPr/>
          <p:nvPr/>
        </p:nvSpPr>
        <p:spPr>
          <a:xfrm>
            <a:off x="4286250" y="857250"/>
            <a:ext cx="187452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APLICAÇÃO GERENCIAL</a:t>
            </a:r>
            <a:endParaRPr lang="en-US" sz="1080" dirty="0"/>
          </a:p>
        </p:txBody>
      </p:sp>
      <p:sp>
        <p:nvSpPr>
          <p:cNvPr id="6" name="33bc515e-4920-451e-bda2-be95649ca703"/>
          <p:cNvSpPr/>
          <p:nvPr/>
        </p:nvSpPr>
        <p:spPr>
          <a:xfrm>
            <a:off x="4286250" y="1165860"/>
            <a:ext cx="457200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Agilidade analítica evita perdas financeiras. Tabelas dinâmicas permitem responder rapidamente a questões críticas: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filial teve maior lucro?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Quais vendedores bateram metas?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Quais produtos têm margens negativas?</a:t>
            </a:r>
            <a:endParaRPr lang="en-US" sz="1620" dirty="0"/>
          </a:p>
        </p:txBody>
      </p:sp>
      <p:sp>
        <p:nvSpPr>
          <p:cNvPr id="7" name="2eddf50a-0213-408c-b7a1-9d35c9180313_card"/>
          <p:cNvSpPr/>
          <p:nvPr/>
        </p:nvSpPr>
        <p:spPr>
          <a:xfrm>
            <a:off x="4286250" y="3188970"/>
            <a:ext cx="4572000" cy="1101852"/>
          </a:xfrm>
          <a:prstGeom prst="roundRect">
            <a:avLst>
              <a:gd name="adj" fmla="val 8299"/>
            </a:avLst>
          </a:prstGeom>
          <a:solidFill>
            <a:srgbClr val="EEEDFE"/>
          </a:solidFill>
          <a:ln w="11430">
            <a:solidFill>
              <a:srgbClr val="08044D">
                <a:alpha val="20000"/>
              </a:srgbClr>
            </a:solidFill>
            <a:prstDash val="solid"/>
          </a:ln>
        </p:spPr>
      </p:sp>
      <p:sp>
        <p:nvSpPr>
          <p:cNvPr id="8" name="2eddf50a-0213-408c-b7a1-9d35c9180313_emoji"/>
          <p:cNvSpPr/>
          <p:nvPr/>
        </p:nvSpPr>
        <p:spPr>
          <a:xfrm>
            <a:off x="4400550" y="333756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🤯</a:t>
            </a:r>
            <a:endParaRPr lang="en-US" sz="2160" dirty="0"/>
          </a:p>
        </p:txBody>
      </p:sp>
      <p:sp>
        <p:nvSpPr>
          <p:cNvPr id="9" name="2eddf50a-0213-408c-b7a1-9d35c9180313_text"/>
          <p:cNvSpPr/>
          <p:nvPr/>
        </p:nvSpPr>
        <p:spPr>
          <a:xfrm>
            <a:off x="4766310" y="3303270"/>
            <a:ext cx="397764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804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Curiosidade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804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Redes de varejo gerenciam estoques diariamente via tabelas dinâmicas.</a:t>
            </a:r>
            <a:endParaRPr lang="en-US" sz="14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0" descr="/home/forge/chalkie-production-workers-3/releases/77481733/backend/storage/app/render-specs/7275d6bb-0293-421a-9e9f-5c7a14d7cfc7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3fdde76d-296d-4c83-ba74-6499b87efbf5" descr="/home/forge/chalkie-production-workers-3/releases/77481733/backend/storage/app/render-specs/7275d6bb-0293-421a-9e9f-5c7a14d7cfc7/img_872c07807084ada0c97376b064e3fa3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78867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4" name="545ab57e-c56f-4915-ade5-b96a59a74c85" descr="/home/forge/chalkie-production-workers-3/releases/77481733/backend/storage/app/render-specs/7275d6bb-0293-421a-9e9f-5c7a14d7cfc7/img_dfaa3db4b9afa5888288fc750bc25a4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010" y="78867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5" name="9a92c83e-8c62-422f-86cf-5bd19d8ab2a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Requisitos da Base Bruta</a:t>
            </a:r>
            <a:endParaRPr lang="en-US" sz="2880" dirty="0"/>
          </a:p>
        </p:txBody>
      </p:sp>
      <p:sp>
        <p:nvSpPr>
          <p:cNvPr id="6" name="f35fa406-2eb6-4db7-9fc8-da5faf9e0174"/>
          <p:cNvSpPr/>
          <p:nvPr/>
        </p:nvSpPr>
        <p:spPr>
          <a:xfrm>
            <a:off x="285750" y="2983230"/>
            <a:ext cx="4194810" cy="79552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 Correta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Cabeçalhos claros na primeira linha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linha única por registro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células mescladas na tabela</a:t>
            </a:r>
            <a:endParaRPr lang="en-US" sz="1980" dirty="0"/>
          </a:p>
        </p:txBody>
      </p:sp>
      <p:sp>
        <p:nvSpPr>
          <p:cNvPr id="7" name="a7061659-9d05-4805-8a56-638a82359b98"/>
          <p:cNvSpPr/>
          <p:nvPr/>
        </p:nvSpPr>
        <p:spPr>
          <a:xfrm>
            <a:off x="4652010" y="2983230"/>
            <a:ext cx="4194810" cy="79552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Erros Comuns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Células mescladas nos dados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Linhas em branco dividindo blocos</a:t>
            </a:r>
            <a:endParaRPr lang="en-US" sz="198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Tipos de dados misturados na coluna</a:t>
            </a:r>
            <a:endParaRPr lang="en-US" sz="19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1" descr="/home/forge/chalkie-production-workers-3/releases/77481733/backend/storage/app/render-specs/7275d6bb-0293-421a-9e9f-5c7a14d7cfc7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cbe169e3-f5cc-44bb-b4c5-888ee968b2e0"/>
          <p:cNvSpPr/>
          <p:nvPr/>
        </p:nvSpPr>
        <p:spPr>
          <a:xfrm>
            <a:off x="171450" y="90297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D32F2F"/>
            </a:solidFill>
            <a:prstDash val="solid"/>
          </a:ln>
        </p:spPr>
      </p:sp>
      <p:sp>
        <p:nvSpPr>
          <p:cNvPr id="4" name="85c02d16-b059-4aa0-936f-66e467555b5e"/>
          <p:cNvSpPr/>
          <p:nvPr/>
        </p:nvSpPr>
        <p:spPr>
          <a:xfrm>
            <a:off x="2377440" y="90297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D32F2F"/>
            </a:solidFill>
            <a:prstDash val="solid"/>
          </a:ln>
        </p:spPr>
      </p:sp>
      <p:sp>
        <p:nvSpPr>
          <p:cNvPr id="5" name="1d5c7af6-81c5-42d2-85d2-bc7d65b1342b"/>
          <p:cNvSpPr/>
          <p:nvPr/>
        </p:nvSpPr>
        <p:spPr>
          <a:xfrm>
            <a:off x="4572000" y="90297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D32F2F"/>
            </a:solidFill>
            <a:prstDash val="solid"/>
          </a:ln>
        </p:spPr>
      </p:sp>
      <p:sp>
        <p:nvSpPr>
          <p:cNvPr id="6" name="df3e546f-d608-4f90-8d0b-0e4eda6ec06f"/>
          <p:cNvSpPr/>
          <p:nvPr/>
        </p:nvSpPr>
        <p:spPr>
          <a:xfrm>
            <a:off x="6777990" y="90297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D32F2F"/>
            </a:solidFill>
            <a:prstDash val="solid"/>
          </a:ln>
        </p:spPr>
      </p:sp>
      <p:sp>
        <p:nvSpPr>
          <p:cNvPr id="7" name="e14bca77-5226-4843-b35c-c759dcf38ab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Passo a Passo: Criação da Tabela</a:t>
            </a:r>
            <a:endParaRPr lang="en-US" sz="2880" dirty="0"/>
          </a:p>
        </p:txBody>
      </p:sp>
      <p:sp>
        <p:nvSpPr>
          <p:cNvPr id="8" name="2a887369-ce58-48e4-b961-ad6d8a3263de"/>
          <p:cNvSpPr/>
          <p:nvPr/>
        </p:nvSpPr>
        <p:spPr>
          <a:xfrm>
            <a:off x="285750" y="1360170"/>
            <a:ext cx="197739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Selecionar qualquer célula dentro da base bruta organizada.</a:t>
            </a:r>
            <a:endParaRPr lang="en-US" sz="1620" dirty="0"/>
          </a:p>
        </p:txBody>
      </p:sp>
      <p:sp>
        <p:nvSpPr>
          <p:cNvPr id="9" name="84c3b341-d8a0-41c4-ac26-76c1bea4cd61"/>
          <p:cNvSpPr/>
          <p:nvPr/>
        </p:nvSpPr>
        <p:spPr>
          <a:xfrm>
            <a:off x="2491740" y="1360170"/>
            <a:ext cx="197739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Acessar a guia Inserir e clicar em Tabela Dinâmica.</a:t>
            </a:r>
            <a:endParaRPr lang="en-US" sz="1620" dirty="0"/>
          </a:p>
        </p:txBody>
      </p:sp>
      <p:sp>
        <p:nvSpPr>
          <p:cNvPr id="10" name="70308997-e479-48e4-8ee1-ab4c506d64fb"/>
          <p:cNvSpPr/>
          <p:nvPr/>
        </p:nvSpPr>
        <p:spPr>
          <a:xfrm>
            <a:off x="4686300" y="1360170"/>
            <a:ext cx="197739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Confirmar o intervalo e criar em Nova Planilha.</a:t>
            </a:r>
            <a:endParaRPr lang="en-US" sz="1620" dirty="0"/>
          </a:p>
        </p:txBody>
      </p:sp>
      <p:sp>
        <p:nvSpPr>
          <p:cNvPr id="11" name="7072269f-f525-4a04-aa03-f7e2bca20def"/>
          <p:cNvSpPr/>
          <p:nvPr/>
        </p:nvSpPr>
        <p:spPr>
          <a:xfrm>
            <a:off x="6892290" y="1360170"/>
            <a:ext cx="197739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Distribuir os campos nos quadrantes analíticos da ferramenta.</a:t>
            </a:r>
            <a:endParaRPr lang="en-US" sz="16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2" descr="/home/forge/chalkie-production-workers-3/releases/77481733/backend/storage/app/render-specs/7275d6bb-0293-421a-9e9f-5c7a14d7cfc7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2b40c219-10b4-40d1-972d-24be2c594328" descr="/home/forge/chalkie-production-workers-3/releases/77481733/backend/storage/app/render-specs/7275d6bb-0293-421a-9e9f-5c7a14d7cfc7/img_570ac219f77787dcb1f00bbee6c6997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fbe80c41-9180-4dc5-91a0-3e0ad6f3fd6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Quatro Quadrantes da Dinâmica</a:t>
            </a:r>
            <a:endParaRPr lang="en-US" sz="2880" dirty="0"/>
          </a:p>
        </p:txBody>
      </p:sp>
      <p:sp>
        <p:nvSpPr>
          <p:cNvPr id="5" name="b52ec46d-8cf1-4ed7-8a08-483f93649cb9"/>
          <p:cNvSpPr/>
          <p:nvPr/>
        </p:nvSpPr>
        <p:spPr>
          <a:xfrm>
            <a:off x="285750" y="788670"/>
            <a:ext cx="45720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interface organiza dados arrastando colunas para quatro áreas: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Filtros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restringe o escopo do relatório.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Colunas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cria divisões na horizontal.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Linhas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organiza categorias na vertical.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Valores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efetua cálculos consolidados.</a:t>
            </a:r>
            <a:endParaRPr lang="en-US" sz="1620" dirty="0"/>
          </a:p>
        </p:txBody>
      </p:sp>
      <p:sp>
        <p:nvSpPr>
          <p:cNvPr id="6" name="c7065c89-5af8-4ee3-a641-8c5081c34791_card"/>
          <p:cNvSpPr/>
          <p:nvPr/>
        </p:nvSpPr>
        <p:spPr>
          <a:xfrm>
            <a:off x="285750" y="3851910"/>
            <a:ext cx="4572000" cy="1101852"/>
          </a:xfrm>
          <a:prstGeom prst="roundRect">
            <a:avLst>
              <a:gd name="adj" fmla="val 8299"/>
            </a:avLst>
          </a:prstGeom>
          <a:solidFill>
            <a:srgbClr val="E6F1FB"/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7" name="c7065c89-5af8-4ee3-a641-8c5081c34791_emoji"/>
          <p:cNvSpPr/>
          <p:nvPr/>
        </p:nvSpPr>
        <p:spPr>
          <a:xfrm>
            <a:off x="400050" y="400050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8" name="c7065c89-5af8-4ee3-a641-8c5081c34791_text"/>
          <p:cNvSpPr/>
          <p:nvPr/>
        </p:nvSpPr>
        <p:spPr>
          <a:xfrm>
            <a:off x="765810" y="3966210"/>
            <a:ext cx="397764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Lembre-se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Textos vão para Linhas; números vão para Valores.</a:t>
            </a:r>
            <a:endParaRPr lang="en-US" sz="14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3" descr="/home/forge/chalkie-production-workers-3/releases/77481733/backend/storage/app/render-specs/7275d6bb-0293-421a-9e9f-5c7a14d7cfc7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7d06212e-3d83-4e71-ad67-1f40d58cf65b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Ordenação: Criando a Dinâmica</a:t>
            </a:r>
            <a:endParaRPr lang="en-US" sz="2880" dirty="0"/>
          </a:p>
        </p:txBody>
      </p:sp>
      <p:sp>
        <p:nvSpPr>
          <p:cNvPr id="4" name="9ef4442b-7e65-4b90-85c5-d67ece3aa1a1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Ordene os passos essenciais para criar uma Tabela Dinâmica do zero a partir de dados brutos:</a:t>
            </a:r>
            <a:endParaRPr lang="en-US" sz="1620" dirty="0"/>
          </a:p>
        </p:txBody>
      </p:sp>
      <p:sp>
        <p:nvSpPr>
          <p:cNvPr id="5" name="d94b7d10-bb19-4110-8da2-d1801884958f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Garantir cabeçalhos claros e ausência de células mescladas</a:t>
            </a:r>
            <a:endParaRPr lang="en-US" sz="1620" dirty="0"/>
          </a:p>
        </p:txBody>
      </p:sp>
      <p:sp>
        <p:nvSpPr>
          <p:cNvPr id="6" name="3b877972-a58d-4bdf-87a0-c225773d0fb4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Definir se o relatório será aberto em nova aba ou existente</a:t>
            </a:r>
            <a:endParaRPr lang="en-US" sz="1620" dirty="0"/>
          </a:p>
        </p:txBody>
      </p:sp>
      <p:sp>
        <p:nvSpPr>
          <p:cNvPr id="7" name="1b364af1-8773-40d3-840b-77df23548889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Selecionar uma célula e acessar a guia Inserir &gt; Tabela Dinâmica</a:t>
            </a:r>
            <a:endParaRPr lang="en-US" sz="1620" dirty="0"/>
          </a:p>
        </p:txBody>
      </p:sp>
      <p:sp>
        <p:nvSpPr>
          <p:cNvPr id="8" name="017e1c70-b365-4395-9c25-04a9e8ed8dba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Arrastar os campos para os quadrantes de Linhas, Colunas e Valores</a:t>
            </a:r>
            <a:endParaRPr lang="en-US" sz="16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4" descr="/home/forge/chalkie-production-workers-3/releases/77481733/backend/storage/app/render-specs/7275d6bb-0293-421a-9e9f-5c7a14d7cfc7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7d06212e-3d83-4e71-ad67-1f40d58cf65b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Ordenação: Criando a Dinâmica</a:t>
            </a:r>
            <a:endParaRPr lang="en-US" sz="2880" dirty="0"/>
          </a:p>
        </p:txBody>
      </p:sp>
      <p:sp>
        <p:nvSpPr>
          <p:cNvPr id="4" name="9ef4442b-7e65-4b90-85c5-d67ece3aa1a1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Ordene os passos essenciais para criar uma Tabela Dinâmica do zero a partir de dados brutos:</a:t>
            </a:r>
            <a:endParaRPr lang="en-US" sz="1620" dirty="0"/>
          </a:p>
        </p:txBody>
      </p:sp>
      <p:sp>
        <p:nvSpPr>
          <p:cNvPr id="5" name="d94b7d10-bb19-4110-8da2-d1801884958f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Garantir cabeçalhos claros e ausência de células mescladas</a:t>
            </a:r>
            <a:endParaRPr lang="en-US" sz="1620" dirty="0"/>
          </a:p>
        </p:txBody>
      </p:sp>
      <p:sp>
        <p:nvSpPr>
          <p:cNvPr id="6" name="3b877972-a58d-4bdf-87a0-c225773d0fb4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Definir se o relatório será aberto em nova aba ou existente</a:t>
            </a:r>
            <a:endParaRPr lang="en-US" sz="1620" dirty="0"/>
          </a:p>
        </p:txBody>
      </p:sp>
      <p:sp>
        <p:nvSpPr>
          <p:cNvPr id="7" name="1b364af1-8773-40d3-840b-77df23548889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Selecionar uma célula e acessar a guia Inserir &gt; Tabela Dinâmica</a:t>
            </a:r>
            <a:endParaRPr lang="en-US" sz="1620" dirty="0"/>
          </a:p>
        </p:txBody>
      </p:sp>
      <p:sp>
        <p:nvSpPr>
          <p:cNvPr id="8" name="017e1c70-b365-4395-9c25-04a9e8ed8dba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Arrastar os campos para os quadrantes de Linhas, Colunas e Valores</a:t>
            </a:r>
            <a:endParaRPr lang="en-US" sz="1620" dirty="0"/>
          </a:p>
        </p:txBody>
      </p:sp>
      <p:sp>
        <p:nvSpPr>
          <p:cNvPr id="9" name="29aee2a2-ac8b-44dd-897e-be2ee5aa678b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3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3600" dirty="0"/>
          </a:p>
        </p:txBody>
      </p:sp>
      <p:sp>
        <p:nvSpPr>
          <p:cNvPr id="10" name="ef517ef4-cfb3-4056-9721-d557f696081f"/>
          <p:cNvSpPr/>
          <p:nvPr/>
        </p:nvSpPr>
        <p:spPr>
          <a:xfrm>
            <a:off x="7292340" y="15201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70" dirty="0"/>
          </a:p>
        </p:txBody>
      </p:sp>
      <p:sp>
        <p:nvSpPr>
          <p:cNvPr id="11" name="13dfb6a3-8787-4915-b879-48011ac8cc98"/>
          <p:cNvSpPr/>
          <p:nvPr/>
        </p:nvSpPr>
        <p:spPr>
          <a:xfrm>
            <a:off x="7292340" y="22631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70" dirty="0"/>
          </a:p>
        </p:txBody>
      </p:sp>
      <p:sp>
        <p:nvSpPr>
          <p:cNvPr id="12" name="b4477368-ff66-43c8-812d-fd71c3ecc6c4"/>
          <p:cNvSpPr/>
          <p:nvPr/>
        </p:nvSpPr>
        <p:spPr>
          <a:xfrm>
            <a:off x="7292340" y="30060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70" dirty="0"/>
          </a:p>
        </p:txBody>
      </p:sp>
      <p:sp>
        <p:nvSpPr>
          <p:cNvPr id="13" name="d547ecb6-1799-4467-ae3e-b57a1332e502"/>
          <p:cNvSpPr/>
          <p:nvPr/>
        </p:nvSpPr>
        <p:spPr>
          <a:xfrm>
            <a:off x="7292340" y="37490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17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5" descr="/home/forge/chalkie-production-workers-3/releases/77481733/backend/storage/app/render-specs/7275d6bb-0293-421a-9e9f-5c7a14d7cfc7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525a59da-d8d8-4e42-a88b-4e74376d8497" descr="/home/forge/chalkie-production-workers-3/releases/77481733/backend/storage/app/render-specs/7275d6bb-0293-421a-9e9f-5c7a14d7cfc7/img_112420f99374a21de3464d7650b82d4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d85003de-cdd4-4097-a99f-7b6668bbba0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Filtragem e Ordenação de Dados</a:t>
            </a:r>
            <a:endParaRPr lang="en-US" sz="2880" dirty="0"/>
          </a:p>
        </p:txBody>
      </p:sp>
      <p:sp>
        <p:nvSpPr>
          <p:cNvPr id="5" name="d3f4ab38-8ecc-477f-9cbc-63f6c1eef90b"/>
          <p:cNvSpPr/>
          <p:nvPr/>
        </p:nvSpPr>
        <p:spPr>
          <a:xfrm>
            <a:off x="4286250" y="857250"/>
            <a:ext cx="129159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ORGANIZAÇÃO</a:t>
            </a:r>
            <a:endParaRPr lang="en-US" sz="1080" dirty="0"/>
          </a:p>
        </p:txBody>
      </p:sp>
      <p:sp>
        <p:nvSpPr>
          <p:cNvPr id="6" name="e8aae9a5-7f21-4307-be0f-f955b8b3123d"/>
          <p:cNvSpPr/>
          <p:nvPr/>
        </p:nvSpPr>
        <p:spPr>
          <a:xfrm>
            <a:off x="4286250" y="1165860"/>
            <a:ext cx="4572000" cy="181965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Relatórios tornam-se compreensíveis quando ordenados por relevância financeira. Use o filtro de rótulo para pesquisar categorias e aplique classificação decrescente para posicionar os maiores faturamentos no topo da visualização.</a:t>
            </a:r>
            <a:endParaRPr lang="en-US" sz="1620" dirty="0"/>
          </a:p>
        </p:txBody>
      </p:sp>
      <p:sp>
        <p:nvSpPr>
          <p:cNvPr id="7" name="4a596f62-9305-423c-9d10-467225069fd4_card"/>
          <p:cNvSpPr/>
          <p:nvPr/>
        </p:nvSpPr>
        <p:spPr>
          <a:xfrm>
            <a:off x="4286250" y="2948940"/>
            <a:ext cx="4572000" cy="1101852"/>
          </a:xfrm>
          <a:prstGeom prst="roundRect">
            <a:avLst>
              <a:gd name="adj" fmla="val 8299"/>
            </a:avLst>
          </a:prstGeom>
          <a:solidFill>
            <a:srgbClr val="E1F6EF"/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</p:sp>
      <p:sp>
        <p:nvSpPr>
          <p:cNvPr id="8" name="4a596f62-9305-423c-9d10-467225069fd4_emoji"/>
          <p:cNvSpPr/>
          <p:nvPr/>
        </p:nvSpPr>
        <p:spPr>
          <a:xfrm>
            <a:off x="4400550" y="309753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9" name="4a596f62-9305-423c-9d10-467225069fd4_text"/>
          <p:cNvSpPr/>
          <p:nvPr/>
        </p:nvSpPr>
        <p:spPr>
          <a:xfrm>
            <a:off x="4766310" y="3063240"/>
            <a:ext cx="397764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84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84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Filtrar os 10 maiores clientes destaca rapidamente 80% do faturamento.</a:t>
            </a:r>
            <a:endParaRPr lang="en-US" sz="14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6" descr="/home/forge/chalkie-production-workers-3/releases/77481733/backend/storage/app/render-specs/7275d6bb-0293-421a-9e9f-5c7a14d7cfc7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48c0fd64-34d8-41cd-ad79-bc107eb2590d"/>
          <p:cNvSpPr/>
          <p:nvPr/>
        </p:nvSpPr>
        <p:spPr>
          <a:xfrm>
            <a:off x="285750" y="44577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Agrupamento de Datas em Períodos</a:t>
            </a:r>
            <a:endParaRPr lang="en-US" sz="2880" dirty="0"/>
          </a:p>
        </p:txBody>
      </p:sp>
      <p:sp>
        <p:nvSpPr>
          <p:cNvPr id="4" name="cee3f5ce-c9f5-427c-8583-fbc2d1e84733"/>
          <p:cNvSpPr/>
          <p:nvPr/>
        </p:nvSpPr>
        <p:spPr>
          <a:xfrm>
            <a:off x="285750" y="106299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 Individuais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Milhares de registros com datas diárias dispersas (ex: 01/01, 02/01, 03/01) dificultam a identificação imediata de tendências de longo prazo na empresa.</a:t>
            </a:r>
            <a:endParaRPr lang="en-US" sz="1980" dirty="0"/>
          </a:p>
        </p:txBody>
      </p:sp>
      <p:sp>
        <p:nvSpPr>
          <p:cNvPr id="5" name="7fe78b94-b51d-487e-a432-fc80854d0365_card"/>
          <p:cNvSpPr/>
          <p:nvPr/>
        </p:nvSpPr>
        <p:spPr>
          <a:xfrm>
            <a:off x="285750" y="2971800"/>
            <a:ext cx="4194810" cy="1348740"/>
          </a:xfrm>
          <a:prstGeom prst="roundRect">
            <a:avLst>
              <a:gd name="adj" fmla="val 6780"/>
            </a:avLst>
          </a:prstGeom>
          <a:solidFill>
            <a:srgbClr val="FCEBEB"/>
          </a:solidFill>
          <a:ln w="11430">
            <a:solidFill>
              <a:srgbClr val="460606">
                <a:alpha val="20000"/>
              </a:srgbClr>
            </a:solidFill>
            <a:prstDash val="solid"/>
          </a:ln>
        </p:spPr>
      </p:sp>
      <p:sp>
        <p:nvSpPr>
          <p:cNvPr id="6" name="7fe78b94-b51d-487e-a432-fc80854d0365_emoji"/>
          <p:cNvSpPr/>
          <p:nvPr/>
        </p:nvSpPr>
        <p:spPr>
          <a:xfrm>
            <a:off x="400050" y="312039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⚠️</a:t>
            </a:r>
            <a:endParaRPr lang="en-US" sz="2160" dirty="0"/>
          </a:p>
        </p:txBody>
      </p:sp>
      <p:sp>
        <p:nvSpPr>
          <p:cNvPr id="7" name="7fe78b94-b51d-487e-a432-fc80854d0365_text"/>
          <p:cNvSpPr/>
          <p:nvPr/>
        </p:nvSpPr>
        <p:spPr>
          <a:xfrm>
            <a:off x="765810" y="3086100"/>
            <a:ext cx="360045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4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Atenção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4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Evite tabelas com centenas de linhas contendo datas diárias brutas.</a:t>
            </a:r>
            <a:endParaRPr lang="en-US" sz="1440" dirty="0"/>
          </a:p>
        </p:txBody>
      </p:sp>
      <p:sp>
        <p:nvSpPr>
          <p:cNvPr id="8" name="54fd6f93-fa09-4e7e-9359-f2cc58c67c17"/>
          <p:cNvSpPr/>
          <p:nvPr/>
        </p:nvSpPr>
        <p:spPr>
          <a:xfrm>
            <a:off x="4652010" y="106299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Agrupamento Automático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Ao clicar com o botão direito na data e escolher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Agrupar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o Excel consolida automaticamente os registros em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Meses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Trimestres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Anos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980" dirty="0"/>
          </a:p>
        </p:txBody>
      </p:sp>
      <p:sp>
        <p:nvSpPr>
          <p:cNvPr id="9" name="ddd27264-5b32-4c14-adbc-7600ded47e97_card"/>
          <p:cNvSpPr/>
          <p:nvPr/>
        </p:nvSpPr>
        <p:spPr>
          <a:xfrm>
            <a:off x="4652010" y="2720340"/>
            <a:ext cx="4194810" cy="1348740"/>
          </a:xfrm>
          <a:prstGeom prst="roundRect">
            <a:avLst>
              <a:gd name="adj" fmla="val 6780"/>
            </a:avLst>
          </a:prstGeom>
          <a:solidFill>
            <a:srgbClr val="FAEFDA"/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10" name="ddd27264-5b32-4c14-adbc-7600ded47e97_emoji"/>
          <p:cNvSpPr/>
          <p:nvPr/>
        </p:nvSpPr>
        <p:spPr>
          <a:xfrm>
            <a:off x="4766310" y="286893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11" name="ddd27264-5b32-4c14-adbc-7600ded47e97_text"/>
          <p:cNvSpPr/>
          <p:nvPr/>
        </p:nvSpPr>
        <p:spPr>
          <a:xfrm>
            <a:off x="5132070" y="2834640"/>
            <a:ext cx="360045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Ponto-chave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Permite enxergar sazonalidade e comparar trimestres instantaneamente.</a:t>
            </a:r>
            <a:endParaRPr lang="en-US" sz="14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7" descr="/home/forge/chalkie-production-workers-3/releases/77481733/backend/storage/app/render-specs/7275d6bb-0293-421a-9e9f-5c7a14d7cfc7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dacc0e29-ca2b-4b0f-90cf-b228a99cde25" descr="/home/forge/chalkie-production-workers-3/releases/77481733/backend/storage/app/render-specs/7275d6bb-0293-421a-9e9f-5c7a14d7cfc7/img_5566099d6f748dfd34974e720c761b8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9d931c91-a535-4f19-b738-f2f6724dc03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Agrupamento por Faixas Numéricas</a:t>
            </a:r>
            <a:endParaRPr lang="en-US" sz="2880" dirty="0"/>
          </a:p>
        </p:txBody>
      </p:sp>
      <p:sp>
        <p:nvSpPr>
          <p:cNvPr id="5" name="77a0f981-d79b-4e06-ae98-5c79df40b146"/>
          <p:cNvSpPr/>
          <p:nvPr/>
        </p:nvSpPr>
        <p:spPr>
          <a:xfrm>
            <a:off x="285750" y="857250"/>
            <a:ext cx="190881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ESTATÍSTICA APLICADA</a:t>
            </a:r>
            <a:endParaRPr lang="en-US" sz="1080" dirty="0"/>
          </a:p>
        </p:txBody>
      </p:sp>
      <p:sp>
        <p:nvSpPr>
          <p:cNvPr id="6" name="8b81f0a2-8372-4531-b30b-9a509946cbfb"/>
          <p:cNvSpPr/>
          <p:nvPr/>
        </p:nvSpPr>
        <p:spPr>
          <a:xfrm>
            <a:off x="285750" y="1165860"/>
            <a:ext cx="4572000" cy="181965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Além de datas, podemos agrupar valores numéricos contínuos em faixas ou classes (ex: pedidos de R$ 0 a R$ 500, de R$ 501 a R$ 1000).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Essa técnica cria distribuições de frequência sem precisar de fórmulas estatísticas complexas.</a:t>
            </a:r>
            <a:endParaRPr lang="en-US" sz="1620" dirty="0"/>
          </a:p>
        </p:txBody>
      </p:sp>
      <p:sp>
        <p:nvSpPr>
          <p:cNvPr id="7" name="89421919-4e55-4f70-829b-b8f511afd940_card"/>
          <p:cNvSpPr/>
          <p:nvPr/>
        </p:nvSpPr>
        <p:spPr>
          <a:xfrm>
            <a:off x="285750" y="3268980"/>
            <a:ext cx="4572000" cy="1101852"/>
          </a:xfrm>
          <a:prstGeom prst="roundRect">
            <a:avLst>
              <a:gd name="adj" fmla="val 8299"/>
            </a:avLst>
          </a:prstGeom>
          <a:solidFill>
            <a:srgbClr val="E1F6EF"/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</p:sp>
      <p:sp>
        <p:nvSpPr>
          <p:cNvPr id="8" name="89421919-4e55-4f70-829b-b8f511afd940_emoji"/>
          <p:cNvSpPr/>
          <p:nvPr/>
        </p:nvSpPr>
        <p:spPr>
          <a:xfrm>
            <a:off x="400050" y="341757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9" name="89421919-4e55-4f70-829b-b8f511afd940_text"/>
          <p:cNvSpPr/>
          <p:nvPr/>
        </p:nvSpPr>
        <p:spPr>
          <a:xfrm>
            <a:off x="765810" y="3383280"/>
            <a:ext cx="397764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84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84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 o ticket médio predominante nas vendas do período.</a:t>
            </a:r>
            <a:endParaRPr lang="en-US" sz="14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8" descr="/home/forge/chalkie-production-workers-3/releases/77481733/backend/storage/app/render-specs/7275d6bb-0293-421a-9e9f-5c7a14d7cfc7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496cda48-21a7-48c8-b216-670d2a29afcb" descr="/home/forge/chalkie-production-workers-3/releases/77481733/backend/storage/app/render-specs/7275d6bb-0293-421a-9e9f-5c7a14d7cfc7/img_716e49587e02ecf3b90e7c9d6abe182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58877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4" name="1323a7a3-4fc6-4e0b-a4cd-f9464ba8a786" descr="/home/forge/chalkie-production-workers-3/releases/77481733/backend/storage/app/render-specs/7275d6bb-0293-421a-9e9f-5c7a14d7cfc7/img_d6dcb731ee6a69da87048f8bd879b18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1740" y="90297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5" name="97c9c5a4-1a18-4c2c-bcef-76594b93da85" descr="/home/forge/chalkie-production-workers-3/releases/77481733/backend/storage/app/render-specs/7275d6bb-0293-421a-9e9f-5c7a14d7cfc7/img_1e52b76d5b0227e3125718800a79094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158877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6" name="287b092a-d518-4e19-a693-693f0c9d9f3f" descr="/home/forge/chalkie-production-workers-3/releases/77481733/backend/storage/app/render-specs/7275d6bb-0293-421a-9e9f-5c7a14d7cfc7/img_0306f9127778b3cb5c64ab9bee9e977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2290" y="902970"/>
            <a:ext cx="1977390" cy="1714500"/>
          </a:xfrm>
          <a:prstGeom prst="roundRect">
            <a:avLst>
              <a:gd name="adj" fmla="val 8000"/>
            </a:avLst>
          </a:prstGeom>
        </p:spPr>
      </p:pic>
      <p:sp>
        <p:nvSpPr>
          <p:cNvPr id="7" name="a6f5ef04-84a5-43c7-9e75-1aaf04c9a08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Configuração dos Campos de Valor</a:t>
            </a:r>
            <a:endParaRPr lang="en-US" sz="2880" dirty="0"/>
          </a:p>
        </p:txBody>
      </p:sp>
      <p:sp>
        <p:nvSpPr>
          <p:cNvPr id="8" name="0e5bd5c1-77b5-4eb4-ad22-a1dce7c0504b"/>
          <p:cNvSpPr/>
          <p:nvPr/>
        </p:nvSpPr>
        <p:spPr>
          <a:xfrm>
            <a:off x="285750" y="3417570"/>
            <a:ext cx="197739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Soma</a:t>
            </a:r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Totaliza monetariamente os valores das transações comerciais.</a:t>
            </a:r>
            <a:endParaRPr lang="en-US" sz="1620" dirty="0"/>
          </a:p>
        </p:txBody>
      </p:sp>
      <p:sp>
        <p:nvSpPr>
          <p:cNvPr id="9" name="7ab056ee-4c5a-4203-b621-d23c657b8186"/>
          <p:cNvSpPr/>
          <p:nvPr/>
        </p:nvSpPr>
        <p:spPr>
          <a:xfrm>
            <a:off x="2491740" y="2731770"/>
            <a:ext cx="197739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Contagem</a:t>
            </a:r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Quantifica o número de ocorrências ou notas fiscais.</a:t>
            </a:r>
            <a:endParaRPr lang="en-US" sz="1620" dirty="0"/>
          </a:p>
        </p:txBody>
      </p:sp>
      <p:sp>
        <p:nvSpPr>
          <p:cNvPr id="10" name="1ff9e282-c952-4487-81cf-f7d1efa7e521"/>
          <p:cNvSpPr/>
          <p:nvPr/>
        </p:nvSpPr>
        <p:spPr>
          <a:xfrm>
            <a:off x="4686300" y="3417570"/>
            <a:ext cx="197739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Média</a:t>
            </a:r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Calcula o ticket médio ou valor médio por cliente.</a:t>
            </a:r>
            <a:endParaRPr lang="en-US" sz="1620" dirty="0"/>
          </a:p>
        </p:txBody>
      </p:sp>
      <p:sp>
        <p:nvSpPr>
          <p:cNvPr id="11" name="161e1bed-6542-49c0-8af8-3d85270d2d7d"/>
          <p:cNvSpPr/>
          <p:nvPr/>
        </p:nvSpPr>
        <p:spPr>
          <a:xfrm>
            <a:off x="6892290" y="2731770"/>
            <a:ext cx="197739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Percentual (%)</a:t>
            </a:r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Mostra a representatividade de cada categoria no total.</a:t>
            </a:r>
            <a:endParaRPr lang="en-US" sz="16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9" descr="/home/forge/chalkie-production-workers-3/releases/77481733/backend/storage/app/render-specs/7275d6bb-0293-421a-9e9f-5c7a14d7cfc7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18dd9340-a1d8-460e-a4f5-d064387da967" descr="/home/forge/chalkie-production-workers-3/releases/77481733/backend/storage/app/render-specs/7275d6bb-0293-421a-9e9f-5c7a14d7cfc7/img_15427121938a0b574fe1dc9c56ed7ac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03674325-5aee-4743-9352-9cd3bfc3513a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Cálculos Percentuais na Prática</a:t>
            </a:r>
            <a:endParaRPr lang="en-US" sz="2880" dirty="0"/>
          </a:p>
        </p:txBody>
      </p:sp>
      <p:sp>
        <p:nvSpPr>
          <p:cNvPr id="5" name="e0c15993-e989-422e-b9ba-6f9fcb1b0922"/>
          <p:cNvSpPr/>
          <p:nvPr/>
        </p:nvSpPr>
        <p:spPr>
          <a:xfrm>
            <a:off x="4286250" y="857250"/>
            <a:ext cx="184023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MÉTRICAS GERENCIAIS</a:t>
            </a:r>
            <a:endParaRPr lang="en-US" sz="1080" dirty="0"/>
          </a:p>
        </p:txBody>
      </p:sp>
      <p:sp>
        <p:nvSpPr>
          <p:cNvPr id="6" name="02a486a4-7765-4f10-8ac0-e766b8558ab5"/>
          <p:cNvSpPr/>
          <p:nvPr/>
        </p:nvSpPr>
        <p:spPr>
          <a:xfrm>
            <a:off x="4286250" y="1165860"/>
            <a:ext cx="4572000" cy="210769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 opção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Mostrar Valores Como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altere de 'Sem Cálculo' para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 do Total Geral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ou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 do Total da Coluna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Isso permite responder rapidamente qual linha de produto representa 40% da receita da empresa, auxiliando no planejamento de compras e estoques.</a:t>
            </a:r>
            <a:endParaRPr lang="en-US" sz="1620" dirty="0"/>
          </a:p>
        </p:txBody>
      </p:sp>
      <p:sp>
        <p:nvSpPr>
          <p:cNvPr id="7" name="f5992221-9f72-4370-992c-3576d3d71f3f_card"/>
          <p:cNvSpPr/>
          <p:nvPr/>
        </p:nvSpPr>
        <p:spPr>
          <a:xfrm>
            <a:off x="4286250" y="3268980"/>
            <a:ext cx="4572000" cy="1348740"/>
          </a:xfrm>
          <a:prstGeom prst="roundRect">
            <a:avLst>
              <a:gd name="adj" fmla="val 6780"/>
            </a:avLst>
          </a:prstGeom>
          <a:solidFill>
            <a:srgbClr val="E6F1FB"/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8" name="f5992221-9f72-4370-992c-3576d3d71f3f_emoji"/>
          <p:cNvSpPr/>
          <p:nvPr/>
        </p:nvSpPr>
        <p:spPr>
          <a:xfrm>
            <a:off x="4400550" y="341757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9" name="f5992221-9f72-4370-992c-3576d3d71f3f_text"/>
          <p:cNvSpPr/>
          <p:nvPr/>
        </p:nvSpPr>
        <p:spPr>
          <a:xfrm>
            <a:off x="4766310" y="3383280"/>
            <a:ext cx="39776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Lembre-se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Mantenha a formatação como porcentagem com 1 ou 2 casas decimais.</a:t>
            </a:r>
            <a:endParaRPr lang="en-US" sz="144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0" descr="/home/forge/chalkie-production-workers-3/releases/77481733/backend/storage/app/render-specs/7275d6bb-0293-421a-9e9f-5c7a14d7cfc7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0a2fa65c-1f4f-41d9-a956-c6ef438128ca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Verificação: Agrupamento em Dinâmicas</a:t>
            </a:r>
            <a:endParaRPr lang="en-US" sz="2880" dirty="0"/>
          </a:p>
        </p:txBody>
      </p:sp>
      <p:sp>
        <p:nvSpPr>
          <p:cNvPr id="4" name="7712f6a2-2eda-4a32-9ba6-bf01f93cb4af-shadow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/>
        </p:spPr>
      </p:sp>
      <p:sp>
        <p:nvSpPr>
          <p:cNvPr id="5" name="7712f6a2-2eda-4a32-9ba6-bf01f93cb4af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agrupar datas por meses em uma Tabela Dinâmica, é obrigatório criar uma coluna auxiliar com fórmula na base bruta.</a:t>
            </a:r>
            <a:endParaRPr lang="en-US" sz="1620" dirty="0"/>
          </a:p>
        </p:txBody>
      </p:sp>
      <p:sp>
        <p:nvSpPr>
          <p:cNvPr id="6" name="63b5f042-09d0-457d-8246-774088a25bba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80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34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👍 </a:t>
            </a:r>
            <a:pPr algn="ctr" indent="0" marL="0">
              <a:lnSpc>
                <a:spcPts val="280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34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VERDADEIRO</a:t>
            </a:r>
            <a:endParaRPr lang="en-US" sz="2340" dirty="0"/>
          </a:p>
        </p:txBody>
      </p:sp>
      <p:sp>
        <p:nvSpPr>
          <p:cNvPr id="7" name="521810b0-92be-4b90-8274-18ac5f778e9a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80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34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👎 </a:t>
            </a:r>
            <a:pPr algn="ctr" indent="0" marL="0">
              <a:lnSpc>
                <a:spcPts val="280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34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FALSO</a:t>
            </a:r>
            <a:endParaRPr lang="en-US" sz="2340" dirty="0"/>
          </a:p>
        </p:txBody>
      </p:sp>
      <p:sp>
        <p:nvSpPr>
          <p:cNvPr id="8" name="166b5e61-2089-403f-b0f6-f67483aa0588"/>
          <p:cNvSpPr/>
          <p:nvPr/>
        </p:nvSpPr>
        <p:spPr>
          <a:xfrm>
            <a:off x="2571750" y="3714750"/>
            <a:ext cx="5715000" cy="4572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🤔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i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Prepare-se para explicar o seu raciocínio.</a:t>
            </a:r>
            <a:endParaRPr lang="en-US" sz="16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1" descr="/home/forge/chalkie-production-workers-3/releases/77481733/backend/storage/app/render-specs/7275d6bb-0293-421a-9e9f-5c7a14d7cfc7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0a2fa65c-1f4f-41d9-a956-c6ef438128ca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Verificação: Agrupamento em Dinâmicas</a:t>
            </a:r>
            <a:endParaRPr lang="en-US" sz="2880" dirty="0"/>
          </a:p>
        </p:txBody>
      </p:sp>
      <p:sp>
        <p:nvSpPr>
          <p:cNvPr id="4" name="7712f6a2-2eda-4a32-9ba6-bf01f93cb4af-shadow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/>
        </p:spPr>
      </p:sp>
      <p:sp>
        <p:nvSpPr>
          <p:cNvPr id="5" name="7712f6a2-2eda-4a32-9ba6-bf01f93cb4af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agrupar datas por meses em uma Tabela Dinâmica, é obrigatório criar uma coluna auxiliar com fórmula na base bruta.</a:t>
            </a:r>
            <a:endParaRPr lang="en-US" sz="1620" dirty="0"/>
          </a:p>
        </p:txBody>
      </p:sp>
      <p:sp>
        <p:nvSpPr>
          <p:cNvPr id="6" name="63b5f042-09d0-457d-8246-774088a25bba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80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34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👍 </a:t>
            </a:r>
            <a:pPr algn="ctr" indent="0" marL="0">
              <a:lnSpc>
                <a:spcPts val="280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34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VERDADEIRO</a:t>
            </a:r>
            <a:endParaRPr lang="en-US" sz="2340" dirty="0"/>
          </a:p>
        </p:txBody>
      </p:sp>
      <p:sp>
        <p:nvSpPr>
          <p:cNvPr id="7" name="521810b0-92be-4b90-8274-18ac5f778e9a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2C6E49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80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34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👎 </a:t>
            </a:r>
            <a:pPr algn="ctr" indent="0" marL="0">
              <a:lnSpc>
                <a:spcPts val="280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34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FALSO</a:t>
            </a:r>
            <a:endParaRPr lang="en-US" sz="2340" dirty="0"/>
          </a:p>
        </p:txBody>
      </p:sp>
      <p:sp>
        <p:nvSpPr>
          <p:cNvPr id="8" name="598c9687-2da6-42ec-a735-180917b242ac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3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3600" dirty="0"/>
          </a:p>
        </p:txBody>
      </p:sp>
      <p:sp>
        <p:nvSpPr>
          <p:cNvPr id="9" name="a5c53d46-52bd-42ec-81ee-a1002b02485c_card"/>
          <p:cNvSpPr/>
          <p:nvPr/>
        </p:nvSpPr>
        <p:spPr>
          <a:xfrm>
            <a:off x="457200" y="3657600"/>
            <a:ext cx="8229600" cy="1101852"/>
          </a:xfrm>
          <a:prstGeom prst="roundRect">
            <a:avLst>
              <a:gd name="adj" fmla="val 8299"/>
            </a:avLst>
          </a:prstGeom>
          <a:solidFill>
            <a:srgbClr val="FAEFDA"/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10" name="a5c53d46-52bd-42ec-81ee-a1002b02485c_emoji"/>
          <p:cNvSpPr/>
          <p:nvPr/>
        </p:nvSpPr>
        <p:spPr>
          <a:xfrm>
            <a:off x="571500" y="380619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11" name="a5c53d46-52bd-42ec-81ee-a1002b02485c_text"/>
          <p:cNvSpPr/>
          <p:nvPr/>
        </p:nvSpPr>
        <p:spPr>
          <a:xfrm>
            <a:off x="937260" y="3771900"/>
            <a:ext cx="763524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que é isso?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Excel possui recurso nativo de agrupamento por datas diretamente na Tabela Dinâmica.</a:t>
            </a:r>
            <a:endParaRPr lang="en-US" sz="1440" dirty="0"/>
          </a:p>
        </p:txBody>
      </p:sp>
      <p:sp>
        <p:nvSpPr>
          <p:cNvPr id="12" name="22be3ddc-f5be-45bd-a44a-93ae45f56df5"/>
          <p:cNvSpPr/>
          <p:nvPr/>
        </p:nvSpPr>
        <p:spPr>
          <a:xfrm>
            <a:off x="6435090" y="24917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7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2" descr="/home/forge/chalkie-production-workers-3/releases/77481733/backend/storage/app/render-specs/7275d6bb-0293-421a-9e9f-5c7a14d7cfc7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2056d182-6c26-45ef-983e-1c56d18661aa"/>
          <p:cNvSpPr/>
          <p:nvPr/>
        </p:nvSpPr>
        <p:spPr>
          <a:xfrm>
            <a:off x="285750" y="107442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Ouvindo o Gestor de Operações</a:t>
            </a:r>
            <a:endParaRPr lang="en-US" sz="2880" dirty="0"/>
          </a:p>
        </p:txBody>
      </p:sp>
      <p:sp>
        <p:nvSpPr>
          <p:cNvPr id="4" name="a62b9ddc-be34-4b15-990a-05624658313f"/>
          <p:cNvSpPr/>
          <p:nvPr/>
        </p:nvSpPr>
        <p:spPr>
          <a:xfrm>
            <a:off x="285750" y="169164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Ouça o áudio a seguir com atenção. O gerente comercial Carlos e a analista Sofia debatem como estruturar as tabelas dinâmicas para a reunião de diretoria da empresa.</a:t>
            </a:r>
            <a:endParaRPr lang="en-US" sz="1620" dirty="0"/>
          </a:p>
        </p:txBody>
      </p:sp>
      <p:sp>
        <p:nvSpPr>
          <p:cNvPr id="5" name="5294e9b0-bf73-4f98-94f8-3f89017e4d7f_card"/>
          <p:cNvSpPr/>
          <p:nvPr/>
        </p:nvSpPr>
        <p:spPr>
          <a:xfrm>
            <a:off x="285750" y="2731770"/>
            <a:ext cx="8572500" cy="854964"/>
          </a:xfrm>
          <a:prstGeom prst="roundRect">
            <a:avLst>
              <a:gd name="adj" fmla="val 10695"/>
            </a:avLst>
          </a:prstGeom>
          <a:solidFill>
            <a:srgbClr val="E6F1FB"/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6" name="5294e9b0-bf73-4f98-94f8-3f89017e4d7f_emoji"/>
          <p:cNvSpPr/>
          <p:nvPr/>
        </p:nvSpPr>
        <p:spPr>
          <a:xfrm>
            <a:off x="400050" y="288036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7" name="5294e9b0-bf73-4f98-94f8-3f89017e4d7f_text"/>
          <p:cNvSpPr/>
          <p:nvPr/>
        </p:nvSpPr>
        <p:spPr>
          <a:xfrm>
            <a:off x="765810" y="2846070"/>
            <a:ext cx="7978140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Lembre-se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Preste atenção aos campos escolhidos e às métricas percentuais discutidas.</a:t>
            </a:r>
            <a:endParaRPr lang="en-US" sz="144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3" descr="/home/forge/chalkie-production-workers-3/releases/77481733/backend/storage/app/render-specs/7275d6bb-0293-421a-9e9f-5c7a14d7cfc7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8c90a11d-e56b-4383-95d5-ae0d4e9d3abe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Reunião de Alinhamento Analítico</a:t>
            </a:r>
            <a:endParaRPr lang="en-US" sz="2880" dirty="0"/>
          </a:p>
        </p:txBody>
      </p:sp>
      <p:sp>
        <p:nvSpPr>
          <p:cNvPr id="4" name="c8f7186d-1000-4fa5-b3c4-c7270e676f51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Ouça o áudio e responda às perguntas</a:t>
            </a:r>
            <a:endParaRPr lang="en-US" sz="1440" dirty="0"/>
          </a:p>
        </p:txBody>
      </p:sp>
      <p:sp>
        <p:nvSpPr>
          <p:cNvPr id="5" name="272adea5-06e0-40d8-ac3a-aebc5076392f"/>
          <p:cNvSpPr/>
          <p:nvPr/>
        </p:nvSpPr>
        <p:spPr>
          <a:xfrm>
            <a:off x="285750" y="2686050"/>
            <a:ext cx="388620" cy="38862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160" dirty="0"/>
          </a:p>
        </p:txBody>
      </p:sp>
      <p:sp>
        <p:nvSpPr>
          <p:cNvPr id="6" name="a98348ea-1221-4976-9bb7-079f21de02fa"/>
          <p:cNvSpPr/>
          <p:nvPr/>
        </p:nvSpPr>
        <p:spPr>
          <a:xfrm>
            <a:off x="788670" y="2686050"/>
            <a:ext cx="8069580" cy="388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problema inicial Carlos apontou na planilha de vendas brutas?</a:t>
            </a:r>
            <a:endParaRPr lang="en-US" sz="1620" dirty="0"/>
          </a:p>
        </p:txBody>
      </p:sp>
      <p:sp>
        <p:nvSpPr>
          <p:cNvPr id="7" name="ff44d9e2-9240-4bb2-9f0c-bf5bfdf6b09b"/>
          <p:cNvSpPr/>
          <p:nvPr/>
        </p:nvSpPr>
        <p:spPr>
          <a:xfrm>
            <a:off x="285750" y="3188970"/>
            <a:ext cx="388620" cy="38862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160" dirty="0"/>
          </a:p>
        </p:txBody>
      </p:sp>
      <p:sp>
        <p:nvSpPr>
          <p:cNvPr id="8" name="a8754002-2df7-43ee-8818-fee7039fddd4"/>
          <p:cNvSpPr/>
          <p:nvPr/>
        </p:nvSpPr>
        <p:spPr>
          <a:xfrm>
            <a:off x="788670" y="3188970"/>
            <a:ext cx="8069580" cy="388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dimensão Sofia sugeriu colocar no quadrante de Linhas?</a:t>
            </a:r>
            <a:endParaRPr lang="en-US" sz="1620" dirty="0"/>
          </a:p>
        </p:txBody>
      </p:sp>
      <p:sp>
        <p:nvSpPr>
          <p:cNvPr id="9" name="4ff43a49-c79c-421a-92f1-60752ed21bd9"/>
          <p:cNvSpPr/>
          <p:nvPr/>
        </p:nvSpPr>
        <p:spPr>
          <a:xfrm>
            <a:off x="285750" y="3691890"/>
            <a:ext cx="388620" cy="38862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160" dirty="0"/>
          </a:p>
        </p:txBody>
      </p:sp>
      <p:sp>
        <p:nvSpPr>
          <p:cNvPr id="10" name="03f334a9-9d31-454c-895d-79aea1d0e97a"/>
          <p:cNvSpPr/>
          <p:nvPr/>
        </p:nvSpPr>
        <p:spPr>
          <a:xfrm>
            <a:off x="788670" y="3691890"/>
            <a:ext cx="8069580" cy="388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eles resolveram analisar a evolução temporal das vendas?</a:t>
            </a:r>
            <a:endParaRPr lang="en-US" sz="1620" dirty="0"/>
          </a:p>
        </p:txBody>
      </p:sp>
      <p:sp>
        <p:nvSpPr>
          <p:cNvPr id="11" name="1c97dfa5-1de7-4fb0-bac6-2f44e96ca1c4"/>
          <p:cNvSpPr/>
          <p:nvPr/>
        </p:nvSpPr>
        <p:spPr>
          <a:xfrm>
            <a:off x="285750" y="4194810"/>
            <a:ext cx="388620" cy="38862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160" dirty="0"/>
          </a:p>
        </p:txBody>
      </p:sp>
      <p:sp>
        <p:nvSpPr>
          <p:cNvPr id="12" name="bfb95494-9ca5-44f1-a53b-74e21566cc84"/>
          <p:cNvSpPr/>
          <p:nvPr/>
        </p:nvSpPr>
        <p:spPr>
          <a:xfrm>
            <a:off x="788670" y="4194810"/>
            <a:ext cx="8069580" cy="388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configuração de valor Sofia propôs para identificar os líderes de venda?</a:t>
            </a:r>
            <a:endParaRPr lang="en-US" sz="1620" dirty="0"/>
          </a:p>
        </p:txBody>
      </p:sp>
      <p:sp>
        <p:nvSpPr>
          <p:cNvPr id="13" name="2f4bae5d-2d2f-47cb-a090-7ca81a0a4e44_card"/>
          <p:cNvSpPr/>
          <p:nvPr/>
        </p:nvSpPr>
        <p:spPr>
          <a:xfrm>
            <a:off x="285750" y="1291590"/>
            <a:ext cx="8572500" cy="857250"/>
          </a:xfrm>
          <a:prstGeom prst="roundRect">
            <a:avLst/>
          </a:prstGeom>
          <a:solidFill>
            <a:srgbClr val="FFF4F1"/>
          </a:solidFill>
          <a:ln w="76200">
            <a:solidFill>
              <a:srgbClr val="FFFFFF"/>
            </a:solidFill>
            <a:prstDash val="solid"/>
          </a:ln>
        </p:spPr>
      </p:sp>
      <p:pic>
        <p:nvPicPr>
          <p:cNvPr id="14" name="2f4bae5d-2d2f-47cb-a090-7ca81a0a4e44_icon" descr="/home/forge/chalkie-production-workers-3/releases/77481733/backend/storage/app/render-specs/7275d6bb-0293-421a-9e9f-5c7a14d7cfc7/audio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0" y="1594485"/>
            <a:ext cx="251460" cy="251460"/>
          </a:xfrm>
          <a:prstGeom prst="rect">
            <a:avLst/>
          </a:prstGeom>
        </p:spPr>
      </p:pic>
      <p:sp>
        <p:nvSpPr>
          <p:cNvPr id="15" name="2f4bae5d-2d2f-47cb-a090-7ca81a0a4e44_title"/>
          <p:cNvSpPr/>
          <p:nvPr/>
        </p:nvSpPr>
        <p:spPr>
          <a:xfrm>
            <a:off x="902970" y="1291590"/>
            <a:ext cx="532638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Definindo Métricas da Tabela Dinâmica</a:t>
            </a:r>
            <a:endParaRPr lang="en-US" sz="1800" dirty="0"/>
          </a:p>
        </p:txBody>
      </p:sp>
      <p:sp>
        <p:nvSpPr>
          <p:cNvPr id="16" name="2f4bae5d-2d2f-47cb-a090-7ca81a0a4e44_btn"/>
          <p:cNvSpPr/>
          <p:nvPr/>
        </p:nvSpPr>
        <p:spPr>
          <a:xfrm>
            <a:off x="6412230" y="1520190"/>
            <a:ext cx="2171700" cy="400050"/>
          </a:xfrm>
          <a:prstGeom prst="roundRect">
            <a:avLst/>
          </a:prstGeom>
          <a:solidFill>
            <a:srgbClr val="2C6E49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 Reproduzir áudio</a:t>
            </a:r>
            <a:endParaRPr lang="en-US" sz="1440" dirty="0"/>
          </a:p>
        </p:txBody>
      </p:sp>
      <p:sp>
        <p:nvSpPr>
          <p:cNvPr id="17" name="2f4bae5d-2d2f-47cb-a090-7ca81a0a4e44_btn_link">
            <a:hlinkClick r:id="rId3" tooltip=""/>
          </p:cNvPr>
          <p:cNvSpPr/>
          <p:nvPr/>
        </p:nvSpPr>
        <p:spPr>
          <a:xfrm>
            <a:off x="6412230" y="1520190"/>
            <a:ext cx="2171700" cy="400050"/>
          </a:xfrm>
          <a:prstGeom prst="roundRect">
            <a:avLst/>
          </a:prstGeom>
          <a:solidFill>
            <a:srgbClr val="2C6E49">
              <a:alpha val="0"/>
            </a:srgbClr>
          </a:solidFill>
          <a:ln w="12700">
            <a:solidFill>
              <a:srgbClr val="2C6E4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4" descr="/home/forge/chalkie-production-workers-3/releases/77481733/backend/storage/app/render-specs/7275d6bb-0293-421a-9e9f-5c7a14d7cfc7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8c90a11d-e56b-4383-95d5-ae0d4e9d3abe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Reunião de Alinhamento Analítico</a:t>
            </a:r>
            <a:endParaRPr lang="en-US" sz="2880" dirty="0"/>
          </a:p>
        </p:txBody>
      </p:sp>
      <p:sp>
        <p:nvSpPr>
          <p:cNvPr id="4" name="bb6f610b-52c5-436f-838e-75b371cd727f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 as tuas respostas abaixo</a:t>
            </a:r>
            <a:endParaRPr lang="en-US" sz="1440" dirty="0"/>
          </a:p>
        </p:txBody>
      </p:sp>
      <p:sp>
        <p:nvSpPr>
          <p:cNvPr id="5" name="5c266fc2-7433-42a6-b9d9-eb21ba8c3147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3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3600" dirty="0"/>
          </a:p>
        </p:txBody>
      </p:sp>
      <p:sp>
        <p:nvSpPr>
          <p:cNvPr id="6" name="06aee2f4-fd65-48d8-9d18-9da87d36fe17"/>
          <p:cNvSpPr/>
          <p:nvPr/>
        </p:nvSpPr>
        <p:spPr>
          <a:xfrm>
            <a:off x="285750" y="2686050"/>
            <a:ext cx="388620" cy="38862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160" dirty="0"/>
          </a:p>
        </p:txBody>
      </p:sp>
      <p:sp>
        <p:nvSpPr>
          <p:cNvPr id="7" name="d4406f45-591f-49b2-a0d8-cb9cb9625f9e"/>
          <p:cNvSpPr/>
          <p:nvPr/>
        </p:nvSpPr>
        <p:spPr>
          <a:xfrm>
            <a:off x="788670" y="2686050"/>
            <a:ext cx="8069580" cy="388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Havia mais de doze mil linhas sem consolidação ou resumo gerencial.</a:t>
            </a:r>
            <a:endParaRPr lang="en-US" sz="1620" dirty="0"/>
          </a:p>
        </p:txBody>
      </p:sp>
      <p:sp>
        <p:nvSpPr>
          <p:cNvPr id="8" name="e0e56cbd-b5cd-4868-9682-47141b3f10a5"/>
          <p:cNvSpPr/>
          <p:nvPr/>
        </p:nvSpPr>
        <p:spPr>
          <a:xfrm>
            <a:off x="285750" y="3188970"/>
            <a:ext cx="388620" cy="38862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160" dirty="0"/>
          </a:p>
        </p:txBody>
      </p:sp>
      <p:sp>
        <p:nvSpPr>
          <p:cNvPr id="9" name="fae40732-cc41-4290-abe9-96dc695364cf"/>
          <p:cNvSpPr/>
          <p:nvPr/>
        </p:nvSpPr>
        <p:spPr>
          <a:xfrm>
            <a:off x="788670" y="3188970"/>
            <a:ext cx="8069580" cy="388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categoria de produtos comercializados.</a:t>
            </a:r>
            <a:endParaRPr lang="en-US" sz="1620" dirty="0"/>
          </a:p>
        </p:txBody>
      </p:sp>
      <p:sp>
        <p:nvSpPr>
          <p:cNvPr id="10" name="a1c1c867-a681-4a03-a652-26cfc57b1be7"/>
          <p:cNvSpPr/>
          <p:nvPr/>
        </p:nvSpPr>
        <p:spPr>
          <a:xfrm>
            <a:off x="285750" y="3691890"/>
            <a:ext cx="388620" cy="38862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160" dirty="0"/>
          </a:p>
        </p:txBody>
      </p:sp>
      <p:sp>
        <p:nvSpPr>
          <p:cNvPr id="11" name="9df87f5f-074f-49b3-9668-3d24eae8f2c5"/>
          <p:cNvSpPr/>
          <p:nvPr/>
        </p:nvSpPr>
        <p:spPr>
          <a:xfrm>
            <a:off x="788670" y="3691890"/>
            <a:ext cx="8069580" cy="388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Agrupando as datas de vendas por trimestres nas colunas.</a:t>
            </a:r>
            <a:endParaRPr lang="en-US" sz="1620" dirty="0"/>
          </a:p>
        </p:txBody>
      </p:sp>
      <p:sp>
        <p:nvSpPr>
          <p:cNvPr id="12" name="18e4b362-cec1-4f6b-9a7f-fd32d4e7bdec"/>
          <p:cNvSpPr/>
          <p:nvPr/>
        </p:nvSpPr>
        <p:spPr>
          <a:xfrm>
            <a:off x="285750" y="4194810"/>
            <a:ext cx="388620" cy="38862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160" dirty="0"/>
          </a:p>
        </p:txBody>
      </p:sp>
      <p:sp>
        <p:nvSpPr>
          <p:cNvPr id="13" name="4e10473d-2dbe-4ef7-935f-075d5320298d"/>
          <p:cNvSpPr/>
          <p:nvPr/>
        </p:nvSpPr>
        <p:spPr>
          <a:xfrm>
            <a:off x="788670" y="4194810"/>
            <a:ext cx="8069580" cy="388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Exibir o faturamento como percentual do total geral.</a:t>
            </a:r>
            <a:endParaRPr lang="en-US" sz="1620" dirty="0"/>
          </a:p>
        </p:txBody>
      </p:sp>
      <p:sp>
        <p:nvSpPr>
          <p:cNvPr id="14" name="2f4bae5d-2d2f-47cb-a090-7ca81a0a4e44_card"/>
          <p:cNvSpPr/>
          <p:nvPr/>
        </p:nvSpPr>
        <p:spPr>
          <a:xfrm>
            <a:off x="285750" y="1291590"/>
            <a:ext cx="8572500" cy="857250"/>
          </a:xfrm>
          <a:prstGeom prst="roundRect">
            <a:avLst/>
          </a:prstGeom>
          <a:solidFill>
            <a:srgbClr val="FFF4F1"/>
          </a:solidFill>
          <a:ln w="76200">
            <a:solidFill>
              <a:srgbClr val="FFFFFF"/>
            </a:solidFill>
            <a:prstDash val="solid"/>
          </a:ln>
        </p:spPr>
      </p:sp>
      <p:pic>
        <p:nvPicPr>
          <p:cNvPr id="15" name="2f4bae5d-2d2f-47cb-a090-7ca81a0a4e44_icon" descr="/home/forge/chalkie-production-workers-3/releases/77481733/backend/storage/app/render-specs/7275d6bb-0293-421a-9e9f-5c7a14d7cfc7/audio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0" y="1594485"/>
            <a:ext cx="251460" cy="251460"/>
          </a:xfrm>
          <a:prstGeom prst="rect">
            <a:avLst/>
          </a:prstGeom>
        </p:spPr>
      </p:pic>
      <p:sp>
        <p:nvSpPr>
          <p:cNvPr id="16" name="2f4bae5d-2d2f-47cb-a090-7ca81a0a4e44_title"/>
          <p:cNvSpPr/>
          <p:nvPr/>
        </p:nvSpPr>
        <p:spPr>
          <a:xfrm>
            <a:off x="902970" y="1291590"/>
            <a:ext cx="532638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Definindo Métricas da Tabela Dinâmica</a:t>
            </a:r>
            <a:endParaRPr lang="en-US" sz="1800" dirty="0"/>
          </a:p>
        </p:txBody>
      </p:sp>
      <p:sp>
        <p:nvSpPr>
          <p:cNvPr id="17" name="2f4bae5d-2d2f-47cb-a090-7ca81a0a4e44_btn"/>
          <p:cNvSpPr/>
          <p:nvPr/>
        </p:nvSpPr>
        <p:spPr>
          <a:xfrm>
            <a:off x="6412230" y="1520190"/>
            <a:ext cx="2171700" cy="400050"/>
          </a:xfrm>
          <a:prstGeom prst="roundRect">
            <a:avLst/>
          </a:prstGeom>
          <a:solidFill>
            <a:srgbClr val="2C6E49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 Reproduzir áudio</a:t>
            </a:r>
            <a:endParaRPr lang="en-US" sz="1440" dirty="0"/>
          </a:p>
        </p:txBody>
      </p:sp>
      <p:sp>
        <p:nvSpPr>
          <p:cNvPr id="18" name="2f4bae5d-2d2f-47cb-a090-7ca81a0a4e44_btn_link">
            <a:hlinkClick r:id="rId3" tooltip=""/>
          </p:cNvPr>
          <p:cNvSpPr/>
          <p:nvPr/>
        </p:nvSpPr>
        <p:spPr>
          <a:xfrm>
            <a:off x="6412230" y="1520190"/>
            <a:ext cx="2171700" cy="400050"/>
          </a:xfrm>
          <a:prstGeom prst="roundRect">
            <a:avLst/>
          </a:prstGeom>
          <a:solidFill>
            <a:srgbClr val="2C6E49">
              <a:alpha val="0"/>
            </a:srgbClr>
          </a:solidFill>
          <a:ln w="12700">
            <a:solidFill>
              <a:srgbClr val="2C6E4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5" descr="/home/forge/chalkie-production-workers-3/releases/77481733/backend/storage/app/render-specs/7275d6bb-0293-421a-9e9f-5c7a14d7cfc7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828b936a-71e1-44a5-995a-e4b7d33a3d80" descr="/home/forge/chalkie-production-workers-3/releases/77481733/backend/storage/app/render-specs/7275d6bb-0293-421a-9e9f-5c7a14d7cfc7/img_62e5b3e2fba81b54ae10eadabd81d4c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828800"/>
          </a:xfrm>
          <a:prstGeom prst="roundRect">
            <a:avLst>
              <a:gd name="adj" fmla="val 7500"/>
            </a:avLst>
          </a:prstGeom>
        </p:spPr>
      </p:pic>
      <p:sp>
        <p:nvSpPr>
          <p:cNvPr id="4" name="3035c53c-d1aa-4c6f-872e-0727193056d8"/>
          <p:cNvSpPr/>
          <p:nvPr/>
        </p:nvSpPr>
        <p:spPr>
          <a:xfrm>
            <a:off x="285750" y="192024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Comunicação Visual: Gráficos Gerenciais</a:t>
            </a:r>
            <a:endParaRPr lang="en-US" sz="2880" dirty="0"/>
          </a:p>
        </p:txBody>
      </p:sp>
      <p:sp>
        <p:nvSpPr>
          <p:cNvPr id="5" name="7417642a-13ab-460f-8a1c-89f35fa89b85"/>
          <p:cNvSpPr/>
          <p:nvPr/>
        </p:nvSpPr>
        <p:spPr>
          <a:xfrm>
            <a:off x="285750" y="2606040"/>
            <a:ext cx="203454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VISUALIZAÇÃO DE DADOS</a:t>
            </a:r>
            <a:endParaRPr lang="en-US" sz="1080" dirty="0"/>
          </a:p>
        </p:txBody>
      </p:sp>
      <p:sp>
        <p:nvSpPr>
          <p:cNvPr id="6" name="d0676c8b-1ba3-4506-864d-1632ccd332ed"/>
          <p:cNvSpPr/>
          <p:nvPr/>
        </p:nvSpPr>
        <p:spPr>
          <a:xfrm>
            <a:off x="285750" y="2914650"/>
            <a:ext cx="8572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Tabelas organizam valores com precisão matemática, mas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gráficos gerenciais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comunicam padrões, anomalias e tendências instantaneamente para líderes e tomadores de decisão.</a:t>
            </a:r>
            <a:endParaRPr lang="en-US" sz="1620" dirty="0"/>
          </a:p>
        </p:txBody>
      </p:sp>
      <p:sp>
        <p:nvSpPr>
          <p:cNvPr id="7" name="7d613999-ae79-44d8-8deb-acb9928ef233_card"/>
          <p:cNvSpPr/>
          <p:nvPr/>
        </p:nvSpPr>
        <p:spPr>
          <a:xfrm>
            <a:off x="285750" y="3954780"/>
            <a:ext cx="8572500" cy="854964"/>
          </a:xfrm>
          <a:prstGeom prst="roundRect">
            <a:avLst>
              <a:gd name="adj" fmla="val 10695"/>
            </a:avLst>
          </a:prstGeom>
          <a:solidFill>
            <a:srgbClr val="FAEFDA"/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8" name="7d613999-ae79-44d8-8deb-acb9928ef233_emoji"/>
          <p:cNvSpPr/>
          <p:nvPr/>
        </p:nvSpPr>
        <p:spPr>
          <a:xfrm>
            <a:off x="400050" y="410337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9" name="7d613999-ae79-44d8-8deb-acb9928ef233_text"/>
          <p:cNvSpPr/>
          <p:nvPr/>
        </p:nvSpPr>
        <p:spPr>
          <a:xfrm>
            <a:off x="765810" y="4069080"/>
            <a:ext cx="7978140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Ponto-chave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gráfico eficiente deve ser compreendido em menos de cinco segundos.</a:t>
            </a:r>
            <a:endParaRPr lang="en-US" sz="144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6" descr="/home/forge/chalkie-production-workers-3/releases/77481733/backend/storage/app/render-specs/7275d6bb-0293-421a-9e9f-5c7a14d7cfc7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28b37a5c-4716-4643-a672-d94715243565" descr="/home/forge/chalkie-production-workers-3/releases/77481733/backend/storage/app/render-specs/7275d6bb-0293-421a-9e9f-5c7a14d7cfc7/img_99ab563dd240fba4f84903e1b41fe82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2697480"/>
            <a:ext cx="4194810" cy="2160270"/>
          </a:xfrm>
          <a:prstGeom prst="roundRect">
            <a:avLst>
              <a:gd name="adj" fmla="val 6349"/>
            </a:avLst>
          </a:prstGeom>
        </p:spPr>
      </p:pic>
      <p:pic>
        <p:nvPicPr>
          <p:cNvPr id="4" name="df9dd2bd-779b-40dc-9d19-2cfc164878da" descr="/home/forge/chalkie-production-workers-3/releases/77481733/backend/storage/app/render-specs/7275d6bb-0293-421a-9e9f-5c7a14d7cfc7/img_0afcbb83c22ccd95c13e8885f8f0b8f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010" y="2446020"/>
            <a:ext cx="4194810" cy="2411730"/>
          </a:xfrm>
          <a:prstGeom prst="roundRect">
            <a:avLst>
              <a:gd name="adj" fmla="val 5687"/>
            </a:avLst>
          </a:prstGeom>
        </p:spPr>
      </p:pic>
      <p:sp>
        <p:nvSpPr>
          <p:cNvPr id="5" name="96948343-37be-4dd2-b70e-fa8cfcee6b2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Escolhendo o Gráfico Ideal</a:t>
            </a:r>
            <a:endParaRPr lang="en-US" sz="2880" dirty="0"/>
          </a:p>
        </p:txBody>
      </p:sp>
      <p:sp>
        <p:nvSpPr>
          <p:cNvPr id="6" name="2f38df78-b7ec-4a89-927f-f21396f9aa16"/>
          <p:cNvSpPr/>
          <p:nvPr/>
        </p:nvSpPr>
        <p:spPr>
          <a:xfrm>
            <a:off x="285750" y="78867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Colunas e Barras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Ideais para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comparações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entre categorias discretas (filiais, produtos, vendedores). Barras horizontais facilitam a leitura de rótulos com nomes extensos.</a:t>
            </a:r>
            <a:endParaRPr lang="en-US" sz="1980" dirty="0"/>
          </a:p>
        </p:txBody>
      </p:sp>
      <p:sp>
        <p:nvSpPr>
          <p:cNvPr id="7" name="390f22b3-78c1-4cd0-8449-68ce61b89e57"/>
          <p:cNvSpPr/>
          <p:nvPr/>
        </p:nvSpPr>
        <p:spPr>
          <a:xfrm>
            <a:off x="4652010" y="78867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Linhas Contínuas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Perfeitas para ilustrar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evolução temporal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tendências contínuas (vendas mensais, flutuação cambial, temperatura diária de armazenagem).</a:t>
            </a:r>
            <a:endParaRPr lang="en-US" sz="198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7" descr="/home/forge/chalkie-production-workers-3/releases/77481733/backend/storage/app/render-specs/7275d6bb-0293-421a-9e9f-5c7a14d7cfc7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26be8a21-a3b6-46a5-868a-07a40ca4ed1f"/>
          <p:cNvSpPr/>
          <p:nvPr/>
        </p:nvSpPr>
        <p:spPr>
          <a:xfrm>
            <a:off x="285750" y="69723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Quando Usar Pizza e Dispersão?</a:t>
            </a:r>
            <a:endParaRPr lang="en-US" sz="2880" dirty="0"/>
          </a:p>
        </p:txBody>
      </p:sp>
      <p:sp>
        <p:nvSpPr>
          <p:cNvPr id="4" name="02f0932a-6bdb-4527-b7b0-119372551a1b"/>
          <p:cNvSpPr/>
          <p:nvPr/>
        </p:nvSpPr>
        <p:spPr>
          <a:xfrm>
            <a:off x="285750" y="131445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Pizza ou Rosca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Mostram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composição de partes de um todo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Utilize com parcimônia: apenas para até 5 fatias com discrepâncias perceptíveis entre si.</a:t>
            </a:r>
            <a:endParaRPr lang="en-US" sz="1980" dirty="0"/>
          </a:p>
        </p:txBody>
      </p:sp>
      <p:sp>
        <p:nvSpPr>
          <p:cNvPr id="5" name="8b0067b7-fe49-4064-bbbc-8eda90be94f2_card"/>
          <p:cNvSpPr/>
          <p:nvPr/>
        </p:nvSpPr>
        <p:spPr>
          <a:xfrm>
            <a:off x="285750" y="2971800"/>
            <a:ext cx="4194810" cy="1101852"/>
          </a:xfrm>
          <a:prstGeom prst="roundRect">
            <a:avLst>
              <a:gd name="adj" fmla="val 8299"/>
            </a:avLst>
          </a:prstGeom>
          <a:solidFill>
            <a:srgbClr val="FCEBEB"/>
          </a:solidFill>
          <a:ln w="11430">
            <a:solidFill>
              <a:srgbClr val="460606">
                <a:alpha val="20000"/>
              </a:srgbClr>
            </a:solidFill>
            <a:prstDash val="solid"/>
          </a:ln>
        </p:spPr>
      </p:sp>
      <p:sp>
        <p:nvSpPr>
          <p:cNvPr id="6" name="8b0067b7-fe49-4064-bbbc-8eda90be94f2_emoji"/>
          <p:cNvSpPr/>
          <p:nvPr/>
        </p:nvSpPr>
        <p:spPr>
          <a:xfrm>
            <a:off x="400050" y="312039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⚠️</a:t>
            </a:r>
            <a:endParaRPr lang="en-US" sz="2160" dirty="0"/>
          </a:p>
        </p:txBody>
      </p:sp>
      <p:sp>
        <p:nvSpPr>
          <p:cNvPr id="7" name="8b0067b7-fe49-4064-bbbc-8eda90be94f2_text"/>
          <p:cNvSpPr/>
          <p:nvPr/>
        </p:nvSpPr>
        <p:spPr>
          <a:xfrm>
            <a:off x="765810" y="3086100"/>
            <a:ext cx="360045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4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Atenção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4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Evite pizza com muitas fatias semelhantes; use colunas.</a:t>
            </a:r>
            <a:endParaRPr lang="en-US" sz="1440" dirty="0"/>
          </a:p>
        </p:txBody>
      </p:sp>
      <p:sp>
        <p:nvSpPr>
          <p:cNvPr id="8" name="ef40ae3b-d4a4-400f-9b42-c0c6c89b5f79"/>
          <p:cNvSpPr/>
          <p:nvPr/>
        </p:nvSpPr>
        <p:spPr>
          <a:xfrm>
            <a:off x="4652010" y="131445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Gráfico de Dispersão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correlação matemática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entre duas variáveis quantitativas (ex: investimento em publicidade versus número de vendas geradas).</a:t>
            </a:r>
            <a:endParaRPr lang="en-US" sz="1980" dirty="0"/>
          </a:p>
        </p:txBody>
      </p:sp>
      <p:sp>
        <p:nvSpPr>
          <p:cNvPr id="9" name="b14734ce-ce9a-4031-9486-7e39ef5aec91_card"/>
          <p:cNvSpPr/>
          <p:nvPr/>
        </p:nvSpPr>
        <p:spPr>
          <a:xfrm>
            <a:off x="4652010" y="2971800"/>
            <a:ext cx="4194810" cy="1101852"/>
          </a:xfrm>
          <a:prstGeom prst="roundRect">
            <a:avLst>
              <a:gd name="adj" fmla="val 8299"/>
            </a:avLst>
          </a:prstGeom>
          <a:solidFill>
            <a:srgbClr val="E1F6EF"/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</p:sp>
      <p:sp>
        <p:nvSpPr>
          <p:cNvPr id="10" name="b14734ce-ce9a-4031-9486-7e39ef5aec91_emoji"/>
          <p:cNvSpPr/>
          <p:nvPr/>
        </p:nvSpPr>
        <p:spPr>
          <a:xfrm>
            <a:off x="4766310" y="312039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11" name="b14734ce-ce9a-4031-9486-7e39ef5aec91_text"/>
          <p:cNvSpPr/>
          <p:nvPr/>
        </p:nvSpPr>
        <p:spPr>
          <a:xfrm>
            <a:off x="5132070" y="3086100"/>
            <a:ext cx="360045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84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84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Ajuda a validar se maior preço impacta o volume vendido.</a:t>
            </a:r>
            <a:endParaRPr lang="en-US" sz="144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8" descr="/home/forge/chalkie-production-workers-3/releases/77481733/backend/storage/app/render-specs/7275d6bb-0293-421a-9e9f-5c7a14d7cfc7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b633b4d0-6684-4728-89fd-7c01241b746d" descr="/home/forge/chalkie-production-workers-3/releases/77481733/backend/storage/app/render-specs/7275d6bb-0293-421a-9e9f-5c7a14d7cfc7/img_98207d64420f2ab98e34ec08e111440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0206d5ce-2088-4fc2-b69f-5f639536b6d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Gráficos Dinâmicos Conectados</a:t>
            </a:r>
            <a:endParaRPr lang="en-US" sz="2880" dirty="0"/>
          </a:p>
        </p:txBody>
      </p:sp>
      <p:sp>
        <p:nvSpPr>
          <p:cNvPr id="5" name="e92a1cc0-fe84-4e9e-8867-7a4c59570adc"/>
          <p:cNvSpPr/>
          <p:nvPr/>
        </p:nvSpPr>
        <p:spPr>
          <a:xfrm>
            <a:off x="4286250" y="857250"/>
            <a:ext cx="116586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INTEGRAÇÃO</a:t>
            </a:r>
            <a:endParaRPr lang="en-US" sz="1080" dirty="0"/>
          </a:p>
        </p:txBody>
      </p:sp>
      <p:sp>
        <p:nvSpPr>
          <p:cNvPr id="6" name="67ed1831-b0a0-4339-a57d-26f1629a26bd"/>
          <p:cNvSpPr/>
          <p:nvPr/>
        </p:nvSpPr>
        <p:spPr>
          <a:xfrm>
            <a:off x="4286250" y="1165860"/>
            <a:ext cx="4572000" cy="210769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Diferente dos gráficos comuns, o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Gráfico Dinâmico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conecta-se diretamente à estrutura da Tabela Dinâmica.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Quando você expande um mês, adiciona uma região ou filtra uma categoria, o gráfico se redesenha automaticamente sem necessidade de redimensionar o intervalo.</a:t>
            </a:r>
            <a:endParaRPr lang="en-US" sz="1620" dirty="0"/>
          </a:p>
        </p:txBody>
      </p:sp>
      <p:sp>
        <p:nvSpPr>
          <p:cNvPr id="7" name="d3557834-adf9-49d5-8eaa-a419a91eaaa5_card"/>
          <p:cNvSpPr/>
          <p:nvPr/>
        </p:nvSpPr>
        <p:spPr>
          <a:xfrm>
            <a:off x="4286250" y="3268980"/>
            <a:ext cx="4572000" cy="1101852"/>
          </a:xfrm>
          <a:prstGeom prst="roundRect">
            <a:avLst>
              <a:gd name="adj" fmla="val 8299"/>
            </a:avLst>
          </a:prstGeom>
          <a:solidFill>
            <a:srgbClr val="FAEFDA"/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8" name="d3557834-adf9-49d5-8eaa-a419a91eaaa5_emoji"/>
          <p:cNvSpPr/>
          <p:nvPr/>
        </p:nvSpPr>
        <p:spPr>
          <a:xfrm>
            <a:off x="4400550" y="341757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9" name="d3557834-adf9-49d5-8eaa-a419a91eaaa5_text"/>
          <p:cNvSpPr/>
          <p:nvPr/>
        </p:nvSpPr>
        <p:spPr>
          <a:xfrm>
            <a:off x="4766310" y="3383280"/>
            <a:ext cx="397764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Ponto-chave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Sincronização instantânea entre a análise tabular e o visual.</a:t>
            </a:r>
            <a:endParaRPr lang="en-US" sz="144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9" descr="/home/forge/chalkie-production-workers-3/releases/77481733/backend/storage/app/render-specs/7275d6bb-0293-421a-9e9f-5c7a14d7cfc7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4cfd5374-c097-4f94-a21c-f3a9cef33eb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Construção de Gráficos no Excel</a:t>
            </a:r>
            <a:endParaRPr lang="en-US" sz="2880" dirty="0"/>
          </a:p>
        </p:txBody>
      </p:sp>
      <p:pic>
        <p:nvPicPr>
          <p:cNvPr id="4" name="e09d857a-cabf-43ff-9569-0f0c4573263e" descr="/home/forge/chalkie-production-workers-3/releases/77481733/backend/storage/app/render-specs/7275d6bb-0293-421a-9e9f-5c7a14d7cfc7/poster_N6FJxcYtI7k.jpg">
            <a:hlinkClick r:id="rId3" tooltip="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/>
              </p:ext>
              <p:ext uri="{C809E66F-F1BF-436E-b5F7-EEA9579F0CBA}">
                <p15:webVideoPr xmlns:p15="http://schemas.microsoft.com/office/powerpoint/2012/main" embeddedHtml="&lt;iframe width=&quot;560&quot; height=&quot;315&quot; src=&quot;https://www.youtube.com/embed/N6FJxcYtI7k?feature=oembed&quot; frameborder=&quot;0&quot; allowfullscreen=&quot;&quot;&gt;&lt;/iframe&gt;" h="315" w="560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960120" y="788670"/>
            <a:ext cx="722376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0" descr="/home/forge/chalkie-production-workers-3/releases/77481733/backend/storage/app/render-specs/7275d6bb-0293-421a-9e9f-5c7a14d7cfc7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dce35d05-18dd-45e0-b06f-b567379b59d0" descr="/home/forge/chalkie-production-workers-3/releases/77481733/backend/storage/app/render-specs/7275d6bb-0293-421a-9e9f-5c7a14d7cfc7/img_ec43cd88b8ea3f08e573f57cbe80d80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58877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4" name="5461240b-7e1d-4d5c-b22b-5a65225ab05a" descr="/home/forge/chalkie-production-workers-3/releases/77481733/backend/storage/app/render-specs/7275d6bb-0293-421a-9e9f-5c7a14d7cfc7/img_ee34bf01a9a703fe0c1ddf4a10616b3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1740" y="90297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5" name="f7aee461-a502-48c5-8837-588d98ee96fa" descr="/home/forge/chalkie-production-workers-3/releases/77481733/backend/storage/app/render-specs/7275d6bb-0293-421a-9e9f-5c7a14d7cfc7/img_f516806da53e49a84ef40a49917e68e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158877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6" name="6383d8e3-5851-40a2-86d6-0f59b9d13387" descr="/home/forge/chalkie-production-workers-3/releases/77481733/backend/storage/app/render-specs/7275d6bb-0293-421a-9e9f-5c7a14d7cfc7/img_54c658c2fefad30f7d78fac801df766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2290" y="902970"/>
            <a:ext cx="1977390" cy="1714500"/>
          </a:xfrm>
          <a:prstGeom prst="roundRect">
            <a:avLst>
              <a:gd name="adj" fmla="val 8000"/>
            </a:avLst>
          </a:prstGeom>
        </p:spPr>
      </p:pic>
      <p:sp>
        <p:nvSpPr>
          <p:cNvPr id="7" name="0e2081eb-5cae-4fc3-aa22-e7069148e0f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Estilização de Elementos Gráficos</a:t>
            </a:r>
            <a:endParaRPr lang="en-US" sz="2880" dirty="0"/>
          </a:p>
        </p:txBody>
      </p:sp>
      <p:sp>
        <p:nvSpPr>
          <p:cNvPr id="8" name="5e48af91-8e99-42ac-a90d-772355383b03"/>
          <p:cNvSpPr/>
          <p:nvPr/>
        </p:nvSpPr>
        <p:spPr>
          <a:xfrm>
            <a:off x="285750" y="3417570"/>
            <a:ext cx="197739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Título Informativo</a:t>
            </a:r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Comunique a conclusão do gráfico, não apenas as variáveis.</a:t>
            </a:r>
            <a:endParaRPr lang="en-US" sz="1620" dirty="0"/>
          </a:p>
        </p:txBody>
      </p:sp>
      <p:sp>
        <p:nvSpPr>
          <p:cNvPr id="9" name="1ca82eb7-997f-43ac-8675-a4fa25b0943c"/>
          <p:cNvSpPr/>
          <p:nvPr/>
        </p:nvSpPr>
        <p:spPr>
          <a:xfrm>
            <a:off x="2491740" y="2731770"/>
            <a:ext cx="197739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Rótulos de Dados</a:t>
            </a:r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Exiba valores exatos nas barras para remover linhas de grade poluídas.</a:t>
            </a:r>
            <a:endParaRPr lang="en-US" sz="1620" dirty="0"/>
          </a:p>
        </p:txBody>
      </p:sp>
      <p:sp>
        <p:nvSpPr>
          <p:cNvPr id="10" name="30010f8b-fe8d-4a5e-a480-e875e3541150"/>
          <p:cNvSpPr/>
          <p:nvPr/>
        </p:nvSpPr>
        <p:spPr>
          <a:xfrm>
            <a:off x="4686300" y="3417570"/>
            <a:ext cx="197739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Eixos e Escalas</a:t>
            </a:r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Inicie eixos verticais no zero para evitar distorções visuais.</a:t>
            </a:r>
            <a:endParaRPr lang="en-US" sz="1620" dirty="0"/>
          </a:p>
        </p:txBody>
      </p:sp>
      <p:sp>
        <p:nvSpPr>
          <p:cNvPr id="11" name="ac33dcd1-ef2c-4000-ba57-c5ce40af3041"/>
          <p:cNvSpPr/>
          <p:nvPr/>
        </p:nvSpPr>
        <p:spPr>
          <a:xfrm>
            <a:off x="6892290" y="2731770"/>
            <a:ext cx="197739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Legenda Objetiva</a:t>
            </a:r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Posicione a legenda próxima às séries ou integre nas linhas.</a:t>
            </a:r>
            <a:endParaRPr lang="en-US" sz="162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1" descr="/home/forge/chalkie-production-workers-3/releases/77481733/backend/storage/app/render-specs/7275d6bb-0293-421a-9e9f-5c7a14d7cfc7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2a435e45-4129-461c-abe4-1fc3b1f548ea" descr="/home/forge/chalkie-production-workers-3/releases/77481733/backend/storage/app/render-specs/7275d6bb-0293-421a-9e9f-5c7a14d7cfc7/img_e8fda25694db88ebd86f42d6bf2cc1c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e63a252e-1bee-47cc-a9b4-54a5d88a1f7c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Gráfico Combinado com Eixo Duplo</a:t>
            </a:r>
            <a:endParaRPr lang="en-US" sz="2880" dirty="0"/>
          </a:p>
        </p:txBody>
      </p:sp>
      <p:sp>
        <p:nvSpPr>
          <p:cNvPr id="5" name="54a0cc40-1314-4116-8791-347fb02179a9"/>
          <p:cNvSpPr/>
          <p:nvPr/>
        </p:nvSpPr>
        <p:spPr>
          <a:xfrm>
            <a:off x="285750" y="857250"/>
            <a:ext cx="169164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 AVANÇADA</a:t>
            </a:r>
            <a:endParaRPr lang="en-US" sz="1080" dirty="0"/>
          </a:p>
        </p:txBody>
      </p:sp>
      <p:sp>
        <p:nvSpPr>
          <p:cNvPr id="6" name="d19bb9a7-6e0d-4b87-8e19-7d5677f77391"/>
          <p:cNvSpPr/>
          <p:nvPr/>
        </p:nvSpPr>
        <p:spPr>
          <a:xfrm>
            <a:off x="285750" y="1165860"/>
            <a:ext cx="4572000" cy="210769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Quando comparamos grandezas de escalas totalmente discrepantes — como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Faturamento em Reais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(milhões) e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Margem Percentual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(de 0% a 100%) —, colocá-las no mesmo eixo inviabiliza a leitura.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solução é configurar o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Eixo Secundário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a linha de margem.</a:t>
            </a:r>
            <a:endParaRPr lang="en-US" sz="1620" dirty="0"/>
          </a:p>
        </p:txBody>
      </p:sp>
      <p:sp>
        <p:nvSpPr>
          <p:cNvPr id="7" name="10905cb9-7178-4137-b687-1d886653dede_card"/>
          <p:cNvSpPr/>
          <p:nvPr/>
        </p:nvSpPr>
        <p:spPr>
          <a:xfrm>
            <a:off x="285750" y="3268980"/>
            <a:ext cx="4572000" cy="1348740"/>
          </a:xfrm>
          <a:prstGeom prst="roundRect">
            <a:avLst>
              <a:gd name="adj" fmla="val 6780"/>
            </a:avLst>
          </a:prstGeom>
          <a:solidFill>
            <a:srgbClr val="E1F6EF"/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</p:sp>
      <p:sp>
        <p:nvSpPr>
          <p:cNvPr id="8" name="10905cb9-7178-4137-b687-1d886653dede_emoji"/>
          <p:cNvSpPr/>
          <p:nvPr/>
        </p:nvSpPr>
        <p:spPr>
          <a:xfrm>
            <a:off x="400050" y="341757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9" name="10905cb9-7178-4137-b687-1d886653dede_text"/>
          <p:cNvSpPr/>
          <p:nvPr/>
        </p:nvSpPr>
        <p:spPr>
          <a:xfrm>
            <a:off x="765810" y="3383280"/>
            <a:ext cx="39776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84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84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Colunas para faturamento no eixo principal; linha para margem no secundário.</a:t>
            </a:r>
            <a:endParaRPr lang="en-US" sz="144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2" descr="/home/forge/chalkie-production-workers-3/releases/77481733/backend/storage/app/render-specs/7275d6bb-0293-421a-9e9f-5c7a14d7cfc7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35466031-be3d-45ea-9a32-0b4131536e3b" descr="/home/forge/chalkie-production-workers-3/releases/77481733/backend/storage/app/render-specs/7275d6bb-0293-421a-9e9f-5c7a14d7cfc7/img_6c57ecfd2ba37e7a6983eb5c647bde6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82296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4" name="8d9f8575-520e-42cb-ac02-d7a3296b0caf" descr="/home/forge/chalkie-production-workers-3/releases/77481733/backend/storage/app/render-specs/7275d6bb-0293-421a-9e9f-5c7a14d7cfc7/img_be1902442c9786649044de8c382d288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010" y="82296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5" name="3e7a1be8-f418-46f5-9932-890c3370a6d4"/>
          <p:cNvSpPr/>
          <p:nvPr/>
        </p:nvSpPr>
        <p:spPr>
          <a:xfrm>
            <a:off x="285750" y="20574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Interatividade com Segmentação de Dados</a:t>
            </a:r>
            <a:endParaRPr lang="en-US" sz="2880" dirty="0"/>
          </a:p>
        </p:txBody>
      </p:sp>
      <p:sp>
        <p:nvSpPr>
          <p:cNvPr id="6" name="ff5cf009-6807-47e3-a52f-2e8aea6e043a"/>
          <p:cNvSpPr/>
          <p:nvPr/>
        </p:nvSpPr>
        <p:spPr>
          <a:xfrm>
            <a:off x="285750" y="301752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São Segmentadores?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São botões visuais elegantes que substituem filtros suspensos lentos. Clicar em um botão filtra instantaneamente todas as tabelas e gráficos.</a:t>
            </a:r>
            <a:endParaRPr lang="en-US" sz="1980" dirty="0"/>
          </a:p>
        </p:txBody>
      </p:sp>
      <p:sp>
        <p:nvSpPr>
          <p:cNvPr id="7" name="80d4cd32-08ab-4694-8cda-65c96fe6c607"/>
          <p:cNvSpPr/>
          <p:nvPr/>
        </p:nvSpPr>
        <p:spPr>
          <a:xfrm>
            <a:off x="4652010" y="301752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Linha do Tempo Dinâmica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Componente visual dedicado exclusivamente para filtros cronológicos. Arraste a barra para selecionar meses, trimestres ou anos.</a:t>
            </a:r>
            <a:endParaRPr lang="en-US" sz="198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3" descr="/home/forge/chalkie-production-workers-3/releases/77481733/backend/storage/app/render-specs/7275d6bb-0293-421a-9e9f-5c7a14d7cfc7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9ff59c45-6d9c-4aed-a4cb-e17e1981221b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Avaliação: Melhores Práticas Visuais</a:t>
            </a:r>
            <a:endParaRPr lang="en-US" sz="2880" dirty="0"/>
          </a:p>
        </p:txBody>
      </p:sp>
      <p:sp>
        <p:nvSpPr>
          <p:cNvPr id="4" name="eb5a0bae-350f-407d-b45f-07fc2455a8b0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Quais afirmações a respeito da criação e estilização de gráficos gerenciais são verdadeiras? (Mais de uma está correta)</a:t>
            </a:r>
            <a:endParaRPr lang="en-US" sz="1620" dirty="0"/>
          </a:p>
        </p:txBody>
      </p:sp>
      <p:sp>
        <p:nvSpPr>
          <p:cNvPr id="5" name="e6a0fd80-7fba-499f-961a-1038750cb745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</a:t>
            </a:r>
            <a:endParaRPr lang="en-US" sz="2520" dirty="0"/>
          </a:p>
        </p:txBody>
      </p:sp>
      <p:sp>
        <p:nvSpPr>
          <p:cNvPr id="6" name="0ab2b52f-2ee5-4c9e-8c4b-fec93d1e664a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gráfico dinâmico atualiza sua disposição visual automaticamente quando a tabela dinâmica é filtrada.</a:t>
            </a:r>
            <a:endParaRPr lang="en-US" sz="1620" dirty="0"/>
          </a:p>
        </p:txBody>
      </p:sp>
      <p:sp>
        <p:nvSpPr>
          <p:cNvPr id="7" name="890ab3d4-c5d9-47fd-ac1c-129a58c20ee2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</a:t>
            </a:r>
            <a:endParaRPr lang="en-US" sz="2520" dirty="0"/>
          </a:p>
        </p:txBody>
      </p:sp>
      <p:sp>
        <p:nvSpPr>
          <p:cNvPr id="8" name="665682b9-1f39-4f01-8f2b-904a9a64ee06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Gráficos de pizza são recomendados mesmo quando temos mais de vinte categorias complexas.</a:t>
            </a:r>
            <a:endParaRPr lang="en-US" sz="1620" dirty="0"/>
          </a:p>
        </p:txBody>
      </p:sp>
      <p:sp>
        <p:nvSpPr>
          <p:cNvPr id="9" name="83bfd117-bfcb-4160-8fdc-3f658632b6cb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</a:t>
            </a:r>
            <a:endParaRPr lang="en-US" sz="2520" dirty="0"/>
          </a:p>
        </p:txBody>
      </p:sp>
      <p:sp>
        <p:nvSpPr>
          <p:cNvPr id="10" name="d740b994-8b95-4a76-82f0-a82eb06b3642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eixo secundário é essencial ao plotar métricas de ordens de grandeza distintas no mesmo gráfico.</a:t>
            </a:r>
            <a:endParaRPr lang="en-US" sz="1620" dirty="0"/>
          </a:p>
        </p:txBody>
      </p:sp>
      <p:sp>
        <p:nvSpPr>
          <p:cNvPr id="11" name="141f6923-0b94-42b9-9468-6f44e6e97d63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</a:t>
            </a:r>
            <a:endParaRPr lang="en-US" sz="2520" dirty="0"/>
          </a:p>
        </p:txBody>
      </p:sp>
      <p:sp>
        <p:nvSpPr>
          <p:cNvPr id="12" name="8cc3382a-315b-4bb9-9c89-c9965aff0a46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Tabelas dinâmicas exigem recalcular fórmulas manuais sempre que novas colunas são ocultadas.</a:t>
            </a:r>
            <a:endParaRPr lang="en-US" sz="162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4" descr="/home/forge/chalkie-production-workers-3/releases/77481733/backend/storage/app/render-specs/7275d6bb-0293-421a-9e9f-5c7a14d7cfc7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9ff59c45-6d9c-4aed-a4cb-e17e1981221b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Avaliação: Melhores Práticas Visuais</a:t>
            </a:r>
            <a:endParaRPr lang="en-US" sz="2880" dirty="0"/>
          </a:p>
        </p:txBody>
      </p:sp>
      <p:sp>
        <p:nvSpPr>
          <p:cNvPr id="4" name="eb5a0bae-350f-407d-b45f-07fc2455a8b0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Quais afirmações a respeito da criação e estilização de gráficos gerenciais são verdadeiras? (Mais de uma está correta)</a:t>
            </a:r>
            <a:endParaRPr lang="en-US" sz="1620" dirty="0"/>
          </a:p>
        </p:txBody>
      </p:sp>
      <p:sp>
        <p:nvSpPr>
          <p:cNvPr id="5" name="e6a0fd80-7fba-499f-961a-1038750cb745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</a:t>
            </a:r>
            <a:endParaRPr lang="en-US" sz="2520" dirty="0"/>
          </a:p>
        </p:txBody>
      </p:sp>
      <p:sp>
        <p:nvSpPr>
          <p:cNvPr id="6" name="0ab2b52f-2ee5-4c9e-8c4b-fec93d1e664a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2C6E49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gráfico dinâmico atualiza sua disposição visual automaticamente quando a tabela dinâmica é filtrada.</a:t>
            </a:r>
            <a:endParaRPr lang="en-US" sz="1620" dirty="0"/>
          </a:p>
        </p:txBody>
      </p:sp>
      <p:sp>
        <p:nvSpPr>
          <p:cNvPr id="7" name="890ab3d4-c5d9-47fd-ac1c-129a58c20ee2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</a:t>
            </a:r>
            <a:endParaRPr lang="en-US" sz="2520" dirty="0"/>
          </a:p>
        </p:txBody>
      </p:sp>
      <p:sp>
        <p:nvSpPr>
          <p:cNvPr id="8" name="665682b9-1f39-4f01-8f2b-904a9a64ee06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Gráficos de pizza são recomendados mesmo quando temos mais de vinte categorias complexas.</a:t>
            </a:r>
            <a:endParaRPr lang="en-US" sz="1620" dirty="0"/>
          </a:p>
        </p:txBody>
      </p:sp>
      <p:sp>
        <p:nvSpPr>
          <p:cNvPr id="9" name="83bfd117-bfcb-4160-8fdc-3f658632b6cb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</a:t>
            </a:r>
            <a:endParaRPr lang="en-US" sz="2520" dirty="0"/>
          </a:p>
        </p:txBody>
      </p:sp>
      <p:sp>
        <p:nvSpPr>
          <p:cNvPr id="10" name="d740b994-8b95-4a76-82f0-a82eb06b3642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2C6E49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eixo secundário é essencial ao plotar métricas de ordens de grandeza distintas no mesmo gráfico.</a:t>
            </a:r>
            <a:endParaRPr lang="en-US" sz="1620" dirty="0"/>
          </a:p>
        </p:txBody>
      </p:sp>
      <p:sp>
        <p:nvSpPr>
          <p:cNvPr id="11" name="141f6923-0b94-42b9-9468-6f44e6e97d63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</a:t>
            </a:r>
            <a:endParaRPr lang="en-US" sz="2520" dirty="0"/>
          </a:p>
        </p:txBody>
      </p:sp>
      <p:sp>
        <p:nvSpPr>
          <p:cNvPr id="12" name="8cc3382a-315b-4bb9-9c89-c9965aff0a46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Tabelas dinâmicas exigem recalcular fórmulas manuais sempre que novas colunas são ocultadas.</a:t>
            </a:r>
            <a:endParaRPr lang="en-US" sz="1620" dirty="0"/>
          </a:p>
        </p:txBody>
      </p:sp>
      <p:sp>
        <p:nvSpPr>
          <p:cNvPr id="13" name="11c229aa-43bc-42a6-b404-b425a121c98e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3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3600" dirty="0"/>
          </a:p>
        </p:txBody>
      </p:sp>
      <p:sp>
        <p:nvSpPr>
          <p:cNvPr id="14" name="ea1cb2c6-c3cb-4d23-8930-a212440ecfdf"/>
          <p:cNvSpPr/>
          <p:nvPr/>
        </p:nvSpPr>
        <p:spPr>
          <a:xfrm>
            <a:off x="8721090" y="15201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70" dirty="0"/>
          </a:p>
        </p:txBody>
      </p:sp>
      <p:sp>
        <p:nvSpPr>
          <p:cNvPr id="15" name="2deded82-3243-4645-8443-52925f6cfead"/>
          <p:cNvSpPr/>
          <p:nvPr/>
        </p:nvSpPr>
        <p:spPr>
          <a:xfrm>
            <a:off x="8721090" y="32346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7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5" descr="/home/forge/chalkie-production-workers-3/releases/77481733/backend/storage/app/render-specs/7275d6bb-0293-421a-9e9f-5c7a14d7cfc7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23860e96-5319-4982-80f2-8e443639c3da" descr="/home/forge/chalkie-production-workers-3/releases/77481733/backend/storage/app/render-specs/7275d6bb-0293-421a-9e9f-5c7a14d7cfc7/img_82f439da2e7acfe89310edb5dbefb60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b6ba7d83-7b4a-4a40-960b-09e9b46995b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Estudo de Caso: Análise de Vendas</a:t>
            </a:r>
            <a:endParaRPr lang="en-US" sz="2880" dirty="0"/>
          </a:p>
        </p:txBody>
      </p:sp>
      <p:sp>
        <p:nvSpPr>
          <p:cNvPr id="5" name="a78c5b8c-2b31-473e-8833-fd94d736da42"/>
          <p:cNvSpPr/>
          <p:nvPr/>
        </p:nvSpPr>
        <p:spPr>
          <a:xfrm>
            <a:off x="285750" y="857250"/>
            <a:ext cx="144018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APLICAÇÃO REAL</a:t>
            </a:r>
            <a:endParaRPr lang="en-US" sz="1080" dirty="0"/>
          </a:p>
        </p:txBody>
      </p:sp>
      <p:sp>
        <p:nvSpPr>
          <p:cNvPr id="6" name="e82dc776-a81e-4a83-bde2-673efecda4ce"/>
          <p:cNvSpPr/>
          <p:nvPr/>
        </p:nvSpPr>
        <p:spPr>
          <a:xfrm>
            <a:off x="285750" y="1165860"/>
            <a:ext cx="457200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distribuidora TechSul registrou 18.000 transações em 2025. A diretoria precisa identificar gargalos logísticos e os produtos mais lucrativos por canal de distribuição para renegociar contratos de fornecimento.</a:t>
            </a:r>
            <a:endParaRPr lang="en-US" sz="1620" dirty="0"/>
          </a:p>
        </p:txBody>
      </p:sp>
      <p:sp>
        <p:nvSpPr>
          <p:cNvPr id="7" name="fac28e96-f26e-4ff2-94d0-836eb3ced531_card"/>
          <p:cNvSpPr/>
          <p:nvPr/>
        </p:nvSpPr>
        <p:spPr>
          <a:xfrm>
            <a:off x="285750" y="2948940"/>
            <a:ext cx="4572000" cy="1348740"/>
          </a:xfrm>
          <a:prstGeom prst="roundRect">
            <a:avLst>
              <a:gd name="adj" fmla="val 6780"/>
            </a:avLst>
          </a:prstGeom>
          <a:solidFill>
            <a:srgbClr val="E6F1FB"/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8" name="fac28e96-f26e-4ff2-94d0-836eb3ced531_emoji"/>
          <p:cNvSpPr/>
          <p:nvPr/>
        </p:nvSpPr>
        <p:spPr>
          <a:xfrm>
            <a:off x="400050" y="309753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9" name="fac28e96-f26e-4ff2-94d0-836eb3ced531_text"/>
          <p:cNvSpPr/>
          <p:nvPr/>
        </p:nvSpPr>
        <p:spPr>
          <a:xfrm>
            <a:off x="765810" y="3063240"/>
            <a:ext cx="39776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Lembre-se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Construiremos uma tabela multidimensional para cruzar Regiões, Categorias e Canais.</a:t>
            </a:r>
            <a:endParaRPr lang="en-US" sz="144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6" descr="/home/forge/chalkie-production-workers-3/releases/77481733/backend/storage/app/render-specs/7275d6bb-0293-421a-9e9f-5c7a14d7cfc7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4d2dd5bd-8ad7-442e-858b-de4605af0a36"/>
          <p:cNvSpPr/>
          <p:nvPr/>
        </p:nvSpPr>
        <p:spPr>
          <a:xfrm>
            <a:off x="171450" y="90297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D32F2F"/>
            </a:solidFill>
            <a:prstDash val="solid"/>
          </a:ln>
        </p:spPr>
      </p:sp>
      <p:sp>
        <p:nvSpPr>
          <p:cNvPr id="4" name="91a7745d-0b08-406c-8152-d80209400ac7"/>
          <p:cNvSpPr/>
          <p:nvPr/>
        </p:nvSpPr>
        <p:spPr>
          <a:xfrm>
            <a:off x="2377440" y="90297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D32F2F"/>
            </a:solidFill>
            <a:prstDash val="solid"/>
          </a:ln>
        </p:spPr>
      </p:sp>
      <p:sp>
        <p:nvSpPr>
          <p:cNvPr id="5" name="f0b2a18b-3db4-4987-ab09-a86f838b20bb"/>
          <p:cNvSpPr/>
          <p:nvPr/>
        </p:nvSpPr>
        <p:spPr>
          <a:xfrm>
            <a:off x="4572000" y="90297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D32F2F"/>
            </a:solidFill>
            <a:prstDash val="solid"/>
          </a:ln>
        </p:spPr>
      </p:sp>
      <p:sp>
        <p:nvSpPr>
          <p:cNvPr id="6" name="098887ee-7203-457d-9d32-f108edd62ac8"/>
          <p:cNvSpPr/>
          <p:nvPr/>
        </p:nvSpPr>
        <p:spPr>
          <a:xfrm>
            <a:off x="6777990" y="902970"/>
            <a:ext cx="2205990" cy="400050"/>
          </a:xfrm>
          <a:prstGeom prst="chevron">
            <a:avLst/>
          </a:prstGeom>
          <a:solidFill>
            <a:srgbClr val="FFFFFF"/>
          </a:solidFill>
          <a:ln w="22860">
            <a:solidFill>
              <a:srgbClr val="D32F2F"/>
            </a:solidFill>
            <a:prstDash val="solid"/>
          </a:ln>
        </p:spPr>
      </p:sp>
      <p:sp>
        <p:nvSpPr>
          <p:cNvPr id="7" name="818de0e1-74e8-49f3-b390-e6045b35bcd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Prática: Relatório Multidimensional</a:t>
            </a:r>
            <a:endParaRPr lang="en-US" sz="2880" dirty="0"/>
          </a:p>
        </p:txBody>
      </p:sp>
      <p:sp>
        <p:nvSpPr>
          <p:cNvPr id="8" name="87b936fc-2d4a-4cc5-8fd0-ccbd1c7e3f6f"/>
          <p:cNvSpPr/>
          <p:nvPr/>
        </p:nvSpPr>
        <p:spPr>
          <a:xfrm>
            <a:off x="285750" y="1360170"/>
            <a:ext cx="197739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Inserir Tabela Dinâmica e colocar Região e Canal nas Linhas.</a:t>
            </a:r>
            <a:endParaRPr lang="en-US" sz="1620" dirty="0"/>
          </a:p>
        </p:txBody>
      </p:sp>
      <p:sp>
        <p:nvSpPr>
          <p:cNvPr id="9" name="d7287ebc-73f3-4be0-8dba-a6bc86d94af3"/>
          <p:cNvSpPr/>
          <p:nvPr/>
        </p:nvSpPr>
        <p:spPr>
          <a:xfrm>
            <a:off x="2491740" y="1360170"/>
            <a:ext cx="197739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Adicionar Categoria de Produto no quadrante de Colunas.</a:t>
            </a:r>
            <a:endParaRPr lang="en-US" sz="1620" dirty="0"/>
          </a:p>
        </p:txBody>
      </p:sp>
      <p:sp>
        <p:nvSpPr>
          <p:cNvPr id="10" name="7ac08470-910c-4fe3-a6df-09c38b07985b"/>
          <p:cNvSpPr/>
          <p:nvPr/>
        </p:nvSpPr>
        <p:spPr>
          <a:xfrm>
            <a:off x="4686300" y="1360170"/>
            <a:ext cx="197739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Inserir Valor Total e Lucro Líquido no campo de Valores.</a:t>
            </a:r>
            <a:endParaRPr lang="en-US" sz="1620" dirty="0"/>
          </a:p>
        </p:txBody>
      </p:sp>
      <p:sp>
        <p:nvSpPr>
          <p:cNvPr id="11" name="8dea4700-4e4f-4c09-8fbe-d258a0f8e1e9"/>
          <p:cNvSpPr/>
          <p:nvPr/>
        </p:nvSpPr>
        <p:spPr>
          <a:xfrm>
            <a:off x="6892290" y="1360170"/>
            <a:ext cx="197739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Inserir Segmentação de Dados por Ano e Gerente Comercial.</a:t>
            </a:r>
            <a:endParaRPr lang="en-US" sz="162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7" descr="/home/forge/chalkie-production-workers-3/releases/77481733/backend/storage/app/render-specs/7275d6bb-0293-421a-9e9f-5c7a14d7cfc7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1ddd21e6-ccd5-44df-856b-1c30920761f8" descr="/home/forge/chalkie-production-workers-3/releases/77481733/backend/storage/app/render-specs/7275d6bb-0293-421a-9e9f-5c7a14d7cfc7/img_5a45194547020409ac38b348347023e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4" name="c8a6e7a1-67e4-4e8e-a9aa-0b7dcefa251b"/>
          <p:cNvSpPr/>
          <p:nvPr/>
        </p:nvSpPr>
        <p:spPr>
          <a:xfrm>
            <a:off x="3714750" y="331470"/>
            <a:ext cx="5143500" cy="111556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Descobertas Operacionais da Análise</a:t>
            </a:r>
            <a:endParaRPr lang="en-US" sz="2880" dirty="0"/>
          </a:p>
        </p:txBody>
      </p:sp>
      <p:sp>
        <p:nvSpPr>
          <p:cNvPr id="5" name="375ee86f-93cf-47c8-8d92-3833914c327c"/>
          <p:cNvSpPr/>
          <p:nvPr/>
        </p:nvSpPr>
        <p:spPr>
          <a:xfrm>
            <a:off x="3714750" y="1451610"/>
            <a:ext cx="179451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 DE NEGÓCIO</a:t>
            </a:r>
            <a:endParaRPr lang="en-US" sz="1080" dirty="0"/>
          </a:p>
        </p:txBody>
      </p:sp>
      <p:sp>
        <p:nvSpPr>
          <p:cNvPr id="6" name="e4c26ca9-dba4-48df-a593-3d6e1ff6d07d"/>
          <p:cNvSpPr/>
          <p:nvPr/>
        </p:nvSpPr>
        <p:spPr>
          <a:xfrm>
            <a:off x="3714750" y="1760220"/>
            <a:ext cx="51435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E-commerce: 65% do volume, 18% da margem.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Região Sul: maior ticket médio em equipamentos.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4º trimestre: frete reduziu lucros de filiais.</a:t>
            </a:r>
            <a:endParaRPr lang="en-US" sz="1620" dirty="0"/>
          </a:p>
        </p:txBody>
      </p:sp>
      <p:sp>
        <p:nvSpPr>
          <p:cNvPr id="7" name="0abf3c6b-ba36-4883-a9cc-f6cd638edc08_card"/>
          <p:cNvSpPr/>
          <p:nvPr/>
        </p:nvSpPr>
        <p:spPr>
          <a:xfrm>
            <a:off x="3714750" y="3463290"/>
            <a:ext cx="5143500" cy="1101852"/>
          </a:xfrm>
          <a:prstGeom prst="roundRect">
            <a:avLst>
              <a:gd name="adj" fmla="val 8299"/>
            </a:avLst>
          </a:prstGeom>
          <a:solidFill>
            <a:srgbClr val="FAEFDA"/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8" name="0abf3c6b-ba36-4883-a9cc-f6cd638edc08_emoji"/>
          <p:cNvSpPr/>
          <p:nvPr/>
        </p:nvSpPr>
        <p:spPr>
          <a:xfrm>
            <a:off x="3829050" y="361188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9" name="0abf3c6b-ba36-4883-a9cc-f6cd638edc08_text"/>
          <p:cNvSpPr/>
          <p:nvPr/>
        </p:nvSpPr>
        <p:spPr>
          <a:xfrm>
            <a:off x="4194810" y="3577590"/>
            <a:ext cx="454914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Ponto-chave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Dados revelam a real rentabilidade do negócio.</a:t>
            </a:r>
            <a:endParaRPr lang="en-US" sz="144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8" descr="/home/forge/chalkie-production-workers-3/releases/77481733/backend/storage/app/render-specs/7275d6bb-0293-421a-9e9f-5c7a14d7cfc7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543c9b67-0820-431b-b223-ec526a90a4f7" descr="/home/forge/chalkie-production-workers-3/releases/77481733/backend/storage/app/render-specs/7275d6bb-0293-421a-9e9f-5c7a14d7cfc7/img_88f2cf22d50efe57d124336ea25cb3a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" y="651510"/>
            <a:ext cx="8332470" cy="4309110"/>
          </a:xfrm>
          <a:prstGeom prst="roundRect">
            <a:avLst>
              <a:gd name="adj" fmla="val 3183"/>
            </a:avLst>
          </a:prstGeom>
        </p:spPr>
      </p:pic>
      <p:pic>
        <p:nvPicPr>
          <p:cNvPr id="4" name="5f607ee6-0f19-4f10-adfa-03343207b5f6" descr="/home/forge/chalkie-production-workers-3/releases/77481733/backend/storage/app/render-specs/7275d6bb-0293-421a-9e9f-5c7a14d7cfc7/img_b968ea90ad54ac9ba5c4662e97db6a9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020" y="1657350"/>
            <a:ext cx="2834640" cy="2194560"/>
          </a:xfrm>
          <a:prstGeom prst="roundRect">
            <a:avLst>
              <a:gd name="adj" fmla="val 6250"/>
            </a:avLst>
          </a:prstGeom>
        </p:spPr>
      </p:pic>
      <p:sp>
        <p:nvSpPr>
          <p:cNvPr id="5" name="ae42fb21-7508-4389-80ee-a585d5a5ae4e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Discussão Gerencial: Decisões Estratégicas</a:t>
            </a:r>
            <a:endParaRPr lang="en-US" sz="2880" dirty="0"/>
          </a:p>
        </p:txBody>
      </p:sp>
      <p:sp>
        <p:nvSpPr>
          <p:cNvPr id="6" name="f0c8b45f-7d60-40da-a6a6-142b9ac9a7c1"/>
          <p:cNvSpPr/>
          <p:nvPr/>
        </p:nvSpPr>
        <p:spPr>
          <a:xfrm>
            <a:off x="4297680" y="1828800"/>
            <a:ext cx="3726180" cy="19888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 base na descoberta de que o E-commerce vende muito volume mas com margem baixa, a empresa deve reduzir as vendas online ou renegociar custos operacionais e logística? Como os gráficos gerenciais ajudam a convencer a diretoria?</a:t>
            </a:r>
            <a:endParaRPr lang="en-US" sz="162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9" descr="/home/forge/chalkie-production-workers-3/releases/77481733/backend/storage/app/render-specs/7275d6bb-0293-421a-9e9f-5c7a14d7cfc7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543c9b67-0820-431b-b223-ec526a90a4f7" descr="/home/forge/chalkie-production-workers-3/releases/77481733/backend/storage/app/render-specs/7275d6bb-0293-421a-9e9f-5c7a14d7cfc7/img_88f2cf22d50efe57d124336ea25cb3a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" y="651510"/>
            <a:ext cx="8332470" cy="4309110"/>
          </a:xfrm>
          <a:prstGeom prst="roundRect">
            <a:avLst>
              <a:gd name="adj" fmla="val 3183"/>
            </a:avLst>
          </a:prstGeom>
        </p:spPr>
      </p:pic>
      <p:sp>
        <p:nvSpPr>
          <p:cNvPr id="4" name="ae42fb21-7508-4389-80ee-a585d5a5ae4e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Discussão Gerencial: Decisões Estratégicas</a:t>
            </a:r>
            <a:endParaRPr lang="en-US" sz="2880" dirty="0"/>
          </a:p>
        </p:txBody>
      </p:sp>
      <p:sp>
        <p:nvSpPr>
          <p:cNvPr id="5" name="3e87f019-6b18-4680-88a3-112dd37331e8"/>
          <p:cNvSpPr/>
          <p:nvPr/>
        </p:nvSpPr>
        <p:spPr>
          <a:xfrm>
            <a:off x="982980" y="1657350"/>
            <a:ext cx="7040880" cy="19888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Você poderia ter dito...</a:t>
            </a:r>
            <a:endParaRPr lang="en-US" sz="162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Reduzir o canal online pode ceder espaço de mercado aos concorrentes. O ideal é analisar os custos logísticos na tabela dinâmica e utilizar um gráfico combinado (volume versus margem) para evidenciar aos diretores onde ocorrem os desperdícios de frete e embalagem.</a:t>
            </a:r>
            <a:endParaRPr lang="en-US" sz="1620" dirty="0"/>
          </a:p>
        </p:txBody>
      </p:sp>
      <p:sp>
        <p:nvSpPr>
          <p:cNvPr id="6" name="dbcb8c35-302c-4d16-af37-d6244c804a66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3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3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40" descr="/home/forge/chalkie-production-workers-3/releases/77481733/backend/storage/app/render-specs/7275d6bb-0293-421a-9e9f-5c7a14d7cfc7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9c4c69eb-688f-457a-a3a9-495a13626768" descr="/home/forge/chalkie-production-workers-3/releases/77481733/backend/storage/app/render-specs/7275d6bb-0293-421a-9e9f-5c7a14d7cfc7/img_b8e2e30cbb6ba10a8acb00af0ff4be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oundRect">
            <a:avLst>
              <a:gd name="adj" fmla="val 2667"/>
            </a:avLst>
          </a:prstGeom>
        </p:spPr>
      </p:pic>
      <p:pic>
        <p:nvPicPr>
          <p:cNvPr id="4" name="d44ee1aa-a04b-439b-9d5a-fd64031347f7" descr="/home/forge/chalkie-production-workers-3/releases/77481733/backend/storage/app/render-specs/7275d6bb-0293-421a-9e9f-5c7a14d7cfc7/img_f317a1708348d66ea0b1e7a12ebc9c9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908810"/>
            <a:ext cx="2697480" cy="2331720"/>
          </a:xfrm>
          <a:prstGeom prst="roundRect">
            <a:avLst>
              <a:gd name="adj" fmla="val 5882"/>
            </a:avLst>
          </a:prstGeom>
        </p:spPr>
      </p:pic>
      <p:sp>
        <p:nvSpPr>
          <p:cNvPr id="5" name="23a838df-cec9-4327-b490-52aa46f5137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Desafio Prático Final de Consolidação</a:t>
            </a:r>
            <a:endParaRPr lang="en-US" sz="2880" dirty="0"/>
          </a:p>
        </p:txBody>
      </p:sp>
      <p:sp>
        <p:nvSpPr>
          <p:cNvPr id="6" name="e01ff38c-95c2-4fde-bc51-92fe02a41f1f"/>
          <p:cNvSpPr/>
          <p:nvPr/>
        </p:nvSpPr>
        <p:spPr>
          <a:xfrm>
            <a:off x="3806190" y="1440180"/>
            <a:ext cx="4194810" cy="312039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 base nos dados do laboratório: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Tabela: Trimestres nas colunas, Vendedores nas linhas.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Valores: Soma do Faturamento e % do Total Geral.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Gráfico: Colunas para Faturamento (eixo principal) e linha para Margem Média (eixo secundário).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Filtro: Adicione Segmentação por Categoria. Identifique o vendedor com melhor desempenho relativo.</a:t>
            </a:r>
            <a:endParaRPr lang="en-US" sz="162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41" descr="/home/forge/chalkie-production-workers-3/releases/77481733/backend/storage/app/render-specs/7275d6bb-0293-421a-9e9f-5c7a14d7cfc7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1cf31799-d93a-42d2-9e34-b2876d8827a9" descr="/home/forge/chalkie-production-workers-3/releases/77481733/backend/storage/app/render-specs/7275d6bb-0293-421a-9e9f-5c7a14d7cfc7/img_e8859b48033bf71bd2ec0e5d33a0608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6ebc4d8d-6d5e-4254-ba69-2d4f36be905f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Conclusão e Próximos Passos</a:t>
            </a:r>
            <a:endParaRPr lang="en-US" sz="2880" dirty="0"/>
          </a:p>
        </p:txBody>
      </p:sp>
      <p:sp>
        <p:nvSpPr>
          <p:cNvPr id="5" name="5238e898-26e7-4475-b577-5ad2f1c21691"/>
          <p:cNvSpPr/>
          <p:nvPr/>
        </p:nvSpPr>
        <p:spPr>
          <a:xfrm>
            <a:off x="285750" y="857250"/>
            <a:ext cx="147447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SÍNTESE DA AULA</a:t>
            </a:r>
            <a:endParaRPr lang="en-US" sz="1080" dirty="0"/>
          </a:p>
        </p:txBody>
      </p:sp>
      <p:sp>
        <p:nvSpPr>
          <p:cNvPr id="6" name="9f800876-9717-48ff-953d-82c3bdf715a5"/>
          <p:cNvSpPr/>
          <p:nvPr/>
        </p:nvSpPr>
        <p:spPr>
          <a:xfrm>
            <a:off x="285750" y="1165860"/>
            <a:ext cx="4572000" cy="210769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Dominamos hoje a criação de Tabelas Dinâmicas, configurações avançadas de valores, gráficos combinados com duplo eixo e segmentadores interativos.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 próxima aula, integraremos todos esses componentes na construção de um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Executivo Profissional Interativo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20" dirty="0"/>
          </a:p>
        </p:txBody>
      </p:sp>
      <p:sp>
        <p:nvSpPr>
          <p:cNvPr id="7" name="8a268cca-6a25-419e-8db9-03a7e5ba11ef_card"/>
          <p:cNvSpPr/>
          <p:nvPr/>
        </p:nvSpPr>
        <p:spPr>
          <a:xfrm>
            <a:off x="285750" y="3509010"/>
            <a:ext cx="4572000" cy="1101852"/>
          </a:xfrm>
          <a:prstGeom prst="roundRect">
            <a:avLst>
              <a:gd name="adj" fmla="val 8299"/>
            </a:avLst>
          </a:prstGeom>
          <a:solidFill>
            <a:srgbClr val="E6F1FB"/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8" name="8a268cca-6a25-419e-8db9-03a7e5ba11ef_emoji"/>
          <p:cNvSpPr/>
          <p:nvPr/>
        </p:nvSpPr>
        <p:spPr>
          <a:xfrm>
            <a:off x="400050" y="365760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9" name="8a268cca-6a25-419e-8db9-03a7e5ba11ef_text"/>
          <p:cNvSpPr/>
          <p:nvPr/>
        </p:nvSpPr>
        <p:spPr>
          <a:xfrm>
            <a:off x="765810" y="3623310"/>
            <a:ext cx="397764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Lembre-se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Dados bem estruturados geram visualizações claras e decisões ágeis.</a:t>
            </a:r>
            <a:endParaRPr lang="en-US" sz="14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Tabelas Dinâmicas e Gráficos Gerenciais</dc:title>
  <dc:subject>PptxGenJS Presentation</dc:subject>
  <dc:creator>PptxGenJS</dc:creator>
  <cp:lastModifiedBy>PptxGenJS</cp:lastModifiedBy>
  <cp:revision>1</cp:revision>
  <dcterms:created xsi:type="dcterms:W3CDTF">2026-09-11T10:48:06Z</dcterms:created>
  <dcterms:modified xsi:type="dcterms:W3CDTF">2026-09-11T10:48:06Z</dcterms:modified>
</cp:coreProperties>
</file>