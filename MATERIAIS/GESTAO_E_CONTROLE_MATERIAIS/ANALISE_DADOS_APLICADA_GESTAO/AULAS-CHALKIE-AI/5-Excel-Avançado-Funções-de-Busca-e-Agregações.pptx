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Inter"/>
      <p:regular r:id="rId49"/>
      <p:bold r:id="rId50"/>
    </p:embeddedFont>
    <p:embeddedFont>
      <p:font typeface="Karla"/>
      <p:regular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6Vwzs-BF_I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6" Type="http://schemas.openxmlformats.org/officeDocument/2006/relationships/video" Target="https://www.youtube.com/embed/s6Vwzs-BF_I?feature=oembed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490-47a0-ae89-f15692ab30ab/b8365111-99ca-4632-9346-8d7e5aaf812a?source=exported_presentation&amp;exportFormat=powerpoint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490-47a0-ae89-f15692ab30ab/b8365111-99ca-4632-9346-8d7e5aaf812a?source=exported_presentation&amp;exportFormat=powerpoint" TargetMode="External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3b1fc01-ac18-4661-8dc8-d6f1c7060fe5" descr="/home/forge/chalkie-production-workers-3/releases/77481733/backend/storage/app/render-specs/7058ce06-c8d3-486e-a91c-2a829690de24/img_2d7b04f0585dae0c3b3c90ec6c95178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a16d9c1c-8a9b-4d30-8ed1-15d179d8e67a"/>
          <p:cNvSpPr/>
          <p:nvPr/>
        </p:nvSpPr>
        <p:spPr>
          <a:xfrm>
            <a:off x="4914900" y="128016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Avançado: Funções de Busca e Agregações</a:t>
            </a:r>
            <a:endParaRPr lang="en-US" sz="3240" dirty="0"/>
          </a:p>
        </p:txBody>
      </p:sp>
      <p:sp>
        <p:nvSpPr>
          <p:cNvPr id="5" name="293244d2-9a78-4ef4-af51-4e3cd0072286"/>
          <p:cNvSpPr/>
          <p:nvPr/>
        </p:nvSpPr>
        <p:spPr>
          <a:xfrm>
            <a:off x="4914900" y="293751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Domine PROCV, ÍNDICE, CORRESP e fórmulas condicionais para gestão.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5ee6d80-ea14-4eaf-8860-e86c7931d4ce" descr="/home/forge/chalkie-production-workers-3/releases/77481733/backend/storage/app/render-specs/7058ce06-c8d3-486e-a91c-2a829690de24/img_e98a204a36e59110e879780bc45a8b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47be15a1-5cd4-4145-9cf6-244a9a8bd228"/>
          <p:cNvSpPr/>
          <p:nvPr/>
        </p:nvSpPr>
        <p:spPr>
          <a:xfrm>
            <a:off x="285750" y="93726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Encontrar um Dado em 10.000 Linhas?</a:t>
            </a:r>
            <a:endParaRPr lang="en-US" sz="2880" dirty="0"/>
          </a:p>
        </p:txBody>
      </p:sp>
      <p:sp>
        <p:nvSpPr>
          <p:cNvPr id="5" name="762019c8-61b9-4cfe-b6bf-de69367ea848"/>
          <p:cNvSpPr/>
          <p:nvPr/>
        </p:nvSpPr>
        <p:spPr>
          <a:xfrm>
            <a:off x="285750" y="1988820"/>
            <a:ext cx="51435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procurar o preço unitário de um único parafuso em um catálogo imenso com mais de dez mil itens cadastrados.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Fazer isso manualmente consumiria horas e geraria erros graves de conferência. Fórmulas inteligentes automatizam esse processo em frações de segundo.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b3d19a7-7791-4b7e-a4ef-da0223aba53d" descr="/home/forge/chalkie-production-workers-3/releases/77481733/backend/storage/app/render-specs/7058ce06-c8d3-486e-a91c-2a829690de24/img_bb620ea1fb6f30dd6b26162beccd1e8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0d9d8cc9-250b-477c-8df4-9f5d206b4814"/>
          <p:cNvSpPr/>
          <p:nvPr/>
        </p:nvSpPr>
        <p:spPr>
          <a:xfrm>
            <a:off x="285750" y="788670"/>
            <a:ext cx="5143500" cy="91440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5" name="c6af10ad-5dc9-4cce-a0a3-643aa7d05d20"/>
          <p:cNvSpPr/>
          <p:nvPr/>
        </p:nvSpPr>
        <p:spPr>
          <a:xfrm>
            <a:off x="400050" y="107442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6" name="b3c251a7-c1b6-405d-8e96-823a91f67754"/>
          <p:cNvSpPr/>
          <p:nvPr/>
        </p:nvSpPr>
        <p:spPr>
          <a:xfrm>
            <a:off x="285750" y="1817370"/>
            <a:ext cx="5143500" cy="91440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7" name="765d1c08-bd42-4613-ac27-7965cf671bb5"/>
          <p:cNvSpPr/>
          <p:nvPr/>
        </p:nvSpPr>
        <p:spPr>
          <a:xfrm>
            <a:off x="400050" y="210312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8" name="cab34654-471b-4d1b-bebf-9f2e26421b72"/>
          <p:cNvSpPr/>
          <p:nvPr/>
        </p:nvSpPr>
        <p:spPr>
          <a:xfrm>
            <a:off x="285750" y="2846070"/>
            <a:ext cx="5143500" cy="91440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9" name="97323175-bbe4-48a3-b764-0827a393319c"/>
          <p:cNvSpPr/>
          <p:nvPr/>
        </p:nvSpPr>
        <p:spPr>
          <a:xfrm>
            <a:off x="400050" y="3131820"/>
            <a:ext cx="342900" cy="3429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5d46c0f0-4fd3-4651-921f-dab0ece9a847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da Aula de Hoje</a:t>
            </a:r>
            <a:endParaRPr lang="en-US" sz="2880" dirty="0"/>
          </a:p>
        </p:txBody>
      </p:sp>
      <p:sp>
        <p:nvSpPr>
          <p:cNvPr id="11" name="83434e35-492e-4a74-9df0-94a4ef306c5a"/>
          <p:cNvSpPr/>
          <p:nvPr/>
        </p:nvSpPr>
        <p:spPr>
          <a:xfrm>
            <a:off x="400050" y="107442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2" name="d5cabf9b-026f-4b1a-a513-6e3fe18a7fd0"/>
          <p:cNvSpPr/>
          <p:nvPr/>
        </p:nvSpPr>
        <p:spPr>
          <a:xfrm>
            <a:off x="834390" y="902970"/>
            <a:ext cx="448056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Dominar buscas com PROCV, PROCH e ÍNDICE/CORRESP.</a:t>
            </a:r>
            <a:endParaRPr lang="en-US" sz="1620" dirty="0"/>
          </a:p>
        </p:txBody>
      </p:sp>
      <p:sp>
        <p:nvSpPr>
          <p:cNvPr id="13" name="20b24305-d284-49fd-9760-afc92cea92cc"/>
          <p:cNvSpPr/>
          <p:nvPr/>
        </p:nvSpPr>
        <p:spPr>
          <a:xfrm>
            <a:off x="400050" y="210312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14" name="bedab342-bcb7-46ab-a537-2944510be5c4"/>
          <p:cNvSpPr/>
          <p:nvPr/>
        </p:nvSpPr>
        <p:spPr>
          <a:xfrm>
            <a:off x="834390" y="1931670"/>
            <a:ext cx="448056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Consolidar métricas via SOMASE e CONT.SE.</a:t>
            </a:r>
            <a:endParaRPr lang="en-US" sz="1620" dirty="0"/>
          </a:p>
        </p:txBody>
      </p:sp>
      <p:sp>
        <p:nvSpPr>
          <p:cNvPr id="15" name="bf73df02-1305-445e-807e-71e5726f7bfc"/>
          <p:cNvSpPr/>
          <p:nvPr/>
        </p:nvSpPr>
        <p:spPr>
          <a:xfrm>
            <a:off x="400050" y="313182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0" dirty="0"/>
          </a:p>
        </p:txBody>
      </p:sp>
      <p:sp>
        <p:nvSpPr>
          <p:cNvPr id="16" name="a7a3d290-8fb8-426b-83ff-0a4e06e04a54"/>
          <p:cNvSpPr/>
          <p:nvPr/>
        </p:nvSpPr>
        <p:spPr>
          <a:xfrm>
            <a:off x="834390" y="2960370"/>
            <a:ext cx="448056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Auditar fórmulas e prevenir erros com SEERRO e SE.</a:t>
            </a:r>
            <a:endParaRPr lang="en-US" sz="1620" dirty="0"/>
          </a:p>
        </p:txBody>
      </p:sp>
      <p:sp>
        <p:nvSpPr>
          <p:cNvPr id="17" name="525b3b27-5dd8-4657-bf12-c52e46fa32a6_card"/>
          <p:cNvSpPr/>
          <p:nvPr/>
        </p:nvSpPr>
        <p:spPr>
          <a:xfrm>
            <a:off x="285750" y="3897630"/>
            <a:ext cx="5143500" cy="854964"/>
          </a:xfrm>
          <a:prstGeom prst="roundRect">
            <a:avLst>
              <a:gd name="adj" fmla="val 10695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18" name="525b3b27-5dd8-4657-bf12-c52e46fa32a6_emoji"/>
          <p:cNvSpPr/>
          <p:nvPr/>
        </p:nvSpPr>
        <p:spPr>
          <a:xfrm>
            <a:off x="400050" y="40462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19" name="525b3b27-5dd8-4657-bf12-c52e46fa32a6_text"/>
          <p:cNvSpPr/>
          <p:nvPr/>
        </p:nvSpPr>
        <p:spPr>
          <a:xfrm>
            <a:off x="765810" y="4011930"/>
            <a:ext cx="4549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 que integram tabelas em sistemas.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7f55627-4401-45cd-b181-2c9d56b9b213" descr="/home/forge/chalkie-production-workers-3/releases/77481733/backend/storage/app/render-specs/7058ce06-c8d3-486e-a91c-2a829690de24/img_789b3d1402c2f6831bb7199f80860a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863f8fc9-96e6-4fe1-b9a6-97d8cbd70922" descr="/home/forge/chalkie-production-workers-3/releases/77481733/backend/storage/app/render-specs/7058ce06-c8d3-486e-a91c-2a829690de24/img_79ebf184d16e5db0026958da68ab41d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7164eefb-1bb9-4175-b917-01ba69768908" descr="/home/forge/chalkie-production-workers-3/releases/77481733/backend/storage/app/render-specs/7058ce06-c8d3-486e-a91c-2a829690de24/img_2b478b95f385f3bd21fa37ab70d02d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17c0e8cf-b988-4330-8392-88e9359729a1" descr="/home/forge/chalkie-production-workers-3/releases/77481733/backend/storage/app/render-specs/7058ce06-c8d3-486e-a91c-2a829690de24/img_2fcf4298c26945278e25f126c5d9235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490db1b1-7b4c-47d6-b516-eb1c6ffdeba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Essencial de Gestão</a:t>
            </a:r>
            <a:endParaRPr lang="en-US" sz="2880" dirty="0"/>
          </a:p>
        </p:txBody>
      </p:sp>
      <p:sp>
        <p:nvSpPr>
          <p:cNvPr id="8" name="643ad19e-14e5-4ebe-9fa3-7ab27a794e1e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Localização dinâmica de registros específicos em outras tabelas por chave.</a:t>
            </a:r>
            <a:endParaRPr lang="en-US" sz="1980" dirty="0"/>
          </a:p>
        </p:txBody>
      </p:sp>
      <p:sp>
        <p:nvSpPr>
          <p:cNvPr id="9" name="14823a63-8206-4057-93a0-a68c261e0e3a"/>
          <p:cNvSpPr/>
          <p:nvPr/>
        </p:nvSpPr>
        <p:spPr>
          <a:xfrm>
            <a:off x="249174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Agregação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que reúne e totaliza valores numéricos conforme critérios definidos.</a:t>
            </a:r>
            <a:endParaRPr lang="en-US" sz="1980" dirty="0"/>
          </a:p>
        </p:txBody>
      </p:sp>
      <p:sp>
        <p:nvSpPr>
          <p:cNvPr id="10" name="3fe786a3-01b2-407f-bf03-89118e1e08a2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Aninhamento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Inserção de uma função dentro de outra para resolver testes múltiplos.</a:t>
            </a:r>
            <a:endParaRPr lang="en-US" sz="1980" dirty="0"/>
          </a:p>
        </p:txBody>
      </p:sp>
      <p:sp>
        <p:nvSpPr>
          <p:cNvPr id="11" name="cfd2b241-a422-4aec-ad08-7c96d3317279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Rastreamento de precedentes e dependentes para validar o fluxo de cálculo.</a:t>
            </a:r>
            <a:endParaRPr lang="en-US" sz="1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efbc64f-1b68-42cf-a505-181363f74ccb" descr="/home/forge/chalkie-production-workers-3/releases/77481733/backend/storage/app/render-specs/7058ce06-c8d3-486e-a91c-2a829690de24/img_8b83b17a993c4452d390333bf8601d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668502a-d6bb-4be7-8fb0-a53db762098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Recapitulando a Aula Anterior</a:t>
            </a:r>
            <a:endParaRPr lang="en-US" sz="2880" dirty="0"/>
          </a:p>
        </p:txBody>
      </p:sp>
      <p:sp>
        <p:nvSpPr>
          <p:cNvPr id="5" name="7e24ccd1-ef04-4e7c-8726-a9973754f5d0"/>
          <p:cNvSpPr/>
          <p:nvPr/>
        </p:nvSpPr>
        <p:spPr>
          <a:xfrm>
            <a:off x="4286250" y="78867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e Proteção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anterior, vimos como blindar planilhas: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Formatação condicional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alertas.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dados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listas suspensas.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Congelamento de painéis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navegação.</a:t>
            </a:r>
            <a:endParaRPr lang="en-US" sz="1980" dirty="0"/>
          </a:p>
        </p:txBody>
      </p:sp>
      <p:sp>
        <p:nvSpPr>
          <p:cNvPr id="6" name="9c3f85b8-5679-455c-b97e-4af23706dbc9_card"/>
          <p:cNvSpPr/>
          <p:nvPr/>
        </p:nvSpPr>
        <p:spPr>
          <a:xfrm>
            <a:off x="4286250" y="342900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9c3f85b8-5679-455c-b97e-4af23706dbc9_emoji"/>
          <p:cNvSpPr/>
          <p:nvPr/>
        </p:nvSpPr>
        <p:spPr>
          <a:xfrm>
            <a:off x="4400550" y="35775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9c3f85b8-5679-455c-b97e-4af23706dbc9_text"/>
          <p:cNvSpPr/>
          <p:nvPr/>
        </p:nvSpPr>
        <p:spPr>
          <a:xfrm>
            <a:off x="4766310" y="354330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padronizados garantem o sucesso de fórmulas de busca.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844888a-ced4-4b11-8d6e-0168e5d6f3df" descr="/home/forge/chalkie-production-workers-3/releases/77481733/backend/storage/app/render-specs/7058ce06-c8d3-486e-a91c-2a829690de24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6ae24b95-61d4-4e54-9642-ff10cc42a13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Validação e Proteção</a:t>
            </a:r>
            <a:endParaRPr lang="en-US" sz="2880" dirty="0"/>
          </a:p>
        </p:txBody>
      </p:sp>
      <p:sp>
        <p:nvSpPr>
          <p:cNvPr id="5" name="4fed4096-9e75-42a1-97f3-e1ed54ff643c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ferramenta impede digitação incorreta ao restringir escolhas a uma lista prévia?</a:t>
            </a:r>
            <a:endParaRPr lang="en-US" sz="1620" dirty="0"/>
          </a:p>
        </p:txBody>
      </p:sp>
      <p:sp>
        <p:nvSpPr>
          <p:cNvPr id="6" name="b9108ea5-5a55-48a1-9f39-5aca26016b12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recurso mantém cabeçalhos visíveis enquanto rolamos a planilha para baixo?</a:t>
            </a:r>
            <a:endParaRPr lang="en-US" sz="1620" dirty="0"/>
          </a:p>
        </p:txBody>
      </p:sp>
      <p:sp>
        <p:nvSpPr>
          <p:cNvPr id="7" name="160972c8-2878-4f32-a9da-11474d8311a1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devemos proteger planilhas com senhas em relatórios compartilhados?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6ae24b95-61d4-4e54-9642-ff10cc42a13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Validação e Proteção</a:t>
            </a:r>
            <a:endParaRPr lang="en-US" sz="2880" dirty="0"/>
          </a:p>
        </p:txBody>
      </p:sp>
      <p:sp>
        <p:nvSpPr>
          <p:cNvPr id="4" name="16b2b916-74e7-47d2-9ef2-a09ae9548506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dados (lista suspensa).</a:t>
            </a:r>
            <a:endParaRPr lang="en-US" sz="1620" dirty="0"/>
          </a:p>
        </p:txBody>
      </p:sp>
      <p:sp>
        <p:nvSpPr>
          <p:cNvPr id="5" name="b122bff9-dbdb-45ba-a9e6-c8fdbdb4a791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Congelar painéis.</a:t>
            </a:r>
            <a:endParaRPr lang="en-US" sz="1620" dirty="0"/>
          </a:p>
        </p:txBody>
      </p:sp>
      <p:sp>
        <p:nvSpPr>
          <p:cNvPr id="6" name="4072ad27-fcca-4826-8f3a-77778252efd2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evitar alterações acidentais em fórmulas essenciais e regras de validação.</a:t>
            </a:r>
            <a:endParaRPr lang="en-US" sz="1620" dirty="0"/>
          </a:p>
        </p:txBody>
      </p:sp>
      <p:sp>
        <p:nvSpPr>
          <p:cNvPr id="7" name="d10b3b05-e447-497e-a101-893efb69edcd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f56c1c39-b74b-4772-9e20-c7f03b74ae1a" descr="/home/forge/chalkie-production-workers-3/releases/77481733/backend/storage/app/render-specs/7058ce06-c8d3-486e-a91c-2a829690de24/img_8ba3012d2628bb67ef399ff335fd0d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9de6fab8-e981-44ec-af85-0bcf26ba0b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Apresentando a Função PROCV</a:t>
            </a:r>
            <a:endParaRPr lang="en-US" sz="2880" dirty="0"/>
          </a:p>
        </p:txBody>
      </p:sp>
      <p:sp>
        <p:nvSpPr>
          <p:cNvPr id="5" name="958475ee-32f9-47c4-9077-29f701a03602"/>
          <p:cNvSpPr/>
          <p:nvPr/>
        </p:nvSpPr>
        <p:spPr>
          <a:xfrm>
            <a:off x="285750" y="788670"/>
            <a:ext cx="45720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Motor da Busca Vertical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procura um código na primeira coluna à esquerda de uma matriz e retorna o valor correspondente situado na coluna indicada.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Sintaxe essencial: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6" name="f929d385-66d5-455e-96e1-d75832a606b0_card"/>
          <p:cNvSpPr/>
          <p:nvPr/>
        </p:nvSpPr>
        <p:spPr>
          <a:xfrm>
            <a:off x="285750" y="2766060"/>
            <a:ext cx="4572000" cy="1595628"/>
          </a:xfrm>
          <a:prstGeom prst="roundRect">
            <a:avLst>
              <a:gd name="adj" fmla="val 5731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f929d385-66d5-455e-96e1-d75832a606b0_emoji"/>
          <p:cNvSpPr/>
          <p:nvPr/>
        </p:nvSpPr>
        <p:spPr>
          <a:xfrm>
            <a:off x="400050" y="29146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f929d385-66d5-455e-96e1-d75832a606b0_text"/>
          <p:cNvSpPr/>
          <p:nvPr/>
        </p:nvSpPr>
        <p:spPr>
          <a:xfrm>
            <a:off x="765810" y="2880360"/>
            <a:ext cx="3977640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sempre 0 ou FALSO no quarto argumento para exigir correspondência estrita e evitar retornos aproximados errôneos.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9650ad36-116b-455f-8ce8-12b67ae40f21"/>
          <p:cNvSpPr/>
          <p:nvPr/>
        </p:nvSpPr>
        <p:spPr>
          <a:xfrm>
            <a:off x="17145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0bfd1201-31e4-4f9e-aa3d-9fe8615b27be"/>
          <p:cNvSpPr/>
          <p:nvPr/>
        </p:nvSpPr>
        <p:spPr>
          <a:xfrm>
            <a:off x="237744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b843376d-7a17-4b01-af98-340bc7c487b5"/>
          <p:cNvSpPr/>
          <p:nvPr/>
        </p:nvSpPr>
        <p:spPr>
          <a:xfrm>
            <a:off x="457200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5751dfe2-2072-4d7c-969f-44e49af54895"/>
          <p:cNvSpPr/>
          <p:nvPr/>
        </p:nvSpPr>
        <p:spPr>
          <a:xfrm>
            <a:off x="677799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5eb5e2a6-3128-4b89-a388-06b79df7a5a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a Passo da Sintaxe PROCV</a:t>
            </a:r>
            <a:endParaRPr lang="en-US" sz="2880" dirty="0"/>
          </a:p>
        </p:txBody>
      </p:sp>
      <p:sp>
        <p:nvSpPr>
          <p:cNvPr id="8" name="092013a2-f0d6-4747-9a77-bf34c61753aa"/>
          <p:cNvSpPr/>
          <p:nvPr/>
        </p:nvSpPr>
        <p:spPr>
          <a:xfrm>
            <a:off x="28575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Chave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Indique a célula buscada: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(ex: Código do produto).</a:t>
            </a:r>
            <a:endParaRPr lang="en-US" sz="1980" dirty="0"/>
          </a:p>
        </p:txBody>
      </p:sp>
      <p:sp>
        <p:nvSpPr>
          <p:cNvPr id="9" name="75c490c9-7bc9-4793-83db-4947d3ee6153"/>
          <p:cNvSpPr/>
          <p:nvPr/>
        </p:nvSpPr>
        <p:spPr>
          <a:xfrm>
            <a:off x="2491740" y="1360170"/>
            <a:ext cx="197739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Matriz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o intervalo com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10" name="ce0c822e-372e-41c3-b1aa-08310aef19a4"/>
          <p:cNvSpPr/>
          <p:nvPr/>
        </p:nvSpPr>
        <p:spPr>
          <a:xfrm>
            <a:off x="468630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Índice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 o número da coluna desejada: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(Preço).</a:t>
            </a:r>
            <a:endParaRPr lang="en-US" sz="1980" dirty="0"/>
          </a:p>
        </p:txBody>
      </p:sp>
      <p:sp>
        <p:nvSpPr>
          <p:cNvPr id="11" name="7ba7ff0a-1f32-4b1e-b14b-f6551f140b6b"/>
          <p:cNvSpPr/>
          <p:nvPr/>
        </p:nvSpPr>
        <p:spPr>
          <a:xfrm>
            <a:off x="6892290" y="1360170"/>
            <a:ext cx="197739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Exatidão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Digite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exigir código idêntico.</a:t>
            </a:r>
            <a:endParaRPr lang="en-US" sz="1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d2a9083-47e1-482e-88e0-fa2ebc93f132" descr="/home/forge/chalkie-production-workers-3/releases/77481733/backend/storage/app/render-specs/7058ce06-c8d3-486e-a91c-2a829690de24/img_aca7c55d43daabbbef2b59ac523412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2f23673d-4362-49eb-bcf4-4cc885789a1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Grande Limitação do PROCV</a:t>
            </a:r>
            <a:endParaRPr lang="en-US" sz="2880" dirty="0"/>
          </a:p>
        </p:txBody>
      </p:sp>
      <p:sp>
        <p:nvSpPr>
          <p:cNvPr id="5" name="b195ce09-0893-4d0d-9f35-1cb16053f814"/>
          <p:cNvSpPr/>
          <p:nvPr/>
        </p:nvSpPr>
        <p:spPr>
          <a:xfrm>
            <a:off x="4286250" y="788670"/>
            <a:ext cx="45720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Bloqueio da Esquerda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PROCV possui uma regra rígida de projeto: o valor procurado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 obrigatoriamente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estar localizado na coluna 1 da matriz selecionada.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você precisar descobrir o código do item buscando pelo nome que está à direita, o PROCV falha completamente.</a:t>
            </a:r>
            <a:endParaRPr lang="en-US" sz="1980" dirty="0"/>
          </a:p>
        </p:txBody>
      </p:sp>
      <p:sp>
        <p:nvSpPr>
          <p:cNvPr id="6" name="6a24ae95-38a2-44c3-8fab-8a14b9bbc4c3_card"/>
          <p:cNvSpPr/>
          <p:nvPr/>
        </p:nvSpPr>
        <p:spPr>
          <a:xfrm>
            <a:off x="4286250" y="325755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6a24ae95-38a2-44c3-8fab-8a14b9bbc4c3_emoji"/>
          <p:cNvSpPr/>
          <p:nvPr/>
        </p:nvSpPr>
        <p:spPr>
          <a:xfrm>
            <a:off x="44005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6a24ae95-38a2-44c3-8fab-8a14b9bbc4c3_text"/>
          <p:cNvSpPr/>
          <p:nvPr/>
        </p:nvSpPr>
        <p:spPr>
          <a:xfrm>
            <a:off x="4766310" y="337185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PROCV olha apenas para a frente (da esquerda para a direita), nunca para trás.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e35cefb-d9d9-49ed-83de-dd6672fedc5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Checando o Domínio do PROCV</a:t>
            </a:r>
            <a:endParaRPr lang="en-US" sz="2880" dirty="0"/>
          </a:p>
        </p:txBody>
      </p:sp>
      <p:sp>
        <p:nvSpPr>
          <p:cNvPr id="4" name="8ccec8a7-3fc3-4583-8df5-02f93e4bdf9c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escrever =PROCV(D2; A2:C50; 2; FALSO), o que o número 2 representa?</a:t>
            </a:r>
            <a:endParaRPr lang="en-US" sz="1620" dirty="0"/>
          </a:p>
        </p:txBody>
      </p:sp>
      <p:sp>
        <p:nvSpPr>
          <p:cNvPr id="5" name="253411fd-7ee9-4d1f-a60e-cd06885f107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5f796192-9428-4779-8012-2ba9df3c513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quantidade máxima de resultados idênticos permitidos</a:t>
            </a:r>
            <a:endParaRPr lang="en-US" sz="1620" dirty="0"/>
          </a:p>
        </p:txBody>
      </p:sp>
      <p:sp>
        <p:nvSpPr>
          <p:cNvPr id="7" name="97551ece-431a-4acd-8a0a-3693d94070ef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9e9e1c97-7c8a-46c4-941e-cc858fb8f28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código de segurança numérico exigido pela fórmula</a:t>
            </a:r>
            <a:endParaRPr lang="en-US" sz="1620" dirty="0"/>
          </a:p>
        </p:txBody>
      </p:sp>
      <p:sp>
        <p:nvSpPr>
          <p:cNvPr id="9" name="d7f87180-120c-4b05-90d3-fbbfe2fb698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6f742642-ea1e-4bed-96bf-05b9977c3a8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número da coluna de retorno na matriz selecionada</a:t>
            </a:r>
            <a:endParaRPr lang="en-US" sz="1620" dirty="0"/>
          </a:p>
        </p:txBody>
      </p:sp>
      <p:sp>
        <p:nvSpPr>
          <p:cNvPr id="11" name="068d6fe2-113d-44c6-a872-056f64551ff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6e14f8e0-e44c-43a2-98ff-d2af7b16ba2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segunda linha da planilha onde a busca começa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e35cefb-d9d9-49ed-83de-dd6672fedc5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Checando o Domínio do PROCV</a:t>
            </a:r>
            <a:endParaRPr lang="en-US" sz="2880" dirty="0"/>
          </a:p>
        </p:txBody>
      </p:sp>
      <p:sp>
        <p:nvSpPr>
          <p:cNvPr id="4" name="8ccec8a7-3fc3-4583-8df5-02f93e4bdf9c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escrever =PROCV(D2; A2:C50; 2; FALSO), o que o número 2 representa?</a:t>
            </a:r>
            <a:endParaRPr lang="en-US" sz="1620" dirty="0"/>
          </a:p>
        </p:txBody>
      </p:sp>
      <p:sp>
        <p:nvSpPr>
          <p:cNvPr id="5" name="253411fd-7ee9-4d1f-a60e-cd06885f107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5f796192-9428-4779-8012-2ba9df3c513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quantidade máxima de resultados idênticos permitidos</a:t>
            </a:r>
            <a:endParaRPr lang="en-US" sz="1620" dirty="0"/>
          </a:p>
        </p:txBody>
      </p:sp>
      <p:sp>
        <p:nvSpPr>
          <p:cNvPr id="7" name="97551ece-431a-4acd-8a0a-3693d94070ef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9e9e1c97-7c8a-46c4-941e-cc858fb8f28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código de segurança numérico exigido pela fórmula</a:t>
            </a:r>
            <a:endParaRPr lang="en-US" sz="1620" dirty="0"/>
          </a:p>
        </p:txBody>
      </p:sp>
      <p:sp>
        <p:nvSpPr>
          <p:cNvPr id="9" name="d7f87180-120c-4b05-90d3-fbbfe2fb698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6f742642-ea1e-4bed-96bf-05b9977c3a8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número da coluna de retorno na matriz selecionada</a:t>
            </a:r>
            <a:endParaRPr lang="en-US" sz="1620" dirty="0"/>
          </a:p>
        </p:txBody>
      </p:sp>
      <p:sp>
        <p:nvSpPr>
          <p:cNvPr id="11" name="068d6fe2-113d-44c6-a872-056f64551ff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6e14f8e0-e44c-43a2-98ff-d2af7b16ba2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segunda linha da planilha onde a busca começa</a:t>
            </a:r>
            <a:endParaRPr lang="en-US" sz="1620" dirty="0"/>
          </a:p>
        </p:txBody>
      </p:sp>
      <p:sp>
        <p:nvSpPr>
          <p:cNvPr id="13" name="d306e9f8-738f-4324-9bf1-5502499535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a6250bbd-a94e-4873-a68c-4b5248760e57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ae4507d-0790-401d-9ff4-95a98a553810" descr="/home/forge/chalkie-production-workers-3/releases/77481733/backend/storage/app/render-specs/7058ce06-c8d3-486e-a91c-2a829690de24/img_c6249d789abc03c39031c39b0f3336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fe98c5c7-4f26-4f8f-bf1c-0ad5b8d9f8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PROCH: Consultas Horizontais</a:t>
            </a:r>
            <a:endParaRPr lang="en-US" sz="2880" dirty="0"/>
          </a:p>
        </p:txBody>
      </p:sp>
      <p:sp>
        <p:nvSpPr>
          <p:cNvPr id="5" name="8c4b3b05-22f6-41ec-a1cf-9580752465e0"/>
          <p:cNvSpPr/>
          <p:nvPr/>
        </p:nvSpPr>
        <p:spPr>
          <a:xfrm>
            <a:off x="285750" y="788670"/>
            <a:ext cx="45720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Estruturas em Linhas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os cabeçalhos estão distribuídos verticalmente na primeira coluna e os registros seguem em colunas ao lado, usamos 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PROCH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varre a linha superior de ponta a ponta e desce até o número de linha indicado para extrair a métrica.</a:t>
            </a:r>
            <a:endParaRPr lang="en-US" sz="1980" dirty="0"/>
          </a:p>
        </p:txBody>
      </p:sp>
      <p:sp>
        <p:nvSpPr>
          <p:cNvPr id="6" name="f0f0d941-cbd8-462b-9685-0313151fbd68_card"/>
          <p:cNvSpPr/>
          <p:nvPr/>
        </p:nvSpPr>
        <p:spPr>
          <a:xfrm>
            <a:off x="285750" y="325755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f0f0d941-cbd8-462b-9685-0313151fbd68_emoji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f0f0d941-cbd8-462b-9685-0313151fbd68_text"/>
          <p:cNvSpPr/>
          <p:nvPr/>
        </p:nvSpPr>
        <p:spPr>
          <a:xfrm>
            <a:off x="765810" y="337185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de alíquotas fiscais ou faixas de comissão organizadas por meses lado a lado.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eee414a-8424-4e90-9ba1-3c34f9204233" descr="/home/forge/chalkie-production-workers-3/releases/77481733/backend/storage/app/render-specs/7058ce06-c8d3-486e-a91c-2a829690de24/img_5d0e5c017556f57da4ebd39e347b80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1be840dd-3c0e-42e5-aa32-8b7727d1f6cb" descr="/home/forge/chalkie-production-workers-3/releases/77481733/backend/storage/app/render-specs/7058ce06-c8d3-486e-a91c-2a829690de24/img_cccada8c4ebf88d84c958d46b077bd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653e168f-6a59-4b02-bcd4-894f9aca1ee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Comparando Estruturas de Busca</a:t>
            </a:r>
            <a:endParaRPr lang="en-US" sz="2880" dirty="0"/>
          </a:p>
        </p:txBody>
      </p:sp>
      <p:sp>
        <p:nvSpPr>
          <p:cNvPr id="6" name="a3f172a3-0e75-4507-a5fc-958fb9ef37e4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 (Vertical)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bases em linhas.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na coluna inicial à esquerda.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valor via índice de coluna.</a:t>
            </a:r>
            <a:endParaRPr lang="en-US" sz="1980" dirty="0"/>
          </a:p>
        </p:txBody>
      </p:sp>
      <p:sp>
        <p:nvSpPr>
          <p:cNvPr id="7" name="e5ff13a1-75ae-4b07-9ec6-3eb931f60e07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PROCH (Horizontal)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cronogramas em colunas.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na linha superior da matriz.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valor via índice de linha.</a:t>
            </a:r>
            <a:endParaRPr lang="en-US" sz="1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f535df2-de91-48fd-afec-02b689bde0d0" descr="/home/forge/chalkie-production-workers-3/releases/77481733/backend/storage/app/render-specs/7058ce06-c8d3-486e-a91c-2a829690de24/img_1de3397deb928fc04341a701ef79a6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ccc9bd8a-ca56-4750-9a0c-4659da6d9958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Dupla Dinâmica: ÍNDICE e CORRESP</a:t>
            </a:r>
            <a:endParaRPr lang="en-US" sz="2880" dirty="0"/>
          </a:p>
        </p:txBody>
      </p:sp>
      <p:sp>
        <p:nvSpPr>
          <p:cNvPr id="5" name="47f295ca-edd5-4793-809f-bd13d3409f05"/>
          <p:cNvSpPr/>
          <p:nvPr/>
        </p:nvSpPr>
        <p:spPr>
          <a:xfrm>
            <a:off x="285750" y="1223010"/>
            <a:ext cx="51435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Superando Limitações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combinação das funções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CORRESP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substitui o PROCV com maior velocidade de processamento e total flexibilidade dimensional.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 técnica permite buscar valores para a esquerda, para a direita, para cima ou para baixo sem exigir alterações na ordem das colunas da tabela original.</a:t>
            </a:r>
            <a:endParaRPr lang="en-US" sz="1980" dirty="0"/>
          </a:p>
        </p:txBody>
      </p:sp>
      <p:sp>
        <p:nvSpPr>
          <p:cNvPr id="6" name="9e96af37-5b2f-4670-9f57-9b173bbc3a43_card"/>
          <p:cNvSpPr/>
          <p:nvPr/>
        </p:nvSpPr>
        <p:spPr>
          <a:xfrm>
            <a:off x="285750" y="394335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9e96af37-5b2f-4670-9f57-9b173bbc3a43_emoji"/>
          <p:cNvSpPr/>
          <p:nvPr/>
        </p:nvSpPr>
        <p:spPr>
          <a:xfrm>
            <a:off x="400050" y="40919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9e96af37-5b2f-4670-9f57-9b173bbc3a43_text"/>
          <p:cNvSpPr/>
          <p:nvPr/>
        </p:nvSpPr>
        <p:spPr>
          <a:xfrm>
            <a:off x="765810" y="405765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CORRESP localiza a coordenada; ÍNDICE extrai a informação exata naquela posição.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e281902-f917-4026-9cfa-53cd23660f4a" descr="/home/forge/chalkie-production-workers-3/releases/77481733/backend/storage/app/render-specs/7058ce06-c8d3-486e-a91c-2a829690de24/img_b1fdc703cbbbd7bf70c3693e0cbb86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1a1965e-88a4-4ccc-a1da-f31c5e1baa7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Compreendendo o Papel do CORRESP</a:t>
            </a:r>
            <a:endParaRPr lang="en-US" sz="2880" dirty="0"/>
          </a:p>
        </p:txBody>
      </p:sp>
      <p:sp>
        <p:nvSpPr>
          <p:cNvPr id="5" name="8fe4e483-ba35-490c-aacc-f2c031b27ce0"/>
          <p:cNvSpPr/>
          <p:nvPr/>
        </p:nvSpPr>
        <p:spPr>
          <a:xfrm>
            <a:off x="4286250" y="788670"/>
            <a:ext cx="45720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Localizador de Posições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CORRESP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não traz o texto ou preço final; ela informa em qual posição relativa um elemento procurado se encontra num vetor.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 básica: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"Mouse" for o terceiro item, o resultado retornado será exatamente o número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6" name="78595c74-834b-4204-bcf5-ce6c13d35d1c_card"/>
          <p:cNvSpPr/>
          <p:nvPr/>
        </p:nvSpPr>
        <p:spPr>
          <a:xfrm>
            <a:off x="4286250" y="325755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78595c74-834b-4204-bcf5-ce6c13d35d1c_emoji"/>
          <p:cNvSpPr/>
          <p:nvPr/>
        </p:nvSpPr>
        <p:spPr>
          <a:xfrm>
            <a:off x="44005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78595c74-834b-4204-bcf5-ce6c13d35d1c_text"/>
          <p:cNvSpPr/>
          <p:nvPr/>
        </p:nvSpPr>
        <p:spPr>
          <a:xfrm>
            <a:off x="4766310" y="337185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valor zero final assegura que a função só responda caso localize o nome idêntico.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40fcdf1-9dc9-4e78-a9b8-222918941e0f" descr="/home/forge/chalkie-production-workers-3/releases/77481733/backend/storage/app/render-specs/7058ce06-c8d3-486e-a91c-2a829690de24/img_1c9fe0905a23e385fa9e68a7e7b2ca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7841c11-5a29-468d-ac2f-290c6d6bd2a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Poder Extrator do ÍNDICE</a:t>
            </a:r>
            <a:endParaRPr lang="en-US" sz="2880" dirty="0"/>
          </a:p>
        </p:txBody>
      </p:sp>
      <p:sp>
        <p:nvSpPr>
          <p:cNvPr id="5" name="a4fd7369-22a3-4acc-b2dc-47d1a3488461"/>
          <p:cNvSpPr/>
          <p:nvPr/>
        </p:nvSpPr>
        <p:spPr>
          <a:xfrm>
            <a:off x="285750" y="788670"/>
            <a:ext cx="45720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Resgate de Coordenadas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recebe um intervalo de dados e coleta o conteúdo que reside em uma linha e coluna específicas.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alimentar a linha do ÍNDICE com o resultado gerado pelo CORRESP, criamos um sistema dinâmico e imune à inserção de novas colunas no relatório.</a:t>
            </a:r>
            <a:endParaRPr lang="en-US" sz="1980" dirty="0"/>
          </a:p>
        </p:txBody>
      </p:sp>
      <p:sp>
        <p:nvSpPr>
          <p:cNvPr id="6" name="dba7ec0c-2dbb-40f5-a06c-78d30d9d925d_card"/>
          <p:cNvSpPr/>
          <p:nvPr/>
        </p:nvSpPr>
        <p:spPr>
          <a:xfrm>
            <a:off x="285750" y="325755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dba7ec0c-2dbb-40f5-a06c-78d30d9d925d_emoji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dba7ec0c-2dbb-40f5-a06c-78d30d9d925d_text"/>
          <p:cNvSpPr/>
          <p:nvPr/>
        </p:nvSpPr>
        <p:spPr>
          <a:xfrm>
            <a:off x="765810" y="337185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consulta com total imunidade a mudanças estruturais.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7cbfaad-9dbf-4927-85ad-96915eb6c470"/>
          <p:cNvSpPr/>
          <p:nvPr/>
        </p:nvSpPr>
        <p:spPr>
          <a:xfrm>
            <a:off x="17145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0fbe7ef4-fd04-4d4c-a1df-3334e2f019a5"/>
          <p:cNvSpPr/>
          <p:nvPr/>
        </p:nvSpPr>
        <p:spPr>
          <a:xfrm>
            <a:off x="237744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f5ed9b37-639e-4fc9-8dca-e9f1a58e55cd"/>
          <p:cNvSpPr/>
          <p:nvPr/>
        </p:nvSpPr>
        <p:spPr>
          <a:xfrm>
            <a:off x="457200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87ffcae5-3ffc-4cb1-8b26-23cf0da49844"/>
          <p:cNvSpPr/>
          <p:nvPr/>
        </p:nvSpPr>
        <p:spPr>
          <a:xfrm>
            <a:off x="677799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91ea7a49-c9c5-4626-a344-1f02a6d066a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Passos da Busca Flexível</a:t>
            </a:r>
            <a:endParaRPr lang="en-US" sz="2880" dirty="0"/>
          </a:p>
        </p:txBody>
      </p:sp>
      <p:sp>
        <p:nvSpPr>
          <p:cNvPr id="8" name="49ead2c9-8683-4b67-ad6f-f6c3e2f85896"/>
          <p:cNvSpPr/>
          <p:nvPr/>
        </p:nvSpPr>
        <p:spPr>
          <a:xfrm>
            <a:off x="285750" y="13601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Vetor de Retorno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Abra o ÍNDICE apontando a coluna com a resposta: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9" name="45352d35-cb6a-4ab5-87e5-61a0a1cf38f9"/>
          <p:cNvSpPr/>
          <p:nvPr/>
        </p:nvSpPr>
        <p:spPr>
          <a:xfrm>
            <a:off x="2491740" y="13601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Ativar CORRESP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argumento de linha, abra a função: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10" name="87ec5fce-916f-44ff-b4fe-af7f7e6e5519"/>
          <p:cNvSpPr/>
          <p:nvPr/>
        </p:nvSpPr>
        <p:spPr>
          <a:xfrm>
            <a:off x="4686300" y="13601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Vetor de Procura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Selecione a coluna que guarda a chave original: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11" name="72562077-2276-4e7e-9b4a-19e9f4d9085e"/>
          <p:cNvSpPr/>
          <p:nvPr/>
        </p:nvSpPr>
        <p:spPr>
          <a:xfrm>
            <a:off x="6892290" y="13601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Modo Exato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com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travar correspondência exata.</a:t>
            </a:r>
            <a:endParaRPr lang="en-US" sz="1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9138999-ffc3-4590-9021-9872ee2f279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Ordenando a Fórmula Combinada</a:t>
            </a:r>
            <a:endParaRPr lang="en-US" sz="2880" dirty="0"/>
          </a:p>
        </p:txBody>
      </p:sp>
      <p:sp>
        <p:nvSpPr>
          <p:cNvPr id="4" name="471dd08e-50ae-40f1-a853-c255c72f66cf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lógicos para estruturar uma busca reversa com ÍNDICE e CORRESP:</a:t>
            </a:r>
            <a:endParaRPr lang="en-US" sz="1620" dirty="0"/>
          </a:p>
        </p:txBody>
      </p:sp>
      <p:sp>
        <p:nvSpPr>
          <p:cNvPr id="5" name="11ba95e7-b3f5-455c-b3ff-923848dbb60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Indicar o valor procurado e a coluna onde a busca ocorrerá</a:t>
            </a:r>
            <a:endParaRPr lang="en-US" sz="1620" dirty="0"/>
          </a:p>
        </p:txBody>
      </p:sp>
      <p:sp>
        <p:nvSpPr>
          <p:cNvPr id="6" name="35201db7-c4ff-41f0-808c-5a21e164b2bf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a coluna que contém o dado final que desejamos exibir</a:t>
            </a:r>
            <a:endParaRPr lang="en-US" sz="1620" dirty="0"/>
          </a:p>
        </p:txBody>
      </p:sp>
      <p:sp>
        <p:nvSpPr>
          <p:cNvPr id="7" name="d5bf4f05-01f5-4232-a13b-4a5ec1c6c8bc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a função CORRESP no parâmetro da linha do ÍNDICE</a:t>
            </a:r>
            <a:endParaRPr lang="en-US" sz="1620" dirty="0"/>
          </a:p>
        </p:txBody>
      </p:sp>
      <p:sp>
        <p:nvSpPr>
          <p:cNvPr id="8" name="36289299-f06d-45ec-a3b0-b8d3cd448734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o argumento 0 para garantir correspondência exata e fechar parênteses</a:t>
            </a:r>
            <a:endParaRPr lang="en-US" sz="16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9138999-ffc3-4590-9021-9872ee2f279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Ordenando a Fórmula Combinada</a:t>
            </a:r>
            <a:endParaRPr lang="en-US" sz="2880" dirty="0"/>
          </a:p>
        </p:txBody>
      </p:sp>
      <p:sp>
        <p:nvSpPr>
          <p:cNvPr id="4" name="471dd08e-50ae-40f1-a853-c255c72f66cf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lógicos para estruturar uma busca reversa com ÍNDICE e CORRESP:</a:t>
            </a:r>
            <a:endParaRPr lang="en-US" sz="1620" dirty="0"/>
          </a:p>
        </p:txBody>
      </p:sp>
      <p:sp>
        <p:nvSpPr>
          <p:cNvPr id="5" name="11ba95e7-b3f5-455c-b3ff-923848dbb60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Indicar o valor procurado e a coluna onde a busca ocorrerá</a:t>
            </a:r>
            <a:endParaRPr lang="en-US" sz="1620" dirty="0"/>
          </a:p>
        </p:txBody>
      </p:sp>
      <p:sp>
        <p:nvSpPr>
          <p:cNvPr id="6" name="35201db7-c4ff-41f0-808c-5a21e164b2bf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a coluna que contém o dado final que desejamos exibir</a:t>
            </a:r>
            <a:endParaRPr lang="en-US" sz="1620" dirty="0"/>
          </a:p>
        </p:txBody>
      </p:sp>
      <p:sp>
        <p:nvSpPr>
          <p:cNvPr id="7" name="d5bf4f05-01f5-4232-a13b-4a5ec1c6c8bc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a função CORRESP no parâmetro da linha do ÍNDICE</a:t>
            </a:r>
            <a:endParaRPr lang="en-US" sz="1620" dirty="0"/>
          </a:p>
        </p:txBody>
      </p:sp>
      <p:sp>
        <p:nvSpPr>
          <p:cNvPr id="8" name="36289299-f06d-45ec-a3b0-b8d3cd448734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o argumento 0 para garantir correspondência exata e fechar parênteses</a:t>
            </a:r>
            <a:endParaRPr lang="en-US" sz="1620" dirty="0"/>
          </a:p>
        </p:txBody>
      </p:sp>
      <p:sp>
        <p:nvSpPr>
          <p:cNvPr id="9" name="395087a7-eac7-4fea-b9c7-c81f4a06758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165075fa-373a-46b2-83da-3545ae7e24c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1316f3a2-39f2-42e0-a2d2-fb6f655f7781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3534cb37-f9ee-404f-8cfc-f86e4f046a4e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6b2d1626-2831-4dda-ace3-fdf77a9358d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3f26cab-3b17-4ad4-bfcb-c5d556dff2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Aplicações Práticas em Negócios</a:t>
            </a:r>
            <a:endParaRPr lang="en-US" sz="2880" dirty="0"/>
          </a:p>
        </p:txBody>
      </p:sp>
      <p:pic>
        <p:nvPicPr>
          <p:cNvPr id="4" name="4d5ea32a-7139-46ee-8c9f-1730222d4513" descr="/home/forge/chalkie-production-workers-3/releases/77481733/backend/storage/app/render-specs/7058ce06-c8d3-486e-a91c-2a829690de24/poster_s6Vwzs-BF_I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s6Vwzs-BF_I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960120" y="788670"/>
            <a:ext cx="722376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01d708d-7534-4473-ae6e-2a3efc7416f5" descr="/home/forge/chalkie-production-workers-3/releases/77481733/backend/storage/app/render-specs/7058ce06-c8d3-486e-a91c-2a829690de24/img_4200635c358b87ca4b6e68c3c0aca5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23c5f83a-a7c0-4ccc-bd3b-84cd9e60ba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de Erros com SEERRO</a:t>
            </a:r>
            <a:endParaRPr lang="en-US" sz="2880" dirty="0"/>
          </a:p>
        </p:txBody>
      </p:sp>
      <p:sp>
        <p:nvSpPr>
          <p:cNvPr id="5" name="2cffa4b7-5bbf-4738-9767-1b7241e20621"/>
          <p:cNvSpPr/>
          <p:nvPr/>
        </p:nvSpPr>
        <p:spPr>
          <a:xfrm>
            <a:off x="4286250" y="788670"/>
            <a:ext cx="45720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Adeus #N/D e #VALOR!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uma busca não localiza o registro ou uma divisão por zero ocorre, o Excel polui o relatório com erros visualmente desagradáveis.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SEERRO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intercepta qualquer falha e exibe uma mensagem amigável ou o número zero para manter o dashboard limpo.</a:t>
            </a:r>
            <a:endParaRPr lang="en-US" sz="1980" dirty="0"/>
          </a:p>
        </p:txBody>
      </p:sp>
      <p:sp>
        <p:nvSpPr>
          <p:cNvPr id="6" name="74d4d726-f4ef-467c-b56a-7cbd09b406a7_card"/>
          <p:cNvSpPr/>
          <p:nvPr/>
        </p:nvSpPr>
        <p:spPr>
          <a:xfrm>
            <a:off x="4286250" y="3509010"/>
            <a:ext cx="4572000" cy="854964"/>
          </a:xfrm>
          <a:prstGeom prst="roundRect">
            <a:avLst>
              <a:gd name="adj" fmla="val 10695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74d4d726-f4ef-467c-b56a-7cbd09b406a7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74d4d726-f4ef-467c-b56a-7cbd09b406a7_text"/>
          <p:cNvSpPr/>
          <p:nvPr/>
        </p:nvSpPr>
        <p:spPr>
          <a:xfrm>
            <a:off x="4766310" y="3623310"/>
            <a:ext cx="39776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substitui a mensagem de erro padrão.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31f6a7b-073d-4562-b0ce-612059a582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Checando o Uso de SEERRO</a:t>
            </a:r>
            <a:endParaRPr lang="en-US" sz="2880" dirty="0"/>
          </a:p>
        </p:txBody>
      </p:sp>
      <p:sp>
        <p:nvSpPr>
          <p:cNvPr id="4" name="04e208c3-dfb4-43d8-8a51-5bc6b3d20ac9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04e208c3-dfb4-43d8-8a51-5bc6b3d20ac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SEERRO altera o resultado de uma fórmula mesmo quando ela calcula um valor correto.</a:t>
            </a:r>
            <a:endParaRPr lang="en-US" sz="1620" dirty="0"/>
          </a:p>
        </p:txBody>
      </p:sp>
      <p:sp>
        <p:nvSpPr>
          <p:cNvPr id="6" name="7a016bd8-ebd3-456f-b6b3-2e8101ba908a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46854589-dbef-4622-a81a-11e4b5baf8f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306d92e4-a0a1-46bc-800b-81ef0dcb92e0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31f6a7b-073d-4562-b0ce-612059a582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Checando o Uso de SEERRO</a:t>
            </a:r>
            <a:endParaRPr lang="en-US" sz="2880" dirty="0"/>
          </a:p>
        </p:txBody>
      </p:sp>
      <p:sp>
        <p:nvSpPr>
          <p:cNvPr id="4" name="04e208c3-dfb4-43d8-8a51-5bc6b3d20ac9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04e208c3-dfb4-43d8-8a51-5bc6b3d20ac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SEERRO altera o resultado de uma fórmula mesmo quando ela calcula um valor correto.</a:t>
            </a:r>
            <a:endParaRPr lang="en-US" sz="1620" dirty="0"/>
          </a:p>
        </p:txBody>
      </p:sp>
      <p:sp>
        <p:nvSpPr>
          <p:cNvPr id="6" name="7a016bd8-ebd3-456f-b6b3-2e8101ba908a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46854589-dbef-4622-a81a-11e4b5baf8f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46aa0fd2-b0dd-42e3-85f1-df583e1747b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6abf8b6e-2151-4623-8e8d-621857beedf1_card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6abf8b6e-2151-4623-8e8d-621857beedf1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6abf8b6e-2151-4623-8e8d-621857beedf1_text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SEERRO apenas monitora o cálculo; se o valor for válido, ele o preserva intacto e só atua se houver falha.</a:t>
            </a:r>
            <a:endParaRPr lang="en-US" sz="1440" dirty="0"/>
          </a:p>
        </p:txBody>
      </p:sp>
      <p:sp>
        <p:nvSpPr>
          <p:cNvPr id="12" name="c7a5d0aa-587d-4087-b59f-e2b2b83de862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a90f32d-b02b-4716-bb6f-13c48a40f0dc" descr="/home/forge/chalkie-production-workers-3/releases/77481733/backend/storage/app/render-specs/7058ce06-c8d3-486e-a91c-2a829690de24/img_9529a630b066fc513fcb0677425dfa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3d6f9af8-7ad2-464f-b456-42b450f50ab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Avançada: SE Aninhado</a:t>
            </a:r>
            <a:endParaRPr lang="en-US" sz="2880" dirty="0"/>
          </a:p>
        </p:txBody>
      </p:sp>
      <p:sp>
        <p:nvSpPr>
          <p:cNvPr id="5" name="07d76350-30c2-4c55-9a93-87b6b284886b"/>
          <p:cNvSpPr/>
          <p:nvPr/>
        </p:nvSpPr>
        <p:spPr>
          <a:xfrm>
            <a:off x="285750" y="78867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Critérios em Cascata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avaliar mais de dois cenários, inserimos uma nova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argumento falso da anterior. Essa estrutura classifica desempenho, faixas ou prioridades com precisão.</a:t>
            </a:r>
            <a:endParaRPr lang="en-US" sz="1980" dirty="0"/>
          </a:p>
        </p:txBody>
      </p:sp>
      <p:sp>
        <p:nvSpPr>
          <p:cNvPr id="6" name="2787c6d3-daf0-44cc-af16-bd74310f52e9_card"/>
          <p:cNvSpPr/>
          <p:nvPr/>
        </p:nvSpPr>
        <p:spPr>
          <a:xfrm>
            <a:off x="285750" y="26974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2787c6d3-daf0-44cc-af16-bd74310f52e9_emoji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2787c6d3-daf0-44cc-af16-bd74310f52e9_text"/>
          <p:cNvSpPr/>
          <p:nvPr/>
        </p:nvSpPr>
        <p:spPr>
          <a:xfrm>
            <a:off x="765810" y="28117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Feche todos os parênteses abertos para cada teste SE criado.</a:t>
            </a:r>
            <a:endParaRPr lang="en-US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5aac66d0-a77a-4d2b-b726-4d00a5f42dd1"/>
          <p:cNvSpPr/>
          <p:nvPr/>
        </p:nvSpPr>
        <p:spPr>
          <a:xfrm>
            <a:off x="285750" y="24003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Prático: Classificação de Vendas</a:t>
            </a:r>
            <a:endParaRPr lang="en-US" sz="2880" dirty="0"/>
          </a:p>
        </p:txBody>
      </p:sp>
      <p:sp>
        <p:nvSpPr>
          <p:cNvPr id="4" name="f1d9005e-40c7-42cf-9050-b2ffa55a72a1"/>
          <p:cNvSpPr/>
          <p:nvPr/>
        </p:nvSpPr>
        <p:spPr>
          <a:xfrm>
            <a:off x="285750" y="85725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Regra de Negócio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 a partir de R$ 10.000 recebem classificação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"Ouro"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 entre R$ 5.000 e R$ 9.999 recebem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"Prata"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abaixo de R$ 5.000 recebem 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"Bronze"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5" name="d63eb562-8db5-49d0-b92f-5c0f33860404_card"/>
          <p:cNvSpPr/>
          <p:nvPr/>
        </p:nvSpPr>
        <p:spPr>
          <a:xfrm>
            <a:off x="285750" y="3177540"/>
            <a:ext cx="419481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d63eb562-8db5-49d0-b92f-5c0f33860404_emoji"/>
          <p:cNvSpPr/>
          <p:nvPr/>
        </p:nvSpPr>
        <p:spPr>
          <a:xfrm>
            <a:off x="400050" y="33261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d63eb562-8db5-49d0-b92f-5c0f33860404_text"/>
          <p:cNvSpPr/>
          <p:nvPr/>
        </p:nvSpPr>
        <p:spPr>
          <a:xfrm>
            <a:off x="765810" y="3291840"/>
            <a:ext cx="360045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sempre primeiro os valores mais altos para evitar falsos positivos na lógica sequencial.</a:t>
            </a:r>
            <a:endParaRPr lang="en-US" sz="1440" dirty="0"/>
          </a:p>
        </p:txBody>
      </p:sp>
      <p:sp>
        <p:nvSpPr>
          <p:cNvPr id="8" name="d38425dc-6358-4e40-873e-9377e6d00cf0"/>
          <p:cNvSpPr/>
          <p:nvPr/>
        </p:nvSpPr>
        <p:spPr>
          <a:xfrm>
            <a:off x="4652010" y="85725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Fórmula Estruturada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Excel avalia a primeira condição; se for falsa, segue para a segunda e só aplica o último valor se todas falharem.</a:t>
            </a:r>
            <a:endParaRPr lang="en-US" sz="1980" dirty="0"/>
          </a:p>
        </p:txBody>
      </p:sp>
      <p:sp>
        <p:nvSpPr>
          <p:cNvPr id="9" name="4f813689-b35a-44cf-b7e4-8ec8d80dfb20_card"/>
          <p:cNvSpPr/>
          <p:nvPr/>
        </p:nvSpPr>
        <p:spPr>
          <a:xfrm>
            <a:off x="4652010" y="2514600"/>
            <a:ext cx="4194810" cy="1348740"/>
          </a:xfrm>
          <a:prstGeom prst="roundRect">
            <a:avLst>
              <a:gd name="adj" fmla="val 6780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10" name="4f813689-b35a-44cf-b7e4-8ec8d80dfb20_emoji"/>
          <p:cNvSpPr/>
          <p:nvPr/>
        </p:nvSpPr>
        <p:spPr>
          <a:xfrm>
            <a:off x="4766310" y="2663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11" name="4f813689-b35a-44cf-b7e4-8ec8d80dfb20_text"/>
          <p:cNvSpPr/>
          <p:nvPr/>
        </p:nvSpPr>
        <p:spPr>
          <a:xfrm>
            <a:off x="5132070" y="2628900"/>
            <a:ext cx="360045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R$ 6.200: não atinge 10.000, mas supera 5.000, retornando "Prata".</a:t>
            </a:r>
            <a:endParaRPr lang="en-US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f2218ab-de64-43e3-9b44-fb3f31992eb7" descr="/home/forge/chalkie-production-workers-3/releases/77481733/backend/storage/app/render-specs/7058ce06-c8d3-486e-a91c-2a829690de24/img_9d217038fc6cb50f40178de059ad2b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68931d49-daa3-4758-9850-e062b3c75484"/>
          <p:cNvSpPr/>
          <p:nvPr/>
        </p:nvSpPr>
        <p:spPr>
          <a:xfrm>
            <a:off x="285750" y="48006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Quantificação com CONT.SE</a:t>
            </a:r>
            <a:endParaRPr lang="en-US" sz="2880" dirty="0"/>
          </a:p>
        </p:txBody>
      </p:sp>
      <p:sp>
        <p:nvSpPr>
          <p:cNvPr id="5" name="1e0de548-6215-48a5-bf4a-ca37fdac89b1"/>
          <p:cNvSpPr/>
          <p:nvPr/>
        </p:nvSpPr>
        <p:spPr>
          <a:xfrm>
            <a:off x="285750" y="1097280"/>
            <a:ext cx="51435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Contagens Operacionais Segmentadas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calcula quantas vezes um determinado critério se repete dentro de um intervalo selecionado.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essencial para auditoria operacional: saber quantas entregas atrasaram, quantos clientes residem em Curitiba ou quantos produtos estão sem estoque.</a:t>
            </a:r>
            <a:endParaRPr lang="en-US" sz="1980" dirty="0"/>
          </a:p>
        </p:txBody>
      </p:sp>
      <p:sp>
        <p:nvSpPr>
          <p:cNvPr id="6" name="2baef4da-8890-4eb8-92f4-cf531bf7cb6d_card"/>
          <p:cNvSpPr/>
          <p:nvPr/>
        </p:nvSpPr>
        <p:spPr>
          <a:xfrm>
            <a:off x="285750" y="3566160"/>
            <a:ext cx="5143500" cy="854964"/>
          </a:xfrm>
          <a:prstGeom prst="roundRect">
            <a:avLst>
              <a:gd name="adj" fmla="val 10695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2baef4da-8890-4eb8-92f4-cf531bf7cb6d_emoji"/>
          <p:cNvSpPr/>
          <p:nvPr/>
        </p:nvSpPr>
        <p:spPr>
          <a:xfrm>
            <a:off x="400050" y="37147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2baef4da-8890-4eb8-92f4-cf531bf7cb6d_text"/>
          <p:cNvSpPr/>
          <p:nvPr/>
        </p:nvSpPr>
        <p:spPr>
          <a:xfrm>
            <a:off x="765810" y="3680460"/>
            <a:ext cx="4549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 ocorrências exatas dessa palavra.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70c10d6-9d35-434c-95a5-fba65408876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Construindo Critérios no CONT.SE</a:t>
            </a:r>
            <a:endParaRPr lang="en-US" sz="2880" dirty="0"/>
          </a:p>
        </p:txBody>
      </p:sp>
      <p:sp>
        <p:nvSpPr>
          <p:cNvPr id="4" name="77884b73-2093-442e-b4fc-0147808a39ac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devemos escrever a fórmula CONT.SE para contar valores estritamente maiores que 100 no intervalo B2:B20?</a:t>
            </a:r>
            <a:endParaRPr lang="en-US" sz="1620" dirty="0"/>
          </a:p>
        </p:txBody>
      </p:sp>
      <p:sp>
        <p:nvSpPr>
          <p:cNvPr id="5" name="ec444eec-ac5c-402d-9932-f474fc29f3a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f0b0c44f-8cdb-4015-86e2-b366d36f074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=CONT.SE(B2:B20; &gt;100)</a:t>
            </a:r>
            <a:endParaRPr lang="en-US" sz="1620" dirty="0"/>
          </a:p>
        </p:txBody>
      </p:sp>
      <p:sp>
        <p:nvSpPr>
          <p:cNvPr id="7" name="902a9a9f-242d-470b-a052-b21916b17c8a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9de4ee48-50a0-40fa-ad7b-a869c826ee4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=CONT.SE("&gt;100"; B2:B20)</a:t>
            </a:r>
            <a:endParaRPr lang="en-US" sz="1620" dirty="0"/>
          </a:p>
        </p:txBody>
      </p:sp>
      <p:sp>
        <p:nvSpPr>
          <p:cNvPr id="9" name="36ea1ec9-afe7-41fb-9861-3059a0013c9f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e5eb76c5-cf99-44d8-abe2-4a32f6a8753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=CONT.SE(B2:B20; MAIOR(100))</a:t>
            </a:r>
            <a:endParaRPr lang="en-US" sz="1620" dirty="0"/>
          </a:p>
        </p:txBody>
      </p:sp>
      <p:sp>
        <p:nvSpPr>
          <p:cNvPr id="11" name="f8998f92-275f-4fdb-b417-a2b92d0c2b6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2293615b-14c6-4182-bba3-130b633ac32e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=CONT.SE(B2:B20; "&gt;100")</a:t>
            </a:r>
            <a:endParaRPr lang="en-US" sz="16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70c10d6-9d35-434c-95a5-fba65408876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Construindo Critérios no CONT.SE</a:t>
            </a:r>
            <a:endParaRPr lang="en-US" sz="2880" dirty="0"/>
          </a:p>
        </p:txBody>
      </p:sp>
      <p:sp>
        <p:nvSpPr>
          <p:cNvPr id="4" name="77884b73-2093-442e-b4fc-0147808a39ac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devemos escrever a fórmula CONT.SE para contar valores estritamente maiores que 100 no intervalo B2:B20?</a:t>
            </a:r>
            <a:endParaRPr lang="en-US" sz="1620" dirty="0"/>
          </a:p>
        </p:txBody>
      </p:sp>
      <p:sp>
        <p:nvSpPr>
          <p:cNvPr id="5" name="ec444eec-ac5c-402d-9932-f474fc29f3a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f0b0c44f-8cdb-4015-86e2-b366d36f074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=CONT.SE(B2:B20; &gt;100)</a:t>
            </a:r>
            <a:endParaRPr lang="en-US" sz="1620" dirty="0"/>
          </a:p>
        </p:txBody>
      </p:sp>
      <p:sp>
        <p:nvSpPr>
          <p:cNvPr id="7" name="902a9a9f-242d-470b-a052-b21916b17c8a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9de4ee48-50a0-40fa-ad7b-a869c826ee4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=CONT.SE("&gt;100"; B2:B20)</a:t>
            </a:r>
            <a:endParaRPr lang="en-US" sz="1620" dirty="0"/>
          </a:p>
        </p:txBody>
      </p:sp>
      <p:sp>
        <p:nvSpPr>
          <p:cNvPr id="9" name="36ea1ec9-afe7-41fb-9861-3059a0013c9f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e5eb76c5-cf99-44d8-abe2-4a32f6a8753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=CONT.SE(B2:B20; MAIOR(100))</a:t>
            </a:r>
            <a:endParaRPr lang="en-US" sz="1620" dirty="0"/>
          </a:p>
        </p:txBody>
      </p:sp>
      <p:sp>
        <p:nvSpPr>
          <p:cNvPr id="11" name="f8998f92-275f-4fdb-b417-a2b92d0c2b6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2293615b-14c6-4182-bba3-130b633ac32e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=CONT.SE(B2:B20; "&gt;100")</a:t>
            </a:r>
            <a:endParaRPr lang="en-US" sz="1620" dirty="0"/>
          </a:p>
        </p:txBody>
      </p:sp>
      <p:sp>
        <p:nvSpPr>
          <p:cNvPr id="13" name="0c6841aa-1f4f-4bb4-ad00-014a803aa5bd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e42cba11-a8e6-45a1-a079-555cc3891379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debf060-8f21-4974-afb8-fee21a60afa0" descr="/home/forge/chalkie-production-workers-3/releases/77481733/backend/storage/app/render-specs/7058ce06-c8d3-486e-a91c-2a829690de24/img_9898329528dd0800df0eb76c1cefd5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388d914b-81b1-4b88-b379-2383d288516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com SOMASE</a:t>
            </a:r>
            <a:endParaRPr lang="en-US" sz="2880" dirty="0"/>
          </a:p>
        </p:txBody>
      </p:sp>
      <p:sp>
        <p:nvSpPr>
          <p:cNvPr id="5" name="20e3df31-be3f-4e93-8da5-52e3bf957b24"/>
          <p:cNvSpPr/>
          <p:nvPr/>
        </p:nvSpPr>
        <p:spPr>
          <a:xfrm>
            <a:off x="4286250" y="788670"/>
            <a:ext cx="45720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 Condicional de Valores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acumula valores monetários ou quantitativos somente das linhas que cumprem a condição estipulada.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Sintaxe: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 coluna do critério for a mesma dos números somados, o terceiro argumento pode ser omitido.</a:t>
            </a:r>
            <a:endParaRPr lang="en-US" sz="1980" dirty="0"/>
          </a:p>
        </p:txBody>
      </p:sp>
      <p:sp>
        <p:nvSpPr>
          <p:cNvPr id="6" name="63803182-26cc-4684-8847-c0439e30ebf0_card"/>
          <p:cNvSpPr/>
          <p:nvPr/>
        </p:nvSpPr>
        <p:spPr>
          <a:xfrm>
            <a:off x="4286250" y="332613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63803182-26cc-4684-8847-c0439e30ebf0_emoji"/>
          <p:cNvSpPr/>
          <p:nvPr/>
        </p:nvSpPr>
        <p:spPr>
          <a:xfrm>
            <a:off x="440055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63803182-26cc-4684-8847-c0439e30ebf0_text"/>
          <p:cNvSpPr/>
          <p:nvPr/>
        </p:nvSpPr>
        <p:spPr>
          <a:xfrm>
            <a:off x="4766310" y="344043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Certifique-se de que os dois intervalos tenham exatamente o mesmo tamanho de linhas.</a:t>
            </a:r>
            <a:endParaRPr lang="en-US" sz="14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dbde9bf-0451-4121-bef1-f13608043010" descr="/home/forge/chalkie-production-workers-3/releases/77481733/backend/storage/app/render-specs/7058ce06-c8d3-486e-a91c-2a829690de24/img_f79c426e3948717de5a47453f8cdd9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abd11d15-5972-4735-93b4-aa4f39cc54c6" descr="/home/forge/chalkie-production-workers-3/releases/77481733/backend/storage/app/render-specs/7058ce06-c8d3-486e-a91c-2a829690de24/img_74acb13b48b45237f9f16abdff29da4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b7184f76-2347-48ee-8b34-413079b56c0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 versus SOMASE</a:t>
            </a:r>
            <a:endParaRPr lang="en-US" sz="2880" dirty="0"/>
          </a:p>
        </p:txBody>
      </p:sp>
      <p:sp>
        <p:nvSpPr>
          <p:cNvPr id="6" name="6a2786d0-1189-462c-b4ab-f03c2fd38425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 (Frequência)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Responde: "Quantos pedidos atendem a regra?"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 sobre um intervalo único.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é sempre um número inteiro.</a:t>
            </a:r>
            <a:endParaRPr lang="en-US" sz="1980" dirty="0"/>
          </a:p>
        </p:txBody>
      </p:sp>
      <p:sp>
        <p:nvSpPr>
          <p:cNvPr id="7" name="343547a8-f02a-48dc-adf0-07c3d6bdf051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 (Volume Financeiro)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Responde: "Qual o total em reais dos pedidos?"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 critérios e soma valores em colunas distintas.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exibe moeda ou unidade.</a:t>
            </a:r>
            <a:endParaRPr lang="en-US" sz="1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431e790-94c1-48a1-ad94-56309b419364" descr="/home/forge/chalkie-production-workers-3/releases/77481733/backend/storage/app/render-specs/7058ce06-c8d3-486e-a91c-2a829690de24/img_174aa7686ea054fa1a3012ac0a2b05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8f98003a-3264-4b08-8bef-08641ebb238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Entre Múltiplas Bases</a:t>
            </a:r>
            <a:endParaRPr lang="en-US" sz="2880" dirty="0"/>
          </a:p>
        </p:txBody>
      </p:sp>
      <p:sp>
        <p:nvSpPr>
          <p:cNvPr id="5" name="e47f1069-b9bb-4d18-a3bd-5183be9a09e2"/>
          <p:cNvSpPr/>
          <p:nvPr/>
        </p:nvSpPr>
        <p:spPr>
          <a:xfrm>
            <a:off x="285750" y="78867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Conectando Tabelas Corporativas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empresariais são divididos para segurança e organização: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pedidos e ID do cliente.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nome, cidade e telefone.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preço e custos.</a:t>
            </a:r>
            <a:endParaRPr lang="en-US" sz="1980" dirty="0"/>
          </a:p>
        </p:txBody>
      </p:sp>
      <p:sp>
        <p:nvSpPr>
          <p:cNvPr id="6" name="4cba21c9-e1e5-438e-b6a7-9ad1e582b1df_card"/>
          <p:cNvSpPr/>
          <p:nvPr/>
        </p:nvSpPr>
        <p:spPr>
          <a:xfrm>
            <a:off x="285750" y="293751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4cba21c9-e1e5-438e-b6a7-9ad1e582b1df_emoji"/>
          <p:cNvSpPr/>
          <p:nvPr/>
        </p:nvSpPr>
        <p:spPr>
          <a:xfrm>
            <a:off x="400050" y="30861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4cba21c9-e1e5-438e-b6a7-9ad1e582b1df_text"/>
          <p:cNvSpPr/>
          <p:nvPr/>
        </p:nvSpPr>
        <p:spPr>
          <a:xfrm>
            <a:off x="765810" y="305181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funções de busca para conectar tabelas via chaves únicas (IDs).</a:t>
            </a:r>
            <a:endParaRPr lang="en-US" sz="14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1948f2d-989d-4782-be49-1722208b68a1" descr="/home/forge/chalkie-production-workers-3/releases/77481733/backend/storage/app/render-specs/7058ce06-c8d3-486e-a91c-2a829690de24/img_1fab8aefdb169b52781e59ec9d05c9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9fc3b003-06d1-4827-bc34-49ec79e0998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Prática de Estoques</a:t>
            </a:r>
            <a:endParaRPr lang="en-US" sz="2880" dirty="0"/>
          </a:p>
        </p:txBody>
      </p:sp>
      <p:sp>
        <p:nvSpPr>
          <p:cNvPr id="5" name="82d67772-0804-4b6a-83f3-f309c3cc9de4"/>
          <p:cNvSpPr/>
          <p:nvPr/>
        </p:nvSpPr>
        <p:spPr>
          <a:xfrm>
            <a:off x="4286250" y="78867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Automatizado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Usando SOMASE e PROCV em inventários, criamos alertas de reposição: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Somar saídas semanais com SOMASE.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 saldo inicial com PROCV.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saldo e sinalizar itens abaixo do mínimo.</a:t>
            </a:r>
            <a:endParaRPr lang="en-US" sz="1980" dirty="0"/>
          </a:p>
        </p:txBody>
      </p:sp>
      <p:sp>
        <p:nvSpPr>
          <p:cNvPr id="6" name="b3c55b7e-b28d-41a7-8d27-338c6e185925_card"/>
          <p:cNvSpPr/>
          <p:nvPr/>
        </p:nvSpPr>
        <p:spPr>
          <a:xfrm>
            <a:off x="4286250" y="317754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b3c55b7e-b28d-41a7-8d27-338c6e185925_emoji"/>
          <p:cNvSpPr/>
          <p:nvPr/>
        </p:nvSpPr>
        <p:spPr>
          <a:xfrm>
            <a:off x="4400550" y="33261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b3c55b7e-b28d-41a7-8d27-338c6e185925_text"/>
          <p:cNvSpPr/>
          <p:nvPr/>
        </p:nvSpPr>
        <p:spPr>
          <a:xfrm>
            <a:off x="4766310" y="329184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em nível crítico recebe status "Comprar Urgente" via função SE.</a:t>
            </a:r>
            <a:endParaRPr lang="en-US" sz="14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908cf6e-fd82-4e80-9b7b-694bf75c211d" descr="/home/forge/chalkie-production-workers-3/releases/77481733/backend/storage/app/render-specs/7058ce06-c8d3-486e-a91c-2a829690de24/img_b420f245f42c72b57b2b258d28f9d7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478ae382-7fba-4500-a02e-bed525d8e330"/>
          <p:cNvSpPr/>
          <p:nvPr/>
        </p:nvSpPr>
        <p:spPr>
          <a:xfrm>
            <a:off x="285750" y="20574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 de Fórmulas e Precedentes</a:t>
            </a:r>
            <a:endParaRPr lang="en-US" sz="2880" dirty="0"/>
          </a:p>
        </p:txBody>
      </p:sp>
      <p:sp>
        <p:nvSpPr>
          <p:cNvPr id="5" name="94bac5d2-3ef4-47cc-a8c3-1218ea9ac017"/>
          <p:cNvSpPr/>
          <p:nvPr/>
        </p:nvSpPr>
        <p:spPr>
          <a:xfrm>
            <a:off x="285750" y="125730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Rastreando o Fluxo de Dados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verificar fórmulas, a guia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oferece ferramentas visuais: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Rastrear Precedentes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setas azuis indicam células que alimentam o cálculo.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Rastrear Dependentes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mostra quais células dependem do valor atual.</a:t>
            </a:r>
            <a:endParaRPr lang="en-US" sz="1980" dirty="0"/>
          </a:p>
        </p:txBody>
      </p:sp>
      <p:sp>
        <p:nvSpPr>
          <p:cNvPr id="6" name="a151f659-6fc1-4a59-bd55-ab22be5f8038_card"/>
          <p:cNvSpPr/>
          <p:nvPr/>
        </p:nvSpPr>
        <p:spPr>
          <a:xfrm>
            <a:off x="285750" y="358902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a151f659-6fc1-4a59-bd55-ab22be5f8038_emoji"/>
          <p:cNvSpPr/>
          <p:nvPr/>
        </p:nvSpPr>
        <p:spPr>
          <a:xfrm>
            <a:off x="400050" y="37376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a151f659-6fc1-4a59-bd55-ab22be5f8038_text"/>
          <p:cNvSpPr/>
          <p:nvPr/>
        </p:nvSpPr>
        <p:spPr>
          <a:xfrm>
            <a:off x="765810" y="370332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Setas vermelhas indicam a origem de erros em cascata.</a:t>
            </a:r>
            <a:endParaRPr lang="en-US" sz="14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ba72a5c-a46e-4ff8-96d9-33af3b163a5e" descr="/home/forge/chalkie-production-workers-3/releases/77481733/backend/storage/app/render-specs/7058ce06-c8d3-486e-a91c-2a829690de24/img_e8f718534fc37744f7e7ec8aa2d80d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7ad7b0f7-83d9-4c09-818a-c21fa21ebc5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Ferramenta Avaliar Fórmula</a:t>
            </a:r>
            <a:endParaRPr lang="en-US" sz="2880" dirty="0"/>
          </a:p>
        </p:txBody>
      </p:sp>
      <p:sp>
        <p:nvSpPr>
          <p:cNvPr id="5" name="46e5ba58-c2b5-4ef8-add2-11ed2818a49e"/>
          <p:cNvSpPr/>
          <p:nvPr/>
        </p:nvSpPr>
        <p:spPr>
          <a:xfrm>
            <a:off x="285750" y="788670"/>
            <a:ext cx="45720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Depuração Passo a Passo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botão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Avaliar Fórmula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permite executar o cálculo em câmera lenta, resolvendo uma função interna de cada vez.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 técnica é indispensável ao lidar com funções aninhadas, pois revela exatamente qual trecho gerou um valor imprevisto antes do resultado final.</a:t>
            </a:r>
            <a:endParaRPr lang="en-US" sz="1980" dirty="0"/>
          </a:p>
        </p:txBody>
      </p:sp>
      <p:sp>
        <p:nvSpPr>
          <p:cNvPr id="6" name="932ce155-4506-4b69-bd0e-8151bbae1231_card"/>
          <p:cNvSpPr/>
          <p:nvPr/>
        </p:nvSpPr>
        <p:spPr>
          <a:xfrm>
            <a:off x="285750" y="325755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932ce155-4506-4b69-bd0e-8151bbae1231_emoji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932ce155-4506-4b69-bd0e-8151bbae1231_text"/>
          <p:cNvSpPr/>
          <p:nvPr/>
        </p:nvSpPr>
        <p:spPr>
          <a:xfrm>
            <a:off x="765810" y="337185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Sublinhados no visor mostram qual operação matemática será processada no próximo clique.</a:t>
            </a:r>
            <a:endParaRPr lang="en-US" sz="14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ca10879-8537-4dc6-ba21-d9c361fef38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Reunião de Fechamento</a:t>
            </a:r>
            <a:endParaRPr lang="en-US" sz="2880" dirty="0"/>
          </a:p>
        </p:txBody>
      </p:sp>
      <p:sp>
        <p:nvSpPr>
          <p:cNvPr id="4" name="802e7218-7569-4323-a976-601b3f483345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d686217d-d588-42a1-baa0-f7adefb82edb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53cad304-9e3b-4895-9325-b434dfd6cce1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erro visual apareceu na planilha de vendas de Carlos?</a:t>
            </a:r>
            <a:endParaRPr lang="en-US" sz="1620" dirty="0"/>
          </a:p>
        </p:txBody>
      </p:sp>
      <p:sp>
        <p:nvSpPr>
          <p:cNvPr id="7" name="28080dae-1f4c-4c21-99e7-613fa4d5d5ab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888b87ad-aa31-4b83-a1c6-bf699366b83a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o erro #N/D ocorreu ao aplicar a fórmula?</a:t>
            </a:r>
            <a:endParaRPr lang="en-US" sz="1620" dirty="0"/>
          </a:p>
        </p:txBody>
      </p:sp>
      <p:sp>
        <p:nvSpPr>
          <p:cNvPr id="9" name="cdfd4f5b-f6f4-46e2-892c-9f345ceaaba9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d0d09808-1c8e-49b1-8ea1-b749d1cdbe9a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função Mariana recomendou para tratar esse erro visual?</a:t>
            </a:r>
            <a:endParaRPr lang="en-US" sz="1620" dirty="0"/>
          </a:p>
        </p:txBody>
      </p:sp>
      <p:sp>
        <p:nvSpPr>
          <p:cNvPr id="11" name="ca4c11f6-11b8-471d-bb32-822dd5a4af94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1f037790-709d-4548-8533-ae596dca9497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função foi usada para consolidar o total financeiro das filiais?</a:t>
            </a:r>
            <a:endParaRPr lang="en-US" sz="1620" dirty="0"/>
          </a:p>
        </p:txBody>
      </p:sp>
      <p:sp>
        <p:nvSpPr>
          <p:cNvPr id="13" name="b8365111-99ca-4632-9346-8d7e5aaf812a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b8365111-99ca-4632-9346-8d7e5aaf812a_icon" descr="/home/forge/chalkie-production-workers-3/releases/77481733/backend/storage/app/render-specs/7058ce06-c8d3-486e-a91c-2a829690de24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b8365111-99ca-4632-9346-8d7e5aaf812a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Auditoria do Relatório de Vendas</a:t>
            </a:r>
            <a:endParaRPr lang="en-US" sz="1800" dirty="0"/>
          </a:p>
        </p:txBody>
      </p:sp>
      <p:sp>
        <p:nvSpPr>
          <p:cNvPr id="16" name="b8365111-99ca-4632-9346-8d7e5aaf812a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b8365111-99ca-4632-9346-8d7e5aaf812a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1ca10879-8537-4dc6-ba21-d9c361fef38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Áudio: Reunião de Fechamento</a:t>
            </a:r>
            <a:endParaRPr lang="en-US" sz="2880" dirty="0"/>
          </a:p>
        </p:txBody>
      </p:sp>
      <p:sp>
        <p:nvSpPr>
          <p:cNvPr id="4" name="d656128a-835a-4e15-a35d-9072d59ea7a2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6d7df93f-5f79-45ac-8ff0-c2fa07507dd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0a7e6796-b789-4c0c-adc9-032702f48b40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845aa28d-2d8f-4dcb-9454-ce4d31d67a70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erro #N/D na coluna de comissões de novos vendedores.</a:t>
            </a:r>
            <a:endParaRPr lang="en-US" sz="1620" dirty="0"/>
          </a:p>
        </p:txBody>
      </p:sp>
      <p:sp>
        <p:nvSpPr>
          <p:cNvPr id="8" name="8c2c6805-7125-4627-9531-7e6e686f7056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3032c4a9-0fa2-4060-9086-c85b8c38eb79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Porque alguns códigos de colaboradores novos ainda não estavam cadastrados na tabela de consulta.</a:t>
            </a:r>
            <a:endParaRPr lang="en-US" sz="1620" dirty="0"/>
          </a:p>
        </p:txBody>
      </p:sp>
      <p:sp>
        <p:nvSpPr>
          <p:cNvPr id="10" name="8a335f29-e0c5-425f-934b-af789f4a6579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227fe13f-0ce0-4c73-9a5a-1fcc702fcbad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SEERRO envolvendo a busca original.</a:t>
            </a:r>
            <a:endParaRPr lang="en-US" sz="1620" dirty="0"/>
          </a:p>
        </p:txBody>
      </p:sp>
      <p:sp>
        <p:nvSpPr>
          <p:cNvPr id="12" name="931d2271-2414-4c52-bf74-6497d3f0ac08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63a3132d-ca69-4668-9d10-369ca7d8c9b8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função SOMASE vinculada à coluna da região.</a:t>
            </a:r>
            <a:endParaRPr lang="en-US" sz="1620" dirty="0"/>
          </a:p>
        </p:txBody>
      </p:sp>
      <p:sp>
        <p:nvSpPr>
          <p:cNvPr id="14" name="b8365111-99ca-4632-9346-8d7e5aaf812a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b8365111-99ca-4632-9346-8d7e5aaf812a_icon" descr="/home/forge/chalkie-production-workers-3/releases/77481733/backend/storage/app/render-specs/7058ce06-c8d3-486e-a91c-2a829690de24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b8365111-99ca-4632-9346-8d7e5aaf812a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Auditoria do Relatório de Vendas</a:t>
            </a:r>
            <a:endParaRPr lang="en-US" sz="1800" dirty="0"/>
          </a:p>
        </p:txBody>
      </p:sp>
      <p:sp>
        <p:nvSpPr>
          <p:cNvPr id="17" name="b8365111-99ca-4632-9346-8d7e5aaf812a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b8365111-99ca-4632-9346-8d7e5aaf812a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ef75e5e-6cf0-4e2c-a518-9878c48b877b"/>
          <p:cNvSpPr/>
          <p:nvPr/>
        </p:nvSpPr>
        <p:spPr>
          <a:xfrm>
            <a:off x="285750" y="4114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de Funções Aplicadas</a:t>
            </a:r>
            <a:endParaRPr lang="en-US" sz="2880" dirty="0"/>
          </a:p>
        </p:txBody>
      </p:sp>
      <p:sp>
        <p:nvSpPr>
          <p:cNvPr id="4" name="311f3302-2a14-4953-8352-a6c82a7f9895"/>
          <p:cNvSpPr/>
          <p:nvPr/>
        </p:nvSpPr>
        <p:spPr>
          <a:xfrm>
            <a:off x="285750" y="102870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 e PROCH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Buscas verticais e horizontais em matrizes estáticas.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Exigem chave na coluna/linha 1.</a:t>
            </a:r>
            <a:endParaRPr lang="en-US" sz="1980" dirty="0"/>
          </a:p>
        </p:txBody>
      </p:sp>
      <p:sp>
        <p:nvSpPr>
          <p:cNvPr id="5" name="1933dfbb-d026-4e7f-a7ab-42ba51e3101b"/>
          <p:cNvSpPr/>
          <p:nvPr/>
        </p:nvSpPr>
        <p:spPr>
          <a:xfrm>
            <a:off x="285750" y="251460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+ CORRESP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Combinação flexível de coordenadas.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buscas bidirecionais livres de posição.</a:t>
            </a:r>
            <a:endParaRPr lang="en-US" sz="1980" dirty="0"/>
          </a:p>
        </p:txBody>
      </p:sp>
      <p:sp>
        <p:nvSpPr>
          <p:cNvPr id="6" name="46457dba-d9ed-4de3-ab2f-09b1981725c2"/>
          <p:cNvSpPr/>
          <p:nvPr/>
        </p:nvSpPr>
        <p:spPr>
          <a:xfrm>
            <a:off x="4652010" y="102870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 e SOMASE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Agregações com base em critérios definidos.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Quantificam frequências e totalizam finanças.</a:t>
            </a:r>
            <a:endParaRPr lang="en-US" sz="1980" dirty="0"/>
          </a:p>
        </p:txBody>
      </p:sp>
      <p:sp>
        <p:nvSpPr>
          <p:cNvPr id="7" name="408e1f40-24c5-49d0-8720-9328b167804c"/>
          <p:cNvSpPr/>
          <p:nvPr/>
        </p:nvSpPr>
        <p:spPr>
          <a:xfrm>
            <a:off x="4652010" y="275463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SEERRO e Auditoria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Blindagem técnica e validação de precedentes.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Garantem segurança e relatórios profissionais.</a:t>
            </a:r>
            <a:endParaRPr lang="en-US" sz="19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f775624c-d8bf-4cea-8088-cdd4faf717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Associação de Conceitos e Fórmulas</a:t>
            </a:r>
            <a:endParaRPr lang="en-US" sz="2880" dirty="0"/>
          </a:p>
        </p:txBody>
      </p:sp>
      <p:sp>
        <p:nvSpPr>
          <p:cNvPr id="4" name="8df92735-90c7-43d1-b818-2d6756e4001b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 as palavras com as definições</a:t>
            </a:r>
            <a:endParaRPr lang="en-US" sz="1440" dirty="0"/>
          </a:p>
        </p:txBody>
      </p:sp>
      <p:sp>
        <p:nvSpPr>
          <p:cNvPr id="5" name="6550a88b-54d0-423a-9d71-d2928f3d09ee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endParaRPr lang="en-US" sz="1800" dirty="0"/>
          </a:p>
        </p:txBody>
      </p:sp>
      <p:sp>
        <p:nvSpPr>
          <p:cNvPr id="6" name="f112c91b-00a1-4aeb-a029-b6ad0f2ae36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SEERRO</a:t>
            </a:r>
            <a:endParaRPr lang="en-US" sz="1800" dirty="0"/>
          </a:p>
        </p:txBody>
      </p:sp>
      <p:sp>
        <p:nvSpPr>
          <p:cNvPr id="7" name="56923acb-131e-4b1d-8923-6b173f12de2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endParaRPr lang="en-US" sz="1800" dirty="0"/>
          </a:p>
        </p:txBody>
      </p:sp>
      <p:sp>
        <p:nvSpPr>
          <p:cNvPr id="8" name="9b65dba3-39b8-4a1f-9c9c-4d1316cd74d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+ CORRESP</a:t>
            </a:r>
            <a:endParaRPr lang="en-US" sz="1800" dirty="0"/>
          </a:p>
        </p:txBody>
      </p:sp>
      <p:sp>
        <p:nvSpPr>
          <p:cNvPr id="9" name="0552b793-9b87-45e4-8f38-2b6de5127fdc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Totaliza numericamente células que atendem a um critério específico</a:t>
            </a:r>
            <a:endParaRPr lang="en-US" sz="1620" dirty="0"/>
          </a:p>
        </p:txBody>
      </p:sp>
      <p:sp>
        <p:nvSpPr>
          <p:cNvPr id="10" name="b1003dc4-df40-416e-94cf-48fd274a7d83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Combinação flexível que busca em qualquer direção matricial</a:t>
            </a:r>
            <a:endParaRPr lang="en-US" sz="1620" dirty="0"/>
          </a:p>
        </p:txBody>
      </p:sp>
      <p:sp>
        <p:nvSpPr>
          <p:cNvPr id="11" name="e7de7429-1c02-4923-bc77-23803ed28cf9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Intercepta falhas de cálculo e exibe retorno personalizado</a:t>
            </a:r>
            <a:endParaRPr lang="en-US" sz="1620" dirty="0"/>
          </a:p>
        </p:txBody>
      </p:sp>
      <p:sp>
        <p:nvSpPr>
          <p:cNvPr id="12" name="4f3be903-5826-4417-b6c9-041912963ba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 valores verticalmente a partir da primeira coluna à esquerda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f775624c-d8bf-4cea-8088-cdd4faf717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Associação de Conceitos e Fórmulas</a:t>
            </a:r>
            <a:endParaRPr lang="en-US" sz="2880" dirty="0"/>
          </a:p>
        </p:txBody>
      </p:sp>
      <p:sp>
        <p:nvSpPr>
          <p:cNvPr id="4" name="8df92735-90c7-43d1-b818-2d6756e4001b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Relacione as palavras com as definições</a:t>
            </a:r>
            <a:endParaRPr lang="en-US" sz="1440" dirty="0"/>
          </a:p>
        </p:txBody>
      </p:sp>
      <p:sp>
        <p:nvSpPr>
          <p:cNvPr id="5" name="6550a88b-54d0-423a-9d71-d2928f3d09ee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endParaRPr lang="en-US" sz="1800" dirty="0"/>
          </a:p>
        </p:txBody>
      </p:sp>
      <p:sp>
        <p:nvSpPr>
          <p:cNvPr id="6" name="f112c91b-00a1-4aeb-a029-b6ad0f2ae36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SEERRO</a:t>
            </a:r>
            <a:endParaRPr lang="en-US" sz="1800" dirty="0"/>
          </a:p>
        </p:txBody>
      </p:sp>
      <p:sp>
        <p:nvSpPr>
          <p:cNvPr id="7" name="56923acb-131e-4b1d-8923-6b173f12de2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endParaRPr lang="en-US" sz="1800" dirty="0"/>
          </a:p>
        </p:txBody>
      </p:sp>
      <p:sp>
        <p:nvSpPr>
          <p:cNvPr id="8" name="9b65dba3-39b8-4a1f-9c9c-4d1316cd74d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80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+ CORRESP</a:t>
            </a:r>
            <a:endParaRPr lang="en-US" sz="1800" dirty="0"/>
          </a:p>
        </p:txBody>
      </p:sp>
      <p:sp>
        <p:nvSpPr>
          <p:cNvPr id="9" name="0552b793-9b87-45e4-8f38-2b6de5127fdc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Totaliza numericamente células que atendem a um critério específico</a:t>
            </a:r>
            <a:endParaRPr lang="en-US" sz="1620" dirty="0"/>
          </a:p>
        </p:txBody>
      </p:sp>
      <p:sp>
        <p:nvSpPr>
          <p:cNvPr id="10" name="b1003dc4-df40-416e-94cf-48fd274a7d83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Combinação flexível que busca em qualquer direção matricial</a:t>
            </a:r>
            <a:endParaRPr lang="en-US" sz="1620" dirty="0"/>
          </a:p>
        </p:txBody>
      </p:sp>
      <p:sp>
        <p:nvSpPr>
          <p:cNvPr id="11" name="e7de7429-1c02-4923-bc77-23803ed28cf9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Intercepta falhas de cálculo e exibe retorno personalizado</a:t>
            </a:r>
            <a:endParaRPr lang="en-US" sz="1620" dirty="0"/>
          </a:p>
        </p:txBody>
      </p:sp>
      <p:sp>
        <p:nvSpPr>
          <p:cNvPr id="12" name="4f3be903-5826-4417-b6c9-041912963ba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 valores verticalmente a partir da primeira coluna à esquerda</a:t>
            </a:r>
            <a:endParaRPr lang="en-US" sz="1620" dirty="0"/>
          </a:p>
        </p:txBody>
      </p:sp>
      <p:sp>
        <p:nvSpPr>
          <p:cNvPr id="13" name="bb32ce8f-c8fb-4d0a-995e-5f36c550046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connector-e94411e6-b89f-4247-a0c8-ab9992865f6e-0"/>
          <p:cNvSpPr/>
          <p:nvPr/>
        </p:nvSpPr>
        <p:spPr>
          <a:xfrm flipV="1">
            <a:off x="2571750" y="1600200"/>
            <a:ext cx="994410" cy="22860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5" name="connector-e94411e6-b89f-4247-a0c8-ab9992865f6e-1"/>
          <p:cNvSpPr/>
          <p:nvPr/>
        </p:nvSpPr>
        <p:spPr>
          <a:xfrm>
            <a:off x="2571750" y="2537460"/>
            <a:ext cx="994410" cy="891540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6" name="connector-e94411e6-b89f-4247-a0c8-ab9992865f6e-2"/>
          <p:cNvSpPr/>
          <p:nvPr/>
        </p:nvSpPr>
        <p:spPr>
          <a:xfrm>
            <a:off x="2571750" y="3451860"/>
            <a:ext cx="994410" cy="891540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7" name="connector-e94411e6-b89f-4247-a0c8-ab9992865f6e-3"/>
          <p:cNvSpPr/>
          <p:nvPr/>
        </p:nvSpPr>
        <p:spPr>
          <a:xfrm flipV="1">
            <a:off x="2571750" y="2514600"/>
            <a:ext cx="994410" cy="1851660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8" name="ae6e3a3b-8052-45b8-891b-28714ad2d67c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70" dirty="0"/>
          </a:p>
        </p:txBody>
      </p:sp>
      <p:sp>
        <p:nvSpPr>
          <p:cNvPr id="19" name="39282c87-c0d4-4d32-b53e-cb69d8111e12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70" dirty="0"/>
          </a:p>
        </p:txBody>
      </p:sp>
      <p:sp>
        <p:nvSpPr>
          <p:cNvPr id="20" name="b3de9e1a-3f44-4ca0-b798-da844df2ef64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170" dirty="0"/>
          </a:p>
        </p:txBody>
      </p:sp>
      <p:sp>
        <p:nvSpPr>
          <p:cNvPr id="21" name="0b40ac71-d608-44d1-b2df-ca991fdd9346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7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7ce2690-50e7-469c-9a3f-b82d01a2ce04" descr="/home/forge/chalkie-production-workers-3/releases/77481733/backend/storage/app/render-specs/7058ce06-c8d3-486e-a91c-2a829690de24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4" name="a9da3014-f048-46f2-92ca-e12b4bf4cd6e" descr="/home/forge/chalkie-production-workers-3/releases/77481733/backend/storage/app/render-specs/7058ce06-c8d3-486e-a91c-2a829690de24/img_1d033982ad48071329853742ae5139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5" name="57a8fbad-d5c9-4e3f-a5b3-2c378bf4c6e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Prático de Gestão de Estoque</a:t>
            </a:r>
            <a:endParaRPr lang="en-US" sz="2880" dirty="0"/>
          </a:p>
        </p:txBody>
      </p:sp>
      <p:sp>
        <p:nvSpPr>
          <p:cNvPr id="6" name="d6099545-d42f-48c0-a6a5-fda2bcec4d1d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ÍNDICE e CORRESP na 'Descrição' para buscar nomes no 'Catálogo'.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Envolva com SEERRO para exibir 'Código Não Localizado' em falhas.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Resumo: use SOMASE para 'Avaria' e CONT.SE para lotes rejeitados.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'Rastrear Precedentes' para validar os setores.</a:t>
            </a:r>
            <a:endParaRPr lang="en-US" sz="16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2" descr="/home/forge/chalkie-production-workers-3/releases/77481733/backend/storage/app/render-specs/7058ce06-c8d3-486e-a91c-2a829690de24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2eca739-eae0-4fc5-be4e-e21afe5c204c" descr="/home/forge/chalkie-production-workers-3/releases/77481733/backend/storage/app/render-specs/7058ce06-c8d3-486e-a91c-2a829690de24/img_599daab21a9ea7c3445ac4dcdcc7d8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0f8b5ba1-8101-4675-8caf-5e335a2d6c47"/>
          <p:cNvSpPr/>
          <p:nvPr/>
        </p:nvSpPr>
        <p:spPr>
          <a:xfrm>
            <a:off x="3714750" y="22860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e Próximos Passos</a:t>
            </a:r>
            <a:endParaRPr lang="en-US" sz="2880" dirty="0"/>
          </a:p>
        </p:txBody>
      </p:sp>
      <p:sp>
        <p:nvSpPr>
          <p:cNvPr id="5" name="5502531f-fb32-4bb0-9fee-1a3c50e9d3a6"/>
          <p:cNvSpPr/>
          <p:nvPr/>
        </p:nvSpPr>
        <p:spPr>
          <a:xfrm>
            <a:off x="3714750" y="845820"/>
            <a:ext cx="51435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Próximo Nível: Tabelas Dinâmicas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Nesta aula, você aprendeu a integrar tabelas, automatizar buscas complexas e somar indicadores sob regras rígidas de negócio.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6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levaremos esses dados consolidados para as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Dinâmicas (Pivot Tables)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Dinâmicos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construindo análises multidimensionais sem precisar digitar uma única fórmula.</a:t>
            </a:r>
            <a:endParaRPr lang="en-US" sz="1980" dirty="0"/>
          </a:p>
        </p:txBody>
      </p:sp>
      <p:sp>
        <p:nvSpPr>
          <p:cNvPr id="6" name="83e51db6-c222-4b28-9aef-5e03c8b26cb8_card"/>
          <p:cNvSpPr/>
          <p:nvPr/>
        </p:nvSpPr>
        <p:spPr>
          <a:xfrm>
            <a:off x="3714750" y="356616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83e51db6-c222-4b28-9aef-5e03c8b26cb8_emoji"/>
          <p:cNvSpPr/>
          <p:nvPr/>
        </p:nvSpPr>
        <p:spPr>
          <a:xfrm>
            <a:off x="3829050" y="37147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83e51db6-c222-4b28-9aef-5e03c8b26cb8_text"/>
          <p:cNvSpPr/>
          <p:nvPr/>
        </p:nvSpPr>
        <p:spPr>
          <a:xfrm>
            <a:off x="4194810" y="368046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limpas e auditadas geram relatórios executivos confiáveis e seguros.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Avançado: Funções de Busca e Agregações</dc:title>
  <dc:subject>PptxGenJS Presentation</dc:subject>
  <dc:creator>PptxGenJS</dc:creator>
  <cp:lastModifiedBy>PptxGenJS</cp:lastModifiedBy>
  <cp:revision>1</cp:revision>
  <dcterms:created xsi:type="dcterms:W3CDTF">2026-09-11T10:48:05Z</dcterms:created>
  <dcterms:modified xsi:type="dcterms:W3CDTF">2026-09-11T10:48:05Z</dcterms:modified>
</cp:coreProperties>
</file>