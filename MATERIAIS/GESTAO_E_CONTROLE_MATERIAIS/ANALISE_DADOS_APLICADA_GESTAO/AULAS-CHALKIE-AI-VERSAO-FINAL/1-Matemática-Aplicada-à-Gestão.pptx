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embeddedFontLst>
    <p:embeddedFont>
      <p:font typeface="Dyslexie" panose="020B0604020202020204" charset="0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046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c4aa479-9752-47f9-a9f8-f9c747d8cbdb" descr="/home/forge/chalkie-production-workers-1/releases/77642309/backend/storage/app/render-specs/6ea86578-f70a-4e50-b1d7-6401ae353421/img_81240b8f7e0308e1cc61a422c03e90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9fd81227-9721-43d5-9211-f757def10b2d"/>
          <p:cNvSpPr/>
          <p:nvPr/>
        </p:nvSpPr>
        <p:spPr>
          <a:xfrm>
            <a:off x="4914900" y="1257300"/>
            <a:ext cx="382905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Matemática Aplicada à Gestão</a:t>
            </a:r>
            <a:endParaRPr lang="en-US" sz="2527" dirty="0"/>
          </a:p>
        </p:txBody>
      </p:sp>
      <p:sp>
        <p:nvSpPr>
          <p:cNvPr id="4" name="b501c4b3-831b-4561-b165-3178e589a116"/>
          <p:cNvSpPr/>
          <p:nvPr/>
        </p:nvSpPr>
        <p:spPr>
          <a:xfrm>
            <a:off x="4914900" y="296037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Fundamentos quantitativos para decisões empresariais inteligentes.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2ff4a41-65a0-43db-8f22-dc8147f9cdfb" descr="/home/forge/chalkie-production-workers-1/releases/77642309/backend/storage/app/render-specs/6ea86578-f70a-4e50-b1d7-6401ae353421/img_6a84c9e9b1742dc222b3386bbfa241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6d71373e-65dc-400d-90ac-d8409279e66c"/>
          <p:cNvSpPr/>
          <p:nvPr/>
        </p:nvSpPr>
        <p:spPr>
          <a:xfrm>
            <a:off x="285750" y="17945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no Escuro?</a:t>
            </a:r>
            <a:endParaRPr lang="en-US" sz="2246" dirty="0"/>
          </a:p>
        </p:txBody>
      </p:sp>
      <p:sp>
        <p:nvSpPr>
          <p:cNvPr id="4" name="01129f3a-93f2-4ee8-961e-f9a5e024a77c"/>
          <p:cNvSpPr/>
          <p:nvPr/>
        </p:nvSpPr>
        <p:spPr>
          <a:xfrm>
            <a:off x="285750" y="242316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 cálculos exatos, como um gestor sabe se a empresa teve lucro real ou prejuízo oculto?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8d14241-4b52-40b8-8e36-0c9545cba372" descr="/home/forge/chalkie-production-workers-1/releases/77642309/backend/storage/app/render-specs/6ea86578-f70a-4e50-b1d7-6401ae353421/img_d53d9fc8b5011dac07f83ad31486a9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ee8ee640-295d-4507-8a12-d8d1211a4170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Disciplina</a:t>
            </a:r>
            <a:endParaRPr lang="en-US" sz="2246" dirty="0"/>
          </a:p>
        </p:txBody>
      </p:sp>
      <p:sp>
        <p:nvSpPr>
          <p:cNvPr id="4" name="267ac725-758e-4b18-b0d1-6bbe6c16e8b7"/>
          <p:cNvSpPr/>
          <p:nvPr/>
        </p:nvSpPr>
        <p:spPr>
          <a:xfrm>
            <a:off x="285750" y="80010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Nesta jornada, você desenvolverá competências práticas essenciais para a liderança e análise corporativa: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cálculos financeiros e de estoque com precisão absoluta.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Analisar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indicadores com razões, proporções e porcentagens.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Interpretar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tendências e dispersão em bases de dados gerenciais.</a:t>
            </a:r>
            <a:endParaRPr lang="en-US" sz="1264" dirty="0"/>
          </a:p>
        </p:txBody>
      </p:sp>
      <p:sp>
        <p:nvSpPr>
          <p:cNvPr id="5" name="cb98e7e8-fbf5-4bfe-ab92-d9bf39457aeb_card"/>
          <p:cNvSpPr/>
          <p:nvPr/>
        </p:nvSpPr>
        <p:spPr>
          <a:xfrm>
            <a:off x="285750" y="363474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cb98e7e8-fbf5-4bfe-ab92-d9bf39457aeb_emoji"/>
          <p:cNvSpPr/>
          <p:nvPr/>
        </p:nvSpPr>
        <p:spPr>
          <a:xfrm>
            <a:off x="4000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cb98e7e8-fbf5-4bfe-ab92-d9bf39457aeb_text"/>
          <p:cNvSpPr/>
          <p:nvPr/>
        </p:nvSpPr>
        <p:spPr>
          <a:xfrm>
            <a:off x="765810" y="374904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matemática corporativa transforma dados brutos em decisões seguras e lucrativas.</a:t>
            </a:r>
            <a:endParaRPr lang="en-US" sz="112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d380ec4-75e5-4049-842b-667477b0e15c" descr="/home/forge/chalkie-production-workers-1/releases/77642309/backend/storage/app/render-specs/6ea86578-f70a-4e50-b1d7-6401ae353421/img_6582402691fd9499034b4e3cdd1c06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b7aa8c49-f24b-4cf7-974e-bcd974de42e6" descr="/home/forge/chalkie-production-workers-1/releases/77642309/backend/storage/app/render-specs/6ea86578-f70a-4e50-b1d7-6401ae353421/img_4bc73da6384c6b8a8fbaf6e4a5dd04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e1d86bf6-35dd-44b7-ae14-f7bf9cbe846e" descr="/home/forge/chalkie-production-workers-1/releases/77642309/backend/storage/app/render-specs/6ea86578-f70a-4e50-b1d7-6401ae353421/img_dbb4be452c979e99b6a6c3f841b483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c63c053a-655f-4c72-97ba-903ed1084006" descr="/home/forge/chalkie-production-workers-1/releases/77642309/backend/storage/app/render-specs/6ea86578-f70a-4e50-b1d7-6401ae353421/img_d6b950f9ea3a1b47bf82a2a8cd9c9e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c200690c-8571-4da2-bd76-6300ccda989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</a:t>
            </a:r>
            <a:endParaRPr lang="en-US" sz="2246" dirty="0"/>
          </a:p>
        </p:txBody>
      </p:sp>
      <p:sp>
        <p:nvSpPr>
          <p:cNvPr id="7" name="685cfc4c-bb39-4c7a-8787-bb137efba390"/>
          <p:cNvSpPr/>
          <p:nvPr/>
        </p:nvSpPr>
        <p:spPr>
          <a:xfrm>
            <a:off x="285750" y="34290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Igualdade entre duas razões comparativas.</a:t>
            </a:r>
            <a:endParaRPr lang="en-US" sz="1544" dirty="0"/>
          </a:p>
        </p:txBody>
      </p:sp>
      <p:sp>
        <p:nvSpPr>
          <p:cNvPr id="8" name="e3299e1d-b2ef-420b-a3fd-01ed983ab059"/>
          <p:cNvSpPr/>
          <p:nvPr/>
        </p:nvSpPr>
        <p:spPr>
          <a:xfrm>
            <a:off x="2491740" y="27432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centesimal indicando partes por 100.</a:t>
            </a:r>
            <a:endParaRPr lang="en-US" sz="1544" dirty="0"/>
          </a:p>
        </p:txBody>
      </p:sp>
      <p:sp>
        <p:nvSpPr>
          <p:cNvPr id="9" name="ff9e77ae-add4-4bd3-a13a-5f18a282dea7"/>
          <p:cNvSpPr/>
          <p:nvPr/>
        </p:nvSpPr>
        <p:spPr>
          <a:xfrm>
            <a:off x="4686300" y="34290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 central equilibrado de uma distribuição.</a:t>
            </a:r>
            <a:endParaRPr lang="en-US" sz="1544" dirty="0"/>
          </a:p>
        </p:txBody>
      </p:sp>
      <p:sp>
        <p:nvSpPr>
          <p:cNvPr id="10" name="de1f4fbe-c4b0-45b4-b3b6-1483cff7fb05"/>
          <p:cNvSpPr/>
          <p:nvPr/>
        </p:nvSpPr>
        <p:spPr>
          <a:xfrm>
            <a:off x="6892290" y="27432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Dispersão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Grau de afastamento em relação ao centro.</a:t>
            </a:r>
            <a:endParaRPr lang="en-US" sz="15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d57bb77-b009-4f86-b05d-bd9ea878bd2d" descr="/home/forge/chalkie-production-workers-1/releases/77642309/backend/storage/app/render-specs/6ea86578-f70a-4e50-b1d7-6401ae353421/img_7607fafe5537eee2913a9fead895b6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321b726-9730-4b79-be4b-dd1634a4d15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Conjuntos Numéricos nos Negócios</a:t>
            </a:r>
            <a:endParaRPr lang="en-US" sz="2246" dirty="0"/>
          </a:p>
        </p:txBody>
      </p:sp>
      <p:sp>
        <p:nvSpPr>
          <p:cNvPr id="4" name="7273a0b5-2474-4683-a1b3-ab6eb2127825"/>
          <p:cNvSpPr/>
          <p:nvPr/>
        </p:nvSpPr>
        <p:spPr>
          <a:xfrm>
            <a:off x="285750" y="800100"/>
            <a:ext cx="45720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Numérica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empresariais seguem conjuntos: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Naturais (N)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contagem de estoque.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Inteiros (Z)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saldos bancários (±).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Racionais (Q)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preços e descontos.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Reais (R)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medidas (peso, volume).</a:t>
            </a:r>
            <a:endParaRPr lang="en-US" sz="1544" dirty="0"/>
          </a:p>
        </p:txBody>
      </p:sp>
      <p:sp>
        <p:nvSpPr>
          <p:cNvPr id="5" name="c7931534-6cab-492f-8761-22c3e29bdb9c_card"/>
          <p:cNvSpPr/>
          <p:nvPr/>
        </p:nvSpPr>
        <p:spPr>
          <a:xfrm>
            <a:off x="285750" y="30518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c7931534-6cab-492f-8761-22c3e29bdb9c_emoji"/>
          <p:cNvSpPr/>
          <p:nvPr/>
        </p:nvSpPr>
        <p:spPr>
          <a:xfrm>
            <a:off x="400050" y="32004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c7931534-6cab-492f-8761-22c3e29bdb9c_text"/>
          <p:cNvSpPr/>
          <p:nvPr/>
        </p:nvSpPr>
        <p:spPr>
          <a:xfrm>
            <a:off x="765810" y="31661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Ex: 15 caixas (N), -R$ 450 (Z), R$ 12,75 (Q).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8126200-8d2c-41fa-8627-21c82eadfbd7" descr="/home/forge/chalkie-production-workers-1/releases/77642309/backend/storage/app/render-specs/6ea86578-f70a-4e50-b1d7-6401ae353421/img_3409d2dc0cf44368dc6baf01331b05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1a5bfca1-160e-48e6-b966-855a840a6342" descr="/home/forge/chalkie-production-workers-1/releases/77642309/backend/storage/app/render-specs/6ea86578-f70a-4e50-b1d7-6401ae353421/img_88ff7745396cd1bb6cd95c97255cf2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19dfe07c-fa3c-49b1-ae57-119e6ac584ba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Identificando Conjuntos na Empresa</a:t>
            </a:r>
            <a:endParaRPr lang="en-US" sz="2246" dirty="0"/>
          </a:p>
        </p:txBody>
      </p:sp>
      <p:sp>
        <p:nvSpPr>
          <p:cNvPr id="5" name="76316b4b-db61-46a1-ad50-6e082938e448"/>
          <p:cNvSpPr/>
          <p:nvPr/>
        </p:nvSpPr>
        <p:spPr>
          <a:xfrm>
            <a:off x="285750" y="300609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Contagem Física (Naturais)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Unidades discretas que não aceitam frações ou valores negativos. Exemplo: 48 computadores expedidos para a filial.</a:t>
            </a:r>
            <a:endParaRPr lang="en-US" sz="1544" dirty="0"/>
          </a:p>
        </p:txBody>
      </p:sp>
      <p:sp>
        <p:nvSpPr>
          <p:cNvPr id="6" name="df315b5b-363b-4451-bdbe-22c3e75dbbb5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Financeiros (Racionais)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Medidas fracionárias e decimais indispensáveis para precificação e impostos. Exemplo: R$ 34,90 por metro de tecido.</a:t>
            </a:r>
            <a:endParaRPr lang="en-US" sz="15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5da86f0-0b51-40f6-b7d6-d0f51a8acf5b" descr="/home/forge/chalkie-production-workers-1/releases/77642309/backend/storage/app/render-specs/6ea86578-f70a-4e50-b1d7-6401ae353421/img_3a26730c8d60e893d131573350a4cf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6202aed-8eb0-4179-85c0-11d9f78584a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Operações no Fluxo de Caixa</a:t>
            </a:r>
            <a:endParaRPr lang="en-US" sz="2246" dirty="0"/>
          </a:p>
        </p:txBody>
      </p:sp>
      <p:sp>
        <p:nvSpPr>
          <p:cNvPr id="4" name="2e52bb1b-518d-43fc-9f37-3d0750cd32ea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Balanço Financeiro Diário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controle exige rigor na soma de receitas e dedução de despesas.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Entradas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pagamentos e duplicatas.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Saídas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salários, insumos, energia e impostos.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Saldo Final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Saldo Inicial + Entradas − Saídas.</a:t>
            </a:r>
            <a:endParaRPr lang="en-US" sz="1544" dirty="0"/>
          </a:p>
        </p:txBody>
      </p:sp>
      <p:sp>
        <p:nvSpPr>
          <p:cNvPr id="5" name="2e2afcca-4ef1-4e75-aaec-b71e285b72c5_card"/>
          <p:cNvSpPr/>
          <p:nvPr/>
        </p:nvSpPr>
        <p:spPr>
          <a:xfrm>
            <a:off x="4286250" y="35090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2e2afcca-4ef1-4e75-aaec-b71e285b72c5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2e2afcca-4ef1-4e75-aaec-b71e285b72c5_text"/>
          <p:cNvSpPr/>
          <p:nvPr/>
        </p:nvSpPr>
        <p:spPr>
          <a:xfrm>
            <a:off x="4766310" y="36233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Usar sinais negativos no caixa evita surpresas com juros.</a:t>
            </a:r>
            <a:endParaRPr lang="en-US" sz="112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c82b666-8b17-4380-b27d-b0d7e477dcb5" descr="/home/forge/chalkie-production-workers-1/releases/77642309/backend/storage/app/render-specs/6ea86578-f70a-4e50-b1d7-6401ae353421/img_a2e7eb357c30fabf8ad351219382fc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20d713f-c9e0-4754-848a-93cd1db8b3b0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Balanço Físico de Estoque</a:t>
            </a:r>
            <a:endParaRPr lang="en-US" sz="2246" dirty="0"/>
          </a:p>
        </p:txBody>
      </p:sp>
      <p:sp>
        <p:nvSpPr>
          <p:cNvPr id="4" name="a0071d64-74f6-4112-b9e7-7e3906a16080"/>
          <p:cNvSpPr/>
          <p:nvPr/>
        </p:nvSpPr>
        <p:spPr>
          <a:xfrm>
            <a:off x="285750" y="80010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Movimentação de Mercadorias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auditoria logística utiliza a fórmula básica de inventário permanente para rastrear perdas: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Estoque Final (EF)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EI + Compras − Vendas − Perdas.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multiplicação define o valor monetário do lote total estocado.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divisão calcula a cobertura de estoque para os próximos dias.</a:t>
            </a:r>
            <a:endParaRPr lang="en-US" sz="1544" dirty="0"/>
          </a:p>
        </p:txBody>
      </p:sp>
      <p:sp>
        <p:nvSpPr>
          <p:cNvPr id="5" name="9a583483-f216-4aa5-be52-c02cd2a31fbf_card"/>
          <p:cNvSpPr/>
          <p:nvPr/>
        </p:nvSpPr>
        <p:spPr>
          <a:xfrm>
            <a:off x="285750" y="376047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9a583483-f216-4aa5-be52-c02cd2a31fbf_emoji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9a583483-f216-4aa5-be52-c02cd2a31fbf_text"/>
          <p:cNvSpPr/>
          <p:nvPr/>
        </p:nvSpPr>
        <p:spPr>
          <a:xfrm>
            <a:off x="765810" y="387477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Divergências entre estoque contábil e físico indicam extravios ou avarias.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ae3a40-2447-4489-a928-ad4f2fc0a69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Prática: Saldo de Estoque</a:t>
            </a:r>
            <a:endParaRPr lang="en-US" sz="2246" dirty="0"/>
          </a:p>
        </p:txBody>
      </p:sp>
      <p:sp>
        <p:nvSpPr>
          <p:cNvPr id="3" name="7ad12b8a-3bbd-48f2-a619-82410af64f40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distribuidora iniciou a semana com 320 fardos de papel. Recebeu 150 e </a:t>
            </a:r>
            <a:r>
              <a:rPr lang="en-US" sz="1264" dirty="0" err="1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atendeu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pedidos de 290 fardos. Qual o estoque final registrado?</a:t>
            </a:r>
            <a:endParaRPr lang="en-US" sz="1264" dirty="0"/>
          </a:p>
        </p:txBody>
      </p:sp>
      <p:sp>
        <p:nvSpPr>
          <p:cNvPr id="4" name="55214d50-248d-4923-8e4b-5a928c602c1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c7b9398d-08eb-4f02-904d-44831d71351d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210 fardos</a:t>
            </a:r>
            <a:endParaRPr lang="en-US" sz="1264" dirty="0"/>
          </a:p>
        </p:txBody>
      </p:sp>
      <p:sp>
        <p:nvSpPr>
          <p:cNvPr id="6" name="b7c7a131-16c4-4ea1-9154-f0c1aa7da29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e087a2d1-5f85-4286-8c7f-83cd5788d58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160 fardos</a:t>
            </a:r>
            <a:endParaRPr lang="en-US" sz="1264" dirty="0"/>
          </a:p>
        </p:txBody>
      </p:sp>
      <p:sp>
        <p:nvSpPr>
          <p:cNvPr id="8" name="4c5fe94f-e275-4259-90ae-5e61d9d951b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8c45679a-7e8d-4cee-b11f-b86e53032d5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180 fardos</a:t>
            </a:r>
            <a:endParaRPr lang="en-US" sz="1264" dirty="0"/>
          </a:p>
        </p:txBody>
      </p:sp>
      <p:sp>
        <p:nvSpPr>
          <p:cNvPr id="10" name="e7c7a5ac-0e35-46e1-9abe-7d70c8d308b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259f466-5cd7-4574-920e-0f1681e7e08d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190 fardos</a:t>
            </a:r>
            <a:endParaRPr lang="en-US" sz="126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ae3a40-2447-4489-a928-ad4f2fc0a69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Prática: Saldo de Estoque</a:t>
            </a:r>
            <a:endParaRPr lang="en-US" sz="2246" dirty="0"/>
          </a:p>
        </p:txBody>
      </p:sp>
      <p:sp>
        <p:nvSpPr>
          <p:cNvPr id="3" name="7ad12b8a-3bbd-48f2-a619-82410af64f40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distribuidora iniciou a semana com 320 fardos de papel. Recebeu 150 eatendeu pedidos de 290 fardos. Qual o estoque final registrado?</a:t>
            </a:r>
            <a:endParaRPr lang="en-US" sz="1264" dirty="0"/>
          </a:p>
        </p:txBody>
      </p:sp>
      <p:sp>
        <p:nvSpPr>
          <p:cNvPr id="4" name="55214d50-248d-4923-8e4b-5a928c602c1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c7b9398d-08eb-4f02-904d-44831d71351d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210 fardos</a:t>
            </a:r>
            <a:endParaRPr lang="en-US" sz="1264" dirty="0"/>
          </a:p>
        </p:txBody>
      </p:sp>
      <p:sp>
        <p:nvSpPr>
          <p:cNvPr id="6" name="b7c7a131-16c4-4ea1-9154-f0c1aa7da29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e087a2d1-5f85-4286-8c7f-83cd5788d58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160 fardos</a:t>
            </a:r>
            <a:endParaRPr lang="en-US" sz="1264" dirty="0"/>
          </a:p>
        </p:txBody>
      </p:sp>
      <p:sp>
        <p:nvSpPr>
          <p:cNvPr id="8" name="4c5fe94f-e275-4259-90ae-5e61d9d951b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8c45679a-7e8d-4cee-b11f-b86e53032d5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180 fardos</a:t>
            </a:r>
            <a:endParaRPr lang="en-US" sz="1264" dirty="0"/>
          </a:p>
        </p:txBody>
      </p:sp>
      <p:sp>
        <p:nvSpPr>
          <p:cNvPr id="10" name="e7c7a5ac-0e35-46e1-9abe-7d70c8d308b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259f466-5cd7-4574-920e-0f1681e7e08d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190 fardos</a:t>
            </a:r>
            <a:endParaRPr lang="en-US" sz="1264" dirty="0"/>
          </a:p>
        </p:txBody>
      </p:sp>
      <p:sp>
        <p:nvSpPr>
          <p:cNvPr id="12" name="73f44619-2a52-44b2-98bc-6fc6d035985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10f8cc5d-ad6a-494d-aca1-3b01e9b21cbf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ebc52c2-19e4-4b79-8a9b-1c84d20bb28e" descr="/home/forge/chalkie-production-workers-1/releases/77642309/backend/storage/app/render-specs/6ea86578-f70a-4e50-b1d7-6401ae353421/img_33b365806214fa0ab31fc5feffe331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eb7000a-7bf9-430f-adbd-77b477c5215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e Desempenho Corporativo</a:t>
            </a:r>
            <a:endParaRPr lang="en-US" sz="2246" dirty="0"/>
          </a:p>
        </p:txBody>
      </p:sp>
      <p:sp>
        <p:nvSpPr>
          <p:cNvPr id="4" name="b24ecaee-b909-4ff9-98d6-e573ac8f1c6f"/>
          <p:cNvSpPr/>
          <p:nvPr/>
        </p:nvSpPr>
        <p:spPr>
          <a:xfrm>
            <a:off x="4286250" y="800100"/>
            <a:ext cx="45720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Comparando Grandezas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(a/b, b≠0) avalia produtividade: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Ticket Médio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Faturamento / total de pedidos.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Produtividade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Unidades / hora trabalhada.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 departamentos de portes distintos.</a:t>
            </a:r>
            <a:endParaRPr lang="en-US" sz="1544" dirty="0"/>
          </a:p>
        </p:txBody>
      </p:sp>
      <p:sp>
        <p:nvSpPr>
          <p:cNvPr id="5" name="291de1da-1398-4953-9604-77d788cf3e50_card"/>
          <p:cNvSpPr/>
          <p:nvPr/>
        </p:nvSpPr>
        <p:spPr>
          <a:xfrm>
            <a:off x="4286250" y="35090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291de1da-1398-4953-9604-77d788cf3e50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291de1da-1398-4953-9604-77d788cf3e50_text"/>
          <p:cNvSpPr/>
          <p:nvPr/>
        </p:nvSpPr>
        <p:spPr>
          <a:xfrm>
            <a:off x="4766310" y="36233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5 operadores montam 200 motores/turno: a razão é 40 motores por operador.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ee37833-1ef3-490e-91f6-942f7e6fc3ef" descr="/home/forge/chalkie-production-workers-1/releases/77642309/backend/storage/app/render-specs/6ea86578-f70a-4e50-b1d7-6401ae353421/img_14f02d50cf1950c3c940d0cd8d7f9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3c920d50-3ff8-4cc7-9213-c3e9fa711c2a"/>
          <p:cNvSpPr/>
          <p:nvPr/>
        </p:nvSpPr>
        <p:spPr>
          <a:xfrm>
            <a:off x="285750" y="27432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 na Tomada de Decisão</a:t>
            </a:r>
            <a:endParaRPr lang="en-US" sz="2246" dirty="0"/>
          </a:p>
        </p:txBody>
      </p:sp>
      <p:sp>
        <p:nvSpPr>
          <p:cNvPr id="4" name="21176ae0-5183-40b4-98c3-193c77269fd0"/>
          <p:cNvSpPr/>
          <p:nvPr/>
        </p:nvSpPr>
        <p:spPr>
          <a:xfrm>
            <a:off x="285750" y="1360170"/>
            <a:ext cx="51435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Propriedade Fundamental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iguala duas razões: a/b = c/d.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Produto dos extremos iguala o dos meios: a·d = b·c.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Essencial para receitas, orçamentos e escalar operações mantendo margens.</a:t>
            </a:r>
            <a:endParaRPr lang="en-US" sz="1544" dirty="0"/>
          </a:p>
        </p:txBody>
      </p:sp>
      <p:sp>
        <p:nvSpPr>
          <p:cNvPr id="5" name="377edd4d-f75e-488e-9258-5911714e8410_card"/>
          <p:cNvSpPr/>
          <p:nvPr/>
        </p:nvSpPr>
        <p:spPr>
          <a:xfrm>
            <a:off x="285750" y="349758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377edd4d-f75e-488e-9258-5911714e8410_emoji"/>
          <p:cNvSpPr/>
          <p:nvPr/>
        </p:nvSpPr>
        <p:spPr>
          <a:xfrm>
            <a:off x="400050" y="36461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377edd4d-f75e-488e-9258-5911714e8410_text"/>
          <p:cNvSpPr/>
          <p:nvPr/>
        </p:nvSpPr>
        <p:spPr>
          <a:xfrm>
            <a:off x="765810" y="361188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Dobrar capacidade produtiva exige insumos na mesma proporção.</a:t>
            </a:r>
            <a:endParaRPr lang="en-US" sz="112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0e43924-82d3-4232-9bec-feb5398ad0ca" descr="/home/forge/chalkie-production-workers-1/releases/77642309/backend/storage/app/render-specs/6ea86578-f70a-4e50-b1d7-6401ae353421/img_1dafff6bf062802b4045a6db974945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fc4943ff-8fde-4f8c-a4fe-85bae8f29535" descr="/home/forge/chalkie-production-workers-1/releases/77642309/backend/storage/app/render-specs/6ea86578-f70a-4e50-b1d7-6401ae353421/img_1a5b89b5a8f6616c50747d4410e58e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e2e71962-6f64-4adb-93ce-ffd64c48089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Simples Direta</a:t>
            </a:r>
            <a:endParaRPr lang="en-US" sz="2246" dirty="0"/>
          </a:p>
        </p:txBody>
      </p:sp>
      <p:sp>
        <p:nvSpPr>
          <p:cNvPr id="5" name="9eff606d-d976-497f-9a93-7acbcf43d0cc"/>
          <p:cNvSpPr/>
          <p:nvPr/>
        </p:nvSpPr>
        <p:spPr>
          <a:xfrm>
            <a:off x="28575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Estruturação do Problema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12 máquinas fazem 3.600 caixas, quantas 18 máquinas produzem no mesmo ritmo?</a:t>
            </a:r>
            <a:endParaRPr lang="en-US" sz="1544" dirty="0"/>
          </a:p>
        </p:txBody>
      </p:sp>
      <p:sp>
        <p:nvSpPr>
          <p:cNvPr id="6" name="475c928a-739b-46c4-a6a6-1bb4e9386cef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Resolução Proporcional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Grandezas diretamente proporcionais: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12 / 18 = 3.600 / x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12x = 64.800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x = 5.400 caixas</a:t>
            </a:r>
            <a:endParaRPr lang="en-US" sz="15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98e07c0-826f-4ece-b211-ec4e5b490c77" descr="/home/forge/chalkie-production-workers-1/releases/77642309/backend/storage/app/render-specs/6ea86578-f70a-4e50-b1d7-6401ae353421/img_699225988b998b5abe02ffdf4e4851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b1b5d98-95cf-445d-be8f-a1dab66454f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Inversa na Logística</a:t>
            </a:r>
            <a:endParaRPr lang="en-US" sz="2246" dirty="0"/>
          </a:p>
        </p:txBody>
      </p:sp>
      <p:sp>
        <p:nvSpPr>
          <p:cNvPr id="4" name="acd1e730-d390-4004-974f-328850b39fa4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Grandezas Inversas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aumento de uma grandeza reduz a outra, a proporção inverte: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Velocidade/Tempo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maior velocidade reduz tempo de rota.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Operadores/Prazo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mais caminhões diminuem dias de entrega.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Montagem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multiplique em linha horizontal.</a:t>
            </a:r>
            <a:endParaRPr lang="en-US" sz="1544" dirty="0"/>
          </a:p>
        </p:txBody>
      </p:sp>
      <p:sp>
        <p:nvSpPr>
          <p:cNvPr id="5" name="1c6e752f-0304-4b95-a452-8789281468e9_card"/>
          <p:cNvSpPr/>
          <p:nvPr/>
        </p:nvSpPr>
        <p:spPr>
          <a:xfrm>
            <a:off x="2857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1c6e752f-0304-4b95-a452-8789281468e9_emoji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1c6e752f-0304-4b95-a452-8789281468e9_text"/>
          <p:cNvSpPr/>
          <p:nvPr/>
        </p:nvSpPr>
        <p:spPr>
          <a:xfrm>
            <a:off x="7658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Multiplicar cruzado em grandezas inversas causa erros operacionais.</a:t>
            </a:r>
            <a:endParaRPr lang="en-US" sz="11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2565a41-e2db-42f0-bd9b-e8cff26e0287" descr="/home/forge/chalkie-production-workers-1/releases/77642309/backend/storage/app/render-specs/6ea86578-f70a-4e50-b1d7-6401ae353421/img_28432b1ce239c17a766bc2ba1792a5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6017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1b734a6a-5e5b-4918-872c-51b20ba9164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Composta</a:t>
            </a:r>
            <a:endParaRPr lang="en-US" sz="2246" dirty="0"/>
          </a:p>
        </p:txBody>
      </p:sp>
      <p:sp>
        <p:nvSpPr>
          <p:cNvPr id="4" name="66e0aa56-80e8-445e-9506-90e0a461ebc4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Problemas de dimensionamento com mais de duas grandezas simultâneas:</a:t>
            </a:r>
            <a:endParaRPr lang="en-US" sz="1264" dirty="0"/>
          </a:p>
        </p:txBody>
      </p:sp>
      <p:sp>
        <p:nvSpPr>
          <p:cNvPr id="5" name="57691ded-6bd8-4306-b679-975d73866f43"/>
          <p:cNvSpPr/>
          <p:nvPr/>
        </p:nvSpPr>
        <p:spPr>
          <a:xfrm>
            <a:off x="285750" y="3554730"/>
            <a:ext cx="8572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8 analistas trabalhando 6 horas/dia revisam 480 contratos em 5 dias. Para revisar 720 contratos em 4 dias trabalhando 6 horas/dia, quantos analistas serão necessários? Isolamos a grandeza incógnita e comparamos o sentido direto ou inverso de cada variável.</a:t>
            </a:r>
            <a:endParaRPr lang="en-US" sz="126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44a9cc-3088-4d78-a816-2e5f00c313a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Passos da Regra de Três</a:t>
            </a:r>
            <a:endParaRPr lang="en-US" sz="2246" dirty="0"/>
          </a:p>
        </p:txBody>
      </p:sp>
      <p:sp>
        <p:nvSpPr>
          <p:cNvPr id="3" name="c07f990d-900a-48eb-af19-e70b70cd34e0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corretos para solucionar um problema gerencial com regra de três:</a:t>
            </a:r>
            <a:endParaRPr lang="en-US" sz="1264" dirty="0"/>
          </a:p>
        </p:txBody>
      </p:sp>
      <p:sp>
        <p:nvSpPr>
          <p:cNvPr id="4" name="dd9838ef-1025-41bc-abae-9ec28c3e2dd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Listar grandezas em colunas identificando a incógnita x</a:t>
            </a:r>
            <a:endParaRPr lang="en-US" sz="1264" dirty="0"/>
          </a:p>
        </p:txBody>
      </p:sp>
      <p:sp>
        <p:nvSpPr>
          <p:cNvPr id="5" name="dc0d776d-cc31-40ea-a334-0f1141a43b9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Classificar grandezas como diretamente ou inversamente proporcionais</a:t>
            </a:r>
            <a:endParaRPr lang="en-US" sz="1264" dirty="0"/>
          </a:p>
        </p:txBody>
      </p:sp>
      <p:sp>
        <p:nvSpPr>
          <p:cNvPr id="6" name="f38f5423-42fa-44ce-9069-aa6e9c20691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Resolver a equação e conferir a coerência prática do resultado</a:t>
            </a:r>
            <a:endParaRPr lang="en-US" sz="1264" dirty="0"/>
          </a:p>
        </p:txBody>
      </p:sp>
      <p:sp>
        <p:nvSpPr>
          <p:cNvPr id="7" name="afc82366-56c2-4ce0-a5ce-ff2c55b6c32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Montar a equação algébrica invertendo as razões inversas</a:t>
            </a:r>
            <a:endParaRPr lang="en-US" sz="126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44a9cc-3088-4d78-a816-2e5f00c313a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Passos da Regra de Três</a:t>
            </a:r>
            <a:endParaRPr lang="en-US" sz="2246" dirty="0"/>
          </a:p>
        </p:txBody>
      </p:sp>
      <p:sp>
        <p:nvSpPr>
          <p:cNvPr id="3" name="c07f990d-900a-48eb-af19-e70b70cd34e0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corretos para solucionar um problema gerencial com regra de três:</a:t>
            </a:r>
            <a:endParaRPr lang="en-US" sz="1264" dirty="0"/>
          </a:p>
        </p:txBody>
      </p:sp>
      <p:sp>
        <p:nvSpPr>
          <p:cNvPr id="4" name="dd9838ef-1025-41bc-abae-9ec28c3e2dd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Listar grandezas em colunas identificando a incógnita x</a:t>
            </a:r>
            <a:endParaRPr lang="en-US" sz="1264" dirty="0"/>
          </a:p>
        </p:txBody>
      </p:sp>
      <p:sp>
        <p:nvSpPr>
          <p:cNvPr id="5" name="dc0d776d-cc31-40ea-a334-0f1141a43b9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Classificar grandezas como diretamente ou inversamente proporcionais</a:t>
            </a:r>
            <a:endParaRPr lang="en-US" sz="1264" dirty="0"/>
          </a:p>
        </p:txBody>
      </p:sp>
      <p:sp>
        <p:nvSpPr>
          <p:cNvPr id="6" name="f38f5423-42fa-44ce-9069-aa6e9c20691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Resolver a equação e conferir a coerência prática do resultado</a:t>
            </a:r>
            <a:endParaRPr lang="en-US" sz="1264" dirty="0"/>
          </a:p>
        </p:txBody>
      </p:sp>
      <p:sp>
        <p:nvSpPr>
          <p:cNvPr id="7" name="afc82366-56c2-4ce0-a5ce-ff2c55b6c32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Montar a equação algébrica invertendo as razões inversas</a:t>
            </a:r>
            <a:endParaRPr lang="en-US" sz="1264" dirty="0"/>
          </a:p>
        </p:txBody>
      </p:sp>
      <p:sp>
        <p:nvSpPr>
          <p:cNvPr id="8" name="d0027430-eb78-4f3a-ad7b-cd587d9c743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ec68fc9d-5a9a-43f2-b88b-e444af02f206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039c0c2a-a816-48b5-a6e8-b16bccbaf5b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e640ce10-4361-4aa5-92ad-af66cf19cb5f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158b1824-8619-4272-8235-becc96c1048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ac0f93a-bc2c-4281-ab1e-a1b9145d8db6" descr="/home/forge/chalkie-production-workers-1/releases/77642309/backend/storage/app/render-specs/6ea86578-f70a-4e50-b1d7-6401ae353421/img_10cfff3d26f8a22352aee7d5fbd501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0723741-c5bf-4d47-8a66-3ee9014ad4c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 e Fator Multiplicador</a:t>
            </a:r>
            <a:endParaRPr lang="en-US" sz="2246" dirty="0"/>
          </a:p>
        </p:txBody>
      </p:sp>
      <p:sp>
        <p:nvSpPr>
          <p:cNvPr id="4" name="ae06a8ed-4566-4243-a1b4-e7cd6b0991e0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Fator Multiplicador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fator multiplicador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agilizar cálculos: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Acréscimo i%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multiplique por (1 + i/100). Ex: +15% = × 1,15.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Desconto i%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multiplique por (1 − i/100). Ex: −20% = × 0,80.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 valores finais em um único comando.</a:t>
            </a:r>
            <a:endParaRPr lang="en-US" sz="1544" dirty="0"/>
          </a:p>
        </p:txBody>
      </p:sp>
      <p:sp>
        <p:nvSpPr>
          <p:cNvPr id="5" name="403d6b3a-f01d-40b4-a16e-9a813976a1f9_card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403d6b3a-f01d-40b4-a16e-9a813976a1f9_emoji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403d6b3a-f01d-40b4-a16e-9a813976a1f9_text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Simplifica reajustes tributários e comerciais sucessivos.</a:t>
            </a:r>
            <a:endParaRPr lang="en-US" sz="112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ac2f787-9e3c-49ff-856f-5916794bd2ff" descr="/home/forge/chalkie-production-workers-1/releases/77642309/backend/storage/app/render-specs/6ea86578-f70a-4e50-b1d7-6401ae353421/img_631baae037e33906195542f09a6808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f76122cd-2fa0-470f-a3ab-a2af1734a0ab"/>
          <p:cNvSpPr/>
          <p:nvPr/>
        </p:nvSpPr>
        <p:spPr>
          <a:xfrm>
            <a:off x="285750" y="24003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Variação Percentual nas Vendas</a:t>
            </a:r>
            <a:endParaRPr lang="en-US" sz="2246" dirty="0"/>
          </a:p>
        </p:txBody>
      </p:sp>
      <p:sp>
        <p:nvSpPr>
          <p:cNvPr id="4" name="09b64281-7790-4903-b185-e551f67e5c6c"/>
          <p:cNvSpPr/>
          <p:nvPr/>
        </p:nvSpPr>
        <p:spPr>
          <a:xfrm>
            <a:off x="285750" y="132588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Medindo Crescimento Real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variação percentual compara o valor atual ao valor inicial: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Fórmula: Δ% = [(Final − Inicial) / Inicial] · 100%.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Faturamento de R$ 50.000 para R$ 65.000: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Δ% = (15.000 / 50.000) · 100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+30%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  <p:sp>
        <p:nvSpPr>
          <p:cNvPr id="5" name="0a69f610-8d20-459f-9cb6-7a5f44e40794_card"/>
          <p:cNvSpPr/>
          <p:nvPr/>
        </p:nvSpPr>
        <p:spPr>
          <a:xfrm>
            <a:off x="285750" y="378333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0a69f610-8d20-459f-9cb6-7a5f44e40794_emoji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0a69f610-8d20-459f-9cb6-7a5f44e40794_text"/>
          <p:cNvSpPr/>
          <p:nvPr/>
        </p:nvSpPr>
        <p:spPr>
          <a:xfrm>
            <a:off x="765810" y="389763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o valor inicial como base, nunca o final.</a:t>
            </a:r>
            <a:endParaRPr lang="en-US" sz="112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c6179a0-e396-417a-a515-c7b8d8124638" descr="/home/forge/chalkie-production-workers-1/releases/77642309/backend/storage/app/render-specs/6ea86578-f70a-4e50-b1d7-6401ae353421/img_cf6a1fd2eb4f78ee7e28e72dc36f6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cdfd0743-88be-4941-b170-824621991972" descr="/home/forge/chalkie-production-workers-1/releases/77642309/backend/storage/app/render-specs/6ea86578-f70a-4e50-b1d7-6401ae353421/img_897f6d2be50705ea8a5ac1fb95c851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8ddbe49-adfc-4894-ae0b-bd9e4081ecd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Margens: Markup versus Bruta</a:t>
            </a:r>
            <a:endParaRPr lang="en-US" sz="2246" dirty="0"/>
          </a:p>
        </p:txBody>
      </p:sp>
      <p:sp>
        <p:nvSpPr>
          <p:cNvPr id="5" name="3099166c-5f01-4f78-8b85-d50c54377c4a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Margem sobre o Custo (Markup)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Lucro calculado em relação ao que foi gasto para adquirir ou fabricar o produto. Custo R$ 100 com 50% de markup resulta em preço de venda de R$ 150.</a:t>
            </a:r>
            <a:endParaRPr lang="en-US" sz="1544" dirty="0"/>
          </a:p>
        </p:txBody>
      </p:sp>
      <p:sp>
        <p:nvSpPr>
          <p:cNvPr id="6" name="c9cd646e-8adf-47d9-ad84-2f9447e7abd7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Margem sobre a Venda (Bruta)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Percentual de lucro contido no preço final cobrado do cliente. Lucro de R$ 50 sobre venda de R$ 150 representa uma margem bruta de 33,33%.</a:t>
            </a:r>
            <a:endParaRPr lang="en-US" sz="15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5329b8-c78b-44bc-b6a0-b8e25ddcb18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Margens</a:t>
            </a:r>
            <a:endParaRPr lang="en-US" sz="2246" dirty="0"/>
          </a:p>
        </p:txBody>
      </p:sp>
      <p:sp>
        <p:nvSpPr>
          <p:cNvPr id="3" name="0982585c-460e-4e41-a23a-ae79299d36ac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0982585c-460e-4e41-a23a-ae79299d36ac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produto comprado por R$ 80,00 for vendido por R$ 100,00, a margem de lucro sobre o preço de venda é de 25%.</a:t>
            </a:r>
            <a:endParaRPr lang="en-US" sz="1264" dirty="0"/>
          </a:p>
        </p:txBody>
      </p:sp>
      <p:sp>
        <p:nvSpPr>
          <p:cNvPr id="5" name="77fa3a44-09b4-47dc-8c74-adadec6f13a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6efebcbc-3447-42aa-904b-05936f8ed36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3952323c-6ec4-4564-8c8d-57f6c04ac8dd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5329b8-c78b-44bc-b6a0-b8e25ddcb18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Margens</a:t>
            </a:r>
            <a:endParaRPr lang="en-US" sz="2246" dirty="0"/>
          </a:p>
        </p:txBody>
      </p:sp>
      <p:sp>
        <p:nvSpPr>
          <p:cNvPr id="3" name="0982585c-460e-4e41-a23a-ae79299d36ac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0982585c-460e-4e41-a23a-ae79299d36ac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produto comprado por R$ 80,00 for vendido por R$ 100,00, a margem de lucro sobre o preço de venda é de 25%.</a:t>
            </a:r>
            <a:endParaRPr lang="en-US" sz="1264" dirty="0"/>
          </a:p>
        </p:txBody>
      </p:sp>
      <p:sp>
        <p:nvSpPr>
          <p:cNvPr id="5" name="77fa3a44-09b4-47dc-8c74-adadec6f13a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6efebcbc-3447-42aa-904b-05936f8ed36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42e359ff-33a5-47db-9337-10faffdf024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0b1f1d34-4917-44bc-b076-c94d6e06158c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0b1f1d34-4917-44bc-b076-c94d6e06158c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0b1f1d34-4917-44bc-b076-c94d6e06158c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lucro é de R$ 20,00, e 20 dividido por 100 representa exatamente 20% sobre o preço de venda.</a:t>
            </a:r>
            <a:endParaRPr lang="en-US" sz="1123" dirty="0"/>
          </a:p>
        </p:txBody>
      </p:sp>
      <p:sp>
        <p:nvSpPr>
          <p:cNvPr id="11" name="61451460-bded-4176-89a0-a854d0f885ec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b6e233-8219-48fd-b058-6bae3d54c092" descr="/home/forge/chalkie-production-workers-1/releases/77642309/backend/storage/app/render-specs/6ea86578-f70a-4e50-b1d7-6401ae353421/img_442f53fc1f4e99a187dab28f368e66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9f397b9-f492-449f-9c7c-848a14b9c04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Área e Armazenagem Logística</a:t>
            </a:r>
            <a:endParaRPr lang="en-US" sz="2246" dirty="0"/>
          </a:p>
        </p:txBody>
      </p:sp>
      <p:sp>
        <p:nvSpPr>
          <p:cNvPr id="4" name="ad49460a-f0b1-4f2d-b77d-5a10c89ea7c0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Otimização de Piso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de área define a capacidade de porta-paletes e circulação: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Área Retangular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Comprimento × Largura.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Área Útil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Área total − Corredores e zonas de picking.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Define a taxa de ocupação do m².</a:t>
            </a:r>
            <a:endParaRPr lang="en-US" sz="1544" dirty="0"/>
          </a:p>
        </p:txBody>
      </p:sp>
      <p:sp>
        <p:nvSpPr>
          <p:cNvPr id="5" name="662083c6-0383-49ec-a020-afb90d060534_card"/>
          <p:cNvSpPr/>
          <p:nvPr/>
        </p:nvSpPr>
        <p:spPr>
          <a:xfrm>
            <a:off x="4286250" y="35090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662083c6-0383-49ec-a020-afb90d060534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662083c6-0383-49ec-a020-afb90d060534_text"/>
          <p:cNvSpPr/>
          <p:nvPr/>
        </p:nvSpPr>
        <p:spPr>
          <a:xfrm>
            <a:off x="4766310" y="36233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Galpão 40m × 25m = 1.000m². Com 35% para corredores, restam 650m² úteis.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4fcbccf-4938-413a-99fc-c976ee57af59" descr="/home/forge/chalkie-production-workers-1/releases/77642309/backend/storage/app/render-specs/6ea86578-f70a-4e50-b1d7-6401ae353421/img_e60d34e762fe5187224d6e76aa0d45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134f2e73-d44d-42f1-a142-ac1913e733e1"/>
          <p:cNvSpPr/>
          <p:nvPr/>
        </p:nvSpPr>
        <p:spPr>
          <a:xfrm>
            <a:off x="285750" y="48006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Volume e Cubagem no Frete</a:t>
            </a:r>
            <a:endParaRPr lang="en-US" sz="2246" dirty="0"/>
          </a:p>
        </p:txBody>
      </p:sp>
      <p:sp>
        <p:nvSpPr>
          <p:cNvPr id="4" name="452a3fce-0eed-4734-be85-5c0d2fba4ded"/>
          <p:cNvSpPr/>
          <p:nvPr/>
        </p:nvSpPr>
        <p:spPr>
          <a:xfrm>
            <a:off x="285750" y="1108710"/>
            <a:ext cx="51435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Cubagem e Frete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Volume ocupa espaço antes do limite de peso: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Volume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Comprimento × Largura × Altura (m³).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Fator de Cubagem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Converte volume em peso.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Frete considera o maior valor: peso real ou cubado.</a:t>
            </a:r>
            <a:endParaRPr lang="en-US" sz="1544" dirty="0"/>
          </a:p>
        </p:txBody>
      </p:sp>
      <p:sp>
        <p:nvSpPr>
          <p:cNvPr id="5" name="8ecaadd6-ddb0-4863-bdd0-229469cf161b_card"/>
          <p:cNvSpPr/>
          <p:nvPr/>
        </p:nvSpPr>
        <p:spPr>
          <a:xfrm>
            <a:off x="285750" y="330327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8ecaadd6-ddb0-4863-bdd0-229469cf161b_emoji"/>
          <p:cNvSpPr/>
          <p:nvPr/>
        </p:nvSpPr>
        <p:spPr>
          <a:xfrm>
            <a:off x="400050" y="34518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8ecaadd6-ddb0-4863-bdd0-229469cf161b_text"/>
          <p:cNvSpPr/>
          <p:nvPr/>
        </p:nvSpPr>
        <p:spPr>
          <a:xfrm>
            <a:off x="765810" y="341757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Caixas com espaços vazios geram custos desnecessários de frete.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feee31b-bce0-4bc6-b1c2-8cd4d780955c" descr="/home/forge/chalkie-production-workers-1/releases/77642309/backend/storage/app/render-specs/6ea86578-f70a-4e50-b1d7-6401ae353421/img_cb5fb4e7e16be5dd304d5493528670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7447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3cc8106f-6617-416d-8cb9-f95398c146e9"/>
          <p:cNvSpPr/>
          <p:nvPr/>
        </p:nvSpPr>
        <p:spPr>
          <a:xfrm>
            <a:off x="285750" y="2857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Logística: Capacidade e Peso</a:t>
            </a:r>
            <a:endParaRPr lang="en-US" sz="2246" dirty="0"/>
          </a:p>
        </p:txBody>
      </p:sp>
      <p:sp>
        <p:nvSpPr>
          <p:cNvPr id="4" name="e325cc19-acf5-49f5-b005-26c38ba52698"/>
          <p:cNvSpPr/>
          <p:nvPr/>
        </p:nvSpPr>
        <p:spPr>
          <a:xfrm>
            <a:off x="285750" y="9144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Dimensionamento de carga combinando limites de peso e volume do veículo:</a:t>
            </a:r>
            <a:endParaRPr lang="en-US" sz="1264" dirty="0"/>
          </a:p>
        </p:txBody>
      </p:sp>
      <p:sp>
        <p:nvSpPr>
          <p:cNvPr id="5" name="789d828f-d9d2-409a-8f04-bb95777f7bda"/>
          <p:cNvSpPr/>
          <p:nvPr/>
        </p:nvSpPr>
        <p:spPr>
          <a:xfrm>
            <a:off x="285750" y="366903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cada palete pesa 450 kg e ocupa 1,6 m³, 20 paletes somam 9.000 kg (dentro do peso limite) e 32 m³ (dentro do volume). Ambos os critérios técnicos devem ser respeitados simultaneamente para garantir a segurança rodoviária.</a:t>
            </a:r>
            <a:endParaRPr lang="en-US" sz="126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5adbc45-179b-4a7e-8ef5-59e11da0654a" descr="/home/forge/chalkie-production-workers-1/releases/77642309/backend/storage/app/render-specs/6ea86578-f70a-4e50-b1d7-6401ae353421/img_5449dc170eeff5a30e61a4e16f9b3a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348f87d1-2dd7-4dc0-a191-b3df8b73e50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Estatística: Tendência Central</a:t>
            </a:r>
            <a:endParaRPr lang="en-US" sz="2246" dirty="0"/>
          </a:p>
        </p:txBody>
      </p:sp>
      <p:sp>
        <p:nvSpPr>
          <p:cNvPr id="4" name="1b2d900a-349f-46a6-9dca-2ee0c01505a7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Medidas de Síntese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Resumem dados gerenciais em um valor representativo: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Soma dos valores dividida pelo total.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Valor central de dados ordenados (50%).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Valor mais frequente no histórico.</a:t>
            </a:r>
            <a:endParaRPr lang="en-US" sz="1544" dirty="0"/>
          </a:p>
        </p:txBody>
      </p:sp>
      <p:sp>
        <p:nvSpPr>
          <p:cNvPr id="5" name="5fb4872e-e717-4010-a094-c01d50fb9b7a_card"/>
          <p:cNvSpPr/>
          <p:nvPr/>
        </p:nvSpPr>
        <p:spPr>
          <a:xfrm>
            <a:off x="285750" y="35090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5fb4872e-e717-4010-a094-c01d50fb9b7a_emoji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5fb4872e-e717-4010-a094-c01d50fb9b7a_text"/>
          <p:cNvSpPr/>
          <p:nvPr/>
        </p:nvSpPr>
        <p:spPr>
          <a:xfrm>
            <a:off x="765810" y="36233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 ignora valores atípicos que distorcem a média.</a:t>
            </a:r>
            <a:endParaRPr lang="en-US" sz="112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ef561e6-9cfd-4052-91ff-017961a6f514" descr="/home/forge/chalkie-production-workers-1/releases/77642309/backend/storage/app/render-specs/6ea86578-f70a-4e50-b1d7-6401ae353421/img_3ef59501536fdd3fb63ab037de34dd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d6e77a48-dc96-4859-b90a-7626a489d13f" descr="/home/forge/chalkie-production-workers-1/releases/77642309/backend/storage/app/render-specs/6ea86578-f70a-4e50-b1d7-6401ae353421/img_044463e4efc75c328b77cb6fb2701a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a53112c3-37c8-430f-9f4a-6b0206147a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versus Mediana na Prática</a:t>
            </a:r>
            <a:endParaRPr lang="en-US" sz="2246" dirty="0"/>
          </a:p>
        </p:txBody>
      </p:sp>
      <p:sp>
        <p:nvSpPr>
          <p:cNvPr id="5" name="c55d4576-2132-4d26-9425-57fa984fc392"/>
          <p:cNvSpPr/>
          <p:nvPr/>
        </p:nvSpPr>
        <p:spPr>
          <a:xfrm>
            <a:off x="285750" y="299466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Sensível a Extremos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Salários da equipe (em milhares): 2, 2, 3, 3, 30. A média salarial resulta em 8 mil, um valor irreal que não descreve a realidade de nenhum funcionário operacional.</a:t>
            </a:r>
            <a:endParaRPr lang="en-US" sz="1544" dirty="0"/>
          </a:p>
        </p:txBody>
      </p:sp>
      <p:sp>
        <p:nvSpPr>
          <p:cNvPr id="6" name="3d6b0b40-96b2-4452-812c-1ffe3842b3d0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 Robusta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Ordenando os mesmos salários: 2, 2, [3], 3, 30. A mediana é 3 mil. Ela representa com muito mais fidelidade o perfil financeiro típico do departamento.</a:t>
            </a:r>
            <a:endParaRPr lang="en-US" sz="15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1d4c61f-69a9-4076-907b-97efa259cfe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de Média e Mediana</a:t>
            </a:r>
            <a:endParaRPr lang="en-US" sz="2246" dirty="0"/>
          </a:p>
        </p:txBody>
      </p:sp>
      <p:sp>
        <p:nvSpPr>
          <p:cNvPr id="3" name="508a511e-ab66-4e45-9741-21ee5dddff4c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atendente registrou os seguintes tempos de espera (em minutos): 4, 5, 5, 8, 18. Quais são, respectivamente, a média e a mediana desse atendimento?</a:t>
            </a:r>
            <a:endParaRPr lang="en-US" sz="1264" dirty="0"/>
          </a:p>
        </p:txBody>
      </p:sp>
      <p:sp>
        <p:nvSpPr>
          <p:cNvPr id="4" name="6514fcec-7f64-4a12-87fb-13828101a2dd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af1212bb-990b-41ce-97eb-7148fba923ff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8 minutos e Mediana 5 minutos</a:t>
            </a:r>
            <a:endParaRPr lang="en-US" sz="1264" dirty="0"/>
          </a:p>
        </p:txBody>
      </p:sp>
      <p:sp>
        <p:nvSpPr>
          <p:cNvPr id="6" name="8ff30b80-d2d0-467e-9f85-96790281a08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7df3ff5f-8236-4516-8b25-14973f398efa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10 minutos e Mediana 5 minutos</a:t>
            </a:r>
            <a:endParaRPr lang="en-US" sz="1264" dirty="0"/>
          </a:p>
        </p:txBody>
      </p:sp>
      <p:sp>
        <p:nvSpPr>
          <p:cNvPr id="8" name="8e60b7db-031d-4976-9d2b-2769799ac21a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45e765d6-7401-4c12-8ea4-891c9810276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5 minutos e Mediana 8 minutos</a:t>
            </a:r>
            <a:endParaRPr lang="en-US" sz="1264" dirty="0"/>
          </a:p>
        </p:txBody>
      </p:sp>
      <p:sp>
        <p:nvSpPr>
          <p:cNvPr id="10" name="bdd4fc97-c9d6-4934-ba66-a86187651ed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d9357956-e134-4054-b117-31ba287a472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8 minutos e Mediana 8 minutos</a:t>
            </a:r>
            <a:endParaRPr lang="en-US" sz="126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1d4c61f-69a9-4076-907b-97efa259cfe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de Média e Mediana</a:t>
            </a:r>
            <a:endParaRPr lang="en-US" sz="2246" dirty="0"/>
          </a:p>
        </p:txBody>
      </p:sp>
      <p:sp>
        <p:nvSpPr>
          <p:cNvPr id="3" name="508a511e-ab66-4e45-9741-21ee5dddff4c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atendente registrou os seguintes tempos de espera (em minutos): 4, 5, 5, 8, 18. Quais são, respectivamente, a média e a mediana desse atendimento?</a:t>
            </a:r>
            <a:endParaRPr lang="en-US" sz="1264" dirty="0"/>
          </a:p>
        </p:txBody>
      </p:sp>
      <p:sp>
        <p:nvSpPr>
          <p:cNvPr id="4" name="6514fcec-7f64-4a12-87fb-13828101a2dd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af1212bb-990b-41ce-97eb-7148fba923ff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8 minutos e Mediana 5 minutos</a:t>
            </a:r>
            <a:endParaRPr lang="en-US" sz="1264" dirty="0"/>
          </a:p>
        </p:txBody>
      </p:sp>
      <p:sp>
        <p:nvSpPr>
          <p:cNvPr id="6" name="8ff30b80-d2d0-467e-9f85-96790281a08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7df3ff5f-8236-4516-8b25-14973f398efa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10 minutos e Mediana 5 minutos</a:t>
            </a:r>
            <a:endParaRPr lang="en-US" sz="1264" dirty="0"/>
          </a:p>
        </p:txBody>
      </p:sp>
      <p:sp>
        <p:nvSpPr>
          <p:cNvPr id="8" name="8e60b7db-031d-4976-9d2b-2769799ac21a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45e765d6-7401-4c12-8ea4-891c9810276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5 minutos e Mediana 8 minutos</a:t>
            </a:r>
            <a:endParaRPr lang="en-US" sz="1264" dirty="0"/>
          </a:p>
        </p:txBody>
      </p:sp>
      <p:sp>
        <p:nvSpPr>
          <p:cNvPr id="10" name="bdd4fc97-c9d6-4934-ba66-a86187651ed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d9357956-e134-4054-b117-31ba287a472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8 minutos e Mediana 8 minutos</a:t>
            </a:r>
            <a:endParaRPr lang="en-US" sz="1264" dirty="0"/>
          </a:p>
        </p:txBody>
      </p:sp>
      <p:sp>
        <p:nvSpPr>
          <p:cNvPr id="12" name="121de55c-44bd-43a0-9ff8-64845cbe376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91756b99-569e-4edd-bacb-ca569aff1acc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7356df9-1a38-4f0a-a599-48c9b6f26cfc" descr="/home/forge/chalkie-production-workers-1/releases/77642309/backend/storage/app/render-specs/6ea86578-f70a-4e50-b1d7-6401ae353421/img_2dd7095819f08c105ff06d910dba12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ce85f4a0-b88b-485e-abb7-78b93401977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Dispersão: Variância e Desvio</a:t>
            </a:r>
            <a:endParaRPr lang="en-US" sz="2246" dirty="0"/>
          </a:p>
        </p:txBody>
      </p:sp>
      <p:sp>
        <p:nvSpPr>
          <p:cNvPr id="4" name="da7dfd7f-c74c-42b4-b335-9c1f91ff0a2e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Avaliando a Regularidade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Filiais podem ter médias iguais, mas estabilidades distintas: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Variância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Média dos desvios quadráticos da média central.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Desvio Padrão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Raiz da variância, na unidade dos dados.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Desvio menor indica processo mais consistente e previsível.</a:t>
            </a:r>
            <a:endParaRPr lang="en-US" sz="1544" dirty="0"/>
          </a:p>
        </p:txBody>
      </p:sp>
      <p:sp>
        <p:nvSpPr>
          <p:cNvPr id="5" name="dc9f809a-af7a-4942-92e8-b3199b689bc2_card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dc9f809a-af7a-4942-92e8-b3199b689bc2_emoji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dc9f809a-af7a-4942-92e8-b3199b689bc2_text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controle, desvio padrão baixo indica padronização fabril.</a:t>
            </a:r>
            <a:endParaRPr lang="en-US" sz="112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fb185aa-7782-4154-975c-de3754d2e81e" descr="/home/forge/chalkie-production-workers-1/releases/77642309/backend/storage/app/render-specs/6ea86578-f70a-4e50-b1d7-6401ae353421/img_917125e0bf9c6eae886ad2aeb3fbb9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52918716-d3c2-4c39-ae22-54c64cd341fc" descr="/home/forge/chalkie-production-workers-1/releases/77642309/backend/storage/app/render-specs/6ea86578-f70a-4e50-b1d7-6401ae353421/img_88d2b409dd624a31f767e61ded124a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3599bf4-92fd-4313-a3fa-81713aef1d9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Comparando Fornecedores</a:t>
            </a:r>
            <a:endParaRPr lang="en-US" sz="2246" dirty="0"/>
          </a:p>
        </p:txBody>
      </p:sp>
      <p:sp>
        <p:nvSpPr>
          <p:cNvPr id="5" name="be6f0200-7bc1-40eb-8a7a-69296f0c867a"/>
          <p:cNvSpPr/>
          <p:nvPr/>
        </p:nvSpPr>
        <p:spPr>
          <a:xfrm>
            <a:off x="285750" y="299466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Fornecedor Alfa (Alta Confiabilidade)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de entrega: 10 dias úteis. Desvio padrão: 0,3 dias. A produção pode planejar compras com segurança e estoques mínimos enxutos.</a:t>
            </a:r>
            <a:endParaRPr lang="en-US" sz="1544" dirty="0"/>
          </a:p>
        </p:txBody>
      </p:sp>
      <p:sp>
        <p:nvSpPr>
          <p:cNvPr id="6" name="12a67846-3ece-4618-97fb-7318f13ca127"/>
          <p:cNvSpPr/>
          <p:nvPr/>
        </p:nvSpPr>
        <p:spPr>
          <a:xfrm>
            <a:off x="4652010" y="299466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Fornecedor Beta (Alta Volatilidade)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de entrega: 10 dias úteis. Desvio padrão: 4,8 dias. As oscilações severas exigem estoques de segurança caros para evitar paradas na linha.</a:t>
            </a:r>
            <a:endParaRPr lang="en-US" sz="154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024d44e-a36c-4efc-89e2-2b76a86c45a1" descr="/home/forge/chalkie-production-workers-1/releases/77642309/backend/storage/app/render-specs/6ea86578-f70a-4e50-b1d7-6401ae353421/img_a291bf8a6196e098d5e93013c60eb4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db46e4f-eef9-4637-b7c8-14a4651003e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Previsões com Progressão Aritmética</a:t>
            </a:r>
            <a:endParaRPr lang="en-US" sz="2246" dirty="0"/>
          </a:p>
        </p:txBody>
      </p:sp>
      <p:sp>
        <p:nvSpPr>
          <p:cNvPr id="4" name="a3fbb547-a787-41e1-ace7-6bd8783e2858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Crescimento Linear Constante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cada termo soma uma razão 'r' ao anterior: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Fórmula: a(n) = a(1) + (n − 1) · r.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 metas de expansão com acréscimo fixo.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Projeta custos fixos por novas contratações.</a:t>
            </a:r>
            <a:endParaRPr lang="en-US" sz="1544" dirty="0"/>
          </a:p>
        </p:txBody>
      </p:sp>
      <p:sp>
        <p:nvSpPr>
          <p:cNvPr id="5" name="cfa964e7-bf6c-4bdf-8be5-472ff0b73aca_card"/>
          <p:cNvSpPr/>
          <p:nvPr/>
        </p:nvSpPr>
        <p:spPr>
          <a:xfrm>
            <a:off x="285750" y="35090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cfa964e7-bf6c-4bdf-8be5-472ff0b73aca_emoji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cfa964e7-bf6c-4bdf-8be5-472ff0b73aca_text"/>
          <p:cNvSpPr/>
          <p:nvPr/>
        </p:nvSpPr>
        <p:spPr>
          <a:xfrm>
            <a:off x="765810" y="36233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Produção inicial 1.200, cresce 150/mês. No mês 6: 1.200 + 5 · 150 = 1.950 peças.</a:t>
            </a:r>
            <a:endParaRPr lang="en-US" sz="112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a488a68-d953-4397-8f1a-0f164bf320d6" descr="/home/forge/chalkie-production-workers-1/releases/77642309/backend/storage/app/render-specs/6ea86578-f70a-4e50-b1d7-6401ae353421/img_17bc37c7e508e622b8f77b31da8283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c9ec8cb-b41b-4afd-9a3b-afbe1fc1856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Previsões com Progressão Geométrica</a:t>
            </a:r>
            <a:endParaRPr lang="en-US" sz="2246" dirty="0"/>
          </a:p>
        </p:txBody>
      </p:sp>
      <p:sp>
        <p:nvSpPr>
          <p:cNvPr id="4" name="1e67820b-45b1-4ce0-afe3-8636159ab9f5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Crescimento Exponencial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PG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cada valor é o anterior vezes uma razão q: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Termo Geral: a(n) = a(1) · q^(n − 1).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Modela receitas, inflação e adoção de produtos.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Cresce mais rápido que progressões lineares.</a:t>
            </a:r>
            <a:endParaRPr lang="en-US" sz="1544" dirty="0"/>
          </a:p>
        </p:txBody>
      </p:sp>
      <p:sp>
        <p:nvSpPr>
          <p:cNvPr id="5" name="52ff091d-4b18-422e-a5ae-42f008fdcdff_card"/>
          <p:cNvSpPr/>
          <p:nvPr/>
        </p:nvSpPr>
        <p:spPr>
          <a:xfrm>
            <a:off x="4286250" y="35090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52ff091d-4b18-422e-a5ae-42f008fdcdff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52ff091d-4b18-422e-a5ae-42f008fdcdff_text"/>
          <p:cNvSpPr/>
          <p:nvPr/>
        </p:nvSpPr>
        <p:spPr>
          <a:xfrm>
            <a:off x="4766310" y="36233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Custos em PG descontrolados desequilibram o caixa rapidamente.</a:t>
            </a:r>
            <a:endParaRPr lang="en-US" sz="112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87bd539-2d69-4ba5-8084-38a366011817" descr="/home/forge/chalkie-production-workers-1/releases/77642309/backend/storage/app/render-specs/6ea86578-f70a-4e50-b1d7-6401ae353421/img_646e5ce001de4c4216e5c83b63bff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e4f2e85-57a6-4658-887c-434e73c7343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Estudo de Caso: Expansão da LogSul</a:t>
            </a:r>
            <a:endParaRPr lang="en-US" sz="2246" dirty="0"/>
          </a:p>
        </p:txBody>
      </p:sp>
      <p:sp>
        <p:nvSpPr>
          <p:cNvPr id="4" name="25ac0204-fc3d-4df5-ab21-20d0318e3d05"/>
          <p:cNvSpPr/>
          <p:nvPr/>
        </p:nvSpPr>
        <p:spPr>
          <a:xfrm>
            <a:off x="285750" y="800100"/>
            <a:ext cx="45720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Desafio Operacional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LogSul transportou 2.000 toneladas no 1º mês e planeja crescer 10% ao mês (PG com q=1,10). Sua frota de 10 caminhões consome 15.000 litros de diesel em rotas de 3.000 km. A diretoria precisa estimar combustível, novas cargas e a viabilidade dos prazos de entrega.</a:t>
            </a:r>
            <a:endParaRPr lang="en-US" sz="1544" dirty="0"/>
          </a:p>
        </p:txBody>
      </p:sp>
      <p:sp>
        <p:nvSpPr>
          <p:cNvPr id="5" name="52ee2224-12f2-4a66-a070-407f5a1a01a3_card"/>
          <p:cNvSpPr/>
          <p:nvPr/>
        </p:nvSpPr>
        <p:spPr>
          <a:xfrm>
            <a:off x="285750" y="32689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52ee2224-12f2-4a66-a070-407f5a1a01a3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52ee2224-12f2-4a66-a070-407f5a1a01a3_text"/>
          <p:cNvSpPr/>
          <p:nvPr/>
        </p:nvSpPr>
        <p:spPr>
          <a:xfrm>
            <a:off x="765810" y="33832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Unir porcentagem, proporções e estatística é vital para orçamentos consistentes.</a:t>
            </a:r>
            <a:endParaRPr lang="en-US" sz="112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c078108-0ac2-4071-82ca-43db3566dd5f" descr="/home/forge/chalkie-production-workers-1/releases/77642309/backend/storage/app/render-specs/6ea86578-f70a-4e50-b1d7-6401ae353421/img_97b3bce480bedb5bb1c74d4c78a788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4808f517-44b8-46e7-bd3a-d9e94f01c7fa" descr="/home/forge/chalkie-production-workers-1/releases/77642309/backend/storage/app/render-specs/6ea86578-f70a-4e50-b1d7-6401ae353421/img_cb12f0c5e9a62d148ba941ea3897f3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cdc3b94-80aa-44dc-9f92-10856c7a04c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Resolução Integrada do Caso</a:t>
            </a:r>
            <a:endParaRPr lang="en-US" sz="2246" dirty="0"/>
          </a:p>
        </p:txBody>
      </p:sp>
      <p:sp>
        <p:nvSpPr>
          <p:cNvPr id="5" name="cc01acc3-cfe8-422b-9693-b9d8417da89c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Projeção de Carga (PG)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Mês 1: 2.000 t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Mês 2: 2.200 t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Mês 3: 2.420 t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Crescimento total de 21%.</a:t>
            </a:r>
            <a:endParaRPr lang="en-US" sz="1544" dirty="0"/>
          </a:p>
        </p:txBody>
      </p:sp>
      <p:sp>
        <p:nvSpPr>
          <p:cNvPr id="6" name="142aa596-7aeb-49e0-9407-85da771d4ea9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Consumo de Diesel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10 caminhões usam 15.000 L. Com 15 caminhões nas mesmas rotas: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(15/10) × 15.000 L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22.500 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 diesel necessários.</a:t>
            </a:r>
            <a:endParaRPr lang="en-US" sz="154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2581d2d-db97-4fab-8f02-b1bea092706d" descr="/home/forge/chalkie-production-workers-1/releases/77642309/backend/storage/app/render-specs/6ea86578-f70a-4e50-b1d7-6401ae353421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356835e4-c60f-4019-986e-6046aad10f91" descr="/home/forge/chalkie-production-workers-1/releases/77642309/backend/storage/app/render-specs/6ea86578-f70a-4e50-b1d7-6401ae353421/img_3ec60246d9061703f7cdac91b8f61f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2fed9804-5bd0-403f-95b7-a12014be80f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 Gerencial de Contratação</a:t>
            </a:r>
            <a:endParaRPr lang="en-US" sz="2246" dirty="0"/>
          </a:p>
        </p:txBody>
      </p:sp>
      <p:sp>
        <p:nvSpPr>
          <p:cNvPr id="5" name="0fef24b8-9c73-42df-8c0f-f2d8881c35a5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LogSul deve optar por um transportador autônomo com média de 5 dias e desvio de 3, ou frota dedicada com média de 6 dias e desvio de 0,4 para urgências?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2581d2d-db97-4fab-8f02-b1bea092706d" descr="/home/forge/chalkie-production-workers-1/releases/77642309/backend/storage/app/render-specs/6ea86578-f70a-4e50-b1d7-6401ae353421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2fed9804-5bd0-403f-95b7-a12014be80f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 Gerencial de Contratação</a:t>
            </a:r>
            <a:endParaRPr lang="en-US" sz="2246" dirty="0"/>
          </a:p>
        </p:txBody>
      </p:sp>
      <p:sp>
        <p:nvSpPr>
          <p:cNvPr id="4" name="a0cc8842-898f-40c0-8c93-032a6faa1b87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frota dedicada é ideal para prazos rígidos, com desvio de 0,4 dias, garantindo entregas entre 5,6 e 6,4 dias úteis.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autônomo tem média de 5 dias, mas o desvio de 3 dias gera entregas de 2 a 8 dias, elevando o risco de ruptura.</a:t>
            </a:r>
            <a:endParaRPr lang="en-US" sz="1264" dirty="0"/>
          </a:p>
        </p:txBody>
      </p:sp>
      <p:sp>
        <p:nvSpPr>
          <p:cNvPr id="5" name="a2cd8c39-acff-45fe-96b9-38d23af674b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c3f6c55-c62b-4327-8da5-c18bc4c25c47" descr="/home/forge/chalkie-production-workers-1/releases/77642309/backend/storage/app/render-specs/6ea86578-f70a-4e50-b1d7-6401ae353421/img_9b9d1a7ce58fa329cfc908bd062b6b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5717c36f-12c7-4419-b0a3-773736df63d1"/>
          <p:cNvSpPr/>
          <p:nvPr/>
        </p:nvSpPr>
        <p:spPr>
          <a:xfrm>
            <a:off x="285750" y="1943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dos Fundamentos</a:t>
            </a:r>
            <a:endParaRPr lang="en-US" sz="2246" dirty="0"/>
          </a:p>
        </p:txBody>
      </p:sp>
      <p:sp>
        <p:nvSpPr>
          <p:cNvPr id="4" name="8ea1041a-385a-47e1-82da-aa093218d3e8"/>
          <p:cNvSpPr/>
          <p:nvPr/>
        </p:nvSpPr>
        <p:spPr>
          <a:xfrm>
            <a:off x="285750" y="82296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Aprendemos Hoje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Dominamos ferramentas quantitativas para análise de dados: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Conjuntos numéricos e balanço de estoque.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Desempenho via razões, proporções e regra de três.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Porcentagem, margens e variações comerciais.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Interpretação de medidas centrais e dispersão.</a:t>
            </a:r>
            <a:endParaRPr lang="en-US" sz="1544" dirty="0"/>
          </a:p>
        </p:txBody>
      </p:sp>
      <p:sp>
        <p:nvSpPr>
          <p:cNvPr id="5" name="c33e1c7b-e5c2-486a-a11d-25d4e57f72b7_card"/>
          <p:cNvSpPr/>
          <p:nvPr/>
        </p:nvSpPr>
        <p:spPr>
          <a:xfrm>
            <a:off x="285750" y="358902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c33e1c7b-e5c2-486a-a11d-25d4e57f72b7_emoji"/>
          <p:cNvSpPr/>
          <p:nvPr/>
        </p:nvSpPr>
        <p:spPr>
          <a:xfrm>
            <a:off x="400050" y="37376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c33e1c7b-e5c2-486a-a11d-25d4e57f72b7_text"/>
          <p:cNvSpPr/>
          <p:nvPr/>
        </p:nvSpPr>
        <p:spPr>
          <a:xfrm>
            <a:off x="765810" y="370332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organizados são a base de dashboards profissionais.</a:t>
            </a:r>
            <a:endParaRPr lang="en-US" sz="112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ad7c154-7e48-4f1c-93c6-f3e4f430218b" descr="/home/forge/chalkie-production-workers-1/releases/77642309/backend/storage/app/render-specs/6ea86578-f70a-4e50-b1d7-6401ae353421/img_74db676abbf9321227487417a15623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b6dcb044-0465-4a60-9e1a-2baed51d249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Avaliação 1: Prova Escrita</a:t>
            </a:r>
            <a:endParaRPr lang="en-US" sz="2246" dirty="0"/>
          </a:p>
        </p:txBody>
      </p:sp>
      <p:sp>
        <p:nvSpPr>
          <p:cNvPr id="4" name="d5a2f261-430f-4c9e-9967-46568fa85dfa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lote de 500 peças teve acréscimo de 15% e depois sofreu desconto comercial de 10%. Qual é o fator multiplicador final combinado?</a:t>
            </a:r>
            <a:endParaRPr lang="en-US" sz="1264" dirty="0"/>
          </a:p>
        </p:txBody>
      </p:sp>
      <p:sp>
        <p:nvSpPr>
          <p:cNvPr id="5" name="2bbba9e0-dd4e-4f40-9e92-3e08454bec07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medida de tendência central não é distorcida quando surge um valor discrepante extremo na amostra?</a:t>
            </a:r>
            <a:endParaRPr lang="en-US" sz="1264" dirty="0"/>
          </a:p>
        </p:txBody>
      </p:sp>
      <p:sp>
        <p:nvSpPr>
          <p:cNvPr id="6" name="0fb3654c-5880-4e89-9234-5289d9b295d1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uma PG com primeiro termo 50 e razão 2, qual é o valor do quarto termo da sequência?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6dcb044-0465-4a60-9e1a-2baed51d249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Avaliação 1: Prova Escrita</a:t>
            </a:r>
            <a:endParaRPr lang="en-US" sz="2246" dirty="0"/>
          </a:p>
        </p:txBody>
      </p:sp>
      <p:sp>
        <p:nvSpPr>
          <p:cNvPr id="3" name="ab7cc64c-5df1-4590-b8aa-4edc0d3e5960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1,035 (obtido por 1,15 multiplicado por 0,90).</a:t>
            </a:r>
            <a:endParaRPr lang="en-US" sz="1264" dirty="0"/>
          </a:p>
        </p:txBody>
      </p:sp>
      <p:sp>
        <p:nvSpPr>
          <p:cNvPr id="4" name="d049641a-d5b1-4c0f-831f-81150fca2791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Mediana.</a:t>
            </a:r>
            <a:endParaRPr lang="en-US" sz="1264" dirty="0"/>
          </a:p>
        </p:txBody>
      </p:sp>
      <p:sp>
        <p:nvSpPr>
          <p:cNvPr id="5" name="7f004567-cc3f-4f2a-b956-e30160f0385d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400 (calculado por 50 multiplicado por 2 elevado ao cubo, que é 50 x 8).</a:t>
            </a:r>
            <a:endParaRPr lang="en-US" sz="1264" dirty="0"/>
          </a:p>
        </p:txBody>
      </p:sp>
      <p:sp>
        <p:nvSpPr>
          <p:cNvPr id="6" name="1f6ea97a-df22-48df-8f73-4a44af93108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05b7824-dddc-424f-bf3e-34b8fa982dd7" descr="/home/forge/chalkie-production-workers-1/releases/77642309/backend/storage/app/render-specs/6ea86578-f70a-4e50-b1d7-6401ae353421/img_ecbc5604e1d604510cbbdc805f3f1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7bd57a52-7350-4964-9f7c-3bf0f5181f12"/>
          <p:cNvSpPr/>
          <p:nvPr/>
        </p:nvSpPr>
        <p:spPr>
          <a:xfrm>
            <a:off x="285750" y="34290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Próxima Etapa: Excel Básico</a:t>
            </a:r>
            <a:endParaRPr lang="en-US" sz="2246" dirty="0"/>
          </a:p>
        </p:txBody>
      </p:sp>
      <p:sp>
        <p:nvSpPr>
          <p:cNvPr id="4" name="39cb6e39-046f-4fcd-bc0d-255f94e683d1"/>
          <p:cNvSpPr/>
          <p:nvPr/>
        </p:nvSpPr>
        <p:spPr>
          <a:xfrm>
            <a:off x="285750" y="97155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Preparação para a Aula 2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próxima aula, levaremos estes modelos matemáticos para planilhas: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Estruturação de pastas e navegação funcional.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Fórmulas e funções essenciais (SOMA, MÉDIA, SE).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de moedas, decimais e percentuais.</a:t>
            </a:r>
            <a:endParaRPr lang="en-US" sz="1544" dirty="0"/>
          </a:p>
        </p:txBody>
      </p:sp>
      <p:sp>
        <p:nvSpPr>
          <p:cNvPr id="5" name="381e5672-d895-493c-9eed-67d09f76d89f_card"/>
          <p:cNvSpPr/>
          <p:nvPr/>
        </p:nvSpPr>
        <p:spPr>
          <a:xfrm>
            <a:off x="285750" y="342900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381e5672-d895-493c-9eed-67d09f76d89f_emoji"/>
          <p:cNvSpPr/>
          <p:nvPr/>
        </p:nvSpPr>
        <p:spPr>
          <a:xfrm>
            <a:off x="400050" y="35775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381e5672-d895-493c-9eed-67d09f76d89f_text"/>
          <p:cNvSpPr/>
          <p:nvPr/>
        </p:nvSpPr>
        <p:spPr>
          <a:xfrm>
            <a:off x="765810" y="354330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Automação em planilhas elimina cálculos manuais repetitivos na gestão.</a:t>
            </a:r>
            <a:endParaRPr lang="en-US" sz="112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2468</Words>
  <Application>Microsoft Office PowerPoint</Application>
  <PresentationFormat>Apresentação no Ecrã (16:9)</PresentationFormat>
  <Paragraphs>353</Paragraphs>
  <Slides>41</Slides>
  <Notes>41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4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Aplicada à Gestão</dc:title>
  <dc:subject>PptxGenJS Presentation</dc:subject>
  <dc:creator>PptxGenJS</dc:creator>
  <cp:lastModifiedBy>Gelvazio Camargo - HOTMAIL</cp:lastModifiedBy>
  <cp:revision>3</cp:revision>
  <dcterms:created xsi:type="dcterms:W3CDTF">2026-09-14T12:52:05Z</dcterms:created>
  <dcterms:modified xsi:type="dcterms:W3CDTF">2026-09-14T16:46:52Z</dcterms:modified>
</cp:coreProperties>
</file>