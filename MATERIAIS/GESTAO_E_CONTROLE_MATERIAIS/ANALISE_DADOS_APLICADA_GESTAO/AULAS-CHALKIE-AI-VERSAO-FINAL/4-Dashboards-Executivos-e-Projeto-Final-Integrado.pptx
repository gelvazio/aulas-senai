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embeddedFontLst>
    <p:embeddedFont>
      <p:font typeface="Dyslexie" panose="020B0604020202020204" charset="0"/>
      <p:regular r:id="rId44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00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4f395e3-49ec-4405-bd1c-ef3b0ae9b56b" descr="/home/forge/chalkie-production-workers-3/releases/77653614/backend/storage/app/render-specs/b9b9c656-df7a-4021-a19e-49cf29f58202/img_02f1b262418cc0001c10dbee307bed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f3e880c3-e876-4f24-9243-87b1889733bb"/>
          <p:cNvSpPr/>
          <p:nvPr/>
        </p:nvSpPr>
        <p:spPr>
          <a:xfrm>
            <a:off x="4914900" y="99441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Dashboards Executivos e Projeto Final Integrado</a:t>
            </a:r>
            <a:endParaRPr lang="en-US" sz="2527" dirty="0"/>
          </a:p>
        </p:txBody>
      </p:sp>
      <p:sp>
        <p:nvSpPr>
          <p:cNvPr id="4" name="d53982d9-de8c-402c-b21a-38dc56aa51a7"/>
          <p:cNvSpPr/>
          <p:nvPr/>
        </p:nvSpPr>
        <p:spPr>
          <a:xfrm>
            <a:off x="4914900" y="321183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Análise de Dados Aplicada à Gestão: Aula 4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f5fdb01-22a4-49e6-bf92-6fea21bfb18d" descr="/home/forge/chalkie-production-workers-3/releases/77653614/backend/storage/app/render-specs/b9b9c656-df7a-4021-a19e-49cf29f58202/img_6f450fe6b826c79a8d759019326d8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2e78899c-0b7e-46a2-9eef-eb38697c4c2c"/>
          <p:cNvSpPr/>
          <p:nvPr/>
        </p:nvSpPr>
        <p:spPr>
          <a:xfrm>
            <a:off x="285750" y="144018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Decisões em Segundos ou Horas?</a:t>
            </a:r>
            <a:endParaRPr lang="en-US" sz="2246" dirty="0"/>
          </a:p>
        </p:txBody>
      </p:sp>
      <p:sp>
        <p:nvSpPr>
          <p:cNvPr id="4" name="aaa72feb-c56d-4f06-ab6f-0921a276eea7"/>
          <p:cNvSpPr/>
          <p:nvPr/>
        </p:nvSpPr>
        <p:spPr>
          <a:xfrm>
            <a:off x="285750" y="25260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gestor precisa tomar uma decisão urgente, ele prefere analisar 10.000 linhas de planilha ou olhar para uma única tela intuitiva?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e34ef0d-b35d-410c-ba4a-bae8a011114c" descr="/home/forge/chalkie-production-workers-3/releases/77653614/backend/storage/app/render-specs/b9b9c656-df7a-4021-a19e-49cf29f58202/img_85fe93f8cee09fb80cc08041d34ebb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9ad966d2-d3f6-4a68-93de-1341c28a96b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Aula de Hoje</a:t>
            </a:r>
            <a:endParaRPr lang="en-US" sz="2246" dirty="0"/>
          </a:p>
        </p:txBody>
      </p:sp>
      <p:sp>
        <p:nvSpPr>
          <p:cNvPr id="4" name="6b1abe8e-84de-4ce1-982a-faba4d4b3899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 consolidamos todo o curso integrando análise matemática e design profissional: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Compreender princípios de design visual e métricas de desempenho.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Construir dashboards interativos no Excel com segmentadores conectados.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Desenvolver e defender o Projeto Final Integrado em equipe.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f7228c6-2338-4b30-9f08-39818a3d95a0" descr="/home/forge/chalkie-production-workers-3/releases/77653614/backend/storage/app/render-specs/b9b9c656-df7a-4021-a19e-49cf29f58202/img_4e10d68f186c8f6b8208fa0cf2d078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bea18c36-0de3-40ca-8bf4-da13c4099367" descr="/home/forge/chalkie-production-workers-3/releases/77653614/backend/storage/app/render-specs/b9b9c656-df7a-4021-a19e-49cf29f58202/img_f6cacbfb450648b7504780a2707a40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656bb11d-1491-4063-8e65-1e10e3fd2205" descr="/home/forge/chalkie-production-workers-3/releases/77653614/backend/storage/app/render-specs/b9b9c656-df7a-4021-a19e-49cf29f58202/img_3aa4d4f00498db4ef1ffebbed9333a8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a8f14e8e-edab-4c7c-92ec-eb2e3561af6b" descr="/home/forge/chalkie-production-workers-3/releases/77653614/backend/storage/app/render-specs/b9b9c656-df7a-4021-a19e-49cf29f58202/img_e743f98b2ac89c985be59084502f71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2b5bde6b-5b61-4c87-82ee-d986bb1d8ce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 de Dados</a:t>
            </a:r>
            <a:endParaRPr lang="en-US" sz="2246" dirty="0"/>
          </a:p>
        </p:txBody>
      </p:sp>
      <p:sp>
        <p:nvSpPr>
          <p:cNvPr id="7" name="d761ba34-813d-4218-bd6f-20223d8ad349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Painel visual com métricas e gráficos para decisão rápida.</a:t>
            </a:r>
            <a:endParaRPr lang="en-US" sz="1264" dirty="0"/>
          </a:p>
        </p:txBody>
      </p:sp>
      <p:sp>
        <p:nvSpPr>
          <p:cNvPr id="8" name="8750d6b8-654c-47a1-90d1-2b65e817fef6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KPI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Indicador que quantifica o progresso em metas estratégicas.</a:t>
            </a:r>
            <a:endParaRPr lang="en-US" sz="1264" dirty="0"/>
          </a:p>
        </p:txBody>
      </p:sp>
      <p:sp>
        <p:nvSpPr>
          <p:cNvPr id="9" name="d8a264a2-e3ef-41e2-8fac-3c24b72cd58e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Layout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Organização espacial dos blocos para navegação intuitiva.</a:t>
            </a:r>
            <a:endParaRPr lang="en-US" sz="1264" dirty="0"/>
          </a:p>
        </p:txBody>
      </p:sp>
      <p:sp>
        <p:nvSpPr>
          <p:cNvPr id="10" name="ee6499bc-0a7d-4d6c-a87e-8fdee1338a55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Storytelling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Narrativa com dados para evidenciar problemas e soluções.</a:t>
            </a:r>
            <a:endParaRPr lang="en-US" sz="12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25c962d-8e5c-4518-bd0e-38234995f0d8" descr="/home/forge/chalkie-production-workers-3/releases/77653614/backend/storage/app/render-specs/b9b9c656-df7a-4021-a19e-49cf29f58202/img_766ab7246d59fca87d38a8ca467b31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6afd9e08-edf5-401e-9194-a4d37af09cfb"/>
          <p:cNvSpPr/>
          <p:nvPr/>
        </p:nvSpPr>
        <p:spPr>
          <a:xfrm>
            <a:off x="3714750" y="56007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Revisão: O que Construímos na Aula 3</a:t>
            </a:r>
            <a:endParaRPr lang="en-US" sz="2246" dirty="0"/>
          </a:p>
        </p:txBody>
      </p:sp>
      <p:sp>
        <p:nvSpPr>
          <p:cNvPr id="4" name="284a45de-c3ef-4005-b3b6-6f7ed2529ccd"/>
          <p:cNvSpPr/>
          <p:nvPr/>
        </p:nvSpPr>
        <p:spPr>
          <a:xfrm>
            <a:off x="3714750" y="164592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aula anterior, vimos ferramentas essenciais: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PROCV/PROCH: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Busca em grandes bases.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Tabelas Dinâmicas: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Resumos automáticos.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Dinâmicos: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Visualização de cálculos.</a:t>
            </a:r>
            <a:endParaRPr lang="en-US" sz="1264" dirty="0"/>
          </a:p>
        </p:txBody>
      </p:sp>
      <p:sp>
        <p:nvSpPr>
          <p:cNvPr id="5" name="13400c48-af46-486e-b925-d879065f4dc4_card"/>
          <p:cNvSpPr/>
          <p:nvPr/>
        </p:nvSpPr>
        <p:spPr>
          <a:xfrm>
            <a:off x="3714750" y="321183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13400c48-af46-486e-b925-d879065f4dc4_emoji"/>
          <p:cNvSpPr/>
          <p:nvPr/>
        </p:nvSpPr>
        <p:spPr>
          <a:xfrm>
            <a:off x="3829050" y="33604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13400c48-af46-486e-b925-d879065f4dc4_text"/>
          <p:cNvSpPr/>
          <p:nvPr/>
        </p:nvSpPr>
        <p:spPr>
          <a:xfrm>
            <a:off x="4194810" y="332613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sem tabelas estruturadas ficam obsoletos.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399ec01-890c-44d1-83ce-138c0df6c22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Aquecimento: Revisão de PROCV</a:t>
            </a:r>
            <a:endParaRPr lang="en-US" sz="2246" dirty="0"/>
          </a:p>
        </p:txBody>
      </p:sp>
      <p:sp>
        <p:nvSpPr>
          <p:cNvPr id="3" name="4ff114e4-7bf0-4fa1-9144-97384ce6f80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uma planilha de vendas, qual função busca automaticamente o preço unitário de um produto a partir de seu código em outra tabela?</a:t>
            </a:r>
            <a:endParaRPr lang="en-US" sz="1264" dirty="0"/>
          </a:p>
        </p:txBody>
      </p:sp>
      <p:sp>
        <p:nvSpPr>
          <p:cNvPr id="4" name="7ff07904-2a8e-46a8-aa75-7fb4775a66c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3be35924-64c8-43c6-994b-a897e08875d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CONT.SE</a:t>
            </a:r>
            <a:endParaRPr lang="en-US" sz="1264" dirty="0"/>
          </a:p>
        </p:txBody>
      </p:sp>
      <p:sp>
        <p:nvSpPr>
          <p:cNvPr id="6" name="eb12a868-04bd-48d1-99a4-e4fe5750c48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224c926a-d476-42d4-b212-222848ded2fb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</a:t>
            </a:r>
            <a:endParaRPr lang="en-US" sz="1264" dirty="0"/>
          </a:p>
        </p:txBody>
      </p:sp>
      <p:sp>
        <p:nvSpPr>
          <p:cNvPr id="8" name="d9002862-9abd-42d7-a97c-7619d263c30f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d609c97-ec11-4eca-bbd0-4524caff74f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SOMASE</a:t>
            </a:r>
            <a:endParaRPr lang="en-US" sz="1264" dirty="0"/>
          </a:p>
        </p:txBody>
      </p:sp>
      <p:sp>
        <p:nvSpPr>
          <p:cNvPr id="10" name="cc981236-91a3-4138-84df-a6d01996bc6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52d9f1b-7fd4-4ea6-915a-ec7d5f43b00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</a:t>
            </a:r>
            <a:endParaRPr lang="en-US" sz="126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399ec01-890c-44d1-83ce-138c0df6c22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Aquecimento: Revisão de PROCV</a:t>
            </a:r>
            <a:endParaRPr lang="en-US" sz="2246" dirty="0"/>
          </a:p>
        </p:txBody>
      </p:sp>
      <p:sp>
        <p:nvSpPr>
          <p:cNvPr id="3" name="4ff114e4-7bf0-4fa1-9144-97384ce6f80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uma planilha de vendas, qual função busca automaticamente o preço unitário de um produto a partir de seu código em outra tabela?</a:t>
            </a:r>
            <a:endParaRPr lang="en-US" sz="1264" dirty="0"/>
          </a:p>
        </p:txBody>
      </p:sp>
      <p:sp>
        <p:nvSpPr>
          <p:cNvPr id="4" name="7ff07904-2a8e-46a8-aa75-7fb4775a66c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3be35924-64c8-43c6-994b-a897e08875d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CONT.SE</a:t>
            </a:r>
            <a:endParaRPr lang="en-US" sz="1264" dirty="0"/>
          </a:p>
        </p:txBody>
      </p:sp>
      <p:sp>
        <p:nvSpPr>
          <p:cNvPr id="6" name="eb12a868-04bd-48d1-99a4-e4fe5750c48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224c926a-d476-42d4-b212-222848ded2fb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</a:t>
            </a:r>
            <a:endParaRPr lang="en-US" sz="1264" dirty="0"/>
          </a:p>
        </p:txBody>
      </p:sp>
      <p:sp>
        <p:nvSpPr>
          <p:cNvPr id="8" name="d9002862-9abd-42d7-a97c-7619d263c30f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d609c97-ec11-4eca-bbd0-4524caff74f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SOMASE</a:t>
            </a:r>
            <a:endParaRPr lang="en-US" sz="1264" dirty="0"/>
          </a:p>
        </p:txBody>
      </p:sp>
      <p:sp>
        <p:nvSpPr>
          <p:cNvPr id="10" name="cc981236-91a3-4138-84df-a6d01996bc6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52d9f1b-7fd4-4ea6-915a-ec7d5f43b00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MÉDIA</a:t>
            </a:r>
            <a:endParaRPr lang="en-US" sz="1264" dirty="0"/>
          </a:p>
        </p:txBody>
      </p:sp>
      <p:sp>
        <p:nvSpPr>
          <p:cNvPr id="12" name="301df38f-bf0a-4033-96e9-8b6612667c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a4934036-7f9f-457d-92c2-b5e671deaa29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f631c3a-0ef2-4941-890f-3a0480b7df02" descr="/home/forge/chalkie-production-workers-3/releases/77653614/backend/storage/app/render-specs/b9b9c656-df7a-4021-a19e-49cf29f58202/img_91f45e756dde68833e7722bae9e0c8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e2d4f1d7-5993-41bb-9c49-1b8412cc2f5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um Dashboard Executivo?</a:t>
            </a:r>
            <a:endParaRPr lang="en-US" sz="2246" dirty="0"/>
          </a:p>
        </p:txBody>
      </p:sp>
      <p:sp>
        <p:nvSpPr>
          <p:cNvPr id="4" name="74d27143-9584-4a29-b2bb-3a9ced41f3f2"/>
          <p:cNvSpPr/>
          <p:nvPr/>
        </p:nvSpPr>
        <p:spPr>
          <a:xfrm>
            <a:off x="285750" y="800100"/>
            <a:ext cx="4572000" cy="268376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 executivo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uma central de comando visual. Em vez de relatórios estáticos em papel com dezenas de páginas, ele reúne os dados mais cruciais em uma única tela interativa.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Seu propósito central é fornecer clareza imediata para gestores responderem: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estamos atingindo nossas metas de vendas, estoque ou custo?</a:t>
            </a:r>
            <a:endParaRPr lang="en-US" sz="1264" dirty="0"/>
          </a:p>
        </p:txBody>
      </p:sp>
      <p:sp>
        <p:nvSpPr>
          <p:cNvPr id="5" name="fee1e2ab-a7c6-433d-a211-8578e79340ab_card"/>
          <p:cNvSpPr/>
          <p:nvPr/>
        </p:nvSpPr>
        <p:spPr>
          <a:xfrm>
            <a:off x="285750" y="346329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fee1e2ab-a7c6-433d-a211-8578e79340ab_emoji"/>
          <p:cNvSpPr/>
          <p:nvPr/>
        </p:nvSpPr>
        <p:spPr>
          <a:xfrm>
            <a:off x="400050" y="36118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fee1e2ab-a7c6-433d-a211-8578e79340ab_text"/>
          <p:cNvSpPr/>
          <p:nvPr/>
        </p:nvSpPr>
        <p:spPr>
          <a:xfrm>
            <a:off x="765810" y="357759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dashboard de alto impacto deve ser lido e compreendido em menos de 10 segundos.</a:t>
            </a:r>
            <a:endParaRPr lang="en-US" sz="11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66a60c0-8203-43ef-91ed-96785968e66d" descr="/home/forge/chalkie-production-workers-3/releases/77653614/backend/storage/app/render-specs/b9b9c656-df7a-4021-a19e-49cf29f58202/img_b387949160809e9ec3aff690410193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cf2e4397-4d83-4a48-896b-445a1e3e4fdd" descr="/home/forge/chalkie-production-workers-3/releases/77653614/backend/storage/app/render-specs/b9b9c656-df7a-4021-a19e-49cf29f58202/img_f5204f1922418b3cd1316b2ace3759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7f1e6a95-cb0e-460b-ac0d-15a983b853aa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Definindo o Público e Contexto</a:t>
            </a:r>
            <a:endParaRPr lang="en-US" sz="2246" dirty="0"/>
          </a:p>
        </p:txBody>
      </p:sp>
      <p:sp>
        <p:nvSpPr>
          <p:cNvPr id="5" name="22852695-b810-49c6-ab0e-9f72091b00de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Nível Estratégico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Diretores e executivos precisam de visão ampla, totais consolidados, metas macro e indicadores de risco global em poucos cartões diretos.</a:t>
            </a:r>
            <a:endParaRPr lang="en-US" sz="1544" dirty="0"/>
          </a:p>
        </p:txBody>
      </p:sp>
      <p:sp>
        <p:nvSpPr>
          <p:cNvPr id="6" name="b21594fe-0adf-42c1-a31e-0ba79824d448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Nível Operacional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Supervisores e analistas precisam de granularidade: filtros por vendedor, desempenho diário, detalhes de itens e status imediato de entregas.</a:t>
            </a:r>
            <a:endParaRPr lang="en-US" sz="15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c912541-5037-4e84-8137-704f3ef67116" descr="/home/forge/chalkie-production-workers-3/releases/77653614/backend/storage/app/render-specs/b9b9c656-df7a-4021-a19e-49cf29f58202/img_4d2fc2818691b79be1fc8b86c15908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69f86095-f0b6-416c-a7fa-5361923546a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Hierarquia Visual: Onde Olhar Primeiro</a:t>
            </a:r>
            <a:endParaRPr lang="en-US" sz="2246" dirty="0"/>
          </a:p>
        </p:txBody>
      </p:sp>
      <p:sp>
        <p:nvSpPr>
          <p:cNvPr id="4" name="6f7cc529-6095-42b3-8200-1703178325a2"/>
          <p:cNvSpPr/>
          <p:nvPr/>
        </p:nvSpPr>
        <p:spPr>
          <a:xfrm>
            <a:off x="42862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leitura ocidental segue o padrão em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Z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ou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da esquerda para a direita, do topo para a base.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Topo Esquerdo: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Indicadores vitais e faturamento (o mais importante).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Centro: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Gráficos de tendências e comparações principais.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Base e Lateral: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Segmentadores e detalhamentos específicos.</a:t>
            </a:r>
            <a:endParaRPr lang="en-US" sz="1264" dirty="0"/>
          </a:p>
        </p:txBody>
      </p:sp>
      <p:sp>
        <p:nvSpPr>
          <p:cNvPr id="5" name="cf2336b2-348b-4b00-be85-229df0d3a1c6_card"/>
          <p:cNvSpPr/>
          <p:nvPr/>
        </p:nvSpPr>
        <p:spPr>
          <a:xfrm>
            <a:off x="4286250" y="363474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cf2336b2-348b-4b00-be85-229df0d3a1c6_emoji"/>
          <p:cNvSpPr/>
          <p:nvPr/>
        </p:nvSpPr>
        <p:spPr>
          <a:xfrm>
            <a:off x="4400550" y="3783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cf2336b2-348b-4b00-be85-229df0d3a1c6_text"/>
          <p:cNvSpPr/>
          <p:nvPr/>
        </p:nvSpPr>
        <p:spPr>
          <a:xfrm>
            <a:off x="4766310" y="374904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filtros minúsculos no topo e números vitais no rodapé.</a:t>
            </a:r>
            <a:endParaRPr lang="en-US" sz="112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912ca1b-92b1-4554-8d81-a56b405eb874" descr="/home/forge/chalkie-production-workers-3/releases/77653614/backend/storage/app/render-specs/b9b9c656-df7a-4021-a19e-49cf29f58202/img_7d415f76da2d27bfe822fb99ced5d4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8fe91094-b130-4e94-8018-0004351d995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Teoria das Cores em Análise de Dados</a:t>
            </a:r>
            <a:endParaRPr lang="en-US" sz="2246" dirty="0"/>
          </a:p>
        </p:txBody>
      </p:sp>
      <p:sp>
        <p:nvSpPr>
          <p:cNvPr id="4" name="14e7dd56-7207-481c-9120-9b68e9288e66"/>
          <p:cNvSpPr/>
          <p:nvPr/>
        </p:nvSpPr>
        <p:spPr>
          <a:xfrm>
            <a:off x="2857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dashboards, cor é informação e não decoração festiva. Um arco-íris de tonalidades desvia o foco cognitivo da equipe de gestão.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Cores Neutras: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Use cinza, chumbo e branco para fundos, eixos e linhas de grade.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 Primária: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Escolha um azul ou verde corporativo para séries de dados normais.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 de Alerta: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Reserve vermelho ou laranja estritamente para metas não atingidas.</a:t>
            </a:r>
            <a:endParaRPr lang="en-US" sz="126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cb86671-248b-45e6-b87d-1e681fb42eff" descr="/home/forge/chalkie-production-workers-3/releases/77653614/backend/storage/app/render-specs/b9b9c656-df7a-4021-a19e-49cf29f58202/img_fb38cdaf0dd5ca7eb07eecd4e334b0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082f9797-33fe-4f43-a5e5-6bba9da55064" descr="/home/forge/chalkie-production-workers-3/releases/77653614/backend/storage/app/render-specs/b9b9c656-df7a-4021-a19e-49cf29f58202/img_7b8564c9f0940c5438f76814f4bef2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e1f8098c-9df5-4ed9-8bd1-212053db71ee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Evitando Poluição Visual (Chartjunk)</a:t>
            </a:r>
            <a:endParaRPr lang="en-US" sz="2246" dirty="0"/>
          </a:p>
        </p:txBody>
      </p:sp>
      <p:sp>
        <p:nvSpPr>
          <p:cNvPr id="5" name="e7977f8a-6a27-4284-88df-cf63467a20aa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Evitar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3D distorcem as proporções geométricas reais. Evite sombras pesadas, linhas de grade excessivas e fontes ilegíveis.</a:t>
            </a:r>
            <a:endParaRPr lang="en-US" sz="1544" dirty="0"/>
          </a:p>
        </p:txBody>
      </p:sp>
      <p:sp>
        <p:nvSpPr>
          <p:cNvPr id="6" name="b75a59c6-7167-4ea2-ae08-99d7f7cddda3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Aplicar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2D planos, fundo neutro limpo, rótulos de dados diretos nas barras essenciais e espaço para a informação respirar.</a:t>
            </a:r>
            <a:endParaRPr lang="en-US" sz="15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815954b-6a77-4c11-a4df-d48a6de728ee" descr="/home/forge/chalkie-production-workers-3/releases/77653614/backend/storage/app/render-specs/b9b9c656-df7a-4021-a19e-49cf29f58202/img_c8524f90efb92806241662677eda56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48f577fa-2206-4b87-bdc4-773d4f548baa"/>
          <p:cNvSpPr/>
          <p:nvPr/>
        </p:nvSpPr>
        <p:spPr>
          <a:xfrm>
            <a:off x="3714750" y="2857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Definindo KPIs Estruturados</a:t>
            </a:r>
            <a:endParaRPr lang="en-US" sz="2246" dirty="0"/>
          </a:p>
        </p:txBody>
      </p:sp>
      <p:sp>
        <p:nvSpPr>
          <p:cNvPr id="4" name="7b94cf5b-2bd7-4e17-801e-8e83f86a3d6a"/>
          <p:cNvSpPr/>
          <p:nvPr/>
        </p:nvSpPr>
        <p:spPr>
          <a:xfrm>
            <a:off x="3714750" y="91440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bom KPI mede resultados críticos. Para ter valor analítico, ele precisa de: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 Realizado: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que foi faturado ou produzido.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Meta ou Comparador: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Objetivo previsto ou mês anterior.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Tendência: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Variação percentual e sinal visual de status.</a:t>
            </a:r>
            <a:endParaRPr lang="en-US" sz="1264" dirty="0"/>
          </a:p>
        </p:txBody>
      </p:sp>
      <p:sp>
        <p:nvSpPr>
          <p:cNvPr id="5" name="c8f89e8b-dd3b-499b-983e-13f519817944_card"/>
          <p:cNvSpPr/>
          <p:nvPr/>
        </p:nvSpPr>
        <p:spPr>
          <a:xfrm>
            <a:off x="3714750" y="349758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c8f89e8b-dd3b-499b-983e-13f519817944_emoji"/>
          <p:cNvSpPr/>
          <p:nvPr/>
        </p:nvSpPr>
        <p:spPr>
          <a:xfrm>
            <a:off x="3829050" y="36461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c8f89e8b-dd3b-499b-983e-13f519817944_text"/>
          <p:cNvSpPr/>
          <p:nvPr/>
        </p:nvSpPr>
        <p:spPr>
          <a:xfrm>
            <a:off x="4194810" y="361188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número sem meta (ex: 'R$ 50.000') não indica sucesso ou falha.</a:t>
            </a:r>
            <a:endParaRPr lang="en-US" sz="112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d791c5a-5aee-4c04-a214-effb64565cdf" descr="/home/forge/chalkie-production-workers-3/releases/77653614/backend/storage/app/render-specs/b9b9c656-df7a-4021-a19e-49cf29f58202/img_2a6e2f71cb38fa0f5674f6e5f31227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72593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3" name="39b4a623-f3dc-4e0b-bc64-be544f34c5ad"/>
          <p:cNvSpPr/>
          <p:nvPr/>
        </p:nvSpPr>
        <p:spPr>
          <a:xfrm>
            <a:off x="285750" y="2171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Calculando a Variação Percentual</a:t>
            </a:r>
            <a:endParaRPr lang="en-US" sz="2246" dirty="0"/>
          </a:p>
        </p:txBody>
      </p:sp>
      <p:sp>
        <p:nvSpPr>
          <p:cNvPr id="4" name="6ab4e765-f404-4b73-8cb8-548a3a58942f"/>
          <p:cNvSpPr/>
          <p:nvPr/>
        </p:nvSpPr>
        <p:spPr>
          <a:xfrm>
            <a:off x="285750" y="84582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a fórmula da Aula 1 para medir a variação entre períodos: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Variação (%) = ((Atual - Anterior) / Anterior) × 100</a:t>
            </a:r>
            <a:endParaRPr lang="en-US" sz="1264" dirty="0"/>
          </a:p>
        </p:txBody>
      </p:sp>
      <p:sp>
        <p:nvSpPr>
          <p:cNvPr id="5" name="bdf2e91e-9c03-4424-999a-bc8f7e7c0be6"/>
          <p:cNvSpPr/>
          <p:nvPr/>
        </p:nvSpPr>
        <p:spPr>
          <a:xfrm>
            <a:off x="285750" y="392049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Se a meta era 80 peças e foram produzidas 100 peças: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((100 - 80) / 80) × 100 = (20 / 80) × 100 = +25% de superação da meta.</a:t>
            </a:r>
            <a:endParaRPr lang="en-US" sz="126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049429-4097-425e-998d-78524f629cf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o Conceito de KPI</a:t>
            </a:r>
            <a:endParaRPr lang="en-US" sz="2246" dirty="0"/>
          </a:p>
        </p:txBody>
      </p:sp>
      <p:sp>
        <p:nvSpPr>
          <p:cNvPr id="3" name="93a81d3a-4358-47fe-9d27-7c47c866a942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93a81d3a-4358-47fe-9d27-7c47c866a94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Basta colocar o total faturado no painel; não é necessário incluir metas ou comparações históricas.</a:t>
            </a:r>
            <a:endParaRPr lang="en-US" sz="1264" dirty="0"/>
          </a:p>
        </p:txBody>
      </p:sp>
      <p:sp>
        <p:nvSpPr>
          <p:cNvPr id="5" name="f5998aa4-f9af-464a-b423-aeb4d22e0ffb"/>
          <p:cNvSpPr/>
          <p:nvPr/>
        </p:nvSpPr>
        <p:spPr>
          <a:xfrm>
            <a:off x="1794933" y="2628900"/>
            <a:ext cx="2491317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4b702543-c243-4073-9d9e-381e4a5364eb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854dbe03-4c01-4e9c-82a4-8e5b075bc7dd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049429-4097-425e-998d-78524f629cf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o Conceito de KPI</a:t>
            </a:r>
            <a:endParaRPr lang="en-US" sz="2246" dirty="0"/>
          </a:p>
        </p:txBody>
      </p:sp>
      <p:sp>
        <p:nvSpPr>
          <p:cNvPr id="3" name="93a81d3a-4358-47fe-9d27-7c47c866a942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93a81d3a-4358-47fe-9d27-7c47c866a94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Basta colocar o total faturado no painel; não é necessário incluir metas ou comparações históricas.</a:t>
            </a:r>
            <a:endParaRPr lang="en-US" sz="1264" dirty="0"/>
          </a:p>
        </p:txBody>
      </p:sp>
      <p:sp>
        <p:nvSpPr>
          <p:cNvPr id="5" name="f5998aa4-f9af-464a-b423-aeb4d22e0ffb"/>
          <p:cNvSpPr/>
          <p:nvPr/>
        </p:nvSpPr>
        <p:spPr>
          <a:xfrm>
            <a:off x="1842347" y="2628900"/>
            <a:ext cx="2443903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4b702543-c243-4073-9d9e-381e4a5364eb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382b148d-c7a5-4234-a3bb-9e32010474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e32dd1d4-ba2f-4823-8d13-492fa718ac99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e32dd1d4-ba2f-4823-8d13-492fa718ac99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e32dd1d4-ba2f-4823-8d13-492fa718ac99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 uma meta ou valor anterior, é impossível avaliar se o resultado foi satisfatório ou ruim.</a:t>
            </a:r>
            <a:endParaRPr lang="en-US" sz="1123" dirty="0"/>
          </a:p>
        </p:txBody>
      </p:sp>
      <p:sp>
        <p:nvSpPr>
          <p:cNvPr id="11" name="b9113084-5ed1-43c4-b6cd-78262d2fe01b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9a350f7-84f7-4be3-938d-2089459206c6" descr="/home/forge/chalkie-production-workers-3/releases/77653614/backend/storage/app/render-specs/b9b9c656-df7a-4021-a19e-49cf29f58202/img_d8c2d153270d9e2585e53380ee8356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f991c7fd-f212-477d-bc38-f9dd1482eed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Cartões de KPI (Scorecards)</a:t>
            </a:r>
            <a:endParaRPr lang="en-US" sz="2246" dirty="0"/>
          </a:p>
        </p:txBody>
      </p:sp>
      <p:sp>
        <p:nvSpPr>
          <p:cNvPr id="4" name="9c00e6e8-cbed-4362-abed-78b13de40297"/>
          <p:cNvSpPr/>
          <p:nvPr/>
        </p:nvSpPr>
        <p:spPr>
          <a:xfrm>
            <a:off x="2857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Os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cartões de KPI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são pequenas caixas destacadas no topo do painel executivo. Eles transmitem as mensagens vitais sem ruído: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Tipografia Maior: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valor consolidado deve ter fonte em destaque (ex: 24pt a 28pt).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Rótulo Claro: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Título descritivo em letras maiúsculas ou discretas.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Ícone e Cor: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Pequeno indicador de seta para cima ou para baixo com contraste limpo.</a:t>
            </a:r>
            <a:endParaRPr lang="en-US" sz="126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4df8d48-fc24-48c4-9f41-e86b165ab3a7" descr="/home/forge/chalkie-production-workers-3/releases/77653614/backend/storage/app/render-specs/b9b9c656-df7a-4021-a19e-49cf29f58202/img_391659dddd3ed23845d30d37d142f7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48590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748ec8bc-d162-4fc9-b75b-958702670883" descr="/home/forge/chalkie-production-workers-3/releases/77653614/backend/storage/app/render-specs/b9b9c656-df7a-4021-a19e-49cf29f58202/img_0431190be11b4dd906f18552d54df0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60" y="91440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027471f9-7a95-47c4-9b7c-215ab17d4367" descr="/home/forge/chalkie-production-workers-3/releases/77653614/backend/storage/app/render-specs/b9b9c656-df7a-4021-a19e-49cf29f58202/img_d83f78ca3835d8a92f77beb6844826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340" y="1485900"/>
            <a:ext cx="270891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5f2ae0cc-50f9-4c24-9daf-8506ad75bb5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Escolhendo o Gráfico Correto</a:t>
            </a:r>
            <a:endParaRPr lang="en-US" sz="2246" dirty="0"/>
          </a:p>
        </p:txBody>
      </p:sp>
      <p:sp>
        <p:nvSpPr>
          <p:cNvPr id="6" name="5320295f-65a5-4540-b8cd-e36c5d464c59"/>
          <p:cNvSpPr/>
          <p:nvPr/>
        </p:nvSpPr>
        <p:spPr>
          <a:xfrm>
            <a:off x="285750" y="33147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 ou Área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Ideal para acompanhar a evolução temporal de vendas ou gastos ao longo dos meses.</a:t>
            </a:r>
            <a:endParaRPr lang="en-US" sz="1264" dirty="0"/>
          </a:p>
        </p:txBody>
      </p:sp>
      <p:sp>
        <p:nvSpPr>
          <p:cNvPr id="7" name="1c24b569-79aa-4726-8da8-c5be95d8196a"/>
          <p:cNvSpPr/>
          <p:nvPr/>
        </p:nvSpPr>
        <p:spPr>
          <a:xfrm>
            <a:off x="3223260" y="2743200"/>
            <a:ext cx="270891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 ou Barras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Perfeito para comparar desempenhos entre categorias, produtos ou regiões geográficas.</a:t>
            </a:r>
            <a:endParaRPr lang="en-US" sz="1264" dirty="0"/>
          </a:p>
        </p:txBody>
      </p:sp>
      <p:sp>
        <p:nvSpPr>
          <p:cNvPr id="8" name="a31cbbb1-f05e-408c-bf3b-104bb638486e"/>
          <p:cNvSpPr/>
          <p:nvPr/>
        </p:nvSpPr>
        <p:spPr>
          <a:xfrm>
            <a:off x="6149340" y="33147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Rosca ou Pizza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Use apenas para até 4 fatias com contrastes claros da proporção do todo.</a:t>
            </a:r>
            <a:endParaRPr lang="en-US" sz="12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354a728-fb8f-416d-b8bd-e22d576c025b" descr="/home/forge/chalkie-production-workers-3/releases/77653614/backend/storage/app/render-specs/b9b9c656-df7a-4021-a19e-49cf29f58202/img_8aed22af6443d0de390d66cf277d7d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c71ae420-928b-4a7e-9abe-9028dce14a7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Interatividade com Segmentadores</a:t>
            </a:r>
            <a:endParaRPr lang="en-US" sz="2246" dirty="0"/>
          </a:p>
        </p:txBody>
      </p:sp>
      <p:sp>
        <p:nvSpPr>
          <p:cNvPr id="4" name="20505f52-cf99-4e6d-9c29-bb9439c1d093"/>
          <p:cNvSpPr/>
          <p:nvPr/>
        </p:nvSpPr>
        <p:spPr>
          <a:xfrm>
            <a:off x="4286250" y="800100"/>
            <a:ext cx="4572000" cy="23957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transforma uma planilha comum em um dashboard executivo é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interatividade instantânea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através dos Segmentadores de Dados (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Slicers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).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 eles, o gestor clica no botão 'Região Sul' ou 'Ano 2026' e todos os gráficos e cartões da tela recalculam imediatamente sem que ninguém precise editar fórmulas manualmente.</a:t>
            </a:r>
            <a:endParaRPr lang="en-US" sz="1264" dirty="0"/>
          </a:p>
        </p:txBody>
      </p:sp>
      <p:sp>
        <p:nvSpPr>
          <p:cNvPr id="5" name="04a739b5-085e-4e45-b44b-d49acb746706_card"/>
          <p:cNvSpPr/>
          <p:nvPr/>
        </p:nvSpPr>
        <p:spPr>
          <a:xfrm>
            <a:off x="4286250" y="346329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04a739b5-085e-4e45-b44b-d49acb746706_emoji"/>
          <p:cNvSpPr/>
          <p:nvPr/>
        </p:nvSpPr>
        <p:spPr>
          <a:xfrm>
            <a:off x="4400550" y="36118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04a739b5-085e-4e45-b44b-d49acb746706_text"/>
          <p:cNvSpPr/>
          <p:nvPr/>
        </p:nvSpPr>
        <p:spPr>
          <a:xfrm>
            <a:off x="4766310" y="357759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Segmentadores substituem os filtros suspensos tradicionais por botões visuais intuitivos.</a:t>
            </a:r>
            <a:endParaRPr lang="en-US" sz="112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ac85bb5-f7b8-4e2a-b5b0-fcae76b86652"/>
          <p:cNvSpPr/>
          <p:nvPr/>
        </p:nvSpPr>
        <p:spPr>
          <a:xfrm>
            <a:off x="171450" y="172593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6c8fab5c-a9a0-4242-b2ee-36a1e8169510"/>
          <p:cNvSpPr/>
          <p:nvPr/>
        </p:nvSpPr>
        <p:spPr>
          <a:xfrm>
            <a:off x="2377440" y="172593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6324b70b-65ef-4d95-96af-8b06a151b5c4"/>
          <p:cNvSpPr/>
          <p:nvPr/>
        </p:nvSpPr>
        <p:spPr>
          <a:xfrm>
            <a:off x="4572000" y="172593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3015db6b-243c-4c77-82d3-e26882133fe3"/>
          <p:cNvSpPr/>
          <p:nvPr/>
        </p:nvSpPr>
        <p:spPr>
          <a:xfrm>
            <a:off x="6777990" y="172593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ac578efc-7fc0-4591-b579-7806021196a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Conectando o Segmentador às Tabelas</a:t>
            </a:r>
            <a:endParaRPr lang="en-US" sz="2246" dirty="0"/>
          </a:p>
        </p:txBody>
      </p:sp>
      <p:sp>
        <p:nvSpPr>
          <p:cNvPr id="7" name="7a5e3b5c-808a-4135-9de9-9257fa308ab6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um único botão de segmentação atualizar todos os gráficos do painel simultaneamente, é preciso vincular as conexões no Excel:</a:t>
            </a:r>
            <a:endParaRPr lang="en-US" sz="1264" dirty="0"/>
          </a:p>
        </p:txBody>
      </p:sp>
      <p:sp>
        <p:nvSpPr>
          <p:cNvPr id="8" name="5aa60396-a9ae-48d9-9932-5c199c1c7868"/>
          <p:cNvSpPr/>
          <p:nvPr/>
        </p:nvSpPr>
        <p:spPr>
          <a:xfrm>
            <a:off x="285750" y="218313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Clique sobre a caixa do Segmentador de Dados.</a:t>
            </a:r>
            <a:endParaRPr lang="en-US" sz="1264" dirty="0"/>
          </a:p>
        </p:txBody>
      </p:sp>
      <p:sp>
        <p:nvSpPr>
          <p:cNvPr id="9" name="b436bcd8-5332-4b4e-97cd-35a71d43c6b5"/>
          <p:cNvSpPr/>
          <p:nvPr/>
        </p:nvSpPr>
        <p:spPr>
          <a:xfrm>
            <a:off x="2491740" y="218313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Acesse a aba 'Segmentação' no menu superior.</a:t>
            </a:r>
            <a:endParaRPr lang="en-US" sz="1264" dirty="0"/>
          </a:p>
        </p:txBody>
      </p:sp>
      <p:sp>
        <p:nvSpPr>
          <p:cNvPr id="10" name="6365de00-0309-483b-8163-7021d7d71114"/>
          <p:cNvSpPr/>
          <p:nvPr/>
        </p:nvSpPr>
        <p:spPr>
          <a:xfrm>
            <a:off x="4686300" y="218313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a opção 'Conexões de Relatório'.</a:t>
            </a:r>
            <a:endParaRPr lang="en-US" sz="1264" dirty="0"/>
          </a:p>
        </p:txBody>
      </p:sp>
      <p:sp>
        <p:nvSpPr>
          <p:cNvPr id="11" name="647b488f-7fb8-4de0-908d-13aad9b77ba7"/>
          <p:cNvSpPr/>
          <p:nvPr/>
        </p:nvSpPr>
        <p:spPr>
          <a:xfrm>
            <a:off x="6892290" y="218313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Marque todas as Tabelas Dinâmicas que devem responder ao filtro.</a:t>
            </a:r>
            <a:endParaRPr lang="en-US" sz="126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451c409-f10b-45ae-ae26-acbf371b0f1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a Passo da Conexão</a:t>
            </a:r>
            <a:endParaRPr lang="en-US" sz="2246" dirty="0"/>
          </a:p>
        </p:txBody>
      </p:sp>
      <p:sp>
        <p:nvSpPr>
          <p:cNvPr id="3" name="035744a0-1a76-44ad-9f26-1bbfaef30fca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sequência exata para sincronizar um segmentador a múltiplos gráficos no Excel?</a:t>
            </a:r>
            <a:endParaRPr lang="en-US" sz="1264" dirty="0"/>
          </a:p>
        </p:txBody>
      </p:sp>
      <p:sp>
        <p:nvSpPr>
          <p:cNvPr id="4" name="2d92b9e0-6cb4-47ad-862f-c73b0e6e931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Testar os botões clicando nos filtros para ver os gráficos mudarem</a:t>
            </a:r>
            <a:endParaRPr lang="en-US" sz="1264" dirty="0"/>
          </a:p>
        </p:txBody>
      </p:sp>
      <p:sp>
        <p:nvSpPr>
          <p:cNvPr id="5" name="4e62763f-1cbe-4eb3-9c40-cdbe2b6af06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Marcar a caixa de seleção de todas as outras Tabelas Dinâmicas</a:t>
            </a:r>
            <a:endParaRPr lang="en-US" sz="1264" dirty="0"/>
          </a:p>
        </p:txBody>
      </p:sp>
      <p:sp>
        <p:nvSpPr>
          <p:cNvPr id="6" name="c7899ebd-148f-43bf-966f-a63289964f2e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Clicar com o botão direito e escolher Conexões de Relatório</a:t>
            </a:r>
            <a:endParaRPr lang="en-US" sz="1264" dirty="0"/>
          </a:p>
        </p:txBody>
      </p:sp>
      <p:sp>
        <p:nvSpPr>
          <p:cNvPr id="7" name="9cbdca99-4b9c-47c2-8393-f5ce59b6c96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o Segmentador a partir de uma Tabela Dinâmica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451c409-f10b-45ae-ae26-acbf371b0f1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a Passo da Conexão</a:t>
            </a:r>
            <a:endParaRPr lang="en-US" sz="2246" dirty="0"/>
          </a:p>
        </p:txBody>
      </p:sp>
      <p:sp>
        <p:nvSpPr>
          <p:cNvPr id="3" name="035744a0-1a76-44ad-9f26-1bbfaef30fca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sequência exata para sincronizar um segmentador a múltiplos gráficos no Excel?</a:t>
            </a:r>
            <a:endParaRPr lang="en-US" sz="1264" dirty="0"/>
          </a:p>
        </p:txBody>
      </p:sp>
      <p:sp>
        <p:nvSpPr>
          <p:cNvPr id="4" name="2d92b9e0-6cb4-47ad-862f-c73b0e6e931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Testar os botões clicando nos filtros para ver os gráficos mudarem</a:t>
            </a:r>
            <a:endParaRPr lang="en-US" sz="1264" dirty="0"/>
          </a:p>
        </p:txBody>
      </p:sp>
      <p:sp>
        <p:nvSpPr>
          <p:cNvPr id="5" name="4e62763f-1cbe-4eb3-9c40-cdbe2b6af063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Marcar a caixa de seleção de todas as outras Tabelas Dinâmicas</a:t>
            </a:r>
            <a:endParaRPr lang="en-US" sz="1264" dirty="0"/>
          </a:p>
        </p:txBody>
      </p:sp>
      <p:sp>
        <p:nvSpPr>
          <p:cNvPr id="6" name="c7899ebd-148f-43bf-966f-a63289964f2e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Clicar com o botão direito e escolher Conexões de Relatório</a:t>
            </a:r>
            <a:endParaRPr lang="en-US" sz="1264" dirty="0"/>
          </a:p>
        </p:txBody>
      </p:sp>
      <p:sp>
        <p:nvSpPr>
          <p:cNvPr id="7" name="9cbdca99-4b9c-47c2-8393-f5ce59b6c96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o Segmentador a partir de uma Tabela Dinâmica</a:t>
            </a:r>
            <a:endParaRPr lang="en-US" sz="1264" dirty="0"/>
          </a:p>
        </p:txBody>
      </p:sp>
      <p:sp>
        <p:nvSpPr>
          <p:cNvPr id="8" name="1b91d3b9-7a01-45c6-8d9d-b8d103fd643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b353240f-f51d-4f41-b988-581491aa9bdc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0ef3e602-d7f4-41ca-908f-6c08186f6b19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5eb093a3-6efb-414e-8501-737c70598122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8e3d3812-8d21-47bb-959c-d27bf82af224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4cb99e3-f7d6-434c-8623-0b1bc2e903b3" descr="/home/forge/chalkie-production-workers-3/releases/77653614/backend/storage/app/render-specs/b9b9c656-df7a-4021-a19e-49cf29f58202/img_625cd7b8b4b7d3c8e6002b799c9420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c9f4ed2-e47c-4e67-b2d3-dce664bbdf0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das Abas do Projeto</a:t>
            </a:r>
            <a:endParaRPr lang="en-US" sz="2246" dirty="0"/>
          </a:p>
        </p:txBody>
      </p:sp>
      <p:sp>
        <p:nvSpPr>
          <p:cNvPr id="4" name="fee0e700-f318-478d-8c8b-ed68cf92f794"/>
          <p:cNvSpPr/>
          <p:nvPr/>
        </p:nvSpPr>
        <p:spPr>
          <a:xfrm>
            <a:off x="285750" y="80010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Organização é a regra de ouro de analistas de dados profissionais. Nunca misture dados brutos, cálculos intermediários e a tela do cliente na mesma aba: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Base_Dados: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Registros brutos originais organizados como Tabela oficial.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Calculos_Dinamicas: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'motor' com todas as tabelas dinâmicas ocultas do usuário.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Dashboard: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 vitrine elegante e interativa sem linhas de grade.</a:t>
            </a:r>
            <a:endParaRPr lang="en-US" sz="126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8204bc9-d716-4839-a32f-bcd260487f23" descr="/home/forge/chalkie-production-workers-3/releases/77653614/backend/storage/app/render-specs/b9b9c656-df7a-4021-a19e-49cf29f58202/img_d323fcb5e3af4b49e4c7cb564bdf76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e95d6ad1-0936-48c4-9e12-31dd957a275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Storytelling: Narrando com Dados</a:t>
            </a:r>
            <a:endParaRPr lang="en-US" sz="2246" dirty="0"/>
          </a:p>
        </p:txBody>
      </p:sp>
      <p:sp>
        <p:nvSpPr>
          <p:cNvPr id="4" name="6b08151c-43fd-4d93-90a8-b2b5813b8f0e"/>
          <p:cNvSpPr/>
          <p:nvPr/>
        </p:nvSpPr>
        <p:spPr>
          <a:xfrm>
            <a:off x="4286250" y="800100"/>
            <a:ext cx="4572000" cy="23957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contam histórias sobre pessoas, esforços e gargalos. Storytelling com dados é a arte de traduzir gráficos técnicos em conclusões que geram ação imediata.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vez de apenas descrever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'as vendas caíram 10%'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o analista executivo explica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'a queda ocorreu no setor Norte devido ao atraso de entregas na semana 3'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5" name="890980a1-ef09-404f-aac5-dccb28970a0a_card"/>
          <p:cNvSpPr/>
          <p:nvPr/>
        </p:nvSpPr>
        <p:spPr>
          <a:xfrm>
            <a:off x="4286250" y="321183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890980a1-ef09-404f-aac5-dccb28970a0a_emoji"/>
          <p:cNvSpPr/>
          <p:nvPr/>
        </p:nvSpPr>
        <p:spPr>
          <a:xfrm>
            <a:off x="4400550" y="33604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890980a1-ef09-404f-aac5-dccb28970a0a_text"/>
          <p:cNvSpPr/>
          <p:nvPr/>
        </p:nvSpPr>
        <p:spPr>
          <a:xfrm>
            <a:off x="4766310" y="332613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objetivo de uma análise não é mostrar dados, mas orientar o próximo passo estratégico.</a:t>
            </a:r>
            <a:endParaRPr lang="en-US" sz="112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9d6353-8706-4ca1-91c3-dc62a642307e" descr="/home/forge/chalkie-production-workers-3/releases/77653614/backend/storage/app/render-specs/b9b9c656-df7a-4021-a19e-49cf29f58202/img_40f4e984fcb9f39d419a7192ae2292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11530"/>
            <a:ext cx="274320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d19c0591-c419-4eac-9ba8-2390c543a5d8" descr="/home/forge/chalkie-production-workers-3/releases/77653614/backend/storage/app/render-specs/b9b9c656-df7a-4021-a19e-49cf29f58202/img_ce602e2e2341645e6a845763fe40b3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811530"/>
            <a:ext cx="274320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ff8a7ce3-aa98-45db-9918-296a649e4a6a" descr="/home/forge/chalkie-production-workers-3/releases/77653614/backend/storage/app/render-specs/b9b9c656-df7a-4021-a19e-49cf29f58202/img_3a123ca4c6a7745f3a597ef5e7eee7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81153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f3861edf-6b22-4447-aab7-93f315b46829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Os Três Pilares da Narrativa</a:t>
            </a:r>
            <a:endParaRPr lang="en-US" sz="2246" dirty="0"/>
          </a:p>
        </p:txBody>
      </p:sp>
      <p:sp>
        <p:nvSpPr>
          <p:cNvPr id="6" name="8a482f35-79a3-4d89-820d-b7dadfac7fc9"/>
          <p:cNvSpPr/>
          <p:nvPr/>
        </p:nvSpPr>
        <p:spPr>
          <a:xfrm>
            <a:off x="285750" y="3006090"/>
            <a:ext cx="27432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O Contexto e Fato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o problema ou oportunidade detectada? Apresente o número exato com clareza.</a:t>
            </a:r>
            <a:endParaRPr lang="en-US" sz="1544" dirty="0"/>
          </a:p>
        </p:txBody>
      </p:sp>
      <p:sp>
        <p:nvSpPr>
          <p:cNvPr id="7" name="52cf6b24-cf59-4006-a040-a607d6b72933"/>
          <p:cNvSpPr/>
          <p:nvPr/>
        </p:nvSpPr>
        <p:spPr>
          <a:xfrm>
            <a:off x="3200400" y="3006090"/>
            <a:ext cx="27432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O Diagnóstico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isso aconteceu? Cruze dados com tabelas dinâmicas para achar a causa raiz.</a:t>
            </a:r>
            <a:endParaRPr lang="en-US" sz="1544" dirty="0"/>
          </a:p>
        </p:txBody>
      </p:sp>
      <p:sp>
        <p:nvSpPr>
          <p:cNvPr id="8" name="5738a816-cd16-4737-a501-bde1fcc53f07"/>
          <p:cNvSpPr/>
          <p:nvPr/>
        </p:nvSpPr>
        <p:spPr>
          <a:xfrm>
            <a:off x="6115050" y="3006090"/>
            <a:ext cx="27432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A Recomendação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a gerência deve fazer? Apresente uma solução prática e mensurável.</a:t>
            </a:r>
            <a:endParaRPr lang="en-US" sz="154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5c0c416-0db8-4ac4-a492-5334c9d7bdd4" descr="/home/forge/chalkie-production-workers-3/releases/77653614/backend/storage/app/render-specs/b9b9c656-df7a-4021-a19e-49cf29f58202/img_14a50dc890915cd7171f28faedf8ca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6cc2f9d0-d794-4fac-8da5-fa845d3d19e4"/>
          <p:cNvSpPr/>
          <p:nvPr/>
        </p:nvSpPr>
        <p:spPr>
          <a:xfrm>
            <a:off x="285750" y="21259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Entrando no Projeto Final Integrado</a:t>
            </a:r>
            <a:endParaRPr lang="en-US" sz="2246" dirty="0"/>
          </a:p>
        </p:txBody>
      </p:sp>
      <p:sp>
        <p:nvSpPr>
          <p:cNvPr id="4" name="b37f08a0-c9d4-4d4b-b093-eae9d3c5c583"/>
          <p:cNvSpPr/>
          <p:nvPr/>
        </p:nvSpPr>
        <p:spPr>
          <a:xfrm>
            <a:off x="285750" y="2754630"/>
            <a:ext cx="85725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Chegamos ao momento de reunir todo o conhecimento adquirido ao longo das 32 horas de curso. Cada equipe assumirá o papel de uma consultoria de gestão especializada em Business Intelligence.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Vocês receberão uma base bruta real de mercado com centenas de registros operacionais para estruturar, calcular, projetar e apresentar para a diretoria da turma.</a:t>
            </a:r>
            <a:endParaRPr lang="en-US" sz="126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7af98f9-cabc-48c5-81fb-340255fcfd91" descr="/home/forge/chalkie-production-workers-3/releases/77653614/backend/storage/app/render-specs/b9b9c656-df7a-4021-a19e-49cf29f58202/img_86afcbcd8f0ca9aba4c543cd6683a9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48590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fff22b17-29b2-4ee4-9541-9ffcb438f80c" descr="/home/forge/chalkie-production-workers-3/releases/77653614/backend/storage/app/render-specs/b9b9c656-df7a-4021-a19e-49cf29f58202/img_1f1e423c3b7c52294893fb73a0e411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60" y="91440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cf4c11e4-7c7b-41b9-8b2f-e020c6aa551e" descr="/home/forge/chalkie-production-workers-3/releases/77653614/backend/storage/app/render-specs/b9b9c656-df7a-4021-a19e-49cf29f58202/img_1efc38bd07053209227fa6947cd847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340" y="1485900"/>
            <a:ext cx="270891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ce7940b6-922d-481a-b13a-98e91920e25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Datasets Disponíveis para Escolha</a:t>
            </a:r>
            <a:endParaRPr lang="en-US" sz="2246" dirty="0"/>
          </a:p>
        </p:txBody>
      </p:sp>
      <p:sp>
        <p:nvSpPr>
          <p:cNvPr id="6" name="0a2455d6-8807-4cd1-a831-ed0925cfa363"/>
          <p:cNvSpPr/>
          <p:nvPr/>
        </p:nvSpPr>
        <p:spPr>
          <a:xfrm>
            <a:off x="285750" y="33147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Dataset 1: Gestão de Vendas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Faturamento por produto, filial, vendedor, margem bruta e metas.</a:t>
            </a:r>
            <a:endParaRPr lang="en-US" sz="1264" dirty="0"/>
          </a:p>
        </p:txBody>
      </p:sp>
      <p:sp>
        <p:nvSpPr>
          <p:cNvPr id="7" name="811e86d7-9939-4dea-b520-eab247b7ae20"/>
          <p:cNvSpPr/>
          <p:nvPr/>
        </p:nvSpPr>
        <p:spPr>
          <a:xfrm>
            <a:off x="3223260" y="27432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Dataset 2: Estoque e Logística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Níveis de armazenamento, ponto de pedido, frete, giro e perdas.</a:t>
            </a:r>
            <a:endParaRPr lang="en-US" sz="1264" dirty="0"/>
          </a:p>
        </p:txBody>
      </p:sp>
      <p:sp>
        <p:nvSpPr>
          <p:cNvPr id="8" name="9609eeb1-dbc7-4d85-b476-c18458a20226"/>
          <p:cNvSpPr/>
          <p:nvPr/>
        </p:nvSpPr>
        <p:spPr>
          <a:xfrm>
            <a:off x="6149340" y="33147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Dataset 3: Recursos Humanos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Horas extras, rotatividade (turnover), absenteísmo e treinamentos.</a:t>
            </a:r>
            <a:endParaRPr lang="en-US" sz="126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43e59e3-2771-4eb1-8764-3fa5b4da5f27" descr="/home/forge/chalkie-production-workers-3/releases/77653614/backend/storage/app/render-specs/b9b9c656-df7a-4021-a19e-49cf29f58202/img_0488152f0b2c7285aa74862bc58f2c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32616bc0-19a1-41ec-8d44-df39768656e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 1: Higienização da Base Bruta</a:t>
            </a:r>
            <a:endParaRPr lang="en-US" sz="2246" dirty="0"/>
          </a:p>
        </p:txBody>
      </p:sp>
      <p:sp>
        <p:nvSpPr>
          <p:cNvPr id="4" name="de4d4447-6651-49c7-b67c-23fdbe44ccad"/>
          <p:cNvSpPr/>
          <p:nvPr/>
        </p:nvSpPr>
        <p:spPr>
          <a:xfrm>
            <a:off x="42862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Antes de criar qualquer gráfico, os dados precisam estar íntegros. Dados corrompidos geram relatórios enganosos: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Eliminar linhas duplicadas acidentais.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Padronizar formatos de Moeda (R$), Datas (DD/MM/AAAA) e Porcentagens (%).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Tratar valores vazios ou nulos com fórmulas como SEERRO.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Converter a base em Tabela Oficial (Ctrl + Alt + T).</a:t>
            </a:r>
            <a:endParaRPr lang="en-US" sz="126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0b16c17-0318-44d9-b08f-db4d7a7bdbcb" descr="/home/forge/chalkie-production-workers-3/releases/77653614/backend/storage/app/render-specs/b9b9c656-df7a-4021-a19e-49cf29f58202/img_af670abe56116030bfecf6f5885bda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373f9aea-6004-4da7-adcd-9f480f917c5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 2: Cálculos Matemáticos e Estatística</a:t>
            </a:r>
            <a:endParaRPr lang="en-US" sz="2246" dirty="0"/>
          </a:p>
        </p:txBody>
      </p:sp>
      <p:sp>
        <p:nvSpPr>
          <p:cNvPr id="4" name="5523da52-577b-430b-abfe-5ade34b7f810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Aplique os fundamentos da Aula 1 para extrair indicadores numéricos sólidos da base: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Tendência Central: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Média de faturamento por cliente e mediana de custos.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Proporção e Porcentagem: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Participação de cada categoria no faturamento total.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Dispersão: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Desvio padrão e amplitude para identificar filiais inconsistentes.</a:t>
            </a:r>
            <a:endParaRPr lang="en-US" sz="1264" dirty="0"/>
          </a:p>
        </p:txBody>
      </p:sp>
      <p:sp>
        <p:nvSpPr>
          <p:cNvPr id="5" name="5344fe06-e439-4c79-91dc-58a0a8fcd143_card"/>
          <p:cNvSpPr/>
          <p:nvPr/>
        </p:nvSpPr>
        <p:spPr>
          <a:xfrm>
            <a:off x="285750" y="363474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5344fe06-e439-4c79-91dc-58a0a8fcd143_emoji"/>
          <p:cNvSpPr/>
          <p:nvPr/>
        </p:nvSpPr>
        <p:spPr>
          <a:xfrm>
            <a:off x="400050" y="3783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5344fe06-e439-4c79-91dc-58a0a8fcd143_text"/>
          <p:cNvSpPr/>
          <p:nvPr/>
        </p:nvSpPr>
        <p:spPr>
          <a:xfrm>
            <a:off x="765810" y="374904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precisão matemática dos cálculos corresponde a 25% da sua nota final.</a:t>
            </a:r>
            <a:endParaRPr lang="en-US" sz="112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209411a-cb4b-49cb-8561-68015d5c58ac" descr="/home/forge/chalkie-production-workers-3/releases/77653614/backend/storage/app/render-specs/b9b9c656-df7a-4021-a19e-49cf29f58202/img_7f6cf07ce852779162ab9c3912a7af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9a7af42-0c85-4dde-b5b1-7093473dfc6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 3: Modelando as Tabelas Dinâmicas</a:t>
            </a:r>
            <a:endParaRPr lang="en-US" sz="2246" dirty="0"/>
          </a:p>
        </p:txBody>
      </p:sp>
      <p:sp>
        <p:nvSpPr>
          <p:cNvPr id="4" name="0d414734-5fe5-472c-8733-324a9edc9a3b"/>
          <p:cNvSpPr/>
          <p:nvPr/>
        </p:nvSpPr>
        <p:spPr>
          <a:xfrm>
            <a:off x="42862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aba oculta de cálculos, construa tabelas dinâmicas independentes para alimentar cada parte visual do painel: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tabela dinâmica para somar os valores dos 3 cartões de KPI.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tabela dinâmica agrupando valores por mês para o gráfico de linha.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tabela dinâmica ranqueando os 5 melhores produtos ou departamentos.</a:t>
            </a:r>
            <a:endParaRPr lang="en-US" sz="126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2559160-3275-45ea-a898-0dd18e4e77e1" descr="/home/forge/chalkie-production-workers-3/releases/77653614/backend/storage/app/render-specs/b9b9c656-df7a-4021-a19e-49cf29f58202/img_0c491fbb05f6ff65ffaf82bc9e7386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aeacda85-7984-4034-8aac-2584e0e87f0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 4: Montando o Layout Executivo</a:t>
            </a:r>
            <a:endParaRPr lang="en-US" sz="2246" dirty="0"/>
          </a:p>
        </p:txBody>
      </p:sp>
      <p:sp>
        <p:nvSpPr>
          <p:cNvPr id="4" name="e8f6af09-e85f-4b9c-a550-ec5b440941a0"/>
          <p:cNvSpPr/>
          <p:nvPr/>
        </p:nvSpPr>
        <p:spPr>
          <a:xfrm>
            <a:off x="2857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aba 'Dashboard', configure o ambiente como uma aplicação profissional para os diretores: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Oculte as linhas de grade (Menu Exibir &gt; Linhas de Grade).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um cabeçalho elegante com o nome da empresa e data de atualização.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Posicione os 3 cartões de KPI no topo e os 2 gráficos principais no centro.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Insira 2 segmentadores de dados laterais e conecte todos os relatórios.</a:t>
            </a:r>
            <a:endParaRPr lang="en-US" sz="126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92f83c9-1152-43a8-8bd4-a4e5abf74a00" descr="/home/forge/chalkie-production-workers-3/releases/77653614/backend/storage/app/render-specs/b9b9c656-df7a-4021-a19e-49cf29f58202/img_b438568c78b93152c7e0fa036a1042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50fe0d06-1973-4596-bdf9-7777a1798ad2" descr="/home/forge/chalkie-production-workers-3/releases/77653614/backend/storage/app/render-specs/b9b9c656-df7a-4021-a19e-49cf29f58202/img_e946af270bbcefab30243efe9064e7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c8bdf022-ddca-4ea6-ae55-6729ffe0127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Rubrica de Avaliação do Projeto</a:t>
            </a:r>
            <a:endParaRPr lang="en-US" sz="2246" dirty="0"/>
          </a:p>
        </p:txBody>
      </p:sp>
      <p:sp>
        <p:nvSpPr>
          <p:cNvPr id="5" name="d9f3dc3f-f276-4bdd-89bb-763ad897d5f7"/>
          <p:cNvSpPr/>
          <p:nvPr/>
        </p:nvSpPr>
        <p:spPr>
          <a:xfrm>
            <a:off x="285750" y="29946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Precisão e Análise (50%)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25% Qualidade: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Interpretação e relevância das métricas.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25% Precisão: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Fórmulas, estatística e PROCV corretos.</a:t>
            </a:r>
            <a:endParaRPr lang="en-US" sz="1544" dirty="0"/>
          </a:p>
        </p:txBody>
      </p:sp>
      <p:sp>
        <p:nvSpPr>
          <p:cNvPr id="6" name="f22559ee-60f1-461c-9248-30db6f364301"/>
          <p:cNvSpPr/>
          <p:nvPr/>
        </p:nvSpPr>
        <p:spPr>
          <a:xfrm>
            <a:off x="4652010" y="29946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Design e Defesa (50%)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25% Design: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Cores, usabilidade e segmentadores.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25% Comunicação: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Clareza, storytelling e defesa segura.</a:t>
            </a:r>
            <a:endParaRPr lang="en-US" sz="154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44c0aa2-e5a3-4815-ae2d-2d485f6e50a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Consolidando os Conceitos Centrais</a:t>
            </a:r>
            <a:endParaRPr lang="en-US" sz="2246" dirty="0"/>
          </a:p>
        </p:txBody>
      </p:sp>
      <p:sp>
        <p:nvSpPr>
          <p:cNvPr id="3" name="617eae00-af6d-41a2-9d83-064b2ad363de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a920c6c5-0189-436b-8462-9e5e60ea36de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Storytelling</a:t>
            </a:r>
            <a:endParaRPr lang="en-US" sz="1404" dirty="0"/>
          </a:p>
        </p:txBody>
      </p:sp>
      <p:sp>
        <p:nvSpPr>
          <p:cNvPr id="5" name="84d8b6e2-8a3a-4f4d-a0b4-d4053e9869ab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Segmentador</a:t>
            </a:r>
            <a:endParaRPr lang="en-US" sz="1404" dirty="0"/>
          </a:p>
        </p:txBody>
      </p:sp>
      <p:sp>
        <p:nvSpPr>
          <p:cNvPr id="6" name="fbee733f-bd26-4fd7-be8a-4dd93db0f53d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KPI</a:t>
            </a:r>
            <a:endParaRPr lang="en-US" sz="1404" dirty="0"/>
          </a:p>
        </p:txBody>
      </p:sp>
      <p:sp>
        <p:nvSpPr>
          <p:cNvPr id="7" name="c054f799-38b7-4d18-9f90-cbe227e44d19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</a:t>
            </a:r>
            <a:endParaRPr lang="en-US" sz="1404" dirty="0"/>
          </a:p>
        </p:txBody>
      </p:sp>
      <p:sp>
        <p:nvSpPr>
          <p:cNvPr id="8" name="f01e4152-712c-4cb4-87df-1c0f13c17003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Métrica quantitativa comparada a uma meta para medir o sucesso de um processo.</a:t>
            </a:r>
            <a:endParaRPr lang="en-US" sz="1264" dirty="0"/>
          </a:p>
        </p:txBody>
      </p:sp>
      <p:sp>
        <p:nvSpPr>
          <p:cNvPr id="9" name="a235f42f-721d-4023-a631-aee1d0ec8226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Ferramenta de botões interativos que filtra gráficos e tabelas dinâmicas simultaneamente.</a:t>
            </a:r>
            <a:endParaRPr lang="en-US" sz="1264" dirty="0"/>
          </a:p>
        </p:txBody>
      </p:sp>
      <p:sp>
        <p:nvSpPr>
          <p:cNvPr id="10" name="8033cab2-6891-4d2f-915b-5da1cebf09c4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Estruturação narrativa dos dados para explicar causas e recomendar ações práticas.</a:t>
            </a:r>
            <a:endParaRPr lang="en-US" sz="1264" dirty="0"/>
          </a:p>
        </p:txBody>
      </p:sp>
      <p:sp>
        <p:nvSpPr>
          <p:cNvPr id="11" name="c620af88-4a0a-4923-be34-3dfa8a692e68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Painel executivo que centraliza indicadores e gráficos em tela única para tomada de decisão.</a:t>
            </a:r>
            <a:endParaRPr lang="en-US" sz="126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44c0aa2-e5a3-4815-ae2d-2d485f6e50a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Consolidando os Conceitos Centrais</a:t>
            </a:r>
            <a:endParaRPr lang="en-US" sz="2246" dirty="0"/>
          </a:p>
        </p:txBody>
      </p:sp>
      <p:sp>
        <p:nvSpPr>
          <p:cNvPr id="3" name="617eae00-af6d-41a2-9d83-064b2ad363de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a920c6c5-0189-436b-8462-9e5e60ea36de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Storytelling</a:t>
            </a:r>
            <a:endParaRPr lang="en-US" sz="1404" dirty="0"/>
          </a:p>
        </p:txBody>
      </p:sp>
      <p:sp>
        <p:nvSpPr>
          <p:cNvPr id="5" name="84d8b6e2-8a3a-4f4d-a0b4-d4053e9869ab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Segmentador</a:t>
            </a:r>
            <a:endParaRPr lang="en-US" sz="1404" dirty="0"/>
          </a:p>
        </p:txBody>
      </p:sp>
      <p:sp>
        <p:nvSpPr>
          <p:cNvPr id="6" name="fbee733f-bd26-4fd7-be8a-4dd93db0f53d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KPI</a:t>
            </a:r>
            <a:endParaRPr lang="en-US" sz="1404" dirty="0"/>
          </a:p>
        </p:txBody>
      </p:sp>
      <p:sp>
        <p:nvSpPr>
          <p:cNvPr id="7" name="c054f799-38b7-4d18-9f90-cbe227e44d19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marL="0" indent="0" algn="ctr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</a:t>
            </a:r>
            <a:endParaRPr lang="en-US" sz="1404" dirty="0"/>
          </a:p>
        </p:txBody>
      </p:sp>
      <p:sp>
        <p:nvSpPr>
          <p:cNvPr id="8" name="f01e4152-712c-4cb4-87df-1c0f13c17003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Métrica quantitativa comparada a uma meta para medir o sucesso de um processo.</a:t>
            </a:r>
            <a:endParaRPr lang="en-US" sz="1264" dirty="0"/>
          </a:p>
        </p:txBody>
      </p:sp>
      <p:sp>
        <p:nvSpPr>
          <p:cNvPr id="9" name="a235f42f-721d-4023-a631-aee1d0ec8226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Ferramenta de botões interativos que filtra gráficos e tabelas dinâmicas simultaneamente.</a:t>
            </a:r>
            <a:endParaRPr lang="en-US" sz="1264" dirty="0"/>
          </a:p>
        </p:txBody>
      </p:sp>
      <p:sp>
        <p:nvSpPr>
          <p:cNvPr id="10" name="8033cab2-6891-4d2f-915b-5da1cebf09c4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Estruturação narrativa dos dados para explicar causas e recomendar ações práticas.</a:t>
            </a:r>
            <a:endParaRPr lang="en-US" sz="1264" dirty="0"/>
          </a:p>
        </p:txBody>
      </p:sp>
      <p:sp>
        <p:nvSpPr>
          <p:cNvPr id="11" name="c620af88-4a0a-4923-be34-3dfa8a692e68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Painel executivo que centraliza indicadores e gráficos em tela única para tomada de decisão.</a:t>
            </a:r>
            <a:endParaRPr lang="en-US" sz="1264" dirty="0"/>
          </a:p>
        </p:txBody>
      </p:sp>
      <p:sp>
        <p:nvSpPr>
          <p:cNvPr id="12" name="7b5f47ed-7186-44a6-a02c-adb194aaec3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connector-a37a44de-502f-41d9-b957-bdd23287af56-0"/>
          <p:cNvSpPr/>
          <p:nvPr/>
        </p:nvSpPr>
        <p:spPr>
          <a:xfrm>
            <a:off x="2571750" y="1623060"/>
            <a:ext cx="994410" cy="1805940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4" name="connector-a37a44de-502f-41d9-b957-bdd23287af56-1"/>
          <p:cNvSpPr/>
          <p:nvPr/>
        </p:nvSpPr>
        <p:spPr>
          <a:xfrm flipV="1">
            <a:off x="2571750" y="2514600"/>
            <a:ext cx="994410" cy="22860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5" name="connector-a37a44de-502f-41d9-b957-bdd23287af56-2"/>
          <p:cNvSpPr/>
          <p:nvPr/>
        </p:nvSpPr>
        <p:spPr>
          <a:xfrm flipV="1">
            <a:off x="2571750" y="1600200"/>
            <a:ext cx="994410" cy="1851660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6" name="connector-a37a44de-502f-41d9-b957-bdd23287af56-3"/>
          <p:cNvSpPr/>
          <p:nvPr/>
        </p:nvSpPr>
        <p:spPr>
          <a:xfrm flipV="1">
            <a:off x="2571750" y="4343400"/>
            <a:ext cx="994410" cy="22860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7" name="6af92d89-369c-45e0-8f65-2f7b56b6bdcc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</a:t>
            </a:r>
            <a:endParaRPr lang="en-US" sz="913" dirty="0"/>
          </a:p>
        </p:txBody>
      </p:sp>
      <p:sp>
        <p:nvSpPr>
          <p:cNvPr id="18" name="b09635bd-244c-45d9-a2d5-2243e318d2a8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</a:t>
            </a:r>
            <a:endParaRPr lang="en-US" sz="913" dirty="0"/>
          </a:p>
        </p:txBody>
      </p:sp>
      <p:sp>
        <p:nvSpPr>
          <p:cNvPr id="19" name="5bbff56d-2ec4-4c08-8aaa-2e0b0f5f45c0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</a:t>
            </a:r>
            <a:endParaRPr lang="en-US" sz="913" dirty="0"/>
          </a:p>
        </p:txBody>
      </p:sp>
      <p:sp>
        <p:nvSpPr>
          <p:cNvPr id="20" name="4a32c491-1e91-4cbb-b69e-6433a8759b68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</a:t>
            </a:r>
            <a:endParaRPr lang="en-US" sz="913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a278261-33a5-4009-8ed6-f8299f70641b" descr="/home/forge/chalkie-production-workers-3/releases/77653614/backend/storage/app/render-specs/b9b9c656-df7a-4021-a19e-49cf29f58202/img_dce07f8c8ce77c5ec25a0121512c16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41d79be-a7c1-4b38-bc97-00320021d64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Roteiro da Apresentação Oral</a:t>
            </a:r>
            <a:endParaRPr lang="en-US" sz="2246" dirty="0"/>
          </a:p>
        </p:txBody>
      </p:sp>
      <p:sp>
        <p:nvSpPr>
          <p:cNvPr id="4" name="3d581d01-5de0-42f7-a25a-929d68843805"/>
          <p:cNvSpPr/>
          <p:nvPr/>
        </p:nvSpPr>
        <p:spPr>
          <a:xfrm>
            <a:off x="42862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Cada equipe terá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5 a 7 minutos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apresentar seu painel para a turma. Estruturem a fala seguindo este padrão profissional: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Apresentação da Empresa: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Nome fictício e ramo de atuação escolhido.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Demonstração Interativa: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Clicar nos segmentadores ao vivo para mostrar variações.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Insight Principal: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Mostrar qual filial ou item teve o melhor e pior resultado.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Plano de Ação: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Apresentar 2 recomendações concretas baseadas nos dados.</a:t>
            </a:r>
            <a:endParaRPr lang="en-US" sz="126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ab75dc7-83f8-48d0-9713-339bfc078297" descr="/home/forge/chalkie-production-workers-3/releases/77653614/backend/storage/app/render-specs/b9b9c656-df7a-4021-a19e-49cf29f58202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2aaf20e0-7304-4d26-b201-619e2d980ca3" descr="/home/forge/chalkie-production-workers-3/releases/77653614/backend/storage/app/render-specs/b9b9c656-df7a-4021-a19e-49cf29f58202/img_a2b28a9f104e04423e636c20e54307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d348a933-cb63-4963-9872-bcbc8a2eda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O Papel Crítico dos Dados</a:t>
            </a:r>
            <a:endParaRPr lang="en-US" sz="2246" dirty="0"/>
          </a:p>
        </p:txBody>
      </p:sp>
      <p:sp>
        <p:nvSpPr>
          <p:cNvPr id="5" name="e27dbdec-7a53-4085-8f1c-d42fcff78abf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gestor deve confiar 100% nas decisões sugeridas por um dashboard ou a intuição humana e o conhecimento empírico ainda são indispensáveis no dia a dia?</a:t>
            </a:r>
            <a:endParaRPr lang="en-US" sz="126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ab75dc7-83f8-48d0-9713-339bfc078297" descr="/home/forge/chalkie-production-workers-3/releases/77653614/backend/storage/app/render-specs/b9b9c656-df7a-4021-a19e-49cf29f58202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d348a933-cb63-4963-9872-bcbc8a2eda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O Papel Crítico dos Dados</a:t>
            </a:r>
            <a:endParaRPr lang="en-US" sz="2246" dirty="0"/>
          </a:p>
        </p:txBody>
      </p:sp>
      <p:sp>
        <p:nvSpPr>
          <p:cNvPr id="4" name="9d39f48a-0360-4193-b250-a2ac9275b72b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Dashboards trazem dados precisos, eliminando palpites. Contudo, a intuição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humana compreende fatores externos como moral, leis e contexto social. O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é a decisão data-driven: números embasam e a experiência estratégica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humana direciona a execução final.</a:t>
            </a:r>
            <a:endParaRPr lang="en-US" sz="1264" dirty="0"/>
          </a:p>
        </p:txBody>
      </p:sp>
      <p:sp>
        <p:nvSpPr>
          <p:cNvPr id="5" name="c3bae97e-e576-4ca6-8bef-9661f5acc6d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776d29e-8008-4d17-9ed2-2ee65da7e372" descr="/home/forge/chalkie-production-workers-3/releases/77653614/backend/storage/app/render-specs/b9b9c656-df7a-4021-a19e-49cf29f58202/img_b8e2e30cbb6ba10a8acb00af0ff4b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cfa4b6a3-ef71-4083-aab6-09e0c3dbd88d" descr="/home/forge/chalkie-production-workers-3/releases/77653614/backend/storage/app/render-specs/b9b9c656-df7a-4021-a19e-49cf29f58202/img_ddc7cc2907e39317fc5dd8d96035c6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a87c33f0-014f-4142-b983-f5ba6b12eb8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Atividade Avaliativa 4: Projeto Final</a:t>
            </a:r>
            <a:endParaRPr lang="en-US" sz="2246" dirty="0"/>
          </a:p>
        </p:txBody>
      </p:sp>
      <p:sp>
        <p:nvSpPr>
          <p:cNvPr id="5" name="b6cf11bc-6505-4537-9625-a9c78176cf67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Trabalho prático (90 min, grupos até 4):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Escolham 1 dataset (Vendas, Logística ou RH).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Tratem dados e calculem métricas.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Criem tabelas dinâmicas, 3 KPIs e 2 gráficos.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Configurem 2 segmentadores conectados.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Defesa (5 min): 1 diagnóstico e 1 sugestão.</a:t>
            </a:r>
            <a:endParaRPr lang="en-US" sz="126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4cd93ff-24e0-427f-80fd-7df9a36b07e9" descr="/home/forge/chalkie-production-workers-3/releases/77653614/backend/storage/app/render-specs/b9b9c656-df7a-4021-a19e-49cf29f58202/img_74db676abbf9321227487417a15623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abb788db-2221-45e8-98f4-e479688a7ab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Final do Curso</a:t>
            </a:r>
            <a:endParaRPr lang="en-US" sz="2246" dirty="0"/>
          </a:p>
        </p:txBody>
      </p:sp>
      <p:sp>
        <p:nvSpPr>
          <p:cNvPr id="4" name="88dbb8a2-22b9-4d5b-b7ab-dde6271258df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principal função de um cartão de KPI no topo de um dashboard?</a:t>
            </a:r>
            <a:endParaRPr lang="en-US" sz="1264" dirty="0"/>
          </a:p>
        </p:txBody>
      </p:sp>
      <p:sp>
        <p:nvSpPr>
          <p:cNvPr id="5" name="7708a74e-8ffe-40a7-be99-6e8990e705e1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devemos separar a aba de dados brutos da aba do dashboard final?</a:t>
            </a:r>
            <a:endParaRPr lang="en-US" sz="1264" dirty="0"/>
          </a:p>
        </p:txBody>
      </p:sp>
      <p:sp>
        <p:nvSpPr>
          <p:cNvPr id="6" name="bf29ea30-4eb2-489a-94aa-33a5f621d043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a opção 'Conexões de Relatório' faz em um segmentador de dados?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b788db-2221-45e8-98f4-e479688a7ab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Final do Curso</a:t>
            </a:r>
            <a:endParaRPr lang="en-US" sz="2246" dirty="0"/>
          </a:p>
        </p:txBody>
      </p:sp>
      <p:sp>
        <p:nvSpPr>
          <p:cNvPr id="3" name="dc5ab657-bdda-4eca-9cb2-d3cb0b167863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Destacar a métrica mais importante do negócio com seu valor e comparação de meta.</a:t>
            </a:r>
            <a:endParaRPr lang="en-US" sz="1264" dirty="0"/>
          </a:p>
        </p:txBody>
      </p:sp>
      <p:sp>
        <p:nvSpPr>
          <p:cNvPr id="4" name="fdbe1bc4-328d-4091-b09d-a42b40c78ed4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manter o relatório organizado, limpo e seguro contra edições acidentais de fórmulas.</a:t>
            </a:r>
            <a:endParaRPr lang="en-US" sz="1264" dirty="0"/>
          </a:p>
        </p:txBody>
      </p:sp>
      <p:sp>
        <p:nvSpPr>
          <p:cNvPr id="5" name="bd593ed0-5642-4957-99b0-e216c92d7228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Conecta o mesmo filtro a múltiplas tabelas e gráficos dinâmicos simultaneamente.</a:t>
            </a:r>
            <a:endParaRPr lang="en-US" sz="1264" dirty="0"/>
          </a:p>
        </p:txBody>
      </p:sp>
      <p:sp>
        <p:nvSpPr>
          <p:cNvPr id="6" name="ce9c098b-9b08-47a6-8f19-684f006af01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b0facc-e2a3-4a0d-b887-99db4869f498" descr="/home/forge/chalkie-production-workers-3/releases/77653614/backend/storage/app/render-specs/b9b9c656-df7a-4021-a19e-49cf29f58202/img_be4bbdedc4d40ca8b107e3fccab4b0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87778bf7-cf67-4e6b-8e03-e070a19f9a7a"/>
          <p:cNvSpPr/>
          <p:nvPr/>
        </p:nvSpPr>
        <p:spPr>
          <a:xfrm>
            <a:off x="285750" y="89154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Prontos para o Mercado de Dados</a:t>
            </a:r>
            <a:endParaRPr lang="en-US" sz="2246" dirty="0"/>
          </a:p>
        </p:txBody>
      </p:sp>
      <p:sp>
        <p:nvSpPr>
          <p:cNvPr id="4" name="33ad236f-f194-4a33-823a-c5461d8fecec"/>
          <p:cNvSpPr/>
          <p:nvPr/>
        </p:nvSpPr>
        <p:spPr>
          <a:xfrm>
            <a:off x="285750" y="1977390"/>
            <a:ext cx="51435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Parabéns por completarem a jornada de Análise de Dados Aplicada à Gestão!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Vocês dominaram a matemática prática, a modelagem em planilhas e a arte de transformar números brutos em decisões que impactam empresas reais. Usem esse poder analítico com ética, rigor e criatividade!</a:t>
            </a:r>
            <a:endParaRPr lang="en-US" sz="12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2499</Words>
  <Application>Microsoft Office PowerPoint</Application>
  <PresentationFormat>Apresentação no Ecrã (16:9)</PresentationFormat>
  <Paragraphs>301</Paragraphs>
  <Slides>41</Slides>
  <Notes>41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41</vt:i4>
      </vt:variant>
    </vt:vector>
  </HeadingPairs>
  <TitlesOfParts>
    <vt:vector size="44" baseType="lpstr">
      <vt:lpstr>Dyslexie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Dashboards Executivos e Projeto Final Integrado</dc:title>
  <dc:subject>PptxGenJS Presentation</dc:subject>
  <dc:creator>PptxGenJS</dc:creator>
  <cp:lastModifiedBy>Gelvazio Camargo - HOTMAIL</cp:lastModifiedBy>
  <cp:revision>2</cp:revision>
  <dcterms:created xsi:type="dcterms:W3CDTF">2026-09-14T12:52:06Z</dcterms:created>
  <dcterms:modified xsi:type="dcterms:W3CDTF">2026-09-14T13:12:26Z</dcterms:modified>
</cp:coreProperties>
</file>