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5143500" cy="9144000"/>
  <p:embeddedFontLst>
    <p:embeddedFont>
      <p:font typeface="Dyslexie" panose="020B0604020202020204" charset="0"/>
      <p:regular r:id="rId45"/>
      <p:bold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5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6e6d1ee-e6a7-4741-94df-71698ae8970f" descr="/home/forge/chalkie-production-workers-1/releases/77642309/backend/storage/app/render-specs/d7f03cf3-4d3b-4f2b-9187-5ba3f4371d95/img_09ace7665a3e8b78ced7e3d890cec0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8882cdab-9a4f-4c53-a462-972ee610ffa2"/>
          <p:cNvSpPr/>
          <p:nvPr/>
        </p:nvSpPr>
        <p:spPr>
          <a:xfrm>
            <a:off x="4914900" y="113157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 Avançado e Visualização de Dados</a:t>
            </a:r>
            <a:endParaRPr lang="en-US" sz="2527" dirty="0"/>
          </a:p>
        </p:txBody>
      </p:sp>
      <p:sp>
        <p:nvSpPr>
          <p:cNvPr id="4" name="ece9711d-b116-4e0f-9169-6e61e55d7536"/>
          <p:cNvSpPr/>
          <p:nvPr/>
        </p:nvSpPr>
        <p:spPr>
          <a:xfrm>
            <a:off x="4914900" y="2834640"/>
            <a:ext cx="382905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Domine buscas, lógica condicional, tabelas dinâmicas e gráficos estratégicos.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d304f39-b3fd-4a3a-a444-856c2d208581" descr="/home/forge/chalkie-production-workers-1/releases/77642309/backend/storage/app/render-specs/d7f03cf3-4d3b-4f2b-9187-5ba3f4371d95/img_d888906e32266e6fc6e7293cc00298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95c8a84c-b121-4141-bc91-52ae5344be96"/>
          <p:cNvSpPr/>
          <p:nvPr/>
        </p:nvSpPr>
        <p:spPr>
          <a:xfrm>
            <a:off x="285750" y="14401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Desafio dos Dados Ocultos</a:t>
            </a:r>
            <a:endParaRPr lang="en-US" sz="2246" dirty="0"/>
          </a:p>
        </p:txBody>
      </p:sp>
      <p:sp>
        <p:nvSpPr>
          <p:cNvPr id="4" name="29afa8c0-0b70-4b90-bff6-347c6202cb18"/>
          <p:cNvSpPr/>
          <p:nvPr/>
        </p:nvSpPr>
        <p:spPr>
          <a:xfrm>
            <a:off x="285750" y="25260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procurar um código em 50 mil linhas manualmente. Você gastaria dias inteiros! Como analistas fazem isso em menos de um segundo?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5a6a6f-3761-46c3-b069-1a5a953ca6c7" descr="/home/forge/chalkie-production-workers-1/releases/77642309/backend/storage/app/render-specs/d7f03cf3-4d3b-4f2b-9187-5ba3f4371d95/img_357043d4d4d32cdf59df483d6d4ba9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26ee465-2ed3-448d-a621-87f4355f6eb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Nossa Aula</a:t>
            </a:r>
            <a:endParaRPr lang="en-US" sz="2246" dirty="0"/>
          </a:p>
        </p:txBody>
      </p:sp>
      <p:sp>
        <p:nvSpPr>
          <p:cNvPr id="4" name="02d80ea6-d941-4a81-b19f-1ec60c5705cb"/>
          <p:cNvSpPr/>
          <p:nvPr/>
        </p:nvSpPr>
        <p:spPr>
          <a:xfrm>
            <a:off x="4286250" y="868680"/>
            <a:ext cx="27889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METAS DE APRENDIZAGEM</a:t>
            </a:r>
            <a:endParaRPr lang="en-US" sz="842" dirty="0"/>
          </a:p>
        </p:txBody>
      </p:sp>
      <p:sp>
        <p:nvSpPr>
          <p:cNvPr id="5" name="9e955b44-8022-427c-a9af-c07c993e0788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Nesta aula de análise aplicada, você irá desenvolver competências essenciais: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Automatizar buscas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utilizando PROCV, PROCH e a dupla ÍNDICE e CORRESPONDÊNCIA.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Estruturar lógicas avançadas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 funções condicionais aninhadas, SOMASE, CONT.SE e SEERRO.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Sintetizar relatórios gerenciais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construindo Tabelas Dinâmicas, segmentadores e gráficos ideais.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2a60cd-c262-4c1e-ab49-71ef131a3230" descr="/home/forge/chalkie-production-workers-1/releases/77642309/backend/storage/app/render-specs/d7f03cf3-4d3b-4f2b-9187-5ba3f4371d95/img_70b6cb1d219078c905215dc33c5e03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f32c6a69-f3c8-4ffd-aa8e-08dad4eeabdb" descr="/home/forge/chalkie-production-workers-1/releases/77642309/backend/storage/app/render-specs/d7f03cf3-4d3b-4f2b-9187-5ba3f4371d95/img_f1a9f6e4336a1406eb6bd5ab2abb0b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df7b9b09-c429-400d-b431-5fb81b200a5f" descr="/home/forge/chalkie-production-workers-1/releases/77642309/backend/storage/app/render-specs/d7f03cf3-4d3b-4f2b-9187-5ba3f4371d95/img_977d24c323992234ad2161f71b48c19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b642e008-352f-442c-890b-3c1208698787" descr="/home/forge/chalkie-production-workers-1/releases/77642309/backend/storage/app/render-specs/d7f03cf3-4d3b-4f2b-9187-5ba3f4371d95/img_0131dad0e2c9625038c3ab47bbd37bb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3c3a58b2-72b2-41c1-b42e-94cab78be10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 da Aula</a:t>
            </a:r>
            <a:endParaRPr lang="en-US" sz="2246" dirty="0"/>
          </a:p>
        </p:txBody>
      </p:sp>
      <p:sp>
        <p:nvSpPr>
          <p:cNvPr id="7" name="ad17cec8-9325-47b5-98a5-206fc283c0d1"/>
          <p:cNvSpPr/>
          <p:nvPr/>
        </p:nvSpPr>
        <p:spPr>
          <a:xfrm>
            <a:off x="285750" y="34290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Busca vertical de valores em colunas específicas.</a:t>
            </a:r>
            <a:endParaRPr lang="en-US" sz="1264" dirty="0"/>
          </a:p>
        </p:txBody>
      </p:sp>
      <p:sp>
        <p:nvSpPr>
          <p:cNvPr id="8" name="c7838223-f07f-4ee9-ac77-536d93bf602b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Aninhamento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Técnica de inserir uma função dentro de outra.</a:t>
            </a:r>
            <a:endParaRPr lang="en-US" sz="1264" dirty="0"/>
          </a:p>
        </p:txBody>
      </p:sp>
      <p:sp>
        <p:nvSpPr>
          <p:cNvPr id="9" name="4410be69-3082-4404-9d93-bb95d183d01b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 Dinâmica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Ferramenta para resumo e análise multidimensional.</a:t>
            </a:r>
            <a:endParaRPr lang="en-US" sz="1264" dirty="0"/>
          </a:p>
        </p:txBody>
      </p:sp>
      <p:sp>
        <p:nvSpPr>
          <p:cNvPr id="10" name="184152f4-1436-481f-9141-2c4d27c4c5ed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Filtro visual interativo para relatórios dinâmicos.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2a71414-7ded-47ab-a9cd-0323438c050d" descr="/home/forge/chalkie-production-workers-1/releases/77642309/backend/storage/app/render-specs/d7f03cf3-4d3b-4f2b-9187-5ba3f4371d95/img_0b0b9cd39b949dbca5e14a791e3f37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63d24ef-c8c4-4b14-91f1-9cac161ad29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Fundamentos do Excel</a:t>
            </a:r>
            <a:endParaRPr lang="en-US" sz="2246" dirty="0"/>
          </a:p>
        </p:txBody>
      </p:sp>
      <p:sp>
        <p:nvSpPr>
          <p:cNvPr id="4" name="ecb92e1b-dd94-4c40-a713-7884b4babe2f"/>
          <p:cNvSpPr/>
          <p:nvPr/>
        </p:nvSpPr>
        <p:spPr>
          <a:xfrm>
            <a:off x="285750" y="868680"/>
            <a:ext cx="18288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RECAPITULAÇÃO</a:t>
            </a:r>
            <a:endParaRPr lang="en-US" sz="842" dirty="0"/>
          </a:p>
        </p:txBody>
      </p:sp>
      <p:sp>
        <p:nvSpPr>
          <p:cNvPr id="5" name="21b685b2-e9a6-40bf-a920-626b24f6fa1e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aula anterior, aprendemos como operar com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relativas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(A1) 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absolutas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($A$1), fundamentais para travar células ao arrastar fórmulas. Também estruturamos listas com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evitar erros de digitação.</a:t>
            </a:r>
            <a:endParaRPr lang="en-US" sz="1264" dirty="0"/>
          </a:p>
        </p:txBody>
      </p:sp>
      <p:sp>
        <p:nvSpPr>
          <p:cNvPr id="6" name="00ea789d-8c80-4d15-ae86-095f1776f666_card"/>
          <p:cNvSpPr/>
          <p:nvPr/>
        </p:nvSpPr>
        <p:spPr>
          <a:xfrm>
            <a:off x="285750" y="300609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00ea789d-8c80-4d15-ae86-095f1776f666_emoji"/>
          <p:cNvSpPr/>
          <p:nvPr/>
        </p:nvSpPr>
        <p:spPr>
          <a:xfrm>
            <a:off x="400050" y="3154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0ea789d-8c80-4d15-ae86-095f1776f666_text"/>
          <p:cNvSpPr/>
          <p:nvPr/>
        </p:nvSpPr>
        <p:spPr>
          <a:xfrm>
            <a:off x="765810" y="312039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cifrão trava linha e coluna, garantindo consistência matemática nas fórmulas.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d5833a3-ae0e-4552-91e8-fc463f83026e" descr="/home/forge/chalkie-production-workers-1/releases/77642309/backend/storage/app/render-specs/d7f03cf3-4d3b-4f2b-9187-5ba3f4371d95/img_74db676abbf9321227487417a15623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8b34d198-e75b-44c8-b9c5-4dbaa2d5728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 Rápido de Aquecimento</a:t>
            </a:r>
            <a:endParaRPr lang="en-US" sz="2246" dirty="0"/>
          </a:p>
        </p:txBody>
      </p:sp>
      <p:sp>
        <p:nvSpPr>
          <p:cNvPr id="4" name="c2a30ac9-c596-445d-bdc3-dd1433f05917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caractere transforma uma referência de célula relativa em absoluta?</a:t>
            </a:r>
            <a:endParaRPr lang="en-US" sz="1264" dirty="0"/>
          </a:p>
        </p:txBody>
      </p:sp>
      <p:sp>
        <p:nvSpPr>
          <p:cNvPr id="5" name="bf5aa861-ca8c-4c7d-8ff3-9b3eb2e920ba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recurso impede que usuários digitem dados inválidos em uma célula?</a:t>
            </a:r>
            <a:endParaRPr lang="en-US" sz="1264" dirty="0"/>
          </a:p>
        </p:txBody>
      </p:sp>
      <p:sp>
        <p:nvSpPr>
          <p:cNvPr id="6" name="ee8b3444-c262-4e25-af54-799a3f99be4a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que serve a função SE básica aprendida na aula anterior?</a:t>
            </a:r>
            <a:endParaRPr lang="en-US" sz="126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b34d198-e75b-44c8-b9c5-4dbaa2d5728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 Rápido de Aquecimento</a:t>
            </a:r>
            <a:endParaRPr lang="en-US" sz="2246" dirty="0"/>
          </a:p>
        </p:txBody>
      </p:sp>
      <p:sp>
        <p:nvSpPr>
          <p:cNvPr id="3" name="f332fc5b-17d0-42d5-95bd-0f9ac761e57d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símbolo de cifrão ($).</a:t>
            </a:r>
            <a:endParaRPr lang="en-US" sz="1264" dirty="0"/>
          </a:p>
        </p:txBody>
      </p:sp>
      <p:sp>
        <p:nvSpPr>
          <p:cNvPr id="4" name="f11a4ab8-9d5f-4703-8408-f796fce1db12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dados.</a:t>
            </a:r>
            <a:endParaRPr lang="en-US" sz="1264" dirty="0"/>
          </a:p>
        </p:txBody>
      </p:sp>
      <p:sp>
        <p:nvSpPr>
          <p:cNvPr id="5" name="1600c4f7-1565-4259-ae06-1fe374ebf5ce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Avaliar uma condição lógica e retornar valores para verdadeiro ou falso.</a:t>
            </a:r>
            <a:endParaRPr lang="en-US" sz="1264" dirty="0"/>
          </a:p>
        </p:txBody>
      </p:sp>
      <p:sp>
        <p:nvSpPr>
          <p:cNvPr id="6" name="c431fcc4-0114-473a-b4d8-f049a7219e9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488e274-267c-4860-bced-11ecf918e0cc" descr="/home/forge/chalkie-production-workers-1/releases/77642309/backend/storage/app/render-specs/d7f03cf3-4d3b-4f2b-9187-5ba3f4371d95/img_d0b622869b8bec671b682a78348f29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4f50c11-4a82-4455-a75f-2a90ccb4a0d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Busca Vertical com PROCV</a:t>
            </a:r>
            <a:endParaRPr lang="en-US" sz="2246" dirty="0"/>
          </a:p>
        </p:txBody>
      </p:sp>
      <p:sp>
        <p:nvSpPr>
          <p:cNvPr id="4" name="5c1c7e12-138a-484b-8349-a391791d8aab"/>
          <p:cNvSpPr/>
          <p:nvPr/>
        </p:nvSpPr>
        <p:spPr>
          <a:xfrm>
            <a:off x="285750" y="868680"/>
            <a:ext cx="245745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 DE PROCURA</a:t>
            </a:r>
            <a:endParaRPr lang="en-US" sz="842" dirty="0"/>
          </a:p>
        </p:txBody>
      </p:sp>
      <p:sp>
        <p:nvSpPr>
          <p:cNvPr id="5" name="7501e6ae-486b-45e3-bad9-0ffd46364a06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procura um código na primeira coluna à esquerda de uma matriz e retorna o conteúdo correspondente de outra coluna da mesma linha.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Sua sintaxe padrão é: .</a:t>
            </a:r>
            <a:endParaRPr lang="en-US" sz="1264" dirty="0"/>
          </a:p>
        </p:txBody>
      </p:sp>
      <p:sp>
        <p:nvSpPr>
          <p:cNvPr id="6" name="58d5c361-a027-4e8d-a172-cb5603596529_card"/>
          <p:cNvSpPr/>
          <p:nvPr/>
        </p:nvSpPr>
        <p:spPr>
          <a:xfrm>
            <a:off x="285750" y="28232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58d5c361-a027-4e8d-a172-cb5603596529_emoji"/>
          <p:cNvSpPr/>
          <p:nvPr/>
        </p:nvSpPr>
        <p:spPr>
          <a:xfrm>
            <a:off x="400050" y="29718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58d5c361-a027-4e8d-a172-cb5603596529_text"/>
          <p:cNvSpPr/>
          <p:nvPr/>
        </p:nvSpPr>
        <p:spPr>
          <a:xfrm>
            <a:off x="765810" y="29375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SEMPRE FALSO ou 0 no quarto argumento para obter busca exata.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45dc88-79b5-47b0-9d68-d19395210836"/>
          <p:cNvSpPr/>
          <p:nvPr/>
        </p:nvSpPr>
        <p:spPr>
          <a:xfrm>
            <a:off x="285750" y="72009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 em Operação Prática</a:t>
            </a:r>
            <a:endParaRPr lang="en-US" sz="2246" dirty="0"/>
          </a:p>
        </p:txBody>
      </p:sp>
      <p:sp>
        <p:nvSpPr>
          <p:cNvPr id="3" name="ef2b2c28-3160-4536-bef7-0283f7992938"/>
          <p:cNvSpPr/>
          <p:nvPr/>
        </p:nvSpPr>
        <p:spPr>
          <a:xfrm>
            <a:off x="285750" y="134874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da Fórmula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cadastrar o produto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Cod-102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buscamos seu valor unitário na tabela :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indica que o preço está na terceira coluna da matriz selecionada.</a:t>
            </a:r>
            <a:endParaRPr lang="en-US" sz="1544" dirty="0"/>
          </a:p>
        </p:txBody>
      </p:sp>
      <p:sp>
        <p:nvSpPr>
          <p:cNvPr id="4" name="74002676-e17a-4392-aa44-e25cc0f4e510_card"/>
          <p:cNvSpPr/>
          <p:nvPr/>
        </p:nvSpPr>
        <p:spPr>
          <a:xfrm>
            <a:off x="4652010" y="1348740"/>
            <a:ext cx="4194810" cy="1635887"/>
          </a:xfrm>
          <a:prstGeom prst="roundRect">
            <a:avLst>
              <a:gd name="adj" fmla="val 5590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5" name="74002676-e17a-4392-aa44-e25cc0f4e510_emoji"/>
          <p:cNvSpPr/>
          <p:nvPr/>
        </p:nvSpPr>
        <p:spPr>
          <a:xfrm>
            <a:off x="4766310" y="1497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6" name="74002676-e17a-4392-aa44-e25cc0f4e510_text"/>
          <p:cNvSpPr/>
          <p:nvPr/>
        </p:nvSpPr>
        <p:spPr>
          <a:xfrm>
            <a:off x="5132070" y="1463040"/>
            <a:ext cx="360045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chave procurada DEVE estar obrigatoriamente na PRIMEIRA coluna da matriz selecionada, senão a busca falhará.</a:t>
            </a:r>
            <a:endParaRPr lang="en-US" sz="1123" dirty="0"/>
          </a:p>
        </p:txBody>
      </p:sp>
      <p:sp>
        <p:nvSpPr>
          <p:cNvPr id="7" name="56f493f7-8dab-4177-bfbc-6bd69663b20b"/>
          <p:cNvSpPr/>
          <p:nvPr/>
        </p:nvSpPr>
        <p:spPr>
          <a:xfrm>
            <a:off x="4652010" y="3108960"/>
            <a:ext cx="419481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tabela mudar de lugar, utilize referências absolutas com  para manter a pesquisa estável.</a:t>
            </a:r>
            <a:endParaRPr lang="en-US" sz="126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4c55a8-4c7d-45b4-b075-fd680f346717" descr="/home/forge/chalkie-production-workers-1/releases/77642309/backend/storage/app/render-specs/d7f03cf3-4d3b-4f2b-9187-5ba3f4371d95/img_8468a66e88fc039bd1874920be23a7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78c7c23b-133e-4dd7-b3a9-66fe829d68b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Busca Horizontal com PROCH</a:t>
            </a:r>
            <a:endParaRPr lang="en-US" sz="2246" dirty="0"/>
          </a:p>
        </p:txBody>
      </p:sp>
      <p:sp>
        <p:nvSpPr>
          <p:cNvPr id="4" name="a1a1c349-1f37-4abf-940e-1159d29a828d"/>
          <p:cNvSpPr/>
          <p:nvPr/>
        </p:nvSpPr>
        <p:spPr>
          <a:xfrm>
            <a:off x="4286250" y="868680"/>
            <a:ext cx="245745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 DE PROCURA</a:t>
            </a:r>
            <a:endParaRPr lang="en-US" sz="842" dirty="0"/>
          </a:p>
        </p:txBody>
      </p:sp>
      <p:sp>
        <p:nvSpPr>
          <p:cNvPr id="5" name="38d62e56-bb9e-4a29-9ad2-7fd04afd1659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a base está disposta horizontalmente em linhas, usamos 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PROCH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 localiza a chave na primeira linha da matriz e extrai a informação da linha correspondente indicada pelo índice.</a:t>
            </a:r>
            <a:endParaRPr lang="en-US" sz="1264" dirty="0"/>
          </a:p>
        </p:txBody>
      </p:sp>
      <p:sp>
        <p:nvSpPr>
          <p:cNvPr id="6" name="14ee4b22-961a-44d0-a25c-f22837d98746_card"/>
          <p:cNvSpPr/>
          <p:nvPr/>
        </p:nvSpPr>
        <p:spPr>
          <a:xfrm>
            <a:off x="4286250" y="30746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14ee4b22-961a-44d0-a25c-f22837d98746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14ee4b22-961a-44d0-a25c-f22837d98746_text"/>
          <p:cNvSpPr/>
          <p:nvPr/>
        </p:nvSpPr>
        <p:spPr>
          <a:xfrm>
            <a:off x="4766310" y="31889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=PROCH("Meta"; A1:Z4; 2; FALSO) retorna o valor situado na linha 2.</a:t>
            </a:r>
            <a:endParaRPr lang="en-US" sz="112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09b8d14-ece8-4bef-a28f-55bb35744414" descr="/home/forge/chalkie-production-workers-1/releases/77642309/backend/storage/app/render-specs/d7f03cf3-4d3b-4f2b-9187-5ba3f4371d95/img_1fdb99572f7230f29baa7784151694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74c51abb-763e-4e88-8c71-a27ea17f0a5e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Dupla Flexível: ÍNDICE e CORRESPONDÊNCIA</a:t>
            </a:r>
            <a:endParaRPr lang="en-US" sz="2246" dirty="0"/>
          </a:p>
        </p:txBody>
      </p:sp>
      <p:sp>
        <p:nvSpPr>
          <p:cNvPr id="4" name="30fb73df-8ae5-45af-a8fc-08518a295a4d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Limitação do PROCV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PROCV só enxerga colunas à direita da chave. Se a chave estiver à direita do resultado, o PROCV não funciona.</a:t>
            </a:r>
            <a:endParaRPr lang="en-US" sz="1544" dirty="0"/>
          </a:p>
        </p:txBody>
      </p:sp>
      <p:sp>
        <p:nvSpPr>
          <p:cNvPr id="5" name="c6e5a6d2-3b2e-4f3a-9ee7-0d8dba843819"/>
          <p:cNvSpPr/>
          <p:nvPr/>
        </p:nvSpPr>
        <p:spPr>
          <a:xfrm>
            <a:off x="4652010" y="9372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Combinação Perfeita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CORRESPONDÊNCIA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descobre o número da linha.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ÍNDICE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busca o dado em qualquer coluna.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 combinada:</a:t>
            </a:r>
            <a:endParaRPr lang="en-US" sz="1544" dirty="0"/>
          </a:p>
        </p:txBody>
      </p:sp>
      <p:sp>
        <p:nvSpPr>
          <p:cNvPr id="6" name="ce0b3e28-60da-431a-bd9d-f1aa7e276dc1_card"/>
          <p:cNvSpPr/>
          <p:nvPr/>
        </p:nvSpPr>
        <p:spPr>
          <a:xfrm>
            <a:off x="4652010" y="307467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ce0b3e28-60da-431a-bd9d-f1aa7e276dc1_emoji"/>
          <p:cNvSpPr/>
          <p:nvPr/>
        </p:nvSpPr>
        <p:spPr>
          <a:xfrm>
            <a:off x="476631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ce0b3e28-60da-431a-bd9d-f1aa7e276dc1_text"/>
          <p:cNvSpPr/>
          <p:nvPr/>
        </p:nvSpPr>
        <p:spPr>
          <a:xfrm>
            <a:off x="5132070" y="318897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ÍNDICE e CORRESPONDÊNCIA buscam em qualquer direção, inclusive para a esquerda.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bd1626-34a7-44f4-8351-446440186c6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Funções de Procura</a:t>
            </a:r>
            <a:endParaRPr lang="en-US" sz="2246" dirty="0"/>
          </a:p>
        </p:txBody>
      </p:sp>
      <p:sp>
        <p:nvSpPr>
          <p:cNvPr id="3" name="ab5c244b-2fa7-4594-90f8-9e793dce8c12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principal vantagem de usar ÍNDICE com CORRESPONDÊNCIA em vez de PROCV?</a:t>
            </a:r>
            <a:endParaRPr lang="en-US" sz="1264" dirty="0"/>
          </a:p>
        </p:txBody>
      </p:sp>
      <p:sp>
        <p:nvSpPr>
          <p:cNvPr id="4" name="107c544c-dd5d-443b-8a1f-27f835d6267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1651efe2-797e-42a6-a172-73e3ae8eb6ea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Executa cálculos matemáticos de soma automaticamente.</a:t>
            </a:r>
            <a:endParaRPr lang="en-US" sz="1264" dirty="0"/>
          </a:p>
        </p:txBody>
      </p:sp>
      <p:sp>
        <p:nvSpPr>
          <p:cNvPr id="6" name="96971f57-a200-4620-af4a-aabf59f3c2ef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b9ce326e-b1cc-45f5-9645-f4681fd9278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Só funciona com tabelas formatadas em ordem alfabética estrita.</a:t>
            </a:r>
            <a:endParaRPr lang="en-US" sz="1264" dirty="0"/>
          </a:p>
        </p:txBody>
      </p:sp>
      <p:sp>
        <p:nvSpPr>
          <p:cNvPr id="8" name="22d711d8-d4a9-4842-894b-1cdef8d6c77d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09d3a762-f42c-4ac4-9111-23dbc328e00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Permite retornar dados situados à esquerda da coluna de pesquisa.</a:t>
            </a:r>
            <a:endParaRPr lang="en-US" sz="1264" dirty="0"/>
          </a:p>
        </p:txBody>
      </p:sp>
      <p:sp>
        <p:nvSpPr>
          <p:cNvPr id="10" name="0c67887f-62b4-458f-b156-47c23236ace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1d08f906-8d3f-479e-9d1e-561d0e78fda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Dispensa a necessidade de indicar qualquer matriz de busca.</a:t>
            </a:r>
            <a:endParaRPr lang="en-US" sz="126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bd1626-34a7-44f4-8351-446440186c6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Funções de Procura</a:t>
            </a:r>
            <a:endParaRPr lang="en-US" sz="2246" dirty="0"/>
          </a:p>
        </p:txBody>
      </p:sp>
      <p:sp>
        <p:nvSpPr>
          <p:cNvPr id="3" name="ab5c244b-2fa7-4594-90f8-9e793dce8c12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principal vantagem de usar ÍNDICE com CORRESPONDÊNCIA em vez de PROCV?</a:t>
            </a:r>
            <a:endParaRPr lang="en-US" sz="1264" dirty="0"/>
          </a:p>
        </p:txBody>
      </p:sp>
      <p:sp>
        <p:nvSpPr>
          <p:cNvPr id="4" name="107c544c-dd5d-443b-8a1f-27f835d6267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1651efe2-797e-42a6-a172-73e3ae8eb6ea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Executa cálculos matemáticos de soma automaticamente.</a:t>
            </a:r>
            <a:endParaRPr lang="en-US" sz="1264" dirty="0"/>
          </a:p>
        </p:txBody>
      </p:sp>
      <p:sp>
        <p:nvSpPr>
          <p:cNvPr id="6" name="96971f57-a200-4620-af4a-aabf59f3c2ef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b9ce326e-b1cc-45f5-9645-f4681fd9278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Só funciona com tabelas formatadas em ordem alfabética estrita.</a:t>
            </a:r>
            <a:endParaRPr lang="en-US" sz="1264" dirty="0"/>
          </a:p>
        </p:txBody>
      </p:sp>
      <p:sp>
        <p:nvSpPr>
          <p:cNvPr id="8" name="22d711d8-d4a9-4842-894b-1cdef8d6c77d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09d3a762-f42c-4ac4-9111-23dbc328e00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Permite retornar dados situados à esquerda da coluna de pesquisa.</a:t>
            </a:r>
            <a:endParaRPr lang="en-US" sz="1264" dirty="0"/>
          </a:p>
        </p:txBody>
      </p:sp>
      <p:sp>
        <p:nvSpPr>
          <p:cNvPr id="10" name="0c67887f-62b4-458f-b156-47c23236ace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1d08f906-8d3f-479e-9d1e-561d0e78fda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Dispensa a necessidade de indicar qualquer matriz de busca.</a:t>
            </a:r>
            <a:endParaRPr lang="en-US" sz="1264" dirty="0"/>
          </a:p>
        </p:txBody>
      </p:sp>
      <p:sp>
        <p:nvSpPr>
          <p:cNvPr id="12" name="77b60ed4-8ace-4124-955b-de3b2948057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62ecd633-1f1b-43f6-8acd-f7834a4b615a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a842593-dc25-45ce-99b1-cb7bc679956e" descr="/home/forge/chalkie-production-workers-1/releases/77642309/backend/storage/app/render-specs/d7f03cf3-4d3b-4f2b-9187-5ba3f4371d95/img_b7cc17364fb166c383fbdb1fd319ef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bd469977-c603-44ec-a9ca-911d8fdcc01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Condicional com SE Aninhado</a:t>
            </a:r>
            <a:endParaRPr lang="en-US" sz="2246" dirty="0"/>
          </a:p>
        </p:txBody>
      </p:sp>
      <p:sp>
        <p:nvSpPr>
          <p:cNvPr id="4" name="e81fa3b0-ec3b-40b8-8349-1f72dff8a0df"/>
          <p:cNvSpPr/>
          <p:nvPr/>
        </p:nvSpPr>
        <p:spPr>
          <a:xfrm>
            <a:off x="285750" y="868680"/>
            <a:ext cx="29603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ESTRUTURAS CONDICIONAIS</a:t>
            </a:r>
            <a:endParaRPr lang="en-US" sz="842" dirty="0"/>
          </a:p>
        </p:txBody>
      </p:sp>
      <p:sp>
        <p:nvSpPr>
          <p:cNvPr id="5" name="015bc45b-1802-4a7c-b512-35772847d529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um teste lógico simples não basta, inserimos uma nova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dentro do argumento falso de outra. Essa técnica é 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aninhamento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Permite classificar múltiplas faixas de notas, faixas etárias ou comissões de vendas.</a:t>
            </a:r>
            <a:endParaRPr lang="en-US" sz="1264" dirty="0"/>
          </a:p>
        </p:txBody>
      </p:sp>
      <p:sp>
        <p:nvSpPr>
          <p:cNvPr id="6" name="bb17e98f-22ed-4d16-962e-acd9123953f5_card"/>
          <p:cNvSpPr/>
          <p:nvPr/>
        </p:nvSpPr>
        <p:spPr>
          <a:xfrm>
            <a:off x="285750" y="333756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bb17e98f-22ed-4d16-962e-acd9123953f5_emoji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bb17e98f-22ed-4d16-962e-acd9123953f5_text"/>
          <p:cNvSpPr/>
          <p:nvPr/>
        </p:nvSpPr>
        <p:spPr>
          <a:xfrm>
            <a:off x="765810" y="345186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=SE(B2&gt;=90; "Excelente"; SE(B2&gt;=70; "Bom"; "Reforço"))</a:t>
            </a:r>
            <a:endParaRPr lang="en-US" sz="11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aff3f16-21cb-4476-a36a-fb63b74196db" descr="/home/forge/chalkie-production-workers-1/releases/77642309/backend/storage/app/render-specs/d7f03cf3-4d3b-4f2b-9187-5ba3f4371d95/img_3c2b3559eff67ad0605bc098e3f933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849c2cd1-1a5b-4983-a2f6-02ab638e357f" descr="/home/forge/chalkie-production-workers-1/releases/77642309/backend/storage/app/render-specs/d7f03cf3-4d3b-4f2b-9187-5ba3f4371d95/img_9daf7abc06902619d213980044bb82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db19e303-d127-4c9e-9afb-4348e5c86db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Contagem e Soma com Critérios</a:t>
            </a:r>
            <a:endParaRPr lang="en-US" sz="2246" dirty="0"/>
          </a:p>
        </p:txBody>
      </p:sp>
      <p:sp>
        <p:nvSpPr>
          <p:cNvPr id="5" name="eda46566-a3e5-4ff5-9e8f-58e988af6390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CONT.SE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 quantas células atendem a um critério específico no intervalo.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contar estoques críticos ou pedidos concluídos.</a:t>
            </a:r>
            <a:endParaRPr lang="en-US" sz="1544" dirty="0"/>
          </a:p>
        </p:txBody>
      </p:sp>
      <p:sp>
        <p:nvSpPr>
          <p:cNvPr id="6" name="97d38690-54a7-45e8-bdac-9ee60c46e68b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SOMASE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 os valores que correspondem ao filtro estipulado.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 os valores de B2:B50 apenas onde a região em A2:A50 for 'Sul'.</a:t>
            </a:r>
            <a:endParaRPr lang="en-US" sz="15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499de9-f8b8-4136-8641-26b431cedb41" descr="/home/forge/chalkie-production-workers-1/releases/77642309/backend/storage/app/render-specs/d7f03cf3-4d3b-4f2b-9187-5ba3f4371d95/img_64f33586722ac628b86a18a0f282fe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b9d9586-e0d3-4520-9795-5e38e7f505c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Tratamento de Erros com SEERRO</a:t>
            </a:r>
            <a:endParaRPr lang="en-US" sz="2246" dirty="0"/>
          </a:p>
        </p:txBody>
      </p:sp>
      <p:sp>
        <p:nvSpPr>
          <p:cNvPr id="4" name="5fc02516-8e78-4925-8d1b-8e6b73ad8c37"/>
          <p:cNvSpPr/>
          <p:nvPr/>
        </p:nvSpPr>
        <p:spPr>
          <a:xfrm>
            <a:off x="4286250" y="868680"/>
            <a:ext cx="29603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ESTRUTURAS CONDICIONAIS</a:t>
            </a:r>
            <a:endParaRPr lang="en-US" sz="842" dirty="0"/>
          </a:p>
        </p:txBody>
      </p:sp>
      <p:sp>
        <p:nvSpPr>
          <p:cNvPr id="5" name="6e0e6c9b-e147-4dc8-baff-de8536697d27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o PROCV não encontra uma correspondência, exibe erros desagradáveis como  ou 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SEERRO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intercepta essas falhas e exibe uma mensagem amigável ou o número zero.</a:t>
            </a:r>
            <a:endParaRPr lang="en-US" sz="1264" dirty="0"/>
          </a:p>
        </p:txBody>
      </p:sp>
      <p:sp>
        <p:nvSpPr>
          <p:cNvPr id="6" name="8ab5a62d-3546-424a-b7b2-abe4e4b9257f_card"/>
          <p:cNvSpPr/>
          <p:nvPr/>
        </p:nvSpPr>
        <p:spPr>
          <a:xfrm>
            <a:off x="4286250" y="30746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8ab5a62d-3546-424a-b7b2-abe4e4b9257f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8ab5a62d-3546-424a-b7b2-abe4e4b9257f_text"/>
          <p:cNvSpPr/>
          <p:nvPr/>
        </p:nvSpPr>
        <p:spPr>
          <a:xfrm>
            <a:off x="4766310" y="31889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=SEERRO(PROCV(A2; D:E; 2; FALSO); "Não localizado")</a:t>
            </a:r>
            <a:endParaRPr lang="en-US" sz="112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9d1cac-e7fa-4268-b239-02c9524162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o Tratamento de Erros</a:t>
            </a:r>
            <a:endParaRPr lang="en-US" sz="2246" dirty="0"/>
          </a:p>
        </p:txBody>
      </p:sp>
      <p:sp>
        <p:nvSpPr>
          <p:cNvPr id="3" name="1a2a3816-b494-4e55-b136-45a684c8fcde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1a2a3816-b494-4e55-b136-45a684c8fcde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SEERRO impede que uma planilha apresente o erro #N/D ao realizar buscas sem correspondência.</a:t>
            </a:r>
            <a:endParaRPr lang="en-US" sz="1264" dirty="0"/>
          </a:p>
        </p:txBody>
      </p:sp>
      <p:sp>
        <p:nvSpPr>
          <p:cNvPr id="5" name="8c68d0ad-7af3-437a-9407-c6fb61b3b4a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f94e4cf7-899a-4297-a0ef-2f5940a0c98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e04d9cd7-66b1-4098-816b-846a6678208a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9d1cac-e7fa-4268-b239-02c9524162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o Tratamento de Erros</a:t>
            </a:r>
            <a:endParaRPr lang="en-US" sz="2246" dirty="0"/>
          </a:p>
        </p:txBody>
      </p:sp>
      <p:sp>
        <p:nvSpPr>
          <p:cNvPr id="3" name="1a2a3816-b494-4e55-b136-45a684c8fcde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1a2a3816-b494-4e55-b136-45a684c8fcde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SEERRO impede que uma planilha apresente o erro #N/D ao realizar buscas sem correspondência.</a:t>
            </a:r>
            <a:endParaRPr lang="en-US" sz="1264" dirty="0"/>
          </a:p>
        </p:txBody>
      </p:sp>
      <p:sp>
        <p:nvSpPr>
          <p:cNvPr id="5" name="8c68d0ad-7af3-437a-9407-c6fb61b3b4a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f94e4cf7-899a-4297-a0ef-2f5940a0c98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afa67421-943c-4a46-bbee-a38bdb9056e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5e93af8f-61b2-4c92-9ab3-983ec5d814a3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5e93af8f-61b2-4c92-9ab3-983ec5d814a3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5e93af8f-61b2-4c92-9ab3-983ec5d814a3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SEERRO captura o erro e permite exibir um texto amigável ou valor padrão definido.</a:t>
            </a:r>
            <a:endParaRPr lang="en-US" sz="1123" dirty="0"/>
          </a:p>
        </p:txBody>
      </p:sp>
      <p:sp>
        <p:nvSpPr>
          <p:cNvPr id="11" name="8c244dea-d385-41e7-a185-37120c5ba484"/>
          <p:cNvSpPr/>
          <p:nvPr/>
        </p:nvSpPr>
        <p:spPr>
          <a:xfrm>
            <a:off x="4149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e708966-ea86-4296-a397-ee953675d907" descr="/home/forge/chalkie-production-workers-1/releases/77642309/backend/storage/app/render-specs/d7f03cf3-4d3b-4f2b-9187-5ba3f4371d95/img_5aa4a12aad0bad0b12984a07f423f9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73039a5-6cf4-42f6-97d1-ee543cf2695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Filtragem Automática e Avançada</a:t>
            </a:r>
            <a:endParaRPr lang="en-US" sz="2246" dirty="0"/>
          </a:p>
        </p:txBody>
      </p:sp>
      <p:sp>
        <p:nvSpPr>
          <p:cNvPr id="4" name="7d61a578-aa85-4ed7-8219-0398fb6b18df"/>
          <p:cNvSpPr/>
          <p:nvPr/>
        </p:nvSpPr>
        <p:spPr>
          <a:xfrm>
            <a:off x="285750" y="868680"/>
            <a:ext cx="25603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EXPLORAÇÃO DE BASES</a:t>
            </a:r>
            <a:endParaRPr lang="en-US" sz="842" dirty="0"/>
          </a:p>
        </p:txBody>
      </p:sp>
      <p:sp>
        <p:nvSpPr>
          <p:cNvPr id="5" name="ddc62a26-f6db-453d-ad05-8874a2d92cce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 automáticos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adicionam menus nos cabeçalhos para isolar segmentos rapidamente.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Já 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Avançado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permite aplicar critérios lógicos múltiplos (E / OU) configurados em intervalos externos, além de extrair listas sem repetição.</a:t>
            </a:r>
            <a:endParaRPr lang="en-US" sz="1264" dirty="0"/>
          </a:p>
        </p:txBody>
      </p:sp>
      <p:sp>
        <p:nvSpPr>
          <p:cNvPr id="6" name="cbd0f758-da4b-4bb8-a443-caac9177cfe3_card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cbd0f758-da4b-4bb8-a443-caac9177cfe3_emoji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cbd0f758-da4b-4bb8-a443-caac9177cfe3_text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Critérios na mesma linha operam como 'E'; em linhas diferentes operam como 'OU'.</a:t>
            </a:r>
            <a:endParaRPr lang="en-US" sz="112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d22940-c638-4785-9fdd-ea1c0d66dac6"/>
          <p:cNvSpPr/>
          <p:nvPr/>
        </p:nvSpPr>
        <p:spPr>
          <a:xfrm>
            <a:off x="285750" y="37719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às Tabelas Dinâmicas</a:t>
            </a:r>
            <a:endParaRPr lang="en-US" sz="2246" dirty="0"/>
          </a:p>
        </p:txBody>
      </p:sp>
      <p:sp>
        <p:nvSpPr>
          <p:cNvPr id="3" name="a79a3a73-2777-44ce-8e6b-2fd12cf79a70"/>
          <p:cNvSpPr/>
          <p:nvPr/>
        </p:nvSpPr>
        <p:spPr>
          <a:xfrm>
            <a:off x="285750" y="100584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 Dinâmica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recurso mais poderoso do Excel para sintetizar milhões de dados sem escrever fórmulas complexas.</a:t>
            </a:r>
            <a:endParaRPr lang="en-US" sz="1264" dirty="0"/>
          </a:p>
        </p:txBody>
      </p:sp>
      <p:sp>
        <p:nvSpPr>
          <p:cNvPr id="4" name="07fba935-2fda-4a18-aa22-1337e4a9fbaf"/>
          <p:cNvSpPr/>
          <p:nvPr/>
        </p:nvSpPr>
        <p:spPr>
          <a:xfrm>
            <a:off x="285750" y="181737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 e Colunas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Definem os eixos de agrupamento e categorias, como Departamentos, Vendedores ou Cidades.</a:t>
            </a:r>
            <a:endParaRPr lang="en-US" sz="1544" dirty="0"/>
          </a:p>
        </p:txBody>
      </p:sp>
      <p:sp>
        <p:nvSpPr>
          <p:cNvPr id="5" name="3402d6bf-f347-436e-92e6-eaaff05d4f7b"/>
          <p:cNvSpPr/>
          <p:nvPr/>
        </p:nvSpPr>
        <p:spPr>
          <a:xfrm>
            <a:off x="4652010" y="181737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e Filtros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campo Valores aplica cálculos automáticos (soma, média, contagem), enquanto Filtros recortam a análise.</a:t>
            </a:r>
            <a:endParaRPr lang="en-US" sz="1544" dirty="0"/>
          </a:p>
        </p:txBody>
      </p:sp>
      <p:sp>
        <p:nvSpPr>
          <p:cNvPr id="6" name="b6a61717-ef52-4501-a800-b2beb006716d_card"/>
          <p:cNvSpPr/>
          <p:nvPr/>
        </p:nvSpPr>
        <p:spPr>
          <a:xfrm>
            <a:off x="285750" y="340614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AFAAEC">
              <a:alpha val="14902"/>
            </a:srgbClr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7" name="b6a61717-ef52-4501-a800-b2beb006716d_emoji"/>
          <p:cNvSpPr/>
          <p:nvPr/>
        </p:nvSpPr>
        <p:spPr>
          <a:xfrm>
            <a:off x="400050" y="35547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b6a61717-ef52-4501-a800-b2beb006716d_text"/>
          <p:cNvSpPr/>
          <p:nvPr/>
        </p:nvSpPr>
        <p:spPr>
          <a:xfrm>
            <a:off x="765810" y="352044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Curiosidade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 alterar uma análise inteira em segundos apenas arrastando campos com o mouse!</a:t>
            </a:r>
            <a:endParaRPr lang="en-US" sz="112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f968fcb-b92f-4a8d-98f6-5b9281dfbc45"/>
          <p:cNvSpPr/>
          <p:nvPr/>
        </p:nvSpPr>
        <p:spPr>
          <a:xfrm>
            <a:off x="17145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4191cc6c-522a-48be-b9e8-44050b18eb41"/>
          <p:cNvSpPr/>
          <p:nvPr/>
        </p:nvSpPr>
        <p:spPr>
          <a:xfrm>
            <a:off x="237744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98dc290f-a196-4a5d-ba94-32a08ba6a40f"/>
          <p:cNvSpPr/>
          <p:nvPr/>
        </p:nvSpPr>
        <p:spPr>
          <a:xfrm>
            <a:off x="457200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26b22229-5613-4c01-adc9-bc82a6e29cfb"/>
          <p:cNvSpPr/>
          <p:nvPr/>
        </p:nvSpPr>
        <p:spPr>
          <a:xfrm>
            <a:off x="677799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45fe265a-f7be-4562-a2d3-8b59d27d60e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Construindo uma Tabela Dinâmica</a:t>
            </a:r>
            <a:endParaRPr lang="en-US" sz="2246" dirty="0"/>
          </a:p>
        </p:txBody>
      </p:sp>
      <p:sp>
        <p:nvSpPr>
          <p:cNvPr id="7" name="c0ac6eed-a9e9-476b-a01a-93f586e5c80f"/>
          <p:cNvSpPr/>
          <p:nvPr/>
        </p:nvSpPr>
        <p:spPr>
          <a:xfrm>
            <a:off x="285750" y="13716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qualquer célula do banco de dados contínuo.</a:t>
            </a:r>
            <a:endParaRPr lang="en-US" sz="1264" dirty="0"/>
          </a:p>
        </p:txBody>
      </p:sp>
      <p:sp>
        <p:nvSpPr>
          <p:cNvPr id="8" name="949b8a80-44f7-45af-bc15-2eda503878c0"/>
          <p:cNvSpPr/>
          <p:nvPr/>
        </p:nvSpPr>
        <p:spPr>
          <a:xfrm>
            <a:off x="2491740" y="13716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Acesse Inserir e clique em Tabela Dinâmica.</a:t>
            </a:r>
            <a:endParaRPr lang="en-US" sz="1264" dirty="0"/>
          </a:p>
        </p:txBody>
      </p:sp>
      <p:sp>
        <p:nvSpPr>
          <p:cNvPr id="9" name="1e56541a-cdd2-416d-b88a-6a29831c962e"/>
          <p:cNvSpPr/>
          <p:nvPr/>
        </p:nvSpPr>
        <p:spPr>
          <a:xfrm>
            <a:off x="4686300" y="13716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Arraste as categorias desejadas para Linhas e Colunas.</a:t>
            </a:r>
            <a:endParaRPr lang="en-US" sz="1264" dirty="0"/>
          </a:p>
        </p:txBody>
      </p:sp>
      <p:sp>
        <p:nvSpPr>
          <p:cNvPr id="10" name="3a0cb21c-9171-4838-9dd0-43a99cc42633"/>
          <p:cNvSpPr/>
          <p:nvPr/>
        </p:nvSpPr>
        <p:spPr>
          <a:xfrm>
            <a:off x="6892290" y="13716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Arraste a métrica numérica para o quadrante Valores.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d0c92c1-841d-4078-9e7d-9c40da53b0f2" descr="/home/forge/chalkie-production-workers-1/releases/77642309/backend/storage/app/render-specs/d7f03cf3-4d3b-4f2b-9187-5ba3f4371d95/img_3433e86f589bef2b2d85f1767c9ad4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7518463-e37c-4aec-b6ac-f9336e28475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Agrupamento em Tabelas Dinâmicas</a:t>
            </a:r>
            <a:endParaRPr lang="en-US" sz="2246" dirty="0"/>
          </a:p>
        </p:txBody>
      </p:sp>
      <p:sp>
        <p:nvSpPr>
          <p:cNvPr id="4" name="a44e92da-4d55-4b3e-9878-5df49649614a"/>
          <p:cNvSpPr/>
          <p:nvPr/>
        </p:nvSpPr>
        <p:spPr>
          <a:xfrm>
            <a:off x="4286250" y="868680"/>
            <a:ext cx="25603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EXPLORAÇÃO DE BASES</a:t>
            </a:r>
            <a:endParaRPr lang="en-US" sz="842" dirty="0"/>
          </a:p>
        </p:txBody>
      </p:sp>
      <p:sp>
        <p:nvSpPr>
          <p:cNvPr id="5" name="1b3decc5-9486-4c8c-a4b6-6b955e7c5baf"/>
          <p:cNvSpPr/>
          <p:nvPr/>
        </p:nvSpPr>
        <p:spPr>
          <a:xfrm>
            <a:off x="4286250" y="117729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Bases operacionais contêm milhares de datas pontuais. A Tabela Dinâmica permite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agrupar datas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automaticamente em meses, trimestres e anos.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Também é possível agrupar faixas numéricas de salários ou faturamentos para criar histogramas gerenciais com precisão.</a:t>
            </a:r>
            <a:endParaRPr lang="en-US" sz="1264" dirty="0"/>
          </a:p>
        </p:txBody>
      </p:sp>
      <p:sp>
        <p:nvSpPr>
          <p:cNvPr id="6" name="7a8b6f62-1553-4346-a02d-070cd34f3a2e_card"/>
          <p:cNvSpPr/>
          <p:nvPr/>
        </p:nvSpPr>
        <p:spPr>
          <a:xfrm>
            <a:off x="42862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7a8b6f62-1553-4346-a02d-070cd34f3a2e_emoji"/>
          <p:cNvSpPr/>
          <p:nvPr/>
        </p:nvSpPr>
        <p:spPr>
          <a:xfrm>
            <a:off x="4400550" y="34861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7a8b6f62-1553-4346-a02d-070cd34f3a2e_text"/>
          <p:cNvSpPr/>
          <p:nvPr/>
        </p:nvSpPr>
        <p:spPr>
          <a:xfrm>
            <a:off x="4766310" y="34518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agrupamento temporal revela tendências sazonais imediatas para a tomada de decisão.</a:t>
            </a:r>
            <a:endParaRPr lang="en-US" sz="112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906b50e-587f-4bde-9835-388dbbaa424c" descr="/home/forge/chalkie-production-workers-1/releases/77642309/backend/storage/app/render-specs/d7f03cf3-4d3b-4f2b-9187-5ba3f4371d95/img_035af9d97b55a5be528f12c0446bf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daf525c-a7d6-47e4-aa36-29f717efee8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Segmentação de Dados Interativa</a:t>
            </a:r>
            <a:endParaRPr lang="en-US" sz="2246" dirty="0"/>
          </a:p>
        </p:txBody>
      </p:sp>
      <p:sp>
        <p:nvSpPr>
          <p:cNvPr id="4" name="b985360c-78e7-4e90-962c-e6ec279d8b15"/>
          <p:cNvSpPr/>
          <p:nvPr/>
        </p:nvSpPr>
        <p:spPr>
          <a:xfrm>
            <a:off x="285750" y="868680"/>
            <a:ext cx="25603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EXPLORAÇÃO DE BASES</a:t>
            </a:r>
            <a:endParaRPr lang="en-US" sz="842" dirty="0"/>
          </a:p>
        </p:txBody>
      </p:sp>
      <p:sp>
        <p:nvSpPr>
          <p:cNvPr id="5" name="e9aa2cf6-822e-41d3-8ebe-ffc2498caa32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Segmentação de Dados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substitui os menus suspensos tradicionais por botões clicáveis elegantes e interativos.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Permite que qualquer gestor filtre a tabela dinâmica instantaneamente, observando o comportamento dos indicadores em tempo real.</a:t>
            </a:r>
            <a:endParaRPr lang="en-US" sz="1264" dirty="0"/>
          </a:p>
        </p:txBody>
      </p:sp>
      <p:sp>
        <p:nvSpPr>
          <p:cNvPr id="6" name="abfd4521-3df7-49c0-8bdb-d1c5981d23d1_card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abfd4521-3df7-49c0-8bdb-d1c5981d23d1_emoji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abfd4521-3df7-49c0-8bdb-d1c5981d23d1_text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única segmentação pode ser conectada a várias tabelas dinâmicas ao mesmo tempo.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d375e1-3b60-481a-af26-4e9b4560ed9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de Criação de Dinâmicas</a:t>
            </a:r>
            <a:endParaRPr lang="en-US" sz="2246" dirty="0"/>
          </a:p>
        </p:txBody>
      </p:sp>
      <p:sp>
        <p:nvSpPr>
          <p:cNvPr id="3" name="86af582b-cb70-43b5-852d-33bc3ed78c43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para criar uma Tabela Dinâmica com segmentação interativa:</a:t>
            </a:r>
            <a:endParaRPr lang="en-US" sz="1264" dirty="0"/>
          </a:p>
        </p:txBody>
      </p:sp>
      <p:sp>
        <p:nvSpPr>
          <p:cNvPr id="4" name="5b87f16c-2b42-4a4f-b5e4-c59d5b3a898e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Adicionar a Segmentação de Dados para filtragem visual interativa.</a:t>
            </a:r>
            <a:endParaRPr lang="en-US" sz="1264" dirty="0"/>
          </a:p>
        </p:txBody>
      </p:sp>
      <p:sp>
        <p:nvSpPr>
          <p:cNvPr id="5" name="e1b7b4b9-b623-4d62-a7aa-1c4ca792725c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Distribuir os campos nos quadrantes de Linhas, Colunas e Valores.</a:t>
            </a:r>
            <a:endParaRPr lang="en-US" sz="1264" dirty="0"/>
          </a:p>
        </p:txBody>
      </p:sp>
      <p:sp>
        <p:nvSpPr>
          <p:cNvPr id="6" name="fffeb6c0-d318-4ca1-b334-5448b3ce2e0c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Garantir cabeçalhos claros e selecionar o intervalo da base de dados.</a:t>
            </a:r>
            <a:endParaRPr lang="en-US" sz="1264" dirty="0"/>
          </a:p>
        </p:txBody>
      </p:sp>
      <p:sp>
        <p:nvSpPr>
          <p:cNvPr id="7" name="6e45aada-682a-4ef3-9d5f-8874f48acf2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a Tabela Dinâmica em uma nova planilha de relatório.</a:t>
            </a:r>
            <a:endParaRPr lang="en-US" sz="126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d375e1-3b60-481a-af26-4e9b4560ed9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de Criação de Dinâmicas</a:t>
            </a:r>
            <a:endParaRPr lang="en-US" sz="2246" dirty="0"/>
          </a:p>
        </p:txBody>
      </p:sp>
      <p:sp>
        <p:nvSpPr>
          <p:cNvPr id="3" name="86af582b-cb70-43b5-852d-33bc3ed78c43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para criar uma Tabela Dinâmica com segmentação interativa:</a:t>
            </a:r>
            <a:endParaRPr lang="en-US" sz="1264" dirty="0"/>
          </a:p>
        </p:txBody>
      </p:sp>
      <p:sp>
        <p:nvSpPr>
          <p:cNvPr id="4" name="5b87f16c-2b42-4a4f-b5e4-c59d5b3a898e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Adicionar a Segmentação de Dados para filtragem visual interativa.</a:t>
            </a:r>
            <a:endParaRPr lang="en-US" sz="1264" dirty="0"/>
          </a:p>
        </p:txBody>
      </p:sp>
      <p:sp>
        <p:nvSpPr>
          <p:cNvPr id="5" name="e1b7b4b9-b623-4d62-a7aa-1c4ca792725c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Distribuir os campos nos quadrantes de Linhas, Colunas e Valores.</a:t>
            </a:r>
            <a:endParaRPr lang="en-US" sz="1264" dirty="0"/>
          </a:p>
        </p:txBody>
      </p:sp>
      <p:sp>
        <p:nvSpPr>
          <p:cNvPr id="6" name="fffeb6c0-d318-4ca1-b334-5448b3ce2e0c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Garantir cabeçalhos claros e selecionar o intervalo da base de dados.</a:t>
            </a:r>
            <a:endParaRPr lang="en-US" sz="1264" dirty="0"/>
          </a:p>
        </p:txBody>
      </p:sp>
      <p:sp>
        <p:nvSpPr>
          <p:cNvPr id="7" name="6e45aada-682a-4ef3-9d5f-8874f48acf2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a Tabela Dinâmica em uma nova planilha de relatório.</a:t>
            </a:r>
            <a:endParaRPr lang="en-US" sz="1264" dirty="0"/>
          </a:p>
        </p:txBody>
      </p:sp>
      <p:sp>
        <p:nvSpPr>
          <p:cNvPr id="8" name="272ee0da-bd2f-4c17-91f9-d8a4b07e18f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9647469e-a4ff-465e-8c66-a9b615002ffc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4d66bdbe-e989-4d66-a7ce-3d253caa695e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31c76b49-dc05-4446-a87b-687173a9d456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ac262840-4fc2-4a9a-8748-81467f181c8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5b192d2-1343-4fb4-8e79-cb055460ae89" descr="/home/forge/chalkie-production-workers-1/releases/77642309/backend/storage/app/render-specs/d7f03cf3-4d3b-4f2b-9187-5ba3f4371d95/img_9b285e80560eb9b31fa471d0e7ab0c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cd3ab03a-5628-4d16-9667-09cc5f91a49c"/>
          <p:cNvSpPr/>
          <p:nvPr/>
        </p:nvSpPr>
        <p:spPr>
          <a:xfrm>
            <a:off x="285750" y="218313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Arte da Visualização de Dados</a:t>
            </a:r>
            <a:endParaRPr lang="en-US" sz="2246" dirty="0"/>
          </a:p>
        </p:txBody>
      </p:sp>
      <p:sp>
        <p:nvSpPr>
          <p:cNvPr id="4" name="c1d2d0fd-aa32-4d54-995a-c78041c2d91b"/>
          <p:cNvSpPr/>
          <p:nvPr/>
        </p:nvSpPr>
        <p:spPr>
          <a:xfrm>
            <a:off x="285750" y="2880360"/>
            <a:ext cx="27432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VISUALIZAÇÃO DE DADOS</a:t>
            </a:r>
            <a:endParaRPr lang="en-US" sz="842" dirty="0"/>
          </a:p>
        </p:txBody>
      </p:sp>
      <p:sp>
        <p:nvSpPr>
          <p:cNvPr id="5" name="df620f35-1798-42d3-a00f-ea29b3fa5349"/>
          <p:cNvSpPr/>
          <p:nvPr/>
        </p:nvSpPr>
        <p:spPr>
          <a:xfrm>
            <a:off x="285750" y="3188970"/>
            <a:ext cx="8572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gráfico não é apenas um desenho bonito: ele é uma ferramenta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comunicação matemática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Escolher o tipo errado de gráfico confunde o leitor e pode induzir gestores a decisões desastrosas. Cada padrão de dados exige um tipo visual específico.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597d53-a2b4-4a98-a4dd-65e38965bb64" descr="/home/forge/chalkie-production-workers-1/releases/77642309/backend/storage/app/render-specs/d7f03cf3-4d3b-4f2b-9187-5ba3f4371d95/img_1099b6589f3f9f22c9c49c154051db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7eefd953-a161-4669-9257-b922404663c1" descr="/home/forge/chalkie-production-workers-1/releases/77642309/backend/storage/app/render-specs/d7f03cf3-4d3b-4f2b-9187-5ba3f4371d95/img_d934c6dba45820cb80ca19ac430601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401537a-c251-4cb5-bf22-fb51890e03f5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Gráfico Certo para Cada Pergunta</a:t>
            </a:r>
            <a:endParaRPr lang="en-US" sz="2246" dirty="0"/>
          </a:p>
        </p:txBody>
      </p:sp>
      <p:sp>
        <p:nvSpPr>
          <p:cNvPr id="5" name="a50b369b-1549-44c1-8091-907aab6192d8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 ou Barras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Perfeitos para comparar quantidades discretas entre categorias distintas (produtos, filiais, funcionários).</a:t>
            </a:r>
            <a:endParaRPr lang="en-US" sz="1544" dirty="0"/>
          </a:p>
        </p:txBody>
      </p:sp>
      <p:sp>
        <p:nvSpPr>
          <p:cNvPr id="6" name="606ee178-2321-490d-b22f-b847542c60f0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 Contínuas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Ideais para ilustrar evolução contínua no tempo: séries históricas, faturamento mensal e tendências.</a:t>
            </a:r>
            <a:endParaRPr lang="en-US" sz="15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1f73d56-eb11-434b-a755-0d0a8eb10c2d" descr="/home/forge/chalkie-production-workers-1/releases/77642309/backend/storage/app/render-specs/d7f03cf3-4d3b-4f2b-9187-5ba3f4371d95/img_2426e18a15ae86dd1d2712186fc9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e16e6573-41e2-49a3-9964-8c890cdb92bd" descr="/home/forge/chalkie-production-workers-1/releases/77642309/backend/storage/app/render-specs/d7f03cf3-4d3b-4f2b-9187-5ba3f4371d95/img_39a30967f07ed2cfb49c01cb87558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7b5a94f-11a0-4482-893d-c16348e336ad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Setores e Dispersão em Análise</a:t>
            </a:r>
            <a:endParaRPr lang="en-US" sz="2246" dirty="0"/>
          </a:p>
        </p:txBody>
      </p:sp>
      <p:sp>
        <p:nvSpPr>
          <p:cNvPr id="5" name="ae17155c-2ceb-4ba5-b546-c00ecc36853f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Setores (Pizza)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Mostram a composição de partes de um todo (100%). Use apenas para no máximo 4 ou 5 fatias evidentes.</a:t>
            </a:r>
            <a:endParaRPr lang="en-US" sz="1544" dirty="0"/>
          </a:p>
        </p:txBody>
      </p:sp>
      <p:sp>
        <p:nvSpPr>
          <p:cNvPr id="6" name="3d47c1f3-600e-44bb-9c54-8631fe2f4eec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Dispersão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Revela a correlação matemática entre duas variáveis numéricas contínuas (ex: preço versus volume vendido).</a:t>
            </a:r>
            <a:endParaRPr lang="en-US" sz="154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05e22c-84ba-4c89-b069-19d1b3150c63" descr="/home/forge/chalkie-production-workers-1/releases/77642309/backend/storage/app/render-specs/d7f03cf3-4d3b-4f2b-9187-5ba3f4371d95/img_9bdd49cf31f3c0d5377c2988854795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1c37370-0829-4d72-86f0-80b3d8e0399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Combinados e Eixo Duplo</a:t>
            </a:r>
            <a:endParaRPr lang="en-US" sz="2246" dirty="0"/>
          </a:p>
        </p:txBody>
      </p:sp>
      <p:sp>
        <p:nvSpPr>
          <p:cNvPr id="4" name="f2ee9f03-0b5c-483c-93fd-6333edd13bd1"/>
          <p:cNvSpPr/>
          <p:nvPr/>
        </p:nvSpPr>
        <p:spPr>
          <a:xfrm>
            <a:off x="285750" y="868680"/>
            <a:ext cx="27432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VISUALIZAÇÃO DE DADOS</a:t>
            </a:r>
            <a:endParaRPr lang="en-US" sz="842" dirty="0"/>
          </a:p>
        </p:txBody>
      </p:sp>
      <p:sp>
        <p:nvSpPr>
          <p:cNvPr id="5" name="824080de-d2b8-4637-a1d0-755f2cec8b79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comparar métricas de grandezas diferentes, como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Faturamento em Reais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(milhões) 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Margem de Lucro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(percentual)?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Criamos um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combinado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utilizando colunas para o faturamento e uma linha com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eixo secundário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o percentual.</a:t>
            </a:r>
            <a:endParaRPr lang="en-US" sz="1264" dirty="0"/>
          </a:p>
        </p:txBody>
      </p:sp>
      <p:sp>
        <p:nvSpPr>
          <p:cNvPr id="6" name="b27f6556-e686-4495-8d26-3418ba2cefd3_card"/>
          <p:cNvSpPr/>
          <p:nvPr/>
        </p:nvSpPr>
        <p:spPr>
          <a:xfrm>
            <a:off x="2857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b27f6556-e686-4495-8d26-3418ba2cefd3_emoji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b27f6556-e686-4495-8d26-3418ba2cefd3_text"/>
          <p:cNvSpPr/>
          <p:nvPr/>
        </p:nvSpPr>
        <p:spPr>
          <a:xfrm>
            <a:off x="7658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eixo secundário evita que valores pequenos fiquem invisíveis rente à linha zero.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10f48ff-215f-4907-a428-409d123d409e" descr="/home/forge/chalkie-production-workers-1/releases/77642309/backend/storage/app/render-specs/d7f03cf3-4d3b-4f2b-9187-5ba3f4371d95/img_8b6f16ac636dad347d91aae3db94ac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fd46d4c3-bdaf-4a21-9a77-78b04f6f7f79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Limpa de Relatórios</a:t>
            </a:r>
            <a:endParaRPr lang="en-US" sz="2246" dirty="0"/>
          </a:p>
        </p:txBody>
      </p:sp>
      <p:sp>
        <p:nvSpPr>
          <p:cNvPr id="4" name="db9d63cb-c492-4281-b889-b3df60cff876"/>
          <p:cNvSpPr/>
          <p:nvPr/>
        </p:nvSpPr>
        <p:spPr>
          <a:xfrm>
            <a:off x="3714750" y="1325880"/>
            <a:ext cx="27432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VISUALIZAÇÃO DE DADOS</a:t>
            </a:r>
            <a:endParaRPr lang="en-US" sz="842" dirty="0"/>
          </a:p>
        </p:txBody>
      </p:sp>
      <p:sp>
        <p:nvSpPr>
          <p:cNvPr id="5" name="63ccdec1-1336-42c6-8a73-de68f5ed9cbe"/>
          <p:cNvSpPr/>
          <p:nvPr/>
        </p:nvSpPr>
        <p:spPr>
          <a:xfrm>
            <a:off x="3714750" y="163449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análise executiva,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menos é mais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Elimine linhas de grade desnecessárias e bordas pesadas.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Adicione rótulos de dados diretos nas barras.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títulos informativos que explicam a conclusão do gráfico, e não apenas o tema.</a:t>
            </a:r>
            <a:endParaRPr lang="en-US" sz="1264" dirty="0"/>
          </a:p>
        </p:txBody>
      </p:sp>
      <p:sp>
        <p:nvSpPr>
          <p:cNvPr id="6" name="e6bcdcfb-e69d-4b8a-a653-5f1293b793db_card"/>
          <p:cNvSpPr/>
          <p:nvPr/>
        </p:nvSpPr>
        <p:spPr>
          <a:xfrm>
            <a:off x="3714750" y="370332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e6bcdcfb-e69d-4b8a-a653-5f1293b793db_emoji"/>
          <p:cNvSpPr/>
          <p:nvPr/>
        </p:nvSpPr>
        <p:spPr>
          <a:xfrm>
            <a:off x="3829050" y="38519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e6bcdcfb-e69d-4b8a-a653-5f1293b793db_text"/>
          <p:cNvSpPr/>
          <p:nvPr/>
        </p:nvSpPr>
        <p:spPr>
          <a:xfrm>
            <a:off x="4194810" y="381762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gráficos 3D: eles distorcem ângulos geométricos e dificultam a leitura.</a:t>
            </a:r>
            <a:endParaRPr lang="en-US" sz="112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e92aad-dcbf-4ea9-a97f-6a5fe605c9b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Escolha do Gráfico Correto</a:t>
            </a:r>
            <a:endParaRPr lang="en-US" sz="2246" dirty="0"/>
          </a:p>
        </p:txBody>
      </p:sp>
      <p:sp>
        <p:nvSpPr>
          <p:cNvPr id="3" name="47e3b98f-2939-4318-9b36-bb2662ce0d3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o tipo de gráfico mais recomendado para exibir a evolução das despesas de uma empresa ao longo dos 12 meses do ano?</a:t>
            </a:r>
            <a:endParaRPr lang="en-US" sz="1264" dirty="0"/>
          </a:p>
        </p:txBody>
      </p:sp>
      <p:sp>
        <p:nvSpPr>
          <p:cNvPr id="4" name="3ea5151b-ebba-48eb-a721-34e1279e990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8a15876c-706c-4cff-86f7-03085818fb7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Linhas.</a:t>
            </a:r>
            <a:endParaRPr lang="en-US" sz="1264" dirty="0"/>
          </a:p>
        </p:txBody>
      </p:sp>
      <p:sp>
        <p:nvSpPr>
          <p:cNvPr id="6" name="322a103f-596e-472c-8d00-b12a5f4d57c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98f71f2d-a70b-42c5-9f02-7ff9f5c254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Dispersão sem linhas.</a:t>
            </a:r>
            <a:endParaRPr lang="en-US" sz="1264" dirty="0"/>
          </a:p>
        </p:txBody>
      </p:sp>
      <p:sp>
        <p:nvSpPr>
          <p:cNvPr id="8" name="c4457fce-e1fb-4118-8970-93c98a26876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32d51462-4a71-45b6-ae2e-c8432f7f170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Setores (Pizza).</a:t>
            </a:r>
            <a:endParaRPr lang="en-US" sz="1264" dirty="0"/>
          </a:p>
        </p:txBody>
      </p:sp>
      <p:sp>
        <p:nvSpPr>
          <p:cNvPr id="10" name="841db0ab-88c7-43f2-815a-97867173463c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78c1b517-4133-4c1a-901e-4657b276002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Radar.</a:t>
            </a:r>
            <a:endParaRPr lang="en-US" sz="126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e92aad-dcbf-4ea9-a97f-6a5fe605c9b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Escolha do Gráfico Correto</a:t>
            </a:r>
            <a:endParaRPr lang="en-US" sz="2246" dirty="0"/>
          </a:p>
        </p:txBody>
      </p:sp>
      <p:sp>
        <p:nvSpPr>
          <p:cNvPr id="3" name="47e3b98f-2939-4318-9b36-bb2662ce0d3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o tipo de gráfico mais recomendado para exibir a evolução das despesas de uma empresa ao longo dos 12 meses do ano?</a:t>
            </a:r>
            <a:endParaRPr lang="en-US" sz="1264" dirty="0"/>
          </a:p>
        </p:txBody>
      </p:sp>
      <p:sp>
        <p:nvSpPr>
          <p:cNvPr id="4" name="3ea5151b-ebba-48eb-a721-34e1279e990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8a15876c-706c-4cff-86f7-03085818fb7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Linhas.</a:t>
            </a:r>
            <a:endParaRPr lang="en-US" sz="1264" dirty="0"/>
          </a:p>
        </p:txBody>
      </p:sp>
      <p:sp>
        <p:nvSpPr>
          <p:cNvPr id="6" name="322a103f-596e-472c-8d00-b12a5f4d57c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98f71f2d-a70b-42c5-9f02-7ff9f5c254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Dispersão sem linhas.</a:t>
            </a:r>
            <a:endParaRPr lang="en-US" sz="1264" dirty="0"/>
          </a:p>
        </p:txBody>
      </p:sp>
      <p:sp>
        <p:nvSpPr>
          <p:cNvPr id="8" name="c4457fce-e1fb-4118-8970-93c98a26876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32d51462-4a71-45b6-ae2e-c8432f7f170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Setores (Pizza).</a:t>
            </a:r>
            <a:endParaRPr lang="en-US" sz="1264" dirty="0"/>
          </a:p>
        </p:txBody>
      </p:sp>
      <p:sp>
        <p:nvSpPr>
          <p:cNvPr id="10" name="841db0ab-88c7-43f2-815a-97867173463c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78c1b517-4133-4c1a-901e-4657b276002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Radar.</a:t>
            </a:r>
            <a:endParaRPr lang="en-US" sz="1264" dirty="0"/>
          </a:p>
        </p:txBody>
      </p:sp>
      <p:sp>
        <p:nvSpPr>
          <p:cNvPr id="12" name="75f96ea3-293a-42bf-956e-1f9c9156da9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47377e4d-4ffa-4df5-99cb-dfe4608c0b22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8c84372-ca8b-4e6b-aede-8f15a6bd77c3" descr="/home/forge/chalkie-production-workers-1/releases/77642309/backend/storage/app/render-specs/d7f03cf3-4d3b-4f2b-9187-5ba3f4371d95/img_dcafa05af886ceeb170d74f9e77694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0197bee-3c69-4cb6-b939-5e2a73d067e6"/>
          <p:cNvSpPr/>
          <p:nvPr/>
        </p:nvSpPr>
        <p:spPr>
          <a:xfrm>
            <a:off x="285750" y="36576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Segurança e Proteção de Células</a:t>
            </a:r>
            <a:endParaRPr lang="en-US" sz="2246" dirty="0"/>
          </a:p>
        </p:txBody>
      </p:sp>
      <p:sp>
        <p:nvSpPr>
          <p:cNvPr id="4" name="c2072b25-c9f8-43b9-826e-701a38cbd85a"/>
          <p:cNvSpPr/>
          <p:nvPr/>
        </p:nvSpPr>
        <p:spPr>
          <a:xfrm>
            <a:off x="285750" y="1520190"/>
            <a:ext cx="29489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SEGURANÇA E INTEGRIDADE</a:t>
            </a:r>
            <a:endParaRPr lang="en-US" sz="842" dirty="0"/>
          </a:p>
        </p:txBody>
      </p:sp>
      <p:sp>
        <p:nvSpPr>
          <p:cNvPr id="5" name="d83d3b89-ff62-4fa7-ad3b-ec6e4dc59d07"/>
          <p:cNvSpPr/>
          <p:nvPr/>
        </p:nvSpPr>
        <p:spPr>
          <a:xfrm>
            <a:off x="285750" y="182880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Após criar fórmulas, proteja a planilha para evitar que usuários apaguem seu trabalho. Por padrão, todas as células vêm 'Bloqueadas', mas essa trava só atua ao ativar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 da Planilha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6" name="f68dfb0b-dc3e-466d-b297-343981837077_card"/>
          <p:cNvSpPr/>
          <p:nvPr/>
        </p:nvSpPr>
        <p:spPr>
          <a:xfrm>
            <a:off x="285750" y="340614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f68dfb0b-dc3e-466d-b297-343981837077_emoji"/>
          <p:cNvSpPr/>
          <p:nvPr/>
        </p:nvSpPr>
        <p:spPr>
          <a:xfrm>
            <a:off x="400050" y="35547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f68dfb0b-dc3e-466d-b297-343981837077_text"/>
          <p:cNvSpPr/>
          <p:nvPr/>
        </p:nvSpPr>
        <p:spPr>
          <a:xfrm>
            <a:off x="765810" y="352044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Desbloqueie células de entrada de dados antes de ativar a proteção.</a:t>
            </a:r>
            <a:endParaRPr lang="en-US" sz="112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b894bc1-e8e6-4dae-853b-2a51effa5e33"/>
          <p:cNvSpPr/>
          <p:nvPr/>
        </p:nvSpPr>
        <p:spPr>
          <a:xfrm>
            <a:off x="17145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f108694c-3a0a-40ff-b9a7-f482297469d3"/>
          <p:cNvSpPr/>
          <p:nvPr/>
        </p:nvSpPr>
        <p:spPr>
          <a:xfrm>
            <a:off x="237744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fc4262fc-7c3e-443e-b2cd-33f54dd51ecd"/>
          <p:cNvSpPr/>
          <p:nvPr/>
        </p:nvSpPr>
        <p:spPr>
          <a:xfrm>
            <a:off x="457200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72377337-64e6-4316-b055-f289c57fcc46"/>
          <p:cNvSpPr/>
          <p:nvPr/>
        </p:nvSpPr>
        <p:spPr>
          <a:xfrm>
            <a:off x="677799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4ff1c58e-2ab9-462a-94cc-2a014b0f30e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Fluxo Seguro de Bloqueio</a:t>
            </a:r>
            <a:endParaRPr lang="en-US" sz="2246" dirty="0"/>
          </a:p>
        </p:txBody>
      </p:sp>
      <p:sp>
        <p:nvSpPr>
          <p:cNvPr id="7" name="445fee79-bf09-43b2-9b45-2a7e19e84d1b"/>
          <p:cNvSpPr/>
          <p:nvPr/>
        </p:nvSpPr>
        <p:spPr>
          <a:xfrm>
            <a:off x="285750" y="13716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as células que o usuário PODE editar livremente.</a:t>
            </a:r>
            <a:endParaRPr lang="en-US" sz="1264" dirty="0"/>
          </a:p>
        </p:txBody>
      </p:sp>
      <p:sp>
        <p:nvSpPr>
          <p:cNvPr id="8" name="f0fa634e-5938-42cd-a967-608f895e74d0"/>
          <p:cNvSpPr/>
          <p:nvPr/>
        </p:nvSpPr>
        <p:spPr>
          <a:xfrm>
            <a:off x="2491740" y="13716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Abra Formatar Células &gt; Proteção e desmarque 'Bloqueadas'.</a:t>
            </a:r>
            <a:endParaRPr lang="en-US" sz="1264" dirty="0"/>
          </a:p>
        </p:txBody>
      </p:sp>
      <p:sp>
        <p:nvSpPr>
          <p:cNvPr id="9" name="f7274fab-c257-42e2-a9a3-b9e023e358c5"/>
          <p:cNvSpPr/>
          <p:nvPr/>
        </p:nvSpPr>
        <p:spPr>
          <a:xfrm>
            <a:off x="4686300" y="13716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Acesse a guia Revisão e clique em Proteger Planilha.</a:t>
            </a:r>
            <a:endParaRPr lang="en-US" sz="1264" dirty="0"/>
          </a:p>
        </p:txBody>
      </p:sp>
      <p:sp>
        <p:nvSpPr>
          <p:cNvPr id="10" name="b05e2d81-75c8-4a28-a5bd-757434d9660b"/>
          <p:cNvSpPr/>
          <p:nvPr/>
        </p:nvSpPr>
        <p:spPr>
          <a:xfrm>
            <a:off x="6892290" y="137160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 uma senha e trave a estrutura de fórmulas.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b3c4028-3531-4385-aa49-41c4215278cf" descr="/home/forge/chalkie-production-workers-1/releases/77642309/backend/storage/app/render-specs/d7f03cf3-4d3b-4f2b-9187-5ba3f4371d95/img_10a7da31de47862f32c5877c959f3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843b375-907e-4c1f-a5c0-8eaeb0c54c4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Protegendo Pastas de Trabalho</a:t>
            </a:r>
            <a:endParaRPr lang="en-US" sz="2246" dirty="0"/>
          </a:p>
        </p:txBody>
      </p:sp>
      <p:sp>
        <p:nvSpPr>
          <p:cNvPr id="4" name="e9690a03-a04c-4a6a-8fb5-8202b6bc7def"/>
          <p:cNvSpPr/>
          <p:nvPr/>
        </p:nvSpPr>
        <p:spPr>
          <a:xfrm>
            <a:off x="4286250" y="868680"/>
            <a:ext cx="29489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SEGURANÇA E INTEGRIDADE</a:t>
            </a:r>
            <a:endParaRPr lang="en-US" sz="842" dirty="0"/>
          </a:p>
        </p:txBody>
      </p:sp>
      <p:sp>
        <p:nvSpPr>
          <p:cNvPr id="5" name="705832de-9b06-45c2-945d-2b00d665df85"/>
          <p:cNvSpPr/>
          <p:nvPr/>
        </p:nvSpPr>
        <p:spPr>
          <a:xfrm>
            <a:off x="42862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Além de proteger as células, podemos aplicar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 da Pasta de Trabalho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Esse recurso impede que terceiros excluam, renomeiem, ocultem ou insiram novas abas na planilha, preservando o modelo de gestão contra adulterações acidentais.</a:t>
            </a:r>
            <a:endParaRPr lang="en-US" sz="1264" dirty="0"/>
          </a:p>
        </p:txBody>
      </p:sp>
      <p:sp>
        <p:nvSpPr>
          <p:cNvPr id="6" name="27d4a1af-b045-473c-9ebf-2cba8c10ed30_card"/>
          <p:cNvSpPr/>
          <p:nvPr/>
        </p:nvSpPr>
        <p:spPr>
          <a:xfrm>
            <a:off x="4286250" y="30746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27d4a1af-b045-473c-9ebf-2cba8c10ed30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27d4a1af-b045-473c-9ebf-2cba8c10ed30_text"/>
          <p:cNvSpPr/>
          <p:nvPr/>
        </p:nvSpPr>
        <p:spPr>
          <a:xfrm>
            <a:off x="4766310" y="31889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Garante que a navegação do seu relatório permaneça intacta.</a:t>
            </a:r>
            <a:endParaRPr lang="en-US" sz="112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cdeb1e-bc9e-4fa8-888d-05f98ba16443"/>
          <p:cNvSpPr/>
          <p:nvPr/>
        </p:nvSpPr>
        <p:spPr>
          <a:xfrm>
            <a:off x="285750" y="8686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Cruzando Dados: Vendas, RH e Estoque</a:t>
            </a:r>
            <a:endParaRPr lang="en-US" sz="2246" dirty="0"/>
          </a:p>
        </p:txBody>
      </p:sp>
      <p:sp>
        <p:nvSpPr>
          <p:cNvPr id="3" name="fff9bec3-5d03-436e-8bc0-0afb563885c0"/>
          <p:cNvSpPr/>
          <p:nvPr/>
        </p:nvSpPr>
        <p:spPr>
          <a:xfrm>
            <a:off x="285750" y="149733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empresas reais, as informações ficam espalhadas em diferentes setores. Um bom analista cruza essas pontas para gerar inteligência.</a:t>
            </a:r>
            <a:endParaRPr lang="en-US" sz="1264" dirty="0"/>
          </a:p>
        </p:txBody>
      </p:sp>
      <p:sp>
        <p:nvSpPr>
          <p:cNvPr id="4" name="d94ab5a3-65c0-479e-bfc2-ef1e28f20d76"/>
          <p:cNvSpPr/>
          <p:nvPr/>
        </p:nvSpPr>
        <p:spPr>
          <a:xfrm>
            <a:off x="285750" y="23088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Vendas e Estoque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Cruzamos o ID do produto vendido com a tabela de estoque via PROCV para descontar unidades e alertar reposição mínima.</a:t>
            </a:r>
            <a:endParaRPr lang="en-US" sz="1544" dirty="0"/>
          </a:p>
        </p:txBody>
      </p:sp>
      <p:sp>
        <p:nvSpPr>
          <p:cNvPr id="5" name="4cf2311f-43e9-4679-8949-1b5eba3bfd5c"/>
          <p:cNvSpPr/>
          <p:nvPr/>
        </p:nvSpPr>
        <p:spPr>
          <a:xfrm>
            <a:off x="4652010" y="23088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Vendas e RH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Buscamos o nome do vendedor e sua filial com ÍNDICE/CORRESPONDÊNCIA para calcular comissões escalonadas usando SE aninhado.</a:t>
            </a:r>
            <a:endParaRPr lang="en-US" sz="154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96a7186-a405-4e05-84fa-0789d8b21909" descr="/home/forge/chalkie-production-workers-1/releases/77642309/backend/storage/app/render-specs/d7f03cf3-4d3b-4f2b-9187-5ba3f4371d95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b05b7aed-97e5-4a2b-b61c-a68d9f25fed9" descr="/home/forge/chalkie-production-workers-1/releases/77642309/backend/storage/app/render-specs/d7f03cf3-4d3b-4f2b-9187-5ba3f4371d95/img_93fe8d1abdb7d755d3d51742ab3d89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8f6e53c1-57e7-447a-bf08-40b9c1e9e82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Integridade e Tomada de Decisão</a:t>
            </a:r>
            <a:endParaRPr lang="en-US" sz="2246" dirty="0"/>
          </a:p>
        </p:txBody>
      </p:sp>
      <p:sp>
        <p:nvSpPr>
          <p:cNvPr id="5" name="de32ba3d-afee-4b37-b561-80446d610995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erro de PROCV resultar em #N/D em 10% dos pedidos de uma empresa e o analista ignorar a mensagem, que impactos financeiros e operacionais isso causará na reposição de estoque e pagamento de comissões?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96a7186-a405-4e05-84fa-0789d8b21909" descr="/home/forge/chalkie-production-workers-1/releases/77642309/backend/storage/app/render-specs/d7f03cf3-4d3b-4f2b-9187-5ba3f4371d95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8f6e53c1-57e7-447a-bf08-40b9c1e9e82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Integridade e Tomada de Decisão</a:t>
            </a:r>
            <a:endParaRPr lang="en-US" sz="2246" dirty="0"/>
          </a:p>
        </p:txBody>
      </p:sp>
      <p:sp>
        <p:nvSpPr>
          <p:cNvPr id="4" name="2632ff01-f674-4509-8d87-b79e9f44c5ab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cálculo de estoque ficará defasado, causando falta de produtos.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Vendedores receberão menos, gerando conflitos trabalhistas.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Relatórios apresentarão faturamento subestimado, prejudicando decisões.</a:t>
            </a:r>
            <a:endParaRPr lang="en-US" sz="1264" dirty="0"/>
          </a:p>
        </p:txBody>
      </p:sp>
      <p:sp>
        <p:nvSpPr>
          <p:cNvPr id="5" name="415bb2f5-50a4-462c-bf0d-ad2cf0fa289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4737581-22c4-4a1f-9d96-7731bbd57ec5" descr="/home/forge/chalkie-production-workers-1/releases/77642309/backend/storage/app/render-specs/d7f03cf3-4d3b-4f2b-9187-5ba3f4371d95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51a77022-415d-41b9-b34c-28c5b8df2b0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Exercício Prático Integrado</a:t>
            </a:r>
            <a:endParaRPr lang="en-US" sz="2246" dirty="0"/>
          </a:p>
        </p:txBody>
      </p:sp>
      <p:sp>
        <p:nvSpPr>
          <p:cNvPr id="4" name="cecfae40-5852-4569-bb28-642221665c6a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Use PROCV ou ÍNDICE/CORRESPONDÊNCIA para unir dados de Vendas, Produtos e RH.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Calcule comissão com SE aninhado: 5% (meta), 8% (superou 20%) ou 2% (falha).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Use SEERRO para tratar códigos inexistentes nas buscas.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Crie Tabela Dinâmica do faturamento por vendedor e um Gráfico de Colunas.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25e7586-ff84-4490-9209-047f3f2b42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Atividade Avaliativa 3: Estudo de Caso</a:t>
            </a:r>
            <a:endParaRPr lang="en-US" sz="2246" dirty="0"/>
          </a:p>
        </p:txBody>
      </p:sp>
      <p:sp>
        <p:nvSpPr>
          <p:cNvPr id="3" name="9f1e9af5-292c-4bf1-8a07-d2b437d88f0a"/>
          <p:cNvSpPr/>
          <p:nvPr/>
        </p:nvSpPr>
        <p:spPr>
          <a:xfrm>
            <a:off x="285750" y="685800"/>
            <a:ext cx="8572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analista precisa calcular o bônus dos supervisores de loja. O bônus depende da cidade da filial (Coluna A) e do faturamento (Coluna B). Caso o código da loja não seja encontrado na matriz de filiais, o sistema deve registrar 'Loja Não Cadastrada'. Qual conjunto de ferramentas do Excel resolve esse desafio perfeitamente?</a:t>
            </a:r>
            <a:endParaRPr lang="en-US" sz="1264" dirty="0"/>
          </a:p>
        </p:txBody>
      </p:sp>
      <p:sp>
        <p:nvSpPr>
          <p:cNvPr id="4" name="8d265d6f-494b-472d-8fee-21ba5fd31eb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570fc9a5-5ffd-44ed-b4ec-f955094cc24d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Apenas formatação condicional com cores graduais sem fórmulas adicionais.</a:t>
            </a:r>
            <a:endParaRPr lang="en-US" sz="1264" dirty="0"/>
          </a:p>
        </p:txBody>
      </p:sp>
      <p:sp>
        <p:nvSpPr>
          <p:cNvPr id="6" name="b00731ff-ddb1-4297-be90-9f6acb68cc2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815adfca-aa09-4b3a-a575-839252d2f8a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setores 3D aplicado diretamente sobre os dados brutos sem tratamento.</a:t>
            </a:r>
            <a:endParaRPr lang="en-US" sz="1264" dirty="0"/>
          </a:p>
        </p:txBody>
      </p:sp>
      <p:sp>
        <p:nvSpPr>
          <p:cNvPr id="8" name="b48be411-c306-4126-b2db-dc39be63784c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26f452a9-a869-4dc5-bb07-12a5bf1a18e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 envolvido por SEERRO para localizar a filial, combinado com SE aninhado para faixas de bônus.</a:t>
            </a:r>
            <a:endParaRPr lang="en-US" sz="1264" dirty="0"/>
          </a:p>
        </p:txBody>
      </p:sp>
      <p:sp>
        <p:nvSpPr>
          <p:cNvPr id="10" name="51f19577-cd93-48fa-9965-e89d66cd2f9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f13dc22-a652-4367-957c-080ad0f23aa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automático simples com exclusão manual de linhas com erros.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25e7586-ff84-4490-9209-047f3f2b42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Atividade Avaliativa 3: Estudo de Caso</a:t>
            </a:r>
            <a:endParaRPr lang="en-US" sz="2246" dirty="0"/>
          </a:p>
        </p:txBody>
      </p:sp>
      <p:sp>
        <p:nvSpPr>
          <p:cNvPr id="3" name="9f1e9af5-292c-4bf1-8a07-d2b437d88f0a"/>
          <p:cNvSpPr/>
          <p:nvPr/>
        </p:nvSpPr>
        <p:spPr>
          <a:xfrm>
            <a:off x="285750" y="685800"/>
            <a:ext cx="8572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analista precisa calcular o bônus dos supervisores de loja. O bônus depende da cidade da filial (Coluna A) e do faturamento (Coluna B). Caso o código da loja não seja encontrado na matriz de filiais, o sistema deve registrar 'Loja Não Cadastrada'. Qual conjunto de ferramentas do Excel resolve esse desafio perfeitamente?</a:t>
            </a:r>
            <a:endParaRPr lang="en-US" sz="1264" dirty="0"/>
          </a:p>
        </p:txBody>
      </p:sp>
      <p:sp>
        <p:nvSpPr>
          <p:cNvPr id="4" name="8d265d6f-494b-472d-8fee-21ba5fd31eb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570fc9a5-5ffd-44ed-b4ec-f955094cc24d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Apenas formatação condicional com cores graduais sem fórmulas adicionais.</a:t>
            </a:r>
            <a:endParaRPr lang="en-US" sz="1264" dirty="0"/>
          </a:p>
        </p:txBody>
      </p:sp>
      <p:sp>
        <p:nvSpPr>
          <p:cNvPr id="6" name="b00731ff-ddb1-4297-be90-9f6acb68cc2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815adfca-aa09-4b3a-a575-839252d2f8a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setores 3D aplicado diretamente sobre os dados brutos sem tratamento.</a:t>
            </a:r>
            <a:endParaRPr lang="en-US" sz="1264" dirty="0"/>
          </a:p>
        </p:txBody>
      </p:sp>
      <p:sp>
        <p:nvSpPr>
          <p:cNvPr id="8" name="b48be411-c306-4126-b2db-dc39be63784c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26f452a9-a869-4dc5-bb07-12a5bf1a18e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 envolvido por SEERRO para localizar a filial, combinado com SE aninhado para faixas de bônus.</a:t>
            </a:r>
            <a:endParaRPr lang="en-US" sz="1264" dirty="0"/>
          </a:p>
        </p:txBody>
      </p:sp>
      <p:sp>
        <p:nvSpPr>
          <p:cNvPr id="10" name="51f19577-cd93-48fa-9965-e89d66cd2f9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f13dc22-a652-4367-957c-080ad0f23aa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automático simples com exclusão manual de linhas com erros.</a:t>
            </a:r>
            <a:endParaRPr lang="en-US" sz="1264" dirty="0"/>
          </a:p>
        </p:txBody>
      </p:sp>
      <p:sp>
        <p:nvSpPr>
          <p:cNvPr id="12" name="18b0dcd2-b1a6-4f23-9388-19a08c5685a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b81187f6-ea2f-4086-950c-a150b46eacaf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9b2efe5-6970-423b-a486-f484c42c4105" descr="/home/forge/chalkie-production-workers-1/releases/77642309/backend/storage/app/render-specs/d7f03cf3-4d3b-4f2b-9187-5ba3f4371d95/img_22046242b526697199466ac8b9f631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86a5c1f-db34-4c32-8ac5-54cc6ae4235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e Próxima Aula</a:t>
            </a:r>
            <a:endParaRPr lang="en-US" sz="2246" dirty="0"/>
          </a:p>
        </p:txBody>
      </p:sp>
      <p:sp>
        <p:nvSpPr>
          <p:cNvPr id="4" name="ddb9bc6f-0988-4070-a3d3-2b8f1281cb30"/>
          <p:cNvSpPr/>
          <p:nvPr/>
        </p:nvSpPr>
        <p:spPr>
          <a:xfrm>
            <a:off x="285750" y="868680"/>
            <a:ext cx="16802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 FINAL</a:t>
            </a:r>
            <a:endParaRPr lang="en-US" sz="842" dirty="0"/>
          </a:p>
        </p:txBody>
      </p:sp>
      <p:sp>
        <p:nvSpPr>
          <p:cNvPr id="5" name="8713551b-cf78-423a-b2cb-61cd57a0b833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você dominou buscas dinâmicas, fórmulas lógicas com tratamento de falhas, tabelas dinâmicas e visualização executiva.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próxima aula, integraremos todos esses conhecimentos no nosso grande desafio: a construção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Dashboards Executivos Interativos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6" name="290917d3-39e3-4d54-b959-a605193f0d87_card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290917d3-39e3-4d54-b959-a605193f0d87_emoji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290917d3-39e3-4d54-b959-a605193f0d87_text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bem tratados e visualmente claros transformam informações operacionais em decisões estratégicas.</a:t>
            </a:r>
            <a:endParaRPr lang="en-US" sz="112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2537</Words>
  <Application>Microsoft Office PowerPoint</Application>
  <PresentationFormat>Apresentação no Ecrã (16:9)</PresentationFormat>
  <Paragraphs>337</Paragraphs>
  <Slides>42</Slides>
  <Notes>42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42</vt:i4>
      </vt:variant>
    </vt:vector>
  </HeadingPairs>
  <TitlesOfParts>
    <vt:vector size="45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Avançado e Visualização de Dados</dc:title>
  <dc:subject>PptxGenJS Presentation</dc:subject>
  <dc:creator>PptxGenJS</dc:creator>
  <cp:lastModifiedBy>Gelvazio Camargo - HOTMAIL</cp:lastModifiedBy>
  <cp:revision>2</cp:revision>
  <dcterms:created xsi:type="dcterms:W3CDTF">2026-09-14T12:52:03Z</dcterms:created>
  <dcterms:modified xsi:type="dcterms:W3CDTF">2026-09-14T13:05:28Z</dcterms:modified>
</cp:coreProperties>
</file>