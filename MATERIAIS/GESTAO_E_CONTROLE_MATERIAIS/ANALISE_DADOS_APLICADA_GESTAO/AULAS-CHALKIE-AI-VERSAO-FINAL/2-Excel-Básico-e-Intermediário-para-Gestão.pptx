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embeddedFontLst>
    <p:embeddedFont>
      <p:font typeface="Dyslexie"/>
      <p:regular r:id="rId49"/>
      <p:bold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font" Target="fonts/font1.fntdata"/><Relationship Id="rId5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8fb48c6-ce06-4f17-805d-a675bdf73b43" descr="/home/forge/chalkie-production-workers-1/releases/77642309/backend/storage/app/render-specs/59741dc2-df23-42fc-9d60-2761449a3d74/img_e084adb3f4120282348506960c1809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83e443f7-6b00-43d6-bf1f-bd7d45be3c76"/>
          <p:cNvSpPr/>
          <p:nvPr/>
        </p:nvSpPr>
        <p:spPr>
          <a:xfrm>
            <a:off x="4914900" y="113157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Básico e Intermediário para Gestão</a:t>
            </a:r>
            <a:endParaRPr lang="en-US" sz="2527" dirty="0"/>
          </a:p>
        </p:txBody>
      </p:sp>
      <p:sp>
        <p:nvSpPr>
          <p:cNvPr id="4" name="a3447c9f-1ce7-4816-90e6-f82e86ef0b21"/>
          <p:cNvSpPr/>
          <p:nvPr/>
        </p:nvSpPr>
        <p:spPr>
          <a:xfrm>
            <a:off x="4914900" y="283464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Domine planilhas, fórmulas essenciais e ferramentas gerenciais práticas.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fef95f1-7027-480b-9634-d9ab9563ce56" descr="/home/forge/chalkie-production-workers-1/releases/77642309/backend/storage/app/render-specs/59741dc2-df23-42fc-9d60-2761449a3d74/img_22deeebf242e4e3ec8e8afbbf6a3d61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14b7e7d8-6b9d-4c0f-90a4-4f2d211d3723"/>
          <p:cNvSpPr/>
          <p:nvPr/>
        </p:nvSpPr>
        <p:spPr>
          <a:xfrm>
            <a:off x="285750" y="156591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Guiadas por Números</a:t>
            </a:r>
            <a:endParaRPr lang="en-US" sz="2246" dirty="0"/>
          </a:p>
        </p:txBody>
      </p:sp>
      <p:sp>
        <p:nvSpPr>
          <p:cNvPr id="4" name="1f823b47-84fc-49ee-a84a-ac7f67d8899a"/>
          <p:cNvSpPr/>
          <p:nvPr/>
        </p:nvSpPr>
        <p:spPr>
          <a:xfrm>
            <a:off x="285750" y="265176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uma pequena loja de roupas decide quais peças comprar sem perder dinheiro?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2d140b1-60d9-4aec-acaa-9f6f340a47e9" descr="/home/forge/chalkie-production-workers-1/releases/77642309/backend/storage/app/render-specs/59741dc2-df23-42fc-9d60-2761449a3d74/img_235b5078c43d9a69de55371909a952f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e840e93-6019-4887-96de-42edf96b862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de Aprendizagem</a:t>
            </a:r>
            <a:endParaRPr lang="en-US" sz="2246" dirty="0"/>
          </a:p>
        </p:txBody>
      </p:sp>
      <p:sp>
        <p:nvSpPr>
          <p:cNvPr id="4" name="145b34e1-7146-4e93-ac12-4e1d760732f1"/>
          <p:cNvSpPr/>
          <p:nvPr/>
        </p:nvSpPr>
        <p:spPr>
          <a:xfrm>
            <a:off x="285750" y="868680"/>
            <a:ext cx="23545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CONQUISTAS DE HOJE</a:t>
            </a:r>
            <a:endParaRPr lang="en-US" sz="842" dirty="0"/>
          </a:p>
        </p:txBody>
      </p:sp>
      <p:sp>
        <p:nvSpPr>
          <p:cNvPr id="5" name="5f18b87d-ad67-43e3-80ca-ed2f2bd98a64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Nesta aula prática de análise e organização, você vai desenvolver três competências fundamentais para qualquer empresa moderna: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Navegar na interface do Excel e formatar dados com precisão e clareza visual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fórmulas e aplicar funções essenciais de cálculo e lógica condicional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Estruturar planilhas completas com validação de dados e congelamento de painéis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c0a4c25-f463-4727-a11b-92fc57b40bcf" descr="/home/forge/chalkie-production-workers-1/releases/77642309/backend/storage/app/render-specs/59741dc2-df23-42fc-9d60-2761449a3d74/img_68df2129cb0bfd2b052deb38fe608d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504b90ec-b602-4571-b05f-5ad6880017d1" descr="/home/forge/chalkie-production-workers-1/releases/77642309/backend/storage/app/render-specs/59741dc2-df23-42fc-9d60-2761449a3d74/img_9adff035091f32887f2240e6752f8a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ccfefe63-3f6f-4c48-8bd2-20ce1b4f3aec" descr="/home/forge/chalkie-production-workers-1/releases/77642309/backend/storage/app/render-specs/59741dc2-df23-42fc-9d60-2761449a3d74/img_25d3dd6a45bf4bd7c732053df6f6cf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42bef921-9cd3-43e9-b49d-f752d814783e" descr="/home/forge/chalkie-production-workers-1/releases/77642309/backend/storage/app/render-specs/59741dc2-df23-42fc-9d60-2761449a3d74/img_adf0ff44a3e44170383e185d681911a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90177268-5e42-42d1-be34-001ff7628b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 da Aula</a:t>
            </a:r>
            <a:endParaRPr lang="en-US" sz="2246" dirty="0"/>
          </a:p>
        </p:txBody>
      </p:sp>
      <p:sp>
        <p:nvSpPr>
          <p:cNvPr id="7" name="d6fe45f4-a1c9-43f6-9950-5c177144b484"/>
          <p:cNvSpPr/>
          <p:nvPr/>
        </p:nvSpPr>
        <p:spPr>
          <a:xfrm>
            <a:off x="28575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Planilha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Área quadriculada de trabalho com linhas numeradas e colunas nomeadas.</a:t>
            </a:r>
            <a:endParaRPr lang="en-US" sz="1264" dirty="0"/>
          </a:p>
        </p:txBody>
      </p:sp>
      <p:sp>
        <p:nvSpPr>
          <p:cNvPr id="8" name="034efa84-d351-446a-9016-fd69e7da489e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O ponto de encontro entre uma linha e uma coluna, como A1 ou B4.</a:t>
            </a:r>
            <a:endParaRPr lang="en-US" sz="1264" dirty="0"/>
          </a:p>
        </p:txBody>
      </p:sp>
      <p:sp>
        <p:nvSpPr>
          <p:cNvPr id="9" name="573484e2-bbbd-4ab6-983b-1ba4a5f3bb79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Instrução matemática para calcular valores automaticamente a partir de dados.</a:t>
            </a:r>
            <a:endParaRPr lang="en-US" sz="1264" dirty="0"/>
          </a:p>
        </p:txBody>
      </p:sp>
      <p:sp>
        <p:nvSpPr>
          <p:cNvPr id="10" name="68b2124e-0ac1-4645-ab39-da1836c65bc7"/>
          <p:cNvSpPr/>
          <p:nvPr/>
        </p:nvSpPr>
        <p:spPr>
          <a:xfrm>
            <a:off x="6892290" y="274320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Regra formal de escrita de cada função, definindo nome e argumentos.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331f240-a674-4ec2-9c3c-a65162fe702c" descr="/home/forge/chalkie-production-workers-1/releases/77642309/backend/storage/app/render-specs/59741dc2-df23-42fc-9d60-2761449a3d74/img_21bbd58df22464d666730a6420d0f3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9212fa09-e5ca-4b4a-af38-03857497f62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Revisando os Fundamentos Matemáticos</a:t>
            </a:r>
            <a:endParaRPr lang="en-US" sz="2246" dirty="0"/>
          </a:p>
        </p:txBody>
      </p:sp>
      <p:sp>
        <p:nvSpPr>
          <p:cNvPr id="4" name="fdf3a330-e853-4de9-bed3-ff415cc55c68"/>
          <p:cNvSpPr/>
          <p:nvPr/>
        </p:nvSpPr>
        <p:spPr>
          <a:xfrm>
            <a:off x="4286250" y="868680"/>
            <a:ext cx="266319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CONEXÃO COM A AULA 1</a:t>
            </a:r>
            <a:endParaRPr lang="en-US" sz="842" dirty="0"/>
          </a:p>
        </p:txBody>
      </p:sp>
      <p:sp>
        <p:nvSpPr>
          <p:cNvPr id="5" name="1a419da8-3993-4e59-8acd-85c508e03e1e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aula anterior, vimos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operações básicas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porcentagens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estatística descritiva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(média e desvio padrão). Agora, automatizaremos esses cálculos no Excel, evitando erros manuais em grandes volumes de dados.</a:t>
            </a:r>
            <a:endParaRPr lang="en-US" sz="1264" dirty="0"/>
          </a:p>
        </p:txBody>
      </p:sp>
      <p:sp>
        <p:nvSpPr>
          <p:cNvPr id="6" name="a33ad4eb-a172-4353-8e91-b7b37cfe077c_card"/>
          <p:cNvSpPr/>
          <p:nvPr/>
        </p:nvSpPr>
        <p:spPr>
          <a:xfrm>
            <a:off x="4286250" y="275463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a33ad4eb-a172-4353-8e91-b7b37cfe077c_emoji"/>
          <p:cNvSpPr/>
          <p:nvPr/>
        </p:nvSpPr>
        <p:spPr>
          <a:xfrm>
            <a:off x="4400550" y="29032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a33ad4eb-a172-4353-8e91-b7b37cfe077c_text"/>
          <p:cNvSpPr/>
          <p:nvPr/>
        </p:nvSpPr>
        <p:spPr>
          <a:xfrm>
            <a:off x="4766310" y="286893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computador calcula com perfeição, mas a lógica correta é sua.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34f5d2-e024-49cd-a0c2-48262964afc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Rápido: Fundamentos da Aula 1</a:t>
            </a:r>
            <a:endParaRPr lang="en-US" sz="2246" dirty="0"/>
          </a:p>
        </p:txBody>
      </p:sp>
      <p:sp>
        <p:nvSpPr>
          <p:cNvPr id="3" name="86f267eb-4b49-49de-a1ee-3ddd364abb4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produto custava R$ 200,00 e sofreu um desconto de 15%. Qual é o novo preço final desse item?</a:t>
            </a:r>
            <a:endParaRPr lang="en-US" sz="1264" dirty="0"/>
          </a:p>
        </p:txBody>
      </p:sp>
      <p:sp>
        <p:nvSpPr>
          <p:cNvPr id="4" name="dab6c163-2f14-4bb5-b678-f1a4b414d3e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b0b4eb4-626d-4bac-bf4f-5c6871510a1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R$ 170,00</a:t>
            </a:r>
            <a:endParaRPr lang="en-US" sz="1264" dirty="0"/>
          </a:p>
        </p:txBody>
      </p:sp>
      <p:sp>
        <p:nvSpPr>
          <p:cNvPr id="6" name="00b12bad-0f86-4ce0-b028-c2ec066f3f0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56b8d00-2329-4b8a-9cc8-575983dd8d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R$ 175,00</a:t>
            </a:r>
            <a:endParaRPr lang="en-US" sz="1264" dirty="0"/>
          </a:p>
        </p:txBody>
      </p:sp>
      <p:sp>
        <p:nvSpPr>
          <p:cNvPr id="8" name="8d500e96-df09-4499-aa5f-d006a89f207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a8b5ed1-b724-4792-93cb-764bda7e71e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R$ 185,00</a:t>
            </a:r>
            <a:endParaRPr lang="en-US" sz="1264" dirty="0"/>
          </a:p>
        </p:txBody>
      </p:sp>
      <p:sp>
        <p:nvSpPr>
          <p:cNvPr id="10" name="22993f43-0a97-4e56-999a-b6c01d96f79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94b80528-f583-421e-b32c-e8e3430f400c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R$ 160,00</a:t>
            </a:r>
            <a:endParaRPr lang="en-US" sz="126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34f5d2-e024-49cd-a0c2-48262964afc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 Rápido: Fundamentos da Aula 1</a:t>
            </a:r>
            <a:endParaRPr lang="en-US" sz="2246" dirty="0"/>
          </a:p>
        </p:txBody>
      </p:sp>
      <p:sp>
        <p:nvSpPr>
          <p:cNvPr id="3" name="86f267eb-4b49-49de-a1ee-3ddd364abb4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produto custava R$ 200,00 e sofreu um desconto de 15%. Qual é o novo preço final desse item?</a:t>
            </a:r>
            <a:endParaRPr lang="en-US" sz="1264" dirty="0"/>
          </a:p>
        </p:txBody>
      </p:sp>
      <p:sp>
        <p:nvSpPr>
          <p:cNvPr id="4" name="dab6c163-2f14-4bb5-b678-f1a4b414d3e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3b0b4eb4-626d-4bac-bf4f-5c6871510a1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R$ 170,00</a:t>
            </a:r>
            <a:endParaRPr lang="en-US" sz="1264" dirty="0"/>
          </a:p>
        </p:txBody>
      </p:sp>
      <p:sp>
        <p:nvSpPr>
          <p:cNvPr id="6" name="00b12bad-0f86-4ce0-b028-c2ec066f3f0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a56b8d00-2329-4b8a-9cc8-575983dd8d2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R$ 175,00</a:t>
            </a:r>
            <a:endParaRPr lang="en-US" sz="1264" dirty="0"/>
          </a:p>
        </p:txBody>
      </p:sp>
      <p:sp>
        <p:nvSpPr>
          <p:cNvPr id="8" name="8d500e96-df09-4499-aa5f-d006a89f207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a8b5ed1-b724-4792-93cb-764bda7e71e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R$ 185,00</a:t>
            </a:r>
            <a:endParaRPr lang="en-US" sz="1264" dirty="0"/>
          </a:p>
        </p:txBody>
      </p:sp>
      <p:sp>
        <p:nvSpPr>
          <p:cNvPr id="10" name="22993f43-0a97-4e56-999a-b6c01d96f79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94b80528-f583-421e-b32c-e8e3430f400c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R$ 160,00</a:t>
            </a:r>
            <a:endParaRPr lang="en-US" sz="1264" dirty="0"/>
          </a:p>
        </p:txBody>
      </p:sp>
      <p:sp>
        <p:nvSpPr>
          <p:cNvPr id="12" name="9c7933c3-6be3-463e-b728-ef0c71a939d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12f8bacb-5a87-481d-9074-0a41af8f759b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950f912-1f13-40c4-82df-543d25b43d88" descr="/home/forge/chalkie-production-workers-1/releases/77642309/backend/storage/app/render-specs/59741dc2-df23-42fc-9d60-2761449a3d74/img_52d0504113248b03e981e568c058e1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f7c85700-0abf-4e16-bb9f-c2d650991fc5"/>
          <p:cNvSpPr/>
          <p:nvPr/>
        </p:nvSpPr>
        <p:spPr>
          <a:xfrm>
            <a:off x="285750" y="21259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Conhecendo a Interface do Excel</a:t>
            </a:r>
            <a:endParaRPr lang="en-US" sz="2246" dirty="0"/>
          </a:p>
        </p:txBody>
      </p:sp>
      <p:sp>
        <p:nvSpPr>
          <p:cNvPr id="4" name="f5a68665-8090-4bbf-816d-baa255fc7f93"/>
          <p:cNvSpPr/>
          <p:nvPr/>
        </p:nvSpPr>
        <p:spPr>
          <a:xfrm>
            <a:off x="285750" y="2754630"/>
            <a:ext cx="8572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tela inicial organiza ferramentas em menus superiores chamados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Guias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como Página Inicial, Inserir e Dados. Abaixo das guias encontramos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Faixa de Opções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botões rápidos de formatação.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Logo acima da grade ficam duas caixas cruciais: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Caixa de Nome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que indica a célula ativa, e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Barra de Fórmulas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onde você digita e confere expressões matemáticas.</a:t>
            </a:r>
            <a:endParaRPr lang="en-US" sz="126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ebdbb15-0daf-42cb-a6f9-704df1a0fc27" descr="/home/forge/chalkie-production-workers-1/releases/77642309/backend/storage/app/render-specs/59741dc2-df23-42fc-9d60-2761449a3d74/img_4999f0fa0fd230ab3a8d0d370b3e41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64a14c06-cef7-4fc2-849e-ba273b4578b3" descr="/home/forge/chalkie-production-workers-1/releases/77642309/backend/storage/app/render-specs/59741dc2-df23-42fc-9d60-2761449a3d74/img_c8bd1074a8a88538a18fecd027ed25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ea4e0145-b402-4e7e-800b-6dc8a03bfc29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Linhas, Colunas e Pastas de Trabalho</a:t>
            </a:r>
            <a:endParaRPr lang="en-US" sz="2246" dirty="0"/>
          </a:p>
        </p:txBody>
      </p:sp>
      <p:sp>
        <p:nvSpPr>
          <p:cNvPr id="5" name="4869723e-9b06-4662-a9b6-90529d63418a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Estrutura da Grade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As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são identificadas por letras (A, B, C...) e as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linhas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por números (1, 2, 3...). A interseção define o endereço único de cada célula.</a:t>
            </a:r>
            <a:endParaRPr lang="en-US" sz="1544" dirty="0"/>
          </a:p>
        </p:txBody>
      </p:sp>
      <p:sp>
        <p:nvSpPr>
          <p:cNvPr id="6" name="f82b4829-536d-4c38-9b79-826fd97c7c34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Pastas e Abas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arquivo inteiro chama-se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Pasta de Trabalho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Na parte inferior, você pode criar várias abas de planilhas para separar meses, filiais ou setores.</a:t>
            </a:r>
            <a:endParaRPr lang="en-US" sz="15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397bb2-10f1-4787-a492-3362d4f959c7" descr="/home/forge/chalkie-production-workers-1/releases/77642309/backend/storage/app/render-specs/59741dc2-df23-42fc-9d60-2761449a3d74/img_3e2ea679f9d435f90e38967453b352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24b0422b-8c3e-4ab8-a97b-988758b70191"/>
          <p:cNvSpPr/>
          <p:nvPr/>
        </p:nvSpPr>
        <p:spPr>
          <a:xfrm>
            <a:off x="285750" y="25146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Tipos de Dados no Excel</a:t>
            </a:r>
            <a:endParaRPr lang="en-US" sz="2246" dirty="0"/>
          </a:p>
        </p:txBody>
      </p:sp>
      <p:sp>
        <p:nvSpPr>
          <p:cNvPr id="4" name="35310d34-95ea-4553-aa27-f905bb9fcf5e"/>
          <p:cNvSpPr/>
          <p:nvPr/>
        </p:nvSpPr>
        <p:spPr>
          <a:xfrm>
            <a:off x="285750" y="880110"/>
            <a:ext cx="5143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identifica o tipo de dado inserido: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Texto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alinhado à esquerda (nomes, cargos, cidades)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alinhados à direita (quantidades, estoques)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números sequenciais no sistema interno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Valores Lógicos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resultados VERDADEIRO ou FALSO</a:t>
            </a:r>
            <a:endParaRPr lang="en-US" sz="1264" dirty="0"/>
          </a:p>
        </p:txBody>
      </p:sp>
      <p:sp>
        <p:nvSpPr>
          <p:cNvPr id="5" name="b2a9fbb8-ceee-41d6-811c-8f5b5e001eff_card"/>
          <p:cNvSpPr/>
          <p:nvPr/>
        </p:nvSpPr>
        <p:spPr>
          <a:xfrm>
            <a:off x="285750" y="352044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b2a9fbb8-ceee-41d6-811c-8f5b5e001eff_emoji"/>
          <p:cNvSpPr/>
          <p:nvPr/>
        </p:nvSpPr>
        <p:spPr>
          <a:xfrm>
            <a:off x="400050" y="36690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b2a9fbb8-ceee-41d6-811c-8f5b5e001eff_text"/>
          <p:cNvSpPr/>
          <p:nvPr/>
        </p:nvSpPr>
        <p:spPr>
          <a:xfrm>
            <a:off x="765810" y="363474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alinhados à esquerda são lidos como texto, impedindo cálculos.</a:t>
            </a:r>
            <a:endParaRPr lang="en-US" sz="112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0a54ff4-ddfa-4dfd-be85-5a387ca3cf58" descr="/home/forge/chalkie-production-workers-1/releases/77642309/backend/storage/app/render-specs/59741dc2-df23-42fc-9d60-2761449a3d74/img_3e4a3ef4cc7331e3cbcdfa2beaccf8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cf4703ec-8056-496d-8a6c-abe88ba4feb2" descr="/home/forge/chalkie-production-workers-1/releases/77642309/backend/storage/app/render-specs/59741dc2-df23-42fc-9d60-2761449a3d74/img_7ef015b5cc95f6eb9ed6785e55bf9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a6715a04-6d32-4ce9-8665-16a9c1d270c9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Visual e Clareza de Dados</a:t>
            </a:r>
            <a:endParaRPr lang="en-US" sz="2246" dirty="0"/>
          </a:p>
        </p:txBody>
      </p:sp>
      <p:sp>
        <p:nvSpPr>
          <p:cNvPr id="5" name="1e7a9b63-2aee-46a9-813f-c5fd2bcf101b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 Formatação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Dados sem contraste, títulos confusos e ausência de separação visual tornam a leitura cansativa e aumentam o risco de erros operacionais graves na gestão.</a:t>
            </a:r>
            <a:endParaRPr lang="en-US" sz="1544" dirty="0"/>
          </a:p>
        </p:txBody>
      </p:sp>
      <p:sp>
        <p:nvSpPr>
          <p:cNvPr id="6" name="a1028487-09a7-4161-864d-1a97393f6485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Profissional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Cabeçalhos em destaque, bordas estruturadas, fontes legíveis e cores corporativas direcionam o olhar do gestor direto para o que importa.</a:t>
            </a:r>
            <a:endParaRPr lang="en-US" sz="154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640ca5f-91f1-45b0-a8da-01b6398710db" descr="/home/forge/chalkie-production-workers-1/releases/77642309/backend/storage/app/render-specs/59741dc2-df23-42fc-9d60-2761449a3d74/img_e50c88cf07c4dc58c8f7fce7118102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fb94f10d-29f7-4c6e-8278-ea3a161d50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Construindo as Primeiras Fórmulas</a:t>
            </a:r>
            <a:endParaRPr lang="en-US" sz="2246" dirty="0"/>
          </a:p>
        </p:txBody>
      </p:sp>
      <p:sp>
        <p:nvSpPr>
          <p:cNvPr id="4" name="a9901665-1586-4aa0-adf9-4f87943eeded"/>
          <p:cNvSpPr/>
          <p:nvPr/>
        </p:nvSpPr>
        <p:spPr>
          <a:xfrm>
            <a:off x="4286250" y="868680"/>
            <a:ext cx="18288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REGRA DE OURO</a:t>
            </a:r>
            <a:endParaRPr lang="en-US" sz="842" dirty="0"/>
          </a:p>
        </p:txBody>
      </p:sp>
      <p:sp>
        <p:nvSpPr>
          <p:cNvPr id="5" name="65e94c81-11d0-466d-8fa6-4160503b56e4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Toda fórmula deve iniciar com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Sem ele, o Excel trata o conteúdo como texto.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Use operadores matemáticos: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Adição (+), Subtração (-)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Multiplicação (*), Divisão (/)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Potenciação (^)</a:t>
            </a:r>
            <a:endParaRPr lang="en-US" sz="1264" dirty="0"/>
          </a:p>
        </p:txBody>
      </p:sp>
      <p:sp>
        <p:nvSpPr>
          <p:cNvPr id="6" name="63f975c6-4a82-4f7d-af6b-69aab70d2655_card"/>
          <p:cNvSpPr/>
          <p:nvPr/>
        </p:nvSpPr>
        <p:spPr>
          <a:xfrm>
            <a:off x="4286250" y="3314700"/>
            <a:ext cx="4572000" cy="870458"/>
          </a:xfrm>
          <a:prstGeom prst="roundRect">
            <a:avLst>
              <a:gd name="adj" fmla="val 10505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63f975c6-4a82-4f7d-af6b-69aab70d2655_emoji"/>
          <p:cNvSpPr/>
          <p:nvPr/>
        </p:nvSpPr>
        <p:spPr>
          <a:xfrm>
            <a:off x="4400550" y="34632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63f975c6-4a82-4f7d-af6b-69aab70d2655_text"/>
          <p:cNvSpPr/>
          <p:nvPr/>
        </p:nvSpPr>
        <p:spPr>
          <a:xfrm>
            <a:off x="4766310" y="3429000"/>
            <a:ext cx="3977640" cy="6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Faturamento: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(Qtd * Preço).</a:t>
            </a:r>
            <a:endParaRPr lang="en-US" sz="112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396941d-d3f8-4839-8887-a0644de76041"/>
          <p:cNvSpPr/>
          <p:nvPr/>
        </p:nvSpPr>
        <p:spPr>
          <a:xfrm>
            <a:off x="17145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8d4899ed-1f9a-4ce7-9df1-a7d356522510"/>
          <p:cNvSpPr/>
          <p:nvPr/>
        </p:nvSpPr>
        <p:spPr>
          <a:xfrm>
            <a:off x="237744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7f3ff8ee-9993-4bc0-b7a0-d8f26fa4a5ab"/>
          <p:cNvSpPr/>
          <p:nvPr/>
        </p:nvSpPr>
        <p:spPr>
          <a:xfrm>
            <a:off x="457200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7a45486d-c660-460b-8058-af2eada523a1"/>
          <p:cNvSpPr/>
          <p:nvPr/>
        </p:nvSpPr>
        <p:spPr>
          <a:xfrm>
            <a:off x="677799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4093b929-0913-482e-a527-ad4f2f3d58f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 de Precedência Matemática</a:t>
            </a:r>
            <a:endParaRPr lang="en-US" sz="2246" dirty="0"/>
          </a:p>
        </p:txBody>
      </p:sp>
      <p:sp>
        <p:nvSpPr>
          <p:cNvPr id="7" name="12ccbb8a-901e-4dfa-8a22-1b87b5ba5b29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segue regras matemáticas universais ao avaliar fórmulas:</a:t>
            </a:r>
            <a:endParaRPr lang="en-US" sz="1264" dirty="0"/>
          </a:p>
        </p:txBody>
      </p:sp>
      <p:sp>
        <p:nvSpPr>
          <p:cNvPr id="8" name="d90ad700-f078-4b8e-8cf5-022ede360f7f"/>
          <p:cNvSpPr/>
          <p:nvPr/>
        </p:nvSpPr>
        <p:spPr>
          <a:xfrm>
            <a:off x="285750" y="19316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Parênteses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Tudo dentro de ( ) é calculado primeiro.</a:t>
            </a:r>
            <a:endParaRPr lang="en-US" sz="1264" dirty="0"/>
          </a:p>
        </p:txBody>
      </p:sp>
      <p:sp>
        <p:nvSpPr>
          <p:cNvPr id="9" name="8cb97257-16ff-491e-98fa-317ad558f40e"/>
          <p:cNvSpPr/>
          <p:nvPr/>
        </p:nvSpPr>
        <p:spPr>
          <a:xfrm>
            <a:off x="2491740" y="19316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Potências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Expoentes e raízes são avaliados a seguir.</a:t>
            </a:r>
            <a:endParaRPr lang="en-US" sz="1264" dirty="0"/>
          </a:p>
        </p:txBody>
      </p:sp>
      <p:sp>
        <p:nvSpPr>
          <p:cNvPr id="10" name="c3843ee7-2d2e-4fa2-8ab0-c1f9e1c2930b"/>
          <p:cNvSpPr/>
          <p:nvPr/>
        </p:nvSpPr>
        <p:spPr>
          <a:xfrm>
            <a:off x="4686300" y="19316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Multiplicação e Divisão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Calculadas da esquerda para a direita.</a:t>
            </a:r>
            <a:endParaRPr lang="en-US" sz="1264" dirty="0"/>
          </a:p>
        </p:txBody>
      </p:sp>
      <p:sp>
        <p:nvSpPr>
          <p:cNvPr id="11" name="aac4aebe-7c62-4b5d-88a4-6618509b9494"/>
          <p:cNvSpPr/>
          <p:nvPr/>
        </p:nvSpPr>
        <p:spPr>
          <a:xfrm>
            <a:off x="6892290" y="19316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Adição e Subtração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- Operações finais executadas por último.</a:t>
            </a:r>
            <a:endParaRPr lang="en-US" sz="126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0ce36a1-9c1e-4884-b77e-1a12de1be6b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a Precedência no Excel</a:t>
            </a:r>
            <a:endParaRPr lang="en-US" sz="2246" dirty="0"/>
          </a:p>
        </p:txBody>
      </p:sp>
      <p:sp>
        <p:nvSpPr>
          <p:cNvPr id="3" name="db36d2c8-2cfb-43cc-8dc7-c55dfcfd94c5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o valor exato calculado pelo Excel para a fórmula =4 + 6 / 2 * 3?</a:t>
            </a:r>
            <a:endParaRPr lang="en-US" sz="1264" dirty="0"/>
          </a:p>
        </p:txBody>
      </p:sp>
      <p:sp>
        <p:nvSpPr>
          <p:cNvPr id="4" name="481db54f-52bc-4935-b221-bf7ccfab48c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008cdc37-4c60-4abf-ada8-f4ae004f13d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18</a:t>
            </a:r>
            <a:endParaRPr lang="en-US" sz="1264" dirty="0"/>
          </a:p>
        </p:txBody>
      </p:sp>
      <p:sp>
        <p:nvSpPr>
          <p:cNvPr id="6" name="8977e9a2-6a95-46d4-a50c-c42bdf65ae0c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649cede-1374-4819-8bbc-6b4a93d7622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</a:t>
            </a:r>
            <a:endParaRPr lang="en-US" sz="1264" dirty="0"/>
          </a:p>
        </p:txBody>
      </p:sp>
      <p:sp>
        <p:nvSpPr>
          <p:cNvPr id="8" name="65f06b88-8ca9-4484-8d45-b8ae2103ec6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3729c684-5e3f-4a5a-93d9-be346cb127f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13</a:t>
            </a:r>
            <a:endParaRPr lang="en-US" sz="1264" dirty="0"/>
          </a:p>
        </p:txBody>
      </p:sp>
      <p:sp>
        <p:nvSpPr>
          <p:cNvPr id="10" name="90a7e3ab-fffc-49f9-82d6-74530a69c7d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a5f4dbac-f660-4b6f-8bbb-67ca500c886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9</a:t>
            </a:r>
            <a:endParaRPr lang="en-US" sz="126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70ce36a1-9c1e-4884-b77e-1a12de1be6b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a Precedência no Excel</a:t>
            </a:r>
            <a:endParaRPr lang="en-US" sz="2246" dirty="0"/>
          </a:p>
        </p:txBody>
      </p:sp>
      <p:sp>
        <p:nvSpPr>
          <p:cNvPr id="3" name="db36d2c8-2cfb-43cc-8dc7-c55dfcfd94c5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é o valor exato calculado pelo Excel para a fórmula =4 + 6 / 2 * 3?</a:t>
            </a:r>
            <a:endParaRPr lang="en-US" sz="1264" dirty="0"/>
          </a:p>
        </p:txBody>
      </p:sp>
      <p:sp>
        <p:nvSpPr>
          <p:cNvPr id="4" name="481db54f-52bc-4935-b221-bf7ccfab48c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008cdc37-4c60-4abf-ada8-f4ae004f13d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18</a:t>
            </a:r>
            <a:endParaRPr lang="en-US" sz="1264" dirty="0"/>
          </a:p>
        </p:txBody>
      </p:sp>
      <p:sp>
        <p:nvSpPr>
          <p:cNvPr id="6" name="8977e9a2-6a95-46d4-a50c-c42bdf65ae0c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f649cede-1374-4819-8bbc-6b4a93d7622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15</a:t>
            </a:r>
            <a:endParaRPr lang="en-US" sz="1264" dirty="0"/>
          </a:p>
        </p:txBody>
      </p:sp>
      <p:sp>
        <p:nvSpPr>
          <p:cNvPr id="8" name="65f06b88-8ca9-4484-8d45-b8ae2103ec6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3729c684-5e3f-4a5a-93d9-be346cb127f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13</a:t>
            </a:r>
            <a:endParaRPr lang="en-US" sz="1264" dirty="0"/>
          </a:p>
        </p:txBody>
      </p:sp>
      <p:sp>
        <p:nvSpPr>
          <p:cNvPr id="10" name="90a7e3ab-fffc-49f9-82d6-74530a69c7d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a5f4dbac-f660-4b6f-8bbb-67ca500c886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9</a:t>
            </a:r>
            <a:endParaRPr lang="en-US" sz="1264" dirty="0"/>
          </a:p>
        </p:txBody>
      </p:sp>
      <p:sp>
        <p:nvSpPr>
          <p:cNvPr id="12" name="097fee35-011a-4373-995c-4e6a96324d7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1a40a826-a44c-4e9d-81ec-f636a3cc9823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f1a66f9-d30c-4e4f-b8ac-036538c3f1cb" descr="/home/forge/chalkie-production-workers-1/releases/77642309/backend/storage/app/render-specs/59741dc2-df23-42fc-9d60-2761449a3d74/img_f90f82e52263cc5784dd620d24725d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cc324696-e7ca-42d5-94b5-f69094bcdba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 Essenciais: SOMA e MÉDIA</a:t>
            </a:r>
            <a:endParaRPr lang="en-US" sz="2246" dirty="0"/>
          </a:p>
        </p:txBody>
      </p:sp>
      <p:sp>
        <p:nvSpPr>
          <p:cNvPr id="4" name="6751a652-50c6-4f51-8f0d-1fce18761b96"/>
          <p:cNvSpPr/>
          <p:nvPr/>
        </p:nvSpPr>
        <p:spPr>
          <a:xfrm>
            <a:off x="285750" y="80010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vez de somar célula por célula com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usamos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funções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pré-programadas do Excel com intervalos delimitados por dois pontos (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calcula o total acumulado do intervalo de B2 até B10 de forma instantânea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divide a soma pelo número de ocorrências numéricas do grupo</a:t>
            </a:r>
            <a:endParaRPr lang="en-US" sz="1264" dirty="0"/>
          </a:p>
        </p:txBody>
      </p:sp>
      <p:sp>
        <p:nvSpPr>
          <p:cNvPr id="5" name="7b9c1b42-bf42-4d43-8106-b722bb461cc3_card"/>
          <p:cNvSpPr/>
          <p:nvPr/>
        </p:nvSpPr>
        <p:spPr>
          <a:xfrm>
            <a:off x="285750" y="332613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7b9c1b42-bf42-4d43-8106-b722bb461cc3_emoji"/>
          <p:cNvSpPr/>
          <p:nvPr/>
        </p:nvSpPr>
        <p:spPr>
          <a:xfrm>
            <a:off x="400050" y="34747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7b9c1b42-bf42-4d43-8106-b722bb461cc3_text"/>
          <p:cNvSpPr/>
          <p:nvPr/>
        </p:nvSpPr>
        <p:spPr>
          <a:xfrm>
            <a:off x="765810" y="344043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sinal de dois pontos (:) significa 'até'. Já o ponto e vírgula (;) significa 'e' (seleciona células isoladas).</a:t>
            </a:r>
            <a:endParaRPr lang="en-US" sz="112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b36b768-65f6-4e5e-aeb7-06c31b17b830" descr="/home/forge/chalkie-production-workers-1/releases/77642309/backend/storage/app/render-specs/59741dc2-df23-42fc-9d60-2761449a3d74/img_f4c71bbc952c883cce470007e58f95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2aa5d085-d2e2-4e6c-ae4a-dcff53ee22cf"/>
          <p:cNvSpPr/>
          <p:nvPr/>
        </p:nvSpPr>
        <p:spPr>
          <a:xfrm>
            <a:off x="3714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Rápida: MÁXIMO e MÍNIMO</a:t>
            </a:r>
            <a:endParaRPr lang="en-US" sz="2246" dirty="0"/>
          </a:p>
        </p:txBody>
      </p:sp>
      <p:sp>
        <p:nvSpPr>
          <p:cNvPr id="4" name="3dc92124-1f30-4593-939b-cdda0ffb0bb7"/>
          <p:cNvSpPr/>
          <p:nvPr/>
        </p:nvSpPr>
        <p:spPr>
          <a:xfrm>
            <a:off x="3714750" y="125730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relatórios executivos de vendas ou compras, encontrar os valores extremos é fundamental para tomar decisões táticas rápidas: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aponta a maior venda, o custo mais elevado ou o recorde de produção da equipe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detecta o menor valor faturado ou o produto com menor saída no estoque</a:t>
            </a:r>
            <a:endParaRPr lang="en-US" sz="1264" dirty="0"/>
          </a:p>
        </p:txBody>
      </p:sp>
      <p:sp>
        <p:nvSpPr>
          <p:cNvPr id="5" name="ee1ce6ca-f1ab-44cd-a3b5-d3d12902a056_card"/>
          <p:cNvSpPr/>
          <p:nvPr/>
        </p:nvSpPr>
        <p:spPr>
          <a:xfrm>
            <a:off x="3714750" y="353187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ee1ce6ca-f1ab-44cd-a3b5-d3d12902a056_emoji"/>
          <p:cNvSpPr/>
          <p:nvPr/>
        </p:nvSpPr>
        <p:spPr>
          <a:xfrm>
            <a:off x="3829050" y="36804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ee1ce6ca-f1ab-44cd-a3b5-d3d12902a056_text"/>
          <p:cNvSpPr/>
          <p:nvPr/>
        </p:nvSpPr>
        <p:spPr>
          <a:xfrm>
            <a:off x="4194810" y="364617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um controle de preços de fornecedores,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mostra instantaneamente quem fez o orçamento mais barato.</a:t>
            </a:r>
            <a:endParaRPr lang="en-US" sz="112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89dfb44-0ecc-4cb5-b6e2-371a8a8420e5" descr="/home/forge/chalkie-production-workers-1/releases/77642309/backend/storage/app/render-specs/59741dc2-df23-42fc-9d60-2761449a3d74/img_8ab6b9585258da292f8ce91196152f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d662059-b2f3-405c-aee9-fb96025e27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Contagem de Registros: CONT.VALORES</a:t>
            </a:r>
            <a:endParaRPr lang="en-US" sz="2246" dirty="0"/>
          </a:p>
        </p:txBody>
      </p:sp>
      <p:sp>
        <p:nvSpPr>
          <p:cNvPr id="4" name="5bda4300-2fb1-45ab-934c-1b9604220efe"/>
          <p:cNvSpPr/>
          <p:nvPr/>
        </p:nvSpPr>
        <p:spPr>
          <a:xfrm>
            <a:off x="285750" y="80010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Gerentes frequentemente precisam saber a quantidade total de cadastros ativos, pedidos despachados ou funcionários presentes.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 todas as células preenchidas (com texto, número ou data), ignorando apenas as células em branco.</a:t>
            </a:r>
            <a:endParaRPr lang="en-US" sz="1264" dirty="0"/>
          </a:p>
        </p:txBody>
      </p:sp>
      <p:sp>
        <p:nvSpPr>
          <p:cNvPr id="5" name="0b12a40a-a13c-4417-91b1-d7edcf12854d_card"/>
          <p:cNvSpPr/>
          <p:nvPr/>
        </p:nvSpPr>
        <p:spPr>
          <a:xfrm>
            <a:off x="285750" y="296037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0b12a40a-a13c-4417-91b1-d7edcf12854d_emoji"/>
          <p:cNvSpPr/>
          <p:nvPr/>
        </p:nvSpPr>
        <p:spPr>
          <a:xfrm>
            <a:off x="400050" y="31089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0b12a40a-a13c-4417-91b1-d7edcf12854d_text"/>
          <p:cNvSpPr/>
          <p:nvPr/>
        </p:nvSpPr>
        <p:spPr>
          <a:xfrm>
            <a:off x="765810" y="307467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Atenção: a função CONT.NÚM conta apenas números, enquanto CONT.VALORES conta qualquer célula não vazia.</a:t>
            </a:r>
            <a:endParaRPr lang="en-US" sz="112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95faaa2-dbb9-4fa8-a00a-3146d75078e2" descr="/home/forge/chalkie-production-workers-1/releases/77642309/backend/storage/app/render-specs/59741dc2-df23-42fc-9d60-2761449a3d74/img_5d41168a03284c683065ce241be0b43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56363d85-e7b8-4763-9630-a57117bbf41f"/>
          <p:cNvSpPr/>
          <p:nvPr/>
        </p:nvSpPr>
        <p:spPr>
          <a:xfrm>
            <a:off x="3714750" y="144018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Decisões Inteligentes na Planilha</a:t>
            </a:r>
            <a:endParaRPr lang="en-US" sz="2246" dirty="0"/>
          </a:p>
        </p:txBody>
      </p:sp>
      <p:sp>
        <p:nvSpPr>
          <p:cNvPr id="4" name="4c32fc71-016d-4795-a92f-580f36b1609f"/>
          <p:cNvSpPr/>
          <p:nvPr/>
        </p:nvSpPr>
        <p:spPr>
          <a:xfrm>
            <a:off x="3714750" y="25260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 se a sua planilha pudesse alertar automaticamente quando um item do estoque estivesse quase acabando?</a:t>
            </a:r>
            <a:endParaRPr lang="en-US" sz="12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0d64a12-b7ed-44f0-9d2a-b08c810cf158" descr="/home/forge/chalkie-production-workers-1/releases/77642309/backend/storage/app/render-specs/59741dc2-df23-42fc-9d60-2761449a3d74/img_40b91301a5f14cd2d585c35a448b4a5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ac7f5928-c228-4678-a78a-6e14474cac0b"/>
          <p:cNvSpPr/>
          <p:nvPr/>
        </p:nvSpPr>
        <p:spPr>
          <a:xfrm>
            <a:off x="285750" y="22174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Condicional com a Função SE</a:t>
            </a:r>
            <a:endParaRPr lang="en-US" sz="2246" dirty="0"/>
          </a:p>
        </p:txBody>
      </p:sp>
      <p:sp>
        <p:nvSpPr>
          <p:cNvPr id="4" name="703fcb91-bc61-4ffa-97b6-02e389275bca"/>
          <p:cNvSpPr/>
          <p:nvPr/>
        </p:nvSpPr>
        <p:spPr>
          <a:xfrm>
            <a:off x="285750" y="2846070"/>
            <a:ext cx="8572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testa uma condição lógica e entrega uma resposta caso seja verdadeira, ou outra caso seja falsa.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sintaxe oficial segue três passos estruturados: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exemplo, para conferir o estoque mínimo: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Se o estoque for menor que 10, o Excel escreve 'Comprar'.</a:t>
            </a:r>
            <a:endParaRPr lang="en-US" sz="126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7d53d7-3bd9-4448-873f-88aa8a02e6e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Raciocínio da Função SE</a:t>
            </a:r>
            <a:endParaRPr lang="en-US" sz="2246" dirty="0"/>
          </a:p>
        </p:txBody>
      </p:sp>
      <p:sp>
        <p:nvSpPr>
          <p:cNvPr id="3" name="d9fe86c2-c9e1-4494-930c-9993e44f09a5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d9fe86c2-c9e1-4494-930c-9993e44f09a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fórmula =SE(C2&gt;=7; "Aprovado"; "Recuperação"), se a célula C2 contiver o valor 7, o resultado retornado pelo Excel será "Recuperação".</a:t>
            </a:r>
            <a:endParaRPr lang="en-US" sz="1264" dirty="0"/>
          </a:p>
        </p:txBody>
      </p:sp>
      <p:sp>
        <p:nvSpPr>
          <p:cNvPr id="5" name="a46be7b4-7e0f-4399-b46b-3076f4fc922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d4453c77-f140-4341-8d16-a9cb8ec201dc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7d9b5159-1602-43ad-bd7c-5ccb08f97d37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7d53d7-3bd9-4448-873f-88aa8a02e6e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Checando o Raciocínio da Função SE</a:t>
            </a:r>
            <a:endParaRPr lang="en-US" sz="2246" dirty="0"/>
          </a:p>
        </p:txBody>
      </p:sp>
      <p:sp>
        <p:nvSpPr>
          <p:cNvPr id="3" name="d9fe86c2-c9e1-4494-930c-9993e44f09a5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d9fe86c2-c9e1-4494-930c-9993e44f09a5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fórmula =SE(C2&gt;=7; "Aprovado"; "Recuperação"), se a célula C2 contiver o valor 7, o resultado retornado pelo Excel será "Recuperação".</a:t>
            </a:r>
            <a:endParaRPr lang="en-US" sz="1264" dirty="0"/>
          </a:p>
        </p:txBody>
      </p:sp>
      <p:sp>
        <p:nvSpPr>
          <p:cNvPr id="5" name="a46be7b4-7e0f-4399-b46b-3076f4fc922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d4453c77-f140-4341-8d16-a9cb8ec201dc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39d2b61d-f21b-45ae-8f8a-873c6fc4ee7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47e493a2-01a5-402f-941f-13745060604b_card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47e493a2-01a5-402f-941f-13745060604b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47e493a2-01a5-402f-941f-13745060604b_text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operador maior ou igual (&gt;=) inclui o próprio número 7 no teste lógico, acionando o valor verdadeiro "Aprovado".</a:t>
            </a:r>
            <a:endParaRPr lang="en-US" sz="1123" dirty="0"/>
          </a:p>
        </p:txBody>
      </p:sp>
      <p:sp>
        <p:nvSpPr>
          <p:cNvPr id="11" name="272a9086-54b4-488a-be9c-35f5beaa5b57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8d08d2c-bfbe-4c9c-8197-ea7abf310894" descr="/home/forge/chalkie-production-workers-1/releases/77642309/backend/storage/app/render-specs/59741dc2-df23-42fc-9d60-2761449a3d74/img_374afeff44a0ec2f1cf03f270040a56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e828c77a-5535-4d32-8819-5f4d9559099c" descr="/home/forge/chalkie-production-workers-1/releases/77642309/backend/storage/app/render-specs/59741dc2-df23-42fc-9d60-2761449a3d74/img_e80b83c61c35a40fa65f1a9d1a4b2e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d835b71d-a7e6-43f6-a5c5-065b0f82e682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Mistério das Referências de Células</a:t>
            </a:r>
            <a:endParaRPr lang="en-US" sz="2246" dirty="0"/>
          </a:p>
        </p:txBody>
      </p:sp>
      <p:sp>
        <p:nvSpPr>
          <p:cNvPr id="5" name="b06867ea-19fa-4b91-a77b-523efba7ba6a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 Relativa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digitar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arrastar a alça de preenchimento para baixo, a fórmula muda sozinha para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Ela se adapta à nova posição.</a:t>
            </a:r>
            <a:endParaRPr lang="en-US" sz="1544" dirty="0"/>
          </a:p>
        </p:txBody>
      </p:sp>
      <p:sp>
        <p:nvSpPr>
          <p:cNvPr id="6" name="d4d23a07-aba2-4c44-93a8-a8076ed68669"/>
          <p:cNvSpPr/>
          <p:nvPr/>
        </p:nvSpPr>
        <p:spPr>
          <a:xfrm>
            <a:off x="4652010" y="30060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Referência Absoluta ($)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colocar cifrões como em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você 'trava' a célula. Mesmo arrastando a fórmula por mil linhas, a referência a $B$1 não se move.</a:t>
            </a:r>
            <a:endParaRPr lang="en-US" sz="154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aeab420-0208-4039-9304-d09f2a63e113" descr="/home/forge/chalkie-production-workers-1/releases/77642309/backend/storage/app/render-specs/59741dc2-df23-42fc-9d60-2761449a3d74/img_0ebd2ff0e0176fd4036a2d2abfbcb9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8269d4dd-8f42-412e-9f7f-39959c8d523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Travar Células na Gestão?</a:t>
            </a:r>
            <a:endParaRPr lang="en-US" sz="2246" dirty="0"/>
          </a:p>
        </p:txBody>
      </p:sp>
      <p:sp>
        <p:nvSpPr>
          <p:cNvPr id="4" name="d2628c4a-f84b-48da-897d-8359f2bad135"/>
          <p:cNvSpPr/>
          <p:nvPr/>
        </p:nvSpPr>
        <p:spPr>
          <a:xfrm>
            <a:off x="285750" y="80010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calcular a comissão de 5% sobre 50 vendas diferentes. A taxa de 5% está isolada na célula F1.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você usar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e arrastar, a linha seguinte procurará F2, gerando erros ou zeros.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fórmula correta é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 Assim, a célula C2 desce relativamente para cada venda, mas o valor $F$1 permanece imóvel.</a:t>
            </a:r>
            <a:endParaRPr lang="en-US" sz="1264" dirty="0"/>
          </a:p>
        </p:txBody>
      </p:sp>
      <p:sp>
        <p:nvSpPr>
          <p:cNvPr id="5" name="894bd487-9f58-4a9a-88f9-051a89b6b27e_card"/>
          <p:cNvSpPr/>
          <p:nvPr/>
        </p:nvSpPr>
        <p:spPr>
          <a:xfrm>
            <a:off x="285750" y="328041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894bd487-9f58-4a9a-88f9-051a89b6b27e_emoji"/>
          <p:cNvSpPr/>
          <p:nvPr/>
        </p:nvSpPr>
        <p:spPr>
          <a:xfrm>
            <a:off x="400050" y="34290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894bd487-9f58-4a9a-88f9-051a89b6b27e_text"/>
          <p:cNvSpPr/>
          <p:nvPr/>
        </p:nvSpPr>
        <p:spPr>
          <a:xfrm>
            <a:off x="765810" y="339471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Dica de ouro: selecione o endereço da célula e pressione a tecla F4 para inserir os cifrões automaticamente.</a:t>
            </a:r>
            <a:endParaRPr lang="en-US" sz="112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f8ae89-ba71-4af5-b77e-e11bedf1f7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o Uso do Cifrão ($)</a:t>
            </a:r>
            <a:endParaRPr lang="en-US" sz="2246" dirty="0"/>
          </a:p>
        </p:txBody>
      </p:sp>
      <p:sp>
        <p:nvSpPr>
          <p:cNvPr id="3" name="774c82fd-e4c9-4037-bee2-743e22965c3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fórmula =D3*$A$1 for copiada e colada na linha abaixo (célula seguinte), como ela ficará escrita?</a:t>
            </a:r>
            <a:endParaRPr lang="en-US" sz="1264" dirty="0"/>
          </a:p>
        </p:txBody>
      </p:sp>
      <p:sp>
        <p:nvSpPr>
          <p:cNvPr id="4" name="995a7e7c-c44a-4097-bbf4-e2be338d4de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c5af5bf-f57d-4c9e-b6c7-770298d521d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=D3*$A$1</a:t>
            </a:r>
            <a:endParaRPr lang="en-US" sz="1264" dirty="0"/>
          </a:p>
        </p:txBody>
      </p:sp>
      <p:sp>
        <p:nvSpPr>
          <p:cNvPr id="6" name="f0f54c5e-5dfd-4f1b-997f-86ea1743336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ba4c48c6-55d5-4f23-8437-19a72b5894dd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=E4*$B$2</a:t>
            </a:r>
            <a:endParaRPr lang="en-US" sz="1264" dirty="0"/>
          </a:p>
        </p:txBody>
      </p:sp>
      <p:sp>
        <p:nvSpPr>
          <p:cNvPr id="8" name="e6c357b5-0b6c-44f7-993b-0eb37903645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3d75d84-aa33-4ec5-a604-fb631d943f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=D4*$A$1</a:t>
            </a:r>
            <a:endParaRPr lang="en-US" sz="1264" dirty="0"/>
          </a:p>
        </p:txBody>
      </p:sp>
      <p:sp>
        <p:nvSpPr>
          <p:cNvPr id="10" name="9876fe3f-0a54-4f3c-885e-dc04d0d5730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b2c68d7-5df1-42b0-82e4-fd7a62189a5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=D4*$A$2</a:t>
            </a:r>
            <a:endParaRPr lang="en-US" sz="126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f8ae89-ba71-4af5-b77e-e11bedf1f7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Verificando o Uso do Cifrão ($)</a:t>
            </a:r>
            <a:endParaRPr lang="en-US" sz="2246" dirty="0"/>
          </a:p>
        </p:txBody>
      </p:sp>
      <p:sp>
        <p:nvSpPr>
          <p:cNvPr id="3" name="774c82fd-e4c9-4037-bee2-743e22965c3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fórmula =D3*$A$1 for copiada e colada na linha abaixo (célula seguinte), como ela ficará escrita?</a:t>
            </a:r>
            <a:endParaRPr lang="en-US" sz="1264" dirty="0"/>
          </a:p>
        </p:txBody>
      </p:sp>
      <p:sp>
        <p:nvSpPr>
          <p:cNvPr id="4" name="995a7e7c-c44a-4097-bbf4-e2be338d4de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cc5af5bf-f57d-4c9e-b6c7-770298d521d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=D3*$A$1</a:t>
            </a:r>
            <a:endParaRPr lang="en-US" sz="1264" dirty="0"/>
          </a:p>
        </p:txBody>
      </p:sp>
      <p:sp>
        <p:nvSpPr>
          <p:cNvPr id="6" name="f0f54c5e-5dfd-4f1b-997f-86ea1743336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ba4c48c6-55d5-4f23-8437-19a72b5894dd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=E4*$B$2</a:t>
            </a:r>
            <a:endParaRPr lang="en-US" sz="1264" dirty="0"/>
          </a:p>
        </p:txBody>
      </p:sp>
      <p:sp>
        <p:nvSpPr>
          <p:cNvPr id="8" name="e6c357b5-0b6c-44f7-993b-0eb37903645d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3d75d84-aa33-4ec5-a604-fb631d943f3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=D4*$A$1</a:t>
            </a:r>
            <a:endParaRPr lang="en-US" sz="1264" dirty="0"/>
          </a:p>
        </p:txBody>
      </p:sp>
      <p:sp>
        <p:nvSpPr>
          <p:cNvPr id="10" name="9876fe3f-0a54-4f3c-885e-dc04d0d5730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eb2c68d7-5df1-42b0-82e4-fd7a62189a5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=D4*$A$2</a:t>
            </a:r>
            <a:endParaRPr lang="en-US" sz="1264" dirty="0"/>
          </a:p>
        </p:txBody>
      </p:sp>
      <p:sp>
        <p:nvSpPr>
          <p:cNvPr id="12" name="54de44c6-3746-4516-8c07-2668cff8adc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8c07f00a-bd79-440e-9ecf-39b0aaf4eba8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dae5941-6ab2-4380-ab3d-b5fb7ec285d8" descr="/home/forge/chalkie-production-workers-1/releases/77642309/backend/storage/app/render-specs/59741dc2-df23-42fc-9d60-2761449a3d74/img_6f76c8dae022d9d20e5bceaced98f9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0a43b497-2a2f-4520-b274-cc908b8c057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Numérica Profissional</a:t>
            </a:r>
            <a:endParaRPr lang="en-US" sz="2246" dirty="0"/>
          </a:p>
        </p:txBody>
      </p:sp>
      <p:sp>
        <p:nvSpPr>
          <p:cNvPr id="4" name="2836e3a9-8bc7-4f2d-ad80-aae78243a31a"/>
          <p:cNvSpPr/>
          <p:nvPr/>
        </p:nvSpPr>
        <p:spPr>
          <a:xfrm>
            <a:off x="4286250" y="868680"/>
            <a:ext cx="298323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PADRONIZAÇÃO COMERCIAL</a:t>
            </a:r>
            <a:endParaRPr lang="en-US" sz="842" dirty="0"/>
          </a:p>
        </p:txBody>
      </p:sp>
      <p:sp>
        <p:nvSpPr>
          <p:cNvPr id="5" name="77043eb2-8776-443b-9527-c395a110d3ee"/>
          <p:cNvSpPr/>
          <p:nvPr/>
        </p:nvSpPr>
        <p:spPr>
          <a:xfrm>
            <a:off x="42862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Números 'crus' passam amadorismo. O Excel oferece: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Moeda (R$)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símbolo e duas casas decimais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Porcentagem (%)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exibe valor percentual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Data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formata em DD/MM/AAAA</a:t>
            </a:r>
            <a:endParaRPr lang="en-US" sz="1264" dirty="0"/>
          </a:p>
        </p:txBody>
      </p:sp>
      <p:sp>
        <p:nvSpPr>
          <p:cNvPr id="6" name="4eb51bdb-74de-40d4-b9b9-7e04ba6bd078_card"/>
          <p:cNvSpPr/>
          <p:nvPr/>
        </p:nvSpPr>
        <p:spPr>
          <a:xfrm>
            <a:off x="4286250" y="32461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4eb51bdb-74de-40d4-b9b9-7e04ba6bd078_emoji"/>
          <p:cNvSpPr/>
          <p:nvPr/>
        </p:nvSpPr>
        <p:spPr>
          <a:xfrm>
            <a:off x="4400550" y="33947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4eb51bdb-74de-40d4-b9b9-7e04ba6bd078_text"/>
          <p:cNvSpPr/>
          <p:nvPr/>
        </p:nvSpPr>
        <p:spPr>
          <a:xfrm>
            <a:off x="4766310" y="336042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muda a aparência; o valor real permanece intacto.</a:t>
            </a:r>
            <a:endParaRPr lang="en-US" sz="112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009cc38-066a-4dd4-8962-a0519256f206" descr="/home/forge/chalkie-production-workers-1/releases/77642309/backend/storage/app/render-specs/59741dc2-df23-42fc-9d60-2761449a3d74/img_4ba52b5b9e562afa17c6142bf87b8eb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bca3f65a-c1c9-40ce-80a2-85020a5784d1" descr="/home/forge/chalkie-production-workers-1/releases/77642309/backend/storage/app/render-specs/59741dc2-df23-42fc-9d60-2761449a3d74/img_e9a0d220e6a5a31b16b5f28385017b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0010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6fddca2c-ee4c-4192-8cf9-59c04601701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Destaque Visual com Formatação Condicional</a:t>
            </a:r>
            <a:endParaRPr lang="en-US" sz="2246" dirty="0"/>
          </a:p>
        </p:txBody>
      </p:sp>
      <p:sp>
        <p:nvSpPr>
          <p:cNvPr id="5" name="fbc034e3-a0dc-4442-b5d6-4aada983fa85"/>
          <p:cNvSpPr/>
          <p:nvPr/>
        </p:nvSpPr>
        <p:spPr>
          <a:xfrm>
            <a:off x="28575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Realce de Metas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Células que ultrapassam metas de vendas podem ser preenchidas automaticamente de verde, facilitando a identificação rápida dos melhores desempenhos da equipe.</a:t>
            </a:r>
            <a:endParaRPr lang="en-US" sz="1544" dirty="0"/>
          </a:p>
        </p:txBody>
      </p:sp>
      <p:sp>
        <p:nvSpPr>
          <p:cNvPr id="6" name="0aed0e3b-f7c9-4eba-ae78-0aeb0c537b11"/>
          <p:cNvSpPr/>
          <p:nvPr/>
        </p:nvSpPr>
        <p:spPr>
          <a:xfrm>
            <a:off x="4652010" y="299466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Alerta de Riscos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Contas a pagar vencidas ou estoques zerados ganham preenchimento vermelho imediato, permitindo que a equipe tome providências antes que o produto falte.</a:t>
            </a:r>
            <a:endParaRPr lang="en-US" sz="154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a885e2f-623a-4b51-be98-a1cb0bc8feef" descr="/home/forge/chalkie-production-workers-1/releases/77642309/backend/storage/app/render-specs/59741dc2-df23-42fc-9d60-2761449a3d74/img_b9f0597dbf7946fd3fc601135ff8cf8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54d4a7b2-7850-4a97-b6b9-c39dc495bde0"/>
          <p:cNvSpPr/>
          <p:nvPr/>
        </p:nvSpPr>
        <p:spPr>
          <a:xfrm>
            <a:off x="285750" y="21259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Navegando com Congelar Painéis</a:t>
            </a:r>
            <a:endParaRPr lang="en-US" sz="2246" dirty="0"/>
          </a:p>
        </p:txBody>
      </p:sp>
      <p:sp>
        <p:nvSpPr>
          <p:cNvPr id="4" name="17f8774e-1d63-456d-9f29-10eed1fe2504"/>
          <p:cNvSpPr/>
          <p:nvPr/>
        </p:nvSpPr>
        <p:spPr>
          <a:xfrm>
            <a:off x="285750" y="2754630"/>
            <a:ext cx="85725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Ao rolar uma planilha com centenas de linhas para baixo, você perde de vista a primeira linha com os títulos das colunas. Isso gera dúvidas sobre o significado de cada valor.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recurso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(na guia Exibir) trava a linha superior ou colunas da esquerda, mantendo os cabeçalhos sempre visíveis enquanto você rola a tabela livremente.</a:t>
            </a:r>
            <a:endParaRPr lang="en-US" sz="126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cd98a3d-f7a4-4ee8-b921-d40f86d4bfdd" descr="/home/forge/chalkie-production-workers-1/releases/77642309/backend/storage/app/render-specs/59741dc2-df23-42fc-9d60-2761449a3d74/img_0ebf82bb41d0e6758c48dee4f03459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703f226a-c245-4b73-aaaf-d12bca775a7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 e Listas Suspensas</a:t>
            </a:r>
            <a:endParaRPr lang="en-US" sz="2246" dirty="0"/>
          </a:p>
        </p:txBody>
      </p:sp>
      <p:sp>
        <p:nvSpPr>
          <p:cNvPr id="4" name="b9b4f733-50d2-47be-a9c1-14ec3b227aec"/>
          <p:cNvSpPr/>
          <p:nvPr/>
        </p:nvSpPr>
        <p:spPr>
          <a:xfrm>
            <a:off x="285750" y="80010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Erros de digitação destroem relatórios: se um usuário digita 'São Paulo', outro 'SP' e outro 'sao paulo', o Excel os trata como coisas diferentes.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você pode: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Restringir valores (aceitar apenas números inteiros ou datas válidas)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Criar uma 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 Suspensa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com opções fixas pré-aprovadas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Exibir mensagens personalizadas de alerta quando houver digitação incorreta</a:t>
            </a:r>
            <a:endParaRPr lang="en-US" sz="1264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f59c1ed-8508-40ef-9b39-1a2271f54e10" descr="/home/forge/chalkie-production-workers-1/releases/77642309/backend/storage/app/render-specs/59741dc2-df23-42fc-9d60-2761449a3d74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3" name="b7b64c8e-92f4-40ed-b379-de1b4d6d7eb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Fixando Conceitos: Validação e Interface</a:t>
            </a:r>
            <a:endParaRPr lang="en-US" sz="2246" dirty="0"/>
          </a:p>
        </p:txBody>
      </p:sp>
      <p:sp>
        <p:nvSpPr>
          <p:cNvPr id="4" name="55c802fc-777c-4316-a172-ee2b1d26991e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evitar erros de digitação criamos uma 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____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suspensa na validação, e para manter títulos visíveis usamos 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____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painéis.</a:t>
            </a:r>
            <a:endParaRPr lang="en-US" sz="1264" dirty="0"/>
          </a:p>
        </p:txBody>
      </p:sp>
      <p:sp>
        <p:nvSpPr>
          <p:cNvPr id="5" name="2cb9ca70-023c-4419-b01c-c9e413cde09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Banco de palavras 🏦</a:t>
            </a:r>
            <a:endParaRPr lang="en-US" sz="1264" dirty="0"/>
          </a:p>
        </p:txBody>
      </p:sp>
      <p:sp>
        <p:nvSpPr>
          <p:cNvPr id="6" name="fdb14493-fdfc-4ed5-9e56-5734083aabbe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</a:t>
            </a:r>
            <a:endParaRPr lang="en-US" sz="1264" dirty="0"/>
          </a:p>
        </p:txBody>
      </p:sp>
      <p:sp>
        <p:nvSpPr>
          <p:cNvPr id="7" name="fc99ba9f-2089-4089-b260-91da352dff94"/>
          <p:cNvSpPr/>
          <p:nvPr/>
        </p:nvSpPr>
        <p:spPr>
          <a:xfrm>
            <a:off x="146304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somar</a:t>
            </a:r>
            <a:endParaRPr lang="en-US" sz="1264" dirty="0"/>
          </a:p>
        </p:txBody>
      </p:sp>
      <p:sp>
        <p:nvSpPr>
          <p:cNvPr id="8" name="6d50c18f-37ea-43d0-a3f4-bffd1c14a5b6"/>
          <p:cNvSpPr/>
          <p:nvPr/>
        </p:nvSpPr>
        <p:spPr>
          <a:xfrm>
            <a:off x="264033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</a:t>
            </a:r>
            <a:endParaRPr lang="en-US" sz="1264" dirty="0"/>
          </a:p>
        </p:txBody>
      </p:sp>
      <p:sp>
        <p:nvSpPr>
          <p:cNvPr id="9" name="e0eae791-88ac-4866-a402-ef6a8efbfcd5"/>
          <p:cNvSpPr/>
          <p:nvPr/>
        </p:nvSpPr>
        <p:spPr>
          <a:xfrm>
            <a:off x="39433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borda</a:t>
            </a:r>
            <a:endParaRPr lang="en-US" sz="1264" dirty="0"/>
          </a:p>
        </p:txBody>
      </p:sp>
      <p:sp>
        <p:nvSpPr>
          <p:cNvPr id="10" name="27d6c682-5003-48e9-b9cf-0dd6ed281752"/>
          <p:cNvSpPr/>
          <p:nvPr/>
        </p:nvSpPr>
        <p:spPr>
          <a:xfrm>
            <a:off x="5120640" y="3771900"/>
            <a:ext cx="142875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</a:t>
            </a:r>
            <a:endParaRPr lang="en-US" sz="1264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f59c1ed-8508-40ef-9b39-1a2271f54e10" descr="/home/forge/chalkie-production-workers-1/releases/77642309/backend/storage/app/render-specs/59741dc2-df23-42fc-9d60-2761449a3d74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3" name="b7b64c8e-92f4-40ed-b379-de1b4d6d7eb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Fixando Conceitos: Validação e Interface</a:t>
            </a:r>
            <a:endParaRPr lang="en-US" sz="2246" dirty="0"/>
          </a:p>
        </p:txBody>
      </p:sp>
      <p:sp>
        <p:nvSpPr>
          <p:cNvPr id="4" name="55c802fc-777c-4316-a172-ee2b1d26991e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evitar erros de digitação criamos uma 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2C6E49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suspensa na validação, e para manter títulos visíveis usamos 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2C6E49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painéis.</a:t>
            </a:r>
            <a:endParaRPr lang="en-US" sz="1264" dirty="0"/>
          </a:p>
        </p:txBody>
      </p:sp>
      <p:sp>
        <p:nvSpPr>
          <p:cNvPr id="5" name="2cb9ca70-023c-4419-b01c-c9e413cde09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Banco de palavras 🏦</a:t>
            </a:r>
            <a:endParaRPr lang="en-US" sz="1264" dirty="0"/>
          </a:p>
        </p:txBody>
      </p:sp>
      <p:sp>
        <p:nvSpPr>
          <p:cNvPr id="6" name="fdb14493-fdfc-4ed5-9e56-5734083aabbe"/>
          <p:cNvSpPr/>
          <p:nvPr/>
        </p:nvSpPr>
        <p:spPr>
          <a:xfrm>
            <a:off x="2857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</a:t>
            </a:r>
            <a:endParaRPr lang="en-US" sz="1264" dirty="0"/>
          </a:p>
        </p:txBody>
      </p:sp>
      <p:sp>
        <p:nvSpPr>
          <p:cNvPr id="7" name="fc99ba9f-2089-4089-b260-91da352dff94"/>
          <p:cNvSpPr/>
          <p:nvPr/>
        </p:nvSpPr>
        <p:spPr>
          <a:xfrm>
            <a:off x="146304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somar</a:t>
            </a:r>
            <a:endParaRPr lang="en-US" sz="1264" dirty="0"/>
          </a:p>
        </p:txBody>
      </p:sp>
      <p:sp>
        <p:nvSpPr>
          <p:cNvPr id="8" name="6d50c18f-37ea-43d0-a3f4-bffd1c14a5b6"/>
          <p:cNvSpPr/>
          <p:nvPr/>
        </p:nvSpPr>
        <p:spPr>
          <a:xfrm>
            <a:off x="264033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célula</a:t>
            </a:r>
            <a:endParaRPr lang="en-US" sz="1264" dirty="0"/>
          </a:p>
        </p:txBody>
      </p:sp>
      <p:sp>
        <p:nvSpPr>
          <p:cNvPr id="9" name="e0eae791-88ac-4866-a402-ef6a8efbfcd5"/>
          <p:cNvSpPr/>
          <p:nvPr/>
        </p:nvSpPr>
        <p:spPr>
          <a:xfrm>
            <a:off x="394335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6767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borda</a:t>
            </a:r>
            <a:endParaRPr lang="en-US" sz="1264" dirty="0"/>
          </a:p>
        </p:txBody>
      </p:sp>
      <p:sp>
        <p:nvSpPr>
          <p:cNvPr id="10" name="27d6c682-5003-48e9-b9cf-0dd6ed281752"/>
          <p:cNvSpPr/>
          <p:nvPr/>
        </p:nvSpPr>
        <p:spPr>
          <a:xfrm>
            <a:off x="5120640" y="3771900"/>
            <a:ext cx="142875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</a:t>
            </a:r>
            <a:endParaRPr lang="en-US" sz="1264" dirty="0"/>
          </a:p>
        </p:txBody>
      </p:sp>
      <p:sp>
        <p:nvSpPr>
          <p:cNvPr id="11" name="a4aa88c4-2d5f-4534-80c0-cac976e94d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3e7c7e-8955-4103-80f2-2f3c4501a27b" descr="/home/forge/chalkie-production-workers-1/releases/77642309/backend/storage/app/render-specs/59741dc2-df23-42fc-9d60-2761449a3d74/img_ff25d7a31e716f9d2bade7aae7ba96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4e3a72e-6086-4f2b-88cf-2fea7009889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Planejando uma Planilha de Gestão</a:t>
            </a:r>
            <a:endParaRPr lang="en-US" sz="2246" dirty="0"/>
          </a:p>
        </p:txBody>
      </p:sp>
      <p:sp>
        <p:nvSpPr>
          <p:cNvPr id="4" name="9986794c-81fc-4e9b-bd26-cd547302d713"/>
          <p:cNvSpPr/>
          <p:nvPr/>
        </p:nvSpPr>
        <p:spPr>
          <a:xfrm>
            <a:off x="4286250" y="868680"/>
            <a:ext cx="262890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ARQUITETURA DE DADOS</a:t>
            </a:r>
            <a:endParaRPr lang="en-US" sz="842" dirty="0"/>
          </a:p>
        </p:txBody>
      </p:sp>
      <p:sp>
        <p:nvSpPr>
          <p:cNvPr id="5" name="8db5855f-b097-42a3-bf90-aa6a82c1d252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Antes de abrir o software e digitar dados aleatoriamente, um bom analista planeja a tabela no papel: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 coluna deve armazenar apenas um único tipo de informação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Evite mesclar células dentro do corpo principal de dados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Reserve uma linha superior dedicada exclusivamente aos cabeçalhos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Agrupe totais e resumos em áreas destacadas ou no rodapé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8e2224-94be-4561-9ccd-c082974254fd"/>
          <p:cNvSpPr/>
          <p:nvPr/>
        </p:nvSpPr>
        <p:spPr>
          <a:xfrm>
            <a:off x="17145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3" name="957bd1f9-5dd6-47dd-ad84-bcc2bde07e74"/>
          <p:cNvSpPr/>
          <p:nvPr/>
        </p:nvSpPr>
        <p:spPr>
          <a:xfrm>
            <a:off x="237744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4" name="0eab19d7-1688-4913-acc7-69f390f3796d"/>
          <p:cNvSpPr/>
          <p:nvPr/>
        </p:nvSpPr>
        <p:spPr>
          <a:xfrm>
            <a:off x="457200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5" name="49ac6137-2222-476a-96f1-e29d57f90ed2"/>
          <p:cNvSpPr/>
          <p:nvPr/>
        </p:nvSpPr>
        <p:spPr>
          <a:xfrm>
            <a:off x="6777990" y="14744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7EB5A6"/>
            </a:solidFill>
            <a:prstDash val="solid"/>
          </a:ln>
        </p:spPr>
      </p:sp>
      <p:sp>
        <p:nvSpPr>
          <p:cNvPr id="6" name="d199b0ed-e70f-42fd-9849-bfd7c7b5160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Passo a Passo: Planilha de Estoque</a:t>
            </a:r>
            <a:endParaRPr lang="en-US" sz="2246" dirty="0"/>
          </a:p>
        </p:txBody>
      </p:sp>
      <p:sp>
        <p:nvSpPr>
          <p:cNvPr id="7" name="2a2ff315-3c60-4051-90ae-86e178d501df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Vamos construir uma planilha de controle de estoque e compras do início ao fim:</a:t>
            </a:r>
            <a:endParaRPr lang="en-US" sz="1264" dirty="0"/>
          </a:p>
        </p:txBody>
      </p:sp>
      <p:sp>
        <p:nvSpPr>
          <p:cNvPr id="8" name="8ed95a67-ff66-4193-9c8a-41b762bf91ac"/>
          <p:cNvSpPr/>
          <p:nvPr/>
        </p:nvSpPr>
        <p:spPr>
          <a:xfrm>
            <a:off x="285750" y="19316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Cabeçalhos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Defina: Código, Produto, Qtd, Custo Unitário e Total.</a:t>
            </a:r>
            <a:endParaRPr lang="en-US" sz="1544" dirty="0"/>
          </a:p>
        </p:txBody>
      </p:sp>
      <p:sp>
        <p:nvSpPr>
          <p:cNvPr id="9" name="4ced6cd3-4aa3-4240-be43-17b4ef2f36c6"/>
          <p:cNvSpPr/>
          <p:nvPr/>
        </p:nvSpPr>
        <p:spPr>
          <a:xfrm>
            <a:off x="2491740" y="19316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Cálculo Total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Insira a fórmula 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na primeira linha e arraste.</a:t>
            </a:r>
            <a:endParaRPr lang="en-US" sz="1544" dirty="0"/>
          </a:p>
        </p:txBody>
      </p:sp>
      <p:sp>
        <p:nvSpPr>
          <p:cNvPr id="10" name="fd415257-0da0-47ba-89bd-a2295e83293d"/>
          <p:cNvSpPr/>
          <p:nvPr/>
        </p:nvSpPr>
        <p:spPr>
          <a:xfrm>
            <a:off x="4686300" y="19316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 Formatação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Defina estilo Moeda para os custos e congele a linha 1.</a:t>
            </a:r>
            <a:endParaRPr lang="en-US" sz="1544" dirty="0"/>
          </a:p>
        </p:txBody>
      </p:sp>
      <p:sp>
        <p:nvSpPr>
          <p:cNvPr id="11" name="bb76c2b7-aa26-4dc6-aa16-c209243cc3e5"/>
          <p:cNvSpPr/>
          <p:nvPr/>
        </p:nvSpPr>
        <p:spPr>
          <a:xfrm>
            <a:off x="6892290" y="19316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 Validação</a:t>
            </a:r>
            <a:endParaRPr lang="en-US" sz="154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Crie lista suspensa para a categoria do produto.</a:t>
            </a:r>
            <a:endParaRPr lang="en-US" sz="1544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a1e26ff-fe89-4387-a863-9601c5770455" descr="/home/forge/chalkie-production-workers-1/releases/77642309/backend/storage/app/render-specs/59741dc2-df23-42fc-9d60-2761449a3d74/img_0531621385a8df3d1b540705c26318a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a0aa523-0056-4137-a965-1b64ec5d6b0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Aplicando a Função SE no Estoque</a:t>
            </a:r>
            <a:endParaRPr lang="en-US" sz="2246" dirty="0"/>
          </a:p>
        </p:txBody>
      </p:sp>
      <p:sp>
        <p:nvSpPr>
          <p:cNvPr id="4" name="5ae86dba-d24e-4f35-b46d-6e31b1ad9ac0"/>
          <p:cNvSpPr/>
          <p:nvPr/>
        </p:nvSpPr>
        <p:spPr>
          <a:xfrm>
            <a:off x="285750" y="800100"/>
            <a:ext cx="4572000" cy="26837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automatizar a gestão de compras, crie uma coluna chamada 'Status do Estoque'.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estoque atual estiver abaixo de 15 unidades, a empresa precisa repor imediatamente. Caso contrário, a situação está segura.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fórmula aplicada na linha 2 é: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Depois, aplicamos formatação condicional vermelha para a palavra 'Repor'.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ff492db-bc12-4dd8-b685-39fca150df0c" descr="/home/forge/chalkie-production-workers-1/releases/77642309/backend/storage/app/render-specs/59741dc2-df23-42fc-9d60-2761449a3d74/img_9b04d7cb966026ca42ce7f5763b370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3273f82-a8f0-40f0-8d54-de23f3ee50d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Montando o Resumo Gerencial</a:t>
            </a:r>
            <a:endParaRPr lang="en-US" sz="2246" dirty="0"/>
          </a:p>
        </p:txBody>
      </p:sp>
      <p:sp>
        <p:nvSpPr>
          <p:cNvPr id="4" name="549a219f-0f4c-4ad9-bca4-46d994de44c3"/>
          <p:cNvSpPr/>
          <p:nvPr/>
        </p:nvSpPr>
        <p:spPr>
          <a:xfrm>
            <a:off x="4286250" y="868680"/>
            <a:ext cx="27317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INDICADORES CHAVE (KPI)</a:t>
            </a:r>
            <a:endParaRPr lang="en-US" sz="842" dirty="0"/>
          </a:p>
        </p:txBody>
      </p:sp>
      <p:sp>
        <p:nvSpPr>
          <p:cNvPr id="5" name="7825b808-720f-4a3d-a58b-9e49b33b38b6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diretor não quer ler 500 linhas de produtos individuais; ele precisa dos números consolidados da empresa: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Total em Estoque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Custo Médio por Item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Investimento Unitário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Total de Itens Cadastrados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endParaRPr lang="en-US" sz="1264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d75b8a5-5070-4277-b32f-248fb6d1f41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Ciclo de Construção de uma Planilha</a:t>
            </a:r>
            <a:endParaRPr lang="en-US" sz="2246" dirty="0"/>
          </a:p>
        </p:txBody>
      </p:sp>
      <p:sp>
        <p:nvSpPr>
          <p:cNvPr id="3" name="c9599e81-92f1-49e6-ab45-2a070b480d1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as etapas corretas para desenvolver uma planilha gerencial profissional e confiável:</a:t>
            </a:r>
            <a:endParaRPr lang="en-US" sz="1264" dirty="0"/>
          </a:p>
        </p:txBody>
      </p:sp>
      <p:sp>
        <p:nvSpPr>
          <p:cNvPr id="4" name="19c5d644-4676-48d3-bca6-104eb013c70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cabeçalhos e cadastrar os dados iniciais</a:t>
            </a:r>
            <a:endParaRPr lang="en-US" sz="1264" dirty="0"/>
          </a:p>
        </p:txBody>
      </p:sp>
      <p:sp>
        <p:nvSpPr>
          <p:cNvPr id="5" name="0d6ddcf0-b029-4ef7-9797-4bdf2259484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Configurar regras de validação e congelar os painéis</a:t>
            </a:r>
            <a:endParaRPr lang="en-US" sz="1264" dirty="0"/>
          </a:p>
        </p:txBody>
      </p:sp>
      <p:sp>
        <p:nvSpPr>
          <p:cNvPr id="6" name="c74ff1b7-b380-4883-a176-9099f956b47b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numérica de moedas, cores e bordas</a:t>
            </a:r>
            <a:endParaRPr lang="en-US" sz="1264" dirty="0"/>
          </a:p>
        </p:txBody>
      </p:sp>
      <p:sp>
        <p:nvSpPr>
          <p:cNvPr id="7" name="0499e242-e1b4-4eac-abbc-efda4e27605f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as fórmulas matemáticas e funções de cálculo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d75b8a5-5070-4277-b32f-248fb6d1f41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Ciclo de Construção de uma Planilha</a:t>
            </a:r>
            <a:endParaRPr lang="en-US" sz="2246" dirty="0"/>
          </a:p>
        </p:txBody>
      </p:sp>
      <p:sp>
        <p:nvSpPr>
          <p:cNvPr id="3" name="c9599e81-92f1-49e6-ab45-2a070b480d1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as etapas corretas para desenvolver uma planilha gerencial profissional e confiável:</a:t>
            </a:r>
            <a:endParaRPr lang="en-US" sz="1264" dirty="0"/>
          </a:p>
        </p:txBody>
      </p:sp>
      <p:sp>
        <p:nvSpPr>
          <p:cNvPr id="4" name="19c5d644-4676-48d3-bca6-104eb013c70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Digitar os cabeçalhos e cadastrar os dados iniciais</a:t>
            </a:r>
            <a:endParaRPr lang="en-US" sz="1264" dirty="0"/>
          </a:p>
        </p:txBody>
      </p:sp>
      <p:sp>
        <p:nvSpPr>
          <p:cNvPr id="5" name="0d6ddcf0-b029-4ef7-9797-4bdf2259484c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Configurar regras de validação e congelar os painéis</a:t>
            </a:r>
            <a:endParaRPr lang="en-US" sz="1264" dirty="0"/>
          </a:p>
        </p:txBody>
      </p:sp>
      <p:sp>
        <p:nvSpPr>
          <p:cNvPr id="6" name="c74ff1b7-b380-4883-a176-9099f956b47b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Aplicar formatação numérica de moedas, cores e bordas</a:t>
            </a:r>
            <a:endParaRPr lang="en-US" sz="1264" dirty="0"/>
          </a:p>
        </p:txBody>
      </p:sp>
      <p:sp>
        <p:nvSpPr>
          <p:cNvPr id="7" name="0499e242-e1b4-4eac-abbc-efda4e27605f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as fórmulas matemáticas e funções de cálculo</a:t>
            </a:r>
            <a:endParaRPr lang="en-US" sz="1264" dirty="0"/>
          </a:p>
        </p:txBody>
      </p:sp>
      <p:sp>
        <p:nvSpPr>
          <p:cNvPr id="8" name="9c61f184-c007-465b-8797-f989e34bc5a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2a0075b1-c3e0-49da-b8ff-80424fd17b4a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7b428af4-76c1-447f-9a07-8e02f2404567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7802f065-39fa-4c3a-b9b2-a0102821b335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8c89075f-3587-4740-8656-9d76138fa24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61b137-1b80-4a51-b566-45995c9135df" descr="/home/forge/chalkie-production-workers-1/releases/77642309/backend/storage/app/render-specs/59741dc2-df23-42fc-9d60-2761449a3d74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c5d5155b-b862-417a-af77-a0ca3429318f" descr="/home/forge/chalkie-production-workers-1/releases/77642309/backend/storage/app/render-specs/59741dc2-df23-42fc-9d60-2761449a3d74/img_f44ab80f3cb2be1fb14da9bc6d8267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ac7dd068-48e0-4d77-ad24-3d73258e16a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Automação e Responsabilidade</a:t>
            </a:r>
            <a:endParaRPr lang="en-US" sz="2246" dirty="0"/>
          </a:p>
        </p:txBody>
      </p:sp>
      <p:sp>
        <p:nvSpPr>
          <p:cNvPr id="5" name="ca3fe20d-bf38-4f20-b45e-2d120f90afbc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uma fórmula contiver um erro de parênteses ou referência e gerar um prejuízo financeiro para a empresa, a culpa é do software Excel ou do gestor que construiu a planilha?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f61b137-1b80-4a51-b566-45995c9135df" descr="/home/forge/chalkie-production-workers-1/releases/77642309/backend/storage/app/render-specs/59741dc2-df23-42fc-9d60-2761449a3d74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ac7dd068-48e0-4d77-ad24-3d73258e16a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Debate: Automação e Responsabilidade</a:t>
            </a:r>
            <a:endParaRPr lang="en-US" sz="2246" dirty="0"/>
          </a:p>
        </p:txBody>
      </p:sp>
      <p:sp>
        <p:nvSpPr>
          <p:cNvPr id="4" name="46aff7e9-11e3-40fe-9d90-7bc7f7b93204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responsabilidade final é sempre humana. O Excel apenas executa comandos exatos segundo a sintaxe configurada pelo usuário.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Cabe ao gestor auditar fórmulas, testar cenários e validar a lógica matemática antes de tomar decisões financeiras reais.</a:t>
            </a:r>
            <a:endParaRPr lang="en-US" sz="1264" dirty="0"/>
          </a:p>
        </p:txBody>
      </p:sp>
      <p:sp>
        <p:nvSpPr>
          <p:cNvPr id="5" name="55f54baf-9d3b-4827-9a84-81131b196d9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01acb13-ee85-4fdd-8ed1-2ce44669d7d6" descr="/home/forge/chalkie-production-workers-1/releases/77642309/backend/storage/app/render-specs/59741dc2-df23-42fc-9d60-2761449a3d74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d777345d-4f11-486f-8719-cce74a684020" descr="/home/forge/chalkie-production-workers-1/releases/77642309/backend/storage/app/render-specs/59741dc2-df23-42fc-9d60-2761449a3d74/img_618a117ba3df5fb99f715dc9e81792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5f193bda-5d96-473b-acd3-5660bab8a85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Atividade Avaliativa 2: Projeto Prático</a:t>
            </a:r>
            <a:endParaRPr lang="en-US" sz="2246" dirty="0"/>
          </a:p>
        </p:txBody>
      </p:sp>
      <p:sp>
        <p:nvSpPr>
          <p:cNvPr id="5" name="9cedf736-57db-408b-9c0a-5e04c2da7168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Projeto: Gestão Loja Modelo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Tabela: Produto, Categoria, Qtd, Preço, Total.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Categoria: Lista (Roupas, Calçados, Acessórios).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Total: Qtd * Preço.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Status: =SE(Qtd&lt;10; "Comprar"; "OK").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Cartão: SOMA estoque e MÉDIA preços.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Formatação: R$ e cabeçalho fixo.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Critérios: Estrutura (30%), Fórmulas (40%), Formatação (30%).</a:t>
            </a:r>
            <a:endParaRPr lang="en-US" sz="1264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3c98b7a-b485-42ae-99b6-978710c3fdd1" descr="/home/forge/chalkie-production-workers-1/releases/77642309/backend/storage/app/render-specs/59741dc2-df23-42fc-9d60-2761449a3d74/img_3b6c832a0dd36136fc5d211817260d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f2e5d367-cb3d-41a6-b9ec-14548c21ee68"/>
          <p:cNvSpPr/>
          <p:nvPr/>
        </p:nvSpPr>
        <p:spPr>
          <a:xfrm>
            <a:off x="285750" y="24003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Próximos Passos: Excel Avançado</a:t>
            </a:r>
            <a:endParaRPr lang="en-US" sz="2246" dirty="0"/>
          </a:p>
        </p:txBody>
      </p:sp>
      <p:sp>
        <p:nvSpPr>
          <p:cNvPr id="4" name="68a245df-8bb0-4f6b-bc2c-0e304a69baff"/>
          <p:cNvSpPr/>
          <p:nvPr/>
        </p:nvSpPr>
        <p:spPr>
          <a:xfrm>
            <a:off x="285750" y="1394460"/>
            <a:ext cx="27317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OLHANDO PARA A AULA 3</a:t>
            </a:r>
            <a:endParaRPr lang="en-US" sz="842" dirty="0"/>
          </a:p>
        </p:txBody>
      </p:sp>
      <p:sp>
        <p:nvSpPr>
          <p:cNvPr id="5" name="110d2d3b-29ff-489d-943a-7df6d39b6c0c"/>
          <p:cNvSpPr/>
          <p:nvPr/>
        </p:nvSpPr>
        <p:spPr>
          <a:xfrm>
            <a:off x="285750" y="1703070"/>
            <a:ext cx="5143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Parabéns! Hoje você dominou fórmulas, formatação e controles no Excel. Na próxima aula, daremos um salto: aprenderemos funções de busca PROCV, filtros avançados e Tabelas Dinâmicas para cruzar dados complexos.</a:t>
            </a:r>
            <a:endParaRPr lang="en-US" sz="1264" dirty="0"/>
          </a:p>
        </p:txBody>
      </p:sp>
      <p:sp>
        <p:nvSpPr>
          <p:cNvPr id="6" name="4bdecf0f-00d1-4a62-acd1-4f17dcd0caba_card"/>
          <p:cNvSpPr/>
          <p:nvPr/>
        </p:nvSpPr>
        <p:spPr>
          <a:xfrm>
            <a:off x="285750" y="328041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4bdecf0f-00d1-4a62-acd1-4f17dcd0caba_emoji"/>
          <p:cNvSpPr/>
          <p:nvPr/>
        </p:nvSpPr>
        <p:spPr>
          <a:xfrm>
            <a:off x="400050" y="34290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4bdecf0f-00d1-4a62-acd1-4f17dcd0caba_text"/>
          <p:cNvSpPr/>
          <p:nvPr/>
        </p:nvSpPr>
        <p:spPr>
          <a:xfrm>
            <a:off x="765810" y="3394710"/>
            <a:ext cx="45491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Salve sua planilha da Atividade 2; usaremos essa base para criar relatórios avançados na Aula 3.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Básico e Intermediário para Gestão</dc:title>
  <dc:subject>PptxGenJS Presentation</dc:subject>
  <dc:creator>PptxGenJS</dc:creator>
  <cp:lastModifiedBy>PptxGenJS</cp:lastModifiedBy>
  <cp:revision>1</cp:revision>
  <dcterms:created xsi:type="dcterms:W3CDTF">2026-09-14T12:52:05Z</dcterms:created>
  <dcterms:modified xsi:type="dcterms:W3CDTF">2026-09-14T12:52:05Z</dcterms:modified>
</cp:coreProperties>
</file>