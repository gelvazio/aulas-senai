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B1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Exploração de Carreiras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Industriais e Tecnológicas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B300"/>
                </a:solidFill>
              </a:rPr>
              <a:t>Rio do Sul Mais Tech · SENAI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5A143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Rio do Sul Mais Tech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Parceria: SENAI + Prefeitura Municipal de Rio do Sul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Público-alvo: alunos do 8º e 9º ano do Ensino Fundamental (12–15 anos)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Objetivo: preparar jovens para o mundo do trabalho industrial e tecnológico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Carga horária: 36 horas — 18 encontros de 2 horas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Metodologia ativa: dinâmicas, pesquisas, debates, projeto final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O Que Você Vai Aprender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Identificar carreiras nas áreas industrial e tecnológica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Compreender as mudanças do mercado de trabalho e as tendências do futuro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Conhecer seus próprios interesses e habilidades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Dar os primeiros passos no planejamento da sua vida profissional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Construir um currículo básico e um perfil profissional inicial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Percurso de Aprendizagem — Parte 1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Encontro 1 — Quem sou eu? Autoconhecimento inicial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Encontro 2 — O mundo do trabalho: ontem, hoje e amanhã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Encontro 3 — Indústria 4.0: a revolução que está acontecendo agora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Encontro 4 — Automação, robôs e IA: o futuro já chegou?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Encontro 5 — Carreiras industriais I: mecânica e eletrotécnica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Encontro 6 — Carreiras industriais II: automação e mecatrônica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Encontro 7 — Carreiras em TI I: desenvolvimento de software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Encontro 8 — Carreiras em TI II: dados, IA e segurança da informação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Encontro 9 — Profissões do futuro: o que ainda não existe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Percurso de Aprendizagem — Parte 2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Encontro 10 — Mapa de habilidades e interesses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Encontro 11 — Planejamento de carreira: da escola ao mercado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Encontro 12 — Currículo para jovens: como montar o seu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Encontro 13 — LinkedIn e redes profissionais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Encontro 14 — Networking: construindo conexões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Encontro 15 — Entrevista simulada: como se apresentar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Encontro 16 — SENAI: caminhos de formação técnica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Encontro 17 — Projeto final: meu mapa de carreira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Encontro 18 — Apresentações e encerramento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Como Você Será Avaliado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Participação em atividades e dinâmicas — 30%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Mapa de carreira individual (projeto final) — 40%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Currículo e perfil profissional inicial — 30%</a:t>
            </a:r>
            <a:endParaRPr lang="en-US" sz="1700" dirty="0"/>
          </a:p>
          <a:p>
            <a:pPr>
              <a:spcBef>
                <a:spcPts val="600"/>
              </a:spcBef>
            </a:pP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A avaliação é contínua e formativa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O que importa: seu processo de autoconhecimento e engajamento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Não existe resposta certa ou errada nesta jornada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Por Que Explorar Carreiras Agora?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O mercado de trabalho está mudando mais rápido do que nunca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Profissões que existem hoje não existiam há 10 anos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Profissões do futuro ainda nem foram inventadas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Quem se prepara cedo tem enorme vantagem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Autoconhecimento + conhecimento do mercado = escolhas mais conscientes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Você não precisa decidir agora — precisa começar a explorar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O Mundo Está Mudando — E Rápido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Quarta Revolução Industrial: fusão do físico, digital e biológico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Inteligência Artificial aprende, decide e cria como seres humanos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Internet das Coisas (IoT): máquinas e objetos conectados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Big Data: volume de dados que dobra a cada 2 anos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Automação: robôs fazem tarefas repetitivas com mais precisão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O profissional do futuro: sabe trabalhar COM a tecnologia, não contra ela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Carreiras Industriais — Visão Geral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Santa Catarina é um dos estados mais industrializados do Brasil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Metalmecânica, têxtil, alimentícia, plásticos, papel e celulose, farmacêutica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Alta demanda por técnicos qualificados em toda a região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Principais perfis: mecânica, eletrotécnica, automação, mecatrônica, segurança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Formação técnica no SENAI é porta de entrada para a indústria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Salários competitivos mesmo sem graduação universitária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Carreiras em Tecnologia (TI) — Visão Geral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Mercado de TI é um dos que mais cresce no mundo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Brasil tem déficit de mais de 500 mil profissionais de TI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Trabalho remoto e internacional são realidade comum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Principais perfis: desenvolvimento, dados, segurança, suporte, análise de sistemas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Formação: cursos técnicos, bootcamps, graduação — cada caminho tem espaço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Salários entre os mais altos do mercado brasileiro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Planejamento de Carreira — Por Onde Começo?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1. Autoconhecimento — O que eu gosto? O que eu faço bem?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2. Exploração — Quais profissões existem? Como é o dia a dia delas?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3. Formação — Qual caminho formativo preciso trilhar?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4. Primeiros passos — Jovem aprendiz, estágio, cursos complementares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5. Rede de contatos — Quem pode me ajudar nessa jornada?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6. Ajuste contínuo — Carreira não é uma linha reta. É uma construção.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O SENAI na Sua Trajetória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SENAI: maior rede de educação profissional da América Latina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Cursos técnicos com duração de 1 a 2 anos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Laboratórios modernos, equipamentos de última geração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Professores que são profissionais da indústria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Alta taxa de empregabilidade — muitos alunos são contratados antes de se formar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Parceria direta com indústrias da região para estágios e vagas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Rio do Sul Mais Tech: primeiro contato com o universo SENAI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O Que as Empresas Mais Valorizam Hoje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Comunicação clara e objetiva (oral e escrita)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Trabalho em equipe e colaboração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Adaptabilidade e disposição para aprender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Raciocínio lógico e resolução de problemas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Conhecimento em tecnologia (mesmo que básico)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Pontualidade, responsabilidade e postura profissional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Criatividade e capacidade de inovação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Você Sabia? — Fatos sobre o Mercado de Trabalho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65% das crianças de hoje vão trabalhar em profissões que ainda não existem (Dell Technologies)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O Brasil tem mais de 1 milhão de vagas abertas na indústria que não encontram candidatos qualificados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Um técnico do SENAI pode ganhar mais do que muitos universitários recém-formados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O mercado de cibersegurança vai crescer 35% ao ano até 2031 (Bureau of Labor Statistics, EUA)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Santa Catarina é o 4º estado que mais emprega na indústria no Brasil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Programadores brasileiros são contratados por empresas do Vale do Silício remotamente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Dinâmica — Quem Você Quer Ser?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Pegue uma folha de papel e responda: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   → O que você sabe fazer bem?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   → O que você adora fazer (dentro ou fora da escola)?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   → Qual profissional você admira? Por quê?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   → Onde você se imagina trabalhando daqui a 10 anos?</a:t>
            </a:r>
            <a:endParaRPr lang="en-US" sz="1700" dirty="0"/>
          </a:p>
          <a:p>
            <a:pPr>
              <a:spcBef>
                <a:spcPts val="600"/>
              </a:spcBef>
            </a:pP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Compartilhe com um colega. Depois, quem quiser, compartilha com a turma.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Não existe resposta certa. Existe a sua resposta.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B3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B1D4E"/>
                </a:solidFill>
              </a:rPr>
              <a:t>BLOCO 1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7B1D4E"/>
                </a:solidFill>
              </a:rPr>
              <a:t>O Mundo do Trabalho Hoje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E6A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1D4E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O Que Mudou no Mercado de Trabalho nos Últimos 10 Anos?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Smartphones tornaram-se ferramenta de trabalho central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Trabalho remoto saiu do papel e virou realidade de massa (pós-pandemia)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Plataformas digitais criaram a "economia de gigs" (Uber, iFood, 99freelas)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Inteligência Artificial começou a automatizar tarefas cognitivas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Soft skills (comunicação, empatia, adaptabilidade) tornaram-se diferenciais reais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Aprendizado contínuo (lifelong learning) deixou de ser opcional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Fronteiras geográficas do emprego foram quebradas pelo trabalho digital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Indústria 4.0 — Automação, IA, IoT e Big Data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IoT (Internet das Coisas): máquinas conectadas que trocam dados em tempo real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Big Data: análise de bilhões de dados para decisões mais precisas e rápidas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Inteligência Artificial: sistemas que aprendem e tomam decisões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Automação robótica: robôs substituem tarefas repetitivas e perigosas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Manufatura aditiva (impressão 3D): protótipos e peças criados digitalmente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Computação em nuvem: acesso a recursos computacionais de qualquer lugar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Cibersegurança industrial: proteção dos sistemas conectados das fábricas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Profissões Que Existem Hoje — Que Não Existiam Antes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Desenvolvedor de aplicativos mobile (smartphones existem há menos de 20 anos)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Cientista de dados / Analista de Big Data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Especialista em segurança da informação / Ethical Hacker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Gestor de redes sociais (Social Media Manager)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Especialista em experiência do usuário (UX Designer)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Engenheiro de machine learning / IA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Criador de conteúdo digital (YouTuber, streamer, influenciador)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Técnico em automação industrial com CLPs e robótica colaborativa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Profissões do Futuro — O Que Vem Por Aí?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Engenheiro de cidades inteligentes (Smart Cities)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Especialista em interfaces cérebro-máquina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Designer de realidade aumentada e metaverso industrial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Consultor de ética em Inteligência Artificial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Técnico em impressão 4D e bioimpressão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Especialista em colonização espacial e mineração de asteroides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Curador de dados pessoais (gestão da identidade digital)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Arquiteto de sistemas quânticos de computação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Habilidades Mais Valorizadas Pelas Empresas Hoje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Pensamento crítico e resolução de problemas complexos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Criatividade e inovação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Inteligência emocional e empatia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Trabalho em equipe e colaboração interdisciplinar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Adaptabilidade e aprendizado contínuo (lifelong learning)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Literacia digital — uso de ferramentas tecnológicas diversas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Comunicação clara em ambientes presenciais e digitais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Gestão do tempo e automotivação (especialmente no trabalho remoto)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B3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B1D4E"/>
                </a:solidFill>
              </a:rPr>
              <a:t>BLOCO 2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7B1D4E"/>
                </a:solidFill>
              </a:rPr>
              <a:t>Carreiras Industriais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E6A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1D4E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Panorama da Indústria em Santa Catarina e no Brasil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Santa Catarina: 4º estado que mais emprega na indústria no Brasil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Principais setores: metal-mecânico, têxtil, alimentício, plásticos, papel/celulose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Rio do Sul e região: forte presença de indústrias de médio porte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Brasil tem déficit de técnicos industriais qualificados — oportunidade!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Indústria 4.0 aumenta a demanda por profissionais com formação técnica sólida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Salário médio técnico industrial: R$ 2.500 a R$ 6.000 (varia por função e região)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Possibilidade de crescimento para cargos de liderança e engenharia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Principais Funções Industriais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1D4E"/>
                </a:solidFill>
              </a:rPr>
              <a:t>Técnico de Mecânica Industrial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4023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400"/>
              </a:spcBef>
            </a:pPr>
            <a:r>
              <a:rPr lang="en-US" sz="1500" dirty="0">
                <a:solidFill>
                  <a:srgbClr val="555555"/>
                </a:solidFill>
              </a:rPr>
              <a:t>Monta, ajusta e calibra máquinas</a:t>
            </a:r>
            <a:endParaRPr lang="en-US" sz="1500" dirty="0"/>
          </a:p>
          <a:p>
            <a:pPr>
              <a:spcBef>
                <a:spcPts val="400"/>
              </a:spcBef>
            </a:pPr>
            <a:r>
              <a:rPr lang="en-US" sz="1500" dirty="0">
                <a:solidFill>
                  <a:srgbClr val="555555"/>
                </a:solidFill>
              </a:rPr>
              <a:t>Realiza manutenção preventiva e corretiva</a:t>
            </a:r>
            <a:endParaRPr lang="en-US" sz="1500" dirty="0"/>
          </a:p>
          <a:p>
            <a:pPr>
              <a:spcBef>
                <a:spcPts val="400"/>
              </a:spcBef>
            </a:pPr>
            <a:r>
              <a:rPr lang="en-US" sz="1500" dirty="0">
                <a:solidFill>
                  <a:srgbClr val="555555"/>
                </a:solidFill>
              </a:rPr>
              <a:t>Interpreta desenhos técnicos</a:t>
            </a:r>
            <a:endParaRPr lang="en-US" sz="1500" dirty="0"/>
          </a:p>
          <a:p>
            <a:pPr>
              <a:spcBef>
                <a:spcPts val="400"/>
              </a:spcBef>
            </a:pPr>
            <a:r>
              <a:rPr lang="en-US" sz="1500" dirty="0">
                <a:solidFill>
                  <a:srgbClr val="555555"/>
                </a:solidFill>
              </a:rPr>
              <a:t>Salário: R$ 2.500 – R$ 4.500</a:t>
            </a:r>
            <a:endParaRPr lang="en-US" sz="1500" dirty="0"/>
          </a:p>
          <a:p>
            <a:pPr>
              <a:spcBef>
                <a:spcPts val="400"/>
              </a:spcBef>
            </a:pPr>
            <a:r>
              <a:rPr lang="en-US" sz="1500" dirty="0">
                <a:solidFill>
                  <a:srgbClr val="555555"/>
                </a:solidFill>
              </a:rPr>
              <a:t>Setores: metalúrgica, alimentos, têxtil, automotivo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1D4E"/>
                </a:solidFill>
              </a:rPr>
              <a:t>Técnico em Eletrotécnica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0" y="1508760"/>
            <a:ext cx="4023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400"/>
              </a:spcBef>
            </a:pPr>
            <a:r>
              <a:rPr lang="en-US" sz="1500" dirty="0">
                <a:solidFill>
                  <a:srgbClr val="555555"/>
                </a:solidFill>
              </a:rPr>
              <a:t>Instala e mantém sistemas elétricos industriais</a:t>
            </a:r>
            <a:endParaRPr lang="en-US" sz="1500" dirty="0"/>
          </a:p>
          <a:p>
            <a:pPr>
              <a:spcBef>
                <a:spcPts val="400"/>
              </a:spcBef>
            </a:pPr>
            <a:r>
              <a:rPr lang="en-US" sz="1500" dirty="0">
                <a:solidFill>
                  <a:srgbClr val="555555"/>
                </a:solidFill>
              </a:rPr>
              <a:t>Lê projetos elétricos</a:t>
            </a:r>
            <a:endParaRPr lang="en-US" sz="1500" dirty="0"/>
          </a:p>
          <a:p>
            <a:pPr>
              <a:spcBef>
                <a:spcPts val="400"/>
              </a:spcBef>
            </a:pPr>
            <a:r>
              <a:rPr lang="en-US" sz="1500" dirty="0">
                <a:solidFill>
                  <a:srgbClr val="555555"/>
                </a:solidFill>
              </a:rPr>
              <a:t>Aplica normas NR-10 (segurança elétrica)</a:t>
            </a:r>
            <a:endParaRPr lang="en-US" sz="1500" dirty="0"/>
          </a:p>
          <a:p>
            <a:pPr>
              <a:spcBef>
                <a:spcPts val="400"/>
              </a:spcBef>
            </a:pPr>
            <a:r>
              <a:rPr lang="en-US" sz="1500" dirty="0">
                <a:solidFill>
                  <a:srgbClr val="555555"/>
                </a:solidFill>
              </a:rPr>
              <a:t>Salário: R$ 2.800 – R$ 5.000</a:t>
            </a:r>
            <a:endParaRPr lang="en-US" sz="1500" dirty="0"/>
          </a:p>
          <a:p>
            <a:pPr>
              <a:spcBef>
                <a:spcPts val="400"/>
              </a:spcBef>
            </a:pPr>
            <a:r>
              <a:rPr lang="en-US" sz="1500" dirty="0">
                <a:solidFill>
                  <a:srgbClr val="555555"/>
                </a:solidFill>
              </a:rPr>
              <a:t>Setores: indústrias, data centers, energia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Principais Funções Industriais (cont.)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54864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1D4E"/>
                </a:solidFill>
              </a:rPr>
              <a:t>Técnico em Automação Industrial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4023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400"/>
              </a:spcBef>
            </a:pPr>
            <a:r>
              <a:rPr lang="en-US" sz="1500" dirty="0">
                <a:solidFill>
                  <a:srgbClr val="555555"/>
                </a:solidFill>
              </a:rPr>
              <a:t>Programa CLPs (cérebros das máquinas)</a:t>
            </a:r>
            <a:endParaRPr lang="en-US" sz="1500" dirty="0"/>
          </a:p>
          <a:p>
            <a:pPr>
              <a:spcBef>
                <a:spcPts val="400"/>
              </a:spcBef>
            </a:pPr>
            <a:r>
              <a:rPr lang="en-US" sz="1500" dirty="0">
                <a:solidFill>
                  <a:srgbClr val="555555"/>
                </a:solidFill>
              </a:rPr>
              <a:t>Instala sensores e sistemas SCADA</a:t>
            </a:r>
            <a:endParaRPr lang="en-US" sz="1500" dirty="0"/>
          </a:p>
          <a:p>
            <a:pPr>
              <a:spcBef>
                <a:spcPts val="400"/>
              </a:spcBef>
            </a:pPr>
            <a:r>
              <a:rPr lang="en-US" sz="1500" dirty="0">
                <a:solidFill>
                  <a:srgbClr val="555555"/>
                </a:solidFill>
              </a:rPr>
              <a:t>Mantém redes industriais</a:t>
            </a:r>
            <a:endParaRPr lang="en-US" sz="1500" dirty="0"/>
          </a:p>
          <a:p>
            <a:pPr>
              <a:spcBef>
                <a:spcPts val="400"/>
              </a:spcBef>
            </a:pPr>
            <a:r>
              <a:rPr lang="en-US" sz="1500" dirty="0">
                <a:solidFill>
                  <a:srgbClr val="555555"/>
                </a:solidFill>
              </a:rPr>
              <a:t>Salário: R$ 3.000 – R$ 6.000</a:t>
            </a:r>
            <a:endParaRPr lang="en-US" sz="1500" dirty="0"/>
          </a:p>
          <a:p>
            <a:pPr>
              <a:spcBef>
                <a:spcPts val="400"/>
              </a:spcBef>
            </a:pPr>
            <a:r>
              <a:rPr lang="en-US" sz="1500" dirty="0">
                <a:solidFill>
                  <a:srgbClr val="555555"/>
                </a:solidFill>
              </a:rPr>
              <a:t>Alta demanda na Indústria 4.0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1D4E"/>
                </a:solidFill>
              </a:rPr>
              <a:t>Técnico em Mecatrônica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0" y="1508760"/>
            <a:ext cx="4023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400"/>
              </a:spcBef>
            </a:pPr>
            <a:r>
              <a:rPr lang="en-US" sz="1500" dirty="0">
                <a:solidFill>
                  <a:srgbClr val="555555"/>
                </a:solidFill>
              </a:rPr>
              <a:t>Une mecânica + eletrônica + computação</a:t>
            </a:r>
            <a:endParaRPr lang="en-US" sz="1500" dirty="0"/>
          </a:p>
          <a:p>
            <a:pPr>
              <a:spcBef>
                <a:spcPts val="400"/>
              </a:spcBef>
            </a:pPr>
            <a:r>
              <a:rPr lang="en-US" sz="1500" dirty="0">
                <a:solidFill>
                  <a:srgbClr val="555555"/>
                </a:solidFill>
              </a:rPr>
              <a:t>Projeta e mantém robôs industriais</a:t>
            </a:r>
            <a:endParaRPr lang="en-US" sz="1500" dirty="0"/>
          </a:p>
          <a:p>
            <a:pPr>
              <a:spcBef>
                <a:spcPts val="400"/>
              </a:spcBef>
            </a:pPr>
            <a:r>
              <a:rPr lang="en-US" sz="1500" dirty="0">
                <a:solidFill>
                  <a:srgbClr val="555555"/>
                </a:solidFill>
              </a:rPr>
              <a:t>Programa microcontroladores (Arduino)</a:t>
            </a:r>
            <a:endParaRPr lang="en-US" sz="1500" dirty="0"/>
          </a:p>
          <a:p>
            <a:pPr>
              <a:spcBef>
                <a:spcPts val="400"/>
              </a:spcBef>
            </a:pPr>
            <a:r>
              <a:rPr lang="en-US" sz="1500" dirty="0">
                <a:solidFill>
                  <a:srgbClr val="555555"/>
                </a:solidFill>
              </a:rPr>
              <a:t>Salário: R$ 3.500 – R$ 7.000</a:t>
            </a:r>
            <a:endParaRPr lang="en-US" sz="1500" dirty="0"/>
          </a:p>
          <a:p>
            <a:pPr>
              <a:spcBef>
                <a:spcPts val="400"/>
              </a:spcBef>
            </a:pPr>
            <a:r>
              <a:rPr lang="en-US" sz="1500" dirty="0">
                <a:solidFill>
                  <a:srgbClr val="555555"/>
                </a:solidFill>
              </a:rPr>
              <a:t>Perfil muito disputado pelas indústrias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Formação para a Indústria — Caminhos e Certificações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Curso técnico SENAI (1 a 2 anos): porta de entrada mais rápida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Técnico concomitante: fazer junto com o Ensino Médio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Técnico subsequente: após terminar o Ensino Médio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Tecnólogo (2–3 anos): ensino superior tecnológico — especialização prática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Graduação em Engenharia (5 anos): para quem quer ir mais fundo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Certificações complementares: NR-10, NR-12, NR-33, CREA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Cursos de curta duração SENAI: atualização e especialização constante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SENAI — Porta de Entrada para a Indústria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Maior rede de educação profissional da América Latina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Mais de 500 unidades no Brasil — incluindo Rio do Sul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Laboratórios com equipamentos idênticos aos usados na indústria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Professores que são profissionais ativos do setor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Parcerias com empresas: estágios e contratações diretas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Taxa de empregabilidade acima de 80% para alunos formados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Programas de bolsa e gratuidade para famílias de baixa renda (SENAI Gratuidade Social)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B3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B1D4E"/>
                </a:solidFill>
              </a:rPr>
              <a:t>BLOCO 3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7B1D4E"/>
                </a:solidFill>
              </a:rPr>
              <a:t>Carreiras em Tecnologia (TI)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E6A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1D4E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Desenvolvedor de Software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Cria programas, sistemas, sites e aplicativos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Front-end: tudo que o usuário vê (HTML, CSS, JavaScript, React)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Back-end: tudo que acontece "por baixo" (Python, Java, Node.js, bancos de dados)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Mobile: aplicativos para Android e iOS (Flutter, Kotlin, Swift)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Full-stack: domina front-end e back-end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Salário médio Brasil: R$ 5.000 – R$ 15.000 (varia por nível e especialização)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Trabalho remoto e internacional são muito comuns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Analista de Sistemas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Analisa as necessidades de uma empresa e transforma em soluções tecnológicas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Faz a ponte entre o cliente/usuário e a equipe técnica de desenvolvimento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Cria documentação de requisitos, fluxogramas e especificações de sistemas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Testa sistemas antes de entrarem em produção (QA — Quality Assurance)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Trabalha em empresas de software, bancos, indústrias, governo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Formação: curso técnico, tecnólogo, graduação em Sistemas de Informação / Ciência da Computação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Salário médio: R$ 4.500 – R$ 10.000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Suporte Técnico e Infraestrutura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Garante que computadores, redes e servidores funcionem corretamente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Suporte N1: atendimento direto ao usuário (resolver problemas básicos)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Suporte N2/N3: problemas mais complexos, configuração de servidores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Administrador de redes: cuida da rede de computadores das empresas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Técnico em cloud: mantém serviços na nuvem (AWS, Azure, Google Cloud)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Porta de entrada acessível na área de TI — muitos profissionais começam aqui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Salário médio: R$ 2.500 – R$ 6.000 (evolui com certificações)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Segurança da Informação / Cibersegurança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Protege sistemas, redes e dados de empresas contra ataques e invasões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Ethical Hacker (Pentester): testa sistemas para encontrar vulnerabilidades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Analista SOC: monitora ameaças em tempo real num centro de operações de segurança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Área que mais cresce no mundo: ataques cibernéticos crescem 38% ao ano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Cada empresa digital precisa de profissionais de segurança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Certificações valorizadas: CompTIA Security+, CEH, CISSP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Salário médio: R$ 6.000 – R$ 20.000 (especialistas são raros e bem pagos)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Análise de Dados / Ciência de Dados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Coleta, processa e analisa grandes volumes de dados para gerar insights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Analista de dados: transforma dados em relatórios e dashboards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Cientista de dados: cria modelos preditivos com machine learning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Engenheiro de dados: constrói pipelines e infraestrutura de dados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Ferramentas: Python, R, SQL, Power BI, Tableau, Spark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Aplicações: previsão de vendas, detecção de fraudes, recomendações, saúde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Salário médio: R$ 6.000 – R$ 18.000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Formação em TI — Cursos, Bootcamps e Graduação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Curso técnico (1–2 anos): Informática, Desenvolvimento de Sistemas — boa base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Bootcamp (3–6 meses): imersão intensiva, foco em empregabilidade rápida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Graduação tecnológica (2–3 anos): Análise e Desenvolvimento de Sistemas, Redes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Graduação tradicional (4–5 anos): Ciência da Computação, Engenharia de Software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Aprendizado autodidata: plataformas como Alura, DIO, Coursera, freeCodeCamp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Certificações profissionais: AWS, Google Cloud, Microsoft Azure, CompTIA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Portfólio no GitHub: muitas empresas contratam por projetos, não apenas pelo diploma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Mercado de TI no Brasil — Salários e Oportunidades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Brasil tem déficit de mais de 500 mil profissionais de TI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Empregabilidade na área: superior a 90% para profissionais qualificados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Salários entre os mais altos do mercado brasileiro em qualquer nível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Trabalho remoto para empresas estrangeiras: salários em dólar ou euro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Startups, fintechs, healthtechs, govtechs: mercado diversificado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Santa Catarina: polo tecnológico crescente — Florianópolis, Blumenau, Joinville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Mulheres na TI: área ainda tem lacuna de gênero — oportunidade de destaque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B3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B1D4E"/>
                </a:solidFill>
              </a:rPr>
              <a:t>BLOCO 4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7B1D4E"/>
                </a:solidFill>
              </a:rPr>
              <a:t>Construindo Sua Trajetória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E6A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1D4E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Autoconhecimento — Mapa de Habilidades e Interesses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Habilidades técnicas (hard skills): o que você SABE FAZER (programar, desenhar, calcular)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Habilidades comportamentais (soft skills): como você LIDA com o mundo (empatia, liderança)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Interesses: o que te MOVE e te inspira (tecnologia, pessoas, máquinas, criação)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Valores: o que é IMPORTANTE para você no trabalho (autonomia, impacto, estabilidade)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Atividade: diagrama de Venn — O que sei fazer bem + O que adoro fazer + O que o mundo precisa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A interseção dessas três áreas aponta sua zona de vocação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Como Planejar Sua Carreira — Do 8° Ano ao Mercado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8º/9º ano: exploração — conhecer áreas, visitar empresas, fazer cursos de introdução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Ensino Médio: definir área de interesse, iniciar formação técnica (concomitante)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Jovem aprendiz (14–24 anos): primeiro emprego com registro, benefícios e capacitação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Técnico formado (17–19 anos): entrada no mercado de trabalho formal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Especialização: certificações, cursos complementares, idiomas (especialmente inglês)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Graduação (opcional): para quem quer ir mais fundo na carreira escolhida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Dica: cada passo conta. Não existe "tarde demais" nessa jornada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Primeiro Emprego / Jovem Aprendiz — Como Funciona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Programa Jovem Aprendiz (Lei 10.097/2000): empresas são obrigadas a contratar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Faixa etária: 14 a 24 anos (ou até 29 anos para pessoas com deficiência)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Jornada reduzida: até 6 horas diárias para quem ainda estuda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Benefícios: carteira assinada, salário mínimo proporcional, FGTS, férias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Capacitação teórica: obrigatória, geralmente oferecida pelo SENAI ou SENAC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Como conseguir: sites de emprego (CIEE, IEL, Indeed), SENAI, prefeitura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É uma porta de entrada real para o mercado — muitos jovens são efetivados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Currículo Básico para Jovens — O Que Colocar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Dados pessoais: nome, cidade, telefone, e-mail profissional, LinkedIn (se tiver)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Objetivo profissional: área que busca e o que você oferece (2–3 linhas)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Formação: escola atual, cursos complementares (mesmo que em andamento)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Experiências: trabalhos voluntários, projetos escolares, cursos, programas como Mais Tech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Habilidades: ferramentas que você domina, idiomas, soft skills relevantes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Dicas: máximo 1 página, fonte legível, sem erros de ortografia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Dica de ouro: adapte o currículo para cada vaga — não mande o mesmo para todas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LinkedIn para Jovens — Como Criar um Perfil Profissional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LinkedIn é a maior rede profissional do mundo — mais de 1 bilhão de usuários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Foto profissional: rosto visível, fundo neutro, expressão tranquila (não de festa)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Headline: quem você é e o que busca — ex: "Estudante de Tecnologia | Rio do Sul Mais Tech"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Resumo: conte sua história em 3–5 linhas com naturalidade e entusiasmo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Experiências e formação: adicione tudo — mesmo que pareça pouco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Habilidades: liste e peça que colegas e professores endossem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Conecte-se: professores, colegas, profissionais que você conhece ou admira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Networking — O Que É e Por Que Importa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Networking = construir uma rede de contatos profissionais genuínos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"Não é o que você sabe, é quem você conhece" — há verdade nisso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70–80% das vagas nunca são publicadas — são preenchidas por indicação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Como começar: conecte-se com professores, colegas, palestrantes e profissionais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LinkedIn, eventos de tecnologia, feiras de emprego, eventos SENAI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Networking não é pedir favor — é construir relacionamentos de valor mútuo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Seja genuíno: ajude, compartilhe, comente. A rede cresce quando você contribui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85800"/>
          </a:xfrm>
          <a:prstGeom prst="rect">
            <a:avLst/>
          </a:prstGeom>
          <a:solidFill>
            <a:srgbClr val="FF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1D4E"/>
                </a:solidFill>
              </a:rPr>
              <a:t>Como Se Preparar para uma Entrevista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Pesquise a empresa antes: o que faz, valores, produtos, missão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Leia com atenção a descrição da vaga — entenda o que buscam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Prepare-se para responder: "Fale sobre você", "Seus pontos fortes/fracos"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Use a técnica STAR: Situação → Tarefa → Ação → Resultado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Vista-se adequadamente ao ambiente da empresa (pesquise a cultura)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Chegue com antecedência, desligue o celular, olhe nos olhos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Ao final, pergunte sobre os próximos passos — demonstra interesse e proatividade</a:t>
            </a:r>
            <a:endParaRPr lang="en-US" sz="1700" dirty="0"/>
          </a:p>
          <a:p>
            <a:pPr>
              <a:spcBef>
                <a:spcPts val="600"/>
              </a:spcBef>
            </a:pPr>
            <a:r>
              <a:rPr lang="en-US" sz="1700" dirty="0">
                <a:solidFill>
                  <a:srgbClr val="555555"/>
                </a:solidFill>
              </a:rPr>
              <a:t>Depois: mande um e-mail de agradecimento (diferencial raro e bem visto)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7B1D4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7B1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Qual É o Seu Próximo Passo?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920240"/>
            <a:ext cx="73152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Você explorou o mundo do trabalho industrial e tecnológico.
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Agora é hora de agir.
</a:t>
            </a:r>
            <a:pPr indent="0" marL="0">
              <a:buNone/>
            </a:pPr>
            <a:r>
              <a:rPr lang="en-US" sz="1600" dirty="0">
                <a:solidFill>
                  <a:srgbClr val="FFB300"/>
                </a:solidFill>
              </a:rPr>
              <a:t>→  Descubra suas habilidades e interesses
</a:t>
            </a:r>
            <a:pPr indent="0" marL="0">
              <a:buNone/>
            </a:pPr>
            <a:r>
              <a:rPr lang="en-US" sz="1600" dirty="0">
                <a:solidFill>
                  <a:srgbClr val="FFB300"/>
                </a:solidFill>
              </a:rPr>
              <a:t>→  Converse com um profissional da área que te interessa
</a:t>
            </a:r>
            <a:pPr indent="0" marL="0">
              <a:buNone/>
            </a:pPr>
            <a:r>
              <a:rPr lang="en-US" sz="1600" dirty="0">
                <a:solidFill>
                  <a:srgbClr val="FFB300"/>
                </a:solidFill>
              </a:rPr>
              <a:t>→  Pesquise os cursos técnicos do SENAI de Rio do Sul
</a:t>
            </a:r>
            <a:pPr indent="0" marL="0">
              <a:buNone/>
            </a:pPr>
            <a:r>
              <a:rPr lang="en-US" sz="1600" dirty="0">
                <a:solidFill>
                  <a:srgbClr val="FFB300"/>
                </a:solidFill>
              </a:rPr>
              <a:t>→  Monte seu currículo e crie seu LinkedIn
</a:t>
            </a:r>
            <a:pPr indent="0" marL="0">
              <a:buNone/>
            </a:pPr>
            <a:r>
              <a:rPr lang="en-US" sz="1600" dirty="0">
                <a:solidFill>
                  <a:srgbClr val="FFB300"/>
                </a:solidFill>
              </a:rPr>
              <a:t>→  Construa seu Mapa de Carreira nesta UC
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 futuro começa com uma decisão hoje.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0" y="6217920"/>
            <a:ext cx="9144000" cy="274320"/>
          </a:xfrm>
          <a:prstGeom prst="rect">
            <a:avLst/>
          </a:prstGeom>
          <a:solidFill>
            <a:srgbClr val="5A143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Rio do Sul Mais Tech · SENAI · UC: Exploração de Carreiras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2026-08-19T17:38:46Z</dcterms:created>
  <dcterms:modified xsi:type="dcterms:W3CDTF">2026-08-19T17:38:46Z</dcterms:modified>
</cp:coreProperties>
</file>