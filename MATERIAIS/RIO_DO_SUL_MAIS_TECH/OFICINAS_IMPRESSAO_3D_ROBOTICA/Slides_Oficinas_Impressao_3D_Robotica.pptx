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FF88"/>
                </a:solidFill>
              </a:rPr>
              <a:t>Oficinas de Impressão 3D e Robótica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Rio do Sul Mais Tech · SENAI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F88"/>
                </a:solidFill>
              </a:rPr>
              <a:t>Prefeitura Municipal de Rio do Sul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Unidade Curricular 4 · 36 horas presenciais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FF88"/>
                </a:solidFill>
              </a:rPr>
              <a:t>🔧 Criando o Futuro com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00FF88"/>
                </a:solidFill>
              </a:rPr>
              <a:t>Impressão 3D e Robótica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34747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"A tecnologia que você aprende hoje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será o trabalho de amanhã."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A0DAD"/>
                </a:solidFill>
              </a:rPr>
              <a:t>SENAI · 2026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Identificação da Unidade Curricular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212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Campo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Informação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0033"/>
                          </a:solidFill>
                        </a:rPr>
                        <a:t>Unidade Curricular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0033"/>
                          </a:solidFill>
                        </a:rPr>
                        <a:t>Oficinas de Impressão 3D e Robótica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0033"/>
                          </a:solidFill>
                        </a:rPr>
                        <a:t>Programa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0033"/>
                          </a:solidFill>
                        </a:rPr>
                        <a:t>Rio do Sul Mais Tech — SENAI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0033"/>
                          </a:solidFill>
                        </a:rPr>
                        <a:t>Carga Horária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0033"/>
                          </a:solidFill>
                        </a:rPr>
                        <a:t>36 horas presenciais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0033"/>
                          </a:solidFill>
                        </a:rPr>
                        <a:t>Modalidade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0033"/>
                          </a:solidFill>
                        </a:rPr>
                        <a:t>Presencial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0033"/>
                          </a:solidFill>
                        </a:rPr>
                        <a:t>Encontros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0033"/>
                          </a:solidFill>
                        </a:rPr>
                        <a:t>18 encontros de 2 horas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0033"/>
                          </a:solidFill>
                        </a:rPr>
                        <a:t>Público-alvo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0033"/>
                          </a:solidFill>
                        </a:rPr>
                        <a:t>Alunos do 8° e 9° anos (12–15 anos)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0033"/>
                          </a:solidFill>
                        </a:rPr>
                        <a:t>Polos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0033"/>
                          </a:solidFill>
                        </a:rPr>
                        <a:t>LabTEC Ceplas · Roberto Machado · Aníbal de Barba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A0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1612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Campo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566160" y="11612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Informação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Apresentação do Professor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A0DAD"/>
                </a:solidFill>
              </a:rPr>
              <a:t>👤  Nome: </a:t>
            </a:r>
            <a:pPr indent="0" marL="0">
              <a:buNone/>
            </a:pPr>
            <a:r>
              <a:rPr lang="en-US" sz="1600" dirty="0">
                <a:solidFill>
                  <a:srgbClr val="1A0033"/>
                </a:solidFill>
              </a:rPr>
              <a:t>___________________________________
</a:t>
            </a:r>
            <a:pPr indent="0" marL="0">
              <a:buNone/>
            </a:pPr>
            <a:r>
              <a:rPr lang="en-US" sz="1600" b="1" dirty="0">
                <a:solidFill>
                  <a:srgbClr val="6A0DAD"/>
                </a:solidFill>
              </a:rPr>
              <a:t>🎓  Formação: </a:t>
            </a:r>
            <a:pPr indent="0" marL="0">
              <a:buNone/>
            </a:pPr>
            <a:r>
              <a:rPr lang="en-US" sz="1600" dirty="0">
                <a:solidFill>
                  <a:srgbClr val="1A0033"/>
                </a:solidFill>
              </a:rPr>
              <a:t>___________________________________
</a:t>
            </a:r>
            <a:pPr indent="0" marL="0">
              <a:buNone/>
            </a:pPr>
            <a:r>
              <a:rPr lang="en-US" sz="1600" b="1" dirty="0">
                <a:solidFill>
                  <a:srgbClr val="6A0DAD"/>
                </a:solidFill>
              </a:rPr>
              <a:t>💼  Experiência: </a:t>
            </a:r>
            <a:pPr indent="0" marL="0">
              <a:buNone/>
            </a:pPr>
            <a:r>
              <a:rPr lang="en-US" sz="1600" dirty="0">
                <a:solidFill>
                  <a:srgbClr val="1A0033"/>
                </a:solidFill>
              </a:rPr>
              <a:t>___________________________________
</a:t>
            </a:r>
            <a:pPr indent="0" marL="0">
              <a:buNone/>
            </a:pPr>
            <a:r>
              <a:rPr lang="en-US" sz="1600" b="1" dirty="0">
                <a:solidFill>
                  <a:srgbClr val="6A0DAD"/>
                </a:solidFill>
              </a:rPr>
              <a:t>📌  Contato / Turmas: </a:t>
            </a:r>
            <a:pPr indent="0" marL="0">
              <a:buNone/>
            </a:pPr>
            <a:r>
              <a:rPr lang="en-US" sz="1600" dirty="0">
                <a:solidFill>
                  <a:srgbClr val="1A0033"/>
                </a:solidFill>
              </a:rPr>
              <a:t>___________________________________
</a:t>
            </a:r>
            <a:pPr indent="0" marL="0">
              <a:buNone/>
            </a:pPr>
            <a:r>
              <a:rPr lang="en-US" sz="1600" b="1" dirty="0">
                <a:solidFill>
                  <a:srgbClr val="6A0DAD"/>
                </a:solidFill>
              </a:rPr>
              <a:t>⭐  Curiosidade sobre mim: </a:t>
            </a:r>
            <a:pPr indent="0" marL="0">
              <a:buNone/>
            </a:pPr>
            <a:r>
              <a:rPr lang="en-US" sz="1600" dirty="0">
                <a:solidFill>
                  <a:srgbClr val="1A0033"/>
                </a:solidFill>
              </a:rPr>
              <a:t>___________________________________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Dinâmica de Apresentação — Avião de Papel ✈️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Como funciona:
</a:t>
            </a:r>
            <a:pPr indent="0" marL="0">
              <a:buNone/>
            </a:pPr>
            <a:r>
              <a:rPr lang="en-US" sz="1500" b="1" dirty="0">
                <a:solidFill>
                  <a:srgbClr val="1A0033"/>
                </a:solidFill>
              </a:rPr>
              <a:t>1. Cada aluno pega uma folha e escreve: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• Nome e idade
   • Escola que estuda
   • O que sabe sobre impressão 3D e robótica
   • Uma coisa que quer aprender na UC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2. Dobre a folha em formato de avião de papel.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3. Ao sinal do professor, todos jogam os aviões!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4. Cada aluno pega o avião que cair mais perto e lê para a turma.
</a:t>
            </a:r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🎯 Objetivo: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descontrair, conhecer a turma e mapear o conhecimento prévio.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Plano de Ensino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📅  Carga Horária Total: 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36 horas presenciais
</a:t>
            </a:r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🔁  Encontros: 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18 encontros de 2 horas cada
</a:t>
            </a:r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📆  Dias: 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Segunda a sexta-feira
</a:t>
            </a:r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🏫  Local: 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LabTEC (Ceplas / Roberto Machado / Aníbal de Barba)
</a:t>
            </a:r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🗓️  Início: 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19/02/2026
</a:t>
            </a:r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📋  Organização dos Módulos: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• Módulo 1 (Aulas 1–6): Impressão 3D — fundamentos e materiais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• Módulo 2 (Aulas 7–12): Tinkercad e design para impressão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• Módulo 3 (Aulas 13–18): Robótica — componentes e programação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Capacidades Técnicas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412480" cy="548640"/>
          </a:xfrm>
          <a:prstGeom prst="rect">
            <a:avLst/>
          </a:prstGeom>
          <a:solidFill>
            <a:srgbClr val="EDD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🖨️  Identificar os tipos de impressão 3D: FDM, SLA e SLS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412480" cy="548640"/>
          </a:xfrm>
          <a:prstGeom prst="rect">
            <a:avLst/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🔩  Conhecer os componentes e o funcionamento de impressoras 3D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412480" cy="548640"/>
          </a:xfrm>
          <a:prstGeom prst="rect">
            <a:avLst/>
          </a:prstGeom>
          <a:solidFill>
            <a:srgbClr val="EDD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💻  Criar modelos 3D simples no Tinkercad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412480" cy="548640"/>
          </a:xfrm>
          <a:prstGeom prst="rect">
            <a:avLst/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📐  Aplicar princípios de design para impressão (espessura, infill, suportes)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412480" cy="548640"/>
          </a:xfrm>
          <a:prstGeom prst="rect">
            <a:avLst/>
          </a:prstGeom>
          <a:solidFill>
            <a:srgbClr val="EDD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🤖  Identificar e classificar tipos de robôs e suas aplicações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8412480" cy="548640"/>
          </a:xfrm>
          <a:prstGeom prst="rect">
            <a:avLst/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⚙️  Reconhecer sensores, atuadores e controladores em sistemas robóticos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412480" cy="548640"/>
          </a:xfrm>
          <a:prstGeom prst="rect">
            <a:avLst/>
          </a:prstGeom>
          <a:solidFill>
            <a:srgbClr val="EDD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🗺️  Compreender conceitos de programação de trajetórias e pontos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257800"/>
            <a:ext cx="8412480" cy="548640"/>
          </a:xfrm>
          <a:prstGeom prst="rect">
            <a:avLst/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🔗  Relacionar impressão 3D e robótica em projetos integrados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Capacidades Socioemocionais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🎨  Criatividade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49040" y="10972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Criar soluções originais e inovadoras em projetos 3D e robóticos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8412480" cy="0"/>
          </a:xfrm>
          <a:prstGeom prst="line">
            <a:avLst/>
          </a:prstGeom>
          <a:noFill/>
          <a:ln w="6350">
            <a:solidFill>
              <a:srgbClr val="CCAA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0195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🤝  Colaboração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49040" y="1901952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Trabalhar em equipe, compartilhar ferramentas e conhecimentos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8412480" cy="0"/>
          </a:xfrm>
          <a:prstGeom prst="line">
            <a:avLst/>
          </a:prstGeom>
          <a:noFill/>
          <a:ln w="6350">
            <a:solidFill>
              <a:srgbClr val="CCAA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06624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🧩  Resolução de Problemas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49040" y="2706624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Identificar falhas de impressão ou lógica e corrigi-las com persistência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11296"/>
            <a:ext cx="8412480" cy="0"/>
          </a:xfrm>
          <a:prstGeom prst="line">
            <a:avLst/>
          </a:prstGeom>
          <a:noFill/>
          <a:ln w="6350">
            <a:solidFill>
              <a:srgbClr val="CCAA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11296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💪  Persistência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49040" y="3511296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Tentar novamente quando a impressão falhar ou o robô não funcionar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315968"/>
            <a:ext cx="8412480" cy="0"/>
          </a:xfrm>
          <a:prstGeom prst="line">
            <a:avLst/>
          </a:prstGeom>
          <a:noFill/>
          <a:ln w="6350">
            <a:solidFill>
              <a:srgbClr val="CCAA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31596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📢  Comunicação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49040" y="4315968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Apresentar projetos e explicar decisões técnicas à turma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5120640"/>
            <a:ext cx="8412480" cy="0"/>
          </a:xfrm>
          <a:prstGeom prst="line">
            <a:avLst/>
          </a:prstGeom>
          <a:noFill/>
          <a:ln w="6350">
            <a:solidFill>
              <a:srgbClr val="CCAA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1206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🔍  Atenção aos Detalhes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749040" y="51206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Verificar configurações antes de imprimir ou montar circuitos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5925312"/>
            <a:ext cx="8412480" cy="0"/>
          </a:xfrm>
          <a:prstGeom prst="line">
            <a:avLst/>
          </a:prstGeom>
          <a:noFill/>
          <a:ln w="6350">
            <a:solidFill>
              <a:srgbClr val="CCAAEE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Conhecimentos I — Modelagem e Arquivos 3D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🖥️  Interface de software 3D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Workplane, câmera, ferramentas de seleção e navegação
</a:t>
            </a:r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📦  Sólidos Básicos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Cubo, esfera, cilindro, cone — primitivos 3D para construir qualquer forma
</a:t>
            </a:r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📄  Arquivo STL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Formato padrão de exportação 3D — descreve a superfície da peça em triângulos
</a:t>
            </a:r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⚙️  Fatiamento (Slicing)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Processo de converter o modelo 3D em camadas (fatias) para a impressora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Software: Cura, PrusaSlicer, Bambu Studio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Conhecimentos II — Robótica Fundamental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📍  Programação de Pontos e Trajetórias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Definir sequências de posições para o robô se mover com precisão
</a:t>
            </a:r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🤖  Classificação de Robôs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Industrial · Serviço · Móvel · Autônomo · Colaborativo (Cobot)
</a:t>
            </a:r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⚡  Atuadores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Motor DC, servo motor, motor de passo — dispositivos que geram movimento
</a:t>
            </a:r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📜  Histórico da Robótica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1920: Karel Čapek cria o termo "robô"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1961: Unimate — primeiro robô industrial (General Motors)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Hoje: robôs em medicina, logística, casas e espaço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Conhecimentos III — Integração 3D + Robótica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🔗  Impressão 3D Aplicada à Robótica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Peças estruturais (chassis, suportes, conectores)
   Peças personalizadas para sensores e atuadores
   Protótipos rápidos a baixo custo
</a:t>
            </a:r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🛠️  Projeto Integrado Final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Modelar uma peça no Tinkercad → Exportar STL → Fatiar → Imprimir
   Montar peça em protótipo robótico da turma
</a:t>
            </a:r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🌍  Aplicações no Mundo Real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🏥 Próteses médicas impressas em 3D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🚗 Peças de carros de corrida e drones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🏗️  Maquetes arquitetônicas e objetos personalizados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Combinados da Turma 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412480" cy="530352"/>
          </a:xfrm>
          <a:prstGeom prst="rect">
            <a:avLst/>
          </a:prstGeom>
          <a:solidFill>
            <a:srgbClr val="EDD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📵  Celular guardado durante as atividades práticas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412480" cy="530352"/>
          </a:xfrm>
          <a:prstGeom prst="rect">
            <a:avLst/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🤝  Respeitar colegas, professor e o espaço do LabTEC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412480" cy="530352"/>
          </a:xfrm>
          <a:prstGeom prst="rect">
            <a:avLst/>
          </a:prstGeom>
          <a:solidFill>
            <a:srgbClr val="EDD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🖨️  Usar os equipamentos com cuidado — impressoras são frágeis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412480" cy="530352"/>
          </a:xfrm>
          <a:prstGeom prst="rect">
            <a:avLst/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🧹  Limpar o espaço após cada atividade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412480" cy="530352"/>
          </a:xfrm>
          <a:prstGeom prst="rect">
            <a:avLst/>
          </a:prstGeom>
          <a:solidFill>
            <a:srgbClr val="EDD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⏰  Chegar no horário — os equipamentos têm tempo de aquecimento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8412480" cy="530352"/>
          </a:xfrm>
          <a:prstGeom prst="rect">
            <a:avLst/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🙋  Dúvidas? Pergunte! Não existe pergunta boba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412480" cy="530352"/>
          </a:xfrm>
          <a:prstGeom prst="rect">
            <a:avLst/>
          </a:prstGeom>
          <a:solidFill>
            <a:srgbClr val="EDD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💡  Colabore — ensinar também é aprender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257800"/>
            <a:ext cx="8412480" cy="530352"/>
          </a:xfrm>
          <a:prstGeom prst="rect">
            <a:avLst/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🔒  Nunca modifique configurações da impressora sem autorização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Sistema de Avaliação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📊  Escala de Notas: 1 a 4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Nota 1 — Insatisfatório: não atingiu os objetivos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Nota 2 — Em desenvolvimento: atingiu parcialmente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Nota 3 — Satisfatório: atingiu os objetivos esperados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Nota 4 — Excelente: superou os objetivos
</a:t>
            </a:r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✅  Aprovação: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• Frequência mínima: 75% das aulas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• Nota mínima: 7 (equivalente a Nota 3 ou superior)
</a:t>
            </a:r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📝  Instrumentos Avaliativos: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Atividades práticas · Projeto modelado no Tinkercad · Apresentação final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Avaliação de Comportamento e Atitude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🌟  O que avaliamos além das notas: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• Pontualidade e presença ativa nas aulas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• Cuidado e responsabilidade com os equipamentos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• Engajamento nas atividades práticas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• Respeito com colegas e professor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• Iniciativa e curiosidade para explorar além do ensinado
</a:t>
            </a:r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💬  Feedback Contínuo:
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 O professor dará feedback ao longo de toda a UC para que
   você saiba como está evoluindo e o que melhorar.
</a:t>
            </a:r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🏆  Lembre-se:</a:t>
            </a:r>
            <a:pPr indent="0" marL="0">
              <a:buNone/>
            </a:pPr>
            <a:r>
              <a:rPr lang="en-US" sz="1500" dirty="0">
                <a:solidFill>
                  <a:srgbClr val="1A0033"/>
                </a:solidFill>
              </a:rPr>
              <a:t>  Atitude conta tanto quanto o resultado final!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Situação de Aprendizagem 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0DAD"/>
                </a:solidFill>
              </a:rPr>
              <a:t>Modelar no Tinkercad uma peça para um protótipo robótico e imprimi-la em 3D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046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📌  Desafio: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Em equipes, os alunos vão criar uma peça 3D funcional
   para integrar a um protótipo robótico simples.
</a:t>
            </a:r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🔧  Etapas do Projeto: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1. Definir a necessidade: que peça o robô precisa?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2. Modelar no Tinkercad com medidas corretas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3. Exportar STL e configurar o fatiador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4. Imprimir e testar no protótipo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5. Apresentar o processo e os resultados à turma
</a:t>
            </a:r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🏁  Resultado Esperado: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Uma peça física impressa + protótipo funcionando!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O que é Impressão 3D?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📅  Uma tecnologia com décadas de história: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• Anos 1980: Chuck Hull inventa a estereolitografia (SLA) nos EUA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• Anos 1990–2000: Uso exclusivo em indústria e pesquisa, custo altíssimo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• Anos 2010: Surgem impressoras acessíveis para consumidores (FDM)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• Hoje: qualquer pessoa pode imprimir em casa por menos de R$ 1.000
</a:t>
            </a:r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🌍  Como mudou o mundo: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🏥 Medicina: próteses personalizadas, modelos de órgãos para cirurgia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🏗️  Arquitetura: maquetes e protótipos de edifícios em horas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👗 Moda: acessórios únicos e personalizados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🚀 Espaço: peças de foguetes impressas pela NASA e SpaceX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Como Funciona a Impressão 3D?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A0DAD"/>
                </a:solidFill>
              </a:rPr>
              <a:t>Analogia: como fazer um bolo em camadas — cada camada é fina mas, juntas, formam algo sólido!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1554480" cy="3200400"/>
          </a:xfrm>
          <a:prstGeom prst="rect">
            <a:avLst/>
          </a:prstGeom>
          <a:solidFill>
            <a:srgbClr val="6A0DAD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91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88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25146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Modelo Digital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306324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CCFF"/>
                </a:solidFill>
              </a:rPr>
              <a:t>Criar no Tinkercad / baixar da internet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56032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88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993392" y="1600200"/>
            <a:ext cx="1554480" cy="3200400"/>
          </a:xfrm>
          <a:prstGeom prst="rect">
            <a:avLst/>
          </a:prstGeom>
          <a:solidFill>
            <a:srgbClr val="4B0082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1691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93392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88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93392" y="25146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Exportar STL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93392" y="306324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CCFF"/>
                </a:solidFill>
              </a:rPr>
              <a:t>Formato que descreve a superfície da peça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47872" y="256032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88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712464" y="1600200"/>
            <a:ext cx="1554480" cy="3200400"/>
          </a:xfrm>
          <a:prstGeom prst="rect">
            <a:avLst/>
          </a:prstGeom>
          <a:solidFill>
            <a:srgbClr val="6A0DAD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1691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🔪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712464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88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712464" y="25146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Fatiamento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12464" y="306324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CCFF"/>
                </a:solidFill>
              </a:rPr>
              <a:t>Software divide o modelo em centenas de camadas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66944" y="256032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88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431536" y="1600200"/>
            <a:ext cx="1554480" cy="3200400"/>
          </a:xfrm>
          <a:prstGeom prst="rect">
            <a:avLst/>
          </a:prstGeom>
          <a:solidFill>
            <a:srgbClr val="4B0082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1536" y="1691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🖨️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31536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88"/>
                </a:solidFill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31536" y="25146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Impressão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31536" y="306324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CCFF"/>
                </a:solidFill>
              </a:rPr>
              <a:t>Impressora deposita material camada a camada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86016" y="256032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88"/>
                </a:solidFill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150608" y="1600200"/>
            <a:ext cx="1554480" cy="3200400"/>
          </a:xfrm>
          <a:prstGeom prst="rect">
            <a:avLst/>
          </a:prstGeom>
          <a:solidFill>
            <a:srgbClr val="6A0DAD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0608" y="1691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50608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88"/>
                </a:solidFill>
              </a:rPr>
              <a:t>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150608" y="25146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Pós-Processamento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50608" y="306324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CCFF"/>
                </a:solidFill>
              </a:rPr>
              <a:t>Remover suportes, lixar, pintar (opcional)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Tipos de Impressão 3D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4937760"/>
          </a:xfrm>
          <a:prstGeom prst="rect">
            <a:avLst/>
          </a:prstGeom>
          <a:solidFill>
            <a:srgbClr val="F0E6FF"/>
          </a:solidFill>
          <a:ln w="25400">
            <a:solidFill>
              <a:srgbClr val="6A0D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2743200" cy="59436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6984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FDM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6642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A0DAD"/>
                </a:solidFill>
              </a:rPr>
              <a:t>Fused Deposition Modeling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00"/>
                </a:solidFill>
              </a:rPr>
              <a:t>✅ Vantagens: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033"/>
                </a:solidFill>
              </a:rPr>
              <a:t>• Mais acessível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7706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033"/>
                </a:solidFill>
              </a:rPr>
              <a:t>• Filamentos variados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11810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033"/>
                </a:solidFill>
              </a:rPr>
              <a:t>• Fácil manutenção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474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0000"/>
                </a:solidFill>
              </a:rPr>
              <a:t>❌ Limitações: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7673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033"/>
                </a:solidFill>
              </a:rPr>
              <a:t>• Acabamento mais grosseiro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114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033"/>
                </a:solidFill>
              </a:rPr>
              <a:t>• Suportes visíveis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5394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0DAD"/>
                </a:solidFill>
              </a:rPr>
              <a:t>Protótipos, uso geral, educação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051560"/>
            <a:ext cx="2743200" cy="4937760"/>
          </a:xfrm>
          <a:prstGeom prst="rect">
            <a:avLst/>
          </a:prstGeom>
          <a:solidFill>
            <a:srgbClr val="F0E6FF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1051560"/>
            <a:ext cx="2743200" cy="5943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106984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SLA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00400" y="16642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0000"/>
                </a:solidFill>
              </a:rPr>
              <a:t>Stereolithography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2148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00"/>
                </a:solidFill>
              </a:rPr>
              <a:t>✅ Vantagens: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033"/>
                </a:solidFill>
              </a:rPr>
              <a:t>• Detalhes finos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27706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033"/>
                </a:solidFill>
              </a:rPr>
              <a:t>• Superfície lisa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11810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033"/>
                </a:solidFill>
              </a:rPr>
              <a:t>• Alta precisão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3474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0000"/>
                </a:solidFill>
              </a:rPr>
              <a:t>❌ Limitações: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37673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033"/>
                </a:solidFill>
              </a:rPr>
              <a:t>• Resina cara e tóxica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4114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033"/>
                </a:solidFill>
              </a:rPr>
              <a:t>• Pós-cura necessária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0" y="5394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0000"/>
                </a:solidFill>
              </a:rPr>
              <a:t>Joias, odontologia, arte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1051560"/>
            <a:ext cx="2743200" cy="4937760"/>
          </a:xfrm>
          <a:prstGeom prst="rect">
            <a:avLst/>
          </a:prstGeom>
          <a:solidFill>
            <a:srgbClr val="F0E6FF"/>
          </a:solidFill>
          <a:ln w="25400">
            <a:solidFill>
              <a:srgbClr val="004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1051560"/>
            <a:ext cx="2743200" cy="594360"/>
          </a:xfrm>
          <a:prstGeom prst="rect">
            <a:avLst/>
          </a:prstGeom>
          <a:solidFill>
            <a:srgbClr val="004080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106984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SLS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126480" y="16642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4080"/>
                </a:solidFill>
              </a:rPr>
              <a:t>Selective Laser Sintering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2148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00"/>
                </a:solidFill>
              </a:rPr>
              <a:t>✅ Vantagens: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7920" y="2423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033"/>
                </a:solidFill>
              </a:rPr>
              <a:t>• Sem suportes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27706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033"/>
                </a:solidFill>
              </a:rPr>
              <a:t>• Materiais variados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0" y="311810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033"/>
                </a:solidFill>
              </a:rPr>
              <a:t>• Alta resistência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3474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0000"/>
                </a:solidFill>
              </a:rPr>
              <a:t>❌ Limitações: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17920" y="37673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033"/>
                </a:solidFill>
              </a:rPr>
              <a:t>• Custo muito alto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4114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033"/>
                </a:solidFill>
              </a:rPr>
              <a:t>• Grande porte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26480" y="5394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4080"/>
                </a:solidFill>
              </a:rPr>
              <a:t>Indústria aeroespacial, automotiva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Materiais para Impressão 3D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097280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1097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🌿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PLA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18872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Derivado do amido de milho. Biodegradável, fácil de imprimir, sem cheiro. Ideal para iniciantes. Ponto fraco: não suporta calor intenso.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148840"/>
            <a:ext cx="8595360" cy="0"/>
          </a:xfrm>
          <a:prstGeom prst="line">
            <a:avLst/>
          </a:prstGeom>
          <a:noFill/>
          <a:ln w="6350">
            <a:solidFill>
              <a:srgbClr val="6A0D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331720"/>
            <a:ext cx="1097280" cy="105156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331720"/>
            <a:ext cx="1097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🏭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ABS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42316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Plástico resistente a impactos e temperatura. Muito usado na indústria. Requer ventilação — libera vapores. Mais difícil de imprimir.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383280"/>
            <a:ext cx="8595360" cy="0"/>
          </a:xfrm>
          <a:prstGeom prst="line">
            <a:avLst/>
          </a:prstGeom>
          <a:noFill/>
          <a:ln w="6350">
            <a:solidFill>
              <a:srgbClr val="6A0DA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566160"/>
            <a:ext cx="1097280" cy="1051560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3566160"/>
            <a:ext cx="1097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💧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PETG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65760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Flexível e resistente à umidade. Ótimo para peças funcionais que sofrem impacto. Combina facilidade do PLA com resistência do ABS.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617720"/>
            <a:ext cx="8595360" cy="0"/>
          </a:xfrm>
          <a:prstGeom prst="line">
            <a:avLst/>
          </a:prstGeom>
          <a:noFill/>
          <a:ln w="6350">
            <a:solidFill>
              <a:srgbClr val="6A0DA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4800600"/>
            <a:ext cx="1097280" cy="105156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800600"/>
            <a:ext cx="1097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✨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Resina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89204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Usada em impressoras SLA/MSLA. Altíssima precisão e superfície lisa. Necessita pós-cura com UV. Requer luvas e ventilação.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Design para Impressão 3D — Boas Práticas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📏  Espessura de Paredes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Mínimo 1,2 mm (= 3× o diâmetro do bico). Paredes finas quebram facilmente.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0"/>
          </a:xfrm>
          <a:prstGeom prst="line">
            <a:avLst/>
          </a:prstGeom>
          <a:noFill/>
          <a:ln w="6350">
            <a:solidFill>
              <a:srgbClr val="DDB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011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🏗️  Suportes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Ângulos &gt; 45° precisam de suporte. Suportes são removidos após a impressão mas deixam marcas.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8412480" cy="0"/>
          </a:xfrm>
          <a:prstGeom prst="line">
            <a:avLst/>
          </a:prstGeom>
          <a:noFill/>
          <a:ln w="6350">
            <a:solidFill>
              <a:srgbClr val="DDB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718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🔄  Orientação da Peça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A direção de impressão afeta a resistência! Camadas horizontais são mais frágeis que verticais.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794760"/>
            <a:ext cx="8412480" cy="0"/>
          </a:xfrm>
          <a:prstGeom prst="line">
            <a:avLst/>
          </a:prstGeom>
          <a:noFill/>
          <a:ln w="6350">
            <a:solidFill>
              <a:srgbClr val="DDB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9319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🧩  Infill (Preenchimento)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0%: vazio · 15-20%: uso geral · 50%+: alta resistência. Mais infill = mais tempo e material.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754880"/>
            <a:ext cx="8412480" cy="0"/>
          </a:xfrm>
          <a:prstGeom prst="line">
            <a:avLst/>
          </a:prstGeom>
          <a:noFill/>
          <a:ln w="6350">
            <a:solidFill>
              <a:srgbClr val="DDB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892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0DAD"/>
                </a:solidFill>
              </a:rPr>
              <a:t>📐  Tolerâncias para Encaixe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Folga de 0,2–0,4 mm para peças que se encaixam. Impresso é ligeiramente maior que o modelado.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Tinkercad — Primeiros Passos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🌐  Acesso: 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tinkercad.com — gratuito, sem instalação, funciona no navegador
</a:t>
            </a:r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👤  Criar Conta: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1. Acesse tinkercad.com
   2. Clique em "Entrar" → "Criar uma conta pessoal"
   3. Use e-mail ou conta Google
</a:t>
            </a:r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🖥️  Interface Principal: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• Workplane: plano de trabalho azul (é onde você constrói)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• Painel direito: biblioteca de formas (Shapes)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• Controles de câmera: mouse scroll = zoom, botão direito = girar
</a:t>
            </a:r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➕  Adicionar Forma: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Arraste uma forma do painel → solte no workplane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Alças aparecem para redimensionar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Tinkercad — Editando Formas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↔️ Redimensionar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83280" y="105156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Clique na forma → arraste as alças brancas (canto) ou pretas (lateral)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8412480" cy="0"/>
          </a:xfrm>
          <a:prstGeom prst="line">
            <a:avLst/>
          </a:prstGeom>
          <a:noFill/>
          <a:ln w="6350">
            <a:solidFill>
              <a:srgbClr val="DDB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74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🔀 Mover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87452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Clique e arraste a forma. Para mover na vertical: seta preta acima da forma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8412480" cy="0"/>
          </a:xfrm>
          <a:prstGeom prst="line">
            <a:avLst/>
          </a:prstGeom>
          <a:noFill/>
          <a:ln w="6350">
            <a:solidFill>
              <a:srgbClr val="DDB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974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🔄 Rotacionar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69748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Clique na forma → setas curvas aparecem → arraste para girar em qualquer eixo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29000"/>
            <a:ext cx="8412480" cy="0"/>
          </a:xfrm>
          <a:prstGeom prst="line">
            <a:avLst/>
          </a:prstGeom>
          <a:noFill/>
          <a:ln w="6350">
            <a:solidFill>
              <a:srgbClr val="DDB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520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🔗 Agrupar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352044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Selecione múltiplas formas → Ctrl+G. Elas viram uma só peça editável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251960"/>
            <a:ext cx="8412480" cy="0"/>
          </a:xfrm>
          <a:prstGeom prst="line">
            <a:avLst/>
          </a:prstGeom>
          <a:noFill/>
          <a:ln w="6350">
            <a:solidFill>
              <a:srgbClr val="DDB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3434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🕳️ Furo (Hole)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434340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Mude a cor de uma forma para cinza (Hole) → Agrupe com outra → A forma faz um buraco!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5074920"/>
            <a:ext cx="8412480" cy="0"/>
          </a:xfrm>
          <a:prstGeom prst="line">
            <a:avLst/>
          </a:prstGeom>
          <a:noFill/>
          <a:ln w="6350">
            <a:solidFill>
              <a:srgbClr val="DDB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5166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↩️ Desfazer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516636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Ctrl+Z desfaz a última ação. Ctrl+Y refaz. Use sem medo!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5897880"/>
            <a:ext cx="8412480" cy="0"/>
          </a:xfrm>
          <a:prstGeom prst="line">
            <a:avLst/>
          </a:prstGeom>
          <a:noFill/>
          <a:ln w="6350">
            <a:solidFill>
              <a:srgbClr val="DDBBFF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Tinkercad — Exportando o Projeto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💾  Salvar o Projeto: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O Tinkercad salva automaticamente na nuvem
   Dê um nome ao projeto: clique em "Sem título" no topo
</a:t>
            </a:r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📤  Exportar como STL: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1. Clique em "Exportar" (canto superior direito)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2. Escolha ".STL" (padrão universal)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3. Baixe o arquivo para o computador
</a:t>
            </a:r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🔪  Enviar para o Fatiador: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1. Abra o software Cura (ou PrusaSlicer)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2. Arraste o arquivo STL para o programa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3. Configure parâmetros → Fatiar → Exportar G-code
</a:t>
            </a:r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⚠️  Dica: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Verifique se não há erros no modelo (STL repair) antes de imprimir!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Configurações de Fatiamento — O que Ajustar?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657600" cy="1097280"/>
          </a:xfrm>
          <a:prstGeom prst="rect">
            <a:avLst/>
          </a:prstGeom>
          <a:solidFill>
            <a:srgbClr val="6A0DAD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Layer Height (Altura da Camada)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11887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0,1 mm = qualidade alta, lento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0,2 mm = equilíbrio ideal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0,3 mm = rápido, visível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286000"/>
            <a:ext cx="3657600" cy="1097280"/>
          </a:xfrm>
          <a:prstGeom prst="rect">
            <a:avLst/>
          </a:prstGeom>
          <a:solidFill>
            <a:srgbClr val="6A0DAD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2860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Infill (Preenchimento Interno)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0" y="23774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10–15%: decoração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20%: uso geral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50–80%: peças estruturais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474720"/>
            <a:ext cx="3657600" cy="1097280"/>
          </a:xfrm>
          <a:prstGeom prst="rect">
            <a:avLst/>
          </a:prstGeom>
          <a:solidFill>
            <a:srgbClr val="6A0DAD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4747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Suportes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35661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Liga/Desliga automático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Tipos: Linear, Árvore (tree)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Remover após imprimir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4663440"/>
            <a:ext cx="3657600" cy="1097280"/>
          </a:xfrm>
          <a:prstGeom prst="rect">
            <a:avLst/>
          </a:prstGeom>
          <a:solidFill>
            <a:srgbClr val="6A0DAD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6634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Velocidade de Impressão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0" y="47548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30–40 mm/s: qualidade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60 mm/s: normal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100+ mm/s: rápido (menos qualidade)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O que é Robótica?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🤖  Definição: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Ciência que projeta, constrói e programa máquinas autônomas ou
   semiautônomas para executar tarefas de forma eficiente e precisa.
</a:t>
            </a:r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📜  Um pouco de história: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• 1920: Karel Čapek (escritor tcheco) cria a palavra "robô" (R.U.R.)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• 1961: Unimate — primeiro robô industrial (General Motors, EUA)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• 1970s: robôs de soldagem nas fábricas Toyota e Ford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• 1997: Mars Pathfinder — primeiro robô em Marte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• 2000s: Roomba (aspirador robô) e robôs humanoides (ASIMO)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• Hoje: carros autônomos, cirurgias robóticas, drones de entrega
</a:t>
            </a:r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🌍  Robôs que você conhece: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Alexa · Roomba · GPS · Caixas eletrônicos · Elevadores automáticos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Classificação dos Robôs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286000" cy="77724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🏭  Industrial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1097280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Braços robóticos — soldagem, pintura, montagem de carros (Toyota, BMW)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8686800" cy="0"/>
          </a:xfrm>
          <a:prstGeom prst="line">
            <a:avLst/>
          </a:prstGeom>
          <a:noFill/>
          <a:ln w="6350">
            <a:solidFill>
              <a:srgbClr val="CCAA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965960"/>
            <a:ext cx="2286000" cy="777240"/>
          </a:xfrm>
          <a:prstGeom prst="rect">
            <a:avLst/>
          </a:prstGeom>
          <a:solidFill>
            <a:srgbClr val="005C9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9659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🛎️  De Serviço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2011680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Roomba (limpeza), Da Vinci (cirurgia), Pepper (atendimento ao cliente)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788920"/>
            <a:ext cx="8686800" cy="0"/>
          </a:xfrm>
          <a:prstGeom prst="line">
            <a:avLst/>
          </a:prstGeom>
          <a:noFill/>
          <a:ln w="6350">
            <a:solidFill>
              <a:srgbClr val="CCAA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880360"/>
            <a:ext cx="2286000" cy="777240"/>
          </a:xfrm>
          <a:prstGeom prst="rect">
            <a:avLst/>
          </a:prstGeom>
          <a:solidFill>
            <a:srgbClr val="007700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880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🚗  Móvel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2926080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Carros autônomos (Tesla), AGVs em armazéns (Amazon), robôs exploradores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703320"/>
            <a:ext cx="8686800" cy="0"/>
          </a:xfrm>
          <a:prstGeom prst="line">
            <a:avLst/>
          </a:prstGeom>
          <a:noFill/>
          <a:ln w="6350">
            <a:solidFill>
              <a:srgbClr val="CCAA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794760"/>
            <a:ext cx="2286000" cy="777240"/>
          </a:xfrm>
          <a:prstGeom prst="rect">
            <a:avLst/>
          </a:prstGeom>
          <a:solidFill>
            <a:srgbClr val="994400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7947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🛩️  Autônomo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3840480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Drones militares e de entrega, robôs de patrulha, veículos espaciais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617720"/>
            <a:ext cx="8686800" cy="0"/>
          </a:xfrm>
          <a:prstGeom prst="line">
            <a:avLst/>
          </a:prstGeom>
          <a:noFill/>
          <a:ln w="6350">
            <a:solidFill>
              <a:srgbClr val="CCAA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4709160"/>
            <a:ext cx="2286000" cy="777240"/>
          </a:xfrm>
          <a:prstGeom prst="rect">
            <a:avLst/>
          </a:prstGeom>
          <a:solidFill>
            <a:srgbClr val="55550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7091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🤝  Colaborativo (Cobot)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43200" y="4754880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Trabalha ao lado humano — Universal Robots, KUKA — sem gaiolas de proteção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5532120"/>
            <a:ext cx="8686800" cy="0"/>
          </a:xfrm>
          <a:prstGeom prst="line">
            <a:avLst/>
          </a:prstGeom>
          <a:noFill/>
          <a:ln w="6350">
            <a:solidFill>
              <a:srgbClr val="CCAAEE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Componentes de um Robô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5486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SENSORES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(Entrada)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618488"/>
            <a:ext cx="2743200" cy="713232"/>
          </a:xfrm>
          <a:prstGeom prst="rect">
            <a:avLst/>
          </a:prstGeom>
          <a:solidFill>
            <a:srgbClr val="F3E5F5"/>
          </a:solidFill>
          <a:ln w="6350">
            <a:solidFill>
              <a:srgbClr val="0D47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18488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📷 Câmera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77440"/>
            <a:ext cx="2743200" cy="713232"/>
          </a:xfrm>
          <a:prstGeom prst="rect">
            <a:avLst/>
          </a:prstGeom>
          <a:solidFill>
            <a:srgbClr val="F0E6FF"/>
          </a:solidFill>
          <a:ln w="6350">
            <a:solidFill>
              <a:srgbClr val="0D47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37744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📡 Ultrassônico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136392"/>
            <a:ext cx="2743200" cy="713232"/>
          </a:xfrm>
          <a:prstGeom prst="rect">
            <a:avLst/>
          </a:prstGeom>
          <a:solidFill>
            <a:srgbClr val="F3E5F5"/>
          </a:solidFill>
          <a:ln w="6350">
            <a:solidFill>
              <a:srgbClr val="0D47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13639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🌡️ Temperatura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895344"/>
            <a:ext cx="2743200" cy="713232"/>
          </a:xfrm>
          <a:prstGeom prst="rect">
            <a:avLst/>
          </a:prstGeom>
          <a:solidFill>
            <a:srgbClr val="F0E6FF"/>
          </a:solidFill>
          <a:ln w="6350">
            <a:solidFill>
              <a:srgbClr val="0D47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895344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🔊 Microfone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4654296"/>
            <a:ext cx="2743200" cy="713232"/>
          </a:xfrm>
          <a:prstGeom prst="rect">
            <a:avLst/>
          </a:prstGeom>
          <a:solidFill>
            <a:srgbClr val="F3E5F5"/>
          </a:solidFill>
          <a:ln w="6350">
            <a:solidFill>
              <a:srgbClr val="0D47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654296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☀️ Sensor de luz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5413248"/>
            <a:ext cx="2743200" cy="713232"/>
          </a:xfrm>
          <a:prstGeom prst="rect">
            <a:avLst/>
          </a:prstGeom>
          <a:solidFill>
            <a:srgbClr val="F0E6FF"/>
          </a:solidFill>
          <a:ln w="6350">
            <a:solidFill>
              <a:srgbClr val="0D47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5413248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👆 Toque / pressão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1051560"/>
            <a:ext cx="2743200" cy="54864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1051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CONTROLADOR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(Processamento)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1618488"/>
            <a:ext cx="2743200" cy="713232"/>
          </a:xfrm>
          <a:prstGeom prst="rect">
            <a:avLst/>
          </a:prstGeom>
          <a:solidFill>
            <a:srgbClr val="F3E5F5"/>
          </a:solidFill>
          <a:ln w="6350">
            <a:solidFill>
              <a:srgbClr val="4A14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1618488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🧠 Arduino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0" y="2377440"/>
            <a:ext cx="2743200" cy="713232"/>
          </a:xfrm>
          <a:prstGeom prst="rect">
            <a:avLst/>
          </a:prstGeom>
          <a:solidFill>
            <a:srgbClr val="F0E6FF"/>
          </a:solidFill>
          <a:ln w="6350">
            <a:solidFill>
              <a:srgbClr val="4A14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237744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🖥️ Raspberry Pi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0" y="3136392"/>
            <a:ext cx="2743200" cy="713232"/>
          </a:xfrm>
          <a:prstGeom prst="rect">
            <a:avLst/>
          </a:prstGeom>
          <a:solidFill>
            <a:srgbClr val="F3E5F5"/>
          </a:solidFill>
          <a:ln w="6350">
            <a:solidFill>
              <a:srgbClr val="4A14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313639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⚙️ ESP32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00400" y="3895344"/>
            <a:ext cx="2743200" cy="713232"/>
          </a:xfrm>
          <a:prstGeom prst="rect">
            <a:avLst/>
          </a:prstGeom>
          <a:solidFill>
            <a:srgbClr val="F0E6FF"/>
          </a:solidFill>
          <a:ln w="6350">
            <a:solidFill>
              <a:srgbClr val="4A14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3895344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📱 Microcontrolador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0" y="4654296"/>
            <a:ext cx="2743200" cy="713232"/>
          </a:xfrm>
          <a:prstGeom prst="rect">
            <a:avLst/>
          </a:prstGeom>
          <a:solidFill>
            <a:srgbClr val="F3E5F5"/>
          </a:solidFill>
          <a:ln w="6350">
            <a:solidFill>
              <a:srgbClr val="4A14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4654296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🔄 Loop de controle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00400" y="5413248"/>
            <a:ext cx="2743200" cy="713232"/>
          </a:xfrm>
          <a:prstGeom prst="rect">
            <a:avLst/>
          </a:prstGeom>
          <a:solidFill>
            <a:srgbClr val="F0E6FF"/>
          </a:solidFill>
          <a:ln w="6350">
            <a:solidFill>
              <a:srgbClr val="4A14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5413248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📊 Algoritmo de decisão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26480" y="1051560"/>
            <a:ext cx="2743200" cy="54864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1051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ATUADORES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(Saída)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26480" y="1618488"/>
            <a:ext cx="2743200" cy="713232"/>
          </a:xfrm>
          <a:prstGeom prst="rect">
            <a:avLst/>
          </a:prstGeom>
          <a:solidFill>
            <a:srgbClr val="F3E5F5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1618488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⚡ Motor DC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26480" y="2377440"/>
            <a:ext cx="2743200" cy="713232"/>
          </a:xfrm>
          <a:prstGeom prst="rect">
            <a:avLst/>
          </a:prstGeom>
          <a:solidFill>
            <a:srgbClr val="F0E6FF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237744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🎯 Servo motor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126480" y="3136392"/>
            <a:ext cx="2743200" cy="713232"/>
          </a:xfrm>
          <a:prstGeom prst="rect">
            <a:avLst/>
          </a:prstGeom>
          <a:solidFill>
            <a:srgbClr val="F3E5F5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313639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👣 Motor de passo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126480" y="3895344"/>
            <a:ext cx="2743200" cy="713232"/>
          </a:xfrm>
          <a:prstGeom prst="rect">
            <a:avLst/>
          </a:prstGeom>
          <a:solidFill>
            <a:srgbClr val="F0E6FF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3895344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💡 LED / Display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126480" y="4654296"/>
            <a:ext cx="2743200" cy="713232"/>
          </a:xfrm>
          <a:prstGeom prst="rect">
            <a:avLst/>
          </a:prstGeom>
          <a:solidFill>
            <a:srgbClr val="F3E5F5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0" y="4654296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🔊 Buzzer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126480" y="5413248"/>
            <a:ext cx="2743200" cy="713232"/>
          </a:xfrm>
          <a:prstGeom prst="rect">
            <a:avLst/>
          </a:prstGeom>
          <a:solidFill>
            <a:srgbClr val="F0E6FF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5413248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🦾 Relé / Solenoide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Sensores na Prática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📡 Sensor Ultrassônico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99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Emite ondas sonoras e mede o tempo de retorno. Calcula distância (como morcego!). Usado para evitar obstáculos.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0"/>
          </a:xfrm>
          <a:prstGeom prst="line">
            <a:avLst/>
          </a:prstGeom>
          <a:noFill/>
          <a:ln w="6350">
            <a:solidFill>
              <a:srgbClr val="DDB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0116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🎨 Sensor de Cor (TCS)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359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Detecta a cor de superfícies através de LEDs RGB. Usado em robôs seguidores de linha e classificadores.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8412480" cy="0"/>
          </a:xfrm>
          <a:prstGeom prst="line">
            <a:avLst/>
          </a:prstGeom>
          <a:noFill/>
          <a:ln w="6350">
            <a:solidFill>
              <a:srgbClr val="DDB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718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👆 Sensor de Toque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3192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Botão físico que detecta pressão ou contato. Simples mas muito útil — detecta colisão.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794760"/>
            <a:ext cx="8412480" cy="0"/>
          </a:xfrm>
          <a:prstGeom prst="line">
            <a:avLst/>
          </a:prstGeom>
          <a:noFill/>
          <a:ln w="6350">
            <a:solidFill>
              <a:srgbClr val="DDB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9319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☀️ Sensor de Luz (LDR)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2793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Resistência que varia com a luminosidade. Mais luz = menos resistência. Ideal para robôs que seguem luz.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754880"/>
            <a:ext cx="8412480" cy="0"/>
          </a:xfrm>
          <a:prstGeom prst="line">
            <a:avLst/>
          </a:prstGeom>
          <a:noFill/>
          <a:ln w="6350">
            <a:solidFill>
              <a:srgbClr val="DDB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8920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🌡️ Sensor de Temperatura (DHT11)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52395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033"/>
                </a:solidFill>
              </a:rPr>
              <a:t>Mede temperatura e umidade do ar. Usado em automação residencial e controle ambiental.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Atuadores na Prática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0DAD"/>
                </a:solidFill>
              </a:rPr>
              <a:t>⚡ Motor DC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10515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033"/>
                </a:solidFill>
              </a:rPr>
              <a:t>Rotação contínua em velocidade variável. Controlado por PWM. Usado em rodas de robôs móveis.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10515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0DAD"/>
                </a:solidFill>
              </a:rPr>
              <a:t>Ex: Carro RC, esteira transportadora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0"/>
          </a:xfrm>
          <a:prstGeom prst="line">
            <a:avLst/>
          </a:prstGeom>
          <a:noFill/>
          <a:ln w="6350">
            <a:solidFill>
              <a:srgbClr val="DDB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574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0DAD"/>
                </a:solidFill>
              </a:rPr>
              <a:t>🎯 Servo Motor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20574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033"/>
                </a:solidFill>
              </a:rPr>
              <a:t>Move para um ângulo específico (0°–180°). Retorna ao ângulo com precisão. Controlado por pulsos.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49440" y="20574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0DAD"/>
                </a:solidFill>
              </a:rPr>
              <a:t>Ex: Garra robótica, leme de barco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8412480" cy="0"/>
          </a:xfrm>
          <a:prstGeom prst="line">
            <a:avLst/>
          </a:prstGeom>
          <a:noFill/>
          <a:ln w="6350">
            <a:solidFill>
              <a:srgbClr val="DDB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063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0DAD"/>
                </a:solidFill>
              </a:rPr>
              <a:t>👣 Motor de Passo (Stepper)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30632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033"/>
                </a:solidFill>
              </a:rPr>
              <a:t>Move em "passos" precisos sem sensor de posição. Alta precisão angular.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0" y="30632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0DAD"/>
                </a:solidFill>
              </a:rPr>
              <a:t>Ex: Impressora 3D, CNC, relógio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77640"/>
            <a:ext cx="8412480" cy="0"/>
          </a:xfrm>
          <a:prstGeom prst="line">
            <a:avLst/>
          </a:prstGeom>
          <a:noFill/>
          <a:ln w="6350">
            <a:solidFill>
              <a:srgbClr val="DDB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0690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0DAD"/>
                </a:solidFill>
              </a:rPr>
              <a:t>💡 LED e Display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40690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033"/>
                </a:solidFill>
              </a:rPr>
              <a:t>Saída visual — indica estado, erros ou informações ao operador.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40690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0DAD"/>
                </a:solidFill>
              </a:rPr>
              <a:t>Ex: Painel de status, sinalização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983480"/>
            <a:ext cx="8412480" cy="0"/>
          </a:xfrm>
          <a:prstGeom prst="line">
            <a:avLst/>
          </a:prstGeom>
          <a:noFill/>
          <a:ln w="6350">
            <a:solidFill>
              <a:srgbClr val="DDB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5074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0DAD"/>
                </a:solidFill>
              </a:rPr>
              <a:t>🔊 Buzzer / Alto-falante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0" y="50749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033"/>
                </a:solidFill>
              </a:rPr>
              <a:t>Saída sonora — alertas, confirmações ou feedback ao usuário.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50749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0DAD"/>
                </a:solidFill>
              </a:rPr>
              <a:t>Ex: Alarmes, robô que fala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Programação de Trajetórias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📍  Conceito de Ponto a Ponto (PTP):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O robô vai de um ponto inicial a um ponto final.
   O caminho exato não é controlado — apenas os pontos de destino.
</a:t>
            </a:r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➡️  Movimento Linear Contínuo (CP):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O robô segue uma trajetória específica (linha reta, curva).
   Usado em soldagem, corte e pintura.
</a:t>
            </a:r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🔄  Loop de Controle: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ENQUANTO (tarefa não concluída) → VERIFICAR SENSOR → AGIR → REPETIR
</a:t>
            </a:r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💡  Exemplo simples em pseudocódigo: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se (sensor_distancia &lt; 20cm):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    motor_esquerdo.parar()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    motor_direito.virar(45°)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senão: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    avançar(velocidade=80%)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0DAD"/>
                </a:solidFill>
              </a:rPr>
              <a:t>Impressão 3D + Robótica — A Combinação Perfeita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0DAD"/>
                </a:solidFill>
              </a:rPr>
              <a:t>Rio do Sul Mais Tech · SENAI · UC: Impressão 3D e Robótica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🔗  Como a Impressão 3D serve à Robótica: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• Chassis e estruturas: base do robô personalizada para o projeto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• Suportes para sensores: encaixe perfeito para ultrassônico, câmera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• Garra e ferramentas: peças funcionais que interagem com o ambiente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• Engrenagens e transmissão: peças mecânicas de custo zero
</a:t>
            </a:r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🚀  Projeto Final da UC: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Cada equipe vai: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1. Definir uma peça que o robô precisa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2. Modelar no Tinkercad (com medidas reais)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3. Imprimir em PLA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4. Integrar ao protótipo da equipe
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 5. Apresentar para a turma
</a:t>
            </a:r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🏆  Resultado:</a:t>
            </a:r>
            <a:pPr indent="0" marL="0">
              <a:buNone/>
            </a:pPr>
            <a:r>
              <a:rPr lang="en-US" sz="1400" dirty="0">
                <a:solidFill>
                  <a:srgbClr val="1A0033"/>
                </a:solidFill>
              </a:rPr>
              <a:t>  Um robô com peças desenhadas por vocês!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0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F88"/>
                </a:solidFill>
              </a:rPr>
              <a:t>O que Aprendemos?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🖨️  Impressão 3D: FDM, SLA e SLS — cada uma tem seu uso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02082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</a:rPr>
              <a:t>🧩  Materiais: PLA, ABS, PETG e Resina — propriedades e aplicações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243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💻  Tinkercad: criar, editar, agrupar e exportar modelos 3D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278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</a:rPr>
              <a:t>⚙️  Design 3D: espessura de paredes, infill, suportes e orientação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831336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🤖  Robótica: sensores, controladores e atuadores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</a:rPr>
              <a:t>🏷️  Tipos de robôs: industrial, serviço, móvel, autônomo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03834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🗺️  Programação: ponto a ponto, trajetórias, loop de controle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56418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</a:rPr>
              <a:t>🔗  Integração: peças impressas em 3D para protótipos robóticos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A0DAD"/>
                </a:solidFill>
              </a:rPr>
              <a:t>Rio do Sul Mais Tech · SENAI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2026-08-19T23:43:04Z</dcterms:created>
  <dcterms:modified xsi:type="dcterms:W3CDTF">2026-08-19T23:43:04Z</dcterms:modified>
</cp:coreProperties>
</file>