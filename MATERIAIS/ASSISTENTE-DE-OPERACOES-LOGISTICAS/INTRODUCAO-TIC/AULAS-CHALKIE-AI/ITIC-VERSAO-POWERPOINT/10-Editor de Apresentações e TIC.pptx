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y="5143500" cx="9144000"/>
  <p:notesSz cx="5143500" cy="9144000"/>
  <p:embeddedFontLst>
    <p:embeddedFont>
      <p:font typeface="Lexend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slide" Target="slides/slide42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schemas.openxmlformats.org/officeDocument/2006/relationships/font" Target="fonts/Lexend-bold.fntdata"/><Relationship Id="rId25" Type="http://schemas.openxmlformats.org/officeDocument/2006/relationships/slide" Target="slides/slide21.xml"/><Relationship Id="rId47" Type="http://schemas.openxmlformats.org/officeDocument/2006/relationships/font" Target="fonts/Lexend-regular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8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32.png"/><Relationship Id="rId6" Type="http://schemas.openxmlformats.org/officeDocument/2006/relationships/image" Target="../media/image12.png"/><Relationship Id="rId7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Relationship Id="rId4" Type="http://schemas.openxmlformats.org/officeDocument/2006/relationships/image" Target="../media/image4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Relationship Id="rId4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Relationship Id="rId4" Type="http://schemas.openxmlformats.org/officeDocument/2006/relationships/image" Target="../media/image25.png"/><Relationship Id="rId5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Relationship Id="rId4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Relationship Id="rId4" Type="http://schemas.openxmlformats.org/officeDocument/2006/relationships/hyperlink" Target="http://www.youtube.com/watch?v=EvqQzXT2sns" TargetMode="External"/><Relationship Id="rId5" Type="http://schemas.openxmlformats.org/officeDocument/2006/relationships/image" Target="../media/image4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Relationship Id="rId4" Type="http://schemas.openxmlformats.org/officeDocument/2006/relationships/image" Target="../media/image7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Relationship Id="rId4" Type="http://schemas.openxmlformats.org/officeDocument/2006/relationships/image" Target="../media/image41.png"/><Relationship Id="rId5" Type="http://schemas.openxmlformats.org/officeDocument/2006/relationships/image" Target="../media/image3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jpg"/><Relationship Id="rId4" Type="http://schemas.openxmlformats.org/officeDocument/2006/relationships/image" Target="../media/image7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jp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jpg"/><Relationship Id="rId4" Type="http://schemas.openxmlformats.org/officeDocument/2006/relationships/image" Target="../media/image6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jpg"/><Relationship Id="rId4" Type="http://schemas.openxmlformats.org/officeDocument/2006/relationships/image" Target="../media/image46.png"/><Relationship Id="rId5" Type="http://schemas.openxmlformats.org/officeDocument/2006/relationships/image" Target="../media/image5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jpg"/><Relationship Id="rId4" Type="http://schemas.openxmlformats.org/officeDocument/2006/relationships/image" Target="../media/image5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jpg"/><Relationship Id="rId4" Type="http://schemas.openxmlformats.org/officeDocument/2006/relationships/image" Target="../media/image5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jpg"/><Relationship Id="rId4" Type="http://schemas.openxmlformats.org/officeDocument/2006/relationships/image" Target="../media/image65.png"/><Relationship Id="rId5" Type="http://schemas.openxmlformats.org/officeDocument/2006/relationships/image" Target="../media/image67.png"/><Relationship Id="rId6" Type="http://schemas.openxmlformats.org/officeDocument/2006/relationships/image" Target="../media/image66.png"/><Relationship Id="rId7" Type="http://schemas.openxmlformats.org/officeDocument/2006/relationships/image" Target="../media/image6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jpg"/><Relationship Id="rId4" Type="http://schemas.openxmlformats.org/officeDocument/2006/relationships/image" Target="../media/image7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jpg"/><Relationship Id="rId4" Type="http://schemas.openxmlformats.org/officeDocument/2006/relationships/image" Target="../media/image85.png"/><Relationship Id="rId5" Type="http://schemas.openxmlformats.org/officeDocument/2006/relationships/image" Target="../media/image8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jpg"/><Relationship Id="rId4" Type="http://schemas.openxmlformats.org/officeDocument/2006/relationships/image" Target="../media/image7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jpg"/><Relationship Id="rId4" Type="http://schemas.openxmlformats.org/officeDocument/2006/relationships/image" Target="../media/image7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jpg"/><Relationship Id="rId4" Type="http://schemas.openxmlformats.org/officeDocument/2006/relationships/image" Target="../media/image8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jpg"/><Relationship Id="rId4" Type="http://schemas.openxmlformats.org/officeDocument/2006/relationships/image" Target="../media/image82.png"/><Relationship Id="rId5" Type="http://schemas.openxmlformats.org/officeDocument/2006/relationships/image" Target="../media/image7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.jpg"/><Relationship Id="rId4" Type="http://schemas.openxmlformats.org/officeDocument/2006/relationships/image" Target="../media/image64.png"/><Relationship Id="rId5" Type="http://schemas.openxmlformats.org/officeDocument/2006/relationships/image" Target="../media/image7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.jpg"/><Relationship Id="rId4" Type="http://schemas.openxmlformats.org/officeDocument/2006/relationships/image" Target="../media/image6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3.jpg"/><Relationship Id="rId4" Type="http://schemas.openxmlformats.org/officeDocument/2006/relationships/image" Target="../media/image7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4e78e1255c0e0349e17afe45167cbbda.png" id="16" name="Google Shape;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260" y="742950"/>
            <a:ext cx="3657600" cy="36576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4914900" y="1257300"/>
            <a:ext cx="382905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Editor de Apresentações e TIC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914900" y="2960370"/>
            <a:ext cx="382905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Design multimídia, integração digital e síntese prática de TIC.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02c033f4e77807393eee7096c557c3ed.png" id="24" name="Google Shape;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285750" y="117729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Apresentar Não É Ler Textos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85750" y="2263140"/>
            <a:ext cx="51435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Você já assistiu a uma apresentação cheia de parágrafos minúsculos que o orador apenas leu em voz alta? Slides servem para guiar o olhar e reforçar ideias-chave, nunca para substituir a voz de quem fala.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79bac0242925623d224b4b1e9af8e5e3.png" id="32" name="Google Shape;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Objetivos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285750" y="800100"/>
            <a:ext cx="457200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Metas de Aprendizagem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Projetar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apresentações aplicando princípios de hierarquia visual e design sóbrio.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Integrar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objetos de planilhas e textos em apresentações multimídia estruturadas.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Sintetizar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o ecossistema de TIC com ética, segurança e postura profissional.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05280e17a41e2c718c424af6a13fde95.png" id="40" name="Google Shape;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27d872b1-bade-442a-b977-63815cf1024a/img_b544684a608fc6f2677d70f8bc85485c.png" id="41" name="Google Shape;4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27d872b1-bade-442a-b977-63815cf1024a/img_31aa64cbde9f04bb1188161264346c94.png" id="42" name="Google Shape;4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27d872b1-bade-442a-b977-63815cf1024a/img_361276c0cdc20176569da2f15ee86a2b.png" id="43" name="Google Shape;4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44" name="Google Shape;44;p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Vocabulário Fundamental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285750" y="342900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Slide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Quadro digital de projeção para síntese visual.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Multimídia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Integração planejada de texto, áudio, imagens e vídeo.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468630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Narrativa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Linha lógica que conduz o raciocínio do público.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Integração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Conexão dinâmica entre planilhas, textos e slides.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848831d109339f8bccf7054f0dcec110.png" id="54" name="Google Shape;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55" name="Google Shape;55;p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Recapitulando Gráficos e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285750" y="868680"/>
            <a:ext cx="196596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REVISÃO TÉCNICA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285750" y="1177290"/>
            <a:ext cx="4572000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Escolha Adequada da Mídia Visual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Na aula anterior exploramos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planilhas eletrônicas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 Gráficos não são adornos visuais: colunas comparam categorias distintas, linhas demonstram evolução contínua no tempo e setores indicam proporções de um total.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285750" y="339471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400050" y="35433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765810" y="350901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Sempre confira escalas, rótulos e títulos antes de exportar dados para sua apresentação.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Revisão: Seleção de Gráficos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tipo de gráfico é ideal para demonstrar o crescimento de acessos a um servidor ao longo de doze meses?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 de mapa coroplético, exclusivo para dados geográficos.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 de dispersão sem linhas, para dispersar pontos aleatórios.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 de setores, para evidenciar fatias estáticas de dados.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 de linhas, pois demonstra tendências contínuas no tempo.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Revisão: Seleção de Gráficos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tipo de gráfico é ideal para demonstrar o crescimento de acessos a um servidor ao longo de doze meses?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 de mapa coroplético, exclusivo para dados geográficos.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 de dispersão sem linhas, para dispersar pontos aleatórios.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 de setores, para evidenciar fatias estáticas de dados.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 de linhas, pois demonstra tendências contínuas no tempo.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a2b297f64f0333399b6ce205abbcdad8.png" id="98" name="Google Shape;9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27d872b1-bade-442a-b977-63815cf1024a/img_72745ae423edb0cd709b58940f5f4b09.png" id="99" name="Google Shape;9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00" name="Google Shape;100;p10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Princípios do Design Visual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28575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Contraste e Legibilidade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Textos claros sobre fundos escuros ou textos escuros sobre superfícies claras asseguram leitura rápida em salas amplas sem causar cansaço visual.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465201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Alinhamento e Espaço Vazio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Organizar elementos em grades geométricas e preservar margens arejadas evita poluição e confere autoridade profissional imediata.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eb53787728d7eacdfc481472693896a9.png" id="108" name="Google Shape;10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09" name="Google Shape;109;p1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Hierarquia Visual e Tipografia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285750" y="868680"/>
            <a:ext cx="179451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ESTRUTURAÇÃO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285750" y="1177290"/>
            <a:ext cx="457200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Guiando o Olhar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cérebro prioriza pela escala visual: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Títulos: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tamanho expressivo e negrito.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Conceitos: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tamanho médio, alto contraste.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Dados: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peso discreto, cores neutras.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285750" y="337185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1"/>
          <p:cNvSpPr/>
          <p:nvPr/>
        </p:nvSpPr>
        <p:spPr>
          <a:xfrm>
            <a:off x="400050" y="35204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765810" y="348615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Evite fontes ornamentadas ou usar mais de duas famílias tipográficas.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/>
          <p:nvPr/>
        </p:nvSpPr>
        <p:spPr>
          <a:xfrm>
            <a:off x="17145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2"/>
          <p:cNvSpPr/>
          <p:nvPr/>
        </p:nvSpPr>
        <p:spPr>
          <a:xfrm>
            <a:off x="237744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2"/>
          <p:cNvSpPr/>
          <p:nvPr/>
        </p:nvSpPr>
        <p:spPr>
          <a:xfrm>
            <a:off x="457200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2"/>
          <p:cNvSpPr/>
          <p:nvPr/>
        </p:nvSpPr>
        <p:spPr>
          <a:xfrm>
            <a:off x="677799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Construção da Narrativa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285750" y="137160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 Situação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Contextualize o cenário e o problema enfrentado.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2491740" y="137160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 Complicação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Revele obstáculos e dados técnicos da questão.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4686300" y="137160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 Resolução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Apresente a proposta embasada e seus impactos.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6892290" y="137160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 Conclusão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Sintetize próximos passos e solicite decisões.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Ordenação da Estrutura Narrativa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Ordene as etapas clássicas para estruturar uma apresentação executiva persuasiva: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Proposta fundamentada de solução com dados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Apresentação do contexto inicial e do problema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Conclusão prática e chamada para deliberação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Demonstração das evidências e complicações técnicas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Ordenação da Estrutura Narrativa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Ordene as etapas clássicas para estruturar uma apresentação executiva persuasiva: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Proposta fundamentada de solução com dados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Apresentação do contexto inicial e do problema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Conclusão prática e chamada para deliberação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Demonstração das evidências e complicações técnicas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07caa5f83d8f3d4781d8b0882c60533a.png" id="161" name="Google Shape;16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62" name="Google Shape;162;p1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Arquitetura dos Slides Mestres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4286250" y="868680"/>
            <a:ext cx="178308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PADRONIZAÇÃO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4286250" y="1177290"/>
            <a:ext cx="4572000" cy="2555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Eficiência com Slide Mestre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Slide Mestre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define o modelo global da apresentação: paleta cromática, fontes corporativas, posicionamento de logotipos e rodapés numéricos. Alterar o mestre atualiza todos os slides instantaneamente, assegurando integridade estética.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4286250" y="339471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4400550" y="35433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4766310" y="350901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Configurar o mestre antes de criar conteúdos previne retrabalho e desalinhamentos entre telas.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04502e31bfcc61d1ae2d058b1a1d4681.png" id="173" name="Google Shape;17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27d872b1-bade-442a-b977-63815cf1024a/img_85a9291778da12e7368ed4643db54514.png" id="174" name="Google Shape;17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75" name="Google Shape;175;p16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Tratamento e Inserção de Imagens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28575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Fotografias Autênticas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Priorize registros nítidos que demonstrem contextos reais de tecnologia, processos de trabalho ou objetos físicos específicos.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465201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Ícones Vetoriais Padronizados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Empregue ícones de mesmo traço e estilo para sintetizar ideias, facilitando a memorização imediata sem gerar poluição visual.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fdf99c8936a9d5c9a6c6f150948f3412.png" id="183" name="Google Shape;18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184" name="Google Shape;184;p17"/>
          <p:cNvSpPr/>
          <p:nvPr/>
        </p:nvSpPr>
        <p:spPr>
          <a:xfrm>
            <a:off x="285750" y="20345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Áudio e Vídeo com Propósito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285750" y="2731770"/>
            <a:ext cx="133731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MULTIMÍDIA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285750" y="3040380"/>
            <a:ext cx="857250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Inserção de Mídias Dinâmicas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Vídeos e gravações de áudio devem enriquecer o discurso técnico, não atuar como distrações sonoras. Utilize trechos curtos de até 60 segundos, configure execução ao clique do apresentador e verifique previamente codecs compatíveis e volume do auditório.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Comunicação Visual na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85750" y="8001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Vídeo: converta dados técnicos em narrativas.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8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3040" y="1360170"/>
            <a:ext cx="6217920" cy="3497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0dd42718f3103d765b1d6162e47f4df9.png" id="200" name="Google Shape;2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Tabelas e Vínculos de Planilhas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285750" y="868680"/>
            <a:ext cx="147447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INTEGRAÇÃO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285750" y="1177290"/>
            <a:ext cx="4572000" cy="2555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Incorporação vs. Vínculo Dinâmico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Ao transferir tabelas ou gráficos da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planilha eletrônica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para o slide, podemos colar como imagem estática ou como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objeto vinculado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 O vínculo atualiza o slide automaticamente caso os números da planilha sofram alterações na fonte original.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285750" y="339471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400050" y="35433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765810" y="350901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Objetos vinculados requerem que os arquivos continuem armazenados no mesmo caminho de diretório.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01ae884b50196b45e8e76703181d27bd.png" id="212" name="Google Shape;2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27d872b1-bade-442a-b977-63815cf1024a/img_a411cb5747f7bccdd74d8e71a35a6d71.png" id="213" name="Google Shape;2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0010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14" name="Google Shape;214;p2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Hipertextos e Navegação Não Linear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285750" y="299466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Navegação Interna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Hiperlinks entre slides criam sumários interativos e permitem saltar diretamente para anexos técnicos quando a plateia fizer perguntas detalhadas.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4652010" y="299466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Referências Externas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Links direcionados para artigos, manuais e repositórios comprovam fontes técnicas e dão respaldo à fala profissional sem carregar os slides.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Verificação: Vínculo Dinâmico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Colar uma tabela vinculada à planilha original significa que qualquer alteração nos dados da planilha pode atualizar o slide.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Verificação: Vínculo Dinâmico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Colar uma tabela vinculada à planilha original significa que qualquer alteração nos dados da planilha pode atualizar o slide.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457200" y="3657600"/>
            <a:ext cx="82296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937260" y="3771900"/>
            <a:ext cx="76352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O vínculo dinâmico lê as informações diretamente da fonte do arquivo de planilha associado.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4149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cdf793cf42e5b5434836b66e1b8d2da9.png" id="248" name="Google Shape;2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49" name="Google Shape;249;p2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Transições e Animações Sóbrias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285750" y="868680"/>
            <a:ext cx="253746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CONTROLE DE EXIBIÇÃO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285750" y="1177290"/>
            <a:ext cx="4572000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Regra de Ouro da Moderação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Animações e transições servem unicamente para conduzir o ritmo de leitura. Efeitos mirabolantes, giros em 3D e sons espalhafatosos desviam o foco técnico e infantilizam comunicações profissionais.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285750" y="313182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400050" y="32804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765810" y="324612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Prefira transições suaves, como 'Esmaecer', com duração breve entre 0,3 e 0,5 segundo.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d28538b7b8e665dcd33153b9ce0f3eae.png" id="260" name="Google Shape;26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27d872b1-bade-442a-b977-63815cf1024a/img_21dd3d405b7f86ae4b81bc1f0916a7bb.png" id="261" name="Google Shape;26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62" name="Google Shape;262;p24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Modo Apresentador e Notas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28575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Visão do Orador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modo apresentador exibe o cronômetro, a previsão do próximo slide e anotações técnicas em tela privada, mantendo o controle total da fala.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465201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Visão do Auditório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público contempla apenas o slide limpo e impactante, preservando o sigilo de dados de apoio e garantindo transmissão profissional.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2788daef998fae5e60ed32a6b46d2338.png" id="270" name="Google Shape;27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71" name="Google Shape;271;p2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Oratória e Postura Profissional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285750" y="868680"/>
            <a:ext cx="228600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COMUNICAÇÃO ORAL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285750" y="1177290"/>
            <a:ext cx="45720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Slides Não Substitui Você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Os slides são apoios visuais periféricos. O emissor da mensagem é você: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Mantenha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contato visual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com todos os quadrantes do auditório.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Evite virar as costas para ler a tela de projeção.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Adote postura ereta, gesticulação natural e tom seguro.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67ed4e97ba786fa5685bd8bdf470bce7.png" id="279" name="Google Shape;27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27d872b1-bade-442a-b977-63815cf1024a/img_f8bcf3c7aa4cfb009b9e17773f2a7cae.png" id="280" name="Google Shape;28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81" name="Google Shape;281;p26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Elementos da Comunicação nos Slides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28575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Emissor e Canal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orador (emissor) utiliza a voz aliada aos slides e ao projetor (canal de transmissão) para transmitir a mensagem técnica.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4652010" y="300609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Receptor e Feedback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público (receptor) decodifica símbolos visuais e orais. Perguntas e olhares atentos constituem o feedback do processo.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4c7c488ea52bfd5ebca21ea25158d339.png" id="289" name="Google Shape;28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90" name="Google Shape;290;p2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Ruído e Sobrecarga Cognitiva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7"/>
          <p:cNvSpPr/>
          <p:nvPr/>
        </p:nvSpPr>
        <p:spPr>
          <a:xfrm>
            <a:off x="285750" y="868680"/>
            <a:ext cx="228600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COMUNICAÇÃO ORAL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285750" y="1177290"/>
            <a:ext cx="4572000" cy="2555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Eliminando Interferências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Na teoria da comunicação,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ruído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é qualquer elemento que atrapalhe a recepção da mensagem. Em apresentações, parágrafos densos, fontes minúsculas, contrastes fracos e animações frenéticas geram sobrecarga cognitiva severa.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285750" y="339471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7"/>
          <p:cNvSpPr/>
          <p:nvPr/>
        </p:nvSpPr>
        <p:spPr>
          <a:xfrm>
            <a:off x="400050" y="35433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765810" y="350901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Se a plateia precisa se esforçar para decifrar a tela, ela deixará de prestar atenção na sua fala.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26f527eb7e6f2eab15458d4d374e40e1.png" id="301" name="Google Shape;30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02" name="Google Shape;302;p28"/>
          <p:cNvSpPr/>
          <p:nvPr/>
        </p:nvSpPr>
        <p:spPr>
          <a:xfrm>
            <a:off x="3714750" y="140589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Conectando Todo o Curso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3714750" y="2034540"/>
            <a:ext cx="51435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Chegamos ao ponto alto da nossa formação em TIC: conectar hardware, redes, segurança, editoração de textos, planilhas analíticas e apresentações em uma única competência profissional coesa.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7bc19e0b2b6f6e7f009226ddea59a987.png" id="309" name="Google Shape;30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27d872b1-bade-442a-b977-63815cf1024a/img_5f27a3680f038bc74598a8dfc24c7a50.png" id="310" name="Google Shape;31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27d872b1-bade-442a-b977-63815cf1024a/img_a310e3bcc934eef43f7d21b76266be6d.png" id="311" name="Google Shape;31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27d872b1-bade-442a-b977-63815cf1024a/img_0dc084f6ad772b9197a04adbe505bcc7.png" id="312" name="Google Shape;31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313" name="Google Shape;313;p2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Síntese dos Recursos de TIC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28575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Hardware e SO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Processadores, memórias e gestão de arquivos no SO.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Redes e Nuvem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Navegação, pesquisa, e-mails e colaboração remota.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468630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Segurança e LGPD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Senhas, backups e conformidade com privacidade.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Suíte de Escritório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Textos, planilhas com fórmulas e apresentações.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9bae61b5b17c8a5e1765c6a4797e0636.png" id="323" name="Google Shape;32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24" name="Google Shape;324;p3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Direito Digital e Ética em Mídias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0"/>
          <p:cNvSpPr/>
          <p:nvPr/>
        </p:nvSpPr>
        <p:spPr>
          <a:xfrm>
            <a:off x="285750" y="868680"/>
            <a:ext cx="193167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CULTURA DIGITAL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0"/>
          <p:cNvSpPr/>
          <p:nvPr/>
        </p:nvSpPr>
        <p:spPr>
          <a:xfrm>
            <a:off x="285750" y="1177290"/>
            <a:ext cx="4572000" cy="2555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Propriedade Intelectual e Fontes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Todo conteúdo publicado em ambientes digitais deve respeitar as normas de direitos autorais e as licenças de uso (como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Creative Commons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). Reproduzir imagens, vídeos ou trechos sem referenciar a fonte configura plágio e infração ética.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0"/>
          <p:cNvSpPr/>
          <p:nvPr/>
        </p:nvSpPr>
        <p:spPr>
          <a:xfrm>
            <a:off x="285750" y="339471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0"/>
          <p:cNvSpPr/>
          <p:nvPr/>
        </p:nvSpPr>
        <p:spPr>
          <a:xfrm>
            <a:off x="400050" y="35433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765810" y="350901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Sempre credite criadores e utilize bancos de dados e repositórios com licenças livres autorizadas.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888490060fcf4acb1d8fe2cdfec5ff87.png" id="335" name="Google Shape;33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27d872b1-bade-442a-b977-63815cf1024a/img_3a9ba5b75bb230a7864f1bcceea730c4.png" id="336" name="Google Shape;33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0010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37" name="Google Shape;337;p3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Segurança e Proteção de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1"/>
          <p:cNvSpPr/>
          <p:nvPr/>
        </p:nvSpPr>
        <p:spPr>
          <a:xfrm>
            <a:off x="285750" y="299466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Proteção Conforme a LGPD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Apresentações públicas jamais devem exibir dados pessoais sensíveis, como CPF, senhas ou prontuários de clientes sem consentimento formal.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1"/>
          <p:cNvSpPr/>
          <p:nvPr/>
        </p:nvSpPr>
        <p:spPr>
          <a:xfrm>
            <a:off x="4652010" y="299466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Controle de Compartilhamento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Ao disponibilizar slides na nuvem, regule as permissões entre 'Visualizador' e 'Editor' para evitar exclusões acidentais ou vazamentos indevidos.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Práticas Éticas e Seguras em TIC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2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Selecione as afirmativas que representam práticas éticas e seguras segundo a BNCC e a LGPD (mais de uma opção está correta):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2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2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Verificar as licenças de direitos autorais antes de veicular imagens e músicas em apresentações públicas.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2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2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Ocultar ou anonimizar dados pessoais sensíveis antes de projetar planilhas para audiências externas.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2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2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Utilizar imagens aleatórias encontradas em motores de busca sem checar a autoria, pois tudo na web é livre.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2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2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Disponibilizar apresentações com link público editável para qualquer pessoa sem controle de versões.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Práticas Éticas e Seguras em TIC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3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Selecione as afirmativas que representam práticas éticas e seguras segundo a BNCC e a LGPD (mais de uma opção está correta):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Verificar as licenças de direitos autorais antes de veicular imagens e músicas em apresentações públicas.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Ocultar ou anonimizar dados pessoais sensíveis antes de projetar planilhas para audiências externas.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Utilizar imagens aleatórias encontradas em motores de busca sem checar a autoria, pois tudo na web é livre.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Disponibilizar apresentações com link público editável para qualquer pessoa sem controle de versões.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3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59ccd41b791f25aaa74b51cdfde583a5.png" id="378" name="Google Shape;37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79" name="Google Shape;379;p3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Desafios Socioemocionais Digitais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285750" y="868680"/>
            <a:ext cx="193167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CULTURA DIGITAL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285750" y="1177290"/>
            <a:ext cx="4572000" cy="2555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Convivência e Empatia Online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cultura digital exige maturidade emocional. A mediação de conflitos em grupos de trabalho virtuais, o respeito a diferentes opiniões técnicas e o combate ativo a atitudes tóxicas ou assédio digital são indispensáveis no mercado moderno.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285750" y="339471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/>
          <p:nvPr/>
        </p:nvSpPr>
        <p:spPr>
          <a:xfrm>
            <a:off x="400050" y="35433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765810" y="350901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Comunicação assertiva e escuta ativa previnem mal-entendidos gerados pela ausência do tom de voz no texto.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5"/>
          <p:cNvSpPr/>
          <p:nvPr/>
        </p:nvSpPr>
        <p:spPr>
          <a:xfrm>
            <a:off x="17145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5"/>
          <p:cNvSpPr/>
          <p:nvPr/>
        </p:nvSpPr>
        <p:spPr>
          <a:xfrm>
            <a:off x="237744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5"/>
          <p:cNvSpPr/>
          <p:nvPr/>
        </p:nvSpPr>
        <p:spPr>
          <a:xfrm>
            <a:off x="457200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5"/>
          <p:cNvSpPr/>
          <p:nvPr/>
        </p:nvSpPr>
        <p:spPr>
          <a:xfrm>
            <a:off x="677799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Projeto Final Integrador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5"/>
          <p:cNvSpPr/>
          <p:nvPr/>
        </p:nvSpPr>
        <p:spPr>
          <a:xfrm>
            <a:off x="285750" y="1371600"/>
            <a:ext cx="1977390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 Texto Técnico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Redigir relatório com introdução, fundamentação e normas da ABNT.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5"/>
          <p:cNvSpPr/>
          <p:nvPr/>
        </p:nvSpPr>
        <p:spPr>
          <a:xfrm>
            <a:off x="2491740" y="1371600"/>
            <a:ext cx="1977390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 Planilha Analítica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Estruturar fórmulas, filtros e consolidar gráficos precisos.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5"/>
          <p:cNvSpPr/>
          <p:nvPr/>
        </p:nvSpPr>
        <p:spPr>
          <a:xfrm>
            <a:off x="4686300" y="1371600"/>
            <a:ext cx="1977390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 Slides Multimídia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Criar apresentação sintética vinculando dados e recursos visuais.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5"/>
          <p:cNvSpPr/>
          <p:nvPr/>
        </p:nvSpPr>
        <p:spPr>
          <a:xfrm>
            <a:off x="6892290" y="1371600"/>
            <a:ext cx="1977390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 Sustentação Oral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Defender o projeto com oratória firme, segurança ética e empatia.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20004eac9f21fb611d89e70098fce5d3.png" id="404" name="Google Shape;40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405" name="Google Shape;405;p36"/>
          <p:cNvSpPr/>
          <p:nvPr/>
        </p:nvSpPr>
        <p:spPr>
          <a:xfrm>
            <a:off x="285750" y="216027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Fluxo de Integração de Software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6"/>
          <p:cNvSpPr/>
          <p:nvPr/>
        </p:nvSpPr>
        <p:spPr>
          <a:xfrm>
            <a:off x="285750" y="2857500"/>
            <a:ext cx="147447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INTEGRAÇÃO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6"/>
          <p:cNvSpPr/>
          <p:nvPr/>
        </p:nvSpPr>
        <p:spPr>
          <a:xfrm>
            <a:off x="285750" y="3166110"/>
            <a:ext cx="85725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Ciclo Completo da Informação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Os dados brutos nascem na pesquisa web confiável, estruturam-se no processamento da planilha eletrônica, transformam-se em documentação formal no editor de textos e culminam em síntese executiva no editor de apresentações.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Consolidação de Conceitos Integrados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7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Slide Mestre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7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Hipertexto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7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Vínculo Dinâmico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7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Ruído de Comunicação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7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Modelo estrutural que padroniza fontes, cores e elementos em todos os slides.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7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Qualquer excesso visual ou distração que prejudica o entendimento da mensagem.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7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Elemento clicável que direciona para outros slides ou fontes externas da web.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7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Conexão que atualiza gráficos no slide sempre que a planilha original muda.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Consolidação de Conceitos Integrados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8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8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Slide Mestre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8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Hipertexto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8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Vínculo Dinâmico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8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Ruído de Comunicação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8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Modelo estrutural que padroniza fontes, cores e elementos em todos os slides.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8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Qualquer excesso visual ou distração que prejudica o entendimento da mensagem.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8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Elemento clicável que direciona para outros slides ou fontes externas da web.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8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Conexão que atualiza gráficos no slide sempre que a planilha original muda.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p38"/>
          <p:cNvCxnSpPr/>
          <p:nvPr/>
        </p:nvCxnSpPr>
        <p:spPr>
          <a:xfrm flipH="1" rot="10800000">
            <a:off x="2571750" y="1600200"/>
            <a:ext cx="994410" cy="22860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38"/>
          <p:cNvCxnSpPr/>
          <p:nvPr/>
        </p:nvCxnSpPr>
        <p:spPr>
          <a:xfrm>
            <a:off x="2571750" y="2537460"/>
            <a:ext cx="994410" cy="891540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38"/>
          <p:cNvCxnSpPr/>
          <p:nvPr/>
        </p:nvCxnSpPr>
        <p:spPr>
          <a:xfrm>
            <a:off x="2571750" y="3451860"/>
            <a:ext cx="994410" cy="891540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38"/>
          <p:cNvCxnSpPr/>
          <p:nvPr/>
        </p:nvCxnSpPr>
        <p:spPr>
          <a:xfrm flipH="1" rot="10800000">
            <a:off x="2571750" y="2514600"/>
            <a:ext cx="994410" cy="1851660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38"/>
          <p:cNvSpPr/>
          <p:nvPr/>
        </p:nvSpPr>
        <p:spPr>
          <a:xfrm>
            <a:off x="3394710" y="14287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8"/>
          <p:cNvSpPr/>
          <p:nvPr/>
        </p:nvSpPr>
        <p:spPr>
          <a:xfrm>
            <a:off x="3394710" y="32575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8"/>
          <p:cNvSpPr/>
          <p:nvPr/>
        </p:nvSpPr>
        <p:spPr>
          <a:xfrm>
            <a:off x="3394710" y="41719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8"/>
          <p:cNvSpPr/>
          <p:nvPr/>
        </p:nvSpPr>
        <p:spPr>
          <a:xfrm>
            <a:off x="3394710" y="2343150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77d5bfe801c259c39988fa40f0923c43.png" id="452" name="Google Shape;45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53" name="Google Shape;453;p3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Critérios de Avaliação do Projeto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9"/>
          <p:cNvSpPr/>
          <p:nvPr/>
        </p:nvSpPr>
        <p:spPr>
          <a:xfrm>
            <a:off x="285750" y="868680"/>
            <a:ext cx="205740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AVALIAÇÃO GERAL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9"/>
          <p:cNvSpPr/>
          <p:nvPr/>
        </p:nvSpPr>
        <p:spPr>
          <a:xfrm>
            <a:off x="285750" y="1177290"/>
            <a:ext cx="457200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Que Torna a Apresentação Eficaz?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Consistência: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dados e fórmulas sem erros.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Design: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legibilidade e equilíbrio estético.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Oratória: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clareza, tempo e domínio temático.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9"/>
          <p:cNvSpPr/>
          <p:nvPr/>
        </p:nvSpPr>
        <p:spPr>
          <a:xfrm>
            <a:off x="285750" y="362331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9"/>
          <p:cNvSpPr/>
          <p:nvPr/>
        </p:nvSpPr>
        <p:spPr>
          <a:xfrm>
            <a:off x="400050" y="37719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9"/>
          <p:cNvSpPr/>
          <p:nvPr/>
        </p:nvSpPr>
        <p:spPr>
          <a:xfrm>
            <a:off x="765810" y="373761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A boa apresentação gera clareza e permite decisões técnicas.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5930bdec91f67e87c38db868276ed09d.png" id="464" name="Google Shape;46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27d872b1-bade-442a-b977-63815cf1024a/img_64cda17cc3071e62e1225e2be8be7f82.png" id="465" name="Google Shape;46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66" name="Google Shape;466;p40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Síntese dos Resultados do Curso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0"/>
          <p:cNvSpPr/>
          <p:nvPr/>
        </p:nvSpPr>
        <p:spPr>
          <a:xfrm>
            <a:off x="28575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Domínio Instrumental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Operação fluida de computadores, proteção de sistemas, uso inteligente da internet e domínio avançado de softwares de escritório.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0"/>
          <p:cNvSpPr/>
          <p:nvPr/>
        </p:nvSpPr>
        <p:spPr>
          <a:xfrm>
            <a:off x="465201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Postura e Cidadania Digital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Capacidade de colaborar em equipe, comunicar informações complexas com empatia, agir eticamente e liderar transformações no trabalho.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88f2cf22d50efe57d124336ea25cb3a9.png" id="474" name="Google Shape;47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27d872b1-bade-442a-b977-63815cf1024a/img_0032e6ef2b229e1addbe5306efb455d0.png" id="475" name="Google Shape;475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oundRect">
            <a:avLst>
              <a:gd fmla="val 6250" name="adj"/>
            </a:avLst>
          </a:prstGeom>
          <a:noFill/>
          <a:ln>
            <a:noFill/>
          </a:ln>
        </p:spPr>
      </p:pic>
      <p:sp>
        <p:nvSpPr>
          <p:cNvPr id="476" name="Google Shape;476;p4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Debate: Tecnologia e Conexão Humana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1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o domínio das ferramentas de TIC e o cuidado socioemocional com a comunicação visual transformam um estudante em um profissional diferenciado no mercado contemporâneo?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88f2cf22d50efe57d124336ea25cb3a9.png" id="483" name="Google Shape;48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sp>
        <p:nvSpPr>
          <p:cNvPr id="484" name="Google Shape;484;p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Debate: Tecnologia e Conexão Humana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2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Domínio técnico em TICs garante eficiência e precisão operacional.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Sensibilidade socioemocional e design visual asseguram empatia e clareza.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união técnica e humana evita retrabalho, reduz conflitos e gera liderança.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27d872b1-bade-442a-b977-63815cf1024a/img_74db676abbf9321227487417a15623c8.png" id="492" name="Google Shape;49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493" name="Google Shape;493;p4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Avaliação Final de TIC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3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é a principal função do Slide Mestre em um editor de apresentações profissional?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3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Por que objetos vinculados entre planilha e slide são vantajosos em relatórios dinâmicos?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3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Como a legislação vigente (LGPD) e a ética digital devem orientar a publicação de conteúdos?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Avaliação Final de TIC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4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Garantir padronização visual consistente (fontes, cores e elementos) em toda a sequência de slides.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4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Porque atualizam automaticamente os gráficos e dados no slide assim que a planilha original é modificada.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4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Respeitando direitos autorais com citação de fontes e resguardando dados pessoais contra divulgação indevida.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