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5143500" cx="9144000"/>
  <p:notesSz cx="5143500" cy="9144000"/>
  <p:embeddedFontLst>
    <p:embeddedFont>
      <p:font typeface="Lexend"/>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schemas.openxmlformats.org/officeDocument/2006/relationships/font" Target="fonts/Lexend-bold.fntdata"/><Relationship Id="rId25" Type="http://schemas.openxmlformats.org/officeDocument/2006/relationships/slide" Target="slides/slide21.xml"/><Relationship Id="rId47" Type="http://schemas.openxmlformats.org/officeDocument/2006/relationships/font" Target="fonts/Lexend-regular.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22.png"/><Relationship Id="rId5"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5.jpg"/><Relationship Id="rId5"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hyperlink" Target="http://www.youtube.com/watch?v=hmeUFrg5fz4" TargetMode="External"/><Relationship Id="rId5" Type="http://schemas.openxmlformats.org/officeDocument/2006/relationships/image" Target="../media/image3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3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jp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jpg"/><Relationship Id="rId4" Type="http://schemas.openxmlformats.org/officeDocument/2006/relationships/image" Target="../media/image4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jp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jpg"/><Relationship Id="rId4" Type="http://schemas.openxmlformats.org/officeDocument/2006/relationships/image" Target="../media/image5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jpg"/><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jpg"/><Relationship Id="rId4" Type="http://schemas.openxmlformats.org/officeDocument/2006/relationships/image" Target="../media/image7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jpg"/><Relationship Id="rId4" Type="http://schemas.openxmlformats.org/officeDocument/2006/relationships/image" Target="../media/image63.png"/><Relationship Id="rId5" Type="http://schemas.openxmlformats.org/officeDocument/2006/relationships/image" Target="../media/image6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jpg"/><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jpg"/><Relationship Id="rId4" Type="http://schemas.openxmlformats.org/officeDocument/2006/relationships/image" Target="../media/image74.png"/><Relationship Id="rId5" Type="http://schemas.openxmlformats.org/officeDocument/2006/relationships/image" Target="../media/image7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jp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pic>
        <p:nvPicPr>
          <p:cNvPr descr="/home/forge/chalkie-production-workers-2/releases/77424486/backend/storage/app/render-specs/022eb815-9090-4bd7-8537-9223371fc075/img_9d73f9842adaec43f913d0804ab0c5e3.png" id="16" name="Google Shape;16;p3"/>
          <p:cNvPicPr preferRelativeResize="0"/>
          <p:nvPr/>
        </p:nvPicPr>
        <p:blipFill rotWithShape="1">
          <a:blip r:embed="rId4">
            <a:alphaModFix/>
          </a:blip>
          <a:srcRect b="0" l="0" r="0" t="0"/>
          <a:stretch/>
        </p:blipFill>
        <p:spPr>
          <a:xfrm>
            <a:off x="937260" y="742950"/>
            <a:ext cx="3657600" cy="3657600"/>
          </a:xfrm>
          <a:prstGeom prst="roundRect">
            <a:avLst>
              <a:gd fmla="val 3750" name="adj"/>
            </a:avLst>
          </a:prstGeom>
          <a:noFill/>
          <a:ln>
            <a:noFill/>
          </a:ln>
        </p:spPr>
      </p:pic>
      <p:sp>
        <p:nvSpPr>
          <p:cNvPr id="17" name="Google Shape;17;p3"/>
          <p:cNvSpPr/>
          <p:nvPr/>
        </p:nvSpPr>
        <p:spPr>
          <a:xfrm>
            <a:off x="4914900" y="868680"/>
            <a:ext cx="3829050" cy="181965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3240"/>
              <a:buFont typeface="Lexend"/>
              <a:buNone/>
            </a:pPr>
            <a:r>
              <a:rPr b="1" i="0" lang="en-US" sz="3240" u="none" cap="none" strike="noStrike">
                <a:solidFill>
                  <a:srgbClr val="E8C85A"/>
                </a:solidFill>
                <a:latin typeface="Lexend"/>
                <a:ea typeface="Lexend"/>
                <a:cs typeface="Lexend"/>
                <a:sym typeface="Lexend"/>
              </a:rPr>
              <a:t>Editor de Planilhas: Organização e Fórmulas</a:t>
            </a:r>
            <a:endParaRPr b="0" i="0" sz="3240" u="none" cap="none" strike="noStrike">
              <a:solidFill>
                <a:schemeClr val="dk1"/>
              </a:solidFill>
              <a:latin typeface="Calibri"/>
              <a:ea typeface="Calibri"/>
              <a:cs typeface="Calibri"/>
              <a:sym typeface="Calibri"/>
            </a:endParaRPr>
          </a:p>
        </p:txBody>
      </p:sp>
      <p:sp>
        <p:nvSpPr>
          <p:cNvPr id="18" name="Google Shape;18;p3"/>
          <p:cNvSpPr/>
          <p:nvPr/>
        </p:nvSpPr>
        <p:spPr>
          <a:xfrm>
            <a:off x="4914900" y="3086100"/>
            <a:ext cx="3829050" cy="95554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Domine o processamento de dados e cálculos operacionais no ambiente profissional.</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 name="Shape 23"/>
        <p:cNvGrpSpPr/>
        <p:nvPr/>
      </p:nvGrpSpPr>
      <p:grpSpPr>
        <a:xfrm>
          <a:off x="0" y="0"/>
          <a:ext cx="0" cy="0"/>
          <a:chOff x="0" y="0"/>
          <a:chExt cx="0" cy="0"/>
        </a:xfrm>
      </p:grpSpPr>
      <p:pic>
        <p:nvPicPr>
          <p:cNvPr descr="/home/forge/chalkie-production-workers-2/releases/77424486/backend/storage/app/render-specs/022eb815-9090-4bd7-8537-9223371fc075/img_7c3a39500a5460c4746897e07d9f9837.png" id="24" name="Google Shape;24;p4"/>
          <p:cNvPicPr preferRelativeResize="0"/>
          <p:nvPr/>
        </p:nvPicPr>
        <p:blipFill rotWithShape="1">
          <a:blip r:embed="rId4">
            <a:alphaModFix/>
          </a:blip>
          <a:srcRect b="0" l="0" r="0" t="0"/>
          <a:stretch/>
        </p:blipFill>
        <p:spPr>
          <a:xfrm>
            <a:off x="5657850" y="0"/>
            <a:ext cx="3486150" cy="5143500"/>
          </a:xfrm>
          <a:prstGeom prst="roundRect">
            <a:avLst>
              <a:gd fmla="val 3934" name="adj"/>
            </a:avLst>
          </a:prstGeom>
          <a:noFill/>
          <a:ln>
            <a:noFill/>
          </a:ln>
        </p:spPr>
      </p:pic>
      <p:sp>
        <p:nvSpPr>
          <p:cNvPr id="25" name="Google Shape;25;p4"/>
          <p:cNvSpPr/>
          <p:nvPr/>
        </p:nvSpPr>
        <p:spPr>
          <a:xfrm>
            <a:off x="285750" y="1405890"/>
            <a:ext cx="5143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O Poder Invisível dos Dados</a:t>
            </a:r>
            <a:endParaRPr b="0" i="0" sz="2880" u="none" cap="none" strike="noStrike">
              <a:solidFill>
                <a:schemeClr val="dk1"/>
              </a:solidFill>
              <a:latin typeface="Calibri"/>
              <a:ea typeface="Calibri"/>
              <a:cs typeface="Calibri"/>
              <a:sym typeface="Calibri"/>
            </a:endParaRPr>
          </a:p>
        </p:txBody>
      </p:sp>
      <p:sp>
        <p:nvSpPr>
          <p:cNvPr id="26" name="Google Shape;26;p4"/>
          <p:cNvSpPr/>
          <p:nvPr/>
        </p:nvSpPr>
        <p:spPr>
          <a:xfrm>
            <a:off x="285750" y="2034540"/>
            <a:ext cx="5143500" cy="153162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Você sabia que um simples erro em uma única célula de planilha já gerou um prejuízo de mais de seis bilhões de dólares em um banco internacional? Como pequenas fórmulas decidem o destino de empresas inteiras?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 name="Shape 31"/>
        <p:cNvGrpSpPr/>
        <p:nvPr/>
      </p:nvGrpSpPr>
      <p:grpSpPr>
        <a:xfrm>
          <a:off x="0" y="0"/>
          <a:ext cx="0" cy="0"/>
          <a:chOff x="0" y="0"/>
          <a:chExt cx="0" cy="0"/>
        </a:xfrm>
      </p:grpSpPr>
      <p:pic>
        <p:nvPicPr>
          <p:cNvPr descr="/home/forge/chalkie-production-workers-2/releases/77424486/backend/storage/app/render-specs/022eb815-9090-4bd7-8537-9223371fc075/img_a97fb8e6b5a934dac6851179003b773a.png" id="32" name="Google Shape;32;p5"/>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33" name="Google Shape;33;p5"/>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Objetivos da Aula</a:t>
            </a:r>
            <a:endParaRPr b="0" i="0" sz="2880" u="none" cap="none" strike="noStrike">
              <a:solidFill>
                <a:schemeClr val="dk1"/>
              </a:solidFill>
              <a:latin typeface="Calibri"/>
              <a:ea typeface="Calibri"/>
              <a:cs typeface="Calibri"/>
              <a:sym typeface="Calibri"/>
            </a:endParaRPr>
          </a:p>
        </p:txBody>
      </p:sp>
      <p:sp>
        <p:nvSpPr>
          <p:cNvPr id="34" name="Google Shape;34;p5"/>
          <p:cNvSpPr/>
          <p:nvPr/>
        </p:nvSpPr>
        <p:spPr>
          <a:xfrm>
            <a:off x="285750" y="868680"/>
            <a:ext cx="88011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METAS</a:t>
            </a:r>
            <a:endParaRPr b="0" i="0" sz="1080" u="none" cap="none" strike="noStrike">
              <a:solidFill>
                <a:schemeClr val="dk1"/>
              </a:solidFill>
              <a:latin typeface="Calibri"/>
              <a:ea typeface="Calibri"/>
              <a:cs typeface="Calibri"/>
              <a:sym typeface="Calibri"/>
            </a:endParaRPr>
          </a:p>
        </p:txBody>
      </p:sp>
      <p:sp>
        <p:nvSpPr>
          <p:cNvPr id="35" name="Google Shape;35;p5"/>
          <p:cNvSpPr/>
          <p:nvPr/>
        </p:nvSpPr>
        <p:spPr>
          <a:xfrm>
            <a:off x="285750" y="1177290"/>
            <a:ext cx="45720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Ao término desta aula, você será capaz de:</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Estruturar e formatar</a:t>
            </a:r>
            <a:r>
              <a:rPr b="0" i="0" lang="en-US" sz="1620" u="none" cap="none" strike="noStrike">
                <a:solidFill>
                  <a:srgbClr val="E8E4DF"/>
                </a:solidFill>
                <a:latin typeface="Lexend"/>
                <a:ea typeface="Lexend"/>
                <a:cs typeface="Lexend"/>
                <a:sym typeface="Lexend"/>
              </a:rPr>
              <a:t> tabelas operacionais identificando endereços e tipos de dados.</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Aplicar fórmulas e funções</a:t>
            </a:r>
            <a:r>
              <a:rPr b="0" i="0" lang="en-US" sz="1620" u="none" cap="none" strike="noStrike">
                <a:solidFill>
                  <a:srgbClr val="E8E4DF"/>
                </a:solidFill>
                <a:latin typeface="Lexend"/>
                <a:ea typeface="Lexend"/>
                <a:cs typeface="Lexend"/>
                <a:sym typeface="Lexend"/>
              </a:rPr>
              <a:t> matemáticas, estatísticas e lógicas para automatizar análises.</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Organizar, filtrar e exportar</a:t>
            </a:r>
            <a:r>
              <a:rPr b="0" i="0" lang="en-US" sz="1620" u="none" cap="none" strike="noStrike">
                <a:solidFill>
                  <a:srgbClr val="E8E4DF"/>
                </a:solidFill>
                <a:latin typeface="Lexend"/>
                <a:ea typeface="Lexend"/>
                <a:cs typeface="Lexend"/>
                <a:sym typeface="Lexend"/>
              </a:rPr>
              <a:t> dados com segurança para tomada de decisões técnicas.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 name="Shape 40"/>
        <p:cNvGrpSpPr/>
        <p:nvPr/>
      </p:nvGrpSpPr>
      <p:grpSpPr>
        <a:xfrm>
          <a:off x="0" y="0"/>
          <a:ext cx="0" cy="0"/>
          <a:chOff x="0" y="0"/>
          <a:chExt cx="0" cy="0"/>
        </a:xfrm>
      </p:grpSpPr>
      <p:pic>
        <p:nvPicPr>
          <p:cNvPr descr="/home/forge/chalkie-production-workers-2/releases/77424486/backend/storage/app/render-specs/022eb815-9090-4bd7-8537-9223371fc075/img_125394d3c998c07f159dc2a0a0e42414.jpg" id="41" name="Google Shape;41;p6"/>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42" name="Google Shape;42;p6"/>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Recapitulação: Textos Técnicos</a:t>
            </a:r>
            <a:endParaRPr b="0" i="0" sz="2880" u="none" cap="none" strike="noStrike">
              <a:solidFill>
                <a:schemeClr val="dk1"/>
              </a:solidFill>
              <a:latin typeface="Calibri"/>
              <a:ea typeface="Calibri"/>
              <a:cs typeface="Calibri"/>
              <a:sym typeface="Calibri"/>
            </a:endParaRPr>
          </a:p>
        </p:txBody>
      </p:sp>
      <p:sp>
        <p:nvSpPr>
          <p:cNvPr id="43" name="Google Shape;43;p6"/>
          <p:cNvSpPr/>
          <p:nvPr/>
        </p:nvSpPr>
        <p:spPr>
          <a:xfrm>
            <a:off x="285750" y="868680"/>
            <a:ext cx="106299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REVISÃO</a:t>
            </a:r>
            <a:endParaRPr b="0" i="0" sz="1080" u="none" cap="none" strike="noStrike">
              <a:solidFill>
                <a:schemeClr val="dk1"/>
              </a:solidFill>
              <a:latin typeface="Calibri"/>
              <a:ea typeface="Calibri"/>
              <a:cs typeface="Calibri"/>
              <a:sym typeface="Calibri"/>
            </a:endParaRPr>
          </a:p>
        </p:txBody>
      </p:sp>
      <p:sp>
        <p:nvSpPr>
          <p:cNvPr id="44" name="Google Shape;44;p6"/>
          <p:cNvSpPr/>
          <p:nvPr/>
        </p:nvSpPr>
        <p:spPr>
          <a:xfrm>
            <a:off x="285750" y="1177290"/>
            <a:ext cx="4572000" cy="95554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Na aula anterior, estudamos </a:t>
            </a:r>
            <a:r>
              <a:rPr b="1" i="0" lang="en-US" sz="1620" u="none" cap="none" strike="noStrike">
                <a:solidFill>
                  <a:srgbClr val="E8E4DF"/>
                </a:solidFill>
                <a:latin typeface="Lexend"/>
                <a:ea typeface="Lexend"/>
                <a:cs typeface="Lexend"/>
                <a:sym typeface="Lexend"/>
              </a:rPr>
              <a:t>redação técnica e empresarial</a:t>
            </a:r>
            <a:r>
              <a:rPr b="0" i="0" lang="en-US" sz="1620" u="none" cap="none" strike="noStrike">
                <a:solidFill>
                  <a:srgbClr val="E8E4DF"/>
                </a:solidFill>
                <a:latin typeface="Lexend"/>
                <a:ea typeface="Lexend"/>
                <a:cs typeface="Lexend"/>
                <a:sym typeface="Lexend"/>
              </a:rPr>
              <a:t>:</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Objetividade e Clareza:</a:t>
            </a:r>
            <a:r>
              <a:rPr b="0" i="0" lang="en-US" sz="1620" u="none" cap="none" strike="noStrike">
                <a:solidFill>
                  <a:srgbClr val="E8E4DF"/>
                </a:solidFill>
                <a:latin typeface="Lexend"/>
                <a:ea typeface="Lexend"/>
                <a:cs typeface="Lexend"/>
                <a:sym typeface="Lexend"/>
              </a:rPr>
              <a:t> eliminar ambiguidades no memorando e relatório.</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Estruturação ABNT:</a:t>
            </a:r>
            <a:r>
              <a:rPr b="0" i="0" lang="en-US" sz="1620" u="none" cap="none" strike="noStrike">
                <a:solidFill>
                  <a:srgbClr val="E8E4DF"/>
                </a:solidFill>
                <a:latin typeface="Lexend"/>
                <a:ea typeface="Lexend"/>
                <a:cs typeface="Lexend"/>
                <a:sym typeface="Lexend"/>
              </a:rPr>
              <a:t> padronização formal e hierarquia de títulos.</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Transição de Dados:</a:t>
            </a:r>
            <a:r>
              <a:rPr b="0" i="0" lang="en-US" sz="1620" u="none" cap="none" strike="noStrike">
                <a:solidFill>
                  <a:srgbClr val="E8E4DF"/>
                </a:solidFill>
                <a:latin typeface="Lexend"/>
                <a:ea typeface="Lexend"/>
                <a:cs typeface="Lexend"/>
                <a:sym typeface="Lexend"/>
              </a:rPr>
              <a:t> relatórios técnicos frequentemente dependem de quadros e tabelas para sustentar conclusões com fatos mensuráveis.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 name="Shape 49"/>
        <p:cNvGrpSpPr/>
        <p:nvPr/>
      </p:nvGrpSpPr>
      <p:grpSpPr>
        <a:xfrm>
          <a:off x="0" y="0"/>
          <a:ext cx="0" cy="0"/>
          <a:chOff x="0" y="0"/>
          <a:chExt cx="0" cy="0"/>
        </a:xfrm>
      </p:grpSpPr>
      <p:pic>
        <p:nvPicPr>
          <p:cNvPr descr="/home/forge/chalkie-production-workers-2/releases/77424486/backend/storage/app/render-specs/022eb815-9090-4bd7-8537-9223371fc075/img_74db676abbf9321227487417a15623c8.png" id="50" name="Google Shape;50;p7"/>
          <p:cNvPicPr preferRelativeResize="0"/>
          <p:nvPr/>
        </p:nvPicPr>
        <p:blipFill rotWithShape="1">
          <a:blip r:embed="rId4">
            <a:alphaModFix/>
          </a:blip>
          <a:srcRect b="0" l="0" r="0" t="0"/>
          <a:stretch/>
        </p:blipFill>
        <p:spPr>
          <a:xfrm>
            <a:off x="7349490" y="-91440"/>
            <a:ext cx="1828800" cy="1828800"/>
          </a:xfrm>
          <a:prstGeom prst="roundRect">
            <a:avLst>
              <a:gd fmla="val 7500" name="adj"/>
            </a:avLst>
          </a:prstGeom>
          <a:noFill/>
          <a:ln>
            <a:noFill/>
          </a:ln>
        </p:spPr>
      </p:pic>
      <p:sp>
        <p:nvSpPr>
          <p:cNvPr id="51" name="Google Shape;51;p7"/>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Quiz: Revisão de Redação Técnica</a:t>
            </a:r>
            <a:endParaRPr b="0" i="0" sz="2880" u="none" cap="none" strike="noStrike">
              <a:solidFill>
                <a:schemeClr val="dk1"/>
              </a:solidFill>
              <a:latin typeface="Calibri"/>
              <a:ea typeface="Calibri"/>
              <a:cs typeface="Calibri"/>
              <a:sym typeface="Calibri"/>
            </a:endParaRPr>
          </a:p>
        </p:txBody>
      </p:sp>
      <p:sp>
        <p:nvSpPr>
          <p:cNvPr id="52" name="Google Shape;52;p7"/>
          <p:cNvSpPr/>
          <p:nvPr/>
        </p:nvSpPr>
        <p:spPr>
          <a:xfrm>
            <a:off x="285750" y="11430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7EB5A6"/>
              </a:buClr>
              <a:buSzPts val="1620"/>
              <a:buFont typeface="Lexend"/>
              <a:buNone/>
            </a:pPr>
            <a:r>
              <a:rPr b="1" i="0" lang="en-US" sz="1620" u="none" cap="none" strike="noStrike">
                <a:solidFill>
                  <a:srgbClr val="7EB5A6"/>
                </a:solidFill>
                <a:latin typeface="Lexend"/>
                <a:ea typeface="Lexend"/>
                <a:cs typeface="Lexend"/>
                <a:sym typeface="Lexend"/>
              </a:rPr>
              <a:t>Pergunta 1:</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Qual é a principal função de um memorando no ambiente de trabalho?</a:t>
            </a:r>
            <a:endParaRPr b="0" i="0" sz="1620" u="none" cap="none" strike="noStrike">
              <a:solidFill>
                <a:schemeClr val="dk1"/>
              </a:solidFill>
              <a:latin typeface="Calibri"/>
              <a:ea typeface="Calibri"/>
              <a:cs typeface="Calibri"/>
              <a:sym typeface="Calibri"/>
            </a:endParaRPr>
          </a:p>
        </p:txBody>
      </p:sp>
      <p:sp>
        <p:nvSpPr>
          <p:cNvPr id="53" name="Google Shape;53;p7"/>
          <p:cNvSpPr/>
          <p:nvPr/>
        </p:nvSpPr>
        <p:spPr>
          <a:xfrm>
            <a:off x="285750" y="22860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7EB5A6"/>
              </a:buClr>
              <a:buSzPts val="1620"/>
              <a:buFont typeface="Lexend"/>
              <a:buNone/>
            </a:pPr>
            <a:r>
              <a:rPr b="1" i="0" lang="en-US" sz="1620" u="none" cap="none" strike="noStrike">
                <a:solidFill>
                  <a:srgbClr val="7EB5A6"/>
                </a:solidFill>
                <a:latin typeface="Lexend"/>
                <a:ea typeface="Lexend"/>
                <a:cs typeface="Lexend"/>
                <a:sym typeface="Lexend"/>
              </a:rPr>
              <a:t>Pergunta 2:</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Por que relatórios técnicos exigem linguagem denotativa e objetiva?</a:t>
            </a:r>
            <a:endParaRPr b="0" i="0" sz="1620" u="none" cap="none" strike="noStrike">
              <a:solidFill>
                <a:schemeClr val="dk1"/>
              </a:solidFill>
              <a:latin typeface="Calibri"/>
              <a:ea typeface="Calibri"/>
              <a:cs typeface="Calibri"/>
              <a:sym typeface="Calibri"/>
            </a:endParaRPr>
          </a:p>
        </p:txBody>
      </p:sp>
      <p:sp>
        <p:nvSpPr>
          <p:cNvPr id="54" name="Google Shape;54;p7"/>
          <p:cNvSpPr/>
          <p:nvPr/>
        </p:nvSpPr>
        <p:spPr>
          <a:xfrm>
            <a:off x="285750" y="34290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7EB5A6"/>
              </a:buClr>
              <a:buSzPts val="1620"/>
              <a:buFont typeface="Lexend"/>
              <a:buNone/>
            </a:pPr>
            <a:r>
              <a:rPr b="1" i="0" lang="en-US" sz="1620" u="none" cap="none" strike="noStrike">
                <a:solidFill>
                  <a:srgbClr val="7EB5A6"/>
                </a:solidFill>
                <a:latin typeface="Lexend"/>
                <a:ea typeface="Lexend"/>
                <a:cs typeface="Lexend"/>
                <a:sym typeface="Lexend"/>
              </a:rPr>
              <a:t>Pergunta 3:</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Como tabelas e dados complementam a escrita de relatórios técnicos?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8"/>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Quiz: Revisão de Redação Técnica</a:t>
            </a:r>
            <a:endParaRPr b="0" i="0" sz="2880" u="none" cap="none" strike="noStrike">
              <a:solidFill>
                <a:schemeClr val="dk1"/>
              </a:solidFill>
              <a:latin typeface="Calibri"/>
              <a:ea typeface="Calibri"/>
              <a:cs typeface="Calibri"/>
              <a:sym typeface="Calibri"/>
            </a:endParaRPr>
          </a:p>
        </p:txBody>
      </p:sp>
      <p:sp>
        <p:nvSpPr>
          <p:cNvPr id="61" name="Google Shape;61;p8"/>
          <p:cNvSpPr/>
          <p:nvPr/>
        </p:nvSpPr>
        <p:spPr>
          <a:xfrm>
            <a:off x="285750" y="11430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7EB5A6"/>
              </a:buClr>
              <a:buSzPts val="1620"/>
              <a:buFont typeface="Lexend"/>
              <a:buNone/>
            </a:pPr>
            <a:r>
              <a:rPr b="1" i="0" lang="en-US" sz="1620" u="none" cap="none" strike="noStrike">
                <a:solidFill>
                  <a:srgbClr val="7EB5A6"/>
                </a:solidFill>
                <a:latin typeface="Lexend"/>
                <a:ea typeface="Lexend"/>
                <a:cs typeface="Lexend"/>
                <a:sym typeface="Lexend"/>
              </a:rPr>
              <a:t>Resposta 1:</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Promover a comunicação interna ágil entre setores da mesma instituição.</a:t>
            </a:r>
            <a:endParaRPr b="0" i="0" sz="1620" u="none" cap="none" strike="noStrike">
              <a:solidFill>
                <a:schemeClr val="dk1"/>
              </a:solidFill>
              <a:latin typeface="Calibri"/>
              <a:ea typeface="Calibri"/>
              <a:cs typeface="Calibri"/>
              <a:sym typeface="Calibri"/>
            </a:endParaRPr>
          </a:p>
        </p:txBody>
      </p:sp>
      <p:sp>
        <p:nvSpPr>
          <p:cNvPr id="62" name="Google Shape;62;p8"/>
          <p:cNvSpPr/>
          <p:nvPr/>
        </p:nvSpPr>
        <p:spPr>
          <a:xfrm>
            <a:off x="285750" y="22860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7EB5A6"/>
              </a:buClr>
              <a:buSzPts val="1620"/>
              <a:buFont typeface="Lexend"/>
              <a:buNone/>
            </a:pPr>
            <a:r>
              <a:rPr b="1" i="0" lang="en-US" sz="1620" u="none" cap="none" strike="noStrike">
                <a:solidFill>
                  <a:srgbClr val="7EB5A6"/>
                </a:solidFill>
                <a:latin typeface="Lexend"/>
                <a:ea typeface="Lexend"/>
                <a:cs typeface="Lexend"/>
                <a:sym typeface="Lexend"/>
              </a:rPr>
              <a:t>Resposta 2:</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Para transmitir fatos e dados sem ambiguidades ou interpretações pessoais.</a:t>
            </a:r>
            <a:endParaRPr b="0" i="0" sz="1620" u="none" cap="none" strike="noStrike">
              <a:solidFill>
                <a:schemeClr val="dk1"/>
              </a:solidFill>
              <a:latin typeface="Calibri"/>
              <a:ea typeface="Calibri"/>
              <a:cs typeface="Calibri"/>
              <a:sym typeface="Calibri"/>
            </a:endParaRPr>
          </a:p>
        </p:txBody>
      </p:sp>
      <p:sp>
        <p:nvSpPr>
          <p:cNvPr id="63" name="Google Shape;63;p8"/>
          <p:cNvSpPr/>
          <p:nvPr/>
        </p:nvSpPr>
        <p:spPr>
          <a:xfrm>
            <a:off x="285750" y="34290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7EB5A6"/>
              </a:buClr>
              <a:buSzPts val="1620"/>
              <a:buFont typeface="Lexend"/>
              <a:buNone/>
            </a:pPr>
            <a:r>
              <a:rPr b="1" i="0" lang="en-US" sz="1620" u="none" cap="none" strike="noStrike">
                <a:solidFill>
                  <a:srgbClr val="7EB5A6"/>
                </a:solidFill>
                <a:latin typeface="Lexend"/>
                <a:ea typeface="Lexend"/>
                <a:cs typeface="Lexend"/>
                <a:sym typeface="Lexend"/>
              </a:rPr>
              <a:t>Resposta 3:</a:t>
            </a:r>
            <a:endParaRPr b="0" i="0" sz="162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Fornecendo evidências quantitativas claras para validar as análises do documento.</a:t>
            </a:r>
            <a:endParaRPr b="0" i="0" sz="1620" u="none" cap="none" strike="noStrike">
              <a:solidFill>
                <a:schemeClr val="dk1"/>
              </a:solidFill>
              <a:latin typeface="Calibri"/>
              <a:ea typeface="Calibri"/>
              <a:cs typeface="Calibri"/>
              <a:sym typeface="Calibri"/>
            </a:endParaRPr>
          </a:p>
        </p:txBody>
      </p:sp>
      <p:sp>
        <p:nvSpPr>
          <p:cNvPr id="64" name="Google Shape;64;p8"/>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3333"/>
              </a:lnSpc>
              <a:spcBef>
                <a:spcPts val="0"/>
              </a:spcBef>
              <a:spcAft>
                <a:spcPts val="0"/>
              </a:spcAft>
              <a:buClr>
                <a:srgbClr val="E8E4DF"/>
              </a:buClr>
              <a:buSzPts val="3600"/>
              <a:buFont typeface="Lexend"/>
              <a:buNone/>
            </a:pPr>
            <a:r>
              <a:rPr b="0" i="0" lang="en-US" sz="3600" u="none" cap="none" strike="noStrike">
                <a:solidFill>
                  <a:srgbClr val="E8E4D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pic>
        <p:nvPicPr>
          <p:cNvPr descr="/home/forge/chalkie-production-workers-2/releases/77424486/backend/storage/app/render-specs/022eb815-9090-4bd7-8537-9223371fc075/img_2c860628ba207de2fd6f7f1334d4f83e.png" id="70" name="Google Shape;70;p9"/>
          <p:cNvPicPr preferRelativeResize="0"/>
          <p:nvPr/>
        </p:nvPicPr>
        <p:blipFill rotWithShape="1">
          <a:blip r:embed="rId4">
            <a:alphaModFix/>
          </a:blip>
          <a:srcRect b="0" l="0" r="0" t="0"/>
          <a:stretch/>
        </p:blipFill>
        <p:spPr>
          <a:xfrm>
            <a:off x="285750" y="1600200"/>
            <a:ext cx="1977390" cy="1714500"/>
          </a:xfrm>
          <a:prstGeom prst="roundRect">
            <a:avLst>
              <a:gd fmla="val 8000" name="adj"/>
            </a:avLst>
          </a:prstGeom>
          <a:noFill/>
          <a:ln>
            <a:noFill/>
          </a:ln>
        </p:spPr>
      </p:pic>
      <p:pic>
        <p:nvPicPr>
          <p:cNvPr descr="/home/forge/chalkie-production-workers-2/releases/77424486/backend/storage/app/render-specs/022eb815-9090-4bd7-8537-9223371fc075/img_e1eca18ca1409a13dedbda80ba2a66ee.png" id="71" name="Google Shape;71;p9"/>
          <p:cNvPicPr preferRelativeResize="0"/>
          <p:nvPr/>
        </p:nvPicPr>
        <p:blipFill rotWithShape="1">
          <a:blip r:embed="rId5">
            <a:alphaModFix/>
          </a:blip>
          <a:srcRect b="0" l="0" r="0" t="0"/>
          <a:stretch/>
        </p:blipFill>
        <p:spPr>
          <a:xfrm>
            <a:off x="2491740" y="914400"/>
            <a:ext cx="1977390" cy="1714500"/>
          </a:xfrm>
          <a:prstGeom prst="roundRect">
            <a:avLst>
              <a:gd fmla="val 8000" name="adj"/>
            </a:avLst>
          </a:prstGeom>
          <a:noFill/>
          <a:ln>
            <a:noFill/>
          </a:ln>
        </p:spPr>
      </p:pic>
      <p:pic>
        <p:nvPicPr>
          <p:cNvPr descr="/home/forge/chalkie-production-workers-2/releases/77424486/backend/storage/app/render-specs/022eb815-9090-4bd7-8537-9223371fc075/img_18477a7e7257251b11bf28faad1f6e34.png" id="72" name="Google Shape;72;p9"/>
          <p:cNvPicPr preferRelativeResize="0"/>
          <p:nvPr/>
        </p:nvPicPr>
        <p:blipFill rotWithShape="1">
          <a:blip r:embed="rId6">
            <a:alphaModFix/>
          </a:blip>
          <a:srcRect b="0" l="0" r="0" t="0"/>
          <a:stretch/>
        </p:blipFill>
        <p:spPr>
          <a:xfrm>
            <a:off x="4686300" y="1600200"/>
            <a:ext cx="1977390" cy="1714500"/>
          </a:xfrm>
          <a:prstGeom prst="roundRect">
            <a:avLst>
              <a:gd fmla="val 8000" name="adj"/>
            </a:avLst>
          </a:prstGeom>
          <a:noFill/>
          <a:ln>
            <a:noFill/>
          </a:ln>
        </p:spPr>
      </p:pic>
      <p:pic>
        <p:nvPicPr>
          <p:cNvPr descr="/home/forge/chalkie-production-workers-2/releases/77424486/backend/storage/app/render-specs/022eb815-9090-4bd7-8537-9223371fc075/img_61b02168784eb3542a6616a492cc27b4.png" id="73" name="Google Shape;73;p9"/>
          <p:cNvPicPr preferRelativeResize="0"/>
          <p:nvPr/>
        </p:nvPicPr>
        <p:blipFill rotWithShape="1">
          <a:blip r:embed="rId7">
            <a:alphaModFix/>
          </a:blip>
          <a:srcRect b="0" l="0" r="0" t="0"/>
          <a:stretch/>
        </p:blipFill>
        <p:spPr>
          <a:xfrm>
            <a:off x="6892290" y="914400"/>
            <a:ext cx="1977390" cy="1714500"/>
          </a:xfrm>
          <a:prstGeom prst="roundRect">
            <a:avLst>
              <a:gd fmla="val 8000" name="adj"/>
            </a:avLst>
          </a:prstGeom>
          <a:noFill/>
          <a:ln>
            <a:noFill/>
          </a:ln>
        </p:spPr>
      </p:pic>
      <p:sp>
        <p:nvSpPr>
          <p:cNvPr id="74" name="Google Shape;74;p9"/>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Vocabulário Essencial da Planilha</a:t>
            </a:r>
            <a:endParaRPr b="0" i="0" sz="2880" u="none" cap="none" strike="noStrike">
              <a:solidFill>
                <a:schemeClr val="dk1"/>
              </a:solidFill>
              <a:latin typeface="Calibri"/>
              <a:ea typeface="Calibri"/>
              <a:cs typeface="Calibri"/>
              <a:sym typeface="Calibri"/>
            </a:endParaRPr>
          </a:p>
        </p:txBody>
      </p:sp>
      <p:sp>
        <p:nvSpPr>
          <p:cNvPr id="75" name="Google Shape;75;p9"/>
          <p:cNvSpPr/>
          <p:nvPr/>
        </p:nvSpPr>
        <p:spPr>
          <a:xfrm>
            <a:off x="285750" y="3429000"/>
            <a:ext cx="1977390" cy="1243584"/>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Célula</a:t>
            </a:r>
            <a:r>
              <a:rPr b="0" i="0" lang="en-US" sz="1620" u="none" cap="none" strike="noStrike">
                <a:solidFill>
                  <a:srgbClr val="E8E4DF"/>
                </a:solidFill>
                <a:latin typeface="Lexend"/>
                <a:ea typeface="Lexend"/>
                <a:cs typeface="Lexend"/>
                <a:sym typeface="Lexend"/>
              </a:rPr>
              <a:t>: Interseção de linha e coluna, identificada por coordenadas únicas.</a:t>
            </a:r>
            <a:endParaRPr b="0" i="0" sz="1620" u="none" cap="none" strike="noStrike">
              <a:solidFill>
                <a:schemeClr val="dk1"/>
              </a:solidFill>
              <a:latin typeface="Calibri"/>
              <a:ea typeface="Calibri"/>
              <a:cs typeface="Calibri"/>
              <a:sym typeface="Calibri"/>
            </a:endParaRPr>
          </a:p>
        </p:txBody>
      </p:sp>
      <p:sp>
        <p:nvSpPr>
          <p:cNvPr id="76" name="Google Shape;76;p9"/>
          <p:cNvSpPr/>
          <p:nvPr/>
        </p:nvSpPr>
        <p:spPr>
          <a:xfrm>
            <a:off x="2491740" y="2743200"/>
            <a:ext cx="1977390" cy="1243584"/>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Fórmula</a:t>
            </a:r>
            <a:r>
              <a:rPr b="0" i="0" lang="en-US" sz="1620" u="none" cap="none" strike="noStrike">
                <a:solidFill>
                  <a:srgbClr val="E8E4DF"/>
                </a:solidFill>
                <a:latin typeface="Lexend"/>
                <a:ea typeface="Lexend"/>
                <a:cs typeface="Lexend"/>
                <a:sym typeface="Lexend"/>
              </a:rPr>
              <a:t>: Expressão definida pelo usuário, iniciada com '=' para cálculos.</a:t>
            </a:r>
            <a:endParaRPr b="0" i="0" sz="1620" u="none" cap="none" strike="noStrike">
              <a:solidFill>
                <a:schemeClr val="dk1"/>
              </a:solidFill>
              <a:latin typeface="Calibri"/>
              <a:ea typeface="Calibri"/>
              <a:cs typeface="Calibri"/>
              <a:sym typeface="Calibri"/>
            </a:endParaRPr>
          </a:p>
        </p:txBody>
      </p:sp>
      <p:sp>
        <p:nvSpPr>
          <p:cNvPr id="77" name="Google Shape;77;p9"/>
          <p:cNvSpPr/>
          <p:nvPr/>
        </p:nvSpPr>
        <p:spPr>
          <a:xfrm>
            <a:off x="4686300" y="3429000"/>
            <a:ext cx="1977390" cy="1243584"/>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Função</a:t>
            </a:r>
            <a:r>
              <a:rPr b="0" i="0" lang="en-US" sz="1620" u="none" cap="none" strike="noStrike">
                <a:solidFill>
                  <a:srgbClr val="E8E4DF"/>
                </a:solidFill>
                <a:latin typeface="Lexend"/>
                <a:ea typeface="Lexend"/>
                <a:cs typeface="Lexend"/>
                <a:sym typeface="Lexend"/>
              </a:rPr>
              <a:t>: Comando predefinido que processa cálculos complexos automaticamente.</a:t>
            </a:r>
            <a:endParaRPr b="0" i="0" sz="1620" u="none" cap="none" strike="noStrike">
              <a:solidFill>
                <a:schemeClr val="dk1"/>
              </a:solidFill>
              <a:latin typeface="Calibri"/>
              <a:ea typeface="Calibri"/>
              <a:cs typeface="Calibri"/>
              <a:sym typeface="Calibri"/>
            </a:endParaRPr>
          </a:p>
        </p:txBody>
      </p:sp>
      <p:sp>
        <p:nvSpPr>
          <p:cNvPr id="78" name="Google Shape;78;p9"/>
          <p:cNvSpPr/>
          <p:nvPr/>
        </p:nvSpPr>
        <p:spPr>
          <a:xfrm>
            <a:off x="6892290" y="2743200"/>
            <a:ext cx="1977390" cy="1243584"/>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Filtro</a:t>
            </a:r>
            <a:r>
              <a:rPr b="0" i="0" lang="en-US" sz="1620" u="none" cap="none" strike="noStrike">
                <a:solidFill>
                  <a:srgbClr val="E8E4DF"/>
                </a:solidFill>
                <a:latin typeface="Lexend"/>
                <a:ea typeface="Lexend"/>
                <a:cs typeface="Lexend"/>
                <a:sym typeface="Lexend"/>
              </a:rPr>
              <a:t>: Ferramenta que exibe registros conforme parâmetros definidos.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pic>
        <p:nvPicPr>
          <p:cNvPr descr="/home/forge/chalkie-production-workers-2/releases/77424486/backend/storage/app/render-specs/022eb815-9090-4bd7-8537-9223371fc075/img_e6c3fd612cf58ddf001641eb921f4178.png" id="84" name="Google Shape;84;p10"/>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85" name="Google Shape;85;p10"/>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Anatomia da Planilha: Linhas e Colunas</a:t>
            </a:r>
            <a:endParaRPr b="0" i="0" sz="2880" u="none" cap="none" strike="noStrike">
              <a:solidFill>
                <a:schemeClr val="dk1"/>
              </a:solidFill>
              <a:latin typeface="Calibri"/>
              <a:ea typeface="Calibri"/>
              <a:cs typeface="Calibri"/>
              <a:sym typeface="Calibri"/>
            </a:endParaRPr>
          </a:p>
        </p:txBody>
      </p:sp>
      <p:sp>
        <p:nvSpPr>
          <p:cNvPr id="86" name="Google Shape;86;p10"/>
          <p:cNvSpPr/>
          <p:nvPr/>
        </p:nvSpPr>
        <p:spPr>
          <a:xfrm>
            <a:off x="285750" y="800100"/>
            <a:ext cx="4572000" cy="114757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Estrutura Bidimensional</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Dados organizados em matriz ortogonal:</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Colunas:</a:t>
            </a:r>
            <a:r>
              <a:rPr b="0" i="0" lang="en-US" sz="1620" u="none" cap="none" strike="noStrike">
                <a:solidFill>
                  <a:srgbClr val="E8E4DF"/>
                </a:solidFill>
                <a:latin typeface="Lexend"/>
                <a:ea typeface="Lexend"/>
                <a:cs typeface="Lexend"/>
                <a:sym typeface="Lexend"/>
              </a:rPr>
              <a:t> letras (A, B, C... Z, AA...).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Linhas:</a:t>
            </a:r>
            <a:r>
              <a:rPr b="0" i="0" lang="en-US" sz="1620" u="none" cap="none" strike="noStrike">
                <a:solidFill>
                  <a:srgbClr val="E8E4DF"/>
                </a:solidFill>
                <a:latin typeface="Lexend"/>
                <a:ea typeface="Lexend"/>
                <a:cs typeface="Lexend"/>
                <a:sym typeface="Lexend"/>
              </a:rPr>
              <a:t> números (1, 2, 3...).</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Célula:</a:t>
            </a:r>
            <a:r>
              <a:rPr b="0" i="0" lang="en-US" sz="1620" u="none" cap="none" strike="noStrike">
                <a:solidFill>
                  <a:srgbClr val="E8E4DF"/>
                </a:solidFill>
                <a:latin typeface="Lexend"/>
                <a:ea typeface="Lexend"/>
                <a:cs typeface="Lexend"/>
                <a:sym typeface="Lexend"/>
              </a:rPr>
              <a:t> intersecção de linha e coluna, definindo coordenada fixa.</a:t>
            </a:r>
            <a:endParaRPr b="0" i="0" sz="1980" u="none" cap="none" strike="noStrike">
              <a:solidFill>
                <a:schemeClr val="dk1"/>
              </a:solidFill>
              <a:latin typeface="Calibri"/>
              <a:ea typeface="Calibri"/>
              <a:cs typeface="Calibri"/>
              <a:sym typeface="Calibri"/>
            </a:endParaRPr>
          </a:p>
        </p:txBody>
      </p:sp>
      <p:sp>
        <p:nvSpPr>
          <p:cNvPr id="87" name="Google Shape;87;p10"/>
          <p:cNvSpPr/>
          <p:nvPr/>
        </p:nvSpPr>
        <p:spPr>
          <a:xfrm>
            <a:off x="285750" y="2994660"/>
            <a:ext cx="4572000" cy="1125601"/>
          </a:xfrm>
          <a:prstGeom prst="roundRect">
            <a:avLst>
              <a:gd fmla="val 8124" name="adj"/>
            </a:avLst>
          </a:prstGeom>
          <a:solidFill>
            <a:srgbClr val="FAC873">
              <a:alpha val="14902"/>
            </a:srgbClr>
          </a:solidFill>
          <a:ln cap="flat" cmpd="sng" w="11425">
            <a:solidFill>
              <a:srgbClr val="573B0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0"/>
          <p:cNvSpPr/>
          <p:nvPr/>
        </p:nvSpPr>
        <p:spPr>
          <a:xfrm>
            <a:off x="400050" y="314325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89" name="Google Shape;89;p10"/>
          <p:cNvSpPr/>
          <p:nvPr/>
        </p:nvSpPr>
        <p:spPr>
          <a:xfrm>
            <a:off x="765810" y="3108960"/>
            <a:ext cx="39776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FAC775"/>
              </a:buClr>
              <a:buSzPts val="1440"/>
              <a:buFont typeface="Lexend"/>
              <a:buNone/>
            </a:pPr>
            <a:r>
              <a:rPr b="1" i="0" lang="en-US" sz="1440" u="none" cap="none" strike="noStrike">
                <a:solidFill>
                  <a:srgbClr val="FAC775"/>
                </a:solidFill>
                <a:latin typeface="Lexend"/>
                <a:ea typeface="Lexend"/>
                <a:cs typeface="Lexend"/>
                <a:sym typeface="Lexend"/>
              </a:rPr>
              <a:t>Ponto-chave</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FAC775"/>
              </a:buClr>
              <a:buSzPts val="1620"/>
              <a:buFont typeface="Lexend"/>
              <a:buNone/>
            </a:pPr>
            <a:r>
              <a:rPr b="0" i="0" lang="en-US" sz="1620" u="none" cap="none" strike="noStrike">
                <a:solidFill>
                  <a:srgbClr val="FAC775"/>
                </a:solidFill>
                <a:latin typeface="Lexend"/>
                <a:ea typeface="Lexend"/>
                <a:cs typeface="Lexend"/>
                <a:sym typeface="Lexend"/>
              </a:rPr>
              <a:t>Letra-número define o endereço único de cada dado.</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pic>
        <p:nvPicPr>
          <p:cNvPr descr="/home/forge/chalkie-production-workers-2/releases/77424486/backend/storage/app/render-specs/022eb815-9090-4bd7-8537-9223371fc075/img_b3e3dd5125e2cc3fa6a011d465a1bdea.png" id="95" name="Google Shape;95;p11"/>
          <p:cNvPicPr preferRelativeResize="0"/>
          <p:nvPr/>
        </p:nvPicPr>
        <p:blipFill rotWithShape="1">
          <a:blip r:embed="rId4">
            <a:alphaModFix/>
          </a:blip>
          <a:srcRect b="0" l="0" r="0" t="0"/>
          <a:stretch/>
        </p:blipFill>
        <p:spPr>
          <a:xfrm>
            <a:off x="285750" y="800100"/>
            <a:ext cx="3829050" cy="4057650"/>
          </a:xfrm>
          <a:prstGeom prst="roundRect">
            <a:avLst>
              <a:gd fmla="val 3582" name="adj"/>
            </a:avLst>
          </a:prstGeom>
          <a:noFill/>
          <a:ln>
            <a:noFill/>
          </a:ln>
        </p:spPr>
      </p:pic>
      <p:sp>
        <p:nvSpPr>
          <p:cNvPr id="96" name="Google Shape;96;p11"/>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Endereçamento de Células</a:t>
            </a:r>
            <a:endParaRPr b="0" i="0" sz="2880" u="none" cap="none" strike="noStrike">
              <a:solidFill>
                <a:schemeClr val="dk1"/>
              </a:solidFill>
              <a:latin typeface="Calibri"/>
              <a:ea typeface="Calibri"/>
              <a:cs typeface="Calibri"/>
              <a:sym typeface="Calibri"/>
            </a:endParaRPr>
          </a:p>
        </p:txBody>
      </p:sp>
      <p:sp>
        <p:nvSpPr>
          <p:cNvPr id="97" name="Google Shape;97;p11"/>
          <p:cNvSpPr/>
          <p:nvPr/>
        </p:nvSpPr>
        <p:spPr>
          <a:xfrm>
            <a:off x="4286250" y="800100"/>
            <a:ext cx="457200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Coordenadas Alfanuméricas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O endereço absoluto ou relativo de uma célula sempre coloca a letra da coluna antes do número da linha.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Célula B4:</a:t>
            </a:r>
            <a:r>
              <a:rPr b="0" i="0" lang="en-US" sz="1620" u="none" cap="none" strike="noStrike">
                <a:solidFill>
                  <a:srgbClr val="E8E4DF"/>
                </a:solidFill>
                <a:latin typeface="Lexend"/>
                <a:ea typeface="Lexend"/>
                <a:cs typeface="Lexend"/>
                <a:sym typeface="Lexend"/>
              </a:rPr>
              <a:t> coluna B, linha 4.</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Célula D12:</a:t>
            </a:r>
            <a:r>
              <a:rPr b="0" i="0" lang="en-US" sz="1620" u="none" cap="none" strike="noStrike">
                <a:solidFill>
                  <a:srgbClr val="E8E4DF"/>
                </a:solidFill>
                <a:latin typeface="Lexend"/>
                <a:ea typeface="Lexend"/>
                <a:cs typeface="Lexend"/>
                <a:sym typeface="Lexend"/>
              </a:rPr>
              <a:t> coluna D, linha 12.</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Intervalo B2:B10:</a:t>
            </a:r>
            <a:r>
              <a:rPr b="0" i="0" lang="en-US" sz="1620" u="none" cap="none" strike="noStrike">
                <a:solidFill>
                  <a:srgbClr val="E8E4DF"/>
                </a:solidFill>
                <a:latin typeface="Lexend"/>
                <a:ea typeface="Lexend"/>
                <a:cs typeface="Lexend"/>
                <a:sym typeface="Lexend"/>
              </a:rPr>
              <a:t> seleciona todas as células contínuas entre B2 e B10.</a:t>
            </a:r>
            <a:endParaRPr b="0" i="0" sz="1980" u="none" cap="none" strike="noStrike">
              <a:solidFill>
                <a:schemeClr val="dk1"/>
              </a:solidFill>
              <a:latin typeface="Calibri"/>
              <a:ea typeface="Calibri"/>
              <a:cs typeface="Calibri"/>
              <a:sym typeface="Calibri"/>
            </a:endParaRPr>
          </a:p>
        </p:txBody>
      </p:sp>
      <p:sp>
        <p:nvSpPr>
          <p:cNvPr id="98" name="Google Shape;98;p11"/>
          <p:cNvSpPr/>
          <p:nvPr/>
        </p:nvSpPr>
        <p:spPr>
          <a:xfrm>
            <a:off x="4286250" y="3509010"/>
            <a:ext cx="4572000" cy="1380744"/>
          </a:xfrm>
          <a:prstGeom prst="roundRect">
            <a:avLst>
              <a:gd fmla="val 6623" name="adj"/>
            </a:avLst>
          </a:prstGeom>
          <a:solidFill>
            <a:srgbClr val="F09696">
              <a:alpha val="14902"/>
            </a:srgbClr>
          </a:solidFill>
          <a:ln cap="flat" cmpd="sng" w="11425">
            <a:solidFill>
              <a:srgbClr val="46060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p:nvPr/>
        </p:nvSpPr>
        <p:spPr>
          <a:xfrm>
            <a:off x="4400550" y="365760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100" name="Google Shape;100;p11"/>
          <p:cNvSpPr/>
          <p:nvPr/>
        </p:nvSpPr>
        <p:spPr>
          <a:xfrm>
            <a:off x="4766310" y="3623310"/>
            <a:ext cx="3977640" cy="1152144"/>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F7C1C1"/>
              </a:buClr>
              <a:buSzPts val="1440"/>
              <a:buFont typeface="Lexend"/>
              <a:buNone/>
            </a:pPr>
            <a:r>
              <a:rPr b="1" i="0" lang="en-US" sz="1440" u="none" cap="none" strike="noStrike">
                <a:solidFill>
                  <a:srgbClr val="F7C1C1"/>
                </a:solidFill>
                <a:latin typeface="Lexend"/>
                <a:ea typeface="Lexend"/>
                <a:cs typeface="Lexend"/>
                <a:sym typeface="Lexend"/>
              </a:rPr>
              <a:t>Atenção</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F7C1C1"/>
              </a:buClr>
              <a:buSzPts val="1620"/>
              <a:buFont typeface="Lexend"/>
              <a:buNone/>
            </a:pPr>
            <a:r>
              <a:rPr b="0" i="0" lang="en-US" sz="1620" u="none" cap="none" strike="noStrike">
                <a:solidFill>
                  <a:srgbClr val="F7C1C1"/>
                </a:solidFill>
                <a:latin typeface="Lexend"/>
                <a:ea typeface="Lexend"/>
                <a:cs typeface="Lexend"/>
                <a:sym typeface="Lexend"/>
              </a:rPr>
              <a:t>Nunca inverta a ordem: referências como 4B ou 12D causam erro de sintaxe no software.</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pic>
        <p:nvPicPr>
          <p:cNvPr descr="/home/forge/chalkie-production-workers-2/releases/77424486/backend/storage/app/render-specs/022eb815-9090-4bd7-8537-9223371fc075/img_a37cc426c8884daab2098213ba0c9504.png" id="106" name="Google Shape;106;p12"/>
          <p:cNvPicPr preferRelativeResize="0"/>
          <p:nvPr/>
        </p:nvPicPr>
        <p:blipFill rotWithShape="1">
          <a:blip r:embed="rId4">
            <a:alphaModFix/>
          </a:blip>
          <a:srcRect b="0" l="0" r="0" t="0"/>
          <a:stretch/>
        </p:blipFill>
        <p:spPr>
          <a:xfrm>
            <a:off x="285750" y="811530"/>
            <a:ext cx="4194810" cy="2057400"/>
          </a:xfrm>
          <a:prstGeom prst="roundRect">
            <a:avLst>
              <a:gd fmla="val 6667" name="adj"/>
            </a:avLst>
          </a:prstGeom>
          <a:noFill/>
          <a:ln>
            <a:noFill/>
          </a:ln>
        </p:spPr>
      </p:pic>
      <p:pic>
        <p:nvPicPr>
          <p:cNvPr descr="/home/forge/chalkie-production-workers-2/releases/77424486/backend/storage/app/render-specs/022eb815-9090-4bd7-8537-9223371fc075/img_d7ffe5a035911db19fa6e131131cb8c9.jpg" id="107" name="Google Shape;107;p12"/>
          <p:cNvPicPr preferRelativeResize="0"/>
          <p:nvPr/>
        </p:nvPicPr>
        <p:blipFill rotWithShape="1">
          <a:blip r:embed="rId5">
            <a:alphaModFix/>
          </a:blip>
          <a:srcRect b="0" l="0" r="0" t="0"/>
          <a:stretch/>
        </p:blipFill>
        <p:spPr>
          <a:xfrm>
            <a:off x="4652010" y="811530"/>
            <a:ext cx="4194810" cy="2057400"/>
          </a:xfrm>
          <a:prstGeom prst="roundRect">
            <a:avLst>
              <a:gd fmla="val 6667" name="adj"/>
            </a:avLst>
          </a:prstGeom>
          <a:noFill/>
          <a:ln>
            <a:noFill/>
          </a:ln>
        </p:spPr>
      </p:pic>
      <p:sp>
        <p:nvSpPr>
          <p:cNvPr id="108" name="Google Shape;108;p12"/>
          <p:cNvSpPr/>
          <p:nvPr/>
        </p:nvSpPr>
        <p:spPr>
          <a:xfrm>
            <a:off x="285750" y="18288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Tipologia de Dados</a:t>
            </a:r>
            <a:endParaRPr b="0" i="0" sz="2880" u="none" cap="none" strike="noStrike">
              <a:solidFill>
                <a:schemeClr val="dk1"/>
              </a:solidFill>
              <a:latin typeface="Calibri"/>
              <a:ea typeface="Calibri"/>
              <a:cs typeface="Calibri"/>
              <a:sym typeface="Calibri"/>
            </a:endParaRPr>
          </a:p>
        </p:txBody>
      </p:sp>
      <p:sp>
        <p:nvSpPr>
          <p:cNvPr id="109" name="Google Shape;109;p12"/>
          <p:cNvSpPr/>
          <p:nvPr/>
        </p:nvSpPr>
        <p:spPr>
          <a:xfrm>
            <a:off x="285750" y="3006090"/>
            <a:ext cx="419481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Texto (Alfanumérico)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Utilizado para descrições, códigos e nomes. O alinhamento padrão é à </a:t>
            </a:r>
            <a:r>
              <a:rPr b="1" i="0" lang="en-US" sz="1620" u="none" cap="none" strike="noStrike">
                <a:solidFill>
                  <a:srgbClr val="E8E4DF"/>
                </a:solidFill>
                <a:latin typeface="Lexend"/>
                <a:ea typeface="Lexend"/>
                <a:cs typeface="Lexend"/>
                <a:sym typeface="Lexend"/>
              </a:rPr>
              <a:t>esquerda</a:t>
            </a:r>
            <a:r>
              <a:rPr b="0" i="0" lang="en-US" sz="1620" u="none" cap="none" strike="noStrike">
                <a:solidFill>
                  <a:srgbClr val="E8E4DF"/>
                </a:solidFill>
                <a:latin typeface="Lexend"/>
                <a:ea typeface="Lexend"/>
                <a:cs typeface="Lexend"/>
                <a:sym typeface="Lexend"/>
              </a:rPr>
              <a:t> e não permite cálculos matemáticos diretos.</a:t>
            </a:r>
            <a:endParaRPr b="0" i="0" sz="1980" u="none" cap="none" strike="noStrike">
              <a:solidFill>
                <a:schemeClr val="dk1"/>
              </a:solidFill>
              <a:latin typeface="Calibri"/>
              <a:ea typeface="Calibri"/>
              <a:cs typeface="Calibri"/>
              <a:sym typeface="Calibri"/>
            </a:endParaRPr>
          </a:p>
        </p:txBody>
      </p:sp>
      <p:sp>
        <p:nvSpPr>
          <p:cNvPr id="110" name="Google Shape;110;p12"/>
          <p:cNvSpPr/>
          <p:nvPr/>
        </p:nvSpPr>
        <p:spPr>
          <a:xfrm>
            <a:off x="4652010" y="3006090"/>
            <a:ext cx="419481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Valores Numéricos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Quantidades e medidas. Alinham-se por padrão à </a:t>
            </a:r>
            <a:r>
              <a:rPr b="1" i="0" lang="en-US" sz="1620" u="none" cap="none" strike="noStrike">
                <a:solidFill>
                  <a:srgbClr val="E8E4DF"/>
                </a:solidFill>
                <a:latin typeface="Lexend"/>
                <a:ea typeface="Lexend"/>
                <a:cs typeface="Lexend"/>
                <a:sym typeface="Lexend"/>
              </a:rPr>
              <a:t>direita</a:t>
            </a:r>
            <a:r>
              <a:rPr b="0" i="0" lang="en-US" sz="1620" u="none" cap="none" strike="noStrike">
                <a:solidFill>
                  <a:srgbClr val="E8E4DF"/>
                </a:solidFill>
                <a:latin typeface="Lexend"/>
                <a:ea typeface="Lexend"/>
                <a:cs typeface="Lexend"/>
                <a:sym typeface="Lexend"/>
              </a:rPr>
              <a:t>, permitindo operações aritméticas e ordenações lógicas.</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pic>
        <p:nvPicPr>
          <p:cNvPr descr="/home/forge/chalkie-production-workers-2/releases/77424486/backend/storage/app/render-specs/022eb815-9090-4bd7-8537-9223371fc075/img_7967579299766a1e3ba874dabc79aa90.jpg" id="116" name="Google Shape;116;p13"/>
          <p:cNvPicPr preferRelativeResize="0"/>
          <p:nvPr/>
        </p:nvPicPr>
        <p:blipFill rotWithShape="1">
          <a:blip r:embed="rId4">
            <a:alphaModFix/>
          </a:blip>
          <a:srcRect b="0" l="0" r="0" t="0"/>
          <a:stretch/>
        </p:blipFill>
        <p:spPr>
          <a:xfrm>
            <a:off x="285750" y="811530"/>
            <a:ext cx="4194810" cy="2057400"/>
          </a:xfrm>
          <a:prstGeom prst="roundRect">
            <a:avLst>
              <a:gd fmla="val 6667" name="adj"/>
            </a:avLst>
          </a:prstGeom>
          <a:noFill/>
          <a:ln>
            <a:noFill/>
          </a:ln>
        </p:spPr>
      </p:pic>
      <p:pic>
        <p:nvPicPr>
          <p:cNvPr descr="/home/forge/chalkie-production-workers-2/releases/77424486/backend/storage/app/render-specs/022eb815-9090-4bd7-8537-9223371fc075/img_3d55225a53dfe9311f254a30dfa86cb1.jpg" id="117" name="Google Shape;117;p13"/>
          <p:cNvPicPr preferRelativeResize="0"/>
          <p:nvPr/>
        </p:nvPicPr>
        <p:blipFill rotWithShape="1">
          <a:blip r:embed="rId5">
            <a:alphaModFix/>
          </a:blip>
          <a:srcRect b="0" l="0" r="0" t="0"/>
          <a:stretch/>
        </p:blipFill>
        <p:spPr>
          <a:xfrm>
            <a:off x="4652010" y="811530"/>
            <a:ext cx="4194810" cy="2057400"/>
          </a:xfrm>
          <a:prstGeom prst="roundRect">
            <a:avLst>
              <a:gd fmla="val 6667" name="adj"/>
            </a:avLst>
          </a:prstGeom>
          <a:noFill/>
          <a:ln>
            <a:noFill/>
          </a:ln>
        </p:spPr>
      </p:pic>
      <p:sp>
        <p:nvSpPr>
          <p:cNvPr id="118" name="Google Shape;118;p13"/>
          <p:cNvSpPr/>
          <p:nvPr/>
        </p:nvSpPr>
        <p:spPr>
          <a:xfrm>
            <a:off x="285750" y="18288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Formatos Especiais: Moeda e Data</a:t>
            </a:r>
            <a:endParaRPr b="0" i="0" sz="2880" u="none" cap="none" strike="noStrike">
              <a:solidFill>
                <a:schemeClr val="dk1"/>
              </a:solidFill>
              <a:latin typeface="Calibri"/>
              <a:ea typeface="Calibri"/>
              <a:cs typeface="Calibri"/>
              <a:sym typeface="Calibri"/>
            </a:endParaRPr>
          </a:p>
        </p:txBody>
      </p:sp>
      <p:sp>
        <p:nvSpPr>
          <p:cNvPr id="119" name="Google Shape;119;p13"/>
          <p:cNvSpPr/>
          <p:nvPr/>
        </p:nvSpPr>
        <p:spPr>
          <a:xfrm>
            <a:off x="285750" y="3006090"/>
            <a:ext cx="419481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Formato Moeda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Aplica o símbolo monetário (ex.: R$) e duas casas decimais fixas, garantindo rigor em cálculos financeiros e contábeis.</a:t>
            </a:r>
            <a:endParaRPr b="0" i="0" sz="1980" u="none" cap="none" strike="noStrike">
              <a:solidFill>
                <a:schemeClr val="dk1"/>
              </a:solidFill>
              <a:latin typeface="Calibri"/>
              <a:ea typeface="Calibri"/>
              <a:cs typeface="Calibri"/>
              <a:sym typeface="Calibri"/>
            </a:endParaRPr>
          </a:p>
        </p:txBody>
      </p:sp>
      <p:sp>
        <p:nvSpPr>
          <p:cNvPr id="120" name="Google Shape;120;p13"/>
          <p:cNvSpPr/>
          <p:nvPr/>
        </p:nvSpPr>
        <p:spPr>
          <a:xfrm>
            <a:off x="4652010" y="3006090"/>
            <a:ext cx="419481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Formato Data e Hora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Armazena datas como números seriais de base temporal, permitindo calcular prazos decorridos subtraindo uma data da outra.</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14"/>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Checagem: Tipos e Endereçamento</a:t>
            </a:r>
            <a:endParaRPr b="0" i="0" sz="2880" u="none" cap="none" strike="noStrike">
              <a:solidFill>
                <a:schemeClr val="dk1"/>
              </a:solidFill>
              <a:latin typeface="Calibri"/>
              <a:ea typeface="Calibri"/>
              <a:cs typeface="Calibri"/>
              <a:sym typeface="Calibri"/>
            </a:endParaRPr>
          </a:p>
        </p:txBody>
      </p:sp>
      <p:sp>
        <p:nvSpPr>
          <p:cNvPr id="127" name="Google Shape;127;p14"/>
          <p:cNvSpPr/>
          <p:nvPr/>
        </p:nvSpPr>
        <p:spPr>
          <a:xfrm>
            <a:off x="285750" y="6858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Qual das alternativas representa corretamente o endereço da célula na terceira coluna e quinta linha, e o alinhamento padrão de números?</a:t>
            </a:r>
            <a:endParaRPr b="0" i="0" sz="1620" u="none" cap="none" strike="noStrike">
              <a:solidFill>
                <a:schemeClr val="dk1"/>
              </a:solidFill>
              <a:latin typeface="Calibri"/>
              <a:ea typeface="Calibri"/>
              <a:cs typeface="Calibri"/>
              <a:sym typeface="Calibri"/>
            </a:endParaRPr>
          </a:p>
        </p:txBody>
      </p:sp>
      <p:sp>
        <p:nvSpPr>
          <p:cNvPr id="128" name="Google Shape;128;p14"/>
          <p:cNvSpPr/>
          <p:nvPr/>
        </p:nvSpPr>
        <p:spPr>
          <a:xfrm>
            <a:off x="285750" y="16573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1.</a:t>
            </a:r>
            <a:endParaRPr b="0" i="0" sz="2520" u="none" cap="none" strike="noStrike">
              <a:solidFill>
                <a:schemeClr val="dk1"/>
              </a:solidFill>
              <a:latin typeface="Calibri"/>
              <a:ea typeface="Calibri"/>
              <a:cs typeface="Calibri"/>
              <a:sym typeface="Calibri"/>
            </a:endParaRPr>
          </a:p>
        </p:txBody>
      </p:sp>
      <p:sp>
        <p:nvSpPr>
          <p:cNvPr id="129" name="Google Shape;129;p14"/>
          <p:cNvSpPr/>
          <p:nvPr/>
        </p:nvSpPr>
        <p:spPr>
          <a:xfrm>
            <a:off x="857250" y="16573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C5; alinhamento padrão à direita.</a:t>
            </a:r>
            <a:endParaRPr b="0" i="0" sz="1620" u="none" cap="none" strike="noStrike">
              <a:solidFill>
                <a:schemeClr val="dk1"/>
              </a:solidFill>
              <a:latin typeface="Calibri"/>
              <a:ea typeface="Calibri"/>
              <a:cs typeface="Calibri"/>
              <a:sym typeface="Calibri"/>
            </a:endParaRPr>
          </a:p>
        </p:txBody>
      </p:sp>
      <p:sp>
        <p:nvSpPr>
          <p:cNvPr id="130" name="Google Shape;130;p14"/>
          <p:cNvSpPr/>
          <p:nvPr/>
        </p:nvSpPr>
        <p:spPr>
          <a:xfrm>
            <a:off x="285750" y="25146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2.</a:t>
            </a:r>
            <a:endParaRPr b="0" i="0" sz="2520" u="none" cap="none" strike="noStrike">
              <a:solidFill>
                <a:schemeClr val="dk1"/>
              </a:solidFill>
              <a:latin typeface="Calibri"/>
              <a:ea typeface="Calibri"/>
              <a:cs typeface="Calibri"/>
              <a:sym typeface="Calibri"/>
            </a:endParaRPr>
          </a:p>
        </p:txBody>
      </p:sp>
      <p:sp>
        <p:nvSpPr>
          <p:cNvPr id="131" name="Google Shape;131;p14"/>
          <p:cNvSpPr/>
          <p:nvPr/>
        </p:nvSpPr>
        <p:spPr>
          <a:xfrm>
            <a:off x="857250" y="25146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E3; alinhamento padrão à direita.</a:t>
            </a:r>
            <a:endParaRPr b="0" i="0" sz="1620" u="none" cap="none" strike="noStrike">
              <a:solidFill>
                <a:schemeClr val="dk1"/>
              </a:solidFill>
              <a:latin typeface="Calibri"/>
              <a:ea typeface="Calibri"/>
              <a:cs typeface="Calibri"/>
              <a:sym typeface="Calibri"/>
            </a:endParaRPr>
          </a:p>
        </p:txBody>
      </p:sp>
      <p:sp>
        <p:nvSpPr>
          <p:cNvPr id="132" name="Google Shape;132;p14"/>
          <p:cNvSpPr/>
          <p:nvPr/>
        </p:nvSpPr>
        <p:spPr>
          <a:xfrm>
            <a:off x="285750" y="33718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3.</a:t>
            </a:r>
            <a:endParaRPr b="0" i="0" sz="2520" u="none" cap="none" strike="noStrike">
              <a:solidFill>
                <a:schemeClr val="dk1"/>
              </a:solidFill>
              <a:latin typeface="Calibri"/>
              <a:ea typeface="Calibri"/>
              <a:cs typeface="Calibri"/>
              <a:sym typeface="Calibri"/>
            </a:endParaRPr>
          </a:p>
        </p:txBody>
      </p:sp>
      <p:sp>
        <p:nvSpPr>
          <p:cNvPr id="133" name="Google Shape;133;p14"/>
          <p:cNvSpPr/>
          <p:nvPr/>
        </p:nvSpPr>
        <p:spPr>
          <a:xfrm>
            <a:off x="857250" y="33718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C5; alinhamento padrão centralizado.</a:t>
            </a:r>
            <a:endParaRPr b="0" i="0" sz="1620" u="none" cap="none" strike="noStrike">
              <a:solidFill>
                <a:schemeClr val="dk1"/>
              </a:solidFill>
              <a:latin typeface="Calibri"/>
              <a:ea typeface="Calibri"/>
              <a:cs typeface="Calibri"/>
              <a:sym typeface="Calibri"/>
            </a:endParaRPr>
          </a:p>
        </p:txBody>
      </p:sp>
      <p:sp>
        <p:nvSpPr>
          <p:cNvPr id="134" name="Google Shape;134;p14"/>
          <p:cNvSpPr/>
          <p:nvPr/>
        </p:nvSpPr>
        <p:spPr>
          <a:xfrm>
            <a:off x="285750" y="42291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4.</a:t>
            </a:r>
            <a:endParaRPr b="0" i="0" sz="2520" u="none" cap="none" strike="noStrike">
              <a:solidFill>
                <a:schemeClr val="dk1"/>
              </a:solidFill>
              <a:latin typeface="Calibri"/>
              <a:ea typeface="Calibri"/>
              <a:cs typeface="Calibri"/>
              <a:sym typeface="Calibri"/>
            </a:endParaRPr>
          </a:p>
        </p:txBody>
      </p:sp>
      <p:sp>
        <p:nvSpPr>
          <p:cNvPr id="135" name="Google Shape;135;p14"/>
          <p:cNvSpPr/>
          <p:nvPr/>
        </p:nvSpPr>
        <p:spPr>
          <a:xfrm>
            <a:off x="857250" y="42291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5C; alinhamento padrão à esquerda.</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15"/>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Checagem: Tipos e Endereçamento</a:t>
            </a:r>
            <a:endParaRPr b="0" i="0" sz="2880" u="none" cap="none" strike="noStrike">
              <a:solidFill>
                <a:schemeClr val="dk1"/>
              </a:solidFill>
              <a:latin typeface="Calibri"/>
              <a:ea typeface="Calibri"/>
              <a:cs typeface="Calibri"/>
              <a:sym typeface="Calibri"/>
            </a:endParaRPr>
          </a:p>
        </p:txBody>
      </p:sp>
      <p:sp>
        <p:nvSpPr>
          <p:cNvPr id="142" name="Google Shape;142;p15"/>
          <p:cNvSpPr/>
          <p:nvPr/>
        </p:nvSpPr>
        <p:spPr>
          <a:xfrm>
            <a:off x="285750" y="6858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Qual das alternativas representa corretamente o endereço da célula na terceira coluna e quinta linha, e o alinhamento padrão de números?</a:t>
            </a:r>
            <a:endParaRPr b="0" i="0" sz="1620" u="none" cap="none" strike="noStrike">
              <a:solidFill>
                <a:schemeClr val="dk1"/>
              </a:solidFill>
              <a:latin typeface="Calibri"/>
              <a:ea typeface="Calibri"/>
              <a:cs typeface="Calibri"/>
              <a:sym typeface="Calibri"/>
            </a:endParaRPr>
          </a:p>
        </p:txBody>
      </p:sp>
      <p:sp>
        <p:nvSpPr>
          <p:cNvPr id="143" name="Google Shape;143;p15"/>
          <p:cNvSpPr/>
          <p:nvPr/>
        </p:nvSpPr>
        <p:spPr>
          <a:xfrm>
            <a:off x="285750" y="16573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1.</a:t>
            </a:r>
            <a:endParaRPr b="0" i="0" sz="2520" u="none" cap="none" strike="noStrike">
              <a:solidFill>
                <a:schemeClr val="dk1"/>
              </a:solidFill>
              <a:latin typeface="Calibri"/>
              <a:ea typeface="Calibri"/>
              <a:cs typeface="Calibri"/>
              <a:sym typeface="Calibri"/>
            </a:endParaRPr>
          </a:p>
        </p:txBody>
      </p:sp>
      <p:sp>
        <p:nvSpPr>
          <p:cNvPr id="144" name="Google Shape;144;p15"/>
          <p:cNvSpPr/>
          <p:nvPr/>
        </p:nvSpPr>
        <p:spPr>
          <a:xfrm>
            <a:off x="857250" y="1657350"/>
            <a:ext cx="8001000" cy="685800"/>
          </a:xfrm>
          <a:prstGeom prst="roundRect">
            <a:avLst>
              <a:gd fmla="val 16667" name="adj"/>
            </a:avLst>
          </a:prstGeom>
          <a:solidFill>
            <a:srgbClr val="F4F9FC"/>
          </a:solidFill>
          <a:ln cap="flat" cmpd="sng" w="45700">
            <a:solidFill>
              <a:srgbClr val="2C6E49"/>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C5; alinhamento padrão à direita.</a:t>
            </a:r>
            <a:endParaRPr b="0" i="0" sz="1620" u="none" cap="none" strike="noStrike">
              <a:solidFill>
                <a:schemeClr val="dk1"/>
              </a:solidFill>
              <a:latin typeface="Calibri"/>
              <a:ea typeface="Calibri"/>
              <a:cs typeface="Calibri"/>
              <a:sym typeface="Calibri"/>
            </a:endParaRPr>
          </a:p>
        </p:txBody>
      </p:sp>
      <p:sp>
        <p:nvSpPr>
          <p:cNvPr id="145" name="Google Shape;145;p15"/>
          <p:cNvSpPr/>
          <p:nvPr/>
        </p:nvSpPr>
        <p:spPr>
          <a:xfrm>
            <a:off x="285750" y="25146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2.</a:t>
            </a:r>
            <a:endParaRPr b="0" i="0" sz="2520" u="none" cap="none" strike="noStrike">
              <a:solidFill>
                <a:schemeClr val="dk1"/>
              </a:solidFill>
              <a:latin typeface="Calibri"/>
              <a:ea typeface="Calibri"/>
              <a:cs typeface="Calibri"/>
              <a:sym typeface="Calibri"/>
            </a:endParaRPr>
          </a:p>
        </p:txBody>
      </p:sp>
      <p:sp>
        <p:nvSpPr>
          <p:cNvPr id="146" name="Google Shape;146;p15"/>
          <p:cNvSpPr/>
          <p:nvPr/>
        </p:nvSpPr>
        <p:spPr>
          <a:xfrm>
            <a:off x="857250" y="25146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E3; alinhamento padrão à direita.</a:t>
            </a:r>
            <a:endParaRPr b="0" i="0" sz="1620" u="none" cap="none" strike="noStrike">
              <a:solidFill>
                <a:schemeClr val="dk1"/>
              </a:solidFill>
              <a:latin typeface="Calibri"/>
              <a:ea typeface="Calibri"/>
              <a:cs typeface="Calibri"/>
              <a:sym typeface="Calibri"/>
            </a:endParaRPr>
          </a:p>
        </p:txBody>
      </p:sp>
      <p:sp>
        <p:nvSpPr>
          <p:cNvPr id="147" name="Google Shape;147;p15"/>
          <p:cNvSpPr/>
          <p:nvPr/>
        </p:nvSpPr>
        <p:spPr>
          <a:xfrm>
            <a:off x="285750" y="33718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3.</a:t>
            </a:r>
            <a:endParaRPr b="0" i="0" sz="2520" u="none" cap="none" strike="noStrike">
              <a:solidFill>
                <a:schemeClr val="dk1"/>
              </a:solidFill>
              <a:latin typeface="Calibri"/>
              <a:ea typeface="Calibri"/>
              <a:cs typeface="Calibri"/>
              <a:sym typeface="Calibri"/>
            </a:endParaRPr>
          </a:p>
        </p:txBody>
      </p:sp>
      <p:sp>
        <p:nvSpPr>
          <p:cNvPr id="148" name="Google Shape;148;p15"/>
          <p:cNvSpPr/>
          <p:nvPr/>
        </p:nvSpPr>
        <p:spPr>
          <a:xfrm>
            <a:off x="857250" y="33718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C5; alinhamento padrão centralizado.</a:t>
            </a:r>
            <a:endParaRPr b="0" i="0" sz="1620" u="none" cap="none" strike="noStrike">
              <a:solidFill>
                <a:schemeClr val="dk1"/>
              </a:solidFill>
              <a:latin typeface="Calibri"/>
              <a:ea typeface="Calibri"/>
              <a:cs typeface="Calibri"/>
              <a:sym typeface="Calibri"/>
            </a:endParaRPr>
          </a:p>
        </p:txBody>
      </p:sp>
      <p:sp>
        <p:nvSpPr>
          <p:cNvPr id="149" name="Google Shape;149;p15"/>
          <p:cNvSpPr/>
          <p:nvPr/>
        </p:nvSpPr>
        <p:spPr>
          <a:xfrm>
            <a:off x="285750" y="42291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4.</a:t>
            </a:r>
            <a:endParaRPr b="0" i="0" sz="2520" u="none" cap="none" strike="noStrike">
              <a:solidFill>
                <a:schemeClr val="dk1"/>
              </a:solidFill>
              <a:latin typeface="Calibri"/>
              <a:ea typeface="Calibri"/>
              <a:cs typeface="Calibri"/>
              <a:sym typeface="Calibri"/>
            </a:endParaRPr>
          </a:p>
        </p:txBody>
      </p:sp>
      <p:sp>
        <p:nvSpPr>
          <p:cNvPr id="150" name="Google Shape;150;p15"/>
          <p:cNvSpPr/>
          <p:nvPr/>
        </p:nvSpPr>
        <p:spPr>
          <a:xfrm>
            <a:off x="857250" y="42291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Célula 5C; alinhamento padrão à esquerda.</a:t>
            </a:r>
            <a:endParaRPr b="0" i="0" sz="1620" u="none" cap="none" strike="noStrike">
              <a:solidFill>
                <a:schemeClr val="dk1"/>
              </a:solidFill>
              <a:latin typeface="Calibri"/>
              <a:ea typeface="Calibri"/>
              <a:cs typeface="Calibri"/>
              <a:sym typeface="Calibri"/>
            </a:endParaRPr>
          </a:p>
        </p:txBody>
      </p:sp>
      <p:sp>
        <p:nvSpPr>
          <p:cNvPr id="151" name="Google Shape;151;p15"/>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3333"/>
              </a:lnSpc>
              <a:spcBef>
                <a:spcPts val="0"/>
              </a:spcBef>
              <a:spcAft>
                <a:spcPts val="0"/>
              </a:spcAft>
              <a:buClr>
                <a:srgbClr val="E8E4DF"/>
              </a:buClr>
              <a:buSzPts val="3600"/>
              <a:buFont typeface="Lexend"/>
              <a:buNone/>
            </a:pPr>
            <a:r>
              <a:rPr b="0" i="0" lang="en-US" sz="3600" u="none" cap="none" strike="noStrike">
                <a:solidFill>
                  <a:srgbClr val="E8E4D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
        <p:nvSpPr>
          <p:cNvPr id="152" name="Google Shape;152;p15"/>
          <p:cNvSpPr/>
          <p:nvPr/>
        </p:nvSpPr>
        <p:spPr>
          <a:xfrm>
            <a:off x="8721090" y="1520190"/>
            <a:ext cx="274320" cy="274320"/>
          </a:xfrm>
          <a:prstGeom prst="roundRect">
            <a:avLst>
              <a:gd fmla="val 25000" name="adj"/>
            </a:avLst>
          </a:prstGeom>
          <a:solidFill>
            <a:srgbClr val="2C6E49"/>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pic>
        <p:nvPicPr>
          <p:cNvPr descr="/home/forge/chalkie-production-workers-2/releases/77424486/backend/storage/app/render-specs/022eb815-9090-4bd7-8537-9223371fc075/img_279ed5d675a6d8a07b9ad2e956522713.png" id="158" name="Google Shape;158;p16"/>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159" name="Google Shape;159;p16"/>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Formatação Condicional Estratégica</a:t>
            </a:r>
            <a:endParaRPr b="0" i="0" sz="2880" u="none" cap="none" strike="noStrike">
              <a:solidFill>
                <a:schemeClr val="dk1"/>
              </a:solidFill>
              <a:latin typeface="Calibri"/>
              <a:ea typeface="Calibri"/>
              <a:cs typeface="Calibri"/>
              <a:sym typeface="Calibri"/>
            </a:endParaRPr>
          </a:p>
        </p:txBody>
      </p:sp>
      <p:sp>
        <p:nvSpPr>
          <p:cNvPr id="160" name="Google Shape;160;p16"/>
          <p:cNvSpPr/>
          <p:nvPr/>
        </p:nvSpPr>
        <p:spPr>
          <a:xfrm>
            <a:off x="285750" y="868680"/>
            <a:ext cx="123444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DESTAQUE</a:t>
            </a:r>
            <a:endParaRPr b="0" i="0" sz="1080" u="none" cap="none" strike="noStrike">
              <a:solidFill>
                <a:schemeClr val="dk1"/>
              </a:solidFill>
              <a:latin typeface="Calibri"/>
              <a:ea typeface="Calibri"/>
              <a:cs typeface="Calibri"/>
              <a:sym typeface="Calibri"/>
            </a:endParaRPr>
          </a:p>
        </p:txBody>
      </p:sp>
      <p:sp>
        <p:nvSpPr>
          <p:cNvPr id="161" name="Google Shape;161;p16"/>
          <p:cNvSpPr/>
          <p:nvPr/>
        </p:nvSpPr>
        <p:spPr>
          <a:xfrm>
            <a:off x="285750" y="1177290"/>
            <a:ext cx="457200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Análise Visual Imediata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 </a:t>
            </a:r>
            <a:r>
              <a:rPr b="1" i="0" lang="en-US" sz="1620" u="none" cap="none" strike="noStrike">
                <a:solidFill>
                  <a:srgbClr val="E8E4DF"/>
                </a:solidFill>
                <a:latin typeface="Lexend"/>
                <a:ea typeface="Lexend"/>
                <a:cs typeface="Lexend"/>
                <a:sym typeface="Lexend"/>
              </a:rPr>
              <a:t>formatação condicional</a:t>
            </a:r>
            <a:r>
              <a:rPr b="0" i="0" lang="en-US" sz="1620" u="none" cap="none" strike="noStrike">
                <a:solidFill>
                  <a:srgbClr val="E8E4DF"/>
                </a:solidFill>
                <a:latin typeface="Lexend"/>
                <a:ea typeface="Lexend"/>
                <a:cs typeface="Lexend"/>
                <a:sym typeface="Lexend"/>
              </a:rPr>
              <a:t> altera a aparência da célula (cor de fundo, fonte ou borda) de acordo com regras pré-estabelecidas.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Identificação de gargalos:</a:t>
            </a:r>
            <a:r>
              <a:rPr b="0" i="0" lang="en-US" sz="1620" u="none" cap="none" strike="noStrike">
                <a:solidFill>
                  <a:srgbClr val="E8E4DF"/>
                </a:solidFill>
                <a:latin typeface="Lexend"/>
                <a:ea typeface="Lexend"/>
                <a:cs typeface="Lexend"/>
                <a:sym typeface="Lexend"/>
              </a:rPr>
              <a:t> destacar em vermelho despesas acima do orçado.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Metas atingidas:</a:t>
            </a:r>
            <a:r>
              <a:rPr b="0" i="0" lang="en-US" sz="1620" u="none" cap="none" strike="noStrike">
                <a:solidFill>
                  <a:srgbClr val="E8E4DF"/>
                </a:solidFill>
                <a:latin typeface="Lexend"/>
                <a:ea typeface="Lexend"/>
                <a:cs typeface="Lexend"/>
                <a:sym typeface="Lexend"/>
              </a:rPr>
              <a:t> preencher em verde receitas que superaram a projeção.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Escalas de cor:</a:t>
            </a:r>
            <a:r>
              <a:rPr b="0" i="0" lang="en-US" sz="1620" u="none" cap="none" strike="noStrike">
                <a:solidFill>
                  <a:srgbClr val="E8E4DF"/>
                </a:solidFill>
                <a:latin typeface="Lexend"/>
                <a:ea typeface="Lexend"/>
                <a:cs typeface="Lexend"/>
                <a:sym typeface="Lexend"/>
              </a:rPr>
              <a:t> visualizar gradientes de estoque baixo a alto.</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17"/>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Operadores Matemáticos Básicos</a:t>
            </a:r>
            <a:endParaRPr b="0" i="0" sz="2880" u="none" cap="none" strike="noStrike">
              <a:solidFill>
                <a:schemeClr val="dk1"/>
              </a:solidFill>
              <a:latin typeface="Calibri"/>
              <a:ea typeface="Calibri"/>
              <a:cs typeface="Calibri"/>
              <a:sym typeface="Calibri"/>
            </a:endParaRPr>
          </a:p>
        </p:txBody>
      </p:sp>
      <p:sp>
        <p:nvSpPr>
          <p:cNvPr id="168" name="Google Shape;168;p17"/>
          <p:cNvSpPr/>
          <p:nvPr/>
        </p:nvSpPr>
        <p:spPr>
          <a:xfrm>
            <a:off x="285750" y="8001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Toda fórmula no editor de planilhas deve começar obrigatoriamente com o sinal de igualdade (). Os operadores básicos são:</a:t>
            </a:r>
            <a:endParaRPr b="0" i="0" sz="1620" u="none" cap="none" strike="noStrike">
              <a:solidFill>
                <a:schemeClr val="dk1"/>
              </a:solidFill>
              <a:latin typeface="Calibri"/>
              <a:ea typeface="Calibri"/>
              <a:cs typeface="Calibri"/>
              <a:sym typeface="Calibri"/>
            </a:endParaRPr>
          </a:p>
        </p:txBody>
      </p:sp>
      <p:sp>
        <p:nvSpPr>
          <p:cNvPr id="169" name="Google Shape;169;p17"/>
          <p:cNvSpPr/>
          <p:nvPr/>
        </p:nvSpPr>
        <p:spPr>
          <a:xfrm>
            <a:off x="285750" y="1611630"/>
            <a:ext cx="4194810" cy="79552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Aritmética Fundamental</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Adição ():</a:t>
            </a:r>
            <a:r>
              <a:rPr b="0" i="0" lang="en-US" sz="1620" u="none" cap="none" strike="noStrike">
                <a:solidFill>
                  <a:srgbClr val="E8E4DF"/>
                </a:solidFill>
                <a:latin typeface="Lexend"/>
                <a:ea typeface="Lexend"/>
                <a:cs typeface="Lexend"/>
                <a:sym typeface="Lexend"/>
              </a:rPr>
              <a:t> </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Subtração ():</a:t>
            </a:r>
            <a:r>
              <a:rPr b="0" i="0" lang="en-US" sz="1620" u="none" cap="none" strike="noStrike">
                <a:solidFill>
                  <a:srgbClr val="E8E4DF"/>
                </a:solidFill>
                <a:latin typeface="Lexend"/>
                <a:ea typeface="Lexend"/>
                <a:cs typeface="Lexend"/>
                <a:sym typeface="Lexend"/>
              </a:rPr>
              <a:t> </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Realizam operações diretas entre valores numéricos ou referências.</a:t>
            </a:r>
            <a:endParaRPr b="0" i="0" sz="1980" u="none" cap="none" strike="noStrike">
              <a:solidFill>
                <a:schemeClr val="dk1"/>
              </a:solidFill>
              <a:latin typeface="Calibri"/>
              <a:ea typeface="Calibri"/>
              <a:cs typeface="Calibri"/>
              <a:sym typeface="Calibri"/>
            </a:endParaRPr>
          </a:p>
        </p:txBody>
      </p:sp>
      <p:sp>
        <p:nvSpPr>
          <p:cNvPr id="170" name="Google Shape;170;p17"/>
          <p:cNvSpPr/>
          <p:nvPr/>
        </p:nvSpPr>
        <p:spPr>
          <a:xfrm>
            <a:off x="4652010" y="1611630"/>
            <a:ext cx="4194810" cy="79552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Multiplicação e Divisão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Multiplicação ():</a:t>
            </a:r>
            <a:r>
              <a:rPr b="0" i="0" lang="en-US" sz="1620" u="none" cap="none" strike="noStrike">
                <a:solidFill>
                  <a:srgbClr val="E8E4DF"/>
                </a:solidFill>
                <a:latin typeface="Lexend"/>
                <a:ea typeface="Lexend"/>
                <a:cs typeface="Lexend"/>
                <a:sym typeface="Lexend"/>
              </a:rPr>
              <a:t> </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Divisão ():</a:t>
            </a:r>
            <a:r>
              <a:rPr b="0" i="0" lang="en-US" sz="1620" u="none" cap="none" strike="noStrike">
                <a:solidFill>
                  <a:srgbClr val="E8E4DF"/>
                </a:solidFill>
                <a:latin typeface="Lexend"/>
                <a:ea typeface="Lexend"/>
                <a:cs typeface="Lexend"/>
                <a:sym typeface="Lexend"/>
              </a:rPr>
              <a:t> </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Potenciação ():</a:t>
            </a:r>
            <a:r>
              <a:rPr b="0" i="0" lang="en-US" sz="1620" u="none" cap="none" strike="noStrike">
                <a:solidFill>
                  <a:srgbClr val="E8E4DF"/>
                </a:solidFill>
                <a:latin typeface="Lexend"/>
                <a:ea typeface="Lexend"/>
                <a:cs typeface="Lexend"/>
                <a:sym typeface="Lexend"/>
              </a:rPr>
              <a:t>  calcula potências exponenciais.</a:t>
            </a:r>
            <a:endParaRPr b="0" i="0" sz="1980" u="none" cap="none" strike="noStrike">
              <a:solidFill>
                <a:schemeClr val="dk1"/>
              </a:solidFill>
              <a:latin typeface="Calibri"/>
              <a:ea typeface="Calibri"/>
              <a:cs typeface="Calibri"/>
              <a:sym typeface="Calibri"/>
            </a:endParaRPr>
          </a:p>
        </p:txBody>
      </p:sp>
      <p:sp>
        <p:nvSpPr>
          <p:cNvPr id="171" name="Google Shape;171;p17"/>
          <p:cNvSpPr/>
          <p:nvPr/>
        </p:nvSpPr>
        <p:spPr>
          <a:xfrm>
            <a:off x="285750" y="3623310"/>
            <a:ext cx="8572500" cy="1125601"/>
          </a:xfrm>
          <a:prstGeom prst="roundRect">
            <a:avLst>
              <a:gd fmla="val 8124" name="adj"/>
            </a:avLst>
          </a:prstGeom>
          <a:solidFill>
            <a:srgbClr val="82B4EB">
              <a:alpha val="14902"/>
            </a:srgbClr>
          </a:solidFill>
          <a:ln cap="flat" cmpd="sng" w="11425">
            <a:solidFill>
              <a:srgbClr val="0B2F5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a:off x="400050" y="377190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173" name="Google Shape;173;p17"/>
          <p:cNvSpPr/>
          <p:nvPr/>
        </p:nvSpPr>
        <p:spPr>
          <a:xfrm>
            <a:off x="765810" y="3737610"/>
            <a:ext cx="79781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B5D4F4"/>
              </a:buClr>
              <a:buSzPts val="1440"/>
              <a:buFont typeface="Lexend"/>
              <a:buNone/>
            </a:pPr>
            <a:r>
              <a:rPr b="1" i="0" lang="en-US" sz="1440" u="none" cap="none" strike="noStrike">
                <a:solidFill>
                  <a:srgbClr val="B5D4F4"/>
                </a:solidFill>
                <a:latin typeface="Lexend"/>
                <a:ea typeface="Lexend"/>
                <a:cs typeface="Lexend"/>
                <a:sym typeface="Lexend"/>
              </a:rPr>
              <a:t>Lembre-se</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B5D4F4"/>
              </a:buClr>
              <a:buSzPts val="1620"/>
              <a:buFont typeface="Lexend"/>
              <a:buNone/>
            </a:pPr>
            <a:r>
              <a:rPr b="0" i="0" lang="en-US" sz="1620" u="none" cap="none" strike="noStrike">
                <a:solidFill>
                  <a:srgbClr val="B5D4F4"/>
                </a:solidFill>
                <a:latin typeface="Lexend"/>
                <a:ea typeface="Lexend"/>
                <a:cs typeface="Lexend"/>
                <a:sym typeface="Lexend"/>
              </a:rPr>
              <a:t>A ordem de precedência respeita a matemática: multiplicações e divisões ocorrem antes de somas e subtrações.</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pic>
        <p:nvPicPr>
          <p:cNvPr descr="/home/forge/chalkie-production-workers-2/releases/77424486/backend/storage/app/render-specs/022eb815-9090-4bd7-8537-9223371fc075/img_6a0ee63de97e6713842ba6d60c947cf0.png" id="179" name="Google Shape;179;p18"/>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180" name="Google Shape;180;p18"/>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Construção de Fórmulas Dinâmicas</a:t>
            </a:r>
            <a:endParaRPr b="0" i="0" sz="2880" u="none" cap="none" strike="noStrike">
              <a:solidFill>
                <a:schemeClr val="dk1"/>
              </a:solidFill>
              <a:latin typeface="Calibri"/>
              <a:ea typeface="Calibri"/>
              <a:cs typeface="Calibri"/>
              <a:sym typeface="Calibri"/>
            </a:endParaRPr>
          </a:p>
        </p:txBody>
      </p:sp>
      <p:sp>
        <p:nvSpPr>
          <p:cNvPr id="181" name="Google Shape;181;p18"/>
          <p:cNvSpPr/>
          <p:nvPr/>
        </p:nvSpPr>
        <p:spPr>
          <a:xfrm>
            <a:off x="285750" y="800100"/>
            <a:ext cx="457200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Referências vs. Constantes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Sempre utilize o endereço das células em vez de valores fixos digitados.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Modo Incorreto:</a:t>
            </a:r>
            <a:r>
              <a:rPr b="0" i="0" lang="en-US" sz="1620" u="none" cap="none" strike="noStrike">
                <a:solidFill>
                  <a:srgbClr val="E8E4DF"/>
                </a:solidFill>
                <a:latin typeface="Lexend"/>
                <a:ea typeface="Lexend"/>
                <a:cs typeface="Lexend"/>
                <a:sym typeface="Lexend"/>
              </a:rPr>
              <a:t>  (valor estático que não atualiza).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Modo Correto:</a:t>
            </a:r>
            <a:r>
              <a:rPr b="0" i="0" lang="en-US" sz="1620" u="none" cap="none" strike="noStrike">
                <a:solidFill>
                  <a:srgbClr val="E8E4DF"/>
                </a:solidFill>
                <a:latin typeface="Lexend"/>
                <a:ea typeface="Lexend"/>
                <a:cs typeface="Lexend"/>
                <a:sym typeface="Lexend"/>
              </a:rPr>
              <a:t>  (recalcula instantaneamente se a quantidade ou preço unitário mudar).</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O uso de referências garante dinamismo, auditoria limpa e minimiza retrabalho operacional.</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id="187" name="Google Shape;187;p19"/>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Vídeo: Primeiras Fórmulas no Excel</a:t>
            </a:r>
            <a:endParaRPr b="0" i="0" sz="2880" u="none" cap="none" strike="noStrike">
              <a:solidFill>
                <a:schemeClr val="dk1"/>
              </a:solidFill>
              <a:latin typeface="Calibri"/>
              <a:ea typeface="Calibri"/>
              <a:cs typeface="Calibri"/>
              <a:sym typeface="Calibri"/>
            </a:endParaRPr>
          </a:p>
        </p:txBody>
      </p:sp>
      <p:sp>
        <p:nvSpPr>
          <p:cNvPr id="188" name="Google Shape;188;p19"/>
          <p:cNvSpPr/>
          <p:nvPr/>
        </p:nvSpPr>
        <p:spPr>
          <a:xfrm>
            <a:off x="285750" y="800100"/>
            <a:ext cx="8572500" cy="37947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Use operadores, SOMA, MÉDIA, CONT.SE e SE.</a:t>
            </a:r>
            <a:endParaRPr b="0" i="0" sz="1620" u="none" cap="none" strike="noStrike">
              <a:solidFill>
                <a:schemeClr val="dk1"/>
              </a:solidFill>
              <a:latin typeface="Calibri"/>
              <a:ea typeface="Calibri"/>
              <a:cs typeface="Calibri"/>
              <a:sym typeface="Calibri"/>
            </a:endParaRPr>
          </a:p>
        </p:txBody>
      </p:sp>
      <p:pic>
        <p:nvPicPr>
          <p:cNvPr id="189" name="Google Shape;189;p19">
            <a:hlinkClick r:id="rId4"/>
          </p:cNvPr>
          <p:cNvPicPr preferRelativeResize="0"/>
          <p:nvPr/>
        </p:nvPicPr>
        <p:blipFill>
          <a:blip r:embed="rId5">
            <a:alphaModFix/>
          </a:blip>
          <a:stretch>
            <a:fillRect/>
          </a:stretch>
        </p:blipFill>
        <p:spPr>
          <a:xfrm>
            <a:off x="1463040" y="1360170"/>
            <a:ext cx="6217920" cy="34975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pic>
        <p:nvPicPr>
          <p:cNvPr descr="/home/forge/chalkie-production-workers-2/releases/77424486/backend/storage/app/render-specs/022eb815-9090-4bd7-8537-9223371fc075/img_16b1b7283556c9d1c07568e79b37b7db.jpg" id="195" name="Google Shape;195;p20"/>
          <p:cNvPicPr preferRelativeResize="0"/>
          <p:nvPr/>
        </p:nvPicPr>
        <p:blipFill rotWithShape="1">
          <a:blip r:embed="rId4">
            <a:alphaModFix/>
          </a:blip>
          <a:srcRect b="0" l="0" r="0" t="0"/>
          <a:stretch/>
        </p:blipFill>
        <p:spPr>
          <a:xfrm>
            <a:off x="285750" y="800100"/>
            <a:ext cx="3829050" cy="4057650"/>
          </a:xfrm>
          <a:prstGeom prst="roundRect">
            <a:avLst>
              <a:gd fmla="val 3582" name="adj"/>
            </a:avLst>
          </a:prstGeom>
          <a:noFill/>
          <a:ln>
            <a:noFill/>
          </a:ln>
        </p:spPr>
      </p:pic>
      <p:sp>
        <p:nvSpPr>
          <p:cNvPr id="196" name="Google Shape;196;p20"/>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Funções Fundamentais: SOMA e MÉDIA</a:t>
            </a:r>
            <a:endParaRPr b="0" i="0" sz="2880" u="none" cap="none" strike="noStrike">
              <a:solidFill>
                <a:schemeClr val="dk1"/>
              </a:solidFill>
              <a:latin typeface="Calibri"/>
              <a:ea typeface="Calibri"/>
              <a:cs typeface="Calibri"/>
              <a:sym typeface="Calibri"/>
            </a:endParaRPr>
          </a:p>
        </p:txBody>
      </p:sp>
      <p:sp>
        <p:nvSpPr>
          <p:cNvPr id="197" name="Google Shape;197;p20"/>
          <p:cNvSpPr/>
          <p:nvPr/>
        </p:nvSpPr>
        <p:spPr>
          <a:xfrm>
            <a:off x="4286250" y="868680"/>
            <a:ext cx="113157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FUNÇÕES</a:t>
            </a:r>
            <a:endParaRPr b="0" i="0" sz="1080" u="none" cap="none" strike="noStrike">
              <a:solidFill>
                <a:schemeClr val="dk1"/>
              </a:solidFill>
              <a:latin typeface="Calibri"/>
              <a:ea typeface="Calibri"/>
              <a:cs typeface="Calibri"/>
              <a:sym typeface="Calibri"/>
            </a:endParaRPr>
          </a:p>
        </p:txBody>
      </p:sp>
      <p:sp>
        <p:nvSpPr>
          <p:cNvPr id="198" name="Google Shape;198;p20"/>
          <p:cNvSpPr/>
          <p:nvPr/>
        </p:nvSpPr>
        <p:spPr>
          <a:xfrm>
            <a:off x="4286250" y="1177290"/>
            <a:ext cx="457200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Automação Estatística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Funções processam intervalos sem somar células manualmente:</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a:t>
            </a:r>
            <a:r>
              <a:rPr b="0" i="0" lang="en-US" sz="1620" u="none" cap="none" strike="noStrike">
                <a:solidFill>
                  <a:srgbClr val="E8E4DF"/>
                </a:solidFill>
                <a:latin typeface="Lexend"/>
                <a:ea typeface="Lexend"/>
                <a:cs typeface="Lexend"/>
                <a:sym typeface="Lexend"/>
              </a:rPr>
              <a:t> soma todos os 50 valores do intervalo.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a:t>
            </a:r>
            <a:r>
              <a:rPr b="0" i="0" lang="en-US" sz="1620" u="none" cap="none" strike="noStrike">
                <a:solidFill>
                  <a:srgbClr val="E8E4DF"/>
                </a:solidFill>
                <a:latin typeface="Lexend"/>
                <a:ea typeface="Lexend"/>
                <a:cs typeface="Lexend"/>
                <a:sym typeface="Lexend"/>
              </a:rPr>
              <a:t> calcula a média aritmética das entradas.</a:t>
            </a:r>
            <a:endParaRPr b="0" i="0" sz="1980" u="none" cap="none" strike="noStrike">
              <a:solidFill>
                <a:schemeClr val="dk1"/>
              </a:solidFill>
              <a:latin typeface="Calibri"/>
              <a:ea typeface="Calibri"/>
              <a:cs typeface="Calibri"/>
              <a:sym typeface="Calibri"/>
            </a:endParaRPr>
          </a:p>
        </p:txBody>
      </p:sp>
      <p:sp>
        <p:nvSpPr>
          <p:cNvPr id="199" name="Google Shape;199;p20"/>
          <p:cNvSpPr/>
          <p:nvPr/>
        </p:nvSpPr>
        <p:spPr>
          <a:xfrm>
            <a:off x="4286250" y="3314700"/>
            <a:ext cx="4572000" cy="1125601"/>
          </a:xfrm>
          <a:prstGeom prst="roundRect">
            <a:avLst>
              <a:gd fmla="val 8124" name="adj"/>
            </a:avLst>
          </a:prstGeom>
          <a:solidFill>
            <a:srgbClr val="82B4EB">
              <a:alpha val="14902"/>
            </a:srgbClr>
          </a:solidFill>
          <a:ln cap="flat" cmpd="sng" w="11425">
            <a:solidFill>
              <a:srgbClr val="0B2F5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p:nvPr/>
        </p:nvSpPr>
        <p:spPr>
          <a:xfrm>
            <a:off x="4400550" y="346329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201" name="Google Shape;201;p20"/>
          <p:cNvSpPr/>
          <p:nvPr/>
        </p:nvSpPr>
        <p:spPr>
          <a:xfrm>
            <a:off x="4766310" y="3429000"/>
            <a:ext cx="39776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B5D4F4"/>
              </a:buClr>
              <a:buSzPts val="1440"/>
              <a:buFont typeface="Lexend"/>
              <a:buNone/>
            </a:pPr>
            <a:r>
              <a:rPr b="1" i="0" lang="en-US" sz="1440" u="none" cap="none" strike="noStrike">
                <a:solidFill>
                  <a:srgbClr val="B5D4F4"/>
                </a:solidFill>
                <a:latin typeface="Lexend"/>
                <a:ea typeface="Lexend"/>
                <a:cs typeface="Lexend"/>
                <a:sym typeface="Lexend"/>
              </a:rPr>
              <a:t>Lembre-se</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B5D4F4"/>
              </a:buClr>
              <a:buSzPts val="1620"/>
              <a:buFont typeface="Lexend"/>
              <a:buNone/>
            </a:pPr>
            <a:r>
              <a:rPr b="0" i="0" lang="en-US" sz="1620" u="none" cap="none" strike="noStrike">
                <a:solidFill>
                  <a:srgbClr val="B5D4F4"/>
                </a:solidFill>
                <a:latin typeface="Lexend"/>
                <a:ea typeface="Lexend"/>
                <a:cs typeface="Lexend"/>
                <a:sym typeface="Lexend"/>
              </a:rPr>
              <a:t>Dois pontos () definem intervalo. Ponto e vírgula () separa argumentos.</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6" name="Shape 206"/>
        <p:cNvGrpSpPr/>
        <p:nvPr/>
      </p:nvGrpSpPr>
      <p:grpSpPr>
        <a:xfrm>
          <a:off x="0" y="0"/>
          <a:ext cx="0" cy="0"/>
          <a:chOff x="0" y="0"/>
          <a:chExt cx="0" cy="0"/>
        </a:xfrm>
      </p:grpSpPr>
      <p:pic>
        <p:nvPicPr>
          <p:cNvPr descr="/home/forge/chalkie-production-workers-2/releases/77424486/backend/storage/app/render-specs/022eb815-9090-4bd7-8537-9223371fc075/img_60ff2948d99b11d2c999c38c5d3b4205.png" id="207" name="Google Shape;207;p21"/>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208" name="Google Shape;208;p21"/>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Função de Contagem: CONT.SE</a:t>
            </a:r>
            <a:endParaRPr b="0" i="0" sz="2880" u="none" cap="none" strike="noStrike">
              <a:solidFill>
                <a:schemeClr val="dk1"/>
              </a:solidFill>
              <a:latin typeface="Calibri"/>
              <a:ea typeface="Calibri"/>
              <a:cs typeface="Calibri"/>
              <a:sym typeface="Calibri"/>
            </a:endParaRPr>
          </a:p>
        </p:txBody>
      </p:sp>
      <p:sp>
        <p:nvSpPr>
          <p:cNvPr id="209" name="Google Shape;209;p21"/>
          <p:cNvSpPr/>
          <p:nvPr/>
        </p:nvSpPr>
        <p:spPr>
          <a:xfrm>
            <a:off x="285750" y="868680"/>
            <a:ext cx="113157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FUNÇÕES</a:t>
            </a:r>
            <a:endParaRPr b="0" i="0" sz="1080" u="none" cap="none" strike="noStrike">
              <a:solidFill>
                <a:schemeClr val="dk1"/>
              </a:solidFill>
              <a:latin typeface="Calibri"/>
              <a:ea typeface="Calibri"/>
              <a:cs typeface="Calibri"/>
              <a:sym typeface="Calibri"/>
            </a:endParaRPr>
          </a:p>
        </p:txBody>
      </p:sp>
      <p:sp>
        <p:nvSpPr>
          <p:cNvPr id="210" name="Google Shape;210;p21"/>
          <p:cNvSpPr/>
          <p:nvPr/>
        </p:nvSpPr>
        <p:spPr>
          <a:xfrm>
            <a:off x="285750" y="1177290"/>
            <a:ext cx="457200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Contagem Baseada em Critérios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 função  conta quantas células de um intervalo atendem a uma condição exata: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Sintaxe:</a:t>
            </a:r>
            <a:r>
              <a:rPr b="0" i="0" lang="en-US" sz="1620" u="none" cap="none" strike="noStrike">
                <a:solidFill>
                  <a:srgbClr val="E8E4DF"/>
                </a:solidFill>
                <a:latin typeface="Lexend"/>
                <a:ea typeface="Lexend"/>
                <a:cs typeface="Lexend"/>
                <a:sym typeface="Lexend"/>
              </a:rPr>
              <a:t> </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Exemplo de RH:</a:t>
            </a:r>
            <a:r>
              <a:rPr b="0" i="0" lang="en-US" sz="1620" u="none" cap="none" strike="noStrike">
                <a:solidFill>
                  <a:srgbClr val="E8E4DF"/>
                </a:solidFill>
                <a:latin typeface="Lexend"/>
                <a:ea typeface="Lexend"/>
                <a:cs typeface="Lexend"/>
                <a:sym typeface="Lexend"/>
              </a:rPr>
              <a:t>  conta quantos candidatos passaram.</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Exemplo de Estoque:</a:t>
            </a:r>
            <a:r>
              <a:rPr b="0" i="0" lang="en-US" sz="1620" u="none" cap="none" strike="noStrike">
                <a:solidFill>
                  <a:srgbClr val="E8E4DF"/>
                </a:solidFill>
                <a:latin typeface="Lexend"/>
                <a:ea typeface="Lexend"/>
                <a:cs typeface="Lexend"/>
                <a:sym typeface="Lexend"/>
              </a:rPr>
              <a:t>  identifica quantos itens atingiram nível crítico de reposição.</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 name="Shape 215"/>
        <p:cNvGrpSpPr/>
        <p:nvPr/>
      </p:nvGrpSpPr>
      <p:grpSpPr>
        <a:xfrm>
          <a:off x="0" y="0"/>
          <a:ext cx="0" cy="0"/>
          <a:chOff x="0" y="0"/>
          <a:chExt cx="0" cy="0"/>
        </a:xfrm>
      </p:grpSpPr>
      <p:sp>
        <p:nvSpPr>
          <p:cNvPr id="216" name="Google Shape;216;p22"/>
          <p:cNvSpPr/>
          <p:nvPr/>
        </p:nvSpPr>
        <p:spPr>
          <a:xfrm>
            <a:off x="285750" y="25146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Tomada de Decisão: Função Lógica SE</a:t>
            </a:r>
            <a:endParaRPr b="0" i="0" sz="2880" u="none" cap="none" strike="noStrike">
              <a:solidFill>
                <a:schemeClr val="dk1"/>
              </a:solidFill>
              <a:latin typeface="Calibri"/>
              <a:ea typeface="Calibri"/>
              <a:cs typeface="Calibri"/>
              <a:sym typeface="Calibri"/>
            </a:endParaRPr>
          </a:p>
        </p:txBody>
      </p:sp>
      <p:sp>
        <p:nvSpPr>
          <p:cNvPr id="217" name="Google Shape;217;p22"/>
          <p:cNvSpPr/>
          <p:nvPr/>
        </p:nvSpPr>
        <p:spPr>
          <a:xfrm>
            <a:off x="285750" y="88011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 função  testa uma condição lógica e retorna um valor se o resultado for verdadeiro, ou outro valor se for falso.</a:t>
            </a:r>
            <a:endParaRPr b="0" i="0" sz="1620" u="none" cap="none" strike="noStrike">
              <a:solidFill>
                <a:schemeClr val="dk1"/>
              </a:solidFill>
              <a:latin typeface="Calibri"/>
              <a:ea typeface="Calibri"/>
              <a:cs typeface="Calibri"/>
              <a:sym typeface="Calibri"/>
            </a:endParaRPr>
          </a:p>
        </p:txBody>
      </p:sp>
      <p:sp>
        <p:nvSpPr>
          <p:cNvPr id="218" name="Google Shape;218;p22"/>
          <p:cNvSpPr/>
          <p:nvPr/>
        </p:nvSpPr>
        <p:spPr>
          <a:xfrm>
            <a:off x="285750" y="1691640"/>
            <a:ext cx="4194810" cy="79552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Estrutura da Sintaxe</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Teste lógico:</a:t>
            </a:r>
            <a:r>
              <a:rPr b="0" i="0" lang="en-US" sz="1620" u="none" cap="none" strike="noStrike">
                <a:solidFill>
                  <a:srgbClr val="E8E4DF"/>
                </a:solidFill>
                <a:latin typeface="Lexend"/>
                <a:ea typeface="Lexend"/>
                <a:cs typeface="Lexend"/>
                <a:sym typeface="Lexend"/>
              </a:rPr>
              <a:t> comparação ().</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Verdadeiro:</a:t>
            </a:r>
            <a:r>
              <a:rPr b="0" i="0" lang="en-US" sz="1620" u="none" cap="none" strike="noStrike">
                <a:solidFill>
                  <a:srgbClr val="E8E4DF"/>
                </a:solidFill>
                <a:latin typeface="Lexend"/>
                <a:ea typeface="Lexend"/>
                <a:cs typeface="Lexend"/>
                <a:sym typeface="Lexend"/>
              </a:rPr>
              <a:t> ação ou texto se cumprir.</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Falso:</a:t>
            </a:r>
            <a:r>
              <a:rPr b="0" i="0" lang="en-US" sz="1620" u="none" cap="none" strike="noStrike">
                <a:solidFill>
                  <a:srgbClr val="E8E4DF"/>
                </a:solidFill>
                <a:latin typeface="Lexend"/>
                <a:ea typeface="Lexend"/>
                <a:cs typeface="Lexend"/>
                <a:sym typeface="Lexend"/>
              </a:rPr>
              <a:t> ação ou texto alternativo.</a:t>
            </a:r>
            <a:endParaRPr b="0" i="0" sz="1980" u="none" cap="none" strike="noStrike">
              <a:solidFill>
                <a:schemeClr val="dk1"/>
              </a:solidFill>
              <a:latin typeface="Calibri"/>
              <a:ea typeface="Calibri"/>
              <a:cs typeface="Calibri"/>
              <a:sym typeface="Calibri"/>
            </a:endParaRPr>
          </a:p>
        </p:txBody>
      </p:sp>
      <p:sp>
        <p:nvSpPr>
          <p:cNvPr id="219" name="Google Shape;219;p22"/>
          <p:cNvSpPr/>
          <p:nvPr/>
        </p:nvSpPr>
        <p:spPr>
          <a:xfrm>
            <a:off x="4652010" y="1691640"/>
            <a:ext cx="419481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Aplicação Prática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Se o volume vendido em D2 for maior ou igual a 1000, registra aprovação; caso contrário, alerta sobre desempenho insuficiente.</a:t>
            </a:r>
            <a:endParaRPr b="0" i="0" sz="1980" u="none" cap="none" strike="noStrike">
              <a:solidFill>
                <a:schemeClr val="dk1"/>
              </a:solidFill>
              <a:latin typeface="Calibri"/>
              <a:ea typeface="Calibri"/>
              <a:cs typeface="Calibri"/>
              <a:sym typeface="Calibri"/>
            </a:endParaRPr>
          </a:p>
        </p:txBody>
      </p:sp>
      <p:sp>
        <p:nvSpPr>
          <p:cNvPr id="220" name="Google Shape;220;p22"/>
          <p:cNvSpPr/>
          <p:nvPr/>
        </p:nvSpPr>
        <p:spPr>
          <a:xfrm>
            <a:off x="285750" y="3531870"/>
            <a:ext cx="8572500" cy="1125601"/>
          </a:xfrm>
          <a:prstGeom prst="roundRect">
            <a:avLst>
              <a:gd fmla="val 8124" name="adj"/>
            </a:avLst>
          </a:prstGeom>
          <a:solidFill>
            <a:srgbClr val="F09696">
              <a:alpha val="14902"/>
            </a:srgbClr>
          </a:solidFill>
          <a:ln cap="flat" cmpd="sng" w="11425">
            <a:solidFill>
              <a:srgbClr val="46060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p:nvPr/>
        </p:nvSpPr>
        <p:spPr>
          <a:xfrm>
            <a:off x="400050" y="368046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222" name="Google Shape;222;p22"/>
          <p:cNvSpPr/>
          <p:nvPr/>
        </p:nvSpPr>
        <p:spPr>
          <a:xfrm>
            <a:off x="765810" y="3646170"/>
            <a:ext cx="79781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F7C1C1"/>
              </a:buClr>
              <a:buSzPts val="1440"/>
              <a:buFont typeface="Lexend"/>
              <a:buNone/>
            </a:pPr>
            <a:r>
              <a:rPr b="1" i="0" lang="en-US" sz="1440" u="none" cap="none" strike="noStrike">
                <a:solidFill>
                  <a:srgbClr val="F7C1C1"/>
                </a:solidFill>
                <a:latin typeface="Lexend"/>
                <a:ea typeface="Lexend"/>
                <a:cs typeface="Lexend"/>
                <a:sym typeface="Lexend"/>
              </a:rPr>
              <a:t>Atenção</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F7C1C1"/>
              </a:buClr>
              <a:buSzPts val="1620"/>
              <a:buFont typeface="Lexend"/>
              <a:buNone/>
            </a:pPr>
            <a:r>
              <a:rPr b="0" i="0" lang="en-US" sz="1620" u="none" cap="none" strike="noStrike">
                <a:solidFill>
                  <a:srgbClr val="F7C1C1"/>
                </a:solidFill>
                <a:latin typeface="Lexend"/>
                <a:ea typeface="Lexend"/>
                <a:cs typeface="Lexend"/>
                <a:sym typeface="Lexend"/>
              </a:rPr>
              <a:t>Textos dentro de fórmulas devem sempre estar entre aspas duplas, como "Aprovado".</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23"/>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Verificação: Sintaxe da Função SE</a:t>
            </a:r>
            <a:endParaRPr b="0" i="0" sz="2880" u="none" cap="none" strike="noStrike">
              <a:solidFill>
                <a:schemeClr val="dk1"/>
              </a:solidFill>
              <a:latin typeface="Calibri"/>
              <a:ea typeface="Calibri"/>
              <a:cs typeface="Calibri"/>
              <a:sym typeface="Calibri"/>
            </a:endParaRPr>
          </a:p>
        </p:txBody>
      </p:sp>
      <p:sp>
        <p:nvSpPr>
          <p:cNvPr id="229" name="Google Shape;229;p23"/>
          <p:cNvSpPr/>
          <p:nvPr/>
        </p:nvSpPr>
        <p:spPr>
          <a:xfrm>
            <a:off x="914400" y="1234440"/>
            <a:ext cx="7372350" cy="1143000"/>
          </a:xfrm>
          <a:prstGeom prst="roundRect">
            <a:avLst>
              <a:gd fmla="val 10000"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3"/>
          <p:cNvSpPr/>
          <p:nvPr/>
        </p:nvSpPr>
        <p:spPr>
          <a:xfrm>
            <a:off x="822960" y="1143000"/>
            <a:ext cx="7372350" cy="1143000"/>
          </a:xfrm>
          <a:prstGeom prst="roundRect">
            <a:avLst>
              <a:gd fmla="val 10000"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ctr">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Na função =SE(B2&gt;50; B2*1,1; B2), se a célula B2 contiver o valor 60, o resultado retornado será 60.</a:t>
            </a:r>
            <a:endParaRPr b="0" i="0" sz="1620" u="none" cap="none" strike="noStrike">
              <a:solidFill>
                <a:schemeClr val="dk1"/>
              </a:solidFill>
              <a:latin typeface="Calibri"/>
              <a:ea typeface="Calibri"/>
              <a:cs typeface="Calibri"/>
              <a:sym typeface="Calibri"/>
            </a:endParaRPr>
          </a:p>
        </p:txBody>
      </p:sp>
      <p:sp>
        <p:nvSpPr>
          <p:cNvPr id="231" name="Google Shape;231;p23"/>
          <p:cNvSpPr/>
          <p:nvPr/>
        </p:nvSpPr>
        <p:spPr>
          <a:xfrm>
            <a:off x="2571750" y="2628900"/>
            <a:ext cx="1714500" cy="800100"/>
          </a:xfrm>
          <a:prstGeom prst="roundRect">
            <a:avLst>
              <a:gd fmla="val 17143" name="adj"/>
            </a:avLst>
          </a:prstGeom>
          <a:solidFill>
            <a:srgbClr val="FFFFFF"/>
          </a:solidFill>
          <a:ln cap="flat" cmpd="sng" w="45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3333"/>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VERDADEIRO</a:t>
            </a:r>
            <a:endParaRPr b="0" i="0" sz="2340" u="none" cap="none" strike="noStrike">
              <a:solidFill>
                <a:schemeClr val="dk1"/>
              </a:solidFill>
              <a:latin typeface="Calibri"/>
              <a:ea typeface="Calibri"/>
              <a:cs typeface="Calibri"/>
              <a:sym typeface="Calibri"/>
            </a:endParaRPr>
          </a:p>
        </p:txBody>
      </p:sp>
      <p:sp>
        <p:nvSpPr>
          <p:cNvPr id="232" name="Google Shape;232;p23"/>
          <p:cNvSpPr/>
          <p:nvPr/>
        </p:nvSpPr>
        <p:spPr>
          <a:xfrm>
            <a:off x="4857750" y="2628900"/>
            <a:ext cx="1714500" cy="800100"/>
          </a:xfrm>
          <a:prstGeom prst="roundRect">
            <a:avLst>
              <a:gd fmla="val 17143" name="adj"/>
            </a:avLst>
          </a:prstGeom>
          <a:solidFill>
            <a:srgbClr val="FFFFFF"/>
          </a:solidFill>
          <a:ln cap="flat" cmpd="sng" w="45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3333"/>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FALSO</a:t>
            </a:r>
            <a:endParaRPr b="0" i="0" sz="2340" u="none" cap="none" strike="noStrike">
              <a:solidFill>
                <a:schemeClr val="dk1"/>
              </a:solidFill>
              <a:latin typeface="Calibri"/>
              <a:ea typeface="Calibri"/>
              <a:cs typeface="Calibri"/>
              <a:sym typeface="Calibri"/>
            </a:endParaRPr>
          </a:p>
        </p:txBody>
      </p:sp>
      <p:sp>
        <p:nvSpPr>
          <p:cNvPr id="233" name="Google Shape;233;p23"/>
          <p:cNvSpPr/>
          <p:nvPr/>
        </p:nvSpPr>
        <p:spPr>
          <a:xfrm>
            <a:off x="2571750" y="3714750"/>
            <a:ext cx="571500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7EB5A6"/>
              </a:buClr>
              <a:buSzPts val="1620"/>
              <a:buFont typeface="Lexend"/>
              <a:buNone/>
            </a:pPr>
            <a:r>
              <a:rPr b="0" i="0" lang="en-US" sz="1620" u="none" cap="none" strike="noStrike">
                <a:solidFill>
                  <a:srgbClr val="7EB5A6"/>
                </a:solidFill>
                <a:latin typeface="Lexend"/>
                <a:ea typeface="Lexend"/>
                <a:cs typeface="Lexend"/>
                <a:sym typeface="Lexend"/>
              </a:rPr>
              <a:t>🤔 </a:t>
            </a:r>
            <a:r>
              <a:rPr b="0" i="1" lang="en-US" sz="1620" u="none" cap="none" strike="noStrike">
                <a:solidFill>
                  <a:srgbClr val="7EB5A6"/>
                </a:solidFill>
                <a:latin typeface="Lexend"/>
                <a:ea typeface="Lexend"/>
                <a:cs typeface="Lexend"/>
                <a:sym typeface="Lexend"/>
              </a:rPr>
              <a:t>Prepare-se para explicar o seu raciocínio.</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4"/>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Verificação: Sintaxe da Função SE</a:t>
            </a:r>
            <a:endParaRPr b="0" i="0" sz="2880" u="none" cap="none" strike="noStrike">
              <a:solidFill>
                <a:schemeClr val="dk1"/>
              </a:solidFill>
              <a:latin typeface="Calibri"/>
              <a:ea typeface="Calibri"/>
              <a:cs typeface="Calibri"/>
              <a:sym typeface="Calibri"/>
            </a:endParaRPr>
          </a:p>
        </p:txBody>
      </p:sp>
      <p:sp>
        <p:nvSpPr>
          <p:cNvPr id="240" name="Google Shape;240;p24"/>
          <p:cNvSpPr/>
          <p:nvPr/>
        </p:nvSpPr>
        <p:spPr>
          <a:xfrm>
            <a:off x="914400" y="1234440"/>
            <a:ext cx="7372350" cy="1143000"/>
          </a:xfrm>
          <a:prstGeom prst="roundRect">
            <a:avLst>
              <a:gd fmla="val 10000"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
          <p:cNvSpPr/>
          <p:nvPr/>
        </p:nvSpPr>
        <p:spPr>
          <a:xfrm>
            <a:off x="822960" y="1143000"/>
            <a:ext cx="7372350" cy="1143000"/>
          </a:xfrm>
          <a:prstGeom prst="roundRect">
            <a:avLst>
              <a:gd fmla="val 10000"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ctr">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Na função =SE(B2&gt;50; B2*1,1; B2), se a célula B2 contiver o valor 60, o resultado retornado será 60.</a:t>
            </a:r>
            <a:endParaRPr b="0" i="0" sz="1620" u="none" cap="none" strike="noStrike">
              <a:solidFill>
                <a:schemeClr val="dk1"/>
              </a:solidFill>
              <a:latin typeface="Calibri"/>
              <a:ea typeface="Calibri"/>
              <a:cs typeface="Calibri"/>
              <a:sym typeface="Calibri"/>
            </a:endParaRPr>
          </a:p>
        </p:txBody>
      </p:sp>
      <p:sp>
        <p:nvSpPr>
          <p:cNvPr id="242" name="Google Shape;242;p24"/>
          <p:cNvSpPr/>
          <p:nvPr/>
        </p:nvSpPr>
        <p:spPr>
          <a:xfrm>
            <a:off x="2571750" y="2628900"/>
            <a:ext cx="1714500" cy="800100"/>
          </a:xfrm>
          <a:prstGeom prst="roundRect">
            <a:avLst>
              <a:gd fmla="val 17143" name="adj"/>
            </a:avLst>
          </a:prstGeom>
          <a:solidFill>
            <a:srgbClr val="FFFFFF"/>
          </a:solidFill>
          <a:ln cap="flat" cmpd="sng" w="45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3333"/>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VERDADEIRO</a:t>
            </a:r>
            <a:endParaRPr b="0" i="0" sz="2340" u="none" cap="none" strike="noStrike">
              <a:solidFill>
                <a:schemeClr val="dk1"/>
              </a:solidFill>
              <a:latin typeface="Calibri"/>
              <a:ea typeface="Calibri"/>
              <a:cs typeface="Calibri"/>
              <a:sym typeface="Calibri"/>
            </a:endParaRPr>
          </a:p>
        </p:txBody>
      </p:sp>
      <p:sp>
        <p:nvSpPr>
          <p:cNvPr id="243" name="Google Shape;243;p24"/>
          <p:cNvSpPr/>
          <p:nvPr/>
        </p:nvSpPr>
        <p:spPr>
          <a:xfrm>
            <a:off x="4857750" y="2628900"/>
            <a:ext cx="1714500" cy="800100"/>
          </a:xfrm>
          <a:prstGeom prst="roundRect">
            <a:avLst>
              <a:gd fmla="val 17143" name="adj"/>
            </a:avLst>
          </a:prstGeom>
          <a:solidFill>
            <a:srgbClr val="FFFFFF"/>
          </a:solidFill>
          <a:ln cap="flat" cmpd="sng" w="45700">
            <a:solidFill>
              <a:srgbClr val="2C6E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3333"/>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FALSO</a:t>
            </a:r>
            <a:endParaRPr b="0" i="0" sz="2340" u="none" cap="none" strike="noStrike">
              <a:solidFill>
                <a:schemeClr val="dk1"/>
              </a:solidFill>
              <a:latin typeface="Calibri"/>
              <a:ea typeface="Calibri"/>
              <a:cs typeface="Calibri"/>
              <a:sym typeface="Calibri"/>
            </a:endParaRPr>
          </a:p>
        </p:txBody>
      </p:sp>
      <p:sp>
        <p:nvSpPr>
          <p:cNvPr id="244" name="Google Shape;244;p24"/>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3333"/>
              </a:lnSpc>
              <a:spcBef>
                <a:spcPts val="0"/>
              </a:spcBef>
              <a:spcAft>
                <a:spcPts val="0"/>
              </a:spcAft>
              <a:buClr>
                <a:srgbClr val="E8E4DF"/>
              </a:buClr>
              <a:buSzPts val="3600"/>
              <a:buFont typeface="Lexend"/>
              <a:buNone/>
            </a:pPr>
            <a:r>
              <a:rPr b="0" i="0" lang="en-US" sz="3600" u="none" cap="none" strike="noStrike">
                <a:solidFill>
                  <a:srgbClr val="E8E4D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
        <p:nvSpPr>
          <p:cNvPr id="245" name="Google Shape;245;p24"/>
          <p:cNvSpPr/>
          <p:nvPr/>
        </p:nvSpPr>
        <p:spPr>
          <a:xfrm>
            <a:off x="457200" y="3657600"/>
            <a:ext cx="8229600" cy="1125601"/>
          </a:xfrm>
          <a:prstGeom prst="roundRect">
            <a:avLst>
              <a:gd fmla="val 8124" name="adj"/>
            </a:avLst>
          </a:prstGeom>
          <a:solidFill>
            <a:srgbClr val="FAC873">
              <a:alpha val="14902"/>
            </a:srgbClr>
          </a:solidFill>
          <a:ln cap="flat" cmpd="sng" w="11425">
            <a:solidFill>
              <a:srgbClr val="573B0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4"/>
          <p:cNvSpPr/>
          <p:nvPr/>
        </p:nvSpPr>
        <p:spPr>
          <a:xfrm>
            <a:off x="571500" y="380619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247" name="Google Shape;247;p24"/>
          <p:cNvSpPr/>
          <p:nvPr/>
        </p:nvSpPr>
        <p:spPr>
          <a:xfrm>
            <a:off x="937260" y="3771900"/>
            <a:ext cx="76352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E8C85A"/>
              </a:buClr>
              <a:buSzPts val="1440"/>
              <a:buFont typeface="Lexend"/>
              <a:buNone/>
            </a:pPr>
            <a:r>
              <a:rPr b="1" i="0" lang="en-US" sz="1440" u="none" cap="none" strike="noStrike">
                <a:solidFill>
                  <a:srgbClr val="E8C85A"/>
                </a:solidFill>
                <a:latin typeface="Lexend"/>
                <a:ea typeface="Lexend"/>
                <a:cs typeface="Lexend"/>
                <a:sym typeface="Lexend"/>
              </a:rPr>
              <a:t>Por que é isso?</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FAC775"/>
              </a:buClr>
              <a:buSzPts val="1620"/>
              <a:buFont typeface="Lexend"/>
              <a:buNone/>
            </a:pPr>
            <a:r>
              <a:rPr b="0" i="0" lang="en-US" sz="1620" u="none" cap="none" strike="noStrike">
                <a:solidFill>
                  <a:srgbClr val="FAC775"/>
                </a:solidFill>
                <a:latin typeface="Lexend"/>
                <a:ea typeface="Lexend"/>
                <a:cs typeface="Lexend"/>
                <a:sym typeface="Lexend"/>
              </a:rPr>
              <a:t>Como 60 é maior que 50, o teste lógico é verdadeiro e aplica o cálculo B2*1,1, resultando em 66.</a:t>
            </a:r>
            <a:endParaRPr b="0" i="0" sz="1440" u="none" cap="none" strike="noStrike">
              <a:solidFill>
                <a:schemeClr val="dk1"/>
              </a:solidFill>
              <a:latin typeface="Calibri"/>
              <a:ea typeface="Calibri"/>
              <a:cs typeface="Calibri"/>
              <a:sym typeface="Calibri"/>
            </a:endParaRPr>
          </a:p>
        </p:txBody>
      </p:sp>
      <p:sp>
        <p:nvSpPr>
          <p:cNvPr id="248" name="Google Shape;248;p24"/>
          <p:cNvSpPr/>
          <p:nvPr/>
        </p:nvSpPr>
        <p:spPr>
          <a:xfrm>
            <a:off x="6435090" y="2491740"/>
            <a:ext cx="274320" cy="274320"/>
          </a:xfrm>
          <a:prstGeom prst="roundRect">
            <a:avLst>
              <a:gd fmla="val 25000" name="adj"/>
            </a:avLst>
          </a:prstGeom>
          <a:solidFill>
            <a:srgbClr val="2C6E49"/>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pic>
        <p:nvPicPr>
          <p:cNvPr descr="/home/forge/chalkie-production-workers-2/releases/77424486/backend/storage/app/render-specs/022eb815-9090-4bd7-8537-9223371fc075/img_2da02641055589abcae4d62f28d726de.png" id="254" name="Google Shape;254;p25"/>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255" name="Google Shape;255;p25"/>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Classificação Alfabética e Numérica</a:t>
            </a:r>
            <a:endParaRPr b="0" i="0" sz="2880" u="none" cap="none" strike="noStrike">
              <a:solidFill>
                <a:schemeClr val="dk1"/>
              </a:solidFill>
              <a:latin typeface="Calibri"/>
              <a:ea typeface="Calibri"/>
              <a:cs typeface="Calibri"/>
              <a:sym typeface="Calibri"/>
            </a:endParaRPr>
          </a:p>
        </p:txBody>
      </p:sp>
      <p:sp>
        <p:nvSpPr>
          <p:cNvPr id="256" name="Google Shape;256;p25"/>
          <p:cNvSpPr/>
          <p:nvPr/>
        </p:nvSpPr>
        <p:spPr>
          <a:xfrm>
            <a:off x="285750" y="868680"/>
            <a:ext cx="168021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ORGANIZAÇÃO</a:t>
            </a:r>
            <a:endParaRPr b="0" i="0" sz="1080" u="none" cap="none" strike="noStrike">
              <a:solidFill>
                <a:schemeClr val="dk1"/>
              </a:solidFill>
              <a:latin typeface="Calibri"/>
              <a:ea typeface="Calibri"/>
              <a:cs typeface="Calibri"/>
              <a:sym typeface="Calibri"/>
            </a:endParaRPr>
          </a:p>
        </p:txBody>
      </p:sp>
      <p:sp>
        <p:nvSpPr>
          <p:cNvPr id="257" name="Google Shape;257;p25"/>
          <p:cNvSpPr/>
          <p:nvPr/>
        </p:nvSpPr>
        <p:spPr>
          <a:xfrm>
            <a:off x="285750" y="1177290"/>
            <a:ext cx="457200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Ordenação de Dados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Reorganiza o fluxo visual sem excluir registros: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Crescente (A-Z, 1-10):</a:t>
            </a:r>
            <a:r>
              <a:rPr b="0" i="0" lang="en-US" sz="1620" u="none" cap="none" strike="noStrike">
                <a:solidFill>
                  <a:srgbClr val="E8E4DF"/>
                </a:solidFill>
                <a:latin typeface="Lexend"/>
                <a:ea typeface="Lexend"/>
                <a:cs typeface="Lexend"/>
                <a:sym typeface="Lexend"/>
              </a:rPr>
              <a:t> Nomes ou datas.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Decrescente (Z-A, 10-1):</a:t>
            </a:r>
            <a:r>
              <a:rPr b="0" i="0" lang="en-US" sz="1620" u="none" cap="none" strike="noStrike">
                <a:solidFill>
                  <a:srgbClr val="E8E4DF"/>
                </a:solidFill>
                <a:latin typeface="Lexend"/>
                <a:ea typeface="Lexend"/>
                <a:cs typeface="Lexend"/>
                <a:sym typeface="Lexend"/>
              </a:rPr>
              <a:t> Maiores valores no topo.</a:t>
            </a:r>
            <a:endParaRPr b="0" i="0" sz="1980" u="none" cap="none" strike="noStrike">
              <a:solidFill>
                <a:schemeClr val="dk1"/>
              </a:solidFill>
              <a:latin typeface="Calibri"/>
              <a:ea typeface="Calibri"/>
              <a:cs typeface="Calibri"/>
              <a:sym typeface="Calibri"/>
            </a:endParaRPr>
          </a:p>
        </p:txBody>
      </p:sp>
      <p:sp>
        <p:nvSpPr>
          <p:cNvPr id="258" name="Google Shape;258;p25"/>
          <p:cNvSpPr/>
          <p:nvPr/>
        </p:nvSpPr>
        <p:spPr>
          <a:xfrm>
            <a:off x="285750" y="3314700"/>
            <a:ext cx="4572000" cy="1125601"/>
          </a:xfrm>
          <a:prstGeom prst="roundRect">
            <a:avLst>
              <a:gd fmla="val 8124" name="adj"/>
            </a:avLst>
          </a:prstGeom>
          <a:solidFill>
            <a:srgbClr val="F09696">
              <a:alpha val="14902"/>
            </a:srgbClr>
          </a:solidFill>
          <a:ln cap="flat" cmpd="sng" w="11425">
            <a:solidFill>
              <a:srgbClr val="46060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p:nvPr/>
        </p:nvSpPr>
        <p:spPr>
          <a:xfrm>
            <a:off x="400050" y="346329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260" name="Google Shape;260;p25"/>
          <p:cNvSpPr/>
          <p:nvPr/>
        </p:nvSpPr>
        <p:spPr>
          <a:xfrm>
            <a:off x="765810" y="3429000"/>
            <a:ext cx="39776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F7C1C1"/>
              </a:buClr>
              <a:buSzPts val="1440"/>
              <a:buFont typeface="Lexend"/>
              <a:buNone/>
            </a:pPr>
            <a:r>
              <a:rPr b="1" i="0" lang="en-US" sz="1440" u="none" cap="none" strike="noStrike">
                <a:solidFill>
                  <a:srgbClr val="F7C1C1"/>
                </a:solidFill>
                <a:latin typeface="Lexend"/>
                <a:ea typeface="Lexend"/>
                <a:cs typeface="Lexend"/>
                <a:sym typeface="Lexend"/>
              </a:rPr>
              <a:t>Atenção</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F7C1C1"/>
              </a:buClr>
              <a:buSzPts val="1620"/>
              <a:buFont typeface="Lexend"/>
              <a:buNone/>
            </a:pPr>
            <a:r>
              <a:rPr b="0" i="0" lang="en-US" sz="1620" u="none" cap="none" strike="noStrike">
                <a:solidFill>
                  <a:srgbClr val="F7C1C1"/>
                </a:solidFill>
                <a:latin typeface="Lexend"/>
                <a:ea typeface="Lexend"/>
                <a:cs typeface="Lexend"/>
                <a:sym typeface="Lexend"/>
              </a:rPr>
              <a:t>Inclua toda a tabela: evite separar nomes de seus valores.</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5" name="Shape 265"/>
        <p:cNvGrpSpPr/>
        <p:nvPr/>
      </p:nvGrpSpPr>
      <p:grpSpPr>
        <a:xfrm>
          <a:off x="0" y="0"/>
          <a:ext cx="0" cy="0"/>
          <a:chOff x="0" y="0"/>
          <a:chExt cx="0" cy="0"/>
        </a:xfrm>
      </p:grpSpPr>
      <p:sp>
        <p:nvSpPr>
          <p:cNvPr id="266" name="Google Shape;266;p26"/>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Filtros Simples e Avançados</a:t>
            </a:r>
            <a:endParaRPr b="0" i="0" sz="2880" u="none" cap="none" strike="noStrike">
              <a:solidFill>
                <a:schemeClr val="dk1"/>
              </a:solidFill>
              <a:latin typeface="Calibri"/>
              <a:ea typeface="Calibri"/>
              <a:cs typeface="Calibri"/>
              <a:sym typeface="Calibri"/>
            </a:endParaRPr>
          </a:p>
        </p:txBody>
      </p:sp>
      <p:sp>
        <p:nvSpPr>
          <p:cNvPr id="267" name="Google Shape;267;p26"/>
          <p:cNvSpPr/>
          <p:nvPr/>
        </p:nvSpPr>
        <p:spPr>
          <a:xfrm>
            <a:off x="285750" y="8001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 ferramenta </a:t>
            </a:r>
            <a:r>
              <a:rPr b="1" i="0" lang="en-US" sz="1620" u="none" cap="none" strike="noStrike">
                <a:solidFill>
                  <a:srgbClr val="E8E4DF"/>
                </a:solidFill>
                <a:latin typeface="Lexend"/>
                <a:ea typeface="Lexend"/>
                <a:cs typeface="Lexend"/>
                <a:sym typeface="Lexend"/>
              </a:rPr>
              <a:t>Filtro</a:t>
            </a:r>
            <a:r>
              <a:rPr b="0" i="0" lang="en-US" sz="1620" u="none" cap="none" strike="noStrike">
                <a:solidFill>
                  <a:srgbClr val="E8E4DF"/>
                </a:solidFill>
                <a:latin typeface="Lexend"/>
                <a:ea typeface="Lexend"/>
                <a:cs typeface="Lexend"/>
                <a:sym typeface="Lexend"/>
              </a:rPr>
              <a:t> permite isolar subconjuntos de registros sem modificar permanentemente a base de dados original.</a:t>
            </a:r>
            <a:endParaRPr b="0" i="0" sz="1620" u="none" cap="none" strike="noStrike">
              <a:solidFill>
                <a:schemeClr val="dk1"/>
              </a:solidFill>
              <a:latin typeface="Calibri"/>
              <a:ea typeface="Calibri"/>
              <a:cs typeface="Calibri"/>
              <a:sym typeface="Calibri"/>
            </a:endParaRPr>
          </a:p>
        </p:txBody>
      </p:sp>
      <p:sp>
        <p:nvSpPr>
          <p:cNvPr id="268" name="Google Shape;268;p26"/>
          <p:cNvSpPr/>
          <p:nvPr/>
        </p:nvSpPr>
        <p:spPr>
          <a:xfrm>
            <a:off x="285750" y="1611630"/>
            <a:ext cx="419481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Filtro por Seleção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Adiciona menus suspensos aos cabeçalhos da tabela. Permite marcar ou desmarcar categorias específicas, como selecionar apenas pedidos da 'Região Sul'.</a:t>
            </a:r>
            <a:endParaRPr b="0" i="0" sz="1980" u="none" cap="none" strike="noStrike">
              <a:solidFill>
                <a:schemeClr val="dk1"/>
              </a:solidFill>
              <a:latin typeface="Calibri"/>
              <a:ea typeface="Calibri"/>
              <a:cs typeface="Calibri"/>
              <a:sym typeface="Calibri"/>
            </a:endParaRPr>
          </a:p>
        </p:txBody>
      </p:sp>
      <p:sp>
        <p:nvSpPr>
          <p:cNvPr id="269" name="Google Shape;269;p26"/>
          <p:cNvSpPr/>
          <p:nvPr/>
        </p:nvSpPr>
        <p:spPr>
          <a:xfrm>
            <a:off x="4652010" y="1611630"/>
            <a:ext cx="419481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Filtros Numéricos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Possibilita buscas com critérios avançados, como valores 'Maiores que', 'Entre intervalo' ou '10 Primeiros', agilizando diagnósticos de auditoria.</a:t>
            </a:r>
            <a:endParaRPr b="0" i="0" sz="1980" u="none" cap="none" strike="noStrike">
              <a:solidFill>
                <a:schemeClr val="dk1"/>
              </a:solidFill>
              <a:latin typeface="Calibri"/>
              <a:ea typeface="Calibri"/>
              <a:cs typeface="Calibri"/>
              <a:sym typeface="Calibri"/>
            </a:endParaRPr>
          </a:p>
        </p:txBody>
      </p:sp>
      <p:sp>
        <p:nvSpPr>
          <p:cNvPr id="270" name="Google Shape;270;p26"/>
          <p:cNvSpPr/>
          <p:nvPr/>
        </p:nvSpPr>
        <p:spPr>
          <a:xfrm>
            <a:off x="285750" y="3703320"/>
            <a:ext cx="8572500" cy="1125601"/>
          </a:xfrm>
          <a:prstGeom prst="roundRect">
            <a:avLst>
              <a:gd fmla="val 8124" name="adj"/>
            </a:avLst>
          </a:prstGeom>
          <a:solidFill>
            <a:srgbClr val="FAC873">
              <a:alpha val="14902"/>
            </a:srgbClr>
          </a:solidFill>
          <a:ln cap="flat" cmpd="sng" w="11425">
            <a:solidFill>
              <a:srgbClr val="573B0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p:nvPr/>
        </p:nvSpPr>
        <p:spPr>
          <a:xfrm>
            <a:off x="400050" y="385191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272" name="Google Shape;272;p26"/>
          <p:cNvSpPr/>
          <p:nvPr/>
        </p:nvSpPr>
        <p:spPr>
          <a:xfrm>
            <a:off x="765810" y="3817620"/>
            <a:ext cx="79781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FAC775"/>
              </a:buClr>
              <a:buSzPts val="1440"/>
              <a:buFont typeface="Lexend"/>
              <a:buNone/>
            </a:pPr>
            <a:r>
              <a:rPr b="1" i="0" lang="en-US" sz="1440" u="none" cap="none" strike="noStrike">
                <a:solidFill>
                  <a:srgbClr val="FAC775"/>
                </a:solidFill>
                <a:latin typeface="Lexend"/>
                <a:ea typeface="Lexend"/>
                <a:cs typeface="Lexend"/>
                <a:sym typeface="Lexend"/>
              </a:rPr>
              <a:t>Ponto-chave</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FAC775"/>
              </a:buClr>
              <a:buSzPts val="1620"/>
              <a:buFont typeface="Lexend"/>
              <a:buNone/>
            </a:pPr>
            <a:r>
              <a:rPr b="0" i="0" lang="en-US" sz="1620" u="none" cap="none" strike="noStrike">
                <a:solidFill>
                  <a:srgbClr val="FAC775"/>
                </a:solidFill>
                <a:latin typeface="Lexend"/>
                <a:ea typeface="Lexend"/>
                <a:cs typeface="Lexend"/>
                <a:sym typeface="Lexend"/>
              </a:rPr>
              <a:t>Linhas filtradas não são apagadas; ficam apenas temporariamente ocultas na visualização.</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27"/>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Ordem: Aplicação de Filtros em Tabela</a:t>
            </a:r>
            <a:endParaRPr b="0" i="0" sz="2880" u="none" cap="none" strike="noStrike">
              <a:solidFill>
                <a:schemeClr val="dk1"/>
              </a:solidFill>
              <a:latin typeface="Calibri"/>
              <a:ea typeface="Calibri"/>
              <a:cs typeface="Calibri"/>
              <a:sym typeface="Calibri"/>
            </a:endParaRPr>
          </a:p>
        </p:txBody>
      </p:sp>
      <p:sp>
        <p:nvSpPr>
          <p:cNvPr id="279" name="Google Shape;279;p27"/>
          <p:cNvSpPr/>
          <p:nvPr/>
        </p:nvSpPr>
        <p:spPr>
          <a:xfrm>
            <a:off x="285750" y="6858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Qual é a sequência correta de procedimentos para filtrar os maiores gastos em uma base de dados?</a:t>
            </a:r>
            <a:endParaRPr b="0" i="0" sz="1620" u="none" cap="none" strike="noStrike">
              <a:solidFill>
                <a:schemeClr val="dk1"/>
              </a:solidFill>
              <a:latin typeface="Calibri"/>
              <a:ea typeface="Calibri"/>
              <a:cs typeface="Calibri"/>
              <a:sym typeface="Calibri"/>
            </a:endParaRPr>
          </a:p>
        </p:txBody>
      </p:sp>
      <p:sp>
        <p:nvSpPr>
          <p:cNvPr id="280" name="Google Shape;280;p27"/>
          <p:cNvSpPr/>
          <p:nvPr/>
        </p:nvSpPr>
        <p:spPr>
          <a:xfrm>
            <a:off x="1714500" y="165735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Clicar na seta suspensa da coluna referente a Gastos.</a:t>
            </a:r>
            <a:endParaRPr b="0" i="0" sz="1620" u="none" cap="none" strike="noStrike">
              <a:solidFill>
                <a:schemeClr val="dk1"/>
              </a:solidFill>
              <a:latin typeface="Calibri"/>
              <a:ea typeface="Calibri"/>
              <a:cs typeface="Calibri"/>
              <a:sym typeface="Calibri"/>
            </a:endParaRPr>
          </a:p>
        </p:txBody>
      </p:sp>
      <p:sp>
        <p:nvSpPr>
          <p:cNvPr id="281" name="Google Shape;281;p27"/>
          <p:cNvSpPr/>
          <p:nvPr/>
        </p:nvSpPr>
        <p:spPr>
          <a:xfrm>
            <a:off x="1714500" y="240030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Ativar o comando Filtro na guia Dados da planilha.</a:t>
            </a:r>
            <a:endParaRPr b="0" i="0" sz="1620" u="none" cap="none" strike="noStrike">
              <a:solidFill>
                <a:schemeClr val="dk1"/>
              </a:solidFill>
              <a:latin typeface="Calibri"/>
              <a:ea typeface="Calibri"/>
              <a:cs typeface="Calibri"/>
              <a:sym typeface="Calibri"/>
            </a:endParaRPr>
          </a:p>
        </p:txBody>
      </p:sp>
      <p:sp>
        <p:nvSpPr>
          <p:cNvPr id="282" name="Google Shape;282;p27"/>
          <p:cNvSpPr/>
          <p:nvPr/>
        </p:nvSpPr>
        <p:spPr>
          <a:xfrm>
            <a:off x="1714500" y="314325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Selecionar a linha de cabeçalho da tabela de dados.</a:t>
            </a:r>
            <a:endParaRPr b="0" i="0" sz="1620" u="none" cap="none" strike="noStrike">
              <a:solidFill>
                <a:schemeClr val="dk1"/>
              </a:solidFill>
              <a:latin typeface="Calibri"/>
              <a:ea typeface="Calibri"/>
              <a:cs typeface="Calibri"/>
              <a:sym typeface="Calibri"/>
            </a:endParaRPr>
          </a:p>
        </p:txBody>
      </p:sp>
      <p:sp>
        <p:nvSpPr>
          <p:cNvPr id="283" name="Google Shape;283;p27"/>
          <p:cNvSpPr/>
          <p:nvPr/>
        </p:nvSpPr>
        <p:spPr>
          <a:xfrm>
            <a:off x="1714500" y="388620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Configurar a condição de filtro numérico para valores acima da média.</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8" name="Shape 288"/>
        <p:cNvGrpSpPr/>
        <p:nvPr/>
      </p:nvGrpSpPr>
      <p:grpSpPr>
        <a:xfrm>
          <a:off x="0" y="0"/>
          <a:ext cx="0" cy="0"/>
          <a:chOff x="0" y="0"/>
          <a:chExt cx="0" cy="0"/>
        </a:xfrm>
      </p:grpSpPr>
      <p:sp>
        <p:nvSpPr>
          <p:cNvPr id="289" name="Google Shape;289;p28"/>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Ordem: Aplicação de Filtros em Tabela</a:t>
            </a:r>
            <a:endParaRPr b="0" i="0" sz="2880" u="none" cap="none" strike="noStrike">
              <a:solidFill>
                <a:schemeClr val="dk1"/>
              </a:solidFill>
              <a:latin typeface="Calibri"/>
              <a:ea typeface="Calibri"/>
              <a:cs typeface="Calibri"/>
              <a:sym typeface="Calibri"/>
            </a:endParaRPr>
          </a:p>
        </p:txBody>
      </p:sp>
      <p:sp>
        <p:nvSpPr>
          <p:cNvPr id="290" name="Google Shape;290;p28"/>
          <p:cNvSpPr/>
          <p:nvPr/>
        </p:nvSpPr>
        <p:spPr>
          <a:xfrm>
            <a:off x="285750" y="6858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Qual é a sequência correta de procedimentos para filtrar os maiores gastos em uma base de dados?</a:t>
            </a:r>
            <a:endParaRPr b="0" i="0" sz="1620" u="none" cap="none" strike="noStrike">
              <a:solidFill>
                <a:schemeClr val="dk1"/>
              </a:solidFill>
              <a:latin typeface="Calibri"/>
              <a:ea typeface="Calibri"/>
              <a:cs typeface="Calibri"/>
              <a:sym typeface="Calibri"/>
            </a:endParaRPr>
          </a:p>
        </p:txBody>
      </p:sp>
      <p:sp>
        <p:nvSpPr>
          <p:cNvPr id="291" name="Google Shape;291;p28"/>
          <p:cNvSpPr/>
          <p:nvPr/>
        </p:nvSpPr>
        <p:spPr>
          <a:xfrm>
            <a:off x="1714500" y="314325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Clicar na seta suspensa da coluna referente a Gastos.</a:t>
            </a:r>
            <a:endParaRPr b="0" i="0" sz="1620" u="none" cap="none" strike="noStrike">
              <a:solidFill>
                <a:schemeClr val="dk1"/>
              </a:solidFill>
              <a:latin typeface="Calibri"/>
              <a:ea typeface="Calibri"/>
              <a:cs typeface="Calibri"/>
              <a:sym typeface="Calibri"/>
            </a:endParaRPr>
          </a:p>
        </p:txBody>
      </p:sp>
      <p:sp>
        <p:nvSpPr>
          <p:cNvPr id="292" name="Google Shape;292;p28"/>
          <p:cNvSpPr/>
          <p:nvPr/>
        </p:nvSpPr>
        <p:spPr>
          <a:xfrm>
            <a:off x="1714500" y="240030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Ativar o comando Filtro na guia Dados da planilha.</a:t>
            </a:r>
            <a:endParaRPr b="0" i="0" sz="1620" u="none" cap="none" strike="noStrike">
              <a:solidFill>
                <a:schemeClr val="dk1"/>
              </a:solidFill>
              <a:latin typeface="Calibri"/>
              <a:ea typeface="Calibri"/>
              <a:cs typeface="Calibri"/>
              <a:sym typeface="Calibri"/>
            </a:endParaRPr>
          </a:p>
        </p:txBody>
      </p:sp>
      <p:sp>
        <p:nvSpPr>
          <p:cNvPr id="293" name="Google Shape;293;p28"/>
          <p:cNvSpPr/>
          <p:nvPr/>
        </p:nvSpPr>
        <p:spPr>
          <a:xfrm>
            <a:off x="1714500" y="165735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Selecionar a linha de cabeçalho da tabela de dados.</a:t>
            </a:r>
            <a:endParaRPr b="0" i="0" sz="1620" u="none" cap="none" strike="noStrike">
              <a:solidFill>
                <a:schemeClr val="dk1"/>
              </a:solidFill>
              <a:latin typeface="Calibri"/>
              <a:ea typeface="Calibri"/>
              <a:cs typeface="Calibri"/>
              <a:sym typeface="Calibri"/>
            </a:endParaRPr>
          </a:p>
        </p:txBody>
      </p:sp>
      <p:sp>
        <p:nvSpPr>
          <p:cNvPr id="294" name="Google Shape;294;p28"/>
          <p:cNvSpPr/>
          <p:nvPr/>
        </p:nvSpPr>
        <p:spPr>
          <a:xfrm>
            <a:off x="1714500" y="3886200"/>
            <a:ext cx="5715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80000" lIns="80000" spcFirstLastPara="1" rIns="80000" wrap="square" tIns="800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Configurar a condição de filtro numérico para valores acima da média.</a:t>
            </a:r>
            <a:endParaRPr b="0" i="0" sz="1620" u="none" cap="none" strike="noStrike">
              <a:solidFill>
                <a:schemeClr val="dk1"/>
              </a:solidFill>
              <a:latin typeface="Calibri"/>
              <a:ea typeface="Calibri"/>
              <a:cs typeface="Calibri"/>
              <a:sym typeface="Calibri"/>
            </a:endParaRPr>
          </a:p>
        </p:txBody>
      </p:sp>
      <p:sp>
        <p:nvSpPr>
          <p:cNvPr id="295" name="Google Shape;295;p28"/>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3333"/>
              </a:lnSpc>
              <a:spcBef>
                <a:spcPts val="0"/>
              </a:spcBef>
              <a:spcAft>
                <a:spcPts val="0"/>
              </a:spcAft>
              <a:buClr>
                <a:srgbClr val="E8E4DF"/>
              </a:buClr>
              <a:buSzPts val="3600"/>
              <a:buFont typeface="Lexend"/>
              <a:buNone/>
            </a:pPr>
            <a:r>
              <a:rPr b="0" i="0" lang="en-US" sz="3600" u="none" cap="none" strike="noStrike">
                <a:solidFill>
                  <a:srgbClr val="E8E4D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
        <p:nvSpPr>
          <p:cNvPr id="296" name="Google Shape;296;p28"/>
          <p:cNvSpPr/>
          <p:nvPr/>
        </p:nvSpPr>
        <p:spPr>
          <a:xfrm>
            <a:off x="7292340" y="1520190"/>
            <a:ext cx="274320" cy="274320"/>
          </a:xfrm>
          <a:prstGeom prst="roundRect">
            <a:avLst>
              <a:gd fmla="val 25000" name="adj"/>
            </a:avLst>
          </a:prstGeom>
          <a:solidFill>
            <a:srgbClr val="000000"/>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1</a:t>
            </a:r>
            <a:endParaRPr b="0" i="0" sz="1170" u="none" cap="none" strike="noStrike">
              <a:solidFill>
                <a:schemeClr val="dk1"/>
              </a:solidFill>
              <a:latin typeface="Calibri"/>
              <a:ea typeface="Calibri"/>
              <a:cs typeface="Calibri"/>
              <a:sym typeface="Calibri"/>
            </a:endParaRPr>
          </a:p>
        </p:txBody>
      </p:sp>
      <p:sp>
        <p:nvSpPr>
          <p:cNvPr id="297" name="Google Shape;297;p28"/>
          <p:cNvSpPr/>
          <p:nvPr/>
        </p:nvSpPr>
        <p:spPr>
          <a:xfrm>
            <a:off x="7292340" y="2263140"/>
            <a:ext cx="274320" cy="274320"/>
          </a:xfrm>
          <a:prstGeom prst="roundRect">
            <a:avLst>
              <a:gd fmla="val 25000" name="adj"/>
            </a:avLst>
          </a:prstGeom>
          <a:solidFill>
            <a:srgbClr val="000000"/>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2</a:t>
            </a:r>
            <a:endParaRPr b="0" i="0" sz="1170" u="none" cap="none" strike="noStrike">
              <a:solidFill>
                <a:schemeClr val="dk1"/>
              </a:solidFill>
              <a:latin typeface="Calibri"/>
              <a:ea typeface="Calibri"/>
              <a:cs typeface="Calibri"/>
              <a:sym typeface="Calibri"/>
            </a:endParaRPr>
          </a:p>
        </p:txBody>
      </p:sp>
      <p:sp>
        <p:nvSpPr>
          <p:cNvPr id="298" name="Google Shape;298;p28"/>
          <p:cNvSpPr/>
          <p:nvPr/>
        </p:nvSpPr>
        <p:spPr>
          <a:xfrm>
            <a:off x="7292340" y="3006090"/>
            <a:ext cx="274320" cy="274320"/>
          </a:xfrm>
          <a:prstGeom prst="roundRect">
            <a:avLst>
              <a:gd fmla="val 25000" name="adj"/>
            </a:avLst>
          </a:prstGeom>
          <a:solidFill>
            <a:srgbClr val="000000"/>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3</a:t>
            </a:r>
            <a:endParaRPr b="0" i="0" sz="1170" u="none" cap="none" strike="noStrike">
              <a:solidFill>
                <a:schemeClr val="dk1"/>
              </a:solidFill>
              <a:latin typeface="Calibri"/>
              <a:ea typeface="Calibri"/>
              <a:cs typeface="Calibri"/>
              <a:sym typeface="Calibri"/>
            </a:endParaRPr>
          </a:p>
        </p:txBody>
      </p:sp>
      <p:sp>
        <p:nvSpPr>
          <p:cNvPr id="299" name="Google Shape;299;p28"/>
          <p:cNvSpPr/>
          <p:nvPr/>
        </p:nvSpPr>
        <p:spPr>
          <a:xfrm>
            <a:off x="7292340" y="3749040"/>
            <a:ext cx="274320" cy="274320"/>
          </a:xfrm>
          <a:prstGeom prst="roundRect">
            <a:avLst>
              <a:gd fmla="val 25000" name="adj"/>
            </a:avLst>
          </a:prstGeom>
          <a:solidFill>
            <a:srgbClr val="000000"/>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4</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pic>
        <p:nvPicPr>
          <p:cNvPr descr="/home/forge/chalkie-production-workers-2/releases/77424486/backend/storage/app/render-specs/022eb815-9090-4bd7-8537-9223371fc075/img_57ad7b01b5d6c0bd7a2778db58fa182b.png" id="305" name="Google Shape;305;p29"/>
          <p:cNvPicPr preferRelativeResize="0"/>
          <p:nvPr/>
        </p:nvPicPr>
        <p:blipFill rotWithShape="1">
          <a:blip r:embed="rId4">
            <a:alphaModFix/>
          </a:blip>
          <a:srcRect b="0" l="0" r="0" t="0"/>
          <a:stretch/>
        </p:blipFill>
        <p:spPr>
          <a:xfrm>
            <a:off x="285750" y="800100"/>
            <a:ext cx="3829050" cy="4057650"/>
          </a:xfrm>
          <a:prstGeom prst="roundRect">
            <a:avLst>
              <a:gd fmla="val 3582" name="adj"/>
            </a:avLst>
          </a:prstGeom>
          <a:noFill/>
          <a:ln>
            <a:noFill/>
          </a:ln>
        </p:spPr>
      </p:pic>
      <p:sp>
        <p:nvSpPr>
          <p:cNvPr id="306" name="Google Shape;306;p29"/>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Congelamento de Painéis</a:t>
            </a:r>
            <a:endParaRPr b="0" i="0" sz="2880" u="none" cap="none" strike="noStrike">
              <a:solidFill>
                <a:schemeClr val="dk1"/>
              </a:solidFill>
              <a:latin typeface="Calibri"/>
              <a:ea typeface="Calibri"/>
              <a:cs typeface="Calibri"/>
              <a:sym typeface="Calibri"/>
            </a:endParaRPr>
          </a:p>
        </p:txBody>
      </p:sp>
      <p:sp>
        <p:nvSpPr>
          <p:cNvPr id="307" name="Google Shape;307;p29"/>
          <p:cNvSpPr/>
          <p:nvPr/>
        </p:nvSpPr>
        <p:spPr>
          <a:xfrm>
            <a:off x="4286250" y="868680"/>
            <a:ext cx="168021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ORGANIZAÇÃO</a:t>
            </a:r>
            <a:endParaRPr b="0" i="0" sz="1080" u="none" cap="none" strike="noStrike">
              <a:solidFill>
                <a:schemeClr val="dk1"/>
              </a:solidFill>
              <a:latin typeface="Calibri"/>
              <a:ea typeface="Calibri"/>
              <a:cs typeface="Calibri"/>
              <a:sym typeface="Calibri"/>
            </a:endParaRPr>
          </a:p>
        </p:txBody>
      </p:sp>
      <p:sp>
        <p:nvSpPr>
          <p:cNvPr id="308" name="Google Shape;308;p29"/>
          <p:cNvSpPr/>
          <p:nvPr/>
        </p:nvSpPr>
        <p:spPr>
          <a:xfrm>
            <a:off x="4286250" y="1177290"/>
            <a:ext cx="457200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Navegabilidade em Grandes Tabelas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Ao rolar tabelas com centenas de linhas, perde-se a visibilidade do título de cada coluna.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Congelar Linha Superior:</a:t>
            </a:r>
            <a:r>
              <a:rPr b="0" i="0" lang="en-US" sz="1620" u="none" cap="none" strike="noStrike">
                <a:solidFill>
                  <a:srgbClr val="E8E4DF"/>
                </a:solidFill>
                <a:latin typeface="Lexend"/>
                <a:ea typeface="Lexend"/>
                <a:cs typeface="Lexend"/>
                <a:sym typeface="Lexend"/>
              </a:rPr>
              <a:t> mantém os cabeçalhos fixos no topo durante a rolagem vertical.</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Congelar Primeira Coluna:</a:t>
            </a:r>
            <a:r>
              <a:rPr b="0" i="0" lang="en-US" sz="1620" u="none" cap="none" strike="noStrike">
                <a:solidFill>
                  <a:srgbClr val="E8E4DF"/>
                </a:solidFill>
                <a:latin typeface="Lexend"/>
                <a:ea typeface="Lexend"/>
                <a:cs typeface="Lexend"/>
                <a:sym typeface="Lexend"/>
              </a:rPr>
              <a:t> mantém códigos ou nomes fixos à esquerda durante a navegação horizontal.</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Essencial para conferência rápida de dados sem risco de equívoco analítico.</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3" name="Shape 313"/>
        <p:cNvGrpSpPr/>
        <p:nvPr/>
      </p:nvGrpSpPr>
      <p:grpSpPr>
        <a:xfrm>
          <a:off x="0" y="0"/>
          <a:ext cx="0" cy="0"/>
          <a:chOff x="0" y="0"/>
          <a:chExt cx="0" cy="0"/>
        </a:xfrm>
      </p:grpSpPr>
      <p:pic>
        <p:nvPicPr>
          <p:cNvPr descr="/home/forge/chalkie-production-workers-2/releases/77424486/backend/storage/app/render-specs/022eb815-9090-4bd7-8537-9223371fc075/img_ba832f09bd8116a541b9128a264c5e22.jpg" id="314" name="Google Shape;314;p30"/>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315" name="Google Shape;315;p30"/>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Segurança e Proteção de Células</a:t>
            </a:r>
            <a:endParaRPr b="0" i="0" sz="2880" u="none" cap="none" strike="noStrike">
              <a:solidFill>
                <a:schemeClr val="dk1"/>
              </a:solidFill>
              <a:latin typeface="Calibri"/>
              <a:ea typeface="Calibri"/>
              <a:cs typeface="Calibri"/>
              <a:sym typeface="Calibri"/>
            </a:endParaRPr>
          </a:p>
        </p:txBody>
      </p:sp>
      <p:sp>
        <p:nvSpPr>
          <p:cNvPr id="316" name="Google Shape;316;p30"/>
          <p:cNvSpPr/>
          <p:nvPr/>
        </p:nvSpPr>
        <p:spPr>
          <a:xfrm>
            <a:off x="285750" y="868680"/>
            <a:ext cx="142875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SEGURANÇA</a:t>
            </a:r>
            <a:endParaRPr b="0" i="0" sz="1080" u="none" cap="none" strike="noStrike">
              <a:solidFill>
                <a:schemeClr val="dk1"/>
              </a:solidFill>
              <a:latin typeface="Calibri"/>
              <a:ea typeface="Calibri"/>
              <a:cs typeface="Calibri"/>
              <a:sym typeface="Calibri"/>
            </a:endParaRPr>
          </a:p>
        </p:txBody>
      </p:sp>
      <p:sp>
        <p:nvSpPr>
          <p:cNvPr id="317" name="Google Shape;317;p30"/>
          <p:cNvSpPr/>
          <p:nvPr/>
        </p:nvSpPr>
        <p:spPr>
          <a:xfrm>
            <a:off x="285750" y="1177290"/>
            <a:ext cx="457200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Integridade Operacional</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Planilhas compartilhadas em equipes sofrem riscos de alterações acidentais em fórmulas mestras.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Bloqueio de Fórmulas:</a:t>
            </a:r>
            <a:r>
              <a:rPr b="0" i="0" lang="en-US" sz="1620" u="none" cap="none" strike="noStrike">
                <a:solidFill>
                  <a:srgbClr val="E8E4DF"/>
                </a:solidFill>
                <a:latin typeface="Lexend"/>
                <a:ea typeface="Lexend"/>
                <a:cs typeface="Lexend"/>
                <a:sym typeface="Lexend"/>
              </a:rPr>
              <a:t> trava as células com cálculos matemáticos para impedir edições indevidas.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Desbloqueio de Input:</a:t>
            </a:r>
            <a:r>
              <a:rPr b="0" i="0" lang="en-US" sz="1620" u="none" cap="none" strike="noStrike">
                <a:solidFill>
                  <a:srgbClr val="E8E4DF"/>
                </a:solidFill>
                <a:latin typeface="Lexend"/>
                <a:ea typeface="Lexend"/>
                <a:cs typeface="Lexend"/>
                <a:sym typeface="Lexend"/>
              </a:rPr>
              <a:t> deixa abertas apenas as células destinadas à digitação de dados novos.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Proteção da Planilha:</a:t>
            </a:r>
            <a:r>
              <a:rPr b="0" i="0" lang="en-US" sz="1620" u="none" cap="none" strike="noStrike">
                <a:solidFill>
                  <a:srgbClr val="E8E4DF"/>
                </a:solidFill>
                <a:latin typeface="Lexend"/>
                <a:ea typeface="Lexend"/>
                <a:cs typeface="Lexend"/>
                <a:sym typeface="Lexend"/>
              </a:rPr>
              <a:t> define senha para evitar exclusão de abas e formatos.</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2" name="Shape 322"/>
        <p:cNvGrpSpPr/>
        <p:nvPr/>
      </p:nvGrpSpPr>
      <p:grpSpPr>
        <a:xfrm>
          <a:off x="0" y="0"/>
          <a:ext cx="0" cy="0"/>
          <a:chOff x="0" y="0"/>
          <a:chExt cx="0" cy="0"/>
        </a:xfrm>
      </p:grpSpPr>
      <p:sp>
        <p:nvSpPr>
          <p:cNvPr id="323" name="Google Shape;323;p31"/>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Checagem: Recursos de Produtividade</a:t>
            </a:r>
            <a:endParaRPr b="0" i="0" sz="2880" u="none" cap="none" strike="noStrike">
              <a:solidFill>
                <a:schemeClr val="dk1"/>
              </a:solidFill>
              <a:latin typeface="Calibri"/>
              <a:ea typeface="Calibri"/>
              <a:cs typeface="Calibri"/>
              <a:sym typeface="Calibri"/>
            </a:endParaRPr>
          </a:p>
        </p:txBody>
      </p:sp>
      <p:sp>
        <p:nvSpPr>
          <p:cNvPr id="324" name="Google Shape;324;p31"/>
          <p:cNvSpPr/>
          <p:nvPr/>
        </p:nvSpPr>
        <p:spPr>
          <a:xfrm>
            <a:off x="285750" y="6858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Quais das afirmações a seguir sobre visualização e segurança de planilhas são verdadeiras? (Mais de uma está correta)</a:t>
            </a:r>
            <a:endParaRPr b="0" i="0" sz="1620" u="none" cap="none" strike="noStrike">
              <a:solidFill>
                <a:schemeClr val="dk1"/>
              </a:solidFill>
              <a:latin typeface="Calibri"/>
              <a:ea typeface="Calibri"/>
              <a:cs typeface="Calibri"/>
              <a:sym typeface="Calibri"/>
            </a:endParaRPr>
          </a:p>
        </p:txBody>
      </p:sp>
      <p:sp>
        <p:nvSpPr>
          <p:cNvPr id="325" name="Google Shape;325;p31"/>
          <p:cNvSpPr/>
          <p:nvPr/>
        </p:nvSpPr>
        <p:spPr>
          <a:xfrm>
            <a:off x="285750" y="16573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1.</a:t>
            </a:r>
            <a:endParaRPr b="0" i="0" sz="2520" u="none" cap="none" strike="noStrike">
              <a:solidFill>
                <a:schemeClr val="dk1"/>
              </a:solidFill>
              <a:latin typeface="Calibri"/>
              <a:ea typeface="Calibri"/>
              <a:cs typeface="Calibri"/>
              <a:sym typeface="Calibri"/>
            </a:endParaRPr>
          </a:p>
        </p:txBody>
      </p:sp>
      <p:sp>
        <p:nvSpPr>
          <p:cNvPr id="326" name="Google Shape;326;p31"/>
          <p:cNvSpPr/>
          <p:nvPr/>
        </p:nvSpPr>
        <p:spPr>
          <a:xfrm>
            <a:off x="857250" y="16573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Proteger uma planilha apaga automaticamente o histórico de preenchimento.</a:t>
            </a:r>
            <a:endParaRPr b="0" i="0" sz="1620" u="none" cap="none" strike="noStrike">
              <a:solidFill>
                <a:schemeClr val="dk1"/>
              </a:solidFill>
              <a:latin typeface="Calibri"/>
              <a:ea typeface="Calibri"/>
              <a:cs typeface="Calibri"/>
              <a:sym typeface="Calibri"/>
            </a:endParaRPr>
          </a:p>
        </p:txBody>
      </p:sp>
      <p:sp>
        <p:nvSpPr>
          <p:cNvPr id="327" name="Google Shape;327;p31"/>
          <p:cNvSpPr/>
          <p:nvPr/>
        </p:nvSpPr>
        <p:spPr>
          <a:xfrm>
            <a:off x="285750" y="25146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2.</a:t>
            </a:r>
            <a:endParaRPr b="0" i="0" sz="2520" u="none" cap="none" strike="noStrike">
              <a:solidFill>
                <a:schemeClr val="dk1"/>
              </a:solidFill>
              <a:latin typeface="Calibri"/>
              <a:ea typeface="Calibri"/>
              <a:cs typeface="Calibri"/>
              <a:sym typeface="Calibri"/>
            </a:endParaRPr>
          </a:p>
        </p:txBody>
      </p:sp>
      <p:sp>
        <p:nvSpPr>
          <p:cNvPr id="328" name="Google Shape;328;p31"/>
          <p:cNvSpPr/>
          <p:nvPr/>
        </p:nvSpPr>
        <p:spPr>
          <a:xfrm>
            <a:off x="857250" y="25146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O bloqueio de células protege fórmulas críticas contra edições involuntárias de outros usuários.</a:t>
            </a:r>
            <a:endParaRPr b="0" i="0" sz="1620" u="none" cap="none" strike="noStrike">
              <a:solidFill>
                <a:schemeClr val="dk1"/>
              </a:solidFill>
              <a:latin typeface="Calibri"/>
              <a:ea typeface="Calibri"/>
              <a:cs typeface="Calibri"/>
              <a:sym typeface="Calibri"/>
            </a:endParaRPr>
          </a:p>
        </p:txBody>
      </p:sp>
      <p:sp>
        <p:nvSpPr>
          <p:cNvPr id="329" name="Google Shape;329;p31"/>
          <p:cNvSpPr/>
          <p:nvPr/>
        </p:nvSpPr>
        <p:spPr>
          <a:xfrm>
            <a:off x="285750" y="33718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3.</a:t>
            </a:r>
            <a:endParaRPr b="0" i="0" sz="2520" u="none" cap="none" strike="noStrike">
              <a:solidFill>
                <a:schemeClr val="dk1"/>
              </a:solidFill>
              <a:latin typeface="Calibri"/>
              <a:ea typeface="Calibri"/>
              <a:cs typeface="Calibri"/>
              <a:sym typeface="Calibri"/>
            </a:endParaRPr>
          </a:p>
        </p:txBody>
      </p:sp>
      <p:sp>
        <p:nvSpPr>
          <p:cNvPr id="330" name="Google Shape;330;p31"/>
          <p:cNvSpPr/>
          <p:nvPr/>
        </p:nvSpPr>
        <p:spPr>
          <a:xfrm>
            <a:off x="857250" y="33718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Filtrar dados exclui permanentemente do disco as linhas que não cumprem o critério.</a:t>
            </a:r>
            <a:endParaRPr b="0" i="0" sz="1620" u="none" cap="none" strike="noStrike">
              <a:solidFill>
                <a:schemeClr val="dk1"/>
              </a:solidFill>
              <a:latin typeface="Calibri"/>
              <a:ea typeface="Calibri"/>
              <a:cs typeface="Calibri"/>
              <a:sym typeface="Calibri"/>
            </a:endParaRPr>
          </a:p>
        </p:txBody>
      </p:sp>
      <p:sp>
        <p:nvSpPr>
          <p:cNvPr id="331" name="Google Shape;331;p31"/>
          <p:cNvSpPr/>
          <p:nvPr/>
        </p:nvSpPr>
        <p:spPr>
          <a:xfrm>
            <a:off x="285750" y="42291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4.</a:t>
            </a:r>
            <a:endParaRPr b="0" i="0" sz="2520" u="none" cap="none" strike="noStrike">
              <a:solidFill>
                <a:schemeClr val="dk1"/>
              </a:solidFill>
              <a:latin typeface="Calibri"/>
              <a:ea typeface="Calibri"/>
              <a:cs typeface="Calibri"/>
              <a:sym typeface="Calibri"/>
            </a:endParaRPr>
          </a:p>
        </p:txBody>
      </p:sp>
      <p:sp>
        <p:nvSpPr>
          <p:cNvPr id="332" name="Google Shape;332;p31"/>
          <p:cNvSpPr/>
          <p:nvPr/>
        </p:nvSpPr>
        <p:spPr>
          <a:xfrm>
            <a:off x="857250" y="42291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O congelamento de painéis fixa linhas ou colunas para mantê-las visíveis durante a navegação.</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7" name="Shape 337"/>
        <p:cNvGrpSpPr/>
        <p:nvPr/>
      </p:nvGrpSpPr>
      <p:grpSpPr>
        <a:xfrm>
          <a:off x="0" y="0"/>
          <a:ext cx="0" cy="0"/>
          <a:chOff x="0" y="0"/>
          <a:chExt cx="0" cy="0"/>
        </a:xfrm>
      </p:grpSpPr>
      <p:sp>
        <p:nvSpPr>
          <p:cNvPr id="338" name="Google Shape;338;p32"/>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Checagem: Recursos de Produtividade</a:t>
            </a:r>
            <a:endParaRPr b="0" i="0" sz="2880" u="none" cap="none" strike="noStrike">
              <a:solidFill>
                <a:schemeClr val="dk1"/>
              </a:solidFill>
              <a:latin typeface="Calibri"/>
              <a:ea typeface="Calibri"/>
              <a:cs typeface="Calibri"/>
              <a:sym typeface="Calibri"/>
            </a:endParaRPr>
          </a:p>
        </p:txBody>
      </p:sp>
      <p:sp>
        <p:nvSpPr>
          <p:cNvPr id="339" name="Google Shape;339;p32"/>
          <p:cNvSpPr/>
          <p:nvPr/>
        </p:nvSpPr>
        <p:spPr>
          <a:xfrm>
            <a:off x="285750" y="6858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Quais das afirmações a seguir sobre visualização e segurança de planilhas são verdadeiras? (Mais de uma está correta)</a:t>
            </a:r>
            <a:endParaRPr b="0" i="0" sz="1620" u="none" cap="none" strike="noStrike">
              <a:solidFill>
                <a:schemeClr val="dk1"/>
              </a:solidFill>
              <a:latin typeface="Calibri"/>
              <a:ea typeface="Calibri"/>
              <a:cs typeface="Calibri"/>
              <a:sym typeface="Calibri"/>
            </a:endParaRPr>
          </a:p>
        </p:txBody>
      </p:sp>
      <p:sp>
        <p:nvSpPr>
          <p:cNvPr id="340" name="Google Shape;340;p32"/>
          <p:cNvSpPr/>
          <p:nvPr/>
        </p:nvSpPr>
        <p:spPr>
          <a:xfrm>
            <a:off x="285750" y="16573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1.</a:t>
            </a:r>
            <a:endParaRPr b="0" i="0" sz="2520" u="none" cap="none" strike="noStrike">
              <a:solidFill>
                <a:schemeClr val="dk1"/>
              </a:solidFill>
              <a:latin typeface="Calibri"/>
              <a:ea typeface="Calibri"/>
              <a:cs typeface="Calibri"/>
              <a:sym typeface="Calibri"/>
            </a:endParaRPr>
          </a:p>
        </p:txBody>
      </p:sp>
      <p:sp>
        <p:nvSpPr>
          <p:cNvPr id="341" name="Google Shape;341;p32"/>
          <p:cNvSpPr/>
          <p:nvPr/>
        </p:nvSpPr>
        <p:spPr>
          <a:xfrm>
            <a:off x="857250" y="16573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Proteger uma planilha apaga automaticamente o histórico de preenchimento.</a:t>
            </a:r>
            <a:endParaRPr b="0" i="0" sz="1620" u="none" cap="none" strike="noStrike">
              <a:solidFill>
                <a:schemeClr val="dk1"/>
              </a:solidFill>
              <a:latin typeface="Calibri"/>
              <a:ea typeface="Calibri"/>
              <a:cs typeface="Calibri"/>
              <a:sym typeface="Calibri"/>
            </a:endParaRPr>
          </a:p>
        </p:txBody>
      </p:sp>
      <p:sp>
        <p:nvSpPr>
          <p:cNvPr id="342" name="Google Shape;342;p32"/>
          <p:cNvSpPr/>
          <p:nvPr/>
        </p:nvSpPr>
        <p:spPr>
          <a:xfrm>
            <a:off x="285750" y="25146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2.</a:t>
            </a:r>
            <a:endParaRPr b="0" i="0" sz="2520" u="none" cap="none" strike="noStrike">
              <a:solidFill>
                <a:schemeClr val="dk1"/>
              </a:solidFill>
              <a:latin typeface="Calibri"/>
              <a:ea typeface="Calibri"/>
              <a:cs typeface="Calibri"/>
              <a:sym typeface="Calibri"/>
            </a:endParaRPr>
          </a:p>
        </p:txBody>
      </p:sp>
      <p:sp>
        <p:nvSpPr>
          <p:cNvPr id="343" name="Google Shape;343;p32"/>
          <p:cNvSpPr/>
          <p:nvPr/>
        </p:nvSpPr>
        <p:spPr>
          <a:xfrm>
            <a:off x="857250" y="2514600"/>
            <a:ext cx="8001000" cy="685800"/>
          </a:xfrm>
          <a:prstGeom prst="roundRect">
            <a:avLst>
              <a:gd fmla="val 16667" name="adj"/>
            </a:avLst>
          </a:prstGeom>
          <a:solidFill>
            <a:srgbClr val="F4F9FC"/>
          </a:solidFill>
          <a:ln cap="flat" cmpd="sng" w="45700">
            <a:solidFill>
              <a:srgbClr val="2C6E49"/>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O bloqueio de células protege fórmulas críticas contra edições involuntárias de outros usuários.</a:t>
            </a:r>
            <a:endParaRPr b="0" i="0" sz="1620" u="none" cap="none" strike="noStrike">
              <a:solidFill>
                <a:schemeClr val="dk1"/>
              </a:solidFill>
              <a:latin typeface="Calibri"/>
              <a:ea typeface="Calibri"/>
              <a:cs typeface="Calibri"/>
              <a:sym typeface="Calibri"/>
            </a:endParaRPr>
          </a:p>
        </p:txBody>
      </p:sp>
      <p:sp>
        <p:nvSpPr>
          <p:cNvPr id="344" name="Google Shape;344;p32"/>
          <p:cNvSpPr/>
          <p:nvPr/>
        </p:nvSpPr>
        <p:spPr>
          <a:xfrm>
            <a:off x="285750" y="33718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3.</a:t>
            </a:r>
            <a:endParaRPr b="0" i="0" sz="2520" u="none" cap="none" strike="noStrike">
              <a:solidFill>
                <a:schemeClr val="dk1"/>
              </a:solidFill>
              <a:latin typeface="Calibri"/>
              <a:ea typeface="Calibri"/>
              <a:cs typeface="Calibri"/>
              <a:sym typeface="Calibri"/>
            </a:endParaRPr>
          </a:p>
        </p:txBody>
      </p:sp>
      <p:sp>
        <p:nvSpPr>
          <p:cNvPr id="345" name="Google Shape;345;p32"/>
          <p:cNvSpPr/>
          <p:nvPr/>
        </p:nvSpPr>
        <p:spPr>
          <a:xfrm>
            <a:off x="857250" y="33718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Filtrar dados exclui permanentemente do disco as linhas que não cumprem o critério.</a:t>
            </a:r>
            <a:endParaRPr b="0" i="0" sz="1620" u="none" cap="none" strike="noStrike">
              <a:solidFill>
                <a:schemeClr val="dk1"/>
              </a:solidFill>
              <a:latin typeface="Calibri"/>
              <a:ea typeface="Calibri"/>
              <a:cs typeface="Calibri"/>
              <a:sym typeface="Calibri"/>
            </a:endParaRPr>
          </a:p>
        </p:txBody>
      </p:sp>
      <p:sp>
        <p:nvSpPr>
          <p:cNvPr id="346" name="Google Shape;346;p32"/>
          <p:cNvSpPr/>
          <p:nvPr/>
        </p:nvSpPr>
        <p:spPr>
          <a:xfrm>
            <a:off x="285750" y="42291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E8E4DF"/>
              </a:buClr>
              <a:buSzPts val="2520"/>
              <a:buFont typeface="Lexend"/>
              <a:buNone/>
            </a:pPr>
            <a:r>
              <a:rPr b="1" i="0" lang="en-US" sz="2520" u="none" cap="none" strike="noStrike">
                <a:solidFill>
                  <a:srgbClr val="E8E4DF"/>
                </a:solidFill>
                <a:latin typeface="Lexend"/>
                <a:ea typeface="Lexend"/>
                <a:cs typeface="Lexend"/>
                <a:sym typeface="Lexend"/>
              </a:rPr>
              <a:t>4.</a:t>
            </a:r>
            <a:endParaRPr b="0" i="0" sz="2520" u="none" cap="none" strike="noStrike">
              <a:solidFill>
                <a:schemeClr val="dk1"/>
              </a:solidFill>
              <a:latin typeface="Calibri"/>
              <a:ea typeface="Calibri"/>
              <a:cs typeface="Calibri"/>
              <a:sym typeface="Calibri"/>
            </a:endParaRPr>
          </a:p>
        </p:txBody>
      </p:sp>
      <p:sp>
        <p:nvSpPr>
          <p:cNvPr id="347" name="Google Shape;347;p32"/>
          <p:cNvSpPr/>
          <p:nvPr/>
        </p:nvSpPr>
        <p:spPr>
          <a:xfrm>
            <a:off x="857250" y="4229100"/>
            <a:ext cx="8001000" cy="685800"/>
          </a:xfrm>
          <a:prstGeom prst="roundRect">
            <a:avLst>
              <a:gd fmla="val 16667" name="adj"/>
            </a:avLst>
          </a:prstGeom>
          <a:solidFill>
            <a:srgbClr val="F4F9FC"/>
          </a:solidFill>
          <a:ln cap="flat" cmpd="sng" w="45700">
            <a:solidFill>
              <a:srgbClr val="2C6E49"/>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O congelamento de painéis fixa linhas ou colunas para mantê-las visíveis durante a navegação.</a:t>
            </a:r>
            <a:endParaRPr b="0" i="0" sz="1620" u="none" cap="none" strike="noStrike">
              <a:solidFill>
                <a:schemeClr val="dk1"/>
              </a:solidFill>
              <a:latin typeface="Calibri"/>
              <a:ea typeface="Calibri"/>
              <a:cs typeface="Calibri"/>
              <a:sym typeface="Calibri"/>
            </a:endParaRPr>
          </a:p>
        </p:txBody>
      </p:sp>
      <p:sp>
        <p:nvSpPr>
          <p:cNvPr id="348" name="Google Shape;348;p32"/>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3333"/>
              </a:lnSpc>
              <a:spcBef>
                <a:spcPts val="0"/>
              </a:spcBef>
              <a:spcAft>
                <a:spcPts val="0"/>
              </a:spcAft>
              <a:buClr>
                <a:srgbClr val="E8E4DF"/>
              </a:buClr>
              <a:buSzPts val="3600"/>
              <a:buFont typeface="Lexend"/>
              <a:buNone/>
            </a:pPr>
            <a:r>
              <a:rPr b="0" i="0" lang="en-US" sz="3600" u="none" cap="none" strike="noStrike">
                <a:solidFill>
                  <a:srgbClr val="E8E4D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
        <p:nvSpPr>
          <p:cNvPr id="349" name="Google Shape;349;p32"/>
          <p:cNvSpPr/>
          <p:nvPr/>
        </p:nvSpPr>
        <p:spPr>
          <a:xfrm>
            <a:off x="8721090" y="2377440"/>
            <a:ext cx="274320" cy="274320"/>
          </a:xfrm>
          <a:prstGeom prst="roundRect">
            <a:avLst>
              <a:gd fmla="val 25000" name="adj"/>
            </a:avLst>
          </a:prstGeom>
          <a:solidFill>
            <a:srgbClr val="2C6E49"/>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t>
            </a:r>
            <a:endParaRPr b="0" i="0" sz="1170" u="none" cap="none" strike="noStrike">
              <a:solidFill>
                <a:schemeClr val="dk1"/>
              </a:solidFill>
              <a:latin typeface="Calibri"/>
              <a:ea typeface="Calibri"/>
              <a:cs typeface="Calibri"/>
              <a:sym typeface="Calibri"/>
            </a:endParaRPr>
          </a:p>
        </p:txBody>
      </p:sp>
      <p:sp>
        <p:nvSpPr>
          <p:cNvPr id="350" name="Google Shape;350;p32"/>
          <p:cNvSpPr/>
          <p:nvPr/>
        </p:nvSpPr>
        <p:spPr>
          <a:xfrm>
            <a:off x="8721090" y="4091940"/>
            <a:ext cx="274320" cy="274320"/>
          </a:xfrm>
          <a:prstGeom prst="roundRect">
            <a:avLst>
              <a:gd fmla="val 25000" name="adj"/>
            </a:avLst>
          </a:prstGeom>
          <a:solidFill>
            <a:srgbClr val="2C6E49"/>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5" name="Shape 355"/>
        <p:cNvGrpSpPr/>
        <p:nvPr/>
      </p:nvGrpSpPr>
      <p:grpSpPr>
        <a:xfrm>
          <a:off x="0" y="0"/>
          <a:ext cx="0" cy="0"/>
          <a:chOff x="0" y="0"/>
          <a:chExt cx="0" cy="0"/>
        </a:xfrm>
      </p:grpSpPr>
      <p:pic>
        <p:nvPicPr>
          <p:cNvPr descr="/home/forge/chalkie-production-workers-2/releases/77424486/backend/storage/app/render-specs/022eb815-9090-4bd7-8537-9223371fc075/img_a927f4f0f1207dc2504d2697aa98c804.png" id="356" name="Google Shape;356;p33"/>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357" name="Google Shape;357;p33"/>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Área de Impressão e Enquadramento</a:t>
            </a:r>
            <a:endParaRPr b="0" i="0" sz="2880" u="none" cap="none" strike="noStrike">
              <a:solidFill>
                <a:schemeClr val="dk1"/>
              </a:solidFill>
              <a:latin typeface="Calibri"/>
              <a:ea typeface="Calibri"/>
              <a:cs typeface="Calibri"/>
              <a:sym typeface="Calibri"/>
            </a:endParaRPr>
          </a:p>
        </p:txBody>
      </p:sp>
      <p:sp>
        <p:nvSpPr>
          <p:cNvPr id="358" name="Google Shape;358;p33"/>
          <p:cNvSpPr/>
          <p:nvPr/>
        </p:nvSpPr>
        <p:spPr>
          <a:xfrm>
            <a:off x="285750" y="868680"/>
            <a:ext cx="152019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FINALIZAÇÃO</a:t>
            </a:r>
            <a:endParaRPr b="0" i="0" sz="1080" u="none" cap="none" strike="noStrike">
              <a:solidFill>
                <a:schemeClr val="dk1"/>
              </a:solidFill>
              <a:latin typeface="Calibri"/>
              <a:ea typeface="Calibri"/>
              <a:cs typeface="Calibri"/>
              <a:sym typeface="Calibri"/>
            </a:endParaRPr>
          </a:p>
        </p:txBody>
      </p:sp>
      <p:sp>
        <p:nvSpPr>
          <p:cNvPr id="359" name="Google Shape;359;p33"/>
          <p:cNvSpPr/>
          <p:nvPr/>
        </p:nvSpPr>
        <p:spPr>
          <a:xfrm>
            <a:off x="285750" y="1177290"/>
            <a:ext cx="457200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Adequação para Exportação Física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Imprimir planilhas sem configuração gera documentos cortados e ilegíveis: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Definir Área de Impressão:</a:t>
            </a:r>
            <a:r>
              <a:rPr b="0" i="0" lang="en-US" sz="1620" u="none" cap="none" strike="noStrike">
                <a:solidFill>
                  <a:srgbClr val="E8E4DF"/>
                </a:solidFill>
                <a:latin typeface="Lexend"/>
                <a:ea typeface="Lexend"/>
                <a:cs typeface="Lexend"/>
                <a:sym typeface="Lexend"/>
              </a:rPr>
              <a:t> delimita exatamente o intervalo relevante de dados a ser impresso.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Ajustar para 1 Página de Largura:</a:t>
            </a:r>
            <a:r>
              <a:rPr b="0" i="0" lang="en-US" sz="1620" u="none" cap="none" strike="noStrike">
                <a:solidFill>
                  <a:srgbClr val="E8E4DF"/>
                </a:solidFill>
                <a:latin typeface="Lexend"/>
                <a:ea typeface="Lexend"/>
                <a:cs typeface="Lexend"/>
                <a:sym typeface="Lexend"/>
              </a:rPr>
              <a:t> comprime as colunas para que caibam horizontalmente sem divisão de tabelas.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Orientação Paisagem:</a:t>
            </a:r>
            <a:r>
              <a:rPr b="0" i="0" lang="en-US" sz="1620" u="none" cap="none" strike="noStrike">
                <a:solidFill>
                  <a:srgbClr val="E8E4DF"/>
                </a:solidFill>
                <a:latin typeface="Lexend"/>
                <a:ea typeface="Lexend"/>
                <a:cs typeface="Lexend"/>
                <a:sym typeface="Lexend"/>
              </a:rPr>
              <a:t> recomendada para tabelas com mais de cinco colunas.</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4" name="Shape 364"/>
        <p:cNvGrpSpPr/>
        <p:nvPr/>
      </p:nvGrpSpPr>
      <p:grpSpPr>
        <a:xfrm>
          <a:off x="0" y="0"/>
          <a:ext cx="0" cy="0"/>
          <a:chOff x="0" y="0"/>
          <a:chExt cx="0" cy="0"/>
        </a:xfrm>
      </p:grpSpPr>
      <p:sp>
        <p:nvSpPr>
          <p:cNvPr id="365" name="Google Shape;365;p34"/>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Estruturação de Cabeçalho e Rodapé</a:t>
            </a:r>
            <a:endParaRPr b="0" i="0" sz="2880" u="none" cap="none" strike="noStrike">
              <a:solidFill>
                <a:schemeClr val="dk1"/>
              </a:solidFill>
              <a:latin typeface="Calibri"/>
              <a:ea typeface="Calibri"/>
              <a:cs typeface="Calibri"/>
              <a:sym typeface="Calibri"/>
            </a:endParaRPr>
          </a:p>
        </p:txBody>
      </p:sp>
      <p:sp>
        <p:nvSpPr>
          <p:cNvPr id="366" name="Google Shape;366;p34"/>
          <p:cNvSpPr/>
          <p:nvPr/>
        </p:nvSpPr>
        <p:spPr>
          <a:xfrm>
            <a:off x="285750" y="800100"/>
            <a:ext cx="8572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Para relatórios corporativos impressos ou em PDF, elementos de identificação são obrigatórios para auditoria técnica.</a:t>
            </a:r>
            <a:endParaRPr b="0" i="0" sz="1620" u="none" cap="none" strike="noStrike">
              <a:solidFill>
                <a:schemeClr val="dk1"/>
              </a:solidFill>
              <a:latin typeface="Calibri"/>
              <a:ea typeface="Calibri"/>
              <a:cs typeface="Calibri"/>
              <a:sym typeface="Calibri"/>
            </a:endParaRPr>
          </a:p>
        </p:txBody>
      </p:sp>
      <p:sp>
        <p:nvSpPr>
          <p:cNvPr id="367" name="Google Shape;367;p34"/>
          <p:cNvSpPr/>
          <p:nvPr/>
        </p:nvSpPr>
        <p:spPr>
          <a:xfrm>
            <a:off x="285750" y="1611630"/>
            <a:ext cx="4194810" cy="79552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Cabeçalho Técnico</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585"/>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Nome da organização e setor responsável.</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Título formal do relatório gerencial.</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Versão do documento e status de revisão.</a:t>
            </a:r>
            <a:endParaRPr b="0" i="0" sz="1980" u="none" cap="none" strike="noStrike">
              <a:solidFill>
                <a:schemeClr val="dk1"/>
              </a:solidFill>
              <a:latin typeface="Calibri"/>
              <a:ea typeface="Calibri"/>
              <a:cs typeface="Calibri"/>
              <a:sym typeface="Calibri"/>
            </a:endParaRPr>
          </a:p>
        </p:txBody>
      </p:sp>
      <p:sp>
        <p:nvSpPr>
          <p:cNvPr id="368" name="Google Shape;368;p34"/>
          <p:cNvSpPr/>
          <p:nvPr/>
        </p:nvSpPr>
        <p:spPr>
          <a:xfrm>
            <a:off x="4652010" y="1611630"/>
            <a:ext cx="4194810" cy="79552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Rodapé e Rastreabilidade</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585"/>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Numeração de páginas no padrão 'Página X de Y'.</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Data e hora da extração dos dados.</a:t>
            </a:r>
            <a:endParaRPr b="0" i="0" sz="198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Lexend"/>
              <a:buChar char="•"/>
            </a:pPr>
            <a:r>
              <a:rPr b="0" i="0" lang="en-US" sz="1620" u="none" cap="none" strike="noStrike">
                <a:solidFill>
                  <a:srgbClr val="E8E4DF"/>
                </a:solidFill>
                <a:latin typeface="Lexend"/>
                <a:ea typeface="Lexend"/>
                <a:cs typeface="Lexend"/>
                <a:sym typeface="Lexend"/>
              </a:rPr>
              <a:t>Identificação do responsável técnico pela planilha.</a:t>
            </a:r>
            <a:endParaRPr b="0" i="0" sz="1980" u="none" cap="none" strike="noStrike">
              <a:solidFill>
                <a:schemeClr val="dk1"/>
              </a:solidFill>
              <a:latin typeface="Calibri"/>
              <a:ea typeface="Calibri"/>
              <a:cs typeface="Calibri"/>
              <a:sym typeface="Calibri"/>
            </a:endParaRPr>
          </a:p>
        </p:txBody>
      </p:sp>
      <p:sp>
        <p:nvSpPr>
          <p:cNvPr id="369" name="Google Shape;369;p34"/>
          <p:cNvSpPr/>
          <p:nvPr/>
        </p:nvSpPr>
        <p:spPr>
          <a:xfrm>
            <a:off x="285750" y="3874770"/>
            <a:ext cx="8572500" cy="1125601"/>
          </a:xfrm>
          <a:prstGeom prst="roundRect">
            <a:avLst>
              <a:gd fmla="val 8124" name="adj"/>
            </a:avLst>
          </a:prstGeom>
          <a:solidFill>
            <a:srgbClr val="82B4EB">
              <a:alpha val="14902"/>
            </a:srgbClr>
          </a:solidFill>
          <a:ln cap="flat" cmpd="sng" w="11425">
            <a:solidFill>
              <a:srgbClr val="0B2F5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4"/>
          <p:cNvSpPr/>
          <p:nvPr/>
        </p:nvSpPr>
        <p:spPr>
          <a:xfrm>
            <a:off x="400050" y="402336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371" name="Google Shape;371;p34"/>
          <p:cNvSpPr/>
          <p:nvPr/>
        </p:nvSpPr>
        <p:spPr>
          <a:xfrm>
            <a:off x="765810" y="3989070"/>
            <a:ext cx="79781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B5D4F4"/>
              </a:buClr>
              <a:buSzPts val="1440"/>
              <a:buFont typeface="Lexend"/>
              <a:buNone/>
            </a:pPr>
            <a:r>
              <a:rPr b="1" i="0" lang="en-US" sz="1440" u="none" cap="none" strike="noStrike">
                <a:solidFill>
                  <a:srgbClr val="B5D4F4"/>
                </a:solidFill>
                <a:latin typeface="Lexend"/>
                <a:ea typeface="Lexend"/>
                <a:cs typeface="Lexend"/>
                <a:sym typeface="Lexend"/>
              </a:rPr>
              <a:t>Lembre-se</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B5D4F4"/>
              </a:buClr>
              <a:buSzPts val="1620"/>
              <a:buFont typeface="Lexend"/>
              <a:buNone/>
            </a:pPr>
            <a:r>
              <a:rPr b="0" i="0" lang="en-US" sz="1620" u="none" cap="none" strike="noStrike">
                <a:solidFill>
                  <a:srgbClr val="B5D4F4"/>
                </a:solidFill>
                <a:latin typeface="Lexend"/>
                <a:ea typeface="Lexend"/>
                <a:cs typeface="Lexend"/>
                <a:sym typeface="Lexend"/>
              </a:rPr>
              <a:t>Repetir linhas no topo em 'Configurar Página' assegura que o cabeçalho surja em todas as folhas impressas.</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6" name="Shape 376"/>
        <p:cNvGrpSpPr/>
        <p:nvPr/>
      </p:nvGrpSpPr>
      <p:grpSpPr>
        <a:xfrm>
          <a:off x="0" y="0"/>
          <a:ext cx="0" cy="0"/>
          <a:chOff x="0" y="0"/>
          <a:chExt cx="0" cy="0"/>
        </a:xfrm>
      </p:grpSpPr>
      <p:pic>
        <p:nvPicPr>
          <p:cNvPr descr="/home/forge/chalkie-production-workers-2/releases/77424486/backend/storage/app/render-specs/022eb815-9090-4bd7-8537-9223371fc075/img_f85abfeb8d4f51cc3b1dca6ad7607192.jpg" id="377" name="Google Shape;377;p35"/>
          <p:cNvPicPr preferRelativeResize="0"/>
          <p:nvPr/>
        </p:nvPicPr>
        <p:blipFill rotWithShape="1">
          <a:blip r:embed="rId4">
            <a:alphaModFix/>
          </a:blip>
          <a:srcRect b="0" l="0" r="0" t="0"/>
          <a:stretch/>
        </p:blipFill>
        <p:spPr>
          <a:xfrm>
            <a:off x="285750" y="800100"/>
            <a:ext cx="3829050" cy="4057650"/>
          </a:xfrm>
          <a:prstGeom prst="roundRect">
            <a:avLst>
              <a:gd fmla="val 3582" name="adj"/>
            </a:avLst>
          </a:prstGeom>
          <a:noFill/>
          <a:ln>
            <a:noFill/>
          </a:ln>
        </p:spPr>
      </p:pic>
      <p:sp>
        <p:nvSpPr>
          <p:cNvPr id="378" name="Google Shape;378;p35"/>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Importação e Exportação em CSV</a:t>
            </a:r>
            <a:endParaRPr b="0" i="0" sz="2880" u="none" cap="none" strike="noStrike">
              <a:solidFill>
                <a:schemeClr val="dk1"/>
              </a:solidFill>
              <a:latin typeface="Calibri"/>
              <a:ea typeface="Calibri"/>
              <a:cs typeface="Calibri"/>
              <a:sym typeface="Calibri"/>
            </a:endParaRPr>
          </a:p>
        </p:txBody>
      </p:sp>
      <p:sp>
        <p:nvSpPr>
          <p:cNvPr id="379" name="Google Shape;379;p35"/>
          <p:cNvSpPr/>
          <p:nvPr/>
        </p:nvSpPr>
        <p:spPr>
          <a:xfrm>
            <a:off x="4286250" y="868680"/>
            <a:ext cx="225171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INTEROPERABILIDADE</a:t>
            </a:r>
            <a:endParaRPr b="0" i="0" sz="1080" u="none" cap="none" strike="noStrike">
              <a:solidFill>
                <a:schemeClr val="dk1"/>
              </a:solidFill>
              <a:latin typeface="Calibri"/>
              <a:ea typeface="Calibri"/>
              <a:cs typeface="Calibri"/>
              <a:sym typeface="Calibri"/>
            </a:endParaRPr>
          </a:p>
        </p:txBody>
      </p:sp>
      <p:sp>
        <p:nvSpPr>
          <p:cNvPr id="380" name="Google Shape;380;p35"/>
          <p:cNvSpPr/>
          <p:nvPr/>
        </p:nvSpPr>
        <p:spPr>
          <a:xfrm>
            <a:off x="4286250" y="1177290"/>
            <a:ext cx="4572000" cy="22037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O Padrão Universal CSV</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O formato </a:t>
            </a:r>
            <a:r>
              <a:rPr b="1" i="0" lang="en-US" sz="1620" u="none" cap="none" strike="noStrike">
                <a:solidFill>
                  <a:srgbClr val="E8E4DF"/>
                </a:solidFill>
                <a:latin typeface="Lexend"/>
                <a:ea typeface="Lexend"/>
                <a:cs typeface="Lexend"/>
                <a:sym typeface="Lexend"/>
              </a:rPr>
              <a:t>CSV (Comma-Separated Values)</a:t>
            </a:r>
            <a:r>
              <a:rPr b="0" i="0" lang="en-US" sz="1620" u="none" cap="none" strike="noStrike">
                <a:solidFill>
                  <a:srgbClr val="E8E4DF"/>
                </a:solidFill>
                <a:latin typeface="Lexend"/>
                <a:ea typeface="Lexend"/>
                <a:cs typeface="Lexend"/>
                <a:sym typeface="Lexend"/>
              </a:rPr>
              <a:t> é o padrão industrial para transferir grandes volumes de dados entre bancos de dados, ERPs e planilhas.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Estrutura:</a:t>
            </a:r>
            <a:r>
              <a:rPr b="0" i="0" lang="en-US" sz="1620" u="none" cap="none" strike="noStrike">
                <a:solidFill>
                  <a:srgbClr val="E8E4DF"/>
                </a:solidFill>
                <a:latin typeface="Lexend"/>
                <a:ea typeface="Lexend"/>
                <a:cs typeface="Lexend"/>
                <a:sym typeface="Lexend"/>
              </a:rPr>
              <a:t> texto puro onde cada linha é um registro e cada coluna é separada por vírgula ou ponto e vírgula.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Leveza:</a:t>
            </a:r>
            <a:r>
              <a:rPr b="0" i="0" lang="en-US" sz="1620" u="none" cap="none" strike="noStrike">
                <a:solidFill>
                  <a:srgbClr val="E8E4DF"/>
                </a:solidFill>
                <a:latin typeface="Lexend"/>
                <a:ea typeface="Lexend"/>
                <a:cs typeface="Lexend"/>
                <a:sym typeface="Lexend"/>
              </a:rPr>
              <a:t> arquivos extremamente compactos e compatíveis com qualquer sistema operacional.</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5" name="Shape 385"/>
        <p:cNvGrpSpPr/>
        <p:nvPr/>
      </p:nvGrpSpPr>
      <p:grpSpPr>
        <a:xfrm>
          <a:off x="0" y="0"/>
          <a:ext cx="0" cy="0"/>
          <a:chOff x="0" y="0"/>
          <a:chExt cx="0" cy="0"/>
        </a:xfrm>
      </p:grpSpPr>
      <p:pic>
        <p:nvPicPr>
          <p:cNvPr descr="/home/forge/chalkie-production-workers-2/releases/77424486/backend/storage/app/render-specs/022eb815-9090-4bd7-8537-9223371fc075/img_22792f476edfc20d854c894a1c29ca96.png" id="386" name="Google Shape;386;p36"/>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387" name="Google Shape;387;p36"/>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Cuidados na Abertura de Arquivos CSV</a:t>
            </a:r>
            <a:endParaRPr b="0" i="0" sz="2880" u="none" cap="none" strike="noStrike">
              <a:solidFill>
                <a:schemeClr val="dk1"/>
              </a:solidFill>
              <a:latin typeface="Calibri"/>
              <a:ea typeface="Calibri"/>
              <a:cs typeface="Calibri"/>
              <a:sym typeface="Calibri"/>
            </a:endParaRPr>
          </a:p>
        </p:txBody>
      </p:sp>
      <p:sp>
        <p:nvSpPr>
          <p:cNvPr id="388" name="Google Shape;388;p36"/>
          <p:cNvSpPr/>
          <p:nvPr/>
        </p:nvSpPr>
        <p:spPr>
          <a:xfrm>
            <a:off x="285750" y="868680"/>
            <a:ext cx="225171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INTEROPERABILIDADE</a:t>
            </a:r>
            <a:endParaRPr b="0" i="0" sz="1080" u="none" cap="none" strike="noStrike">
              <a:solidFill>
                <a:schemeClr val="dk1"/>
              </a:solidFill>
              <a:latin typeface="Calibri"/>
              <a:ea typeface="Calibri"/>
              <a:cs typeface="Calibri"/>
              <a:sym typeface="Calibri"/>
            </a:endParaRPr>
          </a:p>
        </p:txBody>
      </p:sp>
      <p:sp>
        <p:nvSpPr>
          <p:cNvPr id="389" name="Google Shape;389;p36"/>
          <p:cNvSpPr/>
          <p:nvPr/>
        </p:nvSpPr>
        <p:spPr>
          <a:xfrm>
            <a:off x="285750" y="1177290"/>
            <a:ext cx="4572000" cy="1499616"/>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Prevenção de Erros de Leitura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No Brasil, a vírgula é o decimal oficial, gerando conflitos na importação: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Separador:</a:t>
            </a:r>
            <a:r>
              <a:rPr b="0" i="0" lang="en-US" sz="1620" u="none" cap="none" strike="noStrike">
                <a:solidFill>
                  <a:srgbClr val="E8E4DF"/>
                </a:solidFill>
                <a:latin typeface="Lexend"/>
                <a:ea typeface="Lexend"/>
                <a:cs typeface="Lexend"/>
                <a:sym typeface="Lexend"/>
              </a:rPr>
              <a:t> sistemas locais usam ponto e vírgula () para separar colunas.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Codificação:</a:t>
            </a:r>
            <a:r>
              <a:rPr b="0" i="0" lang="en-US" sz="1620" u="none" cap="none" strike="noStrike">
                <a:solidFill>
                  <a:srgbClr val="E8E4DF"/>
                </a:solidFill>
                <a:latin typeface="Lexend"/>
                <a:ea typeface="Lexend"/>
                <a:cs typeface="Lexend"/>
                <a:sym typeface="Lexend"/>
              </a:rPr>
              <a:t> use UTF-8 para evitar erros em caracteres com acentuação.</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Assistente:</a:t>
            </a:r>
            <a:r>
              <a:rPr b="0" i="0" lang="en-US" sz="1620" u="none" cap="none" strike="noStrike">
                <a:solidFill>
                  <a:srgbClr val="E8E4DF"/>
                </a:solidFill>
                <a:latin typeface="Lexend"/>
                <a:ea typeface="Lexend"/>
                <a:cs typeface="Lexend"/>
                <a:sym typeface="Lexend"/>
              </a:rPr>
              <a:t> defina delimitadores corretos para evitar dados na coluna A.</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p37"/>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Associação de Termos Técnicos</a:t>
            </a:r>
            <a:endParaRPr b="0" i="0" sz="2880" u="none" cap="none" strike="noStrike">
              <a:solidFill>
                <a:schemeClr val="dk1"/>
              </a:solidFill>
              <a:latin typeface="Calibri"/>
              <a:ea typeface="Calibri"/>
              <a:cs typeface="Calibri"/>
              <a:sym typeface="Calibri"/>
            </a:endParaRPr>
          </a:p>
        </p:txBody>
      </p:sp>
      <p:sp>
        <p:nvSpPr>
          <p:cNvPr id="396" name="Google Shape;396;p37"/>
          <p:cNvSpPr/>
          <p:nvPr/>
        </p:nvSpPr>
        <p:spPr>
          <a:xfrm>
            <a:off x="285750" y="742950"/>
            <a:ext cx="8572500" cy="34747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440"/>
              <a:buFont typeface="Lexend"/>
              <a:buNone/>
            </a:pPr>
            <a:r>
              <a:rPr b="0" i="0" lang="en-US" sz="1440" u="none" cap="none" strike="noStrike">
                <a:solidFill>
                  <a:srgbClr val="E8E4DF"/>
                </a:solidFill>
                <a:latin typeface="Lexend"/>
                <a:ea typeface="Lexend"/>
                <a:cs typeface="Lexend"/>
                <a:sym typeface="Lexend"/>
              </a:rPr>
              <a:t>Relacione as palavras com as definições</a:t>
            </a:r>
            <a:endParaRPr b="0" i="0" sz="1440" u="none" cap="none" strike="noStrike">
              <a:solidFill>
                <a:schemeClr val="dk1"/>
              </a:solidFill>
              <a:latin typeface="Calibri"/>
              <a:ea typeface="Calibri"/>
              <a:cs typeface="Calibri"/>
              <a:sym typeface="Calibri"/>
            </a:endParaRPr>
          </a:p>
        </p:txBody>
      </p:sp>
      <p:sp>
        <p:nvSpPr>
          <p:cNvPr id="397" name="Google Shape;397;p37"/>
          <p:cNvSpPr/>
          <p:nvPr/>
        </p:nvSpPr>
        <p:spPr>
          <a:xfrm>
            <a:off x="285750" y="13144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Função</a:t>
            </a:r>
            <a:endParaRPr b="0" i="0" sz="1800" u="none" cap="none" strike="noStrike">
              <a:solidFill>
                <a:schemeClr val="dk1"/>
              </a:solidFill>
              <a:latin typeface="Calibri"/>
              <a:ea typeface="Calibri"/>
              <a:cs typeface="Calibri"/>
              <a:sym typeface="Calibri"/>
            </a:endParaRPr>
          </a:p>
        </p:txBody>
      </p:sp>
      <p:sp>
        <p:nvSpPr>
          <p:cNvPr id="398" name="Google Shape;398;p37"/>
          <p:cNvSpPr/>
          <p:nvPr/>
        </p:nvSpPr>
        <p:spPr>
          <a:xfrm>
            <a:off x="285750" y="22288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Filtro</a:t>
            </a:r>
            <a:endParaRPr b="0" i="0" sz="1800" u="none" cap="none" strike="noStrike">
              <a:solidFill>
                <a:schemeClr val="dk1"/>
              </a:solidFill>
              <a:latin typeface="Calibri"/>
              <a:ea typeface="Calibri"/>
              <a:cs typeface="Calibri"/>
              <a:sym typeface="Calibri"/>
            </a:endParaRPr>
          </a:p>
        </p:txBody>
      </p:sp>
      <p:sp>
        <p:nvSpPr>
          <p:cNvPr id="399" name="Google Shape;399;p37"/>
          <p:cNvSpPr/>
          <p:nvPr/>
        </p:nvSpPr>
        <p:spPr>
          <a:xfrm>
            <a:off x="285750" y="31432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Célula</a:t>
            </a:r>
            <a:endParaRPr b="0" i="0" sz="1800" u="none" cap="none" strike="noStrike">
              <a:solidFill>
                <a:schemeClr val="dk1"/>
              </a:solidFill>
              <a:latin typeface="Calibri"/>
              <a:ea typeface="Calibri"/>
              <a:cs typeface="Calibri"/>
              <a:sym typeface="Calibri"/>
            </a:endParaRPr>
          </a:p>
        </p:txBody>
      </p:sp>
      <p:sp>
        <p:nvSpPr>
          <p:cNvPr id="400" name="Google Shape;400;p37"/>
          <p:cNvSpPr/>
          <p:nvPr/>
        </p:nvSpPr>
        <p:spPr>
          <a:xfrm>
            <a:off x="285750" y="40576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Fórmula</a:t>
            </a:r>
            <a:endParaRPr b="0" i="0" sz="1800" u="none" cap="none" strike="noStrike">
              <a:solidFill>
                <a:schemeClr val="dk1"/>
              </a:solidFill>
              <a:latin typeface="Calibri"/>
              <a:ea typeface="Calibri"/>
              <a:cs typeface="Calibri"/>
              <a:sym typeface="Calibri"/>
            </a:endParaRPr>
          </a:p>
        </p:txBody>
      </p:sp>
      <p:sp>
        <p:nvSpPr>
          <p:cNvPr id="401" name="Google Shape;401;p37"/>
          <p:cNvSpPr/>
          <p:nvPr/>
        </p:nvSpPr>
        <p:spPr>
          <a:xfrm>
            <a:off x="3829050" y="13144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Interseção única entre linha e coluna onde dados são armazenados.</a:t>
            </a:r>
            <a:endParaRPr b="0" i="0" sz="1620" u="none" cap="none" strike="noStrike">
              <a:solidFill>
                <a:schemeClr val="dk1"/>
              </a:solidFill>
              <a:latin typeface="Calibri"/>
              <a:ea typeface="Calibri"/>
              <a:cs typeface="Calibri"/>
              <a:sym typeface="Calibri"/>
            </a:endParaRPr>
          </a:p>
        </p:txBody>
      </p:sp>
      <p:sp>
        <p:nvSpPr>
          <p:cNvPr id="402" name="Google Shape;402;p37"/>
          <p:cNvSpPr/>
          <p:nvPr/>
        </p:nvSpPr>
        <p:spPr>
          <a:xfrm>
            <a:off x="3829050" y="22288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Mecanismo de seleção para exibir apenas registros que atendem a regras prévias.</a:t>
            </a:r>
            <a:endParaRPr b="0" i="0" sz="1620" u="none" cap="none" strike="noStrike">
              <a:solidFill>
                <a:schemeClr val="dk1"/>
              </a:solidFill>
              <a:latin typeface="Calibri"/>
              <a:ea typeface="Calibri"/>
              <a:cs typeface="Calibri"/>
              <a:sym typeface="Calibri"/>
            </a:endParaRPr>
          </a:p>
        </p:txBody>
      </p:sp>
      <p:sp>
        <p:nvSpPr>
          <p:cNvPr id="403" name="Google Shape;403;p37"/>
          <p:cNvSpPr/>
          <p:nvPr/>
        </p:nvSpPr>
        <p:spPr>
          <a:xfrm>
            <a:off x="3829050" y="31432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Rotina interna automatizada que executa cálculos estatísticos ou lógicos padronizados.</a:t>
            </a:r>
            <a:endParaRPr b="0" i="0" sz="1620" u="none" cap="none" strike="noStrike">
              <a:solidFill>
                <a:schemeClr val="dk1"/>
              </a:solidFill>
              <a:latin typeface="Calibri"/>
              <a:ea typeface="Calibri"/>
              <a:cs typeface="Calibri"/>
              <a:sym typeface="Calibri"/>
            </a:endParaRPr>
          </a:p>
        </p:txBody>
      </p:sp>
      <p:sp>
        <p:nvSpPr>
          <p:cNvPr id="404" name="Google Shape;404;p37"/>
          <p:cNvSpPr/>
          <p:nvPr/>
        </p:nvSpPr>
        <p:spPr>
          <a:xfrm>
            <a:off x="3829050" y="40576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Expressão iniciada com igualdade criada pelo usuário para operações personalizadas.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9" name="Shape 409"/>
        <p:cNvGrpSpPr/>
        <p:nvPr/>
      </p:nvGrpSpPr>
      <p:grpSpPr>
        <a:xfrm>
          <a:off x="0" y="0"/>
          <a:ext cx="0" cy="0"/>
          <a:chOff x="0" y="0"/>
          <a:chExt cx="0" cy="0"/>
        </a:xfrm>
      </p:grpSpPr>
      <p:sp>
        <p:nvSpPr>
          <p:cNvPr id="410" name="Google Shape;410;p38"/>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Associação de Termos Técnicos</a:t>
            </a:r>
            <a:endParaRPr b="0" i="0" sz="2880" u="none" cap="none" strike="noStrike">
              <a:solidFill>
                <a:schemeClr val="dk1"/>
              </a:solidFill>
              <a:latin typeface="Calibri"/>
              <a:ea typeface="Calibri"/>
              <a:cs typeface="Calibri"/>
              <a:sym typeface="Calibri"/>
            </a:endParaRPr>
          </a:p>
        </p:txBody>
      </p:sp>
      <p:sp>
        <p:nvSpPr>
          <p:cNvPr id="411" name="Google Shape;411;p38"/>
          <p:cNvSpPr/>
          <p:nvPr/>
        </p:nvSpPr>
        <p:spPr>
          <a:xfrm>
            <a:off x="285750" y="742950"/>
            <a:ext cx="8572500" cy="34747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440"/>
              <a:buFont typeface="Lexend"/>
              <a:buNone/>
            </a:pPr>
            <a:r>
              <a:rPr b="0" i="0" lang="en-US" sz="1440" u="none" cap="none" strike="noStrike">
                <a:solidFill>
                  <a:srgbClr val="E8E4DF"/>
                </a:solidFill>
                <a:latin typeface="Lexend"/>
                <a:ea typeface="Lexend"/>
                <a:cs typeface="Lexend"/>
                <a:sym typeface="Lexend"/>
              </a:rPr>
              <a:t>Relacione as palavras com as definições</a:t>
            </a:r>
            <a:endParaRPr b="0" i="0" sz="1440" u="none" cap="none" strike="noStrike">
              <a:solidFill>
                <a:schemeClr val="dk1"/>
              </a:solidFill>
              <a:latin typeface="Calibri"/>
              <a:ea typeface="Calibri"/>
              <a:cs typeface="Calibri"/>
              <a:sym typeface="Calibri"/>
            </a:endParaRPr>
          </a:p>
        </p:txBody>
      </p:sp>
      <p:sp>
        <p:nvSpPr>
          <p:cNvPr id="412" name="Google Shape;412;p38"/>
          <p:cNvSpPr/>
          <p:nvPr/>
        </p:nvSpPr>
        <p:spPr>
          <a:xfrm>
            <a:off x="285750" y="1314450"/>
            <a:ext cx="2286000" cy="617220"/>
          </a:xfrm>
          <a:prstGeom prst="roundRect">
            <a:avLst>
              <a:gd fmla="val 18519" name="adj"/>
            </a:avLst>
          </a:prstGeom>
          <a:solidFill>
            <a:srgbClr val="F4F9FC"/>
          </a:solidFill>
          <a:ln cap="flat" cmpd="sng" w="34275">
            <a:solidFill>
              <a:srgbClr val="409E9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Função</a:t>
            </a:r>
            <a:endParaRPr b="0" i="0" sz="1800" u="none" cap="none" strike="noStrike">
              <a:solidFill>
                <a:schemeClr val="dk1"/>
              </a:solidFill>
              <a:latin typeface="Calibri"/>
              <a:ea typeface="Calibri"/>
              <a:cs typeface="Calibri"/>
              <a:sym typeface="Calibri"/>
            </a:endParaRPr>
          </a:p>
        </p:txBody>
      </p:sp>
      <p:sp>
        <p:nvSpPr>
          <p:cNvPr id="413" name="Google Shape;413;p38"/>
          <p:cNvSpPr/>
          <p:nvPr/>
        </p:nvSpPr>
        <p:spPr>
          <a:xfrm>
            <a:off x="285750" y="2228850"/>
            <a:ext cx="2286000" cy="617220"/>
          </a:xfrm>
          <a:prstGeom prst="roundRect">
            <a:avLst>
              <a:gd fmla="val 18519" name="adj"/>
            </a:avLst>
          </a:prstGeom>
          <a:solidFill>
            <a:srgbClr val="F4F9FC"/>
          </a:solidFill>
          <a:ln cap="flat" cmpd="sng" w="34275">
            <a:solidFill>
              <a:srgbClr val="D903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Filtro</a:t>
            </a:r>
            <a:endParaRPr b="0" i="0" sz="1800" u="none" cap="none" strike="noStrike">
              <a:solidFill>
                <a:schemeClr val="dk1"/>
              </a:solidFill>
              <a:latin typeface="Calibri"/>
              <a:ea typeface="Calibri"/>
              <a:cs typeface="Calibri"/>
              <a:sym typeface="Calibri"/>
            </a:endParaRPr>
          </a:p>
        </p:txBody>
      </p:sp>
      <p:sp>
        <p:nvSpPr>
          <p:cNvPr id="414" name="Google Shape;414;p38"/>
          <p:cNvSpPr/>
          <p:nvPr/>
        </p:nvSpPr>
        <p:spPr>
          <a:xfrm>
            <a:off x="285750" y="3143250"/>
            <a:ext cx="2286000" cy="617220"/>
          </a:xfrm>
          <a:prstGeom prst="roundRect">
            <a:avLst>
              <a:gd fmla="val 18519" name="adj"/>
            </a:avLst>
          </a:prstGeom>
          <a:solidFill>
            <a:srgbClr val="F4F9FC"/>
          </a:solidFill>
          <a:ln cap="flat" cmpd="sng" w="34275">
            <a:solidFill>
              <a:srgbClr val="D68C4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Célula</a:t>
            </a:r>
            <a:endParaRPr b="0" i="0" sz="1800" u="none" cap="none" strike="noStrike">
              <a:solidFill>
                <a:schemeClr val="dk1"/>
              </a:solidFill>
              <a:latin typeface="Calibri"/>
              <a:ea typeface="Calibri"/>
              <a:cs typeface="Calibri"/>
              <a:sym typeface="Calibri"/>
            </a:endParaRPr>
          </a:p>
        </p:txBody>
      </p:sp>
      <p:sp>
        <p:nvSpPr>
          <p:cNvPr id="415" name="Google Shape;415;p38"/>
          <p:cNvSpPr/>
          <p:nvPr/>
        </p:nvSpPr>
        <p:spPr>
          <a:xfrm>
            <a:off x="285750" y="4057650"/>
            <a:ext cx="2286000" cy="617220"/>
          </a:xfrm>
          <a:prstGeom prst="roundRect">
            <a:avLst>
              <a:gd fmla="val 18519" name="adj"/>
            </a:avLst>
          </a:prstGeom>
          <a:solidFill>
            <a:srgbClr val="F4F9FC"/>
          </a:solidFill>
          <a:ln cap="flat" cmpd="sng" w="34275">
            <a:solidFill>
              <a:srgbClr val="4579A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3333"/>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Fórmula</a:t>
            </a:r>
            <a:endParaRPr b="0" i="0" sz="1800" u="none" cap="none" strike="noStrike">
              <a:solidFill>
                <a:schemeClr val="dk1"/>
              </a:solidFill>
              <a:latin typeface="Calibri"/>
              <a:ea typeface="Calibri"/>
              <a:cs typeface="Calibri"/>
              <a:sym typeface="Calibri"/>
            </a:endParaRPr>
          </a:p>
        </p:txBody>
      </p:sp>
      <p:sp>
        <p:nvSpPr>
          <p:cNvPr id="416" name="Google Shape;416;p38"/>
          <p:cNvSpPr/>
          <p:nvPr/>
        </p:nvSpPr>
        <p:spPr>
          <a:xfrm>
            <a:off x="3829050" y="13144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Interseção única entre linha e coluna onde dados são armazenados.</a:t>
            </a:r>
            <a:endParaRPr b="0" i="0" sz="1620" u="none" cap="none" strike="noStrike">
              <a:solidFill>
                <a:schemeClr val="dk1"/>
              </a:solidFill>
              <a:latin typeface="Calibri"/>
              <a:ea typeface="Calibri"/>
              <a:cs typeface="Calibri"/>
              <a:sym typeface="Calibri"/>
            </a:endParaRPr>
          </a:p>
        </p:txBody>
      </p:sp>
      <p:sp>
        <p:nvSpPr>
          <p:cNvPr id="417" name="Google Shape;417;p38"/>
          <p:cNvSpPr/>
          <p:nvPr/>
        </p:nvSpPr>
        <p:spPr>
          <a:xfrm>
            <a:off x="3829050" y="22288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Mecanismo de seleção para exibir apenas registros que atendem a regras prévias.</a:t>
            </a:r>
            <a:endParaRPr b="0" i="0" sz="1620" u="none" cap="none" strike="noStrike">
              <a:solidFill>
                <a:schemeClr val="dk1"/>
              </a:solidFill>
              <a:latin typeface="Calibri"/>
              <a:ea typeface="Calibri"/>
              <a:cs typeface="Calibri"/>
              <a:sym typeface="Calibri"/>
            </a:endParaRPr>
          </a:p>
        </p:txBody>
      </p:sp>
      <p:sp>
        <p:nvSpPr>
          <p:cNvPr id="418" name="Google Shape;418;p38"/>
          <p:cNvSpPr/>
          <p:nvPr/>
        </p:nvSpPr>
        <p:spPr>
          <a:xfrm>
            <a:off x="3829050" y="31432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Rotina interna automatizada que executa cálculos estatísticos ou lógicos padronizados.</a:t>
            </a:r>
            <a:endParaRPr b="0" i="0" sz="1620" u="none" cap="none" strike="noStrike">
              <a:solidFill>
                <a:schemeClr val="dk1"/>
              </a:solidFill>
              <a:latin typeface="Calibri"/>
              <a:ea typeface="Calibri"/>
              <a:cs typeface="Calibri"/>
              <a:sym typeface="Calibri"/>
            </a:endParaRPr>
          </a:p>
        </p:txBody>
      </p:sp>
      <p:sp>
        <p:nvSpPr>
          <p:cNvPr id="419" name="Google Shape;419;p38"/>
          <p:cNvSpPr/>
          <p:nvPr/>
        </p:nvSpPr>
        <p:spPr>
          <a:xfrm>
            <a:off x="3829050" y="4057650"/>
            <a:ext cx="5143500" cy="667512"/>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Expressão iniciada com igualdade criada pelo usuário para operações personalizadas.</a:t>
            </a:r>
            <a:endParaRPr b="0" i="0" sz="1620" u="none" cap="none" strike="noStrike">
              <a:solidFill>
                <a:schemeClr val="dk1"/>
              </a:solidFill>
              <a:latin typeface="Calibri"/>
              <a:ea typeface="Calibri"/>
              <a:cs typeface="Calibri"/>
              <a:sym typeface="Calibri"/>
            </a:endParaRPr>
          </a:p>
        </p:txBody>
      </p:sp>
      <p:sp>
        <p:nvSpPr>
          <p:cNvPr id="420" name="Google Shape;420;p38"/>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3333"/>
              </a:lnSpc>
              <a:spcBef>
                <a:spcPts val="0"/>
              </a:spcBef>
              <a:spcAft>
                <a:spcPts val="0"/>
              </a:spcAft>
              <a:buClr>
                <a:srgbClr val="E8E4DF"/>
              </a:buClr>
              <a:buSzPts val="3600"/>
              <a:buFont typeface="Lexend"/>
              <a:buNone/>
            </a:pPr>
            <a:r>
              <a:rPr b="0" i="0" lang="en-US" sz="3600" u="none" cap="none" strike="noStrike">
                <a:solidFill>
                  <a:srgbClr val="E8E4D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cxnSp>
        <p:nvCxnSpPr>
          <p:cNvPr id="421" name="Google Shape;421;p38"/>
          <p:cNvCxnSpPr/>
          <p:nvPr/>
        </p:nvCxnSpPr>
        <p:spPr>
          <a:xfrm>
            <a:off x="2571750" y="1623060"/>
            <a:ext cx="994410" cy="1805940"/>
          </a:xfrm>
          <a:prstGeom prst="straightConnector1">
            <a:avLst/>
          </a:prstGeom>
          <a:noFill/>
          <a:ln cap="flat" cmpd="sng" w="28575">
            <a:solidFill>
              <a:srgbClr val="409E9E"/>
            </a:solidFill>
            <a:prstDash val="solid"/>
            <a:round/>
            <a:headEnd len="sm" w="sm" type="none"/>
            <a:tailEnd len="sm" w="sm" type="none"/>
          </a:ln>
        </p:spPr>
      </p:cxnSp>
      <p:cxnSp>
        <p:nvCxnSpPr>
          <p:cNvPr id="422" name="Google Shape;422;p38"/>
          <p:cNvCxnSpPr/>
          <p:nvPr/>
        </p:nvCxnSpPr>
        <p:spPr>
          <a:xfrm flipH="1" rot="10800000">
            <a:off x="2571750" y="2514600"/>
            <a:ext cx="994410" cy="22860"/>
          </a:xfrm>
          <a:prstGeom prst="straightConnector1">
            <a:avLst/>
          </a:prstGeom>
          <a:noFill/>
          <a:ln cap="flat" cmpd="sng" w="28575">
            <a:solidFill>
              <a:srgbClr val="D90368"/>
            </a:solidFill>
            <a:prstDash val="solid"/>
            <a:round/>
            <a:headEnd len="sm" w="sm" type="none"/>
            <a:tailEnd len="sm" w="sm" type="none"/>
          </a:ln>
        </p:spPr>
      </p:cxnSp>
      <p:cxnSp>
        <p:nvCxnSpPr>
          <p:cNvPr id="423" name="Google Shape;423;p38"/>
          <p:cNvCxnSpPr/>
          <p:nvPr/>
        </p:nvCxnSpPr>
        <p:spPr>
          <a:xfrm flipH="1" rot="10800000">
            <a:off x="2571750" y="1600200"/>
            <a:ext cx="994410" cy="1851660"/>
          </a:xfrm>
          <a:prstGeom prst="straightConnector1">
            <a:avLst/>
          </a:prstGeom>
          <a:noFill/>
          <a:ln cap="flat" cmpd="sng" w="28575">
            <a:solidFill>
              <a:srgbClr val="D68C45"/>
            </a:solidFill>
            <a:prstDash val="solid"/>
            <a:round/>
            <a:headEnd len="sm" w="sm" type="none"/>
            <a:tailEnd len="sm" w="sm" type="none"/>
          </a:ln>
        </p:spPr>
      </p:cxnSp>
      <p:cxnSp>
        <p:nvCxnSpPr>
          <p:cNvPr id="424" name="Google Shape;424;p38"/>
          <p:cNvCxnSpPr/>
          <p:nvPr/>
        </p:nvCxnSpPr>
        <p:spPr>
          <a:xfrm flipH="1" rot="10800000">
            <a:off x="2571750" y="4343400"/>
            <a:ext cx="994410" cy="22860"/>
          </a:xfrm>
          <a:prstGeom prst="straightConnector1">
            <a:avLst/>
          </a:prstGeom>
          <a:noFill/>
          <a:ln cap="flat" cmpd="sng" w="28575">
            <a:solidFill>
              <a:srgbClr val="4579A9"/>
            </a:solidFill>
            <a:prstDash val="solid"/>
            <a:round/>
            <a:headEnd len="sm" w="sm" type="none"/>
            <a:tailEnd len="sm" w="sm" type="none"/>
          </a:ln>
        </p:spPr>
      </p:cxnSp>
      <p:sp>
        <p:nvSpPr>
          <p:cNvPr id="425" name="Google Shape;425;p38"/>
          <p:cNvSpPr/>
          <p:nvPr/>
        </p:nvSpPr>
        <p:spPr>
          <a:xfrm>
            <a:off x="3394710" y="3257550"/>
            <a:ext cx="342900" cy="342900"/>
          </a:xfrm>
          <a:prstGeom prst="roundRect">
            <a:avLst>
              <a:gd fmla="val 50000" name="adj"/>
            </a:avLst>
          </a:prstGeom>
          <a:solidFill>
            <a:srgbClr val="409E9E"/>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C</a:t>
            </a:r>
            <a:endParaRPr b="0" i="0" sz="1170" u="none" cap="none" strike="noStrike">
              <a:solidFill>
                <a:schemeClr val="dk1"/>
              </a:solidFill>
              <a:latin typeface="Calibri"/>
              <a:ea typeface="Calibri"/>
              <a:cs typeface="Calibri"/>
              <a:sym typeface="Calibri"/>
            </a:endParaRPr>
          </a:p>
        </p:txBody>
      </p:sp>
      <p:sp>
        <p:nvSpPr>
          <p:cNvPr id="426" name="Google Shape;426;p38"/>
          <p:cNvSpPr/>
          <p:nvPr/>
        </p:nvSpPr>
        <p:spPr>
          <a:xfrm>
            <a:off x="3394710" y="2343150"/>
            <a:ext cx="342900" cy="342900"/>
          </a:xfrm>
          <a:prstGeom prst="roundRect">
            <a:avLst>
              <a:gd fmla="val 50000" name="adj"/>
            </a:avLst>
          </a:prstGeom>
          <a:solidFill>
            <a:srgbClr val="D90368"/>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B</a:t>
            </a:r>
            <a:endParaRPr b="0" i="0" sz="1170" u="none" cap="none" strike="noStrike">
              <a:solidFill>
                <a:schemeClr val="dk1"/>
              </a:solidFill>
              <a:latin typeface="Calibri"/>
              <a:ea typeface="Calibri"/>
              <a:cs typeface="Calibri"/>
              <a:sym typeface="Calibri"/>
            </a:endParaRPr>
          </a:p>
        </p:txBody>
      </p:sp>
      <p:sp>
        <p:nvSpPr>
          <p:cNvPr id="427" name="Google Shape;427;p38"/>
          <p:cNvSpPr/>
          <p:nvPr/>
        </p:nvSpPr>
        <p:spPr>
          <a:xfrm>
            <a:off x="3394710" y="1428750"/>
            <a:ext cx="342900" cy="342900"/>
          </a:xfrm>
          <a:prstGeom prst="roundRect">
            <a:avLst>
              <a:gd fmla="val 50000" name="adj"/>
            </a:avLst>
          </a:prstGeom>
          <a:solidFill>
            <a:srgbClr val="D68C45"/>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a:t>
            </a:r>
            <a:endParaRPr b="0" i="0" sz="1170" u="none" cap="none" strike="noStrike">
              <a:solidFill>
                <a:schemeClr val="dk1"/>
              </a:solidFill>
              <a:latin typeface="Calibri"/>
              <a:ea typeface="Calibri"/>
              <a:cs typeface="Calibri"/>
              <a:sym typeface="Calibri"/>
            </a:endParaRPr>
          </a:p>
        </p:txBody>
      </p:sp>
      <p:sp>
        <p:nvSpPr>
          <p:cNvPr id="428" name="Google Shape;428;p38"/>
          <p:cNvSpPr/>
          <p:nvPr/>
        </p:nvSpPr>
        <p:spPr>
          <a:xfrm>
            <a:off x="3394710" y="4171950"/>
            <a:ext cx="342900" cy="342900"/>
          </a:xfrm>
          <a:prstGeom prst="roundRect">
            <a:avLst>
              <a:gd fmla="val 50000" name="adj"/>
            </a:avLst>
          </a:prstGeom>
          <a:solidFill>
            <a:srgbClr val="4579A9"/>
          </a:solid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D</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3" name="Shape 433"/>
        <p:cNvGrpSpPr/>
        <p:nvPr/>
      </p:nvGrpSpPr>
      <p:grpSpPr>
        <a:xfrm>
          <a:off x="0" y="0"/>
          <a:ext cx="0" cy="0"/>
          <a:chOff x="0" y="0"/>
          <a:chExt cx="0" cy="0"/>
        </a:xfrm>
      </p:grpSpPr>
      <p:pic>
        <p:nvPicPr>
          <p:cNvPr descr="/home/forge/chalkie-production-workers-2/releases/77424486/backend/storage/app/render-specs/022eb815-9090-4bd7-8537-9223371fc075/img_4ad9bf332a297f7633a0df0222ad0040.png" id="434" name="Google Shape;434;p39"/>
          <p:cNvPicPr preferRelativeResize="0"/>
          <p:nvPr/>
        </p:nvPicPr>
        <p:blipFill rotWithShape="1">
          <a:blip r:embed="rId4">
            <a:alphaModFix/>
          </a:blip>
          <a:srcRect b="0" l="0" r="0" t="0"/>
          <a:stretch/>
        </p:blipFill>
        <p:spPr>
          <a:xfrm>
            <a:off x="0" y="0"/>
            <a:ext cx="9144000" cy="1828800"/>
          </a:xfrm>
          <a:prstGeom prst="roundRect">
            <a:avLst>
              <a:gd fmla="val 7500" name="adj"/>
            </a:avLst>
          </a:prstGeom>
          <a:noFill/>
          <a:ln>
            <a:noFill/>
          </a:ln>
        </p:spPr>
      </p:pic>
      <p:sp>
        <p:nvSpPr>
          <p:cNvPr id="435" name="Google Shape;435;p39"/>
          <p:cNvSpPr/>
          <p:nvPr/>
        </p:nvSpPr>
        <p:spPr>
          <a:xfrm>
            <a:off x="285750" y="20002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Oficina Prática: Controle Orçamentário</a:t>
            </a:r>
            <a:endParaRPr b="0" i="0" sz="2880" u="none" cap="none" strike="noStrike">
              <a:solidFill>
                <a:schemeClr val="dk1"/>
              </a:solidFill>
              <a:latin typeface="Calibri"/>
              <a:ea typeface="Calibri"/>
              <a:cs typeface="Calibri"/>
              <a:sym typeface="Calibri"/>
            </a:endParaRPr>
          </a:p>
        </p:txBody>
      </p:sp>
      <p:sp>
        <p:nvSpPr>
          <p:cNvPr id="436" name="Google Shape;436;p39"/>
          <p:cNvSpPr/>
          <p:nvPr/>
        </p:nvSpPr>
        <p:spPr>
          <a:xfrm>
            <a:off x="285750" y="2697480"/>
            <a:ext cx="108585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PROJETO</a:t>
            </a:r>
            <a:endParaRPr b="0" i="0" sz="1080" u="none" cap="none" strike="noStrike">
              <a:solidFill>
                <a:schemeClr val="dk1"/>
              </a:solidFill>
              <a:latin typeface="Calibri"/>
              <a:ea typeface="Calibri"/>
              <a:cs typeface="Calibri"/>
              <a:sym typeface="Calibri"/>
            </a:endParaRPr>
          </a:p>
        </p:txBody>
      </p:sp>
      <p:sp>
        <p:nvSpPr>
          <p:cNvPr id="437" name="Google Shape;437;p39"/>
          <p:cNvSpPr/>
          <p:nvPr/>
        </p:nvSpPr>
        <p:spPr>
          <a:xfrm>
            <a:off x="285750" y="3006090"/>
            <a:ext cx="8572500" cy="1851660"/>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Cenário Operacional</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Como técnico de laboratório escolar com orçamento semestral de R$ 15.000,00, crie uma planilha de controle.</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Registre equipamentos, quantidades, valores unitários, totais e saldo. Use fórmulas para alertar estoques críticos e gastos acima do limite.</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2" name="Shape 442"/>
        <p:cNvGrpSpPr/>
        <p:nvPr/>
      </p:nvGrpSpPr>
      <p:grpSpPr>
        <a:xfrm>
          <a:off x="0" y="0"/>
          <a:ext cx="0" cy="0"/>
          <a:chOff x="0" y="0"/>
          <a:chExt cx="0" cy="0"/>
        </a:xfrm>
      </p:grpSpPr>
      <p:sp>
        <p:nvSpPr>
          <p:cNvPr id="443" name="Google Shape;443;p40"/>
          <p:cNvSpPr/>
          <p:nvPr/>
        </p:nvSpPr>
        <p:spPr>
          <a:xfrm>
            <a:off x="171450" y="914400"/>
            <a:ext cx="2205990" cy="400050"/>
          </a:xfrm>
          <a:prstGeom prst="chevron">
            <a:avLst>
              <a:gd fmla="val 50000" name="adj"/>
            </a:avLst>
          </a:prstGeom>
          <a:solidFill>
            <a:srgbClr val="FFFFFF"/>
          </a:solidFill>
          <a:ln cap="flat" cmpd="sng" w="22850">
            <a:solidFill>
              <a:srgbClr val="7EB5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0"/>
          <p:cNvSpPr/>
          <p:nvPr/>
        </p:nvSpPr>
        <p:spPr>
          <a:xfrm>
            <a:off x="2377440" y="914400"/>
            <a:ext cx="2205990" cy="400050"/>
          </a:xfrm>
          <a:prstGeom prst="chevron">
            <a:avLst>
              <a:gd fmla="val 50000" name="adj"/>
            </a:avLst>
          </a:prstGeom>
          <a:solidFill>
            <a:srgbClr val="FFFFFF"/>
          </a:solidFill>
          <a:ln cap="flat" cmpd="sng" w="22850">
            <a:solidFill>
              <a:srgbClr val="7EB5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0"/>
          <p:cNvSpPr/>
          <p:nvPr/>
        </p:nvSpPr>
        <p:spPr>
          <a:xfrm>
            <a:off x="4572000" y="914400"/>
            <a:ext cx="2205990" cy="400050"/>
          </a:xfrm>
          <a:prstGeom prst="chevron">
            <a:avLst>
              <a:gd fmla="val 50000" name="adj"/>
            </a:avLst>
          </a:prstGeom>
          <a:solidFill>
            <a:srgbClr val="FFFFFF"/>
          </a:solidFill>
          <a:ln cap="flat" cmpd="sng" w="22850">
            <a:solidFill>
              <a:srgbClr val="7EB5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0"/>
          <p:cNvSpPr/>
          <p:nvPr/>
        </p:nvSpPr>
        <p:spPr>
          <a:xfrm>
            <a:off x="6777990" y="914400"/>
            <a:ext cx="2205990" cy="400050"/>
          </a:xfrm>
          <a:prstGeom prst="chevron">
            <a:avLst>
              <a:gd fmla="val 50000" name="adj"/>
            </a:avLst>
          </a:prstGeom>
          <a:solidFill>
            <a:srgbClr val="FFFFFF"/>
          </a:solidFill>
          <a:ln cap="flat" cmpd="sng" w="22850">
            <a:solidFill>
              <a:srgbClr val="7EB5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0"/>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Passo a Passo da Construção da Planilha</a:t>
            </a:r>
            <a:endParaRPr b="0" i="0" sz="2880" u="none" cap="none" strike="noStrike">
              <a:solidFill>
                <a:schemeClr val="dk1"/>
              </a:solidFill>
              <a:latin typeface="Calibri"/>
              <a:ea typeface="Calibri"/>
              <a:cs typeface="Calibri"/>
              <a:sym typeface="Calibri"/>
            </a:endParaRPr>
          </a:p>
        </p:txBody>
      </p:sp>
      <p:sp>
        <p:nvSpPr>
          <p:cNvPr id="448" name="Google Shape;448;p40"/>
          <p:cNvSpPr/>
          <p:nvPr/>
        </p:nvSpPr>
        <p:spPr>
          <a:xfrm>
            <a:off x="285750" y="1371600"/>
            <a:ext cx="1977390" cy="2203704"/>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1. Estrutura Base</a:t>
            </a:r>
            <a:endParaRPr b="0" i="0" sz="198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Inserir colunas: Item, Quantidade, Preço Unitário, Total e Status.</a:t>
            </a:r>
            <a:endParaRPr b="0" i="0" sz="1980" u="none" cap="none" strike="noStrike">
              <a:solidFill>
                <a:schemeClr val="dk1"/>
              </a:solidFill>
              <a:latin typeface="Calibri"/>
              <a:ea typeface="Calibri"/>
              <a:cs typeface="Calibri"/>
              <a:sym typeface="Calibri"/>
            </a:endParaRPr>
          </a:p>
        </p:txBody>
      </p:sp>
      <p:sp>
        <p:nvSpPr>
          <p:cNvPr id="449" name="Google Shape;449;p40"/>
          <p:cNvSpPr/>
          <p:nvPr/>
        </p:nvSpPr>
        <p:spPr>
          <a:xfrm>
            <a:off x="2491740" y="1371600"/>
            <a:ext cx="1977390" cy="1851660"/>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2. Fórmulas de Linha</a:t>
            </a:r>
            <a:endParaRPr b="0" i="0" sz="198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Calcular o total do item multiplicando: .</a:t>
            </a:r>
            <a:endParaRPr b="0" i="0" sz="1980" u="none" cap="none" strike="noStrike">
              <a:solidFill>
                <a:schemeClr val="dk1"/>
              </a:solidFill>
              <a:latin typeface="Calibri"/>
              <a:ea typeface="Calibri"/>
              <a:cs typeface="Calibri"/>
              <a:sym typeface="Calibri"/>
            </a:endParaRPr>
          </a:p>
        </p:txBody>
      </p:sp>
      <p:sp>
        <p:nvSpPr>
          <p:cNvPr id="450" name="Google Shape;450;p40"/>
          <p:cNvSpPr/>
          <p:nvPr/>
        </p:nvSpPr>
        <p:spPr>
          <a:xfrm>
            <a:off x="4686300" y="1371600"/>
            <a:ext cx="1977390" cy="1499616"/>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3. Totalizador e SE</a:t>
            </a:r>
            <a:endParaRPr b="0" i="0" sz="198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Aplicar  e verificar status: .</a:t>
            </a:r>
            <a:endParaRPr b="0" i="0" sz="1980" u="none" cap="none" strike="noStrike">
              <a:solidFill>
                <a:schemeClr val="dk1"/>
              </a:solidFill>
              <a:latin typeface="Calibri"/>
              <a:ea typeface="Calibri"/>
              <a:cs typeface="Calibri"/>
              <a:sym typeface="Calibri"/>
            </a:endParaRPr>
          </a:p>
        </p:txBody>
      </p:sp>
      <p:sp>
        <p:nvSpPr>
          <p:cNvPr id="451" name="Google Shape;451;p40"/>
          <p:cNvSpPr/>
          <p:nvPr/>
        </p:nvSpPr>
        <p:spPr>
          <a:xfrm>
            <a:off x="6892290" y="1371600"/>
            <a:ext cx="1977390" cy="2203704"/>
          </a:xfrm>
          <a:prstGeom prst="rect">
            <a:avLst/>
          </a:prstGeom>
          <a:noFill/>
          <a:ln>
            <a:noFill/>
          </a:ln>
        </p:spPr>
        <p:txBody>
          <a:bodyPr anchorCtr="0" anchor="t" bIns="45700" lIns="45700" spcFirstLastPara="1" rIns="45700" wrap="square" tIns="45700">
            <a:noAutofit/>
          </a:bodyPr>
          <a:lstStyle/>
          <a:p>
            <a:pPr indent="0" lvl="0" marL="0" marR="0" rtl="0" algn="ctr">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4. Formatação Visual</a:t>
            </a:r>
            <a:endParaRPr b="0" i="0" sz="198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E8E4DF"/>
              </a:buClr>
              <a:buSzPts val="1620"/>
              <a:buFont typeface="Lexend"/>
              <a:buNone/>
            </a:pPr>
            <a:r>
              <a:rPr b="0" i="0" lang="en-US" sz="1620" u="none" cap="none" strike="noStrike">
                <a:solidFill>
                  <a:srgbClr val="E8E4DF"/>
                </a:solidFill>
                <a:latin typeface="Lexend"/>
                <a:ea typeface="Lexend"/>
                <a:cs typeface="Lexend"/>
                <a:sym typeface="Lexend"/>
              </a:rPr>
              <a:t>Formatar Moeda (R$) e aplicar regra condicional vermelha para "Revisar".</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6" name="Shape 456"/>
        <p:cNvGrpSpPr/>
        <p:nvPr/>
      </p:nvGrpSpPr>
      <p:grpSpPr>
        <a:xfrm>
          <a:off x="0" y="0"/>
          <a:ext cx="0" cy="0"/>
          <a:chOff x="0" y="0"/>
          <a:chExt cx="0" cy="0"/>
        </a:xfrm>
      </p:grpSpPr>
      <p:pic>
        <p:nvPicPr>
          <p:cNvPr descr="/home/forge/chalkie-production-workers-2/releases/77424486/backend/storage/app/render-specs/022eb815-9090-4bd7-8537-9223371fc075/img_b8e2e30cbb6ba10a8acb00af0ff4be05.png" id="457" name="Google Shape;457;p41"/>
          <p:cNvPicPr preferRelativeResize="0"/>
          <p:nvPr/>
        </p:nvPicPr>
        <p:blipFill rotWithShape="1">
          <a:blip r:embed="rId4">
            <a:alphaModFix/>
          </a:blip>
          <a:srcRect b="0" l="0" r="0" t="0"/>
          <a:stretch/>
        </p:blipFill>
        <p:spPr>
          <a:xfrm>
            <a:off x="0" y="0"/>
            <a:ext cx="9144000" cy="5143500"/>
          </a:xfrm>
          <a:prstGeom prst="roundRect">
            <a:avLst>
              <a:gd fmla="val 2667" name="adj"/>
            </a:avLst>
          </a:prstGeom>
          <a:noFill/>
          <a:ln>
            <a:noFill/>
          </a:ln>
        </p:spPr>
      </p:pic>
      <p:pic>
        <p:nvPicPr>
          <p:cNvPr descr="/home/forge/chalkie-production-workers-2/releases/77424486/backend/storage/app/render-specs/022eb815-9090-4bd7-8537-9223371fc075/img_18258d6a1b5123bcc4c01ed99251dd0f.jpg" id="458" name="Google Shape;458;p41"/>
          <p:cNvPicPr preferRelativeResize="0"/>
          <p:nvPr/>
        </p:nvPicPr>
        <p:blipFill rotWithShape="1">
          <a:blip r:embed="rId5">
            <a:alphaModFix/>
          </a:blip>
          <a:srcRect b="0" l="0" r="0" t="0"/>
          <a:stretch/>
        </p:blipFill>
        <p:spPr>
          <a:xfrm>
            <a:off x="960120" y="1908810"/>
            <a:ext cx="2697480" cy="2331720"/>
          </a:xfrm>
          <a:prstGeom prst="roundRect">
            <a:avLst>
              <a:gd fmla="val 5882" name="adj"/>
            </a:avLst>
          </a:prstGeom>
          <a:noFill/>
          <a:ln>
            <a:noFill/>
          </a:ln>
        </p:spPr>
      </p:pic>
      <p:sp>
        <p:nvSpPr>
          <p:cNvPr id="459" name="Google Shape;459;p41"/>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Exercício de Auditoria Orçamentária</a:t>
            </a:r>
            <a:endParaRPr b="0" i="0" sz="2880" u="none" cap="none" strike="noStrike">
              <a:solidFill>
                <a:schemeClr val="dk1"/>
              </a:solidFill>
              <a:latin typeface="Calibri"/>
              <a:ea typeface="Calibri"/>
              <a:cs typeface="Calibri"/>
              <a:sym typeface="Calibri"/>
            </a:endParaRPr>
          </a:p>
        </p:txBody>
      </p:sp>
      <p:sp>
        <p:nvSpPr>
          <p:cNvPr id="460" name="Google Shape;460;p41"/>
          <p:cNvSpPr/>
          <p:nvPr/>
        </p:nvSpPr>
        <p:spPr>
          <a:xfrm>
            <a:off x="3806190" y="1440180"/>
            <a:ext cx="4194810" cy="312039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Dados do laboratório: 10 Teclados (R$ 45), 10 Mouses (R$ 30), 5 Monitores (R$ 650), 2 Nobreaks (R$ 1.100).</a:t>
            </a:r>
            <a:endParaRPr b="0" i="0" sz="1620" u="none" cap="none" strike="noStrike">
              <a:solidFill>
                <a:schemeClr val="dk1"/>
              </a:solidFill>
              <a:latin typeface="Calibri"/>
              <a:ea typeface="Calibri"/>
              <a:cs typeface="Calibri"/>
              <a:sym typeface="Calibri"/>
            </a:endParaRPr>
          </a:p>
          <a:p>
            <a:pPr indent="-228600" lvl="0" marL="228600" marR="0" rtl="0" algn="l">
              <a:lnSpc>
                <a:spcPct val="103333"/>
              </a:lnSpc>
              <a:spcBef>
                <a:spcPts val="585"/>
              </a:spcBef>
              <a:spcAft>
                <a:spcPts val="0"/>
              </a:spcAft>
              <a:buClr>
                <a:srgbClr val="E8E4DF"/>
              </a:buClr>
              <a:buSzPts val="1620"/>
              <a:buFont typeface="Calibri"/>
              <a:buAutoNum type="arabicPeriod"/>
            </a:pPr>
            <a:r>
              <a:rPr b="0" i="0" lang="en-US" sz="1620" u="none" cap="none" strike="noStrike">
                <a:solidFill>
                  <a:srgbClr val="E8E4DF"/>
                </a:solidFill>
                <a:latin typeface="Lexend"/>
                <a:ea typeface="Lexend"/>
                <a:cs typeface="Lexend"/>
                <a:sym typeface="Lexend"/>
              </a:rPr>
              <a:t>Cálculo por item: =B2*C2 (Qtd * Preço).</a:t>
            </a:r>
            <a:endParaRPr b="0" i="0" sz="162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Calibri"/>
              <a:buAutoNum type="arabicPeriod"/>
            </a:pPr>
            <a:r>
              <a:rPr b="0" i="0" lang="en-US" sz="1620" u="none" cap="none" strike="noStrike">
                <a:solidFill>
                  <a:srgbClr val="E8E4DF"/>
                </a:solidFill>
                <a:latin typeface="Lexend"/>
                <a:ea typeface="Lexend"/>
                <a:cs typeface="Lexend"/>
                <a:sym typeface="Lexend"/>
              </a:rPr>
              <a:t>Total consolidado: =SOMA(D2:D5).</a:t>
            </a:r>
            <a:endParaRPr b="0" i="0" sz="1620" u="none" cap="none" strike="noStrike">
              <a:solidFill>
                <a:schemeClr val="dk1"/>
              </a:solidFill>
              <a:latin typeface="Calibri"/>
              <a:ea typeface="Calibri"/>
              <a:cs typeface="Calibri"/>
              <a:sym typeface="Calibri"/>
            </a:endParaRPr>
          </a:p>
          <a:p>
            <a:pPr indent="-228600" lvl="0" marL="228600" marR="0" rtl="0" algn="l">
              <a:lnSpc>
                <a:spcPct val="103333"/>
              </a:lnSpc>
              <a:spcBef>
                <a:spcPts val="450"/>
              </a:spcBef>
              <a:spcAft>
                <a:spcPts val="0"/>
              </a:spcAft>
              <a:buClr>
                <a:srgbClr val="E8E4DF"/>
              </a:buClr>
              <a:buSzPts val="1620"/>
              <a:buFont typeface="Calibri"/>
              <a:buAutoNum type="arabicPeriod"/>
            </a:pPr>
            <a:r>
              <a:rPr b="0" i="0" lang="en-US" sz="1620" u="none" cap="none" strike="noStrike">
                <a:solidFill>
                  <a:srgbClr val="E8E4DF"/>
                </a:solidFill>
                <a:latin typeface="Lexend"/>
                <a:ea typeface="Lexend"/>
                <a:cs typeface="Lexend"/>
                <a:sym typeface="Lexend"/>
              </a:rPr>
              <a:t>Verificação de limite: =SE(SOMA(D2:D5)&lt;=7000; "DENTRO DO LIMITE"; "EXTRAPOLOU").</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5" name="Shape 465"/>
        <p:cNvGrpSpPr/>
        <p:nvPr/>
      </p:nvGrpSpPr>
      <p:grpSpPr>
        <a:xfrm>
          <a:off x="0" y="0"/>
          <a:ext cx="0" cy="0"/>
          <a:chOff x="0" y="0"/>
          <a:chExt cx="0" cy="0"/>
        </a:xfrm>
      </p:grpSpPr>
      <p:pic>
        <p:nvPicPr>
          <p:cNvPr descr="/home/forge/chalkie-production-workers-2/releases/77424486/backend/storage/app/render-specs/022eb815-9090-4bd7-8537-9223371fc075/img_b673b3ce1a874bdc48797258a77bfef9.png" id="466" name="Google Shape;466;p42"/>
          <p:cNvPicPr preferRelativeResize="0"/>
          <p:nvPr/>
        </p:nvPicPr>
        <p:blipFill rotWithShape="1">
          <a:blip r:embed="rId4">
            <a:alphaModFix/>
          </a:blip>
          <a:srcRect b="0" l="0" r="0" t="0"/>
          <a:stretch/>
        </p:blipFill>
        <p:spPr>
          <a:xfrm>
            <a:off x="5029200" y="800100"/>
            <a:ext cx="3829050" cy="4057650"/>
          </a:xfrm>
          <a:prstGeom prst="roundRect">
            <a:avLst>
              <a:gd fmla="val 3582" name="adj"/>
            </a:avLst>
          </a:prstGeom>
          <a:noFill/>
          <a:ln>
            <a:noFill/>
          </a:ln>
        </p:spPr>
      </p:pic>
      <p:sp>
        <p:nvSpPr>
          <p:cNvPr id="467" name="Google Shape;467;p42"/>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Síntese dos Conceitos Dominados</a:t>
            </a:r>
            <a:endParaRPr b="0" i="0" sz="2880" u="none" cap="none" strike="noStrike">
              <a:solidFill>
                <a:schemeClr val="dk1"/>
              </a:solidFill>
              <a:latin typeface="Calibri"/>
              <a:ea typeface="Calibri"/>
              <a:cs typeface="Calibri"/>
              <a:sym typeface="Calibri"/>
            </a:endParaRPr>
          </a:p>
        </p:txBody>
      </p:sp>
      <p:sp>
        <p:nvSpPr>
          <p:cNvPr id="468" name="Google Shape;468;p42"/>
          <p:cNvSpPr/>
          <p:nvPr/>
        </p:nvSpPr>
        <p:spPr>
          <a:xfrm>
            <a:off x="285750" y="868680"/>
            <a:ext cx="1005840" cy="262890"/>
          </a:xfrm>
          <a:prstGeom prst="roundRect">
            <a:avLst>
              <a:gd fmla="val 17391" name="adj"/>
            </a:avLst>
          </a:prstGeom>
          <a:solidFill>
            <a:srgbClr val="7EB5A6"/>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SÍNTESE</a:t>
            </a:r>
            <a:endParaRPr b="0" i="0" sz="1080" u="none" cap="none" strike="noStrike">
              <a:solidFill>
                <a:schemeClr val="dk1"/>
              </a:solidFill>
              <a:latin typeface="Calibri"/>
              <a:ea typeface="Calibri"/>
              <a:cs typeface="Calibri"/>
              <a:sym typeface="Calibri"/>
            </a:endParaRPr>
          </a:p>
        </p:txBody>
      </p:sp>
      <p:sp>
        <p:nvSpPr>
          <p:cNvPr id="469" name="Google Shape;469;p42"/>
          <p:cNvSpPr/>
          <p:nvPr/>
        </p:nvSpPr>
        <p:spPr>
          <a:xfrm>
            <a:off x="285750" y="1177290"/>
            <a:ext cx="4572000" cy="795528"/>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E4DF"/>
              </a:buClr>
              <a:buSzPts val="1979"/>
              <a:buFont typeface="Lexend"/>
              <a:buNone/>
            </a:pPr>
            <a:r>
              <a:rPr b="1" i="0" lang="en-US" sz="1980" u="none" cap="none" strike="noStrike">
                <a:solidFill>
                  <a:srgbClr val="E8E4DF"/>
                </a:solidFill>
                <a:latin typeface="Lexend"/>
                <a:ea typeface="Lexend"/>
                <a:cs typeface="Lexend"/>
                <a:sym typeface="Lexend"/>
              </a:rPr>
              <a:t>Competências Consolidadas</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585"/>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Estrutura:</a:t>
            </a:r>
            <a:r>
              <a:rPr b="0" i="0" lang="en-US" sz="1620" u="none" cap="none" strike="noStrike">
                <a:solidFill>
                  <a:srgbClr val="E8E4DF"/>
                </a:solidFill>
                <a:latin typeface="Lexend"/>
                <a:ea typeface="Lexend"/>
                <a:cs typeface="Lexend"/>
                <a:sym typeface="Lexend"/>
              </a:rPr>
              <a:t> células, endereçamento e tipos de dados (texto, número, moeda, data).</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Automação:</a:t>
            </a:r>
            <a:r>
              <a:rPr b="0" i="0" lang="en-US" sz="1620" u="none" cap="none" strike="noStrike">
                <a:solidFill>
                  <a:srgbClr val="E8E4DF"/>
                </a:solidFill>
                <a:latin typeface="Lexend"/>
                <a:ea typeface="Lexend"/>
                <a:cs typeface="Lexend"/>
                <a:sym typeface="Lexend"/>
              </a:rPr>
              <a:t> operadores e funções: SOMA, MÉDIA, CONT.SE e SE.</a:t>
            </a:r>
            <a:endParaRPr b="0" i="0" sz="1980" u="none" cap="none" strike="noStrike">
              <a:solidFill>
                <a:schemeClr val="dk1"/>
              </a:solidFill>
              <a:latin typeface="Calibri"/>
              <a:ea typeface="Calibri"/>
              <a:cs typeface="Calibri"/>
              <a:sym typeface="Calibri"/>
            </a:endParaRPr>
          </a:p>
          <a:p>
            <a:pPr indent="0" lvl="0" marL="0" marR="0" rtl="0" algn="l">
              <a:lnSpc>
                <a:spcPct val="103333"/>
              </a:lnSpc>
              <a:spcBef>
                <a:spcPts val="450"/>
              </a:spcBef>
              <a:spcAft>
                <a:spcPts val="0"/>
              </a:spcAft>
              <a:buClr>
                <a:srgbClr val="E8E4DF"/>
              </a:buClr>
              <a:buSzPts val="1620"/>
              <a:buFont typeface="Lexend"/>
              <a:buNone/>
            </a:pPr>
            <a:r>
              <a:rPr b="1" i="0" lang="en-US" sz="1620" u="none" cap="none" strike="noStrike">
                <a:solidFill>
                  <a:srgbClr val="E8E4DF"/>
                </a:solidFill>
                <a:latin typeface="Lexend"/>
                <a:ea typeface="Lexend"/>
                <a:cs typeface="Lexend"/>
                <a:sym typeface="Lexend"/>
              </a:rPr>
              <a:t>Gestão:</a:t>
            </a:r>
            <a:r>
              <a:rPr b="0" i="0" lang="en-US" sz="1620" u="none" cap="none" strike="noStrike">
                <a:solidFill>
                  <a:srgbClr val="E8E4DF"/>
                </a:solidFill>
                <a:latin typeface="Lexend"/>
                <a:ea typeface="Lexend"/>
                <a:cs typeface="Lexend"/>
                <a:sym typeface="Lexend"/>
              </a:rPr>
              <a:t> filtros, classificação, proteção, formatação condicional e CSV.</a:t>
            </a:r>
            <a:endParaRPr b="0" i="0" sz="1980" u="none" cap="none" strike="noStrike">
              <a:solidFill>
                <a:schemeClr val="dk1"/>
              </a:solidFill>
              <a:latin typeface="Calibri"/>
              <a:ea typeface="Calibri"/>
              <a:cs typeface="Calibri"/>
              <a:sym typeface="Calibri"/>
            </a:endParaRPr>
          </a:p>
        </p:txBody>
      </p:sp>
      <p:sp>
        <p:nvSpPr>
          <p:cNvPr id="470" name="Google Shape;470;p42"/>
          <p:cNvSpPr/>
          <p:nvPr/>
        </p:nvSpPr>
        <p:spPr>
          <a:xfrm>
            <a:off x="285750" y="3566160"/>
            <a:ext cx="4572000" cy="1125601"/>
          </a:xfrm>
          <a:prstGeom prst="roundRect">
            <a:avLst>
              <a:gd fmla="val 8124" name="adj"/>
            </a:avLst>
          </a:prstGeom>
          <a:solidFill>
            <a:srgbClr val="82B4EB">
              <a:alpha val="14902"/>
            </a:srgbClr>
          </a:solidFill>
          <a:ln cap="flat" cmpd="sng" w="11425">
            <a:solidFill>
              <a:srgbClr val="0B2F5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2"/>
          <p:cNvSpPr/>
          <p:nvPr/>
        </p:nvSpPr>
        <p:spPr>
          <a:xfrm>
            <a:off x="400050" y="3714750"/>
            <a:ext cx="365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160"/>
              <a:buFont typeface="Calibri"/>
              <a:buNone/>
            </a:pPr>
            <a:r>
              <a:rPr b="0" i="0" lang="en-US" sz="2160" u="none" cap="none" strike="noStrike">
                <a:solidFill>
                  <a:srgbClr val="000000"/>
                </a:solidFill>
                <a:latin typeface="Calibri"/>
                <a:ea typeface="Calibri"/>
                <a:cs typeface="Calibri"/>
                <a:sym typeface="Calibri"/>
              </a:rPr>
              <a:t>🧠</a:t>
            </a:r>
            <a:endParaRPr b="0" i="0" sz="2160" u="none" cap="none" strike="noStrike">
              <a:solidFill>
                <a:schemeClr val="dk1"/>
              </a:solidFill>
              <a:latin typeface="Calibri"/>
              <a:ea typeface="Calibri"/>
              <a:cs typeface="Calibri"/>
              <a:sym typeface="Calibri"/>
            </a:endParaRPr>
          </a:p>
        </p:txBody>
      </p:sp>
      <p:sp>
        <p:nvSpPr>
          <p:cNvPr id="472" name="Google Shape;472;p42"/>
          <p:cNvSpPr/>
          <p:nvPr/>
        </p:nvSpPr>
        <p:spPr>
          <a:xfrm>
            <a:off x="765810" y="3680460"/>
            <a:ext cx="3977640" cy="897001"/>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B5D4F4"/>
              </a:buClr>
              <a:buSzPts val="1440"/>
              <a:buFont typeface="Lexend"/>
              <a:buNone/>
            </a:pPr>
            <a:r>
              <a:rPr b="1" i="0" lang="en-US" sz="1440" u="none" cap="none" strike="noStrike">
                <a:solidFill>
                  <a:srgbClr val="B5D4F4"/>
                </a:solidFill>
                <a:latin typeface="Lexend"/>
                <a:ea typeface="Lexend"/>
                <a:cs typeface="Lexend"/>
                <a:sym typeface="Lexend"/>
              </a:rPr>
              <a:t>Lembre-se</a:t>
            </a:r>
            <a:endParaRPr b="0" i="0" sz="1440" u="none" cap="none" strike="noStrike">
              <a:solidFill>
                <a:schemeClr val="dk1"/>
              </a:solidFill>
              <a:latin typeface="Calibri"/>
              <a:ea typeface="Calibri"/>
              <a:cs typeface="Calibri"/>
              <a:sym typeface="Calibri"/>
            </a:endParaRPr>
          </a:p>
          <a:p>
            <a:pPr indent="0" lvl="0" marL="0" marR="0" rtl="0" algn="l">
              <a:lnSpc>
                <a:spcPct val="103333"/>
              </a:lnSpc>
              <a:spcBef>
                <a:spcPts val="630"/>
              </a:spcBef>
              <a:spcAft>
                <a:spcPts val="0"/>
              </a:spcAft>
              <a:buClr>
                <a:srgbClr val="B5D4F4"/>
              </a:buClr>
              <a:buSzPts val="1620"/>
              <a:buFont typeface="Lexend"/>
              <a:buNone/>
            </a:pPr>
            <a:r>
              <a:rPr b="0" i="0" lang="en-US" sz="1620" u="none" cap="none" strike="noStrike">
                <a:solidFill>
                  <a:srgbClr val="B5D4F4"/>
                </a:solidFill>
                <a:latin typeface="Lexend"/>
                <a:ea typeface="Lexend"/>
                <a:cs typeface="Lexend"/>
                <a:sym typeface="Lexend"/>
              </a:rPr>
              <a:t>Planilhas convertem dados brutos em inteligência e relatórios auditáveis.</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7" name="Shape 477"/>
        <p:cNvGrpSpPr/>
        <p:nvPr/>
      </p:nvGrpSpPr>
      <p:grpSpPr>
        <a:xfrm>
          <a:off x="0" y="0"/>
          <a:ext cx="0" cy="0"/>
          <a:chOff x="0" y="0"/>
          <a:chExt cx="0" cy="0"/>
        </a:xfrm>
      </p:grpSpPr>
      <p:pic>
        <p:nvPicPr>
          <p:cNvPr descr="/home/forge/chalkie-production-workers-2/releases/77424486/backend/storage/app/render-specs/022eb815-9090-4bd7-8537-9223371fc075/img_88f2cf22d50efe57d124336ea25cb3a9.png" id="478" name="Google Shape;478;p43"/>
          <p:cNvPicPr preferRelativeResize="0"/>
          <p:nvPr/>
        </p:nvPicPr>
        <p:blipFill rotWithShape="1">
          <a:blip r:embed="rId4">
            <a:alphaModFix/>
          </a:blip>
          <a:srcRect b="0" l="0" r="0" t="0"/>
          <a:stretch/>
        </p:blipFill>
        <p:spPr>
          <a:xfrm>
            <a:off x="354330" y="651510"/>
            <a:ext cx="8332470" cy="4309110"/>
          </a:xfrm>
          <a:prstGeom prst="roundRect">
            <a:avLst>
              <a:gd fmla="val 3183" name="adj"/>
            </a:avLst>
          </a:prstGeom>
          <a:noFill/>
          <a:ln>
            <a:noFill/>
          </a:ln>
        </p:spPr>
      </p:pic>
      <p:pic>
        <p:nvPicPr>
          <p:cNvPr descr="/home/forge/chalkie-production-workers-2/releases/77424486/backend/storage/app/render-specs/022eb815-9090-4bd7-8537-9223371fc075/img_c217775f728697f9c5690fa54f60e37f.jpg" id="479" name="Google Shape;479;p43"/>
          <p:cNvPicPr preferRelativeResize="0"/>
          <p:nvPr/>
        </p:nvPicPr>
        <p:blipFill rotWithShape="1">
          <a:blip r:embed="rId5">
            <a:alphaModFix/>
          </a:blip>
          <a:srcRect b="0" l="0" r="0" t="0"/>
          <a:stretch/>
        </p:blipFill>
        <p:spPr>
          <a:xfrm>
            <a:off x="1303020" y="1657350"/>
            <a:ext cx="2834640" cy="2194560"/>
          </a:xfrm>
          <a:prstGeom prst="roundRect">
            <a:avLst>
              <a:gd fmla="val 6250" name="adj"/>
            </a:avLst>
          </a:prstGeom>
          <a:noFill/>
          <a:ln>
            <a:noFill/>
          </a:ln>
        </p:spPr>
      </p:pic>
      <p:sp>
        <p:nvSpPr>
          <p:cNvPr id="480" name="Google Shape;480;p43"/>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Debate: Decisão Apoiada por Dados</a:t>
            </a:r>
            <a:endParaRPr b="0" i="0" sz="2880" u="none" cap="none" strike="noStrike">
              <a:solidFill>
                <a:schemeClr val="dk1"/>
              </a:solidFill>
              <a:latin typeface="Calibri"/>
              <a:ea typeface="Calibri"/>
              <a:cs typeface="Calibri"/>
              <a:sym typeface="Calibri"/>
            </a:endParaRPr>
          </a:p>
        </p:txBody>
      </p:sp>
      <p:sp>
        <p:nvSpPr>
          <p:cNvPr id="481" name="Google Shape;481;p43"/>
          <p:cNvSpPr/>
          <p:nvPr/>
        </p:nvSpPr>
        <p:spPr>
          <a:xfrm>
            <a:off x="4297680" y="1828800"/>
            <a:ext cx="3726180" cy="1988820"/>
          </a:xfrm>
          <a:prstGeom prst="rect">
            <a:avLst/>
          </a:prstGeom>
          <a:noFill/>
          <a:ln>
            <a:noFill/>
          </a:ln>
        </p:spPr>
        <p:txBody>
          <a:bodyPr anchorCtr="0" anchor="ctr" bIns="45700" lIns="45700" spcFirstLastPara="1" rIns="45700" wrap="square" tIns="45700">
            <a:noAutofit/>
          </a:bodyPr>
          <a:lstStyle/>
          <a:p>
            <a:pPr indent="0" lvl="0" marL="0" marR="0" rtl="0" algn="l">
              <a:lnSpc>
                <a:spcPct val="103333"/>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Em um ambiente profissional, qual é o impacto ético e operacional de tomar decisões baseando-se em planilhas sem proteção de fórmulas ou sem verificação de critérios de validação?</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6" name="Shape 486"/>
        <p:cNvGrpSpPr/>
        <p:nvPr/>
      </p:nvGrpSpPr>
      <p:grpSpPr>
        <a:xfrm>
          <a:off x="0" y="0"/>
          <a:ext cx="0" cy="0"/>
          <a:chOff x="0" y="0"/>
          <a:chExt cx="0" cy="0"/>
        </a:xfrm>
      </p:grpSpPr>
      <p:pic>
        <p:nvPicPr>
          <p:cNvPr descr="/home/forge/chalkie-production-workers-2/releases/77424486/backend/storage/app/render-specs/022eb815-9090-4bd7-8537-9223371fc075/img_88f2cf22d50efe57d124336ea25cb3a9.png" id="487" name="Google Shape;487;p44"/>
          <p:cNvPicPr preferRelativeResize="0"/>
          <p:nvPr/>
        </p:nvPicPr>
        <p:blipFill rotWithShape="1">
          <a:blip r:embed="rId4">
            <a:alphaModFix/>
          </a:blip>
          <a:srcRect b="0" l="0" r="0" t="0"/>
          <a:stretch/>
        </p:blipFill>
        <p:spPr>
          <a:xfrm>
            <a:off x="354330" y="651510"/>
            <a:ext cx="8332470" cy="4309110"/>
          </a:xfrm>
          <a:prstGeom prst="roundRect">
            <a:avLst>
              <a:gd fmla="val 3183" name="adj"/>
            </a:avLst>
          </a:prstGeom>
          <a:noFill/>
          <a:ln>
            <a:noFill/>
          </a:ln>
        </p:spPr>
      </p:pic>
      <p:sp>
        <p:nvSpPr>
          <p:cNvPr id="488" name="Google Shape;488;p44"/>
          <p:cNvSpPr/>
          <p:nvPr/>
        </p:nvSpPr>
        <p:spPr>
          <a:xfrm>
            <a:off x="285750" y="171450"/>
            <a:ext cx="8572500" cy="603504"/>
          </a:xfrm>
          <a:prstGeom prst="rect">
            <a:avLst/>
          </a:prstGeom>
          <a:noFill/>
          <a:ln>
            <a:noFill/>
          </a:ln>
        </p:spPr>
        <p:txBody>
          <a:bodyPr anchorCtr="0" anchor="t" bIns="45700" lIns="45700" spcFirstLastPara="1" rIns="45700" wrap="square" tIns="45700">
            <a:noAutofit/>
          </a:bodyPr>
          <a:lstStyle/>
          <a:p>
            <a:pPr indent="0" lvl="0" marL="0" marR="0" rtl="0" algn="l">
              <a:lnSpc>
                <a:spcPct val="103333"/>
              </a:lnSpc>
              <a:spcBef>
                <a:spcPts val="0"/>
              </a:spcBef>
              <a:spcAft>
                <a:spcPts val="0"/>
              </a:spcAft>
              <a:buClr>
                <a:srgbClr val="E8C85A"/>
              </a:buClr>
              <a:buSzPts val="2880"/>
              <a:buFont typeface="Lexend"/>
              <a:buNone/>
            </a:pPr>
            <a:r>
              <a:rPr b="1" i="0" lang="en-US" sz="2880" u="none" cap="none" strike="noStrike">
                <a:solidFill>
                  <a:srgbClr val="E8C85A"/>
                </a:solidFill>
                <a:latin typeface="Lexend"/>
                <a:ea typeface="Lexend"/>
                <a:cs typeface="Lexend"/>
                <a:sym typeface="Lexend"/>
              </a:rPr>
              <a:t>Debate: Decisão Apoiada por Dados</a:t>
            </a:r>
            <a:endParaRPr b="0" i="0" sz="2880" u="none" cap="none" strike="noStrike">
              <a:solidFill>
                <a:schemeClr val="dk1"/>
              </a:solidFill>
              <a:latin typeface="Calibri"/>
              <a:ea typeface="Calibri"/>
              <a:cs typeface="Calibri"/>
              <a:sym typeface="Calibri"/>
            </a:endParaRPr>
          </a:p>
        </p:txBody>
      </p:sp>
      <p:sp>
        <p:nvSpPr>
          <p:cNvPr id="489" name="Google Shape;489;p44"/>
          <p:cNvSpPr/>
          <p:nvPr/>
        </p:nvSpPr>
        <p:spPr>
          <a:xfrm>
            <a:off x="982980" y="1657350"/>
            <a:ext cx="7040880" cy="1988820"/>
          </a:xfrm>
          <a:prstGeom prst="rect">
            <a:avLst/>
          </a:prstGeom>
          <a:noFill/>
          <a:ln>
            <a:noFill/>
          </a:ln>
        </p:spPr>
        <p:txBody>
          <a:bodyPr anchorCtr="0" anchor="ctr" bIns="45700" lIns="45700" spcFirstLastPara="1" rIns="45700" wrap="square" tIns="45700">
            <a:noAutofit/>
          </a:bodyPr>
          <a:lstStyle/>
          <a:p>
            <a:pPr indent="0" lvl="0" marL="0" marR="0" rtl="0" algn="ctr">
              <a:lnSpc>
                <a:spcPct val="103333"/>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Você poderia ter dito...</a:t>
            </a:r>
            <a:endParaRPr b="0" i="0" sz="162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Risco de fórmulas corrompidas distorcendo custos.</a:t>
            </a:r>
            <a:endParaRPr b="0" i="0" sz="162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Decisões estratégicas erradas baseadas em dados falsos.</a:t>
            </a:r>
            <a:endParaRPr b="0" i="0" sz="162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Dificuldade em auditorias e rastreio de discrepâncias.</a:t>
            </a:r>
            <a:endParaRPr b="0" i="0" sz="1620" u="none" cap="none" strike="noStrike">
              <a:solidFill>
                <a:schemeClr val="dk1"/>
              </a:solidFill>
              <a:latin typeface="Calibri"/>
              <a:ea typeface="Calibri"/>
              <a:cs typeface="Calibri"/>
              <a:sym typeface="Calibri"/>
            </a:endParaRPr>
          </a:p>
          <a:p>
            <a:pPr indent="0" lvl="0" marL="0" marR="0" rtl="0" algn="ctr">
              <a:lnSpc>
                <a:spcPct val="103333"/>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Necessidade de governança de dados e controle de acesso.</a:t>
            </a:r>
            <a:endParaRPr b="0" i="0" sz="1620" u="none" cap="none" strike="noStrike">
              <a:solidFill>
                <a:schemeClr val="dk1"/>
              </a:solidFill>
              <a:latin typeface="Calibri"/>
              <a:ea typeface="Calibri"/>
              <a:cs typeface="Calibri"/>
              <a:sym typeface="Calibri"/>
            </a:endParaRPr>
          </a:p>
        </p:txBody>
      </p:sp>
      <p:sp>
        <p:nvSpPr>
          <p:cNvPr id="490" name="Google Shape;490;p44"/>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3333"/>
              </a:lnSpc>
              <a:spcBef>
                <a:spcPts val="0"/>
              </a:spcBef>
              <a:spcAft>
                <a:spcPts val="0"/>
              </a:spcAft>
              <a:buClr>
                <a:srgbClr val="E8E4DF"/>
              </a:buClr>
              <a:buSzPts val="3600"/>
              <a:buFont typeface="Lexend"/>
              <a:buNone/>
            </a:pPr>
            <a:r>
              <a:rPr b="0" i="0" lang="en-US" sz="3600" u="none" cap="none" strike="noStrike">
                <a:solidFill>
                  <a:srgbClr val="E8E4D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