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5143500" cy="9144000"/>
  <p:embeddedFontLst>
    <p:embeddedFont>
      <p:font typeface="Lexend" panose="020B0604020202020204" charset="0"/>
      <p:regular r:id="rId43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4" name="Google Shape;40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5" name="Google Shape;455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7" name="Google Shape;487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7" name="Google Shape;497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jpg"/><Relationship Id="rId4" Type="http://schemas.openxmlformats.org/officeDocument/2006/relationships/hyperlink" Target="http://www.youtube.com/watch?v=-_pnWrDDOdk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/home/forge/chalkie-production-workers-3/releases/77424551/backend/storage/app/render-specs/83ed0285-5fa8-4e68-a28e-a4e00fbda4f8/img_2c27528fcf4095c28c4684b04bcae239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4914900" y="1257300"/>
            <a:ext cx="3829050" cy="181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3240"/>
              <a:buFont typeface="Lexend"/>
              <a:buNone/>
            </a:pPr>
            <a:r>
              <a:rPr lang="en-US" sz="324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Comunicação Profissional e Seus Fundamentos</a:t>
            </a:r>
            <a:endParaRPr sz="32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914900" y="3288983"/>
            <a:ext cx="382905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 dirty="0" err="1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Fundamentos</a:t>
            </a:r>
            <a:r>
              <a:rPr lang="en-US" sz="1620" b="0" i="0" u="none" strike="noStrike" cap="none" dirty="0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da </a:t>
            </a:r>
            <a:r>
              <a:rPr lang="en-US" sz="1620" b="0" i="0" u="none" strike="noStrike" cap="none" dirty="0" err="1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comunicação</a:t>
            </a:r>
            <a:r>
              <a:rPr lang="en-US" sz="1620" b="0" i="0" u="none" strike="noStrike" cap="none" dirty="0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 </a:t>
            </a:r>
            <a:r>
              <a:rPr lang="en-US" sz="1620" b="0" i="0" u="none" strike="noStrike" cap="none" dirty="0" err="1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seus</a:t>
            </a:r>
            <a:r>
              <a:rPr lang="en-US" sz="1620" b="0" i="0" u="none" strike="noStrike" cap="none" dirty="0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US" sz="1620" b="0" i="0" u="none" strike="noStrike" cap="none" dirty="0" err="1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elementos</a:t>
            </a:r>
            <a:r>
              <a:rPr lang="en-US" sz="1620" b="0" i="0" u="none" strike="noStrike" cap="none" dirty="0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no </a:t>
            </a:r>
            <a:r>
              <a:rPr lang="en-US" sz="1620" b="0" i="0" u="none" strike="noStrike" cap="none" dirty="0" err="1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ambiente</a:t>
            </a:r>
            <a:r>
              <a:rPr lang="en-US" sz="1620" b="0" i="0" u="none" strike="noStrike" cap="none" dirty="0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de TIC.</a:t>
            </a:r>
            <a:endParaRPr sz="162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 descr="/home/forge/chalkie-production-workers-3/releases/77424551/backend/storage/app/render-specs/83ed0285-5fa8-4e68-a28e-a4e00fbda4f8/img_35cf65b93a3a2859ac7e83de50eedc09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285750" y="112014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Custo do Mal-Entendido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85750" y="1748790"/>
            <a:ext cx="5143500" cy="181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Você já enviou uma mensagem de texto e ela foi interpretada de forma completamente errada?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 ambiente profissional de Tecnologia da Informação, uma falha de comunicação em um chamado de suporte ou especificação de software pode paralisar sistemas inteiros e gerar prejuízos milionários.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 descr="/home/forge/chalkie-production-workers-3/releases/77424551/backend/storage/app/render-specs/83ed0285-5fa8-4e68-a28e-a4e00fbda4f8/img_336e82580117b328d0b72c04e3149cc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3714750" y="1863090"/>
            <a:ext cx="5143500" cy="925830"/>
          </a:xfrm>
          <a:prstGeom prst="roundRect">
            <a:avLst>
              <a:gd name="adj" fmla="val 16667"/>
            </a:avLst>
          </a:prstGeom>
          <a:solidFill>
            <a:srgbClr val="FFFFFF">
              <a:alpha val="10196"/>
            </a:srgbClr>
          </a:solidFill>
          <a:ln w="11425" cap="flat" cmpd="sng">
            <a:solidFill>
              <a:srgbClr val="7EB5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3829050" y="2148840"/>
            <a:ext cx="342900" cy="342900"/>
          </a:xfrm>
          <a:prstGeom prst="ellipse">
            <a:avLst/>
          </a:prstGeom>
          <a:solidFill>
            <a:srgbClr val="7EB5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3714750" y="2903220"/>
            <a:ext cx="5143500" cy="925830"/>
          </a:xfrm>
          <a:prstGeom prst="roundRect">
            <a:avLst>
              <a:gd name="adj" fmla="val 16667"/>
            </a:avLst>
          </a:prstGeom>
          <a:solidFill>
            <a:srgbClr val="FFFFFF">
              <a:alpha val="10196"/>
            </a:srgbClr>
          </a:solidFill>
          <a:ln w="11425" cap="flat" cmpd="sng">
            <a:solidFill>
              <a:srgbClr val="7EB5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3829050" y="3188970"/>
            <a:ext cx="342900" cy="342900"/>
          </a:xfrm>
          <a:prstGeom prst="ellipse">
            <a:avLst/>
          </a:prstGeom>
          <a:solidFill>
            <a:srgbClr val="7EB5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3714750" y="3943350"/>
            <a:ext cx="5143500" cy="914400"/>
          </a:xfrm>
          <a:prstGeom prst="roundRect">
            <a:avLst>
              <a:gd name="adj" fmla="val 16667"/>
            </a:avLst>
          </a:prstGeom>
          <a:solidFill>
            <a:srgbClr val="FFFFFF">
              <a:alpha val="10196"/>
            </a:srgbClr>
          </a:solidFill>
          <a:ln w="11425" cap="flat" cmpd="sng">
            <a:solidFill>
              <a:srgbClr val="7EB5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3829050" y="4229100"/>
            <a:ext cx="342900" cy="342900"/>
          </a:xfrm>
          <a:prstGeom prst="ellipse">
            <a:avLst/>
          </a:prstGeom>
          <a:solidFill>
            <a:srgbClr val="7EB5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3714750" y="17145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Objetivos da Aula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3714750" y="800100"/>
            <a:ext cx="5143500" cy="95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Nesta aula introdutória, desenvolveremos três competências centrais para sua atuação técnica e profissional: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3829050" y="214884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263390" y="1977390"/>
            <a:ext cx="448056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Identificar os seis elementos constitutivos do processo de comunicação.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3829050" y="318897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263390" y="3017520"/>
            <a:ext cx="448056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Reconhecer ruídos comunicativos e aplicar estratégias ativas de mitigação.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3829050" y="42291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263390" y="4057650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Adequar níveis de linguagem e postura às demandas corporativas.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6" descr="/home/forge/chalkie-production-workers-3/releases/77424551/backend/storage/app/render-specs/83ed0285-5fa8-4e68-a28e-a4e00fbda4f8/img_81f06af7c733df48a9f83f64e3f4e733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1600200"/>
            <a:ext cx="197739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53" name="Google Shape;53;p6" descr="/home/forge/chalkie-production-workers-3/releases/77424551/backend/storage/app/render-specs/83ed0285-5fa8-4e68-a28e-a4e00fbda4f8/img_e93f761dcaf42c9bf32a1b33b2ee5fc3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91740" y="914400"/>
            <a:ext cx="197739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54" name="Google Shape;54;p6" descr="/home/forge/chalkie-production-workers-3/releases/77424551/backend/storage/app/render-specs/83ed0285-5fa8-4e68-a28e-a4e00fbda4f8/img_d1d38071cd89131bcab25b76dfa27e76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86300" y="1600200"/>
            <a:ext cx="197739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55" name="Google Shape;55;p6" descr="/home/forge/chalkie-production-workers-3/releases/77424551/backend/storage/app/render-specs/83ed0285-5fa8-4e68-a28e-a4e00fbda4f8/img_ea65736de52a12d8957b98a7d802f1c1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92290" y="914400"/>
            <a:ext cx="197739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56" name="Google Shape;56;p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Vocabulário Essencial da Aula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285750" y="342900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Emissor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Agente que codifica e transmite a mensagem inicial.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2491740" y="274320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Receptor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Indivíduo ou grupo que recebe e decodifica o comunicado.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686300" y="3429000"/>
            <a:ext cx="1977390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Retorno confirmatório que valida a exata compreensão.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6892290" y="2743200"/>
            <a:ext cx="1977390" cy="1851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Ruído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Interferência física, técnica ou semântica que corrompe o dado.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7" descr="/home/forge/chalkie-production-workers-3/releases/77424551/backend/storage/app/render-specs/83ed0285-5fa8-4e68-a28e-a4e00fbda4f8/img_ea9ff36fcbbe78b3b2d9585d41a36a1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  <a:noFill/>
          <a:ln>
            <a:noFill/>
          </a:ln>
        </p:spPr>
      </p:pic>
      <p:sp>
        <p:nvSpPr>
          <p:cNvPr id="67" name="Google Shape;67;p7"/>
          <p:cNvSpPr/>
          <p:nvPr/>
        </p:nvSpPr>
        <p:spPr>
          <a:xfrm>
            <a:off x="285750" y="240030"/>
            <a:ext cx="514350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Papel da TIC nas Organizações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285750" y="1394460"/>
            <a:ext cx="166878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FUNDAMENTOS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7"/>
          <p:cNvSpPr/>
          <p:nvPr/>
        </p:nvSpPr>
        <p:spPr>
          <a:xfrm>
            <a:off x="285750" y="1703070"/>
            <a:ext cx="5143500" cy="1243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As </a:t>
            </a: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Tecnologias da Informação e Comunicação (TIC)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aceleraram o fluxo de dados nas empresas. A eficácia técnica depende menos de servidores velozes e mais da clareza humana ao operar essas ferramentas.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285750" y="3280410"/>
            <a:ext cx="51435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25" cap="flat" cmpd="sng">
            <a:solidFill>
              <a:srgbClr val="573B0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400050" y="34290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765810" y="3394710"/>
            <a:ext cx="454914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Tecnologia é o meio; o fator humano define se a mensagem gera alinhamento ou retrabalho.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8" descr="/home/forge/chalkie-production-workers-3/releases/77424551/backend/storage/app/render-specs/83ed0285-5fa8-4e68-a28e-a4e00fbda4f8/img_4f7d43a2d41cf89ba08ba582b8bf92b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1725930"/>
            <a:ext cx="857250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79" name="Google Shape;79;p8"/>
          <p:cNvSpPr/>
          <p:nvPr/>
        </p:nvSpPr>
        <p:spPr>
          <a:xfrm>
            <a:off x="285750" y="2857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Modelo Clássico da Comunicação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285750" y="9144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transmissão de qualquer ideia depende de um fluxo estruturado entre componentes interdependentes. Observe a dinâmica entre os elementos: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285750" y="392049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Se qualquer um desses elementos falhar, a transmissão perde integridade e o objetivo profissional é comprometido.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9" descr="/home/forge/chalkie-production-workers-3/releases/77424551/backend/storage/app/render-specs/83ed0285-5fa8-4e68-a28e-a4e00fbda4f8/img_8bdb04fa36141129dc333b11399f21e3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  <a:noFill/>
          <a:ln>
            <a:noFill/>
          </a:ln>
        </p:spPr>
      </p:pic>
      <p:sp>
        <p:nvSpPr>
          <p:cNvPr id="88" name="Google Shape;88;p9"/>
          <p:cNvSpPr/>
          <p:nvPr/>
        </p:nvSpPr>
        <p:spPr>
          <a:xfrm>
            <a:off x="3714750" y="18288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Papel do Emissor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3714750" y="880110"/>
            <a:ext cx="13373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ELEMENTOS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3714750" y="1188720"/>
            <a:ext cx="5143500" cy="2107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emissor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o ponto de partida do ciclo comunicativo. No setor de TIC, ele pode ser um desenvolvedor reportando um bug ou um gestor delegando demandas.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Sua responsabilidade primária é estruturar o pensamento e escolher símbolos apropriados para que o outro lado consiga entender com facilidade.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3714750" y="360045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25" cap="flat" cmpd="sng">
            <a:solidFill>
              <a:srgbClr val="0B2F50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9"/>
          <p:cNvSpPr/>
          <p:nvPr/>
        </p:nvSpPr>
        <p:spPr>
          <a:xfrm>
            <a:off x="3829050" y="374904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4194810" y="3714750"/>
            <a:ext cx="4549140" cy="8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O emissor é o principal responsável pela clareza inicial daquilo que transmite.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 descr="/home/forge/chalkie-production-workers-3/releases/77424551/backend/storage/app/render-specs/83ed0285-5fa8-4e68-a28e-a4e00fbda4f8/img_3d0f7a4751765ff2288f16dc96047fa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 Responsabilidade do Receptor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285750" y="868680"/>
            <a:ext cx="13373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ELEMENTOS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285750" y="117729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receptor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o destinatário que decodifica os sinais recebidos para reconstruir a mensagem em sua mente.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Receber uma mensagem exige </a:t>
            </a: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escuta ativa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 concentração. Ouvir passivamente sem processar detalhes técnicos gera suposições errôneas e falhas operacionais graves.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285750" y="333756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25" cap="flat" cmpd="sng">
            <a:solidFill>
              <a:srgbClr val="46060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400050" y="34861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765810" y="345186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Decodificar não é apenas ler ou ouvir: exige interpretar o contexto e validar o sentido.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1" descr="/home/forge/chalkie-production-workers-3/releases/77424551/backend/storage/app/render-specs/83ed0285-5fa8-4e68-a28e-a4e00fbda4f8/img_17aa6b83c23b41d8db61bd1a153df7b7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811530"/>
            <a:ext cx="419481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pic>
        <p:nvPicPr>
          <p:cNvPr id="112" name="Google Shape;112;p11" descr="/home/forge/chalkie-production-workers-3/releases/77424551/backend/storage/app/render-specs/83ed0285-5fa8-4e68-a28e-a4e00fbda4f8/img_8ccf0301506d082c728f25bbb026491a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52010" y="811530"/>
            <a:ext cx="4194810" cy="2057400"/>
          </a:xfrm>
          <a:prstGeom prst="roundRect">
            <a:avLst>
              <a:gd name="adj" fmla="val 6667"/>
            </a:avLst>
          </a:prstGeom>
          <a:noFill/>
          <a:ln>
            <a:noFill/>
          </a:ln>
        </p:spPr>
      </p:pic>
      <p:sp>
        <p:nvSpPr>
          <p:cNvPr id="113" name="Google Shape;113;p11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Mensagem e Canal de Transmissão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285750" y="300609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Mensagem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É o conteúdo expresso: instruções técnicas, relatórios de incidentes, chamados ou metas de projeto. Deve ser precisa e objetiva.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4652010" y="3006090"/>
            <a:ext cx="4194810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Canal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É o suporte material ou digital: email corporativo, chat de equipe, reunião presencial ou plataforma de chamados.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 descr="/home/forge/chalkie-production-workers-3/releases/77424551/backend/storage/app/render-specs/83ed0285-5fa8-4e68-a28e-a4e00fbda4f8/img_95935359d19966605e2a0bebfb806b6f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  <a:noFill/>
          <a:ln>
            <a:noFill/>
          </a:ln>
        </p:spPr>
      </p:pic>
      <p:sp>
        <p:nvSpPr>
          <p:cNvPr id="122" name="Google Shape;122;p1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Código: O Sistema de Signos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4286250" y="868680"/>
            <a:ext cx="13373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ELEMENTOS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4286250" y="1177290"/>
            <a:ext cx="4572000" cy="153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código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a convenção de signos que torna a mensagem compreensível, como a Língua Portuguesa, diagramas ou sintaxes de programação.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comunicação só ocorre quando o receptor domina o mesmo código do emissor.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4286250" y="307467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5AC8A5">
              <a:alpha val="14902"/>
            </a:srgbClr>
          </a:solidFill>
          <a:ln w="11425" cap="flat" cmpd="sng">
            <a:solidFill>
              <a:srgbClr val="084D3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2"/>
          <p:cNvSpPr/>
          <p:nvPr/>
        </p:nvSpPr>
        <p:spPr>
          <a:xfrm>
            <a:off x="4400550" y="32232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4766310" y="318897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Usar termos técnicos de banco de dados com um cliente leigo rompe o código compartilhado.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/>
          <p:nvPr/>
        </p:nvSpPr>
        <p:spPr>
          <a:xfrm>
            <a:off x="171450" y="1725930"/>
            <a:ext cx="2205990" cy="40005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22850" cap="flat" cmpd="sng">
            <a:solidFill>
              <a:srgbClr val="7EB5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2377440" y="1725930"/>
            <a:ext cx="2205990" cy="40005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22850" cap="flat" cmpd="sng">
            <a:solidFill>
              <a:srgbClr val="7EB5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4572000" y="1725930"/>
            <a:ext cx="2205990" cy="40005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22850" cap="flat" cmpd="sng">
            <a:solidFill>
              <a:srgbClr val="7EB5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6777990" y="1725930"/>
            <a:ext cx="2205990" cy="40005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22850" cap="flat" cmpd="sng">
            <a:solidFill>
              <a:srgbClr val="7EB5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O Feedback Como Validador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285750" y="8001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 ambiente corporativo, a comunicação nunca é linear; ela é um circuito fechado garantido pelo </a:t>
            </a: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285750" y="218313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Emissor envia instrução técnica detalhada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2491740" y="2183130"/>
            <a:ext cx="197739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Receptor interpreta a demanda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4686300" y="218313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Receptor sintetiza e confirma o entendimento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6892290" y="2183130"/>
            <a:ext cx="1977390" cy="95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Emissor valida ou ajusta a interpretação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Verificação: Elementos da Comunicação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Durante a entrega de um relatório técnico, o desenvolvedor nota que o colegaconfundiu o escopo do banco de dados. Qual elemento identifica esse erro?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canal digital utilizado para o envio.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código de programação empregado no script.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feedback fornecido pelo colega.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criptografia aplicada ao documento.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Verificação: Elementos da Comunicação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Durante a entrega de um relatório técnico, o desenvolvedor nota que o colegaconfundiu o escopo do banco de dados. Qual elemento identifica esse erro?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canal digital utilizado para o envio.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código de programação empregado no script.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2C6E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feedback fornecido pelo colega.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2520"/>
              <a:buFont typeface="Lexend"/>
              <a:buNone/>
            </a:pPr>
            <a:r>
              <a:rPr lang="en-US" sz="25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sz="25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criptografia aplicada ao documento.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lang="en-US" sz="360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6" descr="/home/forge/chalkie-production-workers-3/releases/77424551/backend/storage/app/render-specs/83ed0285-5fa8-4e68-a28e-a4e00fbda4f8/img_0cc414ccd964758f3b1721a1f04ec6f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  <a:noFill/>
          <a:ln>
            <a:noFill/>
          </a:ln>
        </p:spPr>
      </p:pic>
      <p:sp>
        <p:nvSpPr>
          <p:cNvPr id="181" name="Google Shape;181;p16"/>
          <p:cNvSpPr/>
          <p:nvPr/>
        </p:nvSpPr>
        <p:spPr>
          <a:xfrm>
            <a:off x="285750" y="205740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Identificação e Tipos de Ruído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285750" y="2754630"/>
            <a:ext cx="94869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RUÍDOS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285750" y="3063240"/>
            <a:ext cx="8572500" cy="153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Ruído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qualquer interferência que degrade, altere ou impeça a correta assimilação da mensagem.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 equipes técnicas, o ruído não se restringe a barulhos no escritório; ele engloba falhas de conexão, termos ambíguos e distrações cognitivas que corrompem a mensagem.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7" descr="/home/forge/chalkie-production-workers-3/releases/77424551/backend/storage/app/render-specs/83ed0285-5fa8-4e68-a28e-a4e00fbda4f8/img_5836502cfb29e9062f21c006aecf5d3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1600200"/>
            <a:ext cx="197739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190" name="Google Shape;190;p17" descr="/home/forge/chalkie-production-workers-3/releases/77424551/backend/storage/app/render-specs/83ed0285-5fa8-4e68-a28e-a4e00fbda4f8/img_a6ca9367ad5ac5213126e7687504547c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91740" y="914400"/>
            <a:ext cx="197739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191" name="Google Shape;191;p17" descr="/home/forge/chalkie-production-workers-3/releases/77424551/backend/storage/app/render-specs/83ed0285-5fa8-4e68-a28e-a4e00fbda4f8/img_03f25d06af69778c0a619a2b3aee55ff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86300" y="1600200"/>
            <a:ext cx="197739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192" name="Google Shape;192;p17" descr="/home/forge/chalkie-production-workers-3/releases/77424551/backend/storage/app/render-specs/83ed0285-5fa8-4e68-a28e-a4e00fbda4f8/img_e837838e45d000ac5b01e24fc1e36dd6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92290" y="914400"/>
            <a:ext cx="197739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193" name="Google Shape;193;p1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Categorias de Ruído no Trabalho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Ruído Físico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Barulho de obras, tráfego ou conversas paralelas no ambiente.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Ruído Técnico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Conexão instável de internet, falhas de áudio ou software.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4686300" y="342900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Ruído Semântico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Uso de termos ambíguos, siglas obscuras ou sintaxe confusa.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Ruído Psicológico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Estresse, pressa excessiva, preconceitos ou desatenção.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8" descr="/home/forge/chalkie-production-workers-3/releases/77424551/backend/storage/app/render-specs/83ed0285-5fa8-4e68-a28e-a4e00fbda4f8/img_ede76cda6341c46aa6fb02ebaa370c3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  <a:noFill/>
          <a:ln>
            <a:noFill/>
          </a:ln>
        </p:spPr>
      </p:pic>
      <p:sp>
        <p:nvSpPr>
          <p:cNvPr id="204" name="Google Shape;204;p1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Estratégias Para Mitigar Ruídos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285750" y="868680"/>
            <a:ext cx="94869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RUÍDOS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285750" y="1177290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Mitigar interferências exige método: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Escolha o canal adequado à complexidade.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Estruture textos com tópicos e prazos.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Peça paráfrases para confirmar o entendimento.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285750" y="324612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25" cap="flat" cmpd="sng">
            <a:solidFill>
              <a:srgbClr val="0B2F50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400050" y="33947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765810" y="336042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Mensagens cruciais alinhadas verbalmente devem ser formalizadas por escrito.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Análise Crítica: Comunicação Digital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ambiente de TIC, ruído na comunicação refere-se exclusivamente a falhas mecânicas de microfones ou má conexão de internet durante videoconferências.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lang="en-US" sz="23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lang="en-US" sz="23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sz="23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lang="en-US" sz="23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lang="en-US" sz="23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sz="23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lang="en-US" sz="1620" b="0" i="1" u="none" strike="noStrike" cap="non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Análise Crítica: Comunicação Digital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2850" tIns="102850" rIns="102850" bIns="10285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ambiente de TIC, ruído na comunicação refere-se exclusivamente a falhas mecânicas de microfones ou má conexão de internet durante videoconferências.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lang="en-US" sz="23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lang="en-US" sz="23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sz="23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00" cap="flat" cmpd="sng">
            <a:solidFill>
              <a:srgbClr val="2C6E4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lang="en-US" sz="234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lang="en-US" sz="234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sz="23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lang="en-US" sz="360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57200" y="3657600"/>
            <a:ext cx="822960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25" cap="flat" cmpd="sng">
            <a:solidFill>
              <a:srgbClr val="573B0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37260" y="3771900"/>
            <a:ext cx="7635240" cy="8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Por que é isso?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Ruído também compreende ambiguidades semânticas, termos confusos, estresse e desatenção.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1" descr="/home/forge/chalkie-production-workers-3/releases/77424551/backend/storage/app/render-specs/83ed0285-5fa8-4e68-a28e-a4e00fbda4f8/img_671e346f566ab7a0b24eb4e3155fcc37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  <a:noFill/>
          <a:ln>
            <a:noFill/>
          </a:ln>
        </p:spPr>
      </p:pic>
      <p:sp>
        <p:nvSpPr>
          <p:cNvPr id="242" name="Google Shape;242;p21"/>
          <p:cNvSpPr/>
          <p:nvPr/>
        </p:nvSpPr>
        <p:spPr>
          <a:xfrm>
            <a:off x="285750" y="218313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Comunicação Assertiva e Empatia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285750" y="2880360"/>
            <a:ext cx="113157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POSTURA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285750" y="3188970"/>
            <a:ext cx="8572500" cy="1243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Assertividade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é a capacidade de expressar opiniões, necessidades e limites com firmeza, clareza e respeito mútuo, sem agressividade ou submissão.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Aliada à </a:t>
            </a: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empatia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ela permite entender a perspectiva dos colegas antes de responder a problemas técnicos críticos.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/>
          <p:nvPr/>
        </p:nvSpPr>
        <p:spPr>
          <a:xfrm>
            <a:off x="285750" y="21717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Estilos de Comunicação Interpessoal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285750" y="84582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Passivo ou Agressivo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Passivo: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Omite ideias, não aponta falhas graves por medo e gera acúmulo de frustração.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Agressivo: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Impõe vontades, interrompe falas e desqualifica colegas.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285750" y="3177540"/>
            <a:ext cx="419481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25" cap="flat" cmpd="sng">
            <a:solidFill>
              <a:srgbClr val="46060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400050" y="332613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765810" y="3291840"/>
            <a:ext cx="360045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Ambos geram desagregação, retrabalho e desmotivação crônica nas equipes.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4652010" y="845820"/>
            <a:ext cx="4194810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Assertivo (Ideal)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Apresenta fatos objetivos e fundamentados.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Ouve ativamente os contra-argumentos.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Char char="•"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Propõe soluções com foco no problema, sem ataques pessoais.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4652010" y="3234690"/>
            <a:ext cx="4194810" cy="1125601"/>
          </a:xfrm>
          <a:prstGeom prst="roundRect">
            <a:avLst>
              <a:gd name="adj" fmla="val 8124"/>
            </a:avLst>
          </a:prstGeom>
          <a:solidFill>
            <a:srgbClr val="FAC873">
              <a:alpha val="14902"/>
            </a:srgbClr>
          </a:solidFill>
          <a:ln w="11425" cap="flat" cmpd="sng">
            <a:solidFill>
              <a:srgbClr val="573B0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4766310" y="338328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132070" y="3348990"/>
            <a:ext cx="3600450" cy="8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Foca na solução do sistema e preserva o respeito interpessoal.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3" descr="/home/forge/chalkie-production-workers-3/releases/77424551/backend/storage/app/render-specs/83ed0285-5fa8-4e68-a28e-a4e00fbda4f8/img_87155e20d6f4dbe7fb944aeb51fdc27f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  <a:noFill/>
          <a:ln>
            <a:noFill/>
          </a:ln>
        </p:spPr>
      </p:pic>
      <p:sp>
        <p:nvSpPr>
          <p:cNvPr id="265" name="Google Shape;265;p23"/>
          <p:cNvSpPr/>
          <p:nvPr/>
        </p:nvSpPr>
        <p:spPr>
          <a:xfrm>
            <a:off x="3714750" y="30861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 Prática da Escuta Ativa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3714750" y="1005840"/>
            <a:ext cx="113157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POSTURA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3714750" y="1314450"/>
            <a:ext cx="5143500" cy="1819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Escutar ativamente significa silenciar o diálogo interno enquanto o interlocutor fala, em vez de planejar uma resposta defensiva.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 suporte de TI e análise de requisitos, essa habilidade previne a construção de softwares que não atendem às dores reais do cliente.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3714750" y="3211830"/>
            <a:ext cx="5143500" cy="1380744"/>
          </a:xfrm>
          <a:prstGeom prst="roundRect">
            <a:avLst>
              <a:gd name="adj" fmla="val 6623"/>
            </a:avLst>
          </a:prstGeom>
          <a:solidFill>
            <a:srgbClr val="5AC8A5">
              <a:alpha val="14902"/>
            </a:srgbClr>
          </a:solidFill>
          <a:ln w="11425" cap="flat" cmpd="sng">
            <a:solidFill>
              <a:srgbClr val="084D3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3829050" y="33604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4194810" y="3326130"/>
            <a:ext cx="454914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Demonstre escuta com anotações e frases de validação: 'Se entendi bem, a prioridade hoje é normalizar o login?'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4" descr="/home/forge/chalkie-production-workers-3/releases/77424551/backend/storage/app/render-specs/83ed0285-5fa8-4e68-a28e-a4e00fbda4f8/img_1fd2ea954c1fe205e52058ba948f629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  <a:noFill/>
          <a:ln>
            <a:noFill/>
          </a:ln>
        </p:spPr>
      </p:pic>
      <p:sp>
        <p:nvSpPr>
          <p:cNvPr id="277" name="Google Shape;277;p24"/>
          <p:cNvSpPr/>
          <p:nvPr/>
        </p:nvSpPr>
        <p:spPr>
          <a:xfrm>
            <a:off x="285750" y="218313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Níveis de Fala e Adequação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285750" y="2880360"/>
            <a:ext cx="134874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LINGUAGEM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285750" y="318897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Um profissional competente não fala da mesma forma em todas as ocasiões.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linguagem deve se moldar ao </a:t>
            </a: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contexto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, ao </a:t>
            </a: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canal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e ao </a:t>
            </a: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público-alvo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. A inadequação vocabular pode paralisar decisões ou transmitir amadorismo aos clientes da empresa.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5" descr="/home/forge/chalkie-production-workers-3/releases/77424551/backend/storage/app/render-specs/83ed0285-5fa8-4e68-a28e-a4e00fbda4f8/img_1be25ed627b42b62ce105f90a3ae564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1485900"/>
            <a:ext cx="270891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286" name="Google Shape;286;p25" descr="/home/forge/chalkie-production-workers-3/releases/77424551/backend/storage/app/render-specs/83ed0285-5fa8-4e68-a28e-a4e00fbda4f8/img_55b0f77767c2dc310b98f484489def3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23260" y="914400"/>
            <a:ext cx="270891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287" name="Google Shape;287;p25" descr="/home/forge/chalkie-production-workers-3/releases/77424551/backend/storage/app/render-specs/83ed0285-5fa8-4e68-a28e-a4e00fbda4f8/img_1d582819d1eb2fcc17ee141a8b0e5c86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9340" y="1485900"/>
            <a:ext cx="270891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288" name="Google Shape;288;p2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Norma Culta, Técnica e Jargão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285750" y="3314700"/>
            <a:ext cx="2708910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Linguagem Culta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Respeita a gramática padrão corporativa em relatórios e propostas.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3223260" y="2743200"/>
            <a:ext cx="2708910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Linguagem Técnica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Termos científicos precisos compartilhados pela área tecnológica.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6149340" y="3314700"/>
            <a:ext cx="2708910" cy="149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Jargão Profissional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Gírias internas da equipe (ex: 'commitar', 'buildar', 'deploy').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26" descr="/home/forge/chalkie-production-workers-3/releases/77424551/backend/storage/app/render-specs/83ed0285-5fa8-4e68-a28e-a4e00fbda4f8/img_57ea5de1f2a808b9f3d205469497dbf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  <a:noFill/>
          <a:ln>
            <a:noFill/>
          </a:ln>
        </p:spPr>
      </p:pic>
      <p:sp>
        <p:nvSpPr>
          <p:cNvPr id="298" name="Google Shape;298;p26"/>
          <p:cNvSpPr/>
          <p:nvPr/>
        </p:nvSpPr>
        <p:spPr>
          <a:xfrm>
            <a:off x="285750" y="468630"/>
            <a:ext cx="5143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Adequação ao Público-Alvo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285750" y="1165860"/>
            <a:ext cx="134874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LINGUAGEM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285750" y="1474470"/>
            <a:ext cx="5143500" cy="153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Traduzir complexidade técnica é vital no mercado de TIC. Ao atender um usuário com problemas de rede, evite jargões como 'timeout na tabela de roteamento'. Diga que a conexão com o servidor caiu e está sendo restaurada.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285750" y="3051810"/>
            <a:ext cx="51435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25" cap="flat" cmpd="sng">
            <a:solidFill>
              <a:srgbClr val="573B0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400050" y="32004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765810" y="3166110"/>
            <a:ext cx="454914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Precisão técnica é essencial entre pares; clareza didática é mandatória com clientes e gestores.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Associação: Níveis de Linguagem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Culta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Adequação Vocabular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Técnica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Jargão Interno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7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Capacidade de adaptar o discurso ao nível de conhecimento do interlocutor.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Norma padrão utilizada em atas, contratos e ofícios institucionais.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Expressões coloquiais e abreviações usadas exclusivamente entre pares técnicos.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Vocabulário com conceitos exatos da ciência da computação e telecomunicações.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Associação: Níveis de Linguagem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440"/>
              <a:buFont typeface="Lexend"/>
              <a:buNone/>
            </a:pPr>
            <a:r>
              <a:rPr lang="en-US" sz="144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409E9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Culta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D903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Adequação Vocabular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D68C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Linguagem Técnica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4579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lang="en-US" sz="180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Jargão Interno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3829050" y="13144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Capacidade de adaptar o discurso ao nível de conhecimento do interlocutor.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3829050" y="22288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Norma padrão utilizada em atas, contratos e ofícios institucionais.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3829050" y="31432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Expressões coloquiais e abreviações usadas exclusivamente entre pares técnicos.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3829050" y="4057650"/>
            <a:ext cx="5143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Vocabulário com conceitos exatos da ciência da computação e telecomunicações.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lang="en-US" sz="360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" name="Google Shape;335;p28"/>
          <p:cNvCxnSpPr/>
          <p:nvPr/>
        </p:nvCxnSpPr>
        <p:spPr>
          <a:xfrm>
            <a:off x="2571750" y="1623060"/>
            <a:ext cx="994410" cy="891540"/>
          </a:xfrm>
          <a:prstGeom prst="straightConnector1">
            <a:avLst/>
          </a:prstGeom>
          <a:noFill/>
          <a:ln w="28575" cap="flat" cmpd="sng">
            <a:solidFill>
              <a:srgbClr val="409E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6" name="Google Shape;336;p28"/>
          <p:cNvCxnSpPr/>
          <p:nvPr/>
        </p:nvCxnSpPr>
        <p:spPr>
          <a:xfrm rot="10800000" flipH="1">
            <a:off x="2571750" y="1600200"/>
            <a:ext cx="994410" cy="937260"/>
          </a:xfrm>
          <a:prstGeom prst="straightConnector1">
            <a:avLst/>
          </a:prstGeom>
          <a:noFill/>
          <a:ln w="28575" cap="flat" cmpd="sng">
            <a:solidFill>
              <a:srgbClr val="D9036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7" name="Google Shape;337;p28"/>
          <p:cNvCxnSpPr/>
          <p:nvPr/>
        </p:nvCxnSpPr>
        <p:spPr>
          <a:xfrm>
            <a:off x="2571750" y="3451860"/>
            <a:ext cx="994410" cy="891540"/>
          </a:xfrm>
          <a:prstGeom prst="straightConnector1">
            <a:avLst/>
          </a:prstGeom>
          <a:noFill/>
          <a:ln w="28575" cap="flat" cmpd="sng">
            <a:solidFill>
              <a:srgbClr val="D68C45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8" name="Google Shape;338;p28"/>
          <p:cNvCxnSpPr/>
          <p:nvPr/>
        </p:nvCxnSpPr>
        <p:spPr>
          <a:xfrm rot="10800000" flipH="1">
            <a:off x="2571750" y="3429000"/>
            <a:ext cx="994410" cy="937260"/>
          </a:xfrm>
          <a:prstGeom prst="straightConnector1">
            <a:avLst/>
          </a:prstGeom>
          <a:noFill/>
          <a:ln w="28575" cap="flat" cmpd="sng">
            <a:solidFill>
              <a:srgbClr val="4579A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9" name="Google Shape;339;p28"/>
          <p:cNvSpPr/>
          <p:nvPr/>
        </p:nvSpPr>
        <p:spPr>
          <a:xfrm>
            <a:off x="3394710" y="23431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09E9E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3394710" y="14287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90368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3394710" y="41719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68C45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3394710" y="32575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4579A9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Comunicação em Equipes de Alta Performance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2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120" y="800100"/>
            <a:ext cx="7212330" cy="40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0" descr="/home/forge/chalkie-production-workers-3/releases/77424551/backend/storage/app/render-specs/83ed0285-5fa8-4e68-a28e-a4e00fbda4f8/img_49a7effc2548aafc7a7b8d8dc2ec6928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  <a:noFill/>
          <a:ln>
            <a:noFill/>
          </a:ln>
        </p:spPr>
      </p:pic>
      <p:sp>
        <p:nvSpPr>
          <p:cNvPr id="356" name="Google Shape;356;p3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 Dinâmica do Trabalho em Equipe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4286250" y="868680"/>
            <a:ext cx="101727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EQUIPES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4286250" y="1177290"/>
            <a:ext cx="4572000" cy="239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Nenhum sistema computacional robusto é construído por uma pessoa só. Projetos de software exigem analistas, desenvolvedores, designers e especialistas em segurança cooperando diariamente.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Essa interdependência exige compartilhamento contínuo de status, impedimentos e dependências técnicas.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4286250" y="358902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25" cap="flat" cmpd="sng">
            <a:solidFill>
              <a:srgbClr val="0B2F50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0"/>
          <p:cNvSpPr/>
          <p:nvPr/>
        </p:nvSpPr>
        <p:spPr>
          <a:xfrm>
            <a:off x="4400550" y="37376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0"/>
          <p:cNvSpPr/>
          <p:nvPr/>
        </p:nvSpPr>
        <p:spPr>
          <a:xfrm>
            <a:off x="4766310" y="3703320"/>
            <a:ext cx="3977640" cy="8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O sucesso individual em TI é nulo se a integração do produto final falhar.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 Busca de Consenso nas Decisões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285750" y="800100"/>
            <a:ext cx="4194810" cy="255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Que é Consenso?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Consenso não significa unanimidade ou ausência de debate prévio.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Significa que todos os membros puderam apresentar seus pontos de vista, debater as alternativas e concordar em apoiar a decisão final adotada pelo grupo.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285750" y="3337560"/>
            <a:ext cx="419481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25" cap="flat" cmpd="sng">
            <a:solidFill>
              <a:srgbClr val="573B0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1"/>
          <p:cNvSpPr/>
          <p:nvPr/>
        </p:nvSpPr>
        <p:spPr>
          <a:xfrm>
            <a:off x="400050" y="34861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1"/>
          <p:cNvSpPr/>
          <p:nvPr/>
        </p:nvSpPr>
        <p:spPr>
          <a:xfrm>
            <a:off x="765810" y="3451860"/>
            <a:ext cx="360045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AC775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Ponto-chave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AC775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FAC775"/>
                </a:solidFill>
                <a:latin typeface="Lexend"/>
                <a:ea typeface="Lexend"/>
                <a:cs typeface="Lexend"/>
                <a:sym typeface="Lexend"/>
              </a:rPr>
              <a:t>No consenso, todos se comprometem com a implementação da solução.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4652010" y="800100"/>
            <a:ext cx="4194810" cy="2203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Risco da Imposição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Decisões puramente impostas geram desengajamento e sabotagens veladas.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Quando um membro não é ouvido durante o planejamento, sua adesão na execução diminui drasticamente.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4652010" y="2823210"/>
            <a:ext cx="419481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25" cap="flat" cmpd="sng">
            <a:solidFill>
              <a:srgbClr val="46060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31"/>
          <p:cNvSpPr/>
          <p:nvPr/>
        </p:nvSpPr>
        <p:spPr>
          <a:xfrm>
            <a:off x="4766310" y="297180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1"/>
          <p:cNvSpPr/>
          <p:nvPr/>
        </p:nvSpPr>
        <p:spPr>
          <a:xfrm>
            <a:off x="5132070" y="2937510"/>
            <a:ext cx="360045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Equipes maduras debatem ideias intensamente, mas mantêm respeito mútuo irrestrito.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2" descr="/home/forge/chalkie-production-workers-3/releases/77424551/backend/storage/app/render-specs/83ed0285-5fa8-4e68-a28e-a4e00fbda4f8/img_77ef5fa0d5e2e88a4fff3509ac31a183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  <a:noFill/>
          <a:ln>
            <a:noFill/>
          </a:ln>
        </p:spPr>
      </p:pic>
      <p:sp>
        <p:nvSpPr>
          <p:cNvPr id="382" name="Google Shape;382;p3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Gestão Construtiva de Conflitos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2"/>
          <p:cNvSpPr/>
          <p:nvPr/>
        </p:nvSpPr>
        <p:spPr>
          <a:xfrm>
            <a:off x="285750" y="868680"/>
            <a:ext cx="101727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EQUIPES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2"/>
          <p:cNvSpPr/>
          <p:nvPr/>
        </p:nvSpPr>
        <p:spPr>
          <a:xfrm>
            <a:off x="285750" y="1177290"/>
            <a:ext cx="4572000" cy="153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Divergências técnicas são saudáveis. O problema surge quando o conflito se torna pessoal. A gestão construtiva foca em critérios objetivos: desempenho, segurança, custo e prazos do projeto.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2"/>
          <p:cNvSpPr/>
          <p:nvPr/>
        </p:nvSpPr>
        <p:spPr>
          <a:xfrm>
            <a:off x="285750" y="275463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5AC8A5">
              <a:alpha val="14902"/>
            </a:srgbClr>
          </a:solidFill>
          <a:ln w="11425" cap="flat" cmpd="sng">
            <a:solidFill>
              <a:srgbClr val="084D3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2"/>
          <p:cNvSpPr/>
          <p:nvPr/>
        </p:nvSpPr>
        <p:spPr>
          <a:xfrm>
            <a:off x="400050" y="290322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2"/>
          <p:cNvSpPr/>
          <p:nvPr/>
        </p:nvSpPr>
        <p:spPr>
          <a:xfrm>
            <a:off x="765810" y="286893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Troque 'sua ideia é péssima' por 'quais os riscos de segurança desse método na nuvem?'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3" descr="/home/forge/chalkie-production-workers-3/releases/77424551/backend/storage/app/render-specs/83ed0285-5fa8-4e68-a28e-a4e00fbda4f8/img_87cfae1da5d8742cc9b2fad5cff4f47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1600200"/>
            <a:ext cx="197739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394" name="Google Shape;394;p33" descr="/home/forge/chalkie-production-workers-3/releases/77424551/backend/storage/app/render-specs/83ed0285-5fa8-4e68-a28e-a4e00fbda4f8/img_975cb1834df055290884f20052ce06f5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91740" y="914400"/>
            <a:ext cx="197739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395" name="Google Shape;395;p33" descr="/home/forge/chalkie-production-workers-3/releases/77424551/backend/storage/app/render-specs/83ed0285-5fa8-4e68-a28e-a4e00fbda4f8/img_4e503ac85a3a674062c8106bd3654642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86300" y="1600200"/>
            <a:ext cx="197739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pic>
        <p:nvPicPr>
          <p:cNvPr id="396" name="Google Shape;396;p33" descr="/home/forge/chalkie-production-workers-3/releases/77424551/backend/storage/app/render-specs/83ed0285-5fa8-4e68-a28e-a4e00fbda4f8/img_5096e83f5061fb956007d330df06f37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92290" y="914400"/>
            <a:ext cx="1977390" cy="1714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Capacidades Socioemocionais no Trabalho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3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Amabilidade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Tratar colegas com respeito diário e gentileza genuína.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3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Cooperação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Ajudar ativamente na resolução de impedimentos da equipe.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3"/>
          <p:cNvSpPr/>
          <p:nvPr/>
        </p:nvSpPr>
        <p:spPr>
          <a:xfrm>
            <a:off x="4686300" y="3429000"/>
            <a:ext cx="1977390" cy="153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Respeito à Hierarquia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Reconhecer papéis, canais formais e níveis decisórios.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3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Abertura à Mudança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- Acolher novas tecnologias, metodologias e correções.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34" descr="/home/forge/chalkie-production-workers-3/releases/77424551/backend/storage/app/render-specs/83ed0285-5fa8-4e68-a28e-a4e00fbda4f8/img_1c5e594d3f200fdebb740509f4dc2b3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  <a:noFill/>
          <a:ln>
            <a:noFill/>
          </a:ln>
        </p:spPr>
      </p:pic>
      <p:sp>
        <p:nvSpPr>
          <p:cNvPr id="408" name="Google Shape;408;p3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Ética na Transmissão de Informações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4286250" y="868680"/>
            <a:ext cx="77724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ÉTICA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4"/>
          <p:cNvSpPr/>
          <p:nvPr/>
        </p:nvSpPr>
        <p:spPr>
          <a:xfrm>
            <a:off x="4286250" y="117729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Profissionais de TIC têm acesso privilegiado a bancos de dados, senhas e fluxos de negócio corporativos confidenciais.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 ética na comunicação envolve salvaguardar o sigilo dessas informações, combater fofocas e nunca vazar credenciais ou relatórios não autorizados.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4"/>
          <p:cNvSpPr/>
          <p:nvPr/>
        </p:nvSpPr>
        <p:spPr>
          <a:xfrm>
            <a:off x="4286250" y="333756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25" cap="flat" cmpd="sng">
            <a:solidFill>
              <a:srgbClr val="0B2F50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4"/>
          <p:cNvSpPr/>
          <p:nvPr/>
        </p:nvSpPr>
        <p:spPr>
          <a:xfrm>
            <a:off x="4400550" y="34861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4"/>
          <p:cNvSpPr/>
          <p:nvPr/>
        </p:nvSpPr>
        <p:spPr>
          <a:xfrm>
            <a:off x="4766310" y="345186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Lembre-se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B5D4F4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B5D4F4"/>
                </a:solidFill>
                <a:latin typeface="Lexend"/>
                <a:ea typeface="Lexend"/>
                <a:cs typeface="Lexend"/>
                <a:sym typeface="Lexend"/>
              </a:rPr>
              <a:t>Integridade e discrição no tratamento de dados definem a longevidade da sua reputação profissional.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5" descr="/home/forge/chalkie-production-workers-3/releases/77424551/backend/storage/app/render-specs/83ed0285-5fa8-4e68-a28e-a4e00fbda4f8/img_641f4f13a194816f17098ddfb999486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  <a:noFill/>
          <a:ln>
            <a:noFill/>
          </a:ln>
        </p:spPr>
      </p:pic>
      <p:sp>
        <p:nvSpPr>
          <p:cNvPr id="420" name="Google Shape;420;p35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 Cadeia de Custódia da Informação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5"/>
          <p:cNvSpPr/>
          <p:nvPr/>
        </p:nvSpPr>
        <p:spPr>
          <a:xfrm>
            <a:off x="285750" y="868680"/>
            <a:ext cx="77724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ÉTICA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5"/>
          <p:cNvSpPr/>
          <p:nvPr/>
        </p:nvSpPr>
        <p:spPr>
          <a:xfrm>
            <a:off x="285750" y="1177290"/>
            <a:ext cx="4572000" cy="2107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Ao transmitir relatórios técnicos ou incidentes de segurança, a veracidade factual deve ser inegociável.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Ocultar falhas, mascarar prazos ou atribuir erros a terceiros quebra a confiança da equipe e impede que a gerência tome medidas corretivas a tempo.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5"/>
          <p:cNvSpPr/>
          <p:nvPr/>
        </p:nvSpPr>
        <p:spPr>
          <a:xfrm>
            <a:off x="285750" y="333756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25" cap="flat" cmpd="sng">
            <a:solidFill>
              <a:srgbClr val="46060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5"/>
          <p:cNvSpPr/>
          <p:nvPr/>
        </p:nvSpPr>
        <p:spPr>
          <a:xfrm>
            <a:off x="400050" y="348615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5"/>
          <p:cNvSpPr/>
          <p:nvPr/>
        </p:nvSpPr>
        <p:spPr>
          <a:xfrm>
            <a:off x="765810" y="3451860"/>
            <a:ext cx="397764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Relate os fatos como eles são: incidentes comunicados com agilidade são resolvidos com menor custo.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Sequência do Alinhamento Profissional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6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as quatro etapas recomendadas para transmitir uma instrução técnica crítica sem ruídos e com total clareza: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Transmitir a instrução pelo canal corporativo adequado.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6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Registrar formalmente o alinhamento e iniciar a execução.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6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Solicitar feedback confirmando o entendimento do receptor.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Estruturar a mensagem em tópicos claros e objetivos.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Sequência do Alinhamento Profissional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7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Ordene as quatro etapas recomendadas para transmitir uma instrução técnica crítica sem ruídos e com total clareza: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7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Transmitir a instrução pelo canal corporativo adequado.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7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Registrar formalmente o alinhamento e iniciar a execução.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7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Solicitar feedback confirmando o entendimento do receptor.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7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000" tIns="80000" rIns="80000" bIns="800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Estruturar a mensagem em tópicos claros e objetivos.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lang="en-US" sz="360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7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7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7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7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lang="en-US" sz="117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17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38" descr="/home/forge/chalkie-production-workers-3/releases/77424551/backend/storage/app/render-specs/83ed0285-5fa8-4e68-a28e-a4e00fbda4f8/img_4d600eb9f6666a9061778789a3df6ebc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  <a:noFill/>
          <a:ln>
            <a:noFill/>
          </a:ln>
        </p:spPr>
      </p:pic>
      <p:sp>
        <p:nvSpPr>
          <p:cNvPr id="459" name="Google Shape;459;p38"/>
          <p:cNvSpPr/>
          <p:nvPr/>
        </p:nvSpPr>
        <p:spPr>
          <a:xfrm>
            <a:off x="285750" y="218313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Simulação: Estruturação Sem Ruídos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8"/>
          <p:cNvSpPr/>
          <p:nvPr/>
        </p:nvSpPr>
        <p:spPr>
          <a:xfrm>
            <a:off x="285750" y="2880360"/>
            <a:ext cx="105156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PRÁTICA</a:t>
            </a:r>
            <a:endParaRPr sz="10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8"/>
          <p:cNvSpPr/>
          <p:nvPr/>
        </p:nvSpPr>
        <p:spPr>
          <a:xfrm>
            <a:off x="285750" y="3188970"/>
            <a:ext cx="8572500" cy="1243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Imagine que o servidor de arquivos da empresa passará por manutenção programada no sábado à noite.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Como redigir um comunicado para todos os colaboradores que evite dúvidas desnecessárias e garanta que todos salvem seus trabalhos a tempo?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9"/>
          <p:cNvSpPr/>
          <p:nvPr/>
        </p:nvSpPr>
        <p:spPr>
          <a:xfrm>
            <a:off x="285750" y="36576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Comparação: Mensagem Ruim vs Clara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285750" y="994410"/>
            <a:ext cx="4194810" cy="1851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Mensagem com Ruído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'Gente, o server vai cair sábado pq vamos atualizar os pacotes do Linux e rebootar os nós. Salvem suas coisas aí pra não perderem nada.'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9"/>
          <p:cNvSpPr/>
          <p:nvPr/>
        </p:nvSpPr>
        <p:spPr>
          <a:xfrm>
            <a:off x="285750" y="2697480"/>
            <a:ext cx="419481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25" cap="flat" cmpd="sng">
            <a:solidFill>
              <a:srgbClr val="46060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39"/>
          <p:cNvSpPr/>
          <p:nvPr/>
        </p:nvSpPr>
        <p:spPr>
          <a:xfrm>
            <a:off x="400050" y="284607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9"/>
          <p:cNvSpPr/>
          <p:nvPr/>
        </p:nvSpPr>
        <p:spPr>
          <a:xfrm>
            <a:off x="765810" y="2811780"/>
            <a:ext cx="360045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F7C1C1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Atenção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F7C1C1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F7C1C1"/>
                </a:solidFill>
                <a:latin typeface="Lexend"/>
                <a:ea typeface="Lexend"/>
                <a:cs typeface="Lexend"/>
                <a:sym typeface="Lexend"/>
              </a:rPr>
              <a:t>Horário vago, jargão desnecessário para leigos e ausência de canal de suporte.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9"/>
          <p:cNvSpPr/>
          <p:nvPr/>
        </p:nvSpPr>
        <p:spPr>
          <a:xfrm>
            <a:off x="4652010" y="994410"/>
            <a:ext cx="4194810" cy="2203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1979"/>
              <a:buFont typeface="Lexend"/>
              <a:buNone/>
            </a:pPr>
            <a:r>
              <a:rPr lang="en-US" sz="198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Mensagem Eficaz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'</a:t>
            </a:r>
            <a:r>
              <a:rPr lang="en-US" sz="1620" b="1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Manutenção Programada:</a:t>
            </a: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 O servidor de arquivos ficará indisponível no sábado (15/10), das 22h às 23h.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Favor salvar seus arquivos na nuvem até as 21h30. Dúvidas: ramal 4020.'</a:t>
            </a:r>
            <a:endParaRPr sz="19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9"/>
          <p:cNvSpPr/>
          <p:nvPr/>
        </p:nvSpPr>
        <p:spPr>
          <a:xfrm>
            <a:off x="4652010" y="3017520"/>
            <a:ext cx="4194810" cy="1380744"/>
          </a:xfrm>
          <a:prstGeom prst="roundRect">
            <a:avLst>
              <a:gd name="adj" fmla="val 6623"/>
            </a:avLst>
          </a:prstGeom>
          <a:solidFill>
            <a:srgbClr val="5AC8A5">
              <a:alpha val="14902"/>
            </a:srgbClr>
          </a:solidFill>
          <a:ln w="11425" cap="flat" cmpd="sng">
            <a:solidFill>
              <a:srgbClr val="084D36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39"/>
          <p:cNvSpPr/>
          <p:nvPr/>
        </p:nvSpPr>
        <p:spPr>
          <a:xfrm>
            <a:off x="4766310" y="316611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alibri"/>
              <a:buNone/>
            </a:pPr>
            <a:r>
              <a:rPr lang="en-US" sz="216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21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9"/>
          <p:cNvSpPr/>
          <p:nvPr/>
        </p:nvSpPr>
        <p:spPr>
          <a:xfrm>
            <a:off x="5132070" y="3131820"/>
            <a:ext cx="3600450" cy="115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440"/>
              <a:buFont typeface="Lexend"/>
              <a:buNone/>
            </a:pPr>
            <a:r>
              <a:rPr lang="en-US" sz="1440" b="1" i="0" u="none" strike="noStrike" cap="non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Exemplo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630"/>
              </a:spcBef>
              <a:spcAft>
                <a:spcPts val="0"/>
              </a:spcAft>
              <a:buClr>
                <a:srgbClr val="9FE1CB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9FE1CB"/>
                </a:solidFill>
                <a:latin typeface="Lexend"/>
                <a:ea typeface="Lexend"/>
                <a:cs typeface="Lexend"/>
                <a:sym typeface="Lexend"/>
              </a:rPr>
              <a:t>Estrutura direta, horários exatos, impacto claro e canal de suporte identificado.</a:t>
            </a:r>
            <a:endParaRPr sz="144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40" descr="/home/forge/chalkie-production-workers-3/releases/77424551/backend/storage/app/render-specs/83ed0285-5fa8-4e68-a28e-a4e00fbda4f8/img_b8e2e30cbb6ba10a8acb00af0ff4be0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  <a:noFill/>
          <a:ln>
            <a:noFill/>
          </a:ln>
        </p:spPr>
      </p:pic>
      <p:pic>
        <p:nvPicPr>
          <p:cNvPr id="482" name="Google Shape;482;p40" descr="/home/forge/chalkie-production-workers-3/releases/77424551/backend/storage/app/render-specs/83ed0285-5fa8-4e68-a28e-a4e00fbda4f8/img_d24eb3044739eb62491099369252db1a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</p:pic>
      <p:sp>
        <p:nvSpPr>
          <p:cNvPr id="483" name="Google Shape;483;p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Estudo de Caso: Comunicação em TI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0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Responda no caderno: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3333"/>
              </a:lnSpc>
              <a:spcBef>
                <a:spcPts val="585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Ruídos: Ambiguidade ("dar uma geral"), falta de escopo e de confirmação.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Emissor: Deve definir objetivo, limites e prazo exato da tarefa.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103333"/>
              </a:lnSpc>
              <a:spcBef>
                <a:spcPts val="45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Calibri"/>
              <a:buAutoNum type="arabicPeriod"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Estagiário: Deve usar escuta ativa, parafrasear a ordem e pedir detalhes.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41" descr="/home/forge/chalkie-production-workers-3/releases/77424551/backend/storage/app/render-specs/83ed0285-5fa8-4e68-a28e-a4e00fbda4f8/img_74db676abbf9321227487417a15623c8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  <a:noFill/>
          <a:ln>
            <a:noFill/>
          </a:ln>
        </p:spPr>
      </p:pic>
      <p:sp>
        <p:nvSpPr>
          <p:cNvPr id="491" name="Google Shape;491;p4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Avaliação Final: Fundamentos da Comunicação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1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Qual é a função primordial do feedback no circuito comunicativo profissional?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1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Por que o jargão técnico da área de TI não deve ser utilizado com clientes leigos?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1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O que caracteriza a comunicação assertiva em uma divergência técnica de equipe?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C85A"/>
              </a:buClr>
              <a:buSzPts val="2880"/>
              <a:buFont typeface="Lexend"/>
              <a:buNone/>
            </a:pPr>
            <a:r>
              <a:rPr lang="en-US" sz="2880" b="1" i="0" u="none" strike="noStrike" cap="none">
                <a:solidFill>
                  <a:srgbClr val="E8C85A"/>
                </a:solidFill>
                <a:latin typeface="Lexend"/>
                <a:ea typeface="Lexend"/>
                <a:cs typeface="Lexend"/>
                <a:sym typeface="Lexend"/>
              </a:rPr>
              <a:t>Avaliação Final: Fundamentos da Comunicação</a:t>
            </a:r>
            <a:endParaRPr sz="288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2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Validar se a mensagem foi recebida e compreendida com exatidão pelo receptor.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2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Porque rompe o código compartilhado, criando ruído semântico e impedindo a compreensão.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2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7EB5A6"/>
              </a:buClr>
              <a:buSzPts val="1620"/>
              <a:buFont typeface="Lexend"/>
              <a:buNone/>
            </a:pPr>
            <a:r>
              <a:rPr lang="en-US" sz="1620" b="1" i="0" u="none" strike="noStrike" cap="none">
                <a:solidFill>
                  <a:srgbClr val="7EB5A6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3333"/>
              </a:lnSpc>
              <a:spcBef>
                <a:spcPts val="720"/>
              </a:spcBef>
              <a:spcAft>
                <a:spcPts val="0"/>
              </a:spcAft>
              <a:buClr>
                <a:srgbClr val="E8E4DF"/>
              </a:buClr>
              <a:buSzPts val="1620"/>
              <a:buFont typeface="Lexend"/>
              <a:buNone/>
            </a:pPr>
            <a:r>
              <a:rPr lang="en-US" sz="162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Apresentar fatos objetivos com respeito e firmeza, focando no problema e não em ataques pessoais.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r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E8E4DF"/>
              </a:buClr>
              <a:buSzPts val="3600"/>
              <a:buFont typeface="Lexend"/>
              <a:buNone/>
            </a:pPr>
            <a:r>
              <a:rPr lang="en-US" sz="3600" b="0" i="0" u="none" strike="noStrike" cap="none">
                <a:solidFill>
                  <a:srgbClr val="E8E4D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2335</Words>
  <Application>Microsoft Office PowerPoint</Application>
  <PresentationFormat>Apresentação no Ecrã (16:9)</PresentationFormat>
  <Paragraphs>323</Paragraphs>
  <Slides>40</Slides>
  <Notes>40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40</vt:i4>
      </vt:variant>
    </vt:vector>
  </HeadingPairs>
  <TitlesOfParts>
    <vt:vector size="44" baseType="lpstr">
      <vt:lpstr>Calibri</vt:lpstr>
      <vt:lpstr>Lexend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Gelvazio Camargo - HOTMAIL</cp:lastModifiedBy>
  <cp:revision>1</cp:revision>
  <dcterms:modified xsi:type="dcterms:W3CDTF">2026-09-11T10:35:59Z</dcterms:modified>
</cp:coreProperties>
</file>