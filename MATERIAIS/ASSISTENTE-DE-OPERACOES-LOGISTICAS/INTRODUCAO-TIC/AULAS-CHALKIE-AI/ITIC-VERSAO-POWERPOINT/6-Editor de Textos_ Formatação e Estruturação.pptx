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hyperlink" Target="http://www.youtube.com/watch?v=UXg3c7huqbU" TargetMode="External"/><Relationship Id="rId5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42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36.png"/><Relationship Id="rId5" Type="http://schemas.openxmlformats.org/officeDocument/2006/relationships/image" Target="../media/image80.png"/><Relationship Id="rId6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7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59.png"/><Relationship Id="rId5" Type="http://schemas.openxmlformats.org/officeDocument/2006/relationships/image" Target="../media/image5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7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7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7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Relationship Id="rId4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Relationship Id="rId4" Type="http://schemas.openxmlformats.org/officeDocument/2006/relationships/image" Target="../media/image79.png"/><Relationship Id="rId5" Type="http://schemas.openxmlformats.org/officeDocument/2006/relationships/image" Target="../media/image7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Relationship Id="rId4" Type="http://schemas.openxmlformats.org/officeDocument/2006/relationships/image" Target="../media/image7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jpg"/><Relationship Id="rId4" Type="http://schemas.openxmlformats.org/officeDocument/2006/relationships/image" Target="../media/image71.png"/><Relationship Id="rId5" Type="http://schemas.openxmlformats.org/officeDocument/2006/relationships/image" Target="../media/image8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jpg"/><Relationship Id="rId4" Type="http://schemas.openxmlformats.org/officeDocument/2006/relationships/image" Target="../media/image7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jpg"/><Relationship Id="rId4" Type="http://schemas.openxmlformats.org/officeDocument/2006/relationships/image" Target="../media/image6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47f5acb13149d6d4ae5b4e937dfc294f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99441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Editor de Textos: Formatação e Estruturação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269748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Domine a produção de documentos técnicos, colaborativos e padronizados no ambiente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b321b92b7bcbaf767ed50b37e69bdd44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6687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Impacto do Primeiro Olhar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Um relatório mal formatado destrói a credibilidade de uma ideia brilhante antes mesmo da primeira linha ser lida.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4e48f45f4fce12211e4de36ec507f62a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Nesta aula, você desenvolverá competências essenciais para criar documentos de alto padrão corporativo e acadêmico: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Estruturar páginas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ajustando margens, tamanhos e quebras de seção.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estilos hierárquicos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gerar sumários automáticos precisos.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Configurar recursos colaborativos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revisão e exportação segura em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072a60de5800213bb4e1a51febf886e8.png"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5e5003359880f19a17a4174b9b07e5c0.png" id="41" name="Google Shape;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4ce8f9217f75444582a3a2f324bbe23f.png" id="42" name="Google Shape;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79a05137d4ee3669f00dfbbb75e2ada4.png" id="43" name="Google Shape;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Formatação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Ajuste visual de fontes, cores, tamanhos e disposições no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2491740" y="27432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Parágrafo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Bloco de texto delimitado por quebra de linha com espaçamento próprio.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Estilo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Conjunto de formatações pré-definidas para títulos e corpos de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Margem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Espaço de segurança entre o conteúdo e a borda da folha de papel.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a6217bb95f3f9d74c991fb200249e22f.png" id="54" name="Google Shape;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Recapitulação: Segurança e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4286250" y="868680"/>
            <a:ext cx="11658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CONEXÃO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286250" y="117729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aula anterior, estudamos os pilares da segurança digital (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confidencialidade, integridade e disponibilidade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 e 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LGPD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Todo documento produzido corporativamente lida com dados sensíveis ou informações proprietárias que exigem controle de acesso rigoroso.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286250" y="333756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44005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766310" y="345186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Informações confidenciais salvas em computadores compartilhados sem proteção ferem diretamente a LGPD.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Quiz: Segurança e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prática ao redigir um documento digital atende diretamente ao princípio de confidencialidade da LGPD?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o link de edição livre com qualquer pessoa na internet.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Salvar o documento em pastas públicas de computadores compartilhados.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CPF e dados bancários de clientes no cabeçalho visível do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Remover metadados e proteger com senha relatórios com dados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Quiz: Segurança e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prática ao redigir um documento digital atende diretamente ao princípio de confidencialidade da LGPD?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o link de edição livre com qualquer pessoa na internet.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Salvar o documento em pastas públicas de computadores compartilhados.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CPF e dados bancários de clientes no cabeçalho visível do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Remover metadados e proteger com senha relatórios com dados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0947a0515045f727b3035a411ecd406b.png" id="98" name="Google Shape;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054b4451609e3fd02b5580ac922546c1.png" id="99" name="Google Shape;9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Editores de Texto no Mercado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Microsoft Word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Padrão tradicional na indústria para relatórios técnicos pesados, automações avançadas e macros corporativas.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Google Docs &amp; Web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Foco absoluto em colaboração em tempo real, versionamento instantâneo em nuvem e trabalho ágil em equipe.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bea72231eb053ed1a47569c9f0c94a0b.png"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Anatomia da Interface do Editor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 operar com agilidade, reconheça as áreas do software: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Faixa de opções / Menus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Agrupamento lógico de comandos por tarefas.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Régua e guias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Controle visual de margens e recuos.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Barra de status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Contagem de palavras, idioma e modos de exibição.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285750" y="338328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400050" y="35318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765810" y="349758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 régua horizontal permite inspecionar recuos rapidamente sem abrir janelas extras.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Panorama Geral da Formatação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Vídeo: entenda a distinção entre formatação visual e estrutura semântica.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d415c8625314d9ecb2b1aba95a1ad240.png" id="127" name="Google Shape;1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Tipografia e Formatação de Fonte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4286250" y="868680"/>
            <a:ext cx="11887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2862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tipografia define o tom e legibilidade: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Família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Serifadas (ex: Times) para impressos; sem serifa (ex: Arial) para telas.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Destaques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Use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negrito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termos-chave e </a:t>
            </a:r>
            <a:r>
              <a:rPr b="0" i="1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itálico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estrangeirismos ou títulos.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286250" y="345186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4400550" y="36004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4766310" y="356616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sublinhar; leitores confundem o recurso com hiperlinks.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6176bf9eb252e09d75bef6554aacb2a9.png" id="139" name="Google Shape;1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40" name="Google Shape;140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Alinhamento e Fluxo de Leitura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285750" y="800100"/>
            <a:ext cx="45720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À esquerda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Espaçamento uniforme, ideal para leitura dinâmica.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Justificado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Alinha margens, conferindo sobriedade formal exigida pela ABNT.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Centralizado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Reservado para capas, títulos e legendas.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85750" y="280035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400050" y="29489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765810" y="291465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Justificados exigem cuidado para evitar 'rios brancos' entre palavras.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678ec54a4176950c906149de3ecbdc60.png"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0beb13999c26fa6f3051ff7959c1078a.png" id="151" name="Google Shape;1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Parágrafos: Recuos e Espaçamentos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28575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Recuo de Primeira Linha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Sinaliza visualmente o início de uma nova ideia sem a necessidade de pular linhas vazias artificiais.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Espaçamento entre Linhas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espaçamento 1,5 é o padrão formal para relatórios extensos, evitando a fadiga ocular durante a leitura contínua.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36b5d569c07fa5b7c9bf92c0e364addc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Configuração da Página e Margens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714750" y="1325880"/>
            <a:ext cx="11887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714750" y="163449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Defina a geometria da folha antes de redigir: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Tamanho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A4 (210 x 297 mm).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Margens ABNT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Sup/Esq (3 cm), Inf/Dir (2 cm).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Orientação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Retrato (texto) ou Paisagem (tabelas).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3714750" y="370332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3829050" y="38519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194810" y="381762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Margem esquerda (3 cm) reserva espaço para encadernação ou grampos.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Espaçamentos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afastar um parágrafo do outro, o método profissional correto é pressionar 'Enter' várias vezes seguidas.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Espaçamentos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afastar um parágrafo do outro, o método profissional correto é pressionar 'Enter' várias vezes seguidas.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Deve-se configurar o espaçamento 'Depois' do parágrafo nas propriedades do texto para manter consistência.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f5de20638a750dc81fe0162e4fb58af1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48590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2c55392eba30728d3e17d9253b96a0d7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3260" y="91440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0fdd112701cd2fe21482d17be2e48182.png" id="200" name="Google Shape;2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9340" y="148590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Marcadores, Numeração e Tabulação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85750" y="3314700"/>
            <a:ext cx="270891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Marcadores Simples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Ideais para listas de itens correlatos e equivalentes.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223260" y="2743200"/>
            <a:ext cx="270891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Listas Multiníveis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Estruturam tópicos complexos hierarquicamente (ex: 1.1, 1.1.1).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149340" y="3314700"/>
            <a:ext cx="270891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Paradas de Tabulação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Alinham colunas e preenchimentos usando a tecla Tab.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c539049d94cf43e648bcf074025bdea2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Inserção e Formatação de Tabelas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85750" y="80010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Tabelas organizam dados com rigor visual: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Cabeçalho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Configure a primeira linha para repetir no topo de novas páginas.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Alinhamento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Textos à esquerda, números à direita ou pela vírgula decimal.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Bordas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Evite grades pesadas; use linhas horizontais sutis.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85750" y="338328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00050" y="35318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65810" y="349758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Em relatórios ou cronogramas, tabelas limpas reduzem ruídos na comunicação.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7a66acebbff50f9572253fc29860177f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0996b1ea4a7b0a70637a6d4d1fe2c6c8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Imagens e Formas no Documento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Disposição no Texto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Ajuste imagens em modo 'Alinhado com o texto' ou 'Quadrado' para manter a estabilidade do layout durante edições.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Legendas e Fontes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Todo elemento gráfico em documento formal exige número, título superior e fonte de procedência na base.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9cebb2172bc7751f59da55ed50c73c84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Poder dos Estilos de Texto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286250" y="8686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erro comum é formatar títulos manualmente aplicando negrito e tamanho um a um.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Estilos (Título 1, Título 2)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Conferem significado semântico ao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Alteração global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Mudar a cor de 'Título 1' no painel atualiza todos os capítulos simultaneamente.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286250" y="370332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4400550" y="38519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766310" y="38176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Estilos tornam o texto uma estrutura navegável e automatizada.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Geração de Sumários Automáticos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575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Título 1 aos tópicos principais.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491740" y="1371600"/>
            <a:ext cx="197739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Título 2 e 3 aos subtópicos.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68630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Inserir Sumário Automático no menu referências.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89229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Atualizar campo após qualquer edição no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Sequência: Sumário Automático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etapas corretas para criar e manter um sumário dinâmico: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Clicar em 'Atualizar Sumário' após revisar números de página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Marcar seções com estilos hierárquicos (Título 1 e 2)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Posicionar o cursor na página reservada ao sumário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 sumário automático pelo menu de referências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Sequência: Sumário Automático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etapas corretas para criar e manter um sumário dinâmico: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Clicar em 'Atualizar Sumário' após revisar números de página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Marcar seções com estilos hierárquicos (Título 1 e 2)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Posicionar o cursor na página reservada ao sumário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 sumário automático pelo menu de referências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1474973400c9ae4ec825eb9d05949630.png" id="284" name="Google Shape;2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85" name="Google Shape;285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Quebras de Página vs Quebras de Seção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Diferenciar estes comandos é vital para documentos complexos: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Quebra de Página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Move o texto para a folha seguinte, mantendo formatação.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Quebra de Seção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Cria divisão estrutural independente para alterar orientação ou numeração.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285750" y="307467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765810" y="318897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Sem quebras de seção, mudar a orientação afeta o documento inteiro.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55039fe1a9946d67de2cef7b8f88dd36.png" id="295" name="Google Shape;2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6" name="Google Shape;296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Cabeçalhos, Rodapés e Numeração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286250" y="8686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2862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Elementos de identificação contínua: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Cabeçalho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Empresa, título e logotipo.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Rodapé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Numeração e notas de confidencialidade.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Desvincular do Anterior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Essencial para ocultar numeração na capa.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4286250" y="324612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44005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4766310" y="336042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Normas técnicas: contagem inicia na capa, mas numeração aparece apenas na introdução.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699f8ecf02c77bc8fadb5444941ab027.png" id="307" name="Google Shape;30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0d143f624b8950354f1682a51037eaa3.png" id="308" name="Google Shape;30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9" name="Google Shape;309;p28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Ferramentas de Verificação e Busca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Ortografia e Gramática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Detecta deslizes ortográficos e repetições. Exige conferência humana para analisar o sentido contextual de termos técnicos.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Localizar e Substituir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Permite substituir termos em centenas de páginas em segundos (Ctrl+U ou Ctrl+H), garantindo consistência terminológica.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d9a4ddc688edfb7f740d6ce392862ecb.png" id="317" name="Google Shape;31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18" name="Google Shape;318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Trabalho Colaborativo: Alterações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equipes,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Controle de Alterações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indispensável: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Registro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Destaca adições, exclusões e formatações feitas por cada membro.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Decisão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O autor pode aceitar ou rejeitar cada modificação individualmente.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285750" y="281178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400050" y="29603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765810" y="292608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Evita conflitos e garante auditoria transparente na redação técnica.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61921f48c6dea81098b60c6f7b5d58bb.png" id="328" name="Google Shape;3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29" name="Google Shape;329;p30"/>
          <p:cNvSpPr/>
          <p:nvPr/>
        </p:nvSpPr>
        <p:spPr>
          <a:xfrm>
            <a:off x="3714750" y="27432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Comentários e Mediação Respeitosa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3714750" y="1428750"/>
            <a:ext cx="170307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COLABORAÇÃO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3714750" y="173736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Use comentários para sugerir ajustes sem alterar o original: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Assertividade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Seja específico e construtivo.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Resolução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Marque como resolvido após o ajuste.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3714750" y="349758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3829050" y="36461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4194810" y="361188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Use empatia e cordialidade ao revisar textos.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Vocabulário: Recursos do Editor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Localizar e Substituir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de Alterações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Quebra de Seção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Estilo Título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Tag semântica usada para categorizar capítulos e compor sumários dinâmicos.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Modo de revisão que registra edições, inclusões e exclusões de cada autor.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Divisor estrutural que permite ter margens, cabeçalhos ou orientações diferentes no mesmo arquivo.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Ferramenta de busca global que troca palavras ou expressões por todo 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Vocabulário: Recursos do Editor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Localizar e Substituir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de Alterações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Quebra de Seção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Estilo Título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Tag semântica usada para categorizar capítulos e compor sumários dinâmicos.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Modo de revisão que registra edições, inclusões e exclusões de cada autor.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Divisor estrutural que permite ter margens, cabeçalhos ou orientações diferentes no mesmo arquivo.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Ferramenta de busca global que troca palavras ou expressões por todo 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32"/>
          <p:cNvCxnSpPr/>
          <p:nvPr/>
        </p:nvCxnSpPr>
        <p:spPr>
          <a:xfrm>
            <a:off x="2571750" y="1623060"/>
            <a:ext cx="994410" cy="272034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32"/>
          <p:cNvCxnSpPr/>
          <p:nvPr/>
        </p:nvCxnSpPr>
        <p:spPr>
          <a:xfrm flipH="1" rot="10800000">
            <a:off x="2571750" y="25146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32"/>
          <p:cNvCxnSpPr/>
          <p:nvPr/>
        </p:nvCxnSpPr>
        <p:spPr>
          <a:xfrm flipH="1" rot="10800000">
            <a:off x="2571750" y="34290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32"/>
          <p:cNvCxnSpPr/>
          <p:nvPr/>
        </p:nvCxnSpPr>
        <p:spPr>
          <a:xfrm flipH="1" rot="10800000">
            <a:off x="2571750" y="1600200"/>
            <a:ext cx="994410" cy="27660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32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19aa667a9865596f93f11042ac5b6833.png" id="379" name="Google Shape;37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80" name="Google Shape;380;p33"/>
          <p:cNvSpPr/>
          <p:nvPr/>
        </p:nvSpPr>
        <p:spPr>
          <a:xfrm>
            <a:off x="285750" y="4114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Preparação para Impressão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285750" y="104013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Antes de imprimir, inspecione a pré-visualização: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Linhas órfãs/viúvas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Evite linhas isoladas no topo ou rodapé.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Escala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Verifique se a proporção está em 100%.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Frente e verso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Atente às margens para encadernação.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285750" y="337185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400050" y="35204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765810" y="348615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Imprimir sem verificar a pré-visualização causa desperdício.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7faa9033752f5d13e3fd8f1cb7bd994f.png" id="390" name="Google Shape;3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91" name="Google Shape;391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Exportação Segura em Formato PDF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4286250" y="86868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FINALIZAÇÃO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Evite distribuir documentos técnicos em formato editável: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Visual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PDF mantém fontes, margens e tabelas fixas em qualquer tela.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Imutabilidade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Impede edições acidentais por terceiros.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Privacidade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Facilita a remoção de metadados antes do envio.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Envie arquivos editáveis apenas durante a colaboração ativa.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Roteiro da Prática Guiada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28575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Ajustar margens da página no padrão A4.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249174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Digitar e aplicar estilos Título 1 e 2.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468630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Inserir tabela formatada com cabeçalho destacado.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6892290" y="13716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Inserir sumário dinâmico e exportar em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5b0093b2e6ded4f455108ab192fdaca8.png" id="416" name="Google Shape;41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17" name="Google Shape;417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Prática: O Desafio da Proposta Técnica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Sua equipe deve entregar um projeto de modernização de TI: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Capa, Sumário, Introdução, Diagnóstico com Tabela e Orçamento.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Padrão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Arial 12, texto justificado, espaçamento 1,5 e recuo de 1,25 cm.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Colaboração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Colegas devem sugerir melhorias via comentários.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285750" y="338328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400050" y="35318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765810" y="349758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O rigor formal confere aspecto institucional ao projeto.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b8e2e30cbb6ba10a8acb00af0ff4be05.png" id="427" name="Google Shape;42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sp>
        <p:nvSpPr>
          <p:cNvPr id="428" name="Google Shape;428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Mão na Massa: Produção do Documento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228600" lvl="0" marL="2286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Configurar página: A4, margens Sup/Esq 3cm, Inf/Dir 2cm.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Estruturar relatório: 3 seções com estilos Título 1 e 2.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Formatar texto: Arial/Calibri 12, justificado, entrelinha 1,5,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espaçamento pós-parágrafo 6pt.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Inserir quebra de página antes do capítulo e gerar sumário.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Adicionar comentário de revisão e exportar arquivo em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31a01bf366b76c2686b8cb26e0e56139.png" id="435" name="Google Shape;4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f2d27e53d9ee19708907748adb73b7fe.png" id="436" name="Google Shape;43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7" name="Google Shape;437;p38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Comparativo: Amador vs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Prática Amadora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Vários Enters para separar páginas, sumário digitado com pontinhos manuais e formatações manuais desordenadas.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Prática Profissional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Quebras de página semânticas, estilos globais aplicados, sumário atualizável com um clique e exportação PDF limpa.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be99e9c722bc53fc959dfa25344d0dad.png" id="445" name="Google Shape;44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446" name="Google Shape;446;p39"/>
          <p:cNvSpPr/>
          <p:nvPr/>
        </p:nvSpPr>
        <p:spPr>
          <a:xfrm>
            <a:off x="3714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Aprendizados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9"/>
          <p:cNvSpPr/>
          <p:nvPr/>
        </p:nvSpPr>
        <p:spPr>
          <a:xfrm>
            <a:off x="3714750" y="86868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FINALIZAÇÃO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9"/>
          <p:cNvSpPr/>
          <p:nvPr/>
        </p:nvSpPr>
        <p:spPr>
          <a:xfrm>
            <a:off x="3714750" y="117729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Documentos técnicos unem precisão e rigor visual: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Geometria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Margens e recuos definem o ritmo da leitura.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Semântica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Estilos garantem automações e sumários.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Colaboração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: Revisão com controle de alterações e exportação em PDF.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9"/>
          <p:cNvSpPr/>
          <p:nvPr/>
        </p:nvSpPr>
        <p:spPr>
          <a:xfrm>
            <a:off x="3714750" y="376047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9"/>
          <p:cNvSpPr/>
          <p:nvPr/>
        </p:nvSpPr>
        <p:spPr>
          <a:xfrm>
            <a:off x="3829050" y="3909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4194810" y="387477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Sua formatação reflete organização e competência profissional.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88f2cf22d50efe57d124336ea25cb3a9.png" id="457" name="Google Shape;45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06be75a4-e704-4db3-aa34-f662654af054/img_16c8583d6806d1516d8cd7e0c6ca7c77.png" id="458" name="Google Shape;45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59" name="Google Shape;459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Eficiência e Ética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empresa, um colaborador enviou uma proposta técnica aberta (.docx) com anotações e comentários internos esquecidos no arquivo. Quais são os riscos técnicos, éticos e de segurança dessa falha para a organização?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88f2cf22d50efe57d124336ea25cb3a9.png" id="466" name="Google Shape;46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67" name="Google Shape;467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Eficiência e Ética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Vazamento de dados estratégicos ou comentários confidenciais ferindo a LGPD.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Possibilidade de adulteração de valores ou condições contratuais pelo cliente.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Dano à reputação e credibilidade profissional da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06be75a4-e704-4db3-aa34-f662654af054/img_74db676abbf9321227487417a15623c8.png" id="475" name="Google Shape;47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Final: Domínio dos Editores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dos Estilos (ex: Título 1 e 2) na produção de relatórios técnicos?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 que devemos usar quebras de seção em vez de simples quebras de página quando precisamos alternar entre retrato e paisagem?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Cite duas vantagens de exportar o documento final em PDF antes de distribuí-lo.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Final: Domínio dos Editores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Padronizar o formato tipográfico e permitir a geração automática de sumários dinâmicos.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Porque a quebra de seção divide o documento em partes independentes, permitindo diferentes margens e orientações de página.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Garantir a preservação visual exata em qualquer aparelho e dificultar alterações indevidas no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