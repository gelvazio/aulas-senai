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jpg"/><Relationship Id="rId4" Type="http://schemas.openxmlformats.org/officeDocument/2006/relationships/image" Target="../media/image3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jpg"/><Relationship Id="rId4" Type="http://schemas.openxmlformats.org/officeDocument/2006/relationships/image" Target="../media/image3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jp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jpg"/><Relationship Id="rId4" Type="http://schemas.openxmlformats.org/officeDocument/2006/relationships/image" Target="../media/image19.png"/><Relationship Id="rId5" Type="http://schemas.openxmlformats.org/officeDocument/2006/relationships/image" Target="../media/image74.png"/><Relationship Id="rId6" Type="http://schemas.openxmlformats.org/officeDocument/2006/relationships/image" Target="../media/image21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jp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jp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jpg"/><Relationship Id="rId4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jpg"/><Relationship Id="rId4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jpg"/><Relationship Id="rId4" Type="http://schemas.openxmlformats.org/officeDocument/2006/relationships/image" Target="../media/image31.png"/><Relationship Id="rId5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jpg"/><Relationship Id="rId4" Type="http://schemas.openxmlformats.org/officeDocument/2006/relationships/image" Target="../media/image7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jpg"/><Relationship Id="rId4" Type="http://schemas.openxmlformats.org/officeDocument/2006/relationships/image" Target="../media/image5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jpg"/><Relationship Id="rId4" Type="http://schemas.openxmlformats.org/officeDocument/2006/relationships/image" Target="../media/image6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jpg"/><Relationship Id="rId4" Type="http://schemas.openxmlformats.org/officeDocument/2006/relationships/image" Target="../media/image4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jpg"/><Relationship Id="rId4" Type="http://schemas.openxmlformats.org/officeDocument/2006/relationships/image" Target="../media/image73.png"/><Relationship Id="rId5" Type="http://schemas.openxmlformats.org/officeDocument/2006/relationships/image" Target="../media/image4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jpg"/><Relationship Id="rId4" Type="http://schemas.openxmlformats.org/officeDocument/2006/relationships/hyperlink" Target="http://www.youtube.com/watch?v=yNV6BUTZXIk" TargetMode="External"/><Relationship Id="rId5" Type="http://schemas.openxmlformats.org/officeDocument/2006/relationships/image" Target="../media/image4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jpg"/><Relationship Id="rId4" Type="http://schemas.openxmlformats.org/officeDocument/2006/relationships/image" Target="../media/image6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Relationship Id="rId4" Type="http://schemas.openxmlformats.org/officeDocument/2006/relationships/image" Target="../media/image7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Relationship Id="rId4" Type="http://schemas.openxmlformats.org/officeDocument/2006/relationships/image" Target="../media/image6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jpg"/><Relationship Id="rId4" Type="http://schemas.openxmlformats.org/officeDocument/2006/relationships/image" Target="../media/image51.png"/><Relationship Id="rId5" Type="http://schemas.openxmlformats.org/officeDocument/2006/relationships/image" Target="../media/image54.png"/><Relationship Id="rId6" Type="http://schemas.openxmlformats.org/officeDocument/2006/relationships/image" Target="../media/image5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jpg"/><Relationship Id="rId4" Type="http://schemas.openxmlformats.org/officeDocument/2006/relationships/image" Target="../media/image5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jpg"/><Relationship Id="rId4" Type="http://schemas.openxmlformats.org/officeDocument/2006/relationships/image" Target="../media/image6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jpg"/><Relationship Id="rId4" Type="http://schemas.openxmlformats.org/officeDocument/2006/relationships/image" Target="../media/image47.png"/><Relationship Id="rId5" Type="http://schemas.openxmlformats.org/officeDocument/2006/relationships/image" Target="../media/image6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jpg"/><Relationship Id="rId4" Type="http://schemas.openxmlformats.org/officeDocument/2006/relationships/image" Target="../media/image4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.jpg"/><Relationship Id="rId4" Type="http://schemas.openxmlformats.org/officeDocument/2006/relationships/image" Target="../media/image5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jpg"/><Relationship Id="rId4" Type="http://schemas.openxmlformats.org/officeDocument/2006/relationships/image" Target="../media/image7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jpg"/><Relationship Id="rId4" Type="http://schemas.openxmlformats.org/officeDocument/2006/relationships/image" Target="../media/image75.png"/><Relationship Id="rId5" Type="http://schemas.openxmlformats.org/officeDocument/2006/relationships/image" Target="../media/image7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8.jpg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d54ad9d3fd390830055147a9759acef8.png" id="16" name="Google Shape;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742950"/>
            <a:ext cx="36576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4914900" y="868680"/>
            <a:ext cx="382905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Segurança da Informação e Proteção de Dados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914900" y="3086100"/>
            <a:ext cx="382905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Fundamentos essenciais, legislação brasileira e conduta profissional no ambiente corporativo digital.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e53012f835fc00db504084c969a04621.png" id="24" name="Google Shape;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285750" y="144018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Você Deixaria Sua Porta Aberta?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85750" y="252603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 ninguém deixaria as chaves de casa na calçada, por que descuidamos dos nossos dados em redes públicas e e-mails corporativos?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f1ff58f09a838d10c4407047cb43ee55.png" id="32" name="Google Shape;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285750" y="20116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Objetivos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285750" y="2640330"/>
            <a:ext cx="857250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Metas de Aprendizagem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Dominar os pilares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da segurança da informação (CIA) aplicados ao ambiente corporativo.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Conhecer leis digitais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fundamentais: LGPD e a Lei Carolina Dieckmann no Brasil.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Implementar defesas ativas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contra golpes digitais, malware e vazamentos operacionais.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b24ead75e7dd99c1a05b2cb971fce0cb.png" id="40" name="Google Shape;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b1bc232-57bb-41a0-a7eb-51b5ca8d0a5c/img_03e7a4fe8df192339f69e21ff3b0576f.png" id="41" name="Google Shape;4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b1bc232-57bb-41a0-a7eb-51b5ca8d0a5c/img_3d1a7f97ec9022427e353a91b29f2176.png" id="42" name="Google Shape;4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b1bc232-57bb-41a0-a7eb-51b5ca8d0a5c/img_0a5a3de675697231eaee45343f797b71.png" id="43" name="Google Shape;4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44" name="Google Shape;44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Vocabulário Essencial de Segurança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285750" y="342900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Confidencialidade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Garante que dados fiquem restritos apenas a pessoas autorizadas.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2491740" y="274320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Phishing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Fraude que usa mensagens falsas para induzir cliques e roubar credenciais.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686300" y="342900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Criptografia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Codificação que torna dados ilegíveis sem uma chave secreta específica.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6892290" y="274320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Backup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Cópia redundante de dados para restauração rápida em falhas ou ataques.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9866291e8d4e8ce5260d933870c95634.png" id="54" name="Google Shape;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55" name="Google Shape;55;p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Revisão: Comunicação e Nuvem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4286250" y="868680"/>
            <a:ext cx="166878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FUNDAMENTOS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4286250" y="1177290"/>
            <a:ext cx="457200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Conexão com a Aula Anterior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Na aula passada, vimos 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colaboração em nuvem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 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e-mail profissional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 Ferramentas colaborativas agilizam equipes, mas criam vulnerabilidades se permissões e links forem configurados sem cuidado.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4286250" y="313182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4400550" y="32804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4766310" y="324612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Arquivos na nuvem exigem permissões restritas a contas profissionais verificadas.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Checagem de Aprendizagem: Nuvem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prática garante o compartilhamento responsável de um documento na nuvem com clientes externos?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Conceder acesso por convite nominal ao e-mail profissional, bloqueando links públicos abertos.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Deixar o arquivo configurado como 'qualquer pessoa com o link pode editar'.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Compartilhar a senha mestre de login corporativo diretamente no corpo do e-mail.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Publicar a pasta corporativa inteira sem registrar registros de atividade dos usuários.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Checagem de Aprendizagem: Nuvem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prática garante o compartilhamento responsável de um documento na nuvem com clientes externos?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Conceder acesso por convite nominal ao e-mail profissional, bloqueando links públicos abertos.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Deixar o arquivo configurado como 'qualquer pessoa com o link pode editar'.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Compartilhar a senha mestre de login corporativo diretamente no corpo do e-mail.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Publicar a pasta corporativa inteira sem registrar registros de atividade dos usuários.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eccce08c861b5c2022e08a8508436b87.png" id="98" name="Google Shape;9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11630"/>
            <a:ext cx="857250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  <p:sp>
        <p:nvSpPr>
          <p:cNvPr id="99" name="Google Shape;99;p1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 Tríade CIA: Pilares Fundamentais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285750" y="8001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base da segurança digital apoia-se em três pilares inegociáveis. Se um falhar, a integridade operacional de toda a empresa é comprometida.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Detalhamento: Tríade de Segurança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285750" y="811530"/>
            <a:ext cx="274320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Confidencialidade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Restrição de visualização.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Gestão de credenciais.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Criptografia em trânsito.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285750" y="2937510"/>
            <a:ext cx="2743200" cy="1380744"/>
          </a:xfrm>
          <a:prstGeom prst="roundRect">
            <a:avLst>
              <a:gd fmla="val 6623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1"/>
          <p:cNvSpPr/>
          <p:nvPr/>
        </p:nvSpPr>
        <p:spPr>
          <a:xfrm>
            <a:off x="400050" y="30861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765810" y="3051810"/>
            <a:ext cx="21488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Dados de saúde, financeiros e senhas são confidenciais.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3200400" y="811530"/>
            <a:ext cx="274320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Integridade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Garantia de não alteração.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Uso de assinaturas digitais.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Trilhas de auditoria.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3200400" y="2937510"/>
            <a:ext cx="2743200" cy="1635887"/>
          </a:xfrm>
          <a:prstGeom prst="roundRect">
            <a:avLst>
              <a:gd fmla="val 5590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"/>
          <p:cNvSpPr/>
          <p:nvPr/>
        </p:nvSpPr>
        <p:spPr>
          <a:xfrm>
            <a:off x="3314700" y="30861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3680460" y="3051810"/>
            <a:ext cx="2148840" cy="1407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Planilhas contábeis devem permanecer íntegras e invioladas.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6115050" y="811530"/>
            <a:ext cx="274320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Disponibilidade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Acesso aos dados garantido.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Servidores redundantes.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Planos de recuperação.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6115050" y="2937510"/>
            <a:ext cx="2743200" cy="1635887"/>
          </a:xfrm>
          <a:prstGeom prst="roundRect">
            <a:avLst>
              <a:gd fmla="val 5590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6229350" y="30861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6595110" y="3051810"/>
            <a:ext cx="2148840" cy="1407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Sistemas hospitalares ou bancários exigem operação 24/7.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bf443e12566c8d10d5fb0e7a6f25b475.png" id="124" name="Google Shape;12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25" name="Google Shape;125;p1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Ameaças aos Pilares em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285750" y="868680"/>
            <a:ext cx="166878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FUNDAMENTOS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285750" y="1177290"/>
            <a:ext cx="457200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Como Cada Pilar é Atacado?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Violação de Confidencialidade: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vazamento de lista de clientes após ataque a banco de dados não criptografado.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Violação de Integridade: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malware que altera valores em notas fiscais digitais antes da emissão.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Violação de Disponibilidade: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ataque DDoS que sobrecarrega servidores e derruba o portal de atendimento.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07c1561a43cffaf289efa92da2906dea.png" id="133" name="Google Shape;13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134" name="Google Shape;134;p13"/>
          <p:cNvSpPr/>
          <p:nvPr/>
        </p:nvSpPr>
        <p:spPr>
          <a:xfrm>
            <a:off x="285750" y="19202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Legislação Brasileira: Marco Legal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285750" y="2548890"/>
            <a:ext cx="857250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Responsabilidade Civil e Penal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ambiente virtual brasileiro possui leis. Crimes cibernéticos, espionagem e vazamentos corporativos resultam em punições civis e criminais rigorosas.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285750" y="3737610"/>
            <a:ext cx="85725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400050" y="38862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765810" y="3851910"/>
            <a:ext cx="7978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Profissionais de TI respondem pelo zelo e custódia ética dos ativos da empresa.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3d21aff4751cada613768e28e029211e.png" id="144" name="Google Shape;14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b1bc232-57bb-41a0-a7eb-51b5ca8d0a5c/img_83ecbfd20e954d7198708403451b7c28.png" id="145" name="Google Shape;14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0010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46" name="Google Shape;146;p1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Lei Carolina Dieckmann (12.737/2012)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285750" y="299466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Tipificação Criminal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Inseriu no Código Penal (art. 154-A) o crime de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invasão de dispositivo informático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mediante violação indevida de mecanismo de segurança.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4652010" y="299466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Aplicação no Trabalho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Acessar senhas de colegas, instalar programas espiões ou violar pastas restritas da diretoria configura crime passível de demissão por justa causa e reclusão.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40e9885793592e568e13d606d8a786cc.jpg" id="154" name="Google Shape;15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55" name="Google Shape;155;p1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LGPD: Lei Geral de Proteção de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285750" y="80010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Lei Federal 13.709/2018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LGPD regula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coleta, uso, armazenamento e compartilhamento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de dados pessoais no Brasil.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Exige finalidade legítima e explícita.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Obriga empresas a adotar segurança digital.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Prevê sanções da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ANPD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285750" y="350901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400050" y="36576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765810" y="362331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Multas: até 2% do faturamento, limitadas a R$ 50 milhões por infração.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Dados Pessoais: Comuns vs Sensíveis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285750" y="80010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Dados Pessoais Comuns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Informações que identificam ou tornam identificável uma pessoa natural: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Nome completo e CPF.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Endereço residencial e e-mail.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Número de telefone e registro profissional.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285750" y="3257550"/>
            <a:ext cx="4194810" cy="1380744"/>
          </a:xfrm>
          <a:prstGeom prst="roundRect">
            <a:avLst>
              <a:gd fmla="val 6623" name="adj"/>
            </a:avLst>
          </a:prstGeom>
          <a:solidFill>
            <a:srgbClr val="5AC8A5">
              <a:alpha val="14902"/>
            </a:srgbClr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00050" y="34061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765810" y="3371850"/>
            <a:ext cx="360045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Usados rotineiramente em cadastros comerciais e faturamento de notas fiscais.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4652010" y="80010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Dados Pessoais Sensíveis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Dados que exigem camada máxima de proteção legal contra discriminação: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Origem racial ou étnica.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Convicções religiosas ou políticas.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Dados genéticos, biométricos e histórico de saúde.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4652010" y="3257550"/>
            <a:ext cx="4194810" cy="1380744"/>
          </a:xfrm>
          <a:prstGeom prst="roundRect">
            <a:avLst>
              <a:gd fmla="val 6623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4766310" y="34061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5132070" y="3371850"/>
            <a:ext cx="360045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O vazamento de dados sensíveis acarreta penalidades judiciais agravadas.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Checagem: Entendimento da LGPD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empresa pode coletar qualquer tipo de dado de seus clientes e guardá-lo para sempre sem precisar justificar a finalidade.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Checagem: Entendimento da LGPD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empresa pode coletar qualquer tipo de dado de seus clientes e guardá-lo para sempre sem precisar justificar a finalidade.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A LGPD exige finalidade específica e legítima para a coleta, vedando armazenamento perpétuo e abusivo.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741ea77975376c9ae30374c79219d69c.png" id="205" name="Google Shape;2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06" name="Google Shape;206;p19"/>
          <p:cNvSpPr/>
          <p:nvPr/>
        </p:nvSpPr>
        <p:spPr>
          <a:xfrm>
            <a:off x="3714750" y="130302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Universo dos Códigos Maliciosos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3714750" y="238887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Softwares maliciosos (malwares) evoluíram de simples brincadeiras de programadores para uma indústria milionária de extorsão e espionagem corporativa.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Ameaças Digitais: Vírus, Worms e Trojans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285750" y="800100"/>
            <a:ext cx="274320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Vírus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Programa que exige arquivo hospedeiro 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ação do usuário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(ex: abrir executável) para se propagar e infectar o sistema.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285750" y="3017520"/>
            <a:ext cx="2743200" cy="1635887"/>
          </a:xfrm>
          <a:prstGeom prst="roundRect">
            <a:avLst>
              <a:gd fmla="val 5590" name="adj"/>
            </a:avLst>
          </a:prstGeom>
          <a:solidFill>
            <a:srgbClr val="5AC8A5">
              <a:alpha val="14902"/>
            </a:srgbClr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400050" y="31661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765810" y="3131820"/>
            <a:ext cx="2148840" cy="1407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Anexos falsos com extensão dupla, como relatório.pdf.exe.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200400" y="800100"/>
            <a:ext cx="274320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Worms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Autônomo e contagioso. Propaga-se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automaticamente via rede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explorando vulnerabilidades sem precisar de interação humana.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200400" y="3268980"/>
            <a:ext cx="2743200" cy="1380744"/>
          </a:xfrm>
          <a:prstGeom prst="roundRect">
            <a:avLst>
              <a:gd fmla="val 6623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3314700" y="34175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680460" y="3383280"/>
            <a:ext cx="21488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Capaz de saturar links corporativos rapidamente.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6115050" y="800100"/>
            <a:ext cx="2743200" cy="2555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Trojan (Cavalo de Troia)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Software que se passa por utilitário legítimo, mas abre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backdoors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para permitir controle remoto por invasores.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6115050" y="3074670"/>
            <a:ext cx="2743200" cy="1380744"/>
          </a:xfrm>
          <a:prstGeom prst="roundRect">
            <a:avLst>
              <a:gd fmla="val 6623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6229350" y="32232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6595110" y="3188970"/>
            <a:ext cx="21488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Instalado via downloads em sites não confiáveis.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c2cf8f14de80aa5bbb677ff6a8b953b5.png" id="231" name="Google Shape;2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32" name="Google Shape;232;p21"/>
          <p:cNvSpPr/>
          <p:nvPr/>
        </p:nvSpPr>
        <p:spPr>
          <a:xfrm>
            <a:off x="285750" y="18288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Ransomware: O Sequestro Digital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285750" y="1337310"/>
            <a:ext cx="118872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AMEAÇAS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285750" y="1645920"/>
            <a:ext cx="514350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Pesadelo Organizacional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Ransomware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um malware que criptografa redes.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Arquivos tornam-se inacessíveis.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Criminosos exigem resgate.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Operações são paralisadas.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285750" y="358902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400050" y="37376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765810" y="370332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Pagar resgate não garante dados e financia crimes.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b3768ae291d83417e46ad148413f3f9b.png" id="243" name="Google Shape;2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44" name="Google Shape;244;p2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Spyware e Adware no Trabalho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4286250" y="868680"/>
            <a:ext cx="118872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AMEAÇAS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4286250" y="1177290"/>
            <a:ext cx="4572000" cy="2203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Espionagem Silenciosa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Spyware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monitora silenciosamente tudo o que o usuário digita (keyloggers) ou acessa no navegador. Já 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Adware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injeta anúncios indesejados e sequestra mecanismos de busca.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Captura credenciais bancárias e acessos de e-mail corporativo.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Degrada a velocidade e estabilidade da máquina de trabalho.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Identificação de Malwares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tipo de malware criptografa os arquivos do computador e exige pagamento financeiro para liberação da chave?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Worm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Adware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Ransomware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Spyware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Identificação de Malwares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tipo de malware criptografa os arquivos do computador e exige pagamento financeiro para liberação da chave?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Worm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Adware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Ransomware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Spyware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020ca357d1f17e9a62d26c042db8694f.png" id="284" name="Google Shape;28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4582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b1bc232-57bb-41a0-a7eb-51b5ca8d0a5c/img_d98f1b3bdd5a35574461d4931388be8c.png" id="285" name="Google Shape;28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4582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86" name="Google Shape;286;p25"/>
          <p:cNvSpPr/>
          <p:nvPr/>
        </p:nvSpPr>
        <p:spPr>
          <a:xfrm>
            <a:off x="285750" y="21717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Engenharia Social e Phishing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285750" y="304038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Engenharia Social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Manipulação psicológica para induzir erros, explorando curiosidade, medo ou urgência.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4652010" y="304038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Anatomia do Phishing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Remetentes falsos ou similares.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Links com erros sutis de digitação.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Urgência: 'conta será cancelada'.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Vídeo: Defesa Contra Phishing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Identifique engenharia social em e-mails e fraude antes de clicar.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26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3040" y="1360170"/>
            <a:ext cx="6217920" cy="3497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9200fae9cde743d8c6837303326d8cb2.png" id="302" name="Google Shape;30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03" name="Google Shape;303;p27"/>
          <p:cNvSpPr/>
          <p:nvPr/>
        </p:nvSpPr>
        <p:spPr>
          <a:xfrm>
            <a:off x="285750" y="19431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Gestão de Senhas Robustas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285750" y="822960"/>
            <a:ext cx="51435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Parâmetros de Alta Segurança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Senhas simples (datas/sequências) são quebradas instantaneamente por ataques de força bruta.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Use 12-16 caracteres variados.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Misture maiúsculas, minúsculas, números e símbolos.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Nunca reutilize senhas em sistemas distintos.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Utilize gerenciadores de senhas confiáveis.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285750" y="358902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7"/>
          <p:cNvSpPr/>
          <p:nvPr/>
        </p:nvSpPr>
        <p:spPr>
          <a:xfrm>
            <a:off x="400050" y="37376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765810" y="370332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Evite anotar senhas em papéis colados no monitor ou gavetas.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/>
          <p:nvPr/>
        </p:nvSpPr>
        <p:spPr>
          <a:xfrm>
            <a:off x="171450" y="1725930"/>
            <a:ext cx="293751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8"/>
          <p:cNvSpPr/>
          <p:nvPr/>
        </p:nvSpPr>
        <p:spPr>
          <a:xfrm>
            <a:off x="3108960" y="1725930"/>
            <a:ext cx="293751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8"/>
          <p:cNvSpPr/>
          <p:nvPr/>
        </p:nvSpPr>
        <p:spPr>
          <a:xfrm>
            <a:off x="6035040" y="1725930"/>
            <a:ext cx="293751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Autenticação em Dois Fatores (2FA)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285750" y="8001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2FA adiciona uma camada de proteção indispensável. Mesmo que sua senha seja descoberta, o criminoso não terá acesso à conta sem o segundo fator.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285750" y="2183130"/>
            <a:ext cx="270891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Algo que Você Sabe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Sua senha mestra individual ou frase secreta.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3223260" y="2183130"/>
            <a:ext cx="27089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Algo que Você Tem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Token de aplicativo autenticador ou chave física USB.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6149340" y="2183130"/>
            <a:ext cx="27089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Algo que Você É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Biometria digital, reconhecimento facial ou padrão de retina.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6104282392010c32a0ac3aa2425d000b.png" id="326" name="Google Shape;32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27" name="Google Shape;327;p2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Navegação Segura e Protocolo HTTPS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4286250" y="868680"/>
            <a:ext cx="145161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NAVEGAÇÃO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4286250" y="1177290"/>
            <a:ext cx="45720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Que Significa o Cadeado?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HTTPS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usa criptografia TLS/SSL para proteger a conexão entre navegador e servidor.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Bloqueia interceptação de dados.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Valida a autenticidade do site.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4286250" y="331470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9"/>
          <p:cNvSpPr/>
          <p:nvPr/>
        </p:nvSpPr>
        <p:spPr>
          <a:xfrm>
            <a:off x="4400550" y="34632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766310" y="342900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Atenção: HTTPS garante criptografia, mas não impede fraudes ou sites maliciosos.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6cffefb8a1cbc2d6e32b887f285f6c1c.png" id="338" name="Google Shape;33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39" name="Google Shape;339;p3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Uso Corporativo de Redes VPN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285750" y="868680"/>
            <a:ext cx="145161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NAVEGAÇÃO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285750" y="1177290"/>
            <a:ext cx="45720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Túnel Criptografado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Uma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VPN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(Virtual Private Network) cria uma ponte segura entre o dispositivo remoto do colaborador e a intranet da empresa.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Mascara o tráfego em redes Wi-Fi públicas ou domésticas.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Impede a espionagem e a interceptação de pacotes de dados.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Fundamental para trabalhadores em regime home-office.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Ordem Segura de Conexão Remota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os passos corretos para um colaborador iniciar com segurança o expediente home-office: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1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Iniciar e autenticar o cliente de VPN corporativa fornecido pela empresa.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Inserir a credencial corporativa e validar o token de 2FA no aplicativo.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1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Acessar as pastas de trabalho e bancos de dados confidenciais do projeto.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Conectar-se a uma rede de internet confiável e protegida por senha.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Ordem Segura de Conexão Remota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os passos corretos para um colaborador iniciar com segurança o expediente home-office: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Iniciar e autenticar o cliente de VPN corporativa fornecido pela empresa.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Inserir a credencial corporativa e validar o token de 2FA no aplicativo.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Acessar as pastas de trabalho e bancos de dados confidenciais do projeto.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2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Conectar-se a uma rede de internet confiável e protegida por senha.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2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2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2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ee992474dc41111cfe469502160e3247.png" id="374" name="Google Shape;37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2045970"/>
            <a:ext cx="270891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b1bc232-57bb-41a0-a7eb-51b5ca8d0a5c/img_85f0594bb322c3ea8a774a8d7c34ab42.png" id="375" name="Google Shape;37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3260" y="1474470"/>
            <a:ext cx="270891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b1bc232-57bb-41a0-a7eb-51b5ca8d0a5c/img_6d2d02e59c7c43a5fe0770b372d9da4d.png" id="376" name="Google Shape;37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9340" y="2045970"/>
            <a:ext cx="270891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377" name="Google Shape;377;p3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 Estratégia de Backup 3-2-1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Backups protegem contra ransomware, falhas ou exclusões no ambiente industrial.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3"/>
          <p:cNvSpPr/>
          <p:nvPr/>
        </p:nvSpPr>
        <p:spPr>
          <a:xfrm>
            <a:off x="285750" y="3874770"/>
            <a:ext cx="270891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 Cópias: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O original e duas cópias.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3"/>
          <p:cNvSpPr/>
          <p:nvPr/>
        </p:nvSpPr>
        <p:spPr>
          <a:xfrm>
            <a:off x="3223260" y="3303270"/>
            <a:ext cx="270891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 Mídias: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Use tecnologias distintas, como HD e fita.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6149340" y="3874770"/>
            <a:ext cx="270891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 Cópia Externa: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Mantenha backup fora da empresa ou nuvem.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f2624b63e53af5e07fc76be3fa06300b.png" id="387" name="Google Shape;38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88" name="Google Shape;388;p3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Proteção de Dispositivos Móveis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4"/>
          <p:cNvSpPr/>
          <p:nvPr/>
        </p:nvSpPr>
        <p:spPr>
          <a:xfrm>
            <a:off x="285750" y="800100"/>
            <a:ext cx="45720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Smartphones e Notebooks da Empresa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perda física de um celular corporativo desbloqueado equivale a entregar a chave do escritório a estranhos.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Uso obrigatório de biometria e senhas alfanuméricas complexas.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Criptografia integral do disco rígido e memória interna.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Configuração prévia de rastreamento e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bloqueio remoto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Instalação estrita de aplicativos via repositórios homologados.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150991b42f96c46585e40eff90ed15f5.png" id="395" name="Google Shape;39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96" name="Google Shape;396;p35"/>
          <p:cNvSpPr/>
          <p:nvPr/>
        </p:nvSpPr>
        <p:spPr>
          <a:xfrm>
            <a:off x="285750" y="36576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Estudo de Caso: O Vazamento de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5"/>
          <p:cNvSpPr/>
          <p:nvPr/>
        </p:nvSpPr>
        <p:spPr>
          <a:xfrm>
            <a:off x="285750" y="1451610"/>
            <a:ext cx="514350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Cenário Real em Indústria Logística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Funcionário conectou pendrive pessoal ao PC da empresa. O dispositivo continha um trojan que capturou credenciais do servidor, vazando a folha de pagamento de 1.200 colaboradores.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5"/>
          <p:cNvSpPr/>
          <p:nvPr/>
        </p:nvSpPr>
        <p:spPr>
          <a:xfrm>
            <a:off x="285750" y="3154680"/>
            <a:ext cx="5143500" cy="1380744"/>
          </a:xfrm>
          <a:prstGeom prst="roundRect">
            <a:avLst>
              <a:gd fmla="val 6623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5"/>
          <p:cNvSpPr/>
          <p:nvPr/>
        </p:nvSpPr>
        <p:spPr>
          <a:xfrm>
            <a:off x="400050" y="33032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5"/>
          <p:cNvSpPr/>
          <p:nvPr/>
        </p:nvSpPr>
        <p:spPr>
          <a:xfrm>
            <a:off x="765810" y="3268980"/>
            <a:ext cx="45491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Consequências: ações trabalhistas, multas da ANPD e danos graves à reputação da marca.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88f2cf22d50efe57d124336ea25cb3a9.png" id="406" name="Google Shape;40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b1bc232-57bb-41a0-a7eb-51b5ca8d0a5c/img_6c70ba95f48ab80112040ff173d1e123.png" id="407" name="Google Shape;407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oundRect">
            <a:avLst>
              <a:gd fmla="val 6250" name="adj"/>
            </a:avLst>
          </a:prstGeom>
          <a:noFill/>
          <a:ln>
            <a:noFill/>
          </a:ln>
        </p:spPr>
      </p:pic>
      <p:sp>
        <p:nvSpPr>
          <p:cNvPr id="408" name="Google Shape;408;p3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Debate: Responsabilidade no Caso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 quem foi a responsabilidade principal pelo incidente relatado: do funcionário que inseriu o pendrive ou da empresa que não bloqueou portas USB?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88f2cf22d50efe57d124336ea25cb3a9.png" id="415" name="Google Shape;41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sp>
        <p:nvSpPr>
          <p:cNvPr id="416" name="Google Shape;416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Debate: Responsabilidade no Caso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7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Responsabilidade compartilhada: o colaborador violou condutas ao usar dispositivos pessoais não autorizados no trabalho.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empresa responde pela negligência de controles técnicos, pois suas políticas de TI deveriam bloquear portas USB e treinar funcionários contra riscos de engenharia reversa e malwares.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Checklist: Segurança Diária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8"/>
          <p:cNvSpPr/>
          <p:nvPr/>
        </p:nvSpPr>
        <p:spPr>
          <a:xfrm>
            <a:off x="285750" y="81153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Rotina de Acesso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Bloquear a tela ao levantar da mesa (Windows + L).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Não compartilhar credenciais com colegas de setor.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Validar remetentes antes de abrir anexos externos.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8"/>
          <p:cNvSpPr/>
          <p:nvPr/>
        </p:nvSpPr>
        <p:spPr>
          <a:xfrm>
            <a:off x="285750" y="3200400"/>
            <a:ext cx="4194810" cy="1380744"/>
          </a:xfrm>
          <a:prstGeom prst="roundRect">
            <a:avLst>
              <a:gd fmla="val 6623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8"/>
          <p:cNvSpPr/>
          <p:nvPr/>
        </p:nvSpPr>
        <p:spPr>
          <a:xfrm>
            <a:off x="400050" y="33489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765810" y="3314700"/>
            <a:ext cx="360045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A tela do computador de trabalho nunca deve ficar aberta sem supervisão.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8"/>
          <p:cNvSpPr/>
          <p:nvPr/>
        </p:nvSpPr>
        <p:spPr>
          <a:xfrm>
            <a:off x="4652010" y="81153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Manutenção Técnica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Manter sistema e antivírus sempre atualizados.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Executar backups periódicos na nuvem corporativa.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Reportar incidentes imediatamente ao suporte de TI.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8"/>
          <p:cNvSpPr/>
          <p:nvPr/>
        </p:nvSpPr>
        <p:spPr>
          <a:xfrm>
            <a:off x="4652010" y="3200400"/>
            <a:ext cx="4194810" cy="1380744"/>
          </a:xfrm>
          <a:prstGeom prst="roundRect">
            <a:avLst>
              <a:gd fmla="val 6623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8"/>
          <p:cNvSpPr/>
          <p:nvPr/>
        </p:nvSpPr>
        <p:spPr>
          <a:xfrm>
            <a:off x="4766310" y="33489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8"/>
          <p:cNvSpPr/>
          <p:nvPr/>
        </p:nvSpPr>
        <p:spPr>
          <a:xfrm>
            <a:off x="5132070" y="3314700"/>
            <a:ext cx="360045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A notificação imediata de anomalias reduz o impacto de ataques na rede.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74db676abbf9321227487417a15623c8.png" id="438" name="Google Shape;43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439" name="Google Shape;439;p3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Checagem Geral de Segurança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9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Quais são os três pilares fundamentais da segurança da informação?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9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legislação criminal brasileira pune especificamente a invasão de dispositivos informáticos?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9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que preconiza a regra 3-2-1 para execução de backups seguros?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Checagem Geral de Segurança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0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Confidencialidade, Integridade e Disponibilidade (Tríade CIA).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0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Lei Carolina Dieckmann (Lei Federal 12.737/2012).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0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Guardar 3 cópias dos dados, em 2 mídias diferentes, sendo 1 cópia armazenada fora do local (off-site ou nuvem).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d610bfbf688ef82b987a4509e5967981.png" id="458" name="Google Shape;45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59" name="Google Shape;459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Síntese dos Aprendizados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1"/>
          <p:cNvSpPr/>
          <p:nvPr/>
        </p:nvSpPr>
        <p:spPr>
          <a:xfrm>
            <a:off x="285750" y="800100"/>
            <a:ext cx="457200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Síntese da Aula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Segurança digital exige tecnologia, processos e pessoas.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LGPD e o Código Penal exigem ética no manuseio de dados.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Autenticação 2FA e backups disciplinados evitam desastres.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1"/>
          <p:cNvSpPr/>
          <p:nvPr/>
        </p:nvSpPr>
        <p:spPr>
          <a:xfrm>
            <a:off x="285750" y="318897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1"/>
          <p:cNvSpPr/>
          <p:nvPr/>
        </p:nvSpPr>
        <p:spPr>
          <a:xfrm>
            <a:off x="400050" y="33375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1"/>
          <p:cNvSpPr/>
          <p:nvPr/>
        </p:nvSpPr>
        <p:spPr>
          <a:xfrm>
            <a:off x="765810" y="330327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O fator humano é determinante na segurança: atenção constante previne fraudes complexas.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b8e2e30cbb6ba10a8acb00af0ff4be05.png" id="469" name="Google Shape;46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cb1bc232-57bb-41a0-a7eb-51b5ca8d0a5c/img_70692a64c54b32ff53e56899a3aa4aae.png" id="470" name="Google Shape;47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1908810"/>
            <a:ext cx="2697480" cy="2331720"/>
          </a:xfrm>
          <a:prstGeom prst="roundRect">
            <a:avLst>
              <a:gd fmla="val 5882" name="adj"/>
            </a:avLst>
          </a:prstGeom>
          <a:noFill/>
          <a:ln>
            <a:noFill/>
          </a:ln>
        </p:spPr>
      </p:pic>
      <p:sp>
        <p:nvSpPr>
          <p:cNvPr id="471" name="Google Shape;471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Atividade Prática: Auditoria de Risco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2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Analise uma estação de trabalho fictícia da sua escola técnica e elabore um relatório breve identificando 3 vulnerabilidades visíveis (ex: post-it com senhas, tela desbloqueada, pen-drive não identificado) e proponha a medida corretiva correspondente para cada uma, fundamentando sua ação nas normas da LGPD e nos pilares da segurança.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cb1bc232-57bb-41a0-a7eb-51b5ca8d0a5c/img_8d4b4ed247bb80d5ff6e63ad0d65d698.png" id="478" name="Google Shape;47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79" name="Google Shape;479;p4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Próximos Passos na Série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3"/>
          <p:cNvSpPr/>
          <p:nvPr/>
        </p:nvSpPr>
        <p:spPr>
          <a:xfrm>
            <a:off x="4286250" y="800100"/>
            <a:ext cx="4572000" cy="2555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Conexão com a Próxima Aula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 as práticas de proteção e conformidade dominadas, avançaremos na próxima aula para a manipulação eficiente de dados estruturados com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Software de Escritório: Editor de Planilhas Eletrônicas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aplicando fórmulas e segurança de células.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3"/>
          <p:cNvSpPr/>
          <p:nvPr/>
        </p:nvSpPr>
        <p:spPr>
          <a:xfrm>
            <a:off x="4286250" y="301752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3"/>
          <p:cNvSpPr/>
          <p:nvPr/>
        </p:nvSpPr>
        <p:spPr>
          <a:xfrm>
            <a:off x="4400550" y="31661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3"/>
          <p:cNvSpPr/>
          <p:nvPr/>
        </p:nvSpPr>
        <p:spPr>
          <a:xfrm>
            <a:off x="4766310" y="313182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Planilhas corporativas exigem tratamento rigoroso de dados segundo as regras da LGPD vistas hoje.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