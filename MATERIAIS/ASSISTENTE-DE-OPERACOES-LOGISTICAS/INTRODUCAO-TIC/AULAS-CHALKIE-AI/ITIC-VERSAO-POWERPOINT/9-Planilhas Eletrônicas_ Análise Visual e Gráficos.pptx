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5143500" cy="9144000"/>
  <p:embeddedFontLst>
    <p:embeddedFont>
      <p:font typeface="Lexend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Lexend-regular.fntdata"/><Relationship Id="rId47" Type="http://schemas.openxmlformats.org/officeDocument/2006/relationships/slide" Target="slides/slide43.xml"/><Relationship Id="rId49" Type="http://schemas.openxmlformats.org/officeDocument/2006/relationships/font" Target="fonts/Lexe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6.png"/><Relationship Id="rId5" Type="http://schemas.openxmlformats.org/officeDocument/2006/relationships/image" Target="../media/image36.png"/><Relationship Id="rId6" Type="http://schemas.openxmlformats.org/officeDocument/2006/relationships/image" Target="../media/image14.png"/><Relationship Id="rId7" Type="http://schemas.openxmlformats.org/officeDocument/2006/relationships/image" Target="../media/image8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2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53.png"/><Relationship Id="rId5" Type="http://schemas.openxmlformats.org/officeDocument/2006/relationships/image" Target="../media/image45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Relationship Id="rId4" Type="http://schemas.openxmlformats.org/officeDocument/2006/relationships/image" Target="../media/image40.png"/><Relationship Id="rId5" Type="http://schemas.openxmlformats.org/officeDocument/2006/relationships/image" Target="../media/image5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Relationship Id="rId4" Type="http://schemas.openxmlformats.org/officeDocument/2006/relationships/image" Target="../media/image5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Relationship Id="rId4" Type="http://schemas.openxmlformats.org/officeDocument/2006/relationships/image" Target="../media/image6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Relationship Id="rId4" Type="http://schemas.openxmlformats.org/officeDocument/2006/relationships/image" Target="../media/image5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Relationship Id="rId4" Type="http://schemas.openxmlformats.org/officeDocument/2006/relationships/image" Target="../media/image59.png"/><Relationship Id="rId5" Type="http://schemas.openxmlformats.org/officeDocument/2006/relationships/image" Target="../media/image47.png"/><Relationship Id="rId6" Type="http://schemas.openxmlformats.org/officeDocument/2006/relationships/image" Target="../media/image85.png"/><Relationship Id="rId7" Type="http://schemas.openxmlformats.org/officeDocument/2006/relationships/image" Target="../media/image4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Relationship Id="rId4" Type="http://schemas.openxmlformats.org/officeDocument/2006/relationships/image" Target="../media/image4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Relationship Id="rId4" Type="http://schemas.openxmlformats.org/officeDocument/2006/relationships/image" Target="../media/image4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Relationship Id="rId4" Type="http://schemas.openxmlformats.org/officeDocument/2006/relationships/hyperlink" Target="http://www.youtube.com/watch?v=OO6KdLnZpP4" TargetMode="External"/><Relationship Id="rId5" Type="http://schemas.openxmlformats.org/officeDocument/2006/relationships/image" Target="../media/image6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Relationship Id="rId4" Type="http://schemas.openxmlformats.org/officeDocument/2006/relationships/image" Target="../media/image6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Relationship Id="rId4" Type="http://schemas.openxmlformats.org/officeDocument/2006/relationships/image" Target="../media/image6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Relationship Id="rId4" Type="http://schemas.openxmlformats.org/officeDocument/2006/relationships/image" Target="../media/image76.png"/><Relationship Id="rId5" Type="http://schemas.openxmlformats.org/officeDocument/2006/relationships/image" Target="../media/image8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jpg"/><Relationship Id="rId4" Type="http://schemas.openxmlformats.org/officeDocument/2006/relationships/image" Target="../media/image7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Relationship Id="rId4" Type="http://schemas.openxmlformats.org/officeDocument/2006/relationships/image" Target="../media/image70.png"/><Relationship Id="rId5" Type="http://schemas.openxmlformats.org/officeDocument/2006/relationships/image" Target="../media/image8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jpg"/><Relationship Id="rId4" Type="http://schemas.openxmlformats.org/officeDocument/2006/relationships/image" Target="../media/image8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Relationship Id="rId4" Type="http://schemas.openxmlformats.org/officeDocument/2006/relationships/image" Target="../media/image7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jpg"/><Relationship Id="rId4" Type="http://schemas.openxmlformats.org/officeDocument/2006/relationships/image" Target="../media/image67.png"/><Relationship Id="rId5" Type="http://schemas.openxmlformats.org/officeDocument/2006/relationships/image" Target="../media/image8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jpg"/><Relationship Id="rId4" Type="http://schemas.openxmlformats.org/officeDocument/2006/relationships/image" Target="../media/image6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jpg"/><Relationship Id="rId4" Type="http://schemas.openxmlformats.org/officeDocument/2006/relationships/image" Target="../media/image84.png"/><Relationship Id="rId5" Type="http://schemas.openxmlformats.org/officeDocument/2006/relationships/image" Target="../media/image8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jpg"/><Relationship Id="rId4" Type="http://schemas.openxmlformats.org/officeDocument/2006/relationships/image" Target="../media/image7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8807857c5014eef1fe1bbe82ac3e07c4.png" id="16" name="Google Shape;1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260" y="742950"/>
            <a:ext cx="3657600" cy="3657600"/>
          </a:xfrm>
          <a:prstGeom prst="roundRect">
            <a:avLst>
              <a:gd fmla="val 3750" name="adj"/>
            </a:avLst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914900" y="994410"/>
            <a:ext cx="382905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Planilhas Eletrônicas: Análise Visual e Gráficos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914900" y="3211830"/>
            <a:ext cx="382905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Transformando tabelas brutas em decisões visuais precisas.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6bcd156f3f7cf1e31ed3a4b3fde486b2.png" id="24" name="Google Shape;2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85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285750" y="166878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Poder Oculto dos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85750" y="229743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Uma tabela com mil linhas revela um padrão evidente em dois segundos ou apenas cansa seus olhos?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8d0a675986469e80225361ef71fffdbe.png" id="32" name="Google Shape;3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3714750" y="1863090"/>
            <a:ext cx="5143500" cy="925830"/>
          </a:xfrm>
          <a:prstGeom prst="roundRect">
            <a:avLst>
              <a:gd fmla="val 16667" name="adj"/>
            </a:avLst>
          </a:prstGeom>
          <a:solidFill>
            <a:srgbClr val="FFFFFF">
              <a:alpha val="10196"/>
            </a:srgbClr>
          </a:solidFill>
          <a:ln cap="flat" cmpd="sng" w="11425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3829050" y="2148840"/>
            <a:ext cx="342900" cy="342900"/>
          </a:xfrm>
          <a:prstGeom prst="ellipse">
            <a:avLst/>
          </a:prstGeom>
          <a:solidFill>
            <a:srgbClr val="7EB5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3714750" y="2903220"/>
            <a:ext cx="5143500" cy="925830"/>
          </a:xfrm>
          <a:prstGeom prst="roundRect">
            <a:avLst>
              <a:gd fmla="val 16667" name="adj"/>
            </a:avLst>
          </a:prstGeom>
          <a:solidFill>
            <a:srgbClr val="FFFFFF">
              <a:alpha val="10196"/>
            </a:srgbClr>
          </a:solidFill>
          <a:ln cap="flat" cmpd="sng" w="11425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3829050" y="3188970"/>
            <a:ext cx="342900" cy="342900"/>
          </a:xfrm>
          <a:prstGeom prst="ellipse">
            <a:avLst/>
          </a:prstGeom>
          <a:solidFill>
            <a:srgbClr val="7EB5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3714750" y="3943350"/>
            <a:ext cx="5143500" cy="914400"/>
          </a:xfrm>
          <a:prstGeom prst="roundRect">
            <a:avLst>
              <a:gd fmla="val 16667" name="adj"/>
            </a:avLst>
          </a:prstGeom>
          <a:solidFill>
            <a:srgbClr val="FFFFFF">
              <a:alpha val="10196"/>
            </a:srgbClr>
          </a:solidFill>
          <a:ln cap="flat" cmpd="sng" w="11425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3829050" y="4229100"/>
            <a:ext cx="342900" cy="342900"/>
          </a:xfrm>
          <a:prstGeom prst="ellipse">
            <a:avLst/>
          </a:prstGeom>
          <a:solidFill>
            <a:srgbClr val="7EB5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3714750" y="17145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Objetivos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714750" y="80010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Desenvolveremos competências essenciais de visualização técnica e integridade de dados corporativos.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3829050" y="214884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263390" y="1977390"/>
            <a:ext cx="4480560" cy="697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Construir e personalizar gráficos para diferentes variáveis analíticas.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3829050" y="318897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263390" y="3017520"/>
            <a:ext cx="4480560" cy="697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Aplicar validação de dados para garantir a integridade das entradas.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3829050" y="42291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263390" y="4057650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Montar quadros demonstrativos integrados a relatórios e apresentações.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2f7f6b122c8ccb4de71d9ff414312827.png" id="52" name="Google Shape;5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d9e2558c02c8530ca46fab08747b63c0.png" id="53" name="Google Shape;5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e797f834497cecb3968c15226b0eae3a.png" id="54" name="Google Shape;5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a588a7f2e0edff30ec1ca4b38775c7bf.png" id="55" name="Google Shape;5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Gráfico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Representação visual de dados numéricos tabulares.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Legenda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Guia visual que identifica cores ou séries representadas.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Indicador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Métrica quantitativa para medir desempenho e metas.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892290" y="274320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Validação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Regra lógica que restringe dados em células.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97d0168d907bd80084f2f3595bd9bc1f.png" id="66" name="Google Shape;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67" name="Google Shape;67;p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Revisão: Fórmulas e Funções Fundamentais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285750" y="868680"/>
            <a:ext cx="269748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FUNDAMENTOS TÉCNICOS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285750" y="117729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Revisão: sintaxe básica de cálculo. Funções essenciais: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SOMA: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totaliza intervalos.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MÉDIA: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calcula valor central.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CONT.SE: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conta itens por critério.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aplica testes lógicos.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285750" y="330327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400050" y="34518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765810" y="341757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Fórmulas e funções iniciam com o sinal de igualdade (=).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Verificação: Sintaxe de Fórmulas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fórmula calcula corretamente a média aritmética dos valores contidos no intervalo de células de B2 até B15?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=MÉDIA(B2:B15)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MÉDIA(B2:B15)=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=TOTAL.MÉDIO(B2..B15)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=SOMA(B2:B15)/MÉDIA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Verificação: Sintaxe de Fórmulas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fórmula calcula corretamente a média aritmética dos valores contidos no intervalo de células de B2 até B15?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=MÉDIA(B2:B15)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MÉDIA(B2:B15)=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=TOTAL.MÉDIO(B2..B15)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=SOMA(B2:B15)/MÉDIA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a5187284595c985828baddeafc013bbc.png" id="110" name="Google Shape;1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11" name="Google Shape;111;p1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 Necessidade da Representação Visual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4286250" y="800100"/>
            <a:ext cx="4572000" cy="2683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Tabelas extensas são excelentes para armazenar registros individuais, mas sobrecarregam o cérebro humano quando precisamos identificar padrões, discrepâncias ou tendências temporais.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cérebro processa imagens visuais com velocidade significativamente maior do que blocos de texto ou sequências de dígitos numéricos.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4286250" y="346329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4400550" y="36118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4766310" y="357759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Visualizações transformam dados abstratos em inteligência prática para líderes e equipes operacionais.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b79918cee84a061df915b38e840e742d.png" id="121" name="Google Shape;12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372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de29def8033d03a0556c31c1314aae3c.png" id="122" name="Google Shape;12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93726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23" name="Google Shape;123;p11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Da Tabela Bruta ao Impacto Gerencial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>
            <a:off x="285750" y="31318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Registro em Tabela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Permite auditoria detalhada, armazenamento bruto e cálculos matemáticos exatos célula a célula.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4652010" y="313182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Painel Gráfico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Destaca gargalos imediatos, desvios operacionais e oportunidades estratégicas em poucos segundos.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a61273effdf176e04734a59b54619e5a.png" id="131" name="Google Shape;13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132" name="Google Shape;132;p12"/>
          <p:cNvSpPr/>
          <p:nvPr/>
        </p:nvSpPr>
        <p:spPr>
          <a:xfrm>
            <a:off x="285750" y="19202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Panorama Geral dos Tipos de Gráficos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285750" y="254889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Escolher o gráfico errado compromete a leitura dos fatos. Cada formato visual responde a uma pergunta analítica específica. Dominar essa escolha evita distorções graves na interpretação técnica em ambientes profissionais.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285750" y="3611880"/>
            <a:ext cx="85725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2"/>
          <p:cNvSpPr/>
          <p:nvPr/>
        </p:nvSpPr>
        <p:spPr>
          <a:xfrm>
            <a:off x="400050" y="37604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765810" y="3726180"/>
            <a:ext cx="7978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A pergunta que você deseja responder define o formato gráfico ideal, e não a preferência estética pessoal.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655ec83efb54b24c9225adf158cc42ee.png" id="142" name="Google Shape;14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d9360a3cb5cdcae25dd567cd6bfc2bf2.png" id="143" name="Google Shape;14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1e4efae40112a5a99e273f96fed3b2c0.png" id="144" name="Google Shape;14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1305a23834e078829b55f4be2241aef4.png" id="145" name="Google Shape;14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146" name="Google Shape;146;p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Matriz de Aplicação de Gráficos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Colunas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Compara valores pontuais entre categorias distintas.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Linhas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Evidencia evolução contínua e tendências temporais.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Barras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Ideal para comparar muitas categorias ou rótulos longos.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Setores (Pizza)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Mostra a composição proporcional de um todo.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66b828a37181b617ed5ae5c15549abbe.png" id="156" name="Google Shape;15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57" name="Google Shape;157;p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Gráfico de Linhas e Séries Temporais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285750" y="868680"/>
            <a:ext cx="212598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ANÁLISE TEMPORAL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285750" y="117729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Gráficos de linhas monitoram métricas ao longo de períodos.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Eixo X: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variável temporal.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Eixo Y: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magnitude dos valores.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Permite comparar múltiplos desempenhos simultâneos.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285750" y="324612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"/>
          <p:cNvSpPr/>
          <p:nvPr/>
        </p:nvSpPr>
        <p:spPr>
          <a:xfrm>
            <a:off x="400050" y="33947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765810" y="336042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Monitoramento da temperatura de máquinas em um turno de 8 horas.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5adddb5301514dca26b58b2a5bd587e3.png" id="168" name="Google Shape;1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169" name="Google Shape;169;p1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Cuidado Crítico com Gráficos de Pizza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4286250" y="80010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Gráficos de pizza são populares, mas frequentemente mal empregados em relatórios técnicos.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Regra de ouro: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utilize no máximo 5 fatias distintas.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Soma obrigatória: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todas as fatias devem somar 100% do total.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Evite comparações sutis: é difícil calcular áreas circulares.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4286250" y="3634740"/>
            <a:ext cx="4572000" cy="1125601"/>
          </a:xfrm>
          <a:prstGeom prst="roundRect">
            <a:avLst>
              <a:gd fmla="val 8124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4400550" y="37833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4766310" y="374904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Com muitas divisões, use um gráfico de barras.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Aplicação Prática: Escolha do Gráfico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Deseja-se acompanhar a variação do consumo de energia elétrica de uma fábrica mês a mês durante o ano de 2024. Qual gráfico é mais indicado?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pizza, pois distribui o consumo total em 12 fatias idênticas.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radar, para cruzar o consumo com dados demográficos da cidade.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linhas, pois demonstra a evolução temporal contínua da métrica.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dispersão sem linhas, pois não há relação cronológica entre os meses.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Aplicação Prática: Escolha do Gráfico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Deseja-se acompanhar a variação do consumo de energia elétrica de uma fábrica mês a mês durante o ano de 2024. Qual gráfico é mais indicado?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pizza, pois distribui o consumo total em 12 fatias idênticas.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radar, para cruzar o consumo com dados demográficos da cidade.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linhas, pois demonstra a evolução temporal contínua da métrica.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dispersão sem linhas, pois não há relação cronológica entre os meses.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/>
          <p:nvPr/>
        </p:nvSpPr>
        <p:spPr>
          <a:xfrm>
            <a:off x="17145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237744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457200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6777990" y="914400"/>
            <a:ext cx="2205990" cy="400050"/>
          </a:xfrm>
          <a:prstGeom prst="chevron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EB5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Passo a Passo: Inserindo um Gráfico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285750" y="137160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 Selecionar Dados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Marcar o intervalo com cabeçalhos e valores.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2491740" y="137160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 Menu Inserir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Escolher a tipologia gráfica recomendada.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4686300" y="137160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 Ajustar Eixos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Verificar se categorias e séries estão corretas.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892290" y="137160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 Elementos Visuais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Adicionar títulos claros, rótulos e unidades.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c7be31b0e2daf4aa232b24ef90d81738.png" id="225" name="Google Shape;22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26" name="Google Shape;226;p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Anatomia Visual de um Gráfico Técnico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285750" y="868680"/>
            <a:ext cx="240030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ELEMENTOS GRÁFICOS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285750" y="1177290"/>
            <a:ext cx="457200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Um gráfico autônomo e profissional não deve depender de explicações verbais externas para ser compreendido.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Título Claro: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define o que está sendo medido e o período de análise.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Eixos X e Y: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contêm rótulos de escala e unidades (ex: R$, kg, un).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Rótulos de Dados: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números diretos no topo das colunas ou barras.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Linhas de Grade: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guias suaves para orientar a leitura espacial.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114fc4bc25e95b870606bcff126bfd83.png" id="234" name="Google Shape;23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055cbc5c8be8bfd25afc42c3854f19c0.png" id="235" name="Google Shape;23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36" name="Google Shape;236;p20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Uso Estratégico da Legenda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285750" y="300609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Legenda Desnecessária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Quando o gráfico possui apenas uma série de dados (ex: Vendas 2024), a legenda é redundante e polui a visualização.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4652010" y="300609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Legenda Indispensável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 gráficos com duas ou mais séries comparadas (ex: Meta vs. Realizado), ela identifica o significado de cada cor.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Verificação: Estruturação Gráfica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Todo gráfico em uma planilha eletrônica precisa obrigatoriamente exibir uma caixa de legenda para ser considerado tecnicamente correto.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Verificação: Estruturação Gráfica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Todo gráfico em uma planilha eletrônica precisa obrigatoriamente exibir uma caixa de legenda para ser considerado tecnicamente correto.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Quando há apenas uma série de dados, o título já identifica o conteúdo e a legenda torna-se poluição visual desnecessária.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c0c17f62f7f50b80a39015452af92cb2.png" id="270" name="Google Shape;27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71" name="Google Shape;271;p2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Quadros Demonstrativos e Tabelas Resumo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285750" y="800100"/>
            <a:ext cx="45720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Antes de gerar o gráfico, é indispensável estruturar um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quadro demonstrativo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 Essa tabela intermediária condensa os dados brutos em agregadores claros, facilitando a visualização e evitando cálculos pesados dentro do próprio elemento gráfico.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285750" y="2628900"/>
            <a:ext cx="4572000" cy="1635887"/>
          </a:xfrm>
          <a:prstGeom prst="roundRect">
            <a:avLst>
              <a:gd fmla="val 5590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400050" y="27774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765810" y="2743200"/>
            <a:ext cx="3977640" cy="1407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Em vez de mapear 5.000 notas fiscais, o gráfico lê uma tabela resumo com os totais somados por filial da empresa.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e9943630ce2cf968a4f154cb947e3ff6.png" id="281" name="Google Shape;28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282" name="Google Shape;282;p24"/>
          <p:cNvSpPr/>
          <p:nvPr/>
        </p:nvSpPr>
        <p:spPr>
          <a:xfrm>
            <a:off x="3714750" y="18288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Hierarquia Visual no Quadro Demonstrativo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3714750" y="126873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Tabelas resumo exigem padrões profissionais: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Cabeçalhos: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negrito e fundo suave para guiar a leitura.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Alinhamento: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textos à esquerda; números à direita.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Moeda: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casas decimais e separadores consistentes.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3714750" y="360045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3829050" y="3749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4194810" y="371475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Alinhar números à direita facilita a comparação visual de valores.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336ff4807b95650e4a7be41307bb45a5.png" id="292" name="Google Shape;29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293" name="Google Shape;293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Integridade com Validação de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285750" y="868680"/>
            <a:ext cx="301752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CONFIABILIDADE DOS DADOS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285750" y="1177290"/>
            <a:ext cx="4572000" cy="2395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Um gráfico só é confiável se os dados que o alimentam forem precisos. Se um usuário digitar 'São Pauloo' e outro 'SP', o software tratará como duas cidades diferentes, distorcendo o relatório visual.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Validação de Dados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impõe regras estritas de entrada nas células, impedindo erros humanos de digitação.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b887a48a7480dbe3add3c1ab730dc015.png" id="301" name="Google Shape;30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cbc6978c70680ca65912b71580e6d653.png" id="302" name="Google Shape;30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174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9910ca43a1cf18aa2d91820536eb2d55.png" id="303" name="Google Shape;30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86300" y="16002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248e22cd4e817d3cc7aeea50538ea00d.png" id="304" name="Google Shape;30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290" y="914400"/>
            <a:ext cx="1977390" cy="1714500"/>
          </a:xfrm>
          <a:prstGeom prst="roundRect">
            <a:avLst>
              <a:gd fmla="val 8000" name="adj"/>
            </a:avLst>
          </a:prstGeom>
          <a:noFill/>
          <a:ln>
            <a:noFill/>
          </a:ln>
        </p:spPr>
      </p:pic>
      <p:sp>
        <p:nvSpPr>
          <p:cNvPr id="305" name="Google Shape;305;p2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Modalidades de Restrição de Entrada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Lista Suspensa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Seleção de itens em relação pré-definida.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Intervalo Numérico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Define valores mínimos e máximos (ex: 0-10).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Limite de Caracteres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Controla tamanho de códigos (ex: CPF).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6892290" y="274320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Filtro de Datas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Bloqueia datas futuras em relatórios.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e55ecfe6702459449ae20917630e639d.png" id="315" name="Google Shape;31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oundRect">
            <a:avLst>
              <a:gd fmla="val 5854" name="adj"/>
            </a:avLst>
          </a:prstGeom>
          <a:noFill/>
          <a:ln>
            <a:noFill/>
          </a:ln>
        </p:spPr>
      </p:pic>
      <p:sp>
        <p:nvSpPr>
          <p:cNvPr id="316" name="Google Shape;316;p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Verificação: Mecanismos de Validação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evitar erros de digitação ao preencher filiais, aplicamos a validação por ______, enquanto para notas escolares usamos restrição de ______.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285750" y="3771900"/>
            <a:ext cx="269748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intervalo numérico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3120390" y="3771900"/>
            <a:ext cx="219456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lista suspensa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5452110" y="3771900"/>
            <a:ext cx="130302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legenda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285750" y="4320540"/>
            <a:ext cx="244602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 de pizza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2868930" y="4320540"/>
            <a:ext cx="274320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formatação condicional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5749290" y="4320540"/>
            <a:ext cx="155448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hiperlink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e55ecfe6702459449ae20917630e639d.png" id="330" name="Google Shape;33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914400"/>
            <a:ext cx="8572500" cy="2343150"/>
          </a:xfrm>
          <a:prstGeom prst="roundRect">
            <a:avLst>
              <a:gd fmla="val 5854" name="adj"/>
            </a:avLst>
          </a:prstGeom>
          <a:noFill/>
          <a:ln>
            <a:noFill/>
          </a:ln>
        </p:spPr>
      </p:pic>
      <p:sp>
        <p:nvSpPr>
          <p:cNvPr id="331" name="Google Shape;331;p2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Verificação: Mecanismos de Validação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Para evitar erros de digitação ao preencher filiais, aplicamos a validação por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lista suspensa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__, enquanto para notas escolares usamos restrição de </a:t>
            </a:r>
            <a:r>
              <a:rPr b="1" i="0" lang="en-US" sz="1620" u="none" cap="none" strike="noStrike">
                <a:solidFill>
                  <a:srgbClr val="2C6E49"/>
                </a:solidFill>
                <a:latin typeface="Lexend"/>
                <a:ea typeface="Lexend"/>
                <a:cs typeface="Lexend"/>
                <a:sym typeface="Lexend"/>
              </a:rPr>
              <a:t>intervalo numérico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__.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Banco de palavras 🏦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285750" y="3771900"/>
            <a:ext cx="269748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intervalo numérico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3120390" y="3771900"/>
            <a:ext cx="219456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lista suspensa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5452110" y="3771900"/>
            <a:ext cx="130302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legenda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285750" y="4320540"/>
            <a:ext cx="244602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gráfico de pizza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2868930" y="4320540"/>
            <a:ext cx="274320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formatação condicional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5749290" y="4320540"/>
            <a:ext cx="1554480" cy="4114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285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67676"/>
                </a:solidFill>
                <a:latin typeface="Lexend"/>
                <a:ea typeface="Lexend"/>
                <a:cs typeface="Lexend"/>
                <a:sym typeface="Lexend"/>
              </a:rPr>
              <a:t>hiperlink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Vídeo: Criação de Gráficos e Painéis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Tutorial: fórmulas, funções, gráficos, eixos, legendas e painéis.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2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3040" y="1360170"/>
            <a:ext cx="6217920" cy="3497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dacba29926b67eef3e1124fe2b2a443f.png" id="354" name="Google Shape;35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55" name="Google Shape;355;p3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Interpretação Crítica de Indicadores (KPIs)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285750" y="868680"/>
            <a:ext cx="249174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ANÁLISE CORPORATIVA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285750" y="1177290"/>
            <a:ext cx="4572000" cy="1531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Gráficos em empresas medem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Indicadores-Chave de Desempenho (KPIs)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 O profissional técnico não apenas constrói a figura, mas extrai diagnósticos operacionais: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Tendência: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 indicador está crescendo ou declinando ao longo dos meses?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Aderência à Meta: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 barra ultrapassou a linha de tolerância planejada?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Variabilidade: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ocorrem oscilações bruscas que indicam instabilidade fabril?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3b6824d6f8244409660dd977838ddbc1.png" id="363" name="Google Shape;36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364" name="Google Shape;364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Infográficos e Comunicação de Ideias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4286250" y="800100"/>
            <a:ext cx="45720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Gráficos isolados mostram dados;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infográficos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contam histórias técnicas.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Une dados, ícones e textos explicativos.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Sintetiza fluxos em etapas visuais.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Facilita a comunicação entre setores.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4286250" y="261747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5AC8A5">
              <a:alpha val="14902"/>
            </a:srgbClr>
          </a:solidFill>
          <a:ln cap="flat" cmpd="sng" w="11425">
            <a:solidFill>
              <a:srgbClr val="084D3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1"/>
          <p:cNvSpPr/>
          <p:nvPr/>
        </p:nvSpPr>
        <p:spPr>
          <a:xfrm>
            <a:off x="4400550" y="27660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4766310" y="273177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Mostrar o índice de descarte fabril com ilustrações das peças com mais avarias.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0f2a779ecfa901c75011eb4b814599ae.png" id="374" name="Google Shape;37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08c002c6269084c00266c7343db8738b.png" id="375" name="Google Shape;37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76" name="Google Shape;376;p32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Cores e Acessibilidade Visual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2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Cores Inadequadas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Cores muito saturadas, excesso de tonalidades aleatórias e contraste ruim cansam a vista e excluem pessoas com daltonismo.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4652010" y="300609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Padrão Acessível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Paletas corporativas com bom contraste, texturas auxiliares e rótulos diretos tornam a mensagem universalmente legível.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e63bfc89e127cababbea8f64061342ed.png" id="384" name="Google Shape;38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385" name="Google Shape;385;p33"/>
          <p:cNvSpPr/>
          <p:nvPr/>
        </p:nvSpPr>
        <p:spPr>
          <a:xfrm>
            <a:off x="285750" y="192024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Integrando com Editores de Texto e Slides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3"/>
          <p:cNvSpPr/>
          <p:nvPr/>
        </p:nvSpPr>
        <p:spPr>
          <a:xfrm>
            <a:off x="285750" y="254889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 ambiente corporativo, os gráficos gerados nas planilhas precisam ser incorporados em relatórios formais e apresentações de reuniões de diretoria. Essa conexão pode ser estática ou dinâmica.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3"/>
          <p:cNvSpPr/>
          <p:nvPr/>
        </p:nvSpPr>
        <p:spPr>
          <a:xfrm>
            <a:off x="285750" y="3611880"/>
            <a:ext cx="8572500" cy="1125601"/>
          </a:xfrm>
          <a:prstGeom prst="roundRect">
            <a:avLst>
              <a:gd fmla="val 8124" name="adj"/>
            </a:avLst>
          </a:prstGeom>
          <a:solidFill>
            <a:srgbClr val="FAC873">
              <a:alpha val="14902"/>
            </a:srgbClr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3"/>
          <p:cNvSpPr/>
          <p:nvPr/>
        </p:nvSpPr>
        <p:spPr>
          <a:xfrm>
            <a:off x="400050" y="37604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3"/>
          <p:cNvSpPr/>
          <p:nvPr/>
        </p:nvSpPr>
        <p:spPr>
          <a:xfrm>
            <a:off x="765810" y="3726180"/>
            <a:ext cx="7978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Ao colar o gráfico como 'Vínculo de Dados', qualquer atualização na planilha altera o relatório automaticamente.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e783e66e5dc3ee7e612536797f4142c2.png" id="395" name="Google Shape;39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df7639cd8b7751b5933591a0cb09c71e.png" id="396" name="Google Shape;39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2010" y="811530"/>
            <a:ext cx="419481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97" name="Google Shape;397;p34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Vínculo Dinâmico versus Imagem Estática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285750" y="300609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Imagem Estática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Congela os dados do instante. Não altera o arquivo de texto se a planilha mudar, garantindo histórico fixo inviolável.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4652010" y="300609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Objeto Vinculado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Mantém sincronização em tempo real. Se novos números forem lançados na planilha, o slide ou relatório atualiza sozinho.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233bfab5b065e1c938a7992b61202bb4.png" id="405" name="Google Shape;40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800100"/>
            <a:ext cx="3829050" cy="4057650"/>
          </a:xfrm>
          <a:prstGeom prst="roundRect">
            <a:avLst>
              <a:gd fmla="val 3582" name="adj"/>
            </a:avLst>
          </a:prstGeom>
          <a:noFill/>
          <a:ln>
            <a:noFill/>
          </a:ln>
        </p:spPr>
      </p:pic>
      <p:sp>
        <p:nvSpPr>
          <p:cNvPr id="406" name="Google Shape;406;p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Como Gráficos Podem Enganar: Eixo Truncado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/>
          <p:nvPr/>
        </p:nvSpPr>
        <p:spPr>
          <a:xfrm>
            <a:off x="285750" y="868680"/>
            <a:ext cx="2366010" cy="262890"/>
          </a:xfrm>
          <a:prstGeom prst="roundRect">
            <a:avLst>
              <a:gd fmla="val 17391" name="adj"/>
            </a:avLst>
          </a:prstGeom>
          <a:solidFill>
            <a:srgbClr val="7EB5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PENSAMENTO CRÍTICO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ética em dados exige transparência. Uma manipulação comum ocorre quando o </a:t>
            </a:r>
            <a:r>
              <a:rPr b="1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eixo vertical (Y) não inicia no zero</a:t>
            </a: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 Cortar o eixo exagera diferenças minúsculas, criando a ilusão de um abismo inexistente. Verifique sempre a escala inicial.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285750" y="3006090"/>
            <a:ext cx="4572000" cy="1380744"/>
          </a:xfrm>
          <a:prstGeom prst="roundRect">
            <a:avLst>
              <a:gd fmla="val 6623" name="adj"/>
            </a:avLst>
          </a:prstGeom>
          <a:solidFill>
            <a:srgbClr val="F09696">
              <a:alpha val="14902"/>
            </a:srgbClr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5"/>
          <p:cNvSpPr/>
          <p:nvPr/>
        </p:nvSpPr>
        <p:spPr>
          <a:xfrm>
            <a:off x="400050" y="31546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5"/>
          <p:cNvSpPr/>
          <p:nvPr/>
        </p:nvSpPr>
        <p:spPr>
          <a:xfrm>
            <a:off x="765810" y="312039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Em colunas e barras, iniciar o eixo fora do zero distorce gravemente a proporção das grandezas.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45228ad388c12cca494c593965266ff6.png" id="417" name="Google Shape;41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486150" cy="5143500"/>
          </a:xfrm>
          <a:prstGeom prst="roundRect">
            <a:avLst>
              <a:gd fmla="val 3934" name="adj"/>
            </a:avLst>
          </a:prstGeom>
          <a:noFill/>
          <a:ln>
            <a:noFill/>
          </a:ln>
        </p:spPr>
      </p:pic>
      <p:sp>
        <p:nvSpPr>
          <p:cNvPr id="418" name="Google Shape;418;p36"/>
          <p:cNvSpPr/>
          <p:nvPr/>
        </p:nvSpPr>
        <p:spPr>
          <a:xfrm>
            <a:off x="3714750" y="43434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Perspectiva 3D: Efeito Estético vs. Distorção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6"/>
          <p:cNvSpPr/>
          <p:nvPr/>
        </p:nvSpPr>
        <p:spPr>
          <a:xfrm>
            <a:off x="3714750" y="1520190"/>
            <a:ext cx="5143500" cy="1819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Iniciantes usam efeitos 3D em gráficos de pizza ou barras buscando apelo visual, mas o efeito distorce o ângulo dos dados. Elementos no primeiro plano parecem maiores, comprometendo a leitura. Em documentos técnicos, gráficos 2D planos são a norma absoluta.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3714750" y="3348990"/>
            <a:ext cx="5143500" cy="1125601"/>
          </a:xfrm>
          <a:prstGeom prst="roundRect">
            <a:avLst>
              <a:gd fmla="val 8124" name="adj"/>
            </a:avLst>
          </a:prstGeom>
          <a:solidFill>
            <a:srgbClr val="82B4EB">
              <a:alpha val="14902"/>
            </a:srgbClr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/>
          <p:nvPr/>
        </p:nvSpPr>
        <p:spPr>
          <a:xfrm>
            <a:off x="3829050" y="34975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b="0" i="0" lang="en-US" sz="21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4194810" y="346329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Priorize a precisão analítica sobre ornamentos decorativos.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Análise Crítica: Integridade Visual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7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Quais afirmações sobre a integridade e ética na construção de gráficos técnicos são verdadeiras? (Mais de uma resposta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7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Truncar o eixo vertical sem aviso prévio distorce a proporção real das barras.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7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validação de dados altera automaticamente as cores das barras conforme a meta.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7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7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Gráficos com efeitos tridimensionais (3D) prejudicam a comparação precisa de grandezas.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Gráficos de pizza são a melhor escolha para comparar mais de vinte categorias industriais.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Análise Crítica: Integridade Visual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Quais afirmações sobre a integridade e ética na construção de gráficos técnicos são verdadeiras? (Mais de uma resposta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8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Truncar o eixo vertical sem aviso prévio distorce a proporção real das barras.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8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validação de dados altera automaticamente as cores das barras conforme a meta.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8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Gráficos com efeitos tridimensionais (3D) prejudicam a comparação precisa de grandezas.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Gráficos de pizza são a melhor escolha para comparar mais de vinte categorias industriais.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8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8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Sequência Técnica: Construção do Painel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9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as etapas corretas para desenvolver um painel de indicadores confiável: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9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Formatar títulos, legendas, eixos e vincular ao relatório final.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9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o gráfico adequado selecionando os dados do quadro resumo.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9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Estruturar as regras de validação de dados nas células de entrada.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9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Calcular os indicadores e montar o quadro demonstrativo resumo.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Sequência Técnica: Construção do Painel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0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as etapas corretas para desenvolver um painel de indicadores confiável: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0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Formatar títulos, legendas, eixos e vincular ao relatório final.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0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Inserir o gráfico adequado selecionando os dados do quadro resumo.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0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Estruturar as regras de validação de dados nas células de entrada.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0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Calcular os indicadores e montar o quadro demonstrativo resumo.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0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0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0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0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88f2cf22d50efe57d124336ea25cb3a9.png" id="488" name="Google Shape;48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faece26d04799c233ed12249733a290c.png" id="489" name="Google Shape;489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3020" y="1657350"/>
            <a:ext cx="2834640" cy="2194560"/>
          </a:xfrm>
          <a:prstGeom prst="roundRect">
            <a:avLst>
              <a:gd fmla="val 6250" name="adj"/>
            </a:avLst>
          </a:prstGeom>
          <a:noFill/>
          <a:ln>
            <a:noFill/>
          </a:ln>
        </p:spPr>
      </p:pic>
      <p:sp>
        <p:nvSpPr>
          <p:cNvPr id="490" name="Google Shape;490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Debate Técnico: Confiança nos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1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empresa de entregas apresentou um gráfico de colunas mostrando que seu tempo médio de entrega é 'metade do concorrente'. Ao analisar o eixo Y, descobre-se que a escala iniciava em 28 minutos e o concorrente entregava em 31 min, enquanto a empresa entregava em 29 min. Como essa escolha afeta a credibilidade corporativa?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88f2cf22d50efe57d124336ea25cb3a9.png" id="497" name="Google Shape;49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330" y="651510"/>
            <a:ext cx="8332470" cy="4309110"/>
          </a:xfrm>
          <a:prstGeom prst="roundRect">
            <a:avLst>
              <a:gd fmla="val 3183" name="adj"/>
            </a:avLst>
          </a:prstGeom>
          <a:noFill/>
          <a:ln>
            <a:noFill/>
          </a:ln>
        </p:spPr>
      </p:pic>
      <p:sp>
        <p:nvSpPr>
          <p:cNvPr id="498" name="Google Shape;498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Debate Técnico: Confiança nos Dados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2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poderia ter dito...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Distorções visuais criam falsas percepções de desempenho, embora a diferença real seja mínima (2 min em 30 min).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Gráficos manipulados configuram má prática técnica. Profissionais de TI devem garantir visualizações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que retratem a verdade dos dados, protegendo sua credibilidade profissional.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b8e2e30cbb6ba10a8acb00af0ff4be05.png" id="506" name="Google Shape;50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pic>
        <p:nvPicPr>
          <p:cNvPr descr="/home/forge/chalkie-production-workers-2/releases/77424486/backend/storage/app/render-specs/eca51e99-b3c4-4883-94bf-3747a0ed3079/img_5fac7408dad887bbfe2edbe392c281ac.png" id="507" name="Google Shape;50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120" y="1908810"/>
            <a:ext cx="2697480" cy="2331720"/>
          </a:xfrm>
          <a:prstGeom prst="roundRect">
            <a:avLst>
              <a:gd fmla="val 5882" name="adj"/>
            </a:avLst>
          </a:prstGeom>
          <a:noFill/>
          <a:ln>
            <a:noFill/>
          </a:ln>
        </p:spPr>
      </p:pic>
      <p:sp>
        <p:nvSpPr>
          <p:cNvPr id="508" name="Google Shape;508;p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Atividade Prática: Painel de Indicadores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duplas no laboratório, criem um Painel de Desempenho: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Tabela: 10 atendimentos com ID, Técnico, Setor e Tempo.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Validação: Lista suspensa no Setor (Manutenção, Redes).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Quadro: Média de tempo por setor usando funções.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Gráfico: Colunas 2D com título e eixos.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Vínculo: Cole o gráfico no slide e teste.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2/releases/77424486/backend/storage/app/render-specs/eca51e99-b3c4-4883-94bf-3747a0ed3079/img_74db676abbf9321227487417a15623c8.png" id="515" name="Google Shape;51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oundRect">
            <a:avLst>
              <a:gd fmla="val 7500" name="adj"/>
            </a:avLst>
          </a:prstGeom>
          <a:noFill/>
          <a:ln>
            <a:noFill/>
          </a:ln>
        </p:spPr>
      </p:pic>
      <p:sp>
        <p:nvSpPr>
          <p:cNvPr id="516" name="Google Shape;516;p4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Revisão Final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4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é a principal função da ferramenta de 'Validação de Dados' em uma planilha?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4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Por que o gráfico de linhas é o mais indicado para representar séries temporais?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4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que acontece ao colar um gráfico em uma apresentação usando a opção 'Vínculo de Dados'?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Revisão Final da Aula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5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Restringir e padronizar os tipos de dados aceitos em células para evitar erros humanos de entrada.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5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Porque conecta pontos cronológicos contínuos evidenciando tendências, quedas e picos ao longo do tempo.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5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gráfico na apresentação é atualizado automaticamente sempre que os dados da planilha de origem forem alterados.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