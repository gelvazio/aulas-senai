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</p:sldIdLst>
  <p:sldSz cy="5143500" cx="9144000"/>
  <p:notesSz cx="5143500" cy="9144000"/>
  <p:embeddedFontLst>
    <p:embeddedFont>
      <p:font typeface="Lexend"/>
      <p:regular r:id="rId48"/>
      <p:bold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Lexend-regular.fntdata"/><Relationship Id="rId47" Type="http://schemas.openxmlformats.org/officeDocument/2006/relationships/slide" Target="slides/slide43.xml"/><Relationship Id="rId49" Type="http://schemas.openxmlformats.org/officeDocument/2006/relationships/font" Target="fonts/Lexend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8" name="Google Shape;428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" name="Google Shape;442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" name="Google Shape;479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9" name="Google Shape;489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" name="Google Shape;498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5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2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30.png"/><Relationship Id="rId5" Type="http://schemas.openxmlformats.org/officeDocument/2006/relationships/image" Target="../media/image18.png"/><Relationship Id="rId6" Type="http://schemas.openxmlformats.org/officeDocument/2006/relationships/image" Target="../media/image76.png"/><Relationship Id="rId7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3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3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19.png"/><Relationship Id="rId5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5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3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Relationship Id="rId4" Type="http://schemas.openxmlformats.org/officeDocument/2006/relationships/image" Target="../media/image2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Relationship Id="rId4" Type="http://schemas.openxmlformats.org/officeDocument/2006/relationships/image" Target="../media/image7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Relationship Id="rId4" Type="http://schemas.openxmlformats.org/officeDocument/2006/relationships/image" Target="../media/image5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jpg"/><Relationship Id="rId4" Type="http://schemas.openxmlformats.org/officeDocument/2006/relationships/image" Target="../media/image6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jpg"/><Relationship Id="rId4" Type="http://schemas.openxmlformats.org/officeDocument/2006/relationships/hyperlink" Target="http://www.youtube.com/watch?v=Vz5RvbgWfZI" TargetMode="External"/><Relationship Id="rId5" Type="http://schemas.openxmlformats.org/officeDocument/2006/relationships/image" Target="../media/image49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jpg"/><Relationship Id="rId4" Type="http://schemas.openxmlformats.org/officeDocument/2006/relationships/image" Target="../media/image7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jpg"/><Relationship Id="rId4" Type="http://schemas.openxmlformats.org/officeDocument/2006/relationships/image" Target="../media/image56.png"/><Relationship Id="rId5" Type="http://schemas.openxmlformats.org/officeDocument/2006/relationships/image" Target="../media/image5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jpg"/><Relationship Id="rId4" Type="http://schemas.openxmlformats.org/officeDocument/2006/relationships/image" Target="../media/image6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jpg"/><Relationship Id="rId4" Type="http://schemas.openxmlformats.org/officeDocument/2006/relationships/image" Target="../media/image5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jpg"/><Relationship Id="rId4" Type="http://schemas.openxmlformats.org/officeDocument/2006/relationships/image" Target="../media/image7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jpg"/><Relationship Id="rId4" Type="http://schemas.openxmlformats.org/officeDocument/2006/relationships/image" Target="../media/image4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jpg"/><Relationship Id="rId4" Type="http://schemas.openxmlformats.org/officeDocument/2006/relationships/image" Target="../media/image4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jpg"/><Relationship Id="rId4" Type="http://schemas.openxmlformats.org/officeDocument/2006/relationships/image" Target="../media/image7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jpg"/><Relationship Id="rId4" Type="http://schemas.openxmlformats.org/officeDocument/2006/relationships/image" Target="../media/image5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jpg"/><Relationship Id="rId4" Type="http://schemas.openxmlformats.org/officeDocument/2006/relationships/image" Target="../media/image7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jpg"/><Relationship Id="rId4" Type="http://schemas.openxmlformats.org/officeDocument/2006/relationships/image" Target="../media/image6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jpg"/><Relationship Id="rId4" Type="http://schemas.openxmlformats.org/officeDocument/2006/relationships/image" Target="../media/image67.png"/><Relationship Id="rId5" Type="http://schemas.openxmlformats.org/officeDocument/2006/relationships/image" Target="../media/image7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.jpg"/><Relationship Id="rId4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961ef90-1c08-4e79-a4ff-a220c171d4e2/img_dbdc8b2ddf1a4b6abc6ac4de9728249a.png" id="16" name="Google Shape;1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7260" y="742950"/>
            <a:ext cx="3657600" cy="3657600"/>
          </a:xfrm>
          <a:prstGeom prst="roundRect">
            <a:avLst>
              <a:gd fmla="val 3750" name="adj"/>
            </a:avLst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4914900" y="1131570"/>
            <a:ext cx="3829050" cy="1819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3240"/>
              <a:buFont typeface="Lexend"/>
              <a:buNone/>
            </a:pPr>
            <a:r>
              <a:rPr b="1" i="0" lang="en-US" sz="324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Textos Técnicos e Redação Empresarial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914900" y="2834640"/>
            <a:ext cx="382905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Comunicação profissional, normas e documentação técnica no ambiente de trabalho.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961ef90-1c08-4e79-a4ff-a220c171d4e2/img_c4a1022936d94a1ef42af42000bebfe3.png" id="24" name="Google Shape;2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25" name="Google Shape;25;p4"/>
          <p:cNvSpPr/>
          <p:nvPr/>
        </p:nvSpPr>
        <p:spPr>
          <a:xfrm>
            <a:off x="3714750" y="1531620"/>
            <a:ext cx="5143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O Custo do Erro na Escrita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3714750" y="2160270"/>
            <a:ext cx="514350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Em tecnologia e indústria, uma frase ambígua em um manual ou ordem de serviço pode paralisar servidores inteiros, quebrar maquinários caros ou colocar equipes em risco físico imediato.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961ef90-1c08-4e79-a4ff-a220c171d4e2/img_da1d865869af88d76d50d3dbc55ea0e2.png" id="32" name="Google Shape;3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33" name="Google Shape;33;p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Objetivos da Aula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285750" y="800100"/>
            <a:ext cx="457200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Nesta aula, desenvolveremos habilidades essenciais para a comunicação formal e corporativa: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Identificar e diferenciar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os principais gêneros técnicos: relatório, ata e memorando.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Aplicar normas técnicas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(ABNT e ISO) com precisão, concisão e impessoalidade.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Redigir e reestruturar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documentos técnicos aplicados a processos operacionais e de TI.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961ef90-1c08-4e79-a4ff-a220c171d4e2/img_c5cc7df89a826ecb4d0547363a499aff.png" id="40" name="Google Shape;4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160020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e961ef90-1c08-4e79-a4ff-a220c171d4e2/img_f6acfda7b365ed7a720be884aa83d801.png" id="41" name="Google Shape;4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91740" y="91440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e961ef90-1c08-4e79-a4ff-a220c171d4e2/img_72dd8d7641f650e3c7193f7efd730648.png" id="42" name="Google Shape;4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86300" y="160020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e961ef90-1c08-4e79-a4ff-a220c171d4e2/img_b21e334b555668477313fe23cb2587d8.png" id="43" name="Google Shape;43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92290" y="91440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sp>
        <p:nvSpPr>
          <p:cNvPr id="44" name="Google Shape;44;p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Vocabulário Técnico Fundamental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285750" y="342900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Relatório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Documento que expõe fatos e resultados de forma sistemática.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2491740" y="274320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Ata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Registro formal e cronológico das decisões e ocorrências de reuniões.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4686300" y="342900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Memorando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Comunicação interna ágil entre setores para avisos e despachos.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6892290" y="274320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Norma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Regra técnica que assegura qualidade e conformidade operacional.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961ef90-1c08-4e79-a4ff-a220c171d4e2/img_faf3830ef493d3e2520b9dce3efe4e9b.png" id="54" name="Google Shape;5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55" name="Google Shape;55;p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Revisão: Estruturação e Formatação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285750" y="800100"/>
            <a:ext cx="45720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Revisamos editores de texto. A apresentação visual garante legibilidade: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Hierarquia: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Uso rigoroso de estilos de título.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Espaçamento: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Parágrafos com 1,5 linha e recuo.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Margens: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Padrão ABNT (3cm sup/esq; 2cm inf/dir).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285750" y="3383280"/>
            <a:ext cx="4572000" cy="1380744"/>
          </a:xfrm>
          <a:prstGeom prst="roundRect">
            <a:avLst>
              <a:gd fmla="val 6623" name="adj"/>
            </a:avLst>
          </a:prstGeom>
          <a:solidFill>
            <a:srgbClr val="82B4EB">
              <a:alpha val="14902"/>
            </a:srgbClr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7"/>
          <p:cNvSpPr/>
          <p:nvPr/>
        </p:nvSpPr>
        <p:spPr>
          <a:xfrm>
            <a:off x="400050" y="353187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7"/>
          <p:cNvSpPr/>
          <p:nvPr/>
        </p:nvSpPr>
        <p:spPr>
          <a:xfrm>
            <a:off x="765810" y="3497580"/>
            <a:ext cx="3977640" cy="1152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B5D4F4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B5D4F4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Formatação é requisito funcional de leitura e padrão corporativo, não estética.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Teste de Fixação: Formatação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8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Qual das opções descreve a configuração padrão de margens exigida pela ABNT para documentos acadêmicos e técnicos?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8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8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Superior: 3 cm, Esquerda: 3 cm, Inferior: 2 cm, Direita: 2 cm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8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8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Superior: 2 cm, Esquerda: 2 cm, Inferior: 2 cm, Direita: 2 cm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8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8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Superior: 2,5 cm, Esquerda: 2,5 cm, Inferior: 2,5 cm, Direita: 2,5 cm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8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8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Superior: 3 cm, Esquerda: 2 cm, Inferior: 3 cm, Direita: 2 cm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Teste de Fixação: Formatação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9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Qual das opções descreve a configuração padrão de margens exigida pela ABNT para documentos acadêmicos e técnicos?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9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9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Superior: 3 cm, Esquerda: 3 cm, Inferior: 2 cm, Direita: 2 cm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9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9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Superior: 2 cm, Esquerda: 2 cm, Inferior: 2 cm, Direita: 2 cm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9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9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Superior: 2,5 cm, Esquerda: 2,5 cm, Inferior: 2,5 cm, Direita: 2,5 cm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9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9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Superior: 3 cm, Esquerda: 2 cm, Inferior: 3 cm, Direita: 2 cm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9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9"/>
          <p:cNvSpPr/>
          <p:nvPr/>
        </p:nvSpPr>
        <p:spPr>
          <a:xfrm>
            <a:off x="8721090" y="15201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961ef90-1c08-4e79-a4ff-a220c171d4e2/img_b89ffe79e894f0b575938ee6b31043b3.png" id="97" name="Google Shape;9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98" name="Google Shape;98;p1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O Que É um Texto Técnico?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0"/>
          <p:cNvSpPr/>
          <p:nvPr/>
        </p:nvSpPr>
        <p:spPr>
          <a:xfrm>
            <a:off x="4286250" y="800100"/>
            <a:ext cx="4572000" cy="2683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 texto técnico é um gênero documental utilitário cuja finalidade exclusiva é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transmitir informações operacionais, científicas ou instrutivas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sem ambiguidade.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Diferente de textos literários ou publicitários, ele não busca persuadir esteticamente ou emocionar o leitor, mas viabilizar ações seguras, padronizadas e auditáveis no ambiente produtivo.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0"/>
          <p:cNvSpPr/>
          <p:nvPr/>
        </p:nvSpPr>
        <p:spPr>
          <a:xfrm>
            <a:off x="4286250" y="3463290"/>
            <a:ext cx="4572000" cy="1380744"/>
          </a:xfrm>
          <a:prstGeom prst="roundRect">
            <a:avLst>
              <a:gd fmla="val 6623" name="adj"/>
            </a:avLst>
          </a:prstGeom>
          <a:solidFill>
            <a:srgbClr val="FAC873">
              <a:alpha val="14902"/>
            </a:srgbClr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0"/>
          <p:cNvSpPr/>
          <p:nvPr/>
        </p:nvSpPr>
        <p:spPr>
          <a:xfrm>
            <a:off x="4400550" y="361188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0"/>
          <p:cNvSpPr/>
          <p:nvPr/>
        </p:nvSpPr>
        <p:spPr>
          <a:xfrm>
            <a:off x="4766310" y="3577590"/>
            <a:ext cx="3977640" cy="1152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AC775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Ponto-chave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AC775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No setor de TIC, todo documento serve como registro histórico e evidência técnica.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961ef90-1c08-4e79-a4ff-a220c171d4e2/img_5dc8cac4c5964d919326dc11892b13f7.png" id="108" name="Google Shape;10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0010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e961ef90-1c08-4e79-a4ff-a220c171d4e2/img_3ab003d71be3734ec5774155373d4b37.png" id="109" name="Google Shape;109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010" y="80010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10" name="Google Shape;110;p1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Pilares da Redação Técnica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1"/>
          <p:cNvSpPr/>
          <p:nvPr/>
        </p:nvSpPr>
        <p:spPr>
          <a:xfrm>
            <a:off x="285750" y="2994660"/>
            <a:ext cx="419481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Clareza e Concisão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Clareza: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Sentido direto, sem duplo sentido ou termos vagos.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Concisão: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Eliminação de palavras vazias e redundâncias desnecessárias.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1"/>
          <p:cNvSpPr/>
          <p:nvPr/>
        </p:nvSpPr>
        <p:spPr>
          <a:xfrm>
            <a:off x="4652010" y="2994660"/>
            <a:ext cx="419481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Objetividade e Impessoalidade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Objetividade: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Foco nos dados mensuráveis e fatos ocorridos.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Impessoalidade: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Uso da terceira pessoa, neutralidade e ausência de opiniões emotivas.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961ef90-1c08-4e79-a4ff-a220c171d4e2/img_700ca8785b3233d1af2b12c121c9045e.png" id="118" name="Google Shape;11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785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119" name="Google Shape;119;p12"/>
          <p:cNvSpPr/>
          <p:nvPr/>
        </p:nvSpPr>
        <p:spPr>
          <a:xfrm>
            <a:off x="285750" y="182880"/>
            <a:ext cx="5143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A Impessoalidade na Prática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2"/>
          <p:cNvSpPr/>
          <p:nvPr/>
        </p:nvSpPr>
        <p:spPr>
          <a:xfrm>
            <a:off x="285750" y="811530"/>
            <a:ext cx="514350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Em textos empresariais e técnicos, o foco deve recair estritamente sobre a ação ou o fato observado, jamais sobre quem o realizou: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Inadequado: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0" i="1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"Eu notei que o banco de dados caiu e achei melhor reiniciar o servidor."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Adequado: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0" i="1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"Constatou-se a indisponibilidade do banco de dados às 14h20; procedeu-se ao reinício do serviço."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2"/>
          <p:cNvSpPr/>
          <p:nvPr/>
        </p:nvSpPr>
        <p:spPr>
          <a:xfrm>
            <a:off x="285750" y="3337560"/>
            <a:ext cx="5143500" cy="1380744"/>
          </a:xfrm>
          <a:prstGeom prst="roundRect">
            <a:avLst>
              <a:gd fmla="val 6623" name="adj"/>
            </a:avLst>
          </a:prstGeom>
          <a:solidFill>
            <a:srgbClr val="F09696">
              <a:alpha val="14902"/>
            </a:srgbClr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2"/>
          <p:cNvSpPr/>
          <p:nvPr/>
        </p:nvSpPr>
        <p:spPr>
          <a:xfrm>
            <a:off x="400050" y="348615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2"/>
          <p:cNvSpPr/>
          <p:nvPr/>
        </p:nvSpPr>
        <p:spPr>
          <a:xfrm>
            <a:off x="765810" y="3451860"/>
            <a:ext cx="4549140" cy="1152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7C1C1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Atenção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7C1C1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Evite expressões em primeira pessoa como 'eu acho', 'meu parecer' ou 'nós percebemos'.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Normatização: ABNT e ISO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3"/>
          <p:cNvSpPr/>
          <p:nvPr/>
        </p:nvSpPr>
        <p:spPr>
          <a:xfrm>
            <a:off x="285750" y="800100"/>
            <a:ext cx="41948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Âmbito Nacional: ABNT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Associação Brasileira de Normas Técnicas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regula padrões nacionais: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NBR 14724: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Trabalhos acadêmicos e relatórios técnicos.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NBR 6023: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Referências bibliográficas.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NBR 6028: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Resumos informativos.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3"/>
          <p:cNvSpPr/>
          <p:nvPr/>
        </p:nvSpPr>
        <p:spPr>
          <a:xfrm>
            <a:off x="4652010" y="800100"/>
            <a:ext cx="41948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Âmbito Internacional: ISO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International Organization for Standardization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rege padrões globais: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ISO 9001: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Gestão da qualidade e rastreabilidade.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ISO/IEC 27001: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Segurança da informação e sigilo.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ISO/IEC 12207: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Ciclo de vida de software.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3"/>
          <p:cNvSpPr/>
          <p:nvPr/>
        </p:nvSpPr>
        <p:spPr>
          <a:xfrm>
            <a:off x="285750" y="3897630"/>
            <a:ext cx="8572500" cy="1125601"/>
          </a:xfrm>
          <a:prstGeom prst="roundRect">
            <a:avLst>
              <a:gd fmla="val 8124" name="adj"/>
            </a:avLst>
          </a:prstGeom>
          <a:solidFill>
            <a:srgbClr val="FAC873">
              <a:alpha val="14902"/>
            </a:srgbClr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3"/>
          <p:cNvSpPr/>
          <p:nvPr/>
        </p:nvSpPr>
        <p:spPr>
          <a:xfrm>
            <a:off x="400050" y="404622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3"/>
          <p:cNvSpPr/>
          <p:nvPr/>
        </p:nvSpPr>
        <p:spPr>
          <a:xfrm>
            <a:off x="765810" y="4011930"/>
            <a:ext cx="797814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AC775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Ponto-chave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AC775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A padronização internacional garante que manuais brasileiros sejam auditáveis globalmente.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Checagem: Uso de Normas Técnicas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4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4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Normas técnicas como ABNT e ISO servem apenas para provas acadêmicas e não possuem aplicação prática nas empresas de TI.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4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4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4"/>
          <p:cNvSpPr/>
          <p:nvPr/>
        </p:nvSpPr>
        <p:spPr>
          <a:xfrm>
            <a:off x="2571750" y="371475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🤔 </a:t>
            </a:r>
            <a:r>
              <a:rPr b="0" i="1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Prepare-se para explicar o seu raciocínio.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Checagem: Uso de Normas Técnicas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5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Normas técnicas como ABNT e ISO servem apenas para provas acadêmicas e não possuem aplicação prática nas empresas de TI.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5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/>
          <p:nvPr/>
        </p:nvSpPr>
        <p:spPr>
          <a:xfrm>
            <a:off x="457200" y="3657600"/>
            <a:ext cx="8229600" cy="1125601"/>
          </a:xfrm>
          <a:prstGeom prst="roundRect">
            <a:avLst>
              <a:gd fmla="val 8124" name="adj"/>
            </a:avLst>
          </a:prstGeom>
          <a:solidFill>
            <a:srgbClr val="FAC873">
              <a:alpha val="14902"/>
            </a:srgbClr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5"/>
          <p:cNvSpPr/>
          <p:nvPr/>
        </p:nvSpPr>
        <p:spPr>
          <a:xfrm>
            <a:off x="571500" y="380619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/>
          <p:nvPr/>
        </p:nvSpPr>
        <p:spPr>
          <a:xfrm>
            <a:off x="937260" y="3771900"/>
            <a:ext cx="763524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Por que é isso?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AC775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Normas garantem rastreabilidade, segurança jurídica, conformidade e integração entre fornecedores e clientes no mercado global.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5"/>
          <p:cNvSpPr/>
          <p:nvPr/>
        </p:nvSpPr>
        <p:spPr>
          <a:xfrm>
            <a:off x="6435090" y="24917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961ef90-1c08-4e79-a4ff-a220c171d4e2/img_b3964fcb004cd23d4f6311703768644e.png" id="166" name="Google Shape;16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1828800"/>
          </a:xfrm>
          <a:prstGeom prst="roundRect">
            <a:avLst>
              <a:gd fmla="val 7500" name="adj"/>
            </a:avLst>
          </a:prstGeom>
          <a:noFill/>
          <a:ln>
            <a:noFill/>
          </a:ln>
        </p:spPr>
      </p:pic>
      <p:sp>
        <p:nvSpPr>
          <p:cNvPr id="167" name="Google Shape;167;p16"/>
          <p:cNvSpPr/>
          <p:nvPr/>
        </p:nvSpPr>
        <p:spPr>
          <a:xfrm>
            <a:off x="285750" y="203454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Estrutura do Relatório Técnico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6"/>
          <p:cNvSpPr/>
          <p:nvPr/>
        </p:nvSpPr>
        <p:spPr>
          <a:xfrm>
            <a:off x="285750" y="2663190"/>
            <a:ext cx="8572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 relatório técnico formal documenta vistorias, ensaios ou resoluções de problemas. Segundo a norma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ABNT NBR 10719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, ele organiza-se em três partes: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Parte Pré-Textual: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Capa, folha de rosto, sumário e lista de ilustrações.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Parte Textual: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Introdução (contexto), desenvolvimento (metodologia e coleta de dados) e conclusão (recomendações).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Parte Pós-Textual: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Referências, glossário, apêndices e anexos comprobatórios.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961ef90-1c08-4e79-a4ff-a220c171d4e2/img_1510db6b6cdbc06dccd00000a0521b79.png" id="174" name="Google Shape;17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175" name="Google Shape;175;p1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Relatórios Operacionais de TI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285750" y="800100"/>
            <a:ext cx="4572000" cy="2107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No dia a dia do suporte e da infraestrutura, os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Relatórios de Incidentes (Post-Mortem)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são cruciais para a estabilidade dos serviços.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Eles devem descrever de forma analítica e objetiva: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Linha do tempo exata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do evento ocorrido.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Causa raiz comprovada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da falha.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Ações imediatas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adotadas para contenção.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Medidas preventivas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para evitar reincidência.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/>
          <p:nvPr/>
        </p:nvSpPr>
        <p:spPr>
          <a:xfrm>
            <a:off x="171450" y="91440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EB5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8"/>
          <p:cNvSpPr/>
          <p:nvPr/>
        </p:nvSpPr>
        <p:spPr>
          <a:xfrm>
            <a:off x="2377440" y="91440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EB5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4572000" y="91440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EB5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8"/>
          <p:cNvSpPr/>
          <p:nvPr/>
        </p:nvSpPr>
        <p:spPr>
          <a:xfrm>
            <a:off x="6777990" y="91440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EB5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Fluxo de Redação de um Relatório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285750" y="1371600"/>
            <a:ext cx="197739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Coleta de Dados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Reunir logs, medições e registros fáticos do evento.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2491740" y="1371600"/>
            <a:ext cx="197739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Análise e Triagem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Interpretar causas técnicas sem juízos de valor pessoal.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4686300" y="1371600"/>
            <a:ext cx="197739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Redação Técnica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Descrever métodos, fatos e evidências de forma impessoal.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6892290" y="1371600"/>
            <a:ext cx="197739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Parecer Final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Recomendar ações corretivas baseadas em evidências.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961ef90-1c08-4e79-a4ff-a220c171d4e2/img_1bde805810614cf41601073a36393b08.png" id="196" name="Google Shape;19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197" name="Google Shape;197;p1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Ata de Reunião: Conceito e Validade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285750" y="800100"/>
            <a:ext cx="457200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 ata é um documento legal que resume com fidelidade o ocorrido em uma sessão de trabalho.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Finalidade: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Registro oficial de acordos, prazos e responsabilidades do grupo.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Segurança jurídica: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Evita alterações e comprova deliberações em auditorias.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285750" y="3074670"/>
            <a:ext cx="4572000" cy="1380744"/>
          </a:xfrm>
          <a:prstGeom prst="roundRect">
            <a:avLst>
              <a:gd fmla="val 6623" name="adj"/>
            </a:avLst>
          </a:prstGeom>
          <a:solidFill>
            <a:srgbClr val="82B4EB">
              <a:alpha val="14902"/>
            </a:srgbClr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9"/>
          <p:cNvSpPr/>
          <p:nvPr/>
        </p:nvSpPr>
        <p:spPr>
          <a:xfrm>
            <a:off x="400050" y="322326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765810" y="3188970"/>
            <a:ext cx="3977640" cy="1152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B5D4F4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B5D4F4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A ata protege a equipe e garante transparência aos compromissos assumidos.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961ef90-1c08-4e79-a4ff-a220c171d4e2/img_a5403cc1ca161f0a7b2e1ebcc0d471eb.png" id="207" name="Google Shape;20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208" name="Google Shape;208;p20"/>
          <p:cNvSpPr/>
          <p:nvPr/>
        </p:nvSpPr>
        <p:spPr>
          <a:xfrm>
            <a:off x="3714750" y="171450"/>
            <a:ext cx="5143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Regras Gramaticais da Ata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3714750" y="800100"/>
            <a:ext cx="5143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Para evitar fraudes, a redação da ata exige regras rígidas: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Texto corrido: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Sem parágrafos soltos ou espaços em branco.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Verbos no pretérito perfeito: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"reuniram-se", "deliberou-se".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Números por extenso: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Datas, horários e valores devem ser escritos por extenso para impedir rasuras.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3714750" y="3634740"/>
            <a:ext cx="5143500" cy="1125601"/>
          </a:xfrm>
          <a:prstGeom prst="roundRect">
            <a:avLst>
              <a:gd fmla="val 8124" name="adj"/>
            </a:avLst>
          </a:prstGeom>
          <a:solidFill>
            <a:srgbClr val="F09696">
              <a:alpha val="14902"/>
            </a:srgbClr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3829050" y="378333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4194810" y="3749040"/>
            <a:ext cx="454914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7C1C1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Atenção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7C1C1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Em caso de erro na digitação de atas físicas, usa-se a expressão 'digo'.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Ordem dos Elementos na Ata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Ordene cronologicamente as seções essenciais presentes na estrutura formal de uma ata de reunião corporativa: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Encerramento formal da sessão, lavratura e assinaturas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Registro sucinto das discussões, votações e deliberações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Cabeçalho com data, horário, local e lista nominal de presentes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Abertura da sessão pelo presidente e leitura da pauta do dia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Ordem dos Elementos na Ata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Ordene cronologicamente as seções essenciais presentes na estrutura formal de uma ata de reunião corporativa: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Encerramento formal da sessão, lavratura e assinaturas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Registro sucinto das discussões, votações e deliberações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Cabeçalho com data, horário, local e lista nominal de presentes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Abertura da sessão pelo presidente e leitura da pauta do dia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7292340" y="15201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7292340" y="22631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7292340" y="30060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7292340" y="37490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961ef90-1c08-4e79-a4ff-a220c171d4e2/img_595f1db2c599d82d16c4bd3d7990cd5f.png" id="245" name="Google Shape;24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785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246" name="Google Shape;246;p23"/>
          <p:cNvSpPr/>
          <p:nvPr/>
        </p:nvSpPr>
        <p:spPr>
          <a:xfrm>
            <a:off x="285750" y="171450"/>
            <a:ext cx="514350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Memorando e Ofício: Comunicações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285750" y="1257300"/>
            <a:ext cx="5143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Instituições exigem canais formais de comunicação escrita: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Memorando: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Instrumento ágil e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interno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, usado entre departamentos de uma mesma empresa.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Ofício: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Instrumento formal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externo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, emitido para outras instituições, clientes ou fornecedores.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285750" y="3531870"/>
            <a:ext cx="5143500" cy="1380744"/>
          </a:xfrm>
          <a:prstGeom prst="roundRect">
            <a:avLst>
              <a:gd fmla="val 6623" name="adj"/>
            </a:avLst>
          </a:prstGeom>
          <a:solidFill>
            <a:srgbClr val="5AC8A5">
              <a:alpha val="14902"/>
            </a:srgbClr>
          </a:solidFill>
          <a:ln cap="flat" cmpd="sng" w="11425">
            <a:solidFill>
              <a:srgbClr val="084D3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3"/>
          <p:cNvSpPr/>
          <p:nvPr/>
        </p:nvSpPr>
        <p:spPr>
          <a:xfrm>
            <a:off x="400050" y="368046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765810" y="3646170"/>
            <a:ext cx="4549140" cy="1152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9FE1CB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9FE1CB"/>
                </a:solidFill>
                <a:latin typeface="Lexend"/>
                <a:ea typeface="Lexend"/>
                <a:cs typeface="Lexend"/>
                <a:sym typeface="Lexend"/>
              </a:rPr>
              <a:t>Exemplo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9FE1CB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9FE1CB"/>
                </a:solidFill>
                <a:latin typeface="Lexend"/>
                <a:ea typeface="Lexend"/>
                <a:cs typeface="Lexend"/>
                <a:sym typeface="Lexend"/>
              </a:rPr>
              <a:t>TI envia memorando ao RH pedindo equipamentos; diretoria envia ofício a órgãos externos.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4"/>
          <p:cNvSpPr/>
          <p:nvPr/>
        </p:nvSpPr>
        <p:spPr>
          <a:xfrm>
            <a:off x="285750" y="68580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Estrutura Padrão do Memorando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4"/>
          <p:cNvSpPr/>
          <p:nvPr/>
        </p:nvSpPr>
        <p:spPr>
          <a:xfrm>
            <a:off x="285750" y="1314450"/>
            <a:ext cx="419481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Cabeçalho e Identificação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Identificação do órgão expedidor e número de controle (ex.: Mem. TI 12/2025).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Indicação clara de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Destinatário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(cargo/setor) e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Remetente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Indicação precisa da data de expedição e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Assunto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sintético.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4"/>
          <p:cNvSpPr/>
          <p:nvPr/>
        </p:nvSpPr>
        <p:spPr>
          <a:xfrm>
            <a:off x="4652010" y="1314450"/>
            <a:ext cx="419481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Corpo e Fecho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Vocativo: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Adequado à hierarquia do receptor.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Texto: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Apresentação concisa da demanda, justificativa e prazos esperados.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Fecho: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Saudações protocolares (</a:t>
            </a:r>
            <a:r>
              <a:rPr b="0" i="1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Atenciosamente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ou </a:t>
            </a:r>
            <a:r>
              <a:rPr b="0" i="1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Respeitosamente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) seguidas de assinatura.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Comunicação Técnica em Vídeo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5"/>
          <p:cNvSpPr/>
          <p:nvPr/>
        </p:nvSpPr>
        <p:spPr>
          <a:xfrm>
            <a:off x="285750" y="800100"/>
            <a:ext cx="8572500" cy="379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Vídeo: padronização, clareza e impacto da redação técnica.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6" name="Google Shape;266;p25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63040" y="1360170"/>
            <a:ext cx="6217920" cy="34975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Associação de Documentos Corporativos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6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6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6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Memorando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6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Relatório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6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Ofício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6"/>
          <p:cNvSpPr/>
          <p:nvPr/>
        </p:nvSpPr>
        <p:spPr>
          <a:xfrm>
            <a:off x="3829050" y="13144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Comunicação externa formal enviada a órgãos públicos ou outras empresas.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6"/>
          <p:cNvSpPr/>
          <p:nvPr/>
        </p:nvSpPr>
        <p:spPr>
          <a:xfrm>
            <a:off x="3829050" y="22288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Documento detalhado que descreve o diagnóstico, fatos e dados de um projeto.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6"/>
          <p:cNvSpPr/>
          <p:nvPr/>
        </p:nvSpPr>
        <p:spPr>
          <a:xfrm>
            <a:off x="3829050" y="31432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Registro formal, contínuo e cronológico das decisões de uma reunião.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6"/>
          <p:cNvSpPr/>
          <p:nvPr/>
        </p:nvSpPr>
        <p:spPr>
          <a:xfrm>
            <a:off x="3829050" y="40576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Comunicação interna ágil e direta entre setores da mesma instituição.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Associação de Documentos Corporativos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7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7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7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Memorando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7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Relatório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7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Ofício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7"/>
          <p:cNvSpPr/>
          <p:nvPr/>
        </p:nvSpPr>
        <p:spPr>
          <a:xfrm>
            <a:off x="3829050" y="13144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Comunicação externa formal enviada a órgãos públicos ou outras empresas.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7"/>
          <p:cNvSpPr/>
          <p:nvPr/>
        </p:nvSpPr>
        <p:spPr>
          <a:xfrm>
            <a:off x="3829050" y="22288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Documento detalhado que descreve o diagnóstico, fatos e dados de um projeto.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7"/>
          <p:cNvSpPr/>
          <p:nvPr/>
        </p:nvSpPr>
        <p:spPr>
          <a:xfrm>
            <a:off x="3829050" y="31432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Registro formal, contínuo e cronológico das decisões de uma reunião.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7"/>
          <p:cNvSpPr/>
          <p:nvPr/>
        </p:nvSpPr>
        <p:spPr>
          <a:xfrm>
            <a:off x="3829050" y="40576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Comunicação interna ágil e direta entre setores da mesma instituição.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7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8" name="Google Shape;298;p27"/>
          <p:cNvCxnSpPr/>
          <p:nvPr/>
        </p:nvCxnSpPr>
        <p:spPr>
          <a:xfrm>
            <a:off x="2571750" y="1623060"/>
            <a:ext cx="994410" cy="1805940"/>
          </a:xfrm>
          <a:prstGeom prst="straightConnector1">
            <a:avLst/>
          </a:prstGeom>
          <a:noFill/>
          <a:ln cap="flat" cmpd="sng" w="285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9" name="Google Shape;299;p27"/>
          <p:cNvCxnSpPr/>
          <p:nvPr/>
        </p:nvCxnSpPr>
        <p:spPr>
          <a:xfrm>
            <a:off x="2571750" y="2537460"/>
            <a:ext cx="994410" cy="1805940"/>
          </a:xfrm>
          <a:prstGeom prst="straightConnector1">
            <a:avLst/>
          </a:prstGeom>
          <a:noFill/>
          <a:ln cap="flat" cmpd="sng" w="285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0" name="Google Shape;300;p27"/>
          <p:cNvCxnSpPr/>
          <p:nvPr/>
        </p:nvCxnSpPr>
        <p:spPr>
          <a:xfrm flipH="1" rot="10800000">
            <a:off x="2571750" y="2514600"/>
            <a:ext cx="994410" cy="937260"/>
          </a:xfrm>
          <a:prstGeom prst="straightConnector1">
            <a:avLst/>
          </a:prstGeom>
          <a:noFill/>
          <a:ln cap="flat" cmpd="sng" w="285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1" name="Google Shape;301;p27"/>
          <p:cNvCxnSpPr/>
          <p:nvPr/>
        </p:nvCxnSpPr>
        <p:spPr>
          <a:xfrm flipH="1" rot="10800000">
            <a:off x="2571750" y="1600200"/>
            <a:ext cx="994410" cy="2766060"/>
          </a:xfrm>
          <a:prstGeom prst="straightConnector1">
            <a:avLst/>
          </a:prstGeom>
          <a:noFill/>
          <a:ln cap="flat" cmpd="sng" w="285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2" name="Google Shape;302;p27"/>
          <p:cNvSpPr/>
          <p:nvPr/>
        </p:nvSpPr>
        <p:spPr>
          <a:xfrm>
            <a:off x="3394710" y="3257550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09E9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7"/>
          <p:cNvSpPr/>
          <p:nvPr/>
        </p:nvSpPr>
        <p:spPr>
          <a:xfrm>
            <a:off x="3394710" y="4171950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90368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7"/>
          <p:cNvSpPr/>
          <p:nvPr/>
        </p:nvSpPr>
        <p:spPr>
          <a:xfrm>
            <a:off x="3394710" y="2343150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68C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7"/>
          <p:cNvSpPr/>
          <p:nvPr/>
        </p:nvSpPr>
        <p:spPr>
          <a:xfrm>
            <a:off x="3394710" y="1428750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579A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961ef90-1c08-4e79-a4ff-a220c171d4e2/img_d9689ea7a308c2737a95ef4a375ecf69.png" id="311" name="Google Shape;31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312" name="Google Shape;312;p2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Técnicas de Síntese: Resumos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8"/>
          <p:cNvSpPr/>
          <p:nvPr/>
        </p:nvSpPr>
        <p:spPr>
          <a:xfrm>
            <a:off x="4286250" y="800100"/>
            <a:ext cx="4572000" cy="1531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 resumo técnico (conforme a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NBR 6028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) é a condensação fiel das ideias centrais de um documento extenso, sem a introdução de opiniões pessoais.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Resumo Indicativo: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Apenas aponta os tópicos abordados pelo documento, sem detalhar dados numéricos ou conclusões.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Resumo Informativo: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Apresenta objetivos, métodos, resultados e conclusões numéricas essenciais, permitindo ao leitor decidir sobre a leitura integral.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961ef90-1c08-4e79-a4ff-a220c171d4e2/img_2f22aaa043969731b568755d37611b28.png" id="319" name="Google Shape;31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0010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e961ef90-1c08-4e79-a4ff-a220c171d4e2/img_c0ea3cce924b7450ed8da88223f45fe0.png" id="320" name="Google Shape;320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010" y="80010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21" name="Google Shape;321;p2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Esquemas e Mapas Conceituais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9"/>
          <p:cNvSpPr/>
          <p:nvPr/>
        </p:nvSpPr>
        <p:spPr>
          <a:xfrm>
            <a:off x="285750" y="2994660"/>
            <a:ext cx="41948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Esquematização Visual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Transforma textos procedimentais em blocos visuais de fácil navegação, agilizando consultas técnicas.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9"/>
          <p:cNvSpPr/>
          <p:nvPr/>
        </p:nvSpPr>
        <p:spPr>
          <a:xfrm>
            <a:off x="4652010" y="2994660"/>
            <a:ext cx="419481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Benefícios Operacionais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Redução do tempo de leitura.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Identificação rápida de causa e efeito.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Agilidade no treinamento operacional.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961ef90-1c08-4e79-a4ff-a220c171d4e2/img_42f5a451830a565305fffc1b989d4873.png" id="329" name="Google Shape;32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785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330" name="Google Shape;330;p30"/>
          <p:cNvSpPr/>
          <p:nvPr/>
        </p:nvSpPr>
        <p:spPr>
          <a:xfrm>
            <a:off x="285750" y="171450"/>
            <a:ext cx="514350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Manuais e Procedimentos (SOP)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30"/>
          <p:cNvSpPr/>
          <p:nvPr/>
        </p:nvSpPr>
        <p:spPr>
          <a:xfrm>
            <a:off x="285750" y="1257300"/>
            <a:ext cx="514350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Procedimento Operacional Padrão (POP/SOP)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é o manual que dita o passo a passo de operações técnicas.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Estrutura: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Usa verbos no infinitivo ou imperativo (ex: </a:t>
            </a:r>
            <a:r>
              <a:rPr b="0" i="1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desconecte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b="0" i="1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configure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Segurança: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Destaca alertas críticos e EPIs obrigatórios antes de iniciar tarefas.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30"/>
          <p:cNvSpPr/>
          <p:nvPr/>
        </p:nvSpPr>
        <p:spPr>
          <a:xfrm>
            <a:off x="285750" y="3531870"/>
            <a:ext cx="5143500" cy="1380744"/>
          </a:xfrm>
          <a:prstGeom prst="roundRect">
            <a:avLst>
              <a:gd fmla="val 6623" name="adj"/>
            </a:avLst>
          </a:prstGeom>
          <a:solidFill>
            <a:srgbClr val="F09696">
              <a:alpha val="14902"/>
            </a:srgbClr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0"/>
          <p:cNvSpPr/>
          <p:nvPr/>
        </p:nvSpPr>
        <p:spPr>
          <a:xfrm>
            <a:off x="400050" y="368046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30"/>
          <p:cNvSpPr/>
          <p:nvPr/>
        </p:nvSpPr>
        <p:spPr>
          <a:xfrm>
            <a:off x="765810" y="3646170"/>
            <a:ext cx="4549140" cy="1152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7C1C1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Atenção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7C1C1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Não assuma conhecimento prévio: descreva cada etapa para que novatos executem sem desvios.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961ef90-1c08-4e79-a4ff-a220c171d4e2/img_de4267baa79218d0dc35041c04439ef4.png" id="340" name="Google Shape;34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341" name="Google Shape;341;p3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Ordem de Serviço (OS)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31"/>
          <p:cNvSpPr/>
          <p:nvPr/>
        </p:nvSpPr>
        <p:spPr>
          <a:xfrm>
            <a:off x="4286250" y="800100"/>
            <a:ext cx="4572000" cy="1819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Ordem de Serviço (OS)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é a formalização administrativa que autoriza e orienta a execução de um trabalho técnico de manutenção ou suporte.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Campos indispensáveis de uma OS eficaz: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Identificação do ativo: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Código patrimonial do equipamento ou máquina.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Descrição do chamado: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Sintomas reportados e severidade.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Registro de execução: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Materiais gastos, tempo despendido e técnico responsável.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Análise de Manuais e Procedimentos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2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Selecione as afirmativas que representam características verdadeiras de Procedimentos Operacionais Padrão (POP) e Ordens de Serviço: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2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2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Manuais técnicos devem usar metáforas literárias para tornar o texto mais descontraído.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2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2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Manuais operacionais utilizam comandos objetivos e verbos no imperativo ou infinitivo.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2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2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Ordem de Serviço formaliza o chamado, os insumos utilizados e a autoria do reparo.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2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2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Ordens de serviço dispensam a identificação do equipamento se o técnico já conhecer o cliente.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Análise de Manuais e Procedimentos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3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Selecione as afirmativas que representam características verdadeiras de Procedimentos Operacionais Padrão (POP) e Ordens de Serviço: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3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3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Manuais técnicos devem usar metáforas literárias para tornar o texto mais descontraído.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3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3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Manuais operacionais utilizam comandos objetivos e verbos no imperativo ou infinitivo.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3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3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Ordem de Serviço formaliza o chamado, os insumos utilizados e a autoria do reparo.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3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3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Ordens de serviço dispensam a identificação do equipamento se o técnico já conhecer o cliente.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3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3"/>
          <p:cNvSpPr/>
          <p:nvPr/>
        </p:nvSpPr>
        <p:spPr>
          <a:xfrm>
            <a:off x="8721090" y="23774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3"/>
          <p:cNvSpPr/>
          <p:nvPr/>
        </p:nvSpPr>
        <p:spPr>
          <a:xfrm>
            <a:off x="8721090" y="32346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4"/>
          <p:cNvSpPr/>
          <p:nvPr/>
        </p:nvSpPr>
        <p:spPr>
          <a:xfrm>
            <a:off x="285750" y="68580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Linguagem e Níveis de Fala em TI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4"/>
          <p:cNvSpPr/>
          <p:nvPr/>
        </p:nvSpPr>
        <p:spPr>
          <a:xfrm>
            <a:off x="285750" y="1314450"/>
            <a:ext cx="4194810" cy="32598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Jargão Interno vs. Linguagem Formal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Entre pares de desenvolvimento, jargões como </a:t>
            </a:r>
            <a:r>
              <a:rPr b="0" i="1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"fazer o deploy"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b="0" i="1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"dar commit"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ou </a:t>
            </a:r>
            <a:r>
              <a:rPr b="0" i="1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"abrir PR"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são ágeis e aceitáveis.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Contudo, ao redigir relatórios executivos para diretores ou clientes, essas expressões devem ser vertidas para a norma culta formal.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4"/>
          <p:cNvSpPr/>
          <p:nvPr/>
        </p:nvSpPr>
        <p:spPr>
          <a:xfrm>
            <a:off x="4652010" y="1314450"/>
            <a:ext cx="419481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Exemplo de Adequação ao Contexto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Jargão informal: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0" i="1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"Subimos a branch na sexta e deu pau geral no banco."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Redação empresarial: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0" i="1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"A publicação da atualização realizada na sexta-feira causou instabilidade no banco de dados, interrompendo consultas por 30 minutos."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961ef90-1c08-4e79-a4ff-a220c171d4e2/img_67c91d0a851aba0869d532d80d5b71f8.png" id="389" name="Google Shape;389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785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390" name="Google Shape;390;p35"/>
          <p:cNvSpPr/>
          <p:nvPr/>
        </p:nvSpPr>
        <p:spPr>
          <a:xfrm>
            <a:off x="285750" y="308610"/>
            <a:ext cx="514350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Erros Comuns na Escrita Técnica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5"/>
          <p:cNvSpPr/>
          <p:nvPr/>
        </p:nvSpPr>
        <p:spPr>
          <a:xfrm>
            <a:off x="285750" y="139446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Identificar falhas recorrentes eleva a qualidade: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Ambiguidade: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Frases com duplo sentido.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Prolixidade: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Excesso de palavras para ideias simples.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Juízos de valor: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Adjetivos emocionais como "terrível".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5"/>
          <p:cNvSpPr/>
          <p:nvPr/>
        </p:nvSpPr>
        <p:spPr>
          <a:xfrm>
            <a:off x="285750" y="3463290"/>
            <a:ext cx="5143500" cy="1125601"/>
          </a:xfrm>
          <a:prstGeom prst="roundRect">
            <a:avLst>
              <a:gd fmla="val 8124" name="adj"/>
            </a:avLst>
          </a:prstGeom>
          <a:solidFill>
            <a:srgbClr val="F09696">
              <a:alpha val="14902"/>
            </a:srgbClr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5"/>
          <p:cNvSpPr/>
          <p:nvPr/>
        </p:nvSpPr>
        <p:spPr>
          <a:xfrm>
            <a:off x="400050" y="361188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5"/>
          <p:cNvSpPr/>
          <p:nvPr/>
        </p:nvSpPr>
        <p:spPr>
          <a:xfrm>
            <a:off x="765810" y="3577590"/>
            <a:ext cx="454914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7C1C1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Atenção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7C1C1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Substitua adjetivos por métricas como latência ou custo.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961ef90-1c08-4e79-a4ff-a220c171d4e2/img_e55ecfe6702459449ae20917630e639d.png" id="400" name="Google Shape;400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914400"/>
            <a:ext cx="8572500" cy="2343150"/>
          </a:xfrm>
          <a:prstGeom prst="roundRect">
            <a:avLst>
              <a:gd fmla="val 5854" name="adj"/>
            </a:avLst>
          </a:prstGeom>
          <a:noFill/>
          <a:ln>
            <a:noFill/>
          </a:ln>
        </p:spPr>
      </p:pic>
      <p:sp>
        <p:nvSpPr>
          <p:cNvPr id="401" name="Google Shape;401;p3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Exercício de Reescrita Técnica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6"/>
          <p:cNvSpPr/>
          <p:nvPr/>
        </p:nvSpPr>
        <p:spPr>
          <a:xfrm>
            <a:off x="754380" y="1211580"/>
            <a:ext cx="74295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Para assegurar a qualidade do texto técnico, o redator deve manter a ____ na descrição dos dados, a ____ eliminando palavras supérfluas e a ____ ao evitar a primeira pessoa.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6"/>
          <p:cNvSpPr/>
          <p:nvPr/>
        </p:nvSpPr>
        <p:spPr>
          <a:xfrm>
            <a:off x="285750" y="3314700"/>
            <a:ext cx="8572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Banco de palavras 🏦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6"/>
          <p:cNvSpPr/>
          <p:nvPr/>
        </p:nvSpPr>
        <p:spPr>
          <a:xfrm>
            <a:off x="285750" y="3771900"/>
            <a:ext cx="193167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objetividade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6"/>
          <p:cNvSpPr/>
          <p:nvPr/>
        </p:nvSpPr>
        <p:spPr>
          <a:xfrm>
            <a:off x="2354580" y="3771900"/>
            <a:ext cx="219456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impessoalidade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6"/>
          <p:cNvSpPr/>
          <p:nvPr/>
        </p:nvSpPr>
        <p:spPr>
          <a:xfrm>
            <a:off x="4686300" y="3771900"/>
            <a:ext cx="180594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prolixidade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6"/>
          <p:cNvSpPr/>
          <p:nvPr/>
        </p:nvSpPr>
        <p:spPr>
          <a:xfrm>
            <a:off x="6629400" y="3771900"/>
            <a:ext cx="142875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concisão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6"/>
          <p:cNvSpPr/>
          <p:nvPr/>
        </p:nvSpPr>
        <p:spPr>
          <a:xfrm>
            <a:off x="285750" y="4320540"/>
            <a:ext cx="180594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ambiguidade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6"/>
          <p:cNvSpPr/>
          <p:nvPr/>
        </p:nvSpPr>
        <p:spPr>
          <a:xfrm>
            <a:off x="2228850" y="4320540"/>
            <a:ext cx="206883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subjetividade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961ef90-1c08-4e79-a4ff-a220c171d4e2/img_e55ecfe6702459449ae20917630e639d.png" id="415" name="Google Shape;415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914400"/>
            <a:ext cx="8572500" cy="2343150"/>
          </a:xfrm>
          <a:prstGeom prst="roundRect">
            <a:avLst>
              <a:gd fmla="val 5854" name="adj"/>
            </a:avLst>
          </a:prstGeom>
          <a:noFill/>
          <a:ln>
            <a:noFill/>
          </a:ln>
        </p:spPr>
      </p:pic>
      <p:sp>
        <p:nvSpPr>
          <p:cNvPr id="416" name="Google Shape;416;p3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Exercício de Reescrita Técnica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7"/>
          <p:cNvSpPr/>
          <p:nvPr/>
        </p:nvSpPr>
        <p:spPr>
          <a:xfrm>
            <a:off x="754380" y="1211580"/>
            <a:ext cx="74295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Para assegurar a qualidade do texto técnico, o redator deve manter a </a:t>
            </a:r>
            <a:r>
              <a:rPr b="1" i="0" lang="en-US" sz="1620" u="none" cap="none" strike="noStrike">
                <a:solidFill>
                  <a:srgbClr val="2C6E49"/>
                </a:solidFill>
                <a:latin typeface="Lexend"/>
                <a:ea typeface="Lexend"/>
                <a:cs typeface="Lexend"/>
                <a:sym typeface="Lexend"/>
              </a:rPr>
              <a:t>objetividade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na descrição dos dados, a </a:t>
            </a:r>
            <a:r>
              <a:rPr b="1" i="0" lang="en-US" sz="1620" u="none" cap="none" strike="noStrike">
                <a:solidFill>
                  <a:srgbClr val="2C6E49"/>
                </a:solidFill>
                <a:latin typeface="Lexend"/>
                <a:ea typeface="Lexend"/>
                <a:cs typeface="Lexend"/>
                <a:sym typeface="Lexend"/>
              </a:rPr>
              <a:t>concisão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eliminando palavras supérfluas e a </a:t>
            </a:r>
            <a:r>
              <a:rPr b="1" i="0" lang="en-US" sz="1620" u="none" cap="none" strike="noStrike">
                <a:solidFill>
                  <a:srgbClr val="2C6E49"/>
                </a:solidFill>
                <a:latin typeface="Lexend"/>
                <a:ea typeface="Lexend"/>
                <a:cs typeface="Lexend"/>
                <a:sym typeface="Lexend"/>
              </a:rPr>
              <a:t>impessoalidade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ao evitar a primeira pessoa.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7"/>
          <p:cNvSpPr/>
          <p:nvPr/>
        </p:nvSpPr>
        <p:spPr>
          <a:xfrm>
            <a:off x="285750" y="3314700"/>
            <a:ext cx="8572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Banco de palavras 🏦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7"/>
          <p:cNvSpPr/>
          <p:nvPr/>
        </p:nvSpPr>
        <p:spPr>
          <a:xfrm>
            <a:off x="285750" y="3771900"/>
            <a:ext cx="193167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objetividade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7"/>
          <p:cNvSpPr/>
          <p:nvPr/>
        </p:nvSpPr>
        <p:spPr>
          <a:xfrm>
            <a:off x="2354580" y="3771900"/>
            <a:ext cx="219456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impessoalidade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7"/>
          <p:cNvSpPr/>
          <p:nvPr/>
        </p:nvSpPr>
        <p:spPr>
          <a:xfrm>
            <a:off x="4686300" y="3771900"/>
            <a:ext cx="180594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676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67676"/>
                </a:solidFill>
                <a:latin typeface="Lexend"/>
                <a:ea typeface="Lexend"/>
                <a:cs typeface="Lexend"/>
                <a:sym typeface="Lexend"/>
              </a:rPr>
              <a:t>prolixidade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7"/>
          <p:cNvSpPr/>
          <p:nvPr/>
        </p:nvSpPr>
        <p:spPr>
          <a:xfrm>
            <a:off x="6629400" y="3771900"/>
            <a:ext cx="142875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concisão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7"/>
          <p:cNvSpPr/>
          <p:nvPr/>
        </p:nvSpPr>
        <p:spPr>
          <a:xfrm>
            <a:off x="285750" y="4320540"/>
            <a:ext cx="180594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676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67676"/>
                </a:solidFill>
                <a:latin typeface="Lexend"/>
                <a:ea typeface="Lexend"/>
                <a:cs typeface="Lexend"/>
                <a:sym typeface="Lexend"/>
              </a:rPr>
              <a:t>ambiguidade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7"/>
          <p:cNvSpPr/>
          <p:nvPr/>
        </p:nvSpPr>
        <p:spPr>
          <a:xfrm>
            <a:off x="2228850" y="4320540"/>
            <a:ext cx="206883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676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67676"/>
                </a:solidFill>
                <a:latin typeface="Lexend"/>
                <a:ea typeface="Lexend"/>
                <a:cs typeface="Lexend"/>
                <a:sym typeface="Lexend"/>
              </a:rPr>
              <a:t>subjetividade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7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8"/>
          <p:cNvSpPr/>
          <p:nvPr/>
        </p:nvSpPr>
        <p:spPr>
          <a:xfrm>
            <a:off x="285750" y="29718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Antes e Depois: Reescrita na Prática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8"/>
          <p:cNvSpPr/>
          <p:nvPr/>
        </p:nvSpPr>
        <p:spPr>
          <a:xfrm>
            <a:off x="285750" y="925830"/>
            <a:ext cx="4194810" cy="2214626"/>
          </a:xfrm>
          <a:prstGeom prst="roundRect">
            <a:avLst>
              <a:gd fmla="val 4129" name="adj"/>
            </a:avLst>
          </a:prstGeom>
          <a:solidFill>
            <a:srgbClr val="F09696">
              <a:alpha val="14902"/>
            </a:srgbClr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38"/>
          <p:cNvSpPr/>
          <p:nvPr/>
        </p:nvSpPr>
        <p:spPr>
          <a:xfrm>
            <a:off x="400050" y="107442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8"/>
          <p:cNvSpPr/>
          <p:nvPr/>
        </p:nvSpPr>
        <p:spPr>
          <a:xfrm>
            <a:off x="765810" y="1040130"/>
            <a:ext cx="3600450" cy="1986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7C1C1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Atenção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7C1C1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Versão Problemática: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F7C1C1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"Achamos que o computador do laboratório queimou porque o aluno ligou errado na tomada de 220V sem querer, fazendo uma fumaça horrível ontem de manhã."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8"/>
          <p:cNvSpPr/>
          <p:nvPr/>
        </p:nvSpPr>
        <p:spPr>
          <a:xfrm>
            <a:off x="285750" y="3257550"/>
            <a:ext cx="419481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Falhas: Pessoal (</a:t>
            </a:r>
            <a:r>
              <a:rPr b="0" i="1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Achamos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), impreciso (</a:t>
            </a:r>
            <a:r>
              <a:rPr b="0" i="1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ligou errado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), emotivo (</a:t>
            </a:r>
            <a:r>
              <a:rPr b="0" i="1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fumaça horrível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) e sem identificação técnica do patrimônio.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8"/>
          <p:cNvSpPr/>
          <p:nvPr/>
        </p:nvSpPr>
        <p:spPr>
          <a:xfrm>
            <a:off x="4652010" y="925830"/>
            <a:ext cx="4194810" cy="2469769"/>
          </a:xfrm>
          <a:prstGeom prst="roundRect">
            <a:avLst>
              <a:gd fmla="val 3702" name="adj"/>
            </a:avLst>
          </a:prstGeom>
          <a:solidFill>
            <a:srgbClr val="FAC873">
              <a:alpha val="14902"/>
            </a:srgbClr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8"/>
          <p:cNvSpPr/>
          <p:nvPr/>
        </p:nvSpPr>
        <p:spPr>
          <a:xfrm>
            <a:off x="4766310" y="107442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8"/>
          <p:cNvSpPr/>
          <p:nvPr/>
        </p:nvSpPr>
        <p:spPr>
          <a:xfrm>
            <a:off x="5132070" y="1040130"/>
            <a:ext cx="3600450" cy="2241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AC775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Ponto-chave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AC775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Versão Técnica e Profissional: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FAC775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"Constatou-se a avaria na fonte de alimentação do computador LAB-04 em 12/03 às 08h30, ocasionada pela conexão inadequada em rede elétrica de 220V com seletor em 110V."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8"/>
          <p:cNvSpPr/>
          <p:nvPr/>
        </p:nvSpPr>
        <p:spPr>
          <a:xfrm>
            <a:off x="4652010" y="3520440"/>
            <a:ext cx="419481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Acertos: Impessoal, exato, quantitativo e focado nos fatos auditáveis.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961ef90-1c08-4e79-a4ff-a220c171d4e2/img_1e53a77585b8c6bfc00597669686c52a.png" id="445" name="Google Shape;445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1828800"/>
          </a:xfrm>
          <a:prstGeom prst="roundRect">
            <a:avLst>
              <a:gd fmla="val 7500" name="adj"/>
            </a:avLst>
          </a:prstGeom>
          <a:noFill/>
          <a:ln>
            <a:noFill/>
          </a:ln>
        </p:spPr>
      </p:pic>
      <p:sp>
        <p:nvSpPr>
          <p:cNvPr id="446" name="Google Shape;446;p39"/>
          <p:cNvSpPr/>
          <p:nvPr/>
        </p:nvSpPr>
        <p:spPr>
          <a:xfrm>
            <a:off x="285750" y="212598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Cenário Simulado: O Incidente de TI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9"/>
          <p:cNvSpPr/>
          <p:nvPr/>
        </p:nvSpPr>
        <p:spPr>
          <a:xfrm>
            <a:off x="285750" y="2754630"/>
            <a:ext cx="8572500" cy="1819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Considere a situação hipotética para elaboração do relatório: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1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"Ontem, 14 de maio, às 10h15, o servidor principal do ERP da fábrica parou de responder durante o fechamento de faturamento. A equipe de suporte verificou saturação de memória RAM causada por um script de backup mal programado. O script foi cancelado às 10h40 e o serviço foi restabelecido às 10h50, gerando 35 minutos de indisponibilidade total e represando 120 pedidos."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961ef90-1c08-4e79-a4ff-a220c171d4e2/img_b8e2e30cbb6ba10a8acb00af0ff4be05.png" id="453" name="Google Shape;453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oundRect">
            <a:avLst>
              <a:gd fmla="val 2667" name="adj"/>
            </a:avLst>
          </a:prstGeom>
          <a:noFill/>
          <a:ln>
            <a:noFill/>
          </a:ln>
        </p:spPr>
      </p:pic>
      <p:sp>
        <p:nvSpPr>
          <p:cNvPr id="454" name="Google Shape;454;p4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Produção Prática de Relatório Técnico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40"/>
          <p:cNvSpPr/>
          <p:nvPr/>
        </p:nvSpPr>
        <p:spPr>
          <a:xfrm>
            <a:off x="1485900" y="1714500"/>
            <a:ext cx="640080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-228600" lvl="0" marL="22860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Sistema: Vendas; Horário: 10h-12h30.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Diagnóstico: Falha no banco por falta de RAM.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Impacto: 150 min fora; 450 pedidos perdidos.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Ação: Escalonar recursos e otimizar SQL.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961ef90-1c08-4e79-a4ff-a220c171d4e2/img_62e7c6f31933bd44b8df85ea6b21d551.png" id="461" name="Google Shape;461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462" name="Google Shape;462;p4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Síntese dos Conceitos Aprendidos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41"/>
          <p:cNvSpPr/>
          <p:nvPr/>
        </p:nvSpPr>
        <p:spPr>
          <a:xfrm>
            <a:off x="285750" y="800100"/>
            <a:ext cx="45720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Fundamentos da redação técnica: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Ata: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Registro de decisões em reuniões.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Memorando: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Comunicação interna ágil.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Relatório: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Diagnóstico com dados fáticos.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Padronização: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ABNT/ISO garantem credibilidade.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41"/>
          <p:cNvSpPr/>
          <p:nvPr/>
        </p:nvSpPr>
        <p:spPr>
          <a:xfrm>
            <a:off x="285750" y="2926080"/>
            <a:ext cx="4572000" cy="1125601"/>
          </a:xfrm>
          <a:prstGeom prst="roundRect">
            <a:avLst>
              <a:gd fmla="val 8124" name="adj"/>
            </a:avLst>
          </a:prstGeom>
          <a:solidFill>
            <a:srgbClr val="82B4EB">
              <a:alpha val="14902"/>
            </a:srgbClr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41"/>
          <p:cNvSpPr/>
          <p:nvPr/>
        </p:nvSpPr>
        <p:spPr>
          <a:xfrm>
            <a:off x="400050" y="307467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41"/>
          <p:cNvSpPr/>
          <p:nvPr/>
        </p:nvSpPr>
        <p:spPr>
          <a:xfrm>
            <a:off x="765810" y="3040380"/>
            <a:ext cx="397764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B5D4F4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B5D4F4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Precisão técnica evita falhas e resguarda profissionais.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961ef90-1c08-4e79-a4ff-a220c171d4e2/img_74db676abbf9321227487417a15623c8.png" id="472" name="Google Shape;472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49490" y="-91440"/>
            <a:ext cx="1828800" cy="1828800"/>
          </a:xfrm>
          <a:prstGeom prst="roundRect">
            <a:avLst>
              <a:gd fmla="val 7500" name="adj"/>
            </a:avLst>
          </a:prstGeom>
          <a:noFill/>
          <a:ln>
            <a:noFill/>
          </a:ln>
        </p:spPr>
      </p:pic>
      <p:sp>
        <p:nvSpPr>
          <p:cNvPr id="473" name="Google Shape;473;p4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Desafio Final de Fixação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42"/>
          <p:cNvSpPr/>
          <p:nvPr/>
        </p:nvSpPr>
        <p:spPr>
          <a:xfrm>
            <a:off x="285750" y="1143000"/>
            <a:ext cx="8572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Pergunta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Qual documento corporativo é empregado para comunicação estritamente interna entre setores de uma empresa?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42"/>
          <p:cNvSpPr/>
          <p:nvPr/>
        </p:nvSpPr>
        <p:spPr>
          <a:xfrm>
            <a:off x="285750" y="2286000"/>
            <a:ext cx="8572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Pergunta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Qual característica linguística impede o uso de expressões como 'eu acho' e 'na minha opinião' em relatórios?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42"/>
          <p:cNvSpPr/>
          <p:nvPr/>
        </p:nvSpPr>
        <p:spPr>
          <a:xfrm>
            <a:off x="285750" y="3429000"/>
            <a:ext cx="8572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Pergunta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Qual é a principal norma brasileira que regulamenta a apresentação de trabalhos técnicos e relatórios?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Desafio Final de Fixação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43"/>
          <p:cNvSpPr/>
          <p:nvPr/>
        </p:nvSpPr>
        <p:spPr>
          <a:xfrm>
            <a:off x="285750" y="11430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Resposta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Memorando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43"/>
          <p:cNvSpPr/>
          <p:nvPr/>
        </p:nvSpPr>
        <p:spPr>
          <a:xfrm>
            <a:off x="285750" y="22860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Resposta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Impessoalidade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43"/>
          <p:cNvSpPr/>
          <p:nvPr/>
        </p:nvSpPr>
        <p:spPr>
          <a:xfrm>
            <a:off x="285750" y="34290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Resposta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ABNT NBR 14724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43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961ef90-1c08-4e79-a4ff-a220c171d4e2/img_88f2cf22d50efe57d124336ea25cb3a9.png" id="492" name="Google Shape;492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oundRect">
            <a:avLst>
              <a:gd fmla="val 3183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e961ef90-1c08-4e79-a4ff-a220c171d4e2/img_326d65b90c8fca83e0eaee4ffef4c664.png" id="493" name="Google Shape;493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3020" y="1657350"/>
            <a:ext cx="2834640" cy="2194560"/>
          </a:xfrm>
          <a:prstGeom prst="roundRect">
            <a:avLst>
              <a:gd fmla="val 6250" name="adj"/>
            </a:avLst>
          </a:prstGeom>
          <a:noFill/>
          <a:ln>
            <a:noFill/>
          </a:ln>
        </p:spPr>
      </p:pic>
      <p:sp>
        <p:nvSpPr>
          <p:cNvPr id="494" name="Google Shape;494;p4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Debate: Clareza e Responsabilidade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44"/>
          <p:cNvSpPr/>
          <p:nvPr/>
        </p:nvSpPr>
        <p:spPr>
          <a:xfrm>
            <a:off x="4297680" y="1828800"/>
            <a:ext cx="37261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 um erro de redação em uma Ordem de Serviço ocasionar a queima de um equipamento de alta tensão ou a perda de dados sigilosos da empresa, de quem é a responsabilidade técnica e legal: de quem redigiu a instrução incorreta ou do operador que a executou?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961ef90-1c08-4e79-a4ff-a220c171d4e2/img_88f2cf22d50efe57d124336ea25cb3a9.png" id="501" name="Google Shape;501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oundRect">
            <a:avLst>
              <a:gd fmla="val 3183" name="adj"/>
            </a:avLst>
          </a:prstGeom>
          <a:noFill/>
          <a:ln>
            <a:noFill/>
          </a:ln>
        </p:spPr>
      </p:pic>
      <p:sp>
        <p:nvSpPr>
          <p:cNvPr id="502" name="Google Shape;502;p4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Debate: Clareza e Responsabilidade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45"/>
          <p:cNvSpPr/>
          <p:nvPr/>
        </p:nvSpPr>
        <p:spPr>
          <a:xfrm>
            <a:off x="982980" y="1657350"/>
            <a:ext cx="70408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Você poderia ter dito...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responsabilidade é compartilhada conforme normas de auditoria: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Quem redigiu responde pela falha na instrução técnica.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Operador e supervisor respondem pela execução sem checagem.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45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