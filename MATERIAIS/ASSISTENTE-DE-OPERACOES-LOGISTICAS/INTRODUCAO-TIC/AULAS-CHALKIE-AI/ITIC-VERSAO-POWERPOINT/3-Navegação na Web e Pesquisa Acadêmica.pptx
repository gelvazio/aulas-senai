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6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78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54.png"/><Relationship Id="rId5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7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51.png"/><Relationship Id="rId5" Type="http://schemas.openxmlformats.org/officeDocument/2006/relationships/image" Target="../media/image58.png"/><Relationship Id="rId6" Type="http://schemas.openxmlformats.org/officeDocument/2006/relationships/image" Target="../media/image45.png"/><Relationship Id="rId7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6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hyperlink" Target="http://www.youtube.com/watch?v=7pdY59Tv6B0" TargetMode="External"/><Relationship Id="rId5" Type="http://schemas.openxmlformats.org/officeDocument/2006/relationships/image" Target="../media/image8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7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7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59.png"/><Relationship Id="rId5" Type="http://schemas.openxmlformats.org/officeDocument/2006/relationships/image" Target="../media/image7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7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68.png"/><Relationship Id="rId5" Type="http://schemas.openxmlformats.org/officeDocument/2006/relationships/image" Target="../media/image7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d200026aa817732bb26f0562a658513d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125730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Navegação na Web e Pesquisa Acadêmica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296037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Métodos estratégicos de busca, validação e integridade digital.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2c3fce396cc874bfd16e94f9299ea311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6687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Web Contém Tudo?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Milhões de páginas são publicadas diariamente, mas como você separa fatos confiáveis de dados manipulados em frações de segundo?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52f7d12aa62d5a8591302e5e9eed2287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286250" y="80010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aprenderemos hoje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Neste encontro, desenvolveremos competências essenciais para transformar navegação básica em pesquisa técnica: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Dominar operadores avançados em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motores de busca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critérios rigorosos de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checagem de fontes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Empregar normas de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direitos autorais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combate ao plágio.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a890734adae578bd25ab8763967b8f1a.png"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a2276d9b1586894c33536be20946f36e.png" id="41" name="Google Shape;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90e3ffd2abcceb76cceb5b02f2d87a1d.png" id="42" name="Google Shape;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555ad3c7415e491d986e66ec69bd2831.png" id="43" name="Google Shape;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Navegador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Software cliente que requisita, renderiza e exibe páginas da web.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Internet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Infraestrutura global de redes de computadores interconectadas.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Pesquisa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Processo sistemático e metódico de investigação e validação.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Plágio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Apropriação indevida de obra, conceito ou texto de terceiros.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705fd7cdbf18443b2480507d7aba31b7.png" id="54" name="Google Shape;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Hardware e Sistemas Operacionais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4286250" y="80010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Conexão com as Aulas Anteriores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Relembre a base: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hardware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processa dados e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sistema operacional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gerencia conexões e armazenamento. Sem drivers de rede ou RAM adequada, a navegação Web torna-se instável.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286250" y="275463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4400550" y="29032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4766310" y="286893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O navegador é um software executado sobre as instruções do sistema operacional.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Quiz de Revisão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componente gerencia o acesso das aplicações aos recursos de hardware e comunicação de rede?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Sistema Operacional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Memória ROM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Monitor de Vídeo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Barramento SATA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Quiz de Revisão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componente gerencia o acesso das aplicações aos recursos de hardware e comunicação de rede?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Sistema Operacional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Memória ROM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Monitor de Vídeo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Barramento SATA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705a86bf699584f6396263b6a573405c.png" id="97" name="Google Shape;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41c4fc745e6a57cc46283f1598c0c974.png" id="98" name="Google Shape;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99" name="Google Shape;99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Internet versus World Wide Web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Internet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Internet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a infraestrutura física global: cabos submarinos, roteadores, servidores e protocolos (TCP/IP) que conectam milhões de dispositivos entre si.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World Wide Web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WWW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um serviço de compartilhamento de documentos hipertexto (HTML, HTTP) que trafega sobre a Internet, criada por Tim Berners-Lee em 1989.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10fe5b827c1a8f76ccfb5f2042478057.png" id="107" name="Google Shape;1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285750" y="3851910"/>
            <a:ext cx="8572500" cy="22860"/>
          </a:xfrm>
          <a:prstGeom prst="roundRect">
            <a:avLst>
              <a:gd fmla="val 16667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1680210" y="370332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3497580" y="370332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5326380" y="370332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7143750" y="370332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Marcos da Conectividade Global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285750" y="4091940"/>
            <a:ext cx="310896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1969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Criação da ARPANET com arquitetura militar e acadêmica.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2103120" y="312039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1983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Adoção do protocolo padrão TCP/IP interconectando redes.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3931920" y="4091940"/>
            <a:ext cx="310896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1989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Invenção da World Wide Web no laboratório CERN.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5749290" y="312039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1993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Lançamento do navegador gráfico Mosaic para 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30254a6b35e4cf2796c80b5dc062c2d7.png" id="123" name="Google Shape;1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Como Funciona o Navegador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285750" y="868680"/>
            <a:ext cx="24460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ARQUITETURA DE REDE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285750" y="117729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navegador transforma códigos brutos em páginas visíveis e interativas.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Requisição HTTP/HTTPS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enviada ao servidor de destino.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Tradução DNS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que converte nomes legíveis em endereços IP.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Renderização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 códigos HTML, estilização CSS e scripts JS.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285750" y="376047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765810" y="387477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O motor de renderização converte texto e folhas de estilo na página final que você lê.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6a5593a54c13fc2112d9381eb6179a65.png" id="135" name="Google Shape;1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Recursos Avançados de Navegação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286250" y="868680"/>
            <a:ext cx="29032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CONFIGURAÇÕES TÉCNICAS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42862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Navegadores oferecem controle e proteção: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Cache: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armazena arquivos para carregamento veloz.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Cookies: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salvam preferências e logins.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Extensões: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bloqueiam scripts e gerenciam senhas.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4286250" y="324612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44005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4766310" y="33604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Limpar cookies e cache resolve erros e remove rastreadores.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0f1b9fb74d0a5a5ddd992332a09daa53.png" id="147" name="Google Shape;14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48" name="Google Shape;148;p14"/>
          <p:cNvSpPr/>
          <p:nvPr/>
        </p:nvSpPr>
        <p:spPr>
          <a:xfrm>
            <a:off x="285750" y="20574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Navegação Anônima e Rastreamento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85750" y="1291590"/>
            <a:ext cx="51435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a Janela Privada Realmente Faz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navegação anônima impede que histórico, formulários e cookies fiquem registrados no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armazenamento local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Contudo, ela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oculta seus passos. Provedores, administradores de rede e servidores continuam registrando seu IP.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285750" y="357759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400050" y="37261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765810" y="369189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Modo anônimo não garante invisibilidade nem substitui antivírus.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Mitos da Navegação Anônima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navegação em guia anônima garante anonimato absoluto contra monitoramento da rede escolar ou de empresas.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Mitos da Navegação Anônima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navegação em guia anônima garante anonimato absoluto contra monitoramento da rede escolar ou de empresas.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 guia anônima apenas não salva dados localmente, mantendo o tráfego visível para administradores da rede e provedores.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171450" y="197739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3108960" y="197739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035040" y="197739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Mecanismos dos Motores de Busca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85750" y="8001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Mecanismos como Google e Bing não pesquisam a Web inteira em tempo real no momento do clique, mas sim um catálogo gigantesco previamente estruturado em três fases fundamentais.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85750" y="243459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 Rastreamento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Robôs (spiders) percorrem links e coletam páginas ativas.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223260" y="243459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 Indexação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Conteúdos e palavras-chave são categorizados em base de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149340" y="243459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 Ranqueamento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Algoritmos ordenam resultados por autoridade e pertinência.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c5f292484a7cccda3f6daef651ba4c63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Operadores Booleanos de Busca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286250" y="868680"/>
            <a:ext cx="28803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ESTRATÉGIAS DE PESQUISA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2862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Operadores booleanos refinam pesquisas: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AND: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exige ambos os termos na página.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localiza qualquer termo indicado.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NOT (-):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exclui termos irrelevantes.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286250" y="274320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4400550" y="28917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766310" y="285750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Exemplo: robótica AND automação -brinquedos filtra resultados técnicos industriais.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bb7c1393208c55dbb4128943aeac7345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0" name="Google Shape;210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Operadores Avançados e Filtros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85750" y="868680"/>
            <a:ext cx="28803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ESTRATÉGIAS DE PESQUISA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Comandos diretos agilizam a recuperação de documentos especializados: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Aspas (" "):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busca a frase exata sem variações ortográficas.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site: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delimita a busca a um domínio ( ou 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filetype: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filtra extensões específicas ().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285750" y="35090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765810" y="36233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"indústria 4.0" site:gov.br filetype:pdf localiza relatórios técnicos oficiais em formato PDF.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e55ecfe6702459449ae20917630e639d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Sintaxe de Busca Avançada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encontrar relatórios oficiais em formato PDF publicados apenas por universidades, utiliza-se o operador ____ para limitar a extensão e ____ para o domínio acadêmico.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8575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url:pdf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72593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filetype:pdf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794760" y="3771900"/>
            <a:ext cx="21945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domain:.edu.br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12648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site:.edu.br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e55ecfe6702459449ae20917630e639d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235" name="Google Shape;235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Sintaxe de Busca Avançada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encontrar relatórios oficiais em formato PDF publicados apenas por universidades, utiliza-se o operador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filetype:pdf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limitar a extensão e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site:.edu.br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o domínio acadêmico.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8575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url:pdf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72593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filetype:pdf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794760" y="3771900"/>
            <a:ext cx="21945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domain:.edu.br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12648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site:.edu.br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4c1f06f8d96cf30137f9293f15740a4c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Repositórios de Pesquisa Acadêmica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285750" y="254889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 embasamento técnico rigoroso, buscadores comuns não bastam. Utilize bases de dados avaliadas por pares com publicações científicas confiáveis.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85750" y="33604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SciELO e Periódicos CAPES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Bases consagradas para literatura científica na América Latina e Brasil, com indexação rigorosa.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652010" y="33604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Google Acadêmico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Ferramenta que rastreia teses, livros didáticos e artigos técnicos com métricas de citação.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1bd300f34b4bdf2663ce3ac077d9c071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59" name="Google Shape;259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Critérios de Checagem: O Método CRAAP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286250" y="868680"/>
            <a:ext cx="24231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VALIDAÇÃO DE DADOS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 evitar dados obsoletos ou fraudulentos, utilize o teste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CRAAP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Atualidade (Currency):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quando o material foi publicado ou revisado?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Relevância (Relevance):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atende à complexidade do seu relatório?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Autoridade (Authority):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quem é o autor e qual sua filiação institucional?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Precisão e Propósito: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as fontes são comprovadas e há viés comercial?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618845608a3566b83d6ce412be44ce5b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68d82e1866e59f8b8303b155a7c815dc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69" name="Google Shape;269;p24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Avaliando Fontes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Fonte Confiável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Artigo com autoria declarada, filiação universitária, referências bibliográficas auditáveis e revisão cega por especialistas da área.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Fonte Duvidosa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Texto anônimo em blog comercial, excesso de anúncios invasivos, manchetes sensacionalistas e ausência de dados empíricos comprovados.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e67604eca199f7b38c035bda2cf91ca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Download e Armazenamento Seguro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85750" y="868680"/>
            <a:ext cx="31546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SEGURANÇA DA INFORMAÇÃO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2857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Baixar arquivos da rede exige cuidados: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Validação: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desconfie de ,  ou  disfarçados.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Antivírus: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analise downloads antes de abrir.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Organização: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use pastas com nomes semânticos.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285750" y="324612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765810" y="33604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arquivos com extensões duplas, como relatório.pdf.exe.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4d288dce8b53ca921e36d06626c39733.png" id="289" name="Google Shape;2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90" name="Google Shape;290;p26"/>
          <p:cNvSpPr/>
          <p:nvPr/>
        </p:nvSpPr>
        <p:spPr>
          <a:xfrm>
            <a:off x="3714750" y="24003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Direitos Autorais e a Lei 9.610/98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3714750" y="1394460"/>
            <a:ext cx="17830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DIREITO DIGITAL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3714750" y="1703070"/>
            <a:ext cx="51435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Toda criação intelectual — texto, código, imagem ou áudio — é protegida por lei. Estar disponível na Web não significa que o conteúdo seja de domínio público. Usar material protegido sem autorização viola a legislação autoral civil e penal.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3714750" y="353187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3829050" y="36804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4194810" y="364617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O autor possui direitos morais inalienáveis sobre sua produção.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c68e65211ba738cdb348154e6dd1b273.png" id="301" name="Google Shape;3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8b4ce152bd8efd42d18281bf511f73be.png" id="302" name="Google Shape;3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94dcdafafa71b385cd290f32f7ee5fec.png" id="303" name="Google Shape;30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51ee7437ea10098533e51a78af5a4648.png" id="304" name="Google Shape;30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305" name="Google Shape;305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Licenças Creative Commons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BY (Atribuição)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Sempre dê crédito ao autor original da obra.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NC (Não Comercial)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Uso e adaptação restritos a fins sem lucro.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ND (Sem Derivações)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Proíbe modificações; compartilhe a obra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SA (Compartilha Igual)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Obras derivadas devem usar a mesma licença.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f70021bc880d48b1b9d3684a43634ce4.png"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16" name="Google Shape;316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Combate ao Plágio Acadêmico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285750" y="868680"/>
            <a:ext cx="237744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INTEGRIDADE 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2857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Plágio vai além de copiar textos. Formas: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Plágio direto: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cópia literal sem fonte.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Plágio mosaico: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mistura trechos sem referências.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Paráfrase indevida: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reescrever ideias omitindo o autor.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285750" y="324612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765810" y="33604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Dados que não são de conhecimento geral ou sua autoria exigem citação.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/>
          <p:nvPr/>
        </p:nvSpPr>
        <p:spPr>
          <a:xfrm>
            <a:off x="285750" y="4000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Normas ABNT: Citação Correta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285750" y="1028700"/>
            <a:ext cx="419481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Citação Direta Curta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Transcreve exatamente as palavras do autor (até 3 linhas). Permanece incorporada no parágrafo, obrigatoriamente entre aspas duplas, seguida de autor, ano e página.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285750" y="2983230"/>
            <a:ext cx="4194810" cy="1125601"/>
          </a:xfrm>
          <a:prstGeom prst="roundRect">
            <a:avLst>
              <a:gd fmla="val 8124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/>
          <p:nvPr/>
        </p:nvSpPr>
        <p:spPr>
          <a:xfrm>
            <a:off x="400050" y="31318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765810" y="3097530"/>
            <a:ext cx="360045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"A informação é o combustível da indústria" (SILVA, 2023, p. 15).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52010" y="1028700"/>
            <a:ext cx="419481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Citação Indireta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Expressa a ideia do autor original com suas próprias palavras (paráfrase conceitual). Não utiliza aspas, mas exige indicar expressamente o autor e o ano da publicação.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4652010" y="2983230"/>
            <a:ext cx="419481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9"/>
          <p:cNvSpPr/>
          <p:nvPr/>
        </p:nvSpPr>
        <p:spPr>
          <a:xfrm>
            <a:off x="4766310" y="31318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5132070" y="309753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De acordo com Silva (2023), os fluxos de dados sustentam a produção.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Terminologia de Integridade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Paráfrase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 Público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Copyleft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Reescrita de texto com outras palavras preservando a citação do autor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Prática de permitir cópia e modificação mantendo a liberdade nas obras derivadas.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Obras sem exclusividade de direitos patrimoniais, de livre uso pela sociedade.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Reconhecimento explícito e formal da autoria original de uma obra ou ideia.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Terminologia de Integridade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Paráfrase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 Público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Copyleft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Reescrita de texto com outras palavras preservando a citação do autor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Prática de permitir cópia e modificação mantendo a liberdade nas obras derivadas.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Obras sem exclusividade de direitos patrimoniais, de livre uso pela sociedade.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Reconhecimento explícito e formal da autoria original de uma obra ou ideia.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31"/>
          <p:cNvCxnSpPr/>
          <p:nvPr/>
        </p:nvCxnSpPr>
        <p:spPr>
          <a:xfrm flipH="1" rot="10800000">
            <a:off x="2571750" y="16002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31"/>
          <p:cNvCxnSpPr/>
          <p:nvPr/>
        </p:nvCxnSpPr>
        <p:spPr>
          <a:xfrm>
            <a:off x="2571750" y="25374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31"/>
          <p:cNvCxnSpPr/>
          <p:nvPr/>
        </p:nvCxnSpPr>
        <p:spPr>
          <a:xfrm flipH="1" rot="10800000">
            <a:off x="2571750" y="2514600"/>
            <a:ext cx="994410" cy="93726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31"/>
          <p:cNvCxnSpPr/>
          <p:nvPr/>
        </p:nvCxnSpPr>
        <p:spPr>
          <a:xfrm flipH="1" rot="10800000">
            <a:off x="2571750" y="43434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31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397e0b40bfa96df45c57b7f002a92c48.png" id="380" name="Google Shape;38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81" name="Google Shape;381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Uso Aceitável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4286250" y="868680"/>
            <a:ext cx="31546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SEGURANÇA DA INFORMAÇÃO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Política de Uso Aceitável (PUA)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define normas para recursos de rede em ambientes corporativos: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Proibição de downloads de arquivos piratas ou softwares sem licença.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Monitoramento de tráfego para evitar vazamento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Uso estrito para atividades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2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Violar normas de TI pode resultar em demissão.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Vídeo: A Mecânica dos Algoritmos de Busca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Assista: entenda indexação, relevância e autoridade em motores de busca.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3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bac0628e4bd3fe174bd11112b4089bd5.png" id="400" name="Google Shape;4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01" name="Google Shape;401;p34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Curadoria de Conteúdos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85750" y="254889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curadoria é a habilidade de filtrar, validar, organizar e agregar valor aos materiais técnicos encontrados na Web para estudos e rotinas industriais.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285750" y="33604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Coleta e Triagem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Filtragem de teses, apostilas técnicas e manuais industriais descartando conteúdos superficiais ou duplicados.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4652010" y="33604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Síntese e Documentação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Criação de fichamentos e pastas temáticas estruturadas para consulta rápida de sua equipe técnica.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f2b06ad45eeb145c1e93d1a13d01b27d.png" id="410" name="Google Shape;4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11" name="Google Shape;411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Pesquisa em Tecnologias Emergentes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285750" y="868680"/>
            <a:ext cx="15659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INDÚSTRIA 4.0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Pesquisa industrial exige busca contínua por tecnologias em rápida evolução: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IoT: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sensores conectados em malha.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Manutenção Preditiva: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algoritmos de desgaste mecânico.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Gêmeos Digitais: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simulação virtual de fábricas.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285750" y="350901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5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765810" y="362331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Fontes confiáveis: normas ABNT, patentes INPI e artigos IEEE.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/>
          <p:nvPr/>
        </p:nvSpPr>
        <p:spPr>
          <a:xfrm>
            <a:off x="17145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237744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6"/>
          <p:cNvSpPr/>
          <p:nvPr/>
        </p:nvSpPr>
        <p:spPr>
          <a:xfrm>
            <a:off x="457200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6"/>
          <p:cNvSpPr/>
          <p:nvPr/>
        </p:nvSpPr>
        <p:spPr>
          <a:xfrm>
            <a:off x="677799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Roteiro para Síntese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Ao consolidar pesquisas técnicas, siga etapas sistemáticas para produzir documentos assertivos e bem fundamentados: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285750" y="218313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 Delimitação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Defina palavras-chave e escopo exato do problema técnico.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2491740" y="218313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 Extração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Colete artigos em repositórios confiáveis filtrando por data.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4686300" y="218313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 Cruzamento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Compare dados de pelo menos 3 fontes independentes.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6892290" y="218313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 Redação ABNT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Redija o relatório com citações diretas e referências completas.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do Fluxo de Pesquisa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os passos metodológicos de uma pesquisa técnica eficiente na Web: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palavras-chave e operadores booleanos de busca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Sintetizar o conteúdo citando as fontes conforme normas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Avaliar a credibilidade dos autores pelo método CRAAP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Filtrar resultados em repositórios acadêmicos e técnicos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do Fluxo de Pesquisa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os passos metodológicos de uma pesquisa técnica eficiente na Web: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palavras-chave e operadores booleanos de busca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Sintetizar o conteúdo citando as fontes conforme normas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Avaliar a credibilidade dos autores pelo método CRAAP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Filtrar resultados em repositórios acadêmicos e técnicos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88f2cf22d50efe57d124336ea25cb3a9.png" id="464" name="Google Shape;46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745053fdb4c7a7d7d1a57699dd7b3609.png" id="465" name="Google Shape;46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66" name="Google Shape;466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Dilema Ético na Empresa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estagiário de TI encontrou um script de automação pronto em um fórum e o implementou no servidor da empresa sem citar a fonte ou verificar a licença. Quais os riscos jurídicos e operacionais dessa conduta?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88f2cf22d50efe57d124336ea25cb3a9.png" id="473" name="Google Shape;47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74" name="Google Shape;474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Dilema Ético na Empresa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Violação de direitos autorais por uso corporativo não licenciado.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Riscos de segurança, vulnerabilidades e injeção de malware na rede.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rastreabilidade técnica em falhas que causem paradas.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Descumprimento da Política de Uso Aceitável e risco trabalhista.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85fc8e1085fc9cbd537acbd0c2be9ca1.png" id="482" name="Google Shape;48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83" name="Google Shape;483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Conceitos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4286250" y="868680"/>
            <a:ext cx="17602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CONSOLIDAÇÃO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Navegar profissionalmente exige método e ética: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Motores de busca respondem bem a operadores.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Repositórios e o teste CRAAP garantem autoridade.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conformidade legal protege sua reputação.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1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 qualidade do relatório depende de fontes confiáveis.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b8e2e30cbb6ba10a8acb00af0ff4be05.png"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fd73e8-f06e-4bcc-bdb8-76858be943fa/img_67fc8ae0019b83de3e9df30989704d4d.png" id="495" name="Google Shape;49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496" name="Google Shape;496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Exercício: Investigação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Busca: "IoT sensors" AND "automotive industry" filetype:pdf OR site:.edu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Fontes: IEEE Xplore (Acadêmica, 2023-24) e McKinsey (Consultoria, 2024).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Citação: Sensores IoT na manufatura automotiva otimizam a manutenção preditiva e a eficiência da linha de montagem (SILVA, 2023).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fd73e8-f06e-4bcc-bdb8-76858be943fa/img_846058352aab1f1d37953a12ced0d3f7.png" id="503" name="Google Shape;50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504" name="Google Shape;504;p43"/>
          <p:cNvSpPr/>
          <p:nvPr/>
        </p:nvSpPr>
        <p:spPr>
          <a:xfrm>
            <a:off x="285750" y="36576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Próximos Passos na Formação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3"/>
          <p:cNvSpPr/>
          <p:nvPr/>
        </p:nvSpPr>
        <p:spPr>
          <a:xfrm>
            <a:off x="285750" y="1520190"/>
            <a:ext cx="200025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CONEXÃO FUTURA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3"/>
          <p:cNvSpPr/>
          <p:nvPr/>
        </p:nvSpPr>
        <p:spPr>
          <a:xfrm>
            <a:off x="285750" y="1828800"/>
            <a:ext cx="51435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Dominada a metodologia de busca, avançaremos na produção técnica. Na próxima aula, estruturaremos relatórios e documentos usando processadores de texto com formatação avançada conforme normas industriais.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285750" y="340614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3"/>
          <p:cNvSpPr/>
          <p:nvPr/>
        </p:nvSpPr>
        <p:spPr>
          <a:xfrm>
            <a:off x="400050" y="35547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765810" y="352044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Dados pesquisados hoje serão insumos para os documentos que redigiremos.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