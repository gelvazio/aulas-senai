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4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4.png"/><Relationship Id="rId5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38.png"/><Relationship Id="rId5" Type="http://schemas.openxmlformats.org/officeDocument/2006/relationships/image" Target="../media/image33.png"/><Relationship Id="rId6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6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44.png"/><Relationship Id="rId5" Type="http://schemas.openxmlformats.org/officeDocument/2006/relationships/image" Target="../media/image7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hyperlink" Target="http://www.youtube.com/watch?v=LrAXqg6Xn_U" TargetMode="External"/><Relationship Id="rId5" Type="http://schemas.openxmlformats.org/officeDocument/2006/relationships/image" Target="../media/image5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4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46.png"/><Relationship Id="rId5" Type="http://schemas.openxmlformats.org/officeDocument/2006/relationships/image" Target="../media/image50.png"/><Relationship Id="rId6" Type="http://schemas.openxmlformats.org/officeDocument/2006/relationships/image" Target="../media/image58.png"/><Relationship Id="rId7" Type="http://schemas.openxmlformats.org/officeDocument/2006/relationships/image" Target="../media/image6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6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60.png"/><Relationship Id="rId5" Type="http://schemas.openxmlformats.org/officeDocument/2006/relationships/image" Target="../media/image7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7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8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64.png"/><Relationship Id="rId5" Type="http://schemas.openxmlformats.org/officeDocument/2006/relationships/image" Target="../media/image8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83.png"/><Relationship Id="rId5" Type="http://schemas.openxmlformats.org/officeDocument/2006/relationships/image" Target="../media/image8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67.png"/><Relationship Id="rId5" Type="http://schemas.openxmlformats.org/officeDocument/2006/relationships/image" Target="../media/image8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6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Relationship Id="rId4" Type="http://schemas.openxmlformats.org/officeDocument/2006/relationships/image" Target="../media/image7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9f3773d7172d498727f3c1426293cf1d.png" id="16" name="Google Shape;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914900" y="86868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Hardware, Periféricos e Sistemas Operacionais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914900" y="3086100"/>
            <a:ext cx="382905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Fundamentos da computação aplicada ao contexto profissional e técnico.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1956006e16d68fb5c028dd97dedb655a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85750" y="179451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Computador Como Canal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85750" y="242316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Como as partes físicas e lógicas cooperam para viabilizar a comunicação profissional sem ruídos?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f1c81785cf3ad21243881308981b5f80.png" id="32" name="Google Shape;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286250" y="868680"/>
            <a:ext cx="278892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METAS DE APRENDIZAGEM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Nesta aula, desenvolveremos competências técnicas essenciais: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Diferenciar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hardware, software e periféricos no ecossistema de TI.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Compreender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 papel mediador do Sistema Operacional.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Organizar e manter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arquivos, diretórios e hardware com segurança técnica.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91d7f67d6d3b8ad45aeec137a918c7cd.png" id="41" name="Google Shape;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Ponte com a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285750" y="868680"/>
            <a:ext cx="310896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RECAPITULAÇÃO CONCEITUAL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 aula anterior, estudamos os elementos centrais do ato comunicativo: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emissor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receptor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mensagem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canal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código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 ambiente corporativo digital, o computador atua diretamente como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canal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 transmissão e processamento.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285750" y="333756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400050" y="34861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765810" y="345186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Falhas em componentes físicos ou operacionais geram ruídos graves que interrompem a transmissão corporativa.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Diagnóstico de Pré-Requisitos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 um cabo de rede com mau contato distorce o envio de um relatório gerencial, que elemento da comunicação foi afetado?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feedback, que foi desativado automaticamente pelo sistema.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emissor, que redigiu incorretamente o relatório técnico.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código linguístico, que perdeu suas normas formais.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canal de transmissão, sofrendo interferência de ruído.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Diagnóstico de Pré-Requisitos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 um cabo de rede com mau contato distorce o envio de um relatório gerencial, que elemento da comunicação foi afetado?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feedback, que foi desativado automaticamente pelo sistema.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emissor, que redigiu incorretamente o relatório técnico.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código linguístico, que perdeu suas normas formais.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canal de transmissão, sofrendo interferência de ruído.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8376a0ef4509218470f0b3841f295cfe.png" id="85" name="Google Shape;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248890ebf1c1660a1166d7d108279718.png" id="86" name="Google Shape;8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8c49d3b8b242a80043e757ca6ad8b1bc.png" id="87" name="Google Shape;8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055591d4be519e21f7adfadf8734e14e.png" id="88" name="Google Shape;8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89" name="Google Shape;89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 Fundamental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Hardware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Estrutura física, peças, cabos e circuitos eletrônicos.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Software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Programas, instruções lógicas e dados executados pela CPU.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Periféricos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Aparelhos externos auxiliares para entrada/saída de 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Diretório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Estrutura lógica de pastas para catalogar arquivos.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8cfe7d81f32568fb84f399d013c3ce2c.png" id="99" name="Google Shape;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c0a444fbdd54726aaa75791268b260a8.png" id="100" name="Google Shape;10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1" name="Google Shape;101;p10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Hardware e Software Integrados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Hardware (O Corpo)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Compreende todos os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elementos tangíveis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 Sem comandos lógicos, permanece inerte, sendo a base física para a tensão elétrica e cálculo binário.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Software (A Mente)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Consiste em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instruções programadas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que orientam a máquina sobre o que fazer, processando informações e gerando resultados para os utilizadores.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b08c76cc70ab54dd1c583ed6b6747dc1.png" id="109" name="Google Shape;1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10" name="Google Shape;110;p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Máquina de Von Neumann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285750" y="868680"/>
            <a:ext cx="355473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ARQUITETURA DE COMPUTADORES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285750" y="117729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Proposta por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John von Neumann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em 1945, estabelece que dados e programas residem na mesma memória de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CPU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busca, decodifica e executa comandos.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Memória Principal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retém temporariamente instruções.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Barramentos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conduzem pulsos e sinais elétricos entre subsistemas.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9f6268704acdc5152ef53d9252b72935.png" id="118" name="Google Shape;1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19" name="Google Shape;119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Processador Central (CPU)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4286250" y="868680"/>
            <a:ext cx="22517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NÚCLEO DO SISTEMA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4286250" y="117729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CPU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o cérebro do PC. Funções: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ULA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cálculos e lógica.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UC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coordena instruções.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Registradores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memória ultrarrápida.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4286250" y="274320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AFAAEC">
              <a:alpha val="14902"/>
            </a:srgbClr>
          </a:solidFill>
          <a:ln cap="flat" cmpd="sng" w="11425">
            <a:solidFill>
              <a:srgbClr val="08044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2"/>
          <p:cNvSpPr/>
          <p:nvPr/>
        </p:nvSpPr>
        <p:spPr>
          <a:xfrm>
            <a:off x="4400550" y="28917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🤯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4766310" y="285750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CECBF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CECBF6"/>
                </a:solidFill>
                <a:latin typeface="Lexend"/>
                <a:ea typeface="Lexend"/>
                <a:cs typeface="Lexend"/>
                <a:sym typeface="Lexend"/>
              </a:rPr>
              <a:t>Curiosidade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CECBF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CECBF6"/>
                </a:solidFill>
                <a:latin typeface="Lexend"/>
                <a:ea typeface="Lexend"/>
                <a:cs typeface="Lexend"/>
                <a:sym typeface="Lexend"/>
              </a:rPr>
              <a:t>CPUs modernas realizam bilhões de operações/segundo via transistores nanométricos.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44dcd848fb4b82f514e716c9c202ba58.png" id="130" name="Google Shape;1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31" name="Google Shape;131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Memória RAM: Espaço 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285750" y="868680"/>
            <a:ext cx="219456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MEMÓRIA PRINCIPAL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285750" y="117729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Memória RAM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armazena dados de apps em uso.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Volatilidade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dados perdidos ao desligar.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Acesso Direto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leitura veloz em qualquer endereço.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Capacidade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medida em Gigabytes (GB).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285750" y="324612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400050" y="33947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765810" y="336042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Pouca RAM força uso de memória virtual em disco, reduzindo a velocidade do sistema.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3b0da1878555c85b6f019b1e53a5baef.png" id="142" name="Google Shape;1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43" name="Google Shape;143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Placa-Mãe: Comunicação Total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4286250" y="868680"/>
            <a:ext cx="217170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INTEGRAÇÃO FÍSICA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placa-mãe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motherboard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) interliga fisicamente todos os componentes do sistema através de barramentos e pistas elétricas.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Soquete do processador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fixação e conexão da CPU.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Slots de expansão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encaixes PCIe para placas de vídeo e rede.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Chipset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gerencia o tráfego de dados rápido e periférico.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d95d2f68fe0cec933c045b01912d553e.png" id="151" name="Google Shape;15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903bce471de411bf8ebd200477530629.png" id="152" name="Google Shape;15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53" name="Google Shape;153;p15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Armazenamento: HDD vs SSD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Disco Rígido (HDD)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Utiliza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pratos magnéticos móveis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 agulha leitora. Oferece custo menor por terabyte, porém maior lentidão e vulnerabilidade a impactos físicos.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Unidade Sólida (SSD)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Opera com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memória Flash NAND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sem peças mecânicas. Garante taxas de transferência até 10 vezes superiores, menor aquecimento e silêncio absoluto.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memória RAM armazena documentos e fotos permanentemente, mesmo quando o computador é desligado da tomada.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memória RAM armazena documentos e fotos permanentemente, mesmo quando o computador é desligado da tomada.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A RAM é volátil; o armazenamento permanente de dados cabe a discos HDD ou SSD.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d748b27c8947526db60d422aa8781b70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485900"/>
            <a:ext cx="270891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9d27ff875bae23e25ceba6d11a7c4c75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3260" y="914400"/>
            <a:ext cx="270891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40412078abf9b093d5624888e6908301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9340" y="1485900"/>
            <a:ext cx="270891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190" name="Google Shape;190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Classificação dos Periféricos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285750" y="3314700"/>
            <a:ext cx="270891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Dispositivos de Entrada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Enviam dados externos para processamento (teclado, mouse, scanner).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223260" y="2743200"/>
            <a:ext cx="270891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Dispositivos de Saída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Exibem ou convertem resultados ao usuário (monitores, caixas de som, impressoras).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149340" y="3314700"/>
            <a:ext cx="270891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Entrada e Saída (Híbridos)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Operam em duplo sentido (telas touch, pen drives, headsets).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e7d7d3d9c0ec1b7adba4332a56857edd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285750" y="17145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Barramentos e Conexões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85750" y="868680"/>
            <a:ext cx="229743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INTERCONECTIVIDADE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85750" y="117729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Os periféricos conectam-se por portas padronizadas que regulam tensão e transferência: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USB (Tipo A e C)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dados em alta velocidade e alimentação elétrica.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HDMI e DisplayPort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transmissão de vídeo e áudio digital.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RJ-45 (Ethernet)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tráfego veloz em redes locais corporativas.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285750" y="376047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400050" y="39090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765810" y="387477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Conexões universais simplificam o suporte de TI e evitam incompatibilidade de sinal.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Associação de Periféricos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Monitor LED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Scanner de Mesa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Pen Drive USB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Teclado ABNT2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Dispositivo de entrada com teclas alfanuméricas e símbolos.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Dispositivo de entrada que digitaliza documentos impressos.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Dispositivo de saída que emite sinal luminoso e visual.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Dispositivo de entrada e saída com memória Flash portátil.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Associação de Periféricos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Monitor LED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Scanner de Mesa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Pen Drive USB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Teclado ABNT2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Dispositivo de entrada com teclas alfanuméricas e símbolos.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Dispositivo de entrada que digitaliza documentos impressos.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Dispositivo de saída que emite sinal luminoso e visual.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Dispositivo de entrada e saída com memória Flash portátil.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>
            <a:off x="2571750" y="1623060"/>
            <a:ext cx="994410" cy="1805940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21"/>
          <p:cNvCxnSpPr/>
          <p:nvPr/>
        </p:nvCxnSpPr>
        <p:spPr>
          <a:xfrm flipH="1" rot="10800000">
            <a:off x="2571750" y="2514600"/>
            <a:ext cx="994410" cy="22860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21"/>
          <p:cNvCxnSpPr/>
          <p:nvPr/>
        </p:nvCxnSpPr>
        <p:spPr>
          <a:xfrm>
            <a:off x="2571750" y="3451860"/>
            <a:ext cx="994410" cy="891540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21"/>
          <p:cNvCxnSpPr/>
          <p:nvPr/>
        </p:nvCxnSpPr>
        <p:spPr>
          <a:xfrm flipH="1" rot="10800000">
            <a:off x="2571750" y="1600200"/>
            <a:ext cx="994410" cy="2766060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21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26043c3b6ae0f327fe01d74f06f263c9.png" id="250" name="Google Shape;2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51" name="Google Shape;251;p22"/>
          <p:cNvSpPr/>
          <p:nvPr/>
        </p:nvSpPr>
        <p:spPr>
          <a:xfrm>
            <a:off x="3714750" y="166878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Sistema Operacional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3714750" y="229743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Sem um Sistema Operacional, o computador mais veloz do mundo seria apenas uma caixa de metal sem utilidade prática.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e63599407b256eb277f200f723ce10a0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59" name="Google Shape;259;p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Papel Central do 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85750" y="868680"/>
            <a:ext cx="251460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SOFTWARE DE SISTEMA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285750" y="117729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Sistema Operacional (SO)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o software gestor que faz a mediação entre usuário, programas e circuitos físicos.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Gerenciamento de Processos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distribui tempo de CPU entre tarefas.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Gestão de Memória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aloca espaço de RAM de modo isolado.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Controle de Arquivos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protege e cataloga a gravação nos discos.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12625aaa5568e39953e2367fd7791ebc.png"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a043777e401d7324fb3de7dceeca5959.png" id="268" name="Google Shape;26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69" name="Google Shape;269;p24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Principais Sistemas do Mercado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Microsoft Windows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Padrão predominante em estações de trabalho administrativas e comerciais, com ampla compatibilidade de programas de escritório.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Distribuições Linux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Sistemas de código aberto como Ubuntu e Debian, essenciais em servidores corporativos, computação em nuvem e segurança digital.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7b09a24870bf3413bd70698410088734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78" name="Google Shape;278;p25"/>
          <p:cNvSpPr/>
          <p:nvPr/>
        </p:nvSpPr>
        <p:spPr>
          <a:xfrm>
            <a:off x="285750" y="36576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Interface Gráfica e Navegação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285750" y="1520190"/>
            <a:ext cx="280035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ERGONOMIA DE TRABALHO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285750" y="182880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GUI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Graphical User Interface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) converte linhas de comando complexas em janelas, ícones e menus intuitivos para o trabalhador.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Área de Trabalho (Desktop)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espaço visual principal para atalhos de rotina.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Barra de Tarefas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exibe aplicações abertas e bandeja do sistema com relógio e rede.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Menu Principal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catálogo completo de softwares instalados e configurações globais.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Como o SO Gerencia Recursos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120" y="800100"/>
            <a:ext cx="7212330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045ed81e1f773ab7c3aa0d9ec5c15bab.png" id="293" name="Google Shape;2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94" name="Google Shape;294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Estrutura de Diretórios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4286250" y="868680"/>
            <a:ext cx="274320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ORGANIZAÇÃO DE DADOS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Sistemas de arquivos organizam informações em uma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árvore hierárquica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Diretório Raiz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ponto de partida ( no Windows ou  no Linux).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Pastas e Subpastas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divisões lógicas temáticas para classificação.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Arquivos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unidades finais com nome, extensão e dados binários.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4286250" y="3760470"/>
            <a:ext cx="4572000" cy="870458"/>
          </a:xfrm>
          <a:prstGeom prst="roundRect">
            <a:avLst>
              <a:gd fmla="val 10505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4400550" y="39090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4766310" y="3874770"/>
            <a:ext cx="3977640" cy="641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Caminho padrão corporativo: 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45ed3404d64edb2d9d02ae4be16ea91f.png" id="305" name="Google Shape;3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06" name="Google Shape;306;p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Nomenclatura e Boas Práticas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285750" y="868680"/>
            <a:ext cx="24803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PADRÃO PROFISSIONAL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2857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Para recuperar documentos rapidamente, siga padrões técnicos de catalogação: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Evite acentos, espaços e caracteres especiais (, , , 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Use datação cronológica invertida ().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Mantenha controle de versões (, , 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285750" y="324612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8"/>
          <p:cNvSpPr/>
          <p:nvPr/>
        </p:nvSpPr>
        <p:spPr>
          <a:xfrm>
            <a:off x="400050" y="33947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765810" y="336042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Nomes genéricos como  geram perdas de tempo e erros.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dd977bd673df109f7004e0e07f7d14a6.png" id="317" name="Google Shape;31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eb79f98d406bccc78e20df2f059d5d70.png" id="318" name="Google Shape;31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8ed56e53724f9a0cc0f8c80beb381468.png" id="319" name="Google Shape;31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c1909d27608e4dbb1853208265f8934e.png" id="320" name="Google Shape;32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321" name="Google Shape;321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Extensões Comuns de Arquivo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PDF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Formato portátil inviolável para relatórios e leitura formal.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DOCX / ODT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Documentos de texto editáveis para redação profissional.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XLSX / ODS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Planilhas estruturadas para cálculos e controle financeiro.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ZIP / RAR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Pacotes compactados com múltiplos arquivos reduzidos.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d5a6db956dffb318518d2bb262f51ac7.png" id="331" name="Google Shape;33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Pesquisa Avançada no 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4286250" y="868680"/>
            <a:ext cx="268605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EFICIÊNCIA OPERACIONAL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Quando o volume de dados corporativos é extenso, localizar arquivos exige recursos avançados de filtragem no explorador do SO: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Curingas ()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pesquisar  encontra todos os relatórios em PDF.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Filtros por data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delimitar arquivos alterados na última semana.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Filtros por tamanho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isolar arquivos gigantes ().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28245cc60aa394403e2541072c0599b3.png" id="340" name="Google Shape;3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4a6c74143be8a3af1e0d27119f2c51e7.png" id="341" name="Google Shape;34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42" name="Google Shape;342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Compactação: Como Funciona?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Arquivos Originais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Ocupam grande espaço de armazenamento e exigem múltiplos envios separados, sobrecarregando caixas de e-mail e servidores corporativos.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Pacote ZIP / RAR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Algoritmos eliminam redundâncias matemáticas, reduzindo o tamanho em megabytes e unificando dezenas de pastas em um único arquivo portátil.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"/>
          <p:cNvSpPr/>
          <p:nvPr/>
        </p:nvSpPr>
        <p:spPr>
          <a:xfrm>
            <a:off x="17145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237744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457200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2"/>
          <p:cNvSpPr/>
          <p:nvPr/>
        </p:nvSpPr>
        <p:spPr>
          <a:xfrm>
            <a:off x="677799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Passos para Compactação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285750" y="137160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 Selecionar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Marque as pastas ou arquivos desejados no gerenciador do SO.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2491740" y="137160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 Menu de Contexto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Clique com o botão direito e escolha Compactar para ZIP.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4686300" y="137160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 Nomear o Pacote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Defina um nome técnico padronizado com data e assunto.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6892290" y="1371600"/>
            <a:ext cx="197739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 Extrair no Destino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 receptor, clique em Extrair Tudo para acessar os dados.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 de Compactação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é a sequência operacional correta para compactar e enviar um conjunto de relatórios por e-mail?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Acionar o menu de contexto e clicar em 'Compactar para arquivo ZIP'.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Selecionar todos os arquivos da pasta de relatórios.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Anexar o pacote ZIP reduzido à mensagem de correio eletrônico.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Renomear o arquivo gerado para 'Relatorios_2025.zip'.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 de Compactação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é a sequência operacional correta para compactar e enviar um conjunto de relatórios por e-mail?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Acionar o menu de contexto e clicar em 'Compactar para arquivo ZIP'.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Selecionar todos os arquivos da pasta de relatórios.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Anexar o pacote ZIP reduzido à mensagem de correio eletrônico.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Renomear o arquivo gerado para 'Relatorios_2025.zip'.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37ca783d3461a8704e7eb58330ae5f44.png" id="391" name="Google Shape;39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92" name="Google Shape;392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Diagnóstico Básico de Falhas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5"/>
          <p:cNvSpPr/>
          <p:nvPr/>
        </p:nvSpPr>
        <p:spPr>
          <a:xfrm>
            <a:off x="285750" y="868680"/>
            <a:ext cx="23545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SUPORTE PREVENTIVO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285750" y="117729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Saber reconhecer os sintomas mais comuns de falha no computador evita paradas produtivas graves: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Superaquecimento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ventoinhas ruidosas, travamentos súbitos sob carga.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Falhas de memória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telas azuis repentinas e reinicializações forçadas.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Corrupção em disco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lentidão extrema ao abrir pastas ou salvar arquivos.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0fc8745af8fd4f151a860adc794d2a70.png" id="400" name="Google Shape;40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01" name="Google Shape;401;p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Manutenção Preventiva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4286250" y="868680"/>
            <a:ext cx="28232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BOAS PRÁTICAS TÉCNICAS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Rotinas de conservação evitam danos e custos extras: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Limpeza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previne estresse térmico em ventoinhas.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Fluxo de ar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mantenha gabinetes em locais abertos.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Proteção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use nobreaks ou filtros certificados.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4286250" y="376047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6"/>
          <p:cNvSpPr/>
          <p:nvPr/>
        </p:nvSpPr>
        <p:spPr>
          <a:xfrm>
            <a:off x="4400550" y="39090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4766310" y="387477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Evite panos úmidos ou químicos em circuitos eletrônicos.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b8e2e30cbb6ba10a8acb00af0ff4be05.png" id="412" name="Google Shape;4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f6daf38b5b1abac1fe77e5ac954a7064.png" id="413" name="Google Shape;41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414" name="Google Shape;414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Prática: Auditoria de Diretórios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7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seu computador corporativo: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Estrutura: Crie 3 pastas com subpastas.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Renomeação: Padronize arquivos (ex: AAAA-MM-DD_Projeto_Nome).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Arquivamento: Compacte itens em pasta zipada.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db8f688f2bd7e8c374bda92d4b32516f.png" id="421" name="Google Shape;42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24e2ababa613dbbe3013a74122797840.png" id="422" name="Google Shape;42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23" name="Google Shape;423;p38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Segurança e Proteção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Rotina de Backup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Mantenha cópias periódicas de arquivos vitais em discos externos ou nuvem para evitar perda irrecuperável por pane física ou ataque cibernético.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Permissões e Perfis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 ambiente de trabalho, contas de usuário com privilégios limitados protegem arquivos de sistema contra exclusões acidentais ou malware.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88f2cf22d50efe57d124336ea25cb3a9.png" id="431" name="Google Shape;43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7424551/backend/storage/app/render-specs/78f7502f-7b57-4a3f-8f83-7bc6f34c8308/img_fb60a11b6d195783c82e41a9ac421f9b.png" id="432" name="Google Shape;43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433" name="Google Shape;433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Dilema Técnico e Produtivo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9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colega de trabalho insiste em salvar todos os relatórios diretamente na Área de Trabalho e nunca compacta arquivos antes de enviá-los por e-mail. Que impactos operacionais, éticos e de segurança essa postura causa à organização?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88f2cf22d50efe57d124336ea25cb3a9.png" id="440" name="Google Shape;44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441" name="Google Shape;441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Dilema Técnico e Produtivo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0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Lentidão na inicialização do sistema e poluição visual.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Risco de perda de arquivos críticos sem histórico de versão.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Sobrecarga nos limites de tráfego de e-mail e servidores.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Falta de profissionalismo e dificuldade para substituições no time.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74db676abbf9321227487417a15623c8.png" id="449" name="Google Shape;44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50" name="Google Shape;450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Avaliação de Síntese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1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componente executa os cálculos e processa as instruções dos programas?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1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a principal vantagem de velocidade de um SSD em relação a um HDD mecânico?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1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 que o Sistema Operacional é essencial para os aplicativos do usuário?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Avaliação de Síntese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2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processador (CPU - Unidade Central de Processamento).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2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SSD utiliza memória Flash eletrônica sem peças móveis, permitindo leitura e escrita ultrarrápidas.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2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Porque ele gerencia o hardware (CPU, memória, discos) e fornece a interface para execução dos programas.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7424551/backend/storage/app/render-specs/78f7502f-7b57-4a3f-8f83-7bc6f34c8308/img_53e5de1a27aee587ff8c033b06d77222.png" id="469" name="Google Shape;46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70" name="Google Shape;470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Síntese e Próximos Passos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3"/>
          <p:cNvSpPr/>
          <p:nvPr/>
        </p:nvSpPr>
        <p:spPr>
          <a:xfrm>
            <a:off x="285750" y="868680"/>
            <a:ext cx="244602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FECHAMENTO DA AULA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3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Dominar hardware, periféricos e sistemas operacionais garante produtividade e rigor técnico no mercado de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 próxima aula, exploraremos 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Internet, Navegadores Web e Protocolos de Comunicação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conectando nossa máquina às redes globais.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3"/>
          <p:cNvSpPr/>
          <p:nvPr/>
        </p:nvSpPr>
        <p:spPr>
          <a:xfrm>
            <a:off x="285750" y="333756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3"/>
          <p:cNvSpPr/>
          <p:nvPr/>
        </p:nvSpPr>
        <p:spPr>
          <a:xfrm>
            <a:off x="400050" y="34861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3"/>
          <p:cNvSpPr/>
          <p:nvPr/>
        </p:nvSpPr>
        <p:spPr>
          <a:xfrm>
            <a:off x="765810" y="345186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A máquina bem configurada e organizada é a ferramenta central de qualquer profissional eficiente de TIC.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