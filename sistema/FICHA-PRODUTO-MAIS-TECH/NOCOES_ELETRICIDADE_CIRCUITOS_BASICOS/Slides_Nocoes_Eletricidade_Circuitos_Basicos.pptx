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Noções de Eletricidade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 Circuitos Básicos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</a:rPr>
              <a:t>Rio do Sul Mais Tech · SENAI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Prefeitura Municipal de Rio do Sul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SENAI · Rio do Sul Mais Tech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600"/>
                </a:solidFill>
              </a:rPr>
              <a:t>Iniciação Profissional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D600"/>
                </a:solidFill>
              </a:rPr>
              <a:t>Prefeitura Municipal de Rio do Sul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D600"/>
                </a:solidFill>
              </a:rPr>
              <a:t>Formando talentos para a indústria e tecnologia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⚡ Energia · Circuitos · Segurança · Futuro 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Identificação da Unidade Curricular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Informação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Unidade Curricular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Noções de Eletricidade e Circuitos Básicos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Carga Horária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36 horas presenciais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Modalidade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Presencial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Encontros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 encontros de 2 horas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Programa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Rio do Sul Mais Tech — SENAI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Público-alvo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Alunos do 8° e 9° anos (12–15 anos)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Avaliação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Nota ≥ 7 + 75% de frequência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Apresentação do Professor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100"/>
                </a:solidFill>
              </a:rPr>
              <a:t>📷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65100"/>
                </a:solidFill>
              </a:rPr>
              <a:t>Foto do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65100"/>
                </a:solidFill>
              </a:rPr>
              <a:t>Professor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89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Nome: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_______________________________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Formação: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_______________________________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Experiência: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_______________________________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Curiosidade sobre mim: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_______________________________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✈️ Dinâmica: Avião de Papel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Vamos nos conhecer!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1. Pegue uma folha de papel e dobre um avião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2. Escreva no avião: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   • Seu nome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   • O que você espera aprender nesta UC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   • Uma curiosidade sua sobre eletricidade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3. Lance o avião pela sala!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4. Quem pegar um avião lê o que está escrito em voz alta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5. Vamos descobrir o que a turma já sabe sobre eletricidade!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Plano de Ensino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⏱️ Carga Horária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914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36 horas presenciais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8595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📅 Encontros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002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18 encontros de 2 horas cada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📍 Local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LabTEC (CEPLAS / Roberto Machado / Aníbal de Barba)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📆 Dias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Segunda a sexta-feira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🏫 Programa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Rio do Sul Mais Tech — SENAI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43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📝 Avaliação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3434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Nota ≥ 7 + 75% de frequência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859536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029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🎯 Início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50292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19/02/2026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Capacidades Técnicas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⚡ Aplicar normas técnicas e de segurança em atividades com eletricidade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🔧 Utilizar instrumentos de medida (multímetro, voltímetro, amperímetro)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76856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76856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🔌 Identificar e manusear componentes de circuitos elétricos básicos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80944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80944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📐 Interpretar diagramas e esquemas elétricos simples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685032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8503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📊 Realizar medições de tensão, corrente e resistência com segurança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389120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8912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💡 Reconhecer tipos de lâmpadas, disjuntores e dispositivos de proteção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5093208"/>
            <a:ext cx="859536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9320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🏠 Compreender instalações elétricas prediais residenciais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Capacidades Socioemocionais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🛡️ Segurança como Valor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868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Incorporar a segurança como parte essencial de toda atividade prática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👁️ Atenção e Concentração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Manter foco durante manuseio de equipamentos e execução de circuitos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✅ Responsabilidade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Zelar pelo material, colegas e espaço do laboratório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🤝 Trabalho em Equipe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749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Colaborar nas atividades práticas, dividindo tarefas e conhecimento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70916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🎯 Precisão e Capricho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4709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Realizar montagens com cuidado e verificar o trabalho antes de energizar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Conhecimentos I — Grandezas Elétricas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2011680" cy="411480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600"/>
                </a:solidFill>
              </a:rPr>
              <a:t>V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Tensão (Volt)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Força que "empurra" a corrente elétrica pelo circuito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Mede com: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Voltímetro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411480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600"/>
                </a:solidFill>
              </a:rPr>
              <a:t>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3774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Corrente (Ampère)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Quantidade de carga elétrica que passa por segundo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Mede com: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Amperímetro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2011680" cy="411480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600"/>
                </a:solidFill>
              </a:rPr>
              <a:t>Ω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Resistência (Ohm)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Oposição ao fluxo de corrente elétrica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Mede com: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Ohmímetro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2011680" cy="411480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005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600"/>
                </a:solidFill>
              </a:rPr>
              <a:t>W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7665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Potência (Watt)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5603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Quantidade de energia consumida por segundo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Mede com: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Wattímetro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Conhecimentos II — Instalações Prediais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🔌 Emendas elétricas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Conexões seguras entre fios — tipos: fio torcido, crimpado, com conector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💡 Interruptores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Simples (1 ponto), paralelo/three-way (2 pontos), dimmer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🔋 Tomadas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4231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NBR IEC — padrão brasileiro 2P+T, potência (10A e 20A)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☀️ Fotocélula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Liga/desliga automaticamente pela luminosidade — iluminação externa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77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👁️ Sensor de presença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9776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Detecta movimento e aciona a iluminação automaticamente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🏠 Instalação predial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47548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Circuito geral da residência: entrada, quadro de distribuição, pontos de luz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Conhecimentos III — Proteção e Segurança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💡 Lâmpada Incandescente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868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Resistência aquece filamento. Alta potência, baixa eficiência. Em desuso.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🔆 Lâmpada Fluorescente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Descarga em gás. Mais eficiente que incandescente. Contém mercúrio.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🟢 Lâmpada LED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Semicondutor. Maior eficiência, maior durabilidade, menor consumo.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⚡ Disjuntor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Protege o circuito contra sobrecorrente (curto-circuito e sobrecarga).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🔴 DR (Diferencial Residual)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977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Protege contra choque elétrico — detecta fuga de corrente para terra.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📋 NR 10 — Segurança em Eletricidade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7548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Norma que regula atividades em instalações e serviços em eletricidade.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Combinados da Turma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🤝 Respeitar colegas, professor e espaço do LabTEC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17904"/>
            <a:ext cx="859536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1790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🛡️ SEGURANÇA É PRIORIDADE — nunca energize sem autorização do professor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67128"/>
            <a:ext cx="8595360" cy="566928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📵 Celular guardado durante atividades práticas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816352"/>
            <a:ext cx="859536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1635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🔧 Manusear equipamentos com cuidado e devolver organizados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465576"/>
            <a:ext cx="8595360" cy="566928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655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🚫 Nunca modificar circuitos sem autorização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859536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⏰ Chegar no horário e avisar quando faltar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764024"/>
            <a:ext cx="8595360" cy="566928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6402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❓ Dúvida? Pergunte! Não experimente por conta própria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5413248"/>
            <a:ext cx="859536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41324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🧹 Deixar a bancada limpa e organizada ao final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Sistema de Avaliação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2011680" cy="32004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Nota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173736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Avaliação Diagnóstica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 que você já sabe sobre eletricidade?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914400"/>
            <a:ext cx="2011680" cy="3200400"/>
          </a:xfrm>
          <a:prstGeom prst="rect">
            <a:avLst/>
          </a:prstGeom>
          <a:solidFill>
            <a:srgbClr val="FFD18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Nota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173736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Avaliação Formativa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Atividades práticas, exercícios e participação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2011680" cy="3200400"/>
          </a:xfrm>
          <a:prstGeom prst="rect">
            <a:avLst/>
          </a:prstGeom>
          <a:solidFill>
            <a:srgbClr val="FFAB4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Nota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Avaliação Prática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Montagem e teste de circuito elétrico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2011680" cy="3200400"/>
          </a:xfrm>
          <a:prstGeom prst="rect">
            <a:avLst/>
          </a:prstGeom>
          <a:solidFill>
            <a:srgbClr val="FF6D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Nota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173736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Avaliação Somativa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Prova teórica + Situação de Aprendizagem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859536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3891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</a:rPr>
              <a:t>✅ Aprovação: Nota ≥ 7,0 + 75% de frequência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Avaliação de Comportamento e Atitude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🛡️ Segurança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Respeita procedimentos de segurança em todas as atividades práticas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⏰ Pontualidade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1645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Chega no horário e permanece durante toda a aula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🤝 Colaboração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Trabalha bem em equipe, ajuda colegas nas atividades práticas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📋 Organização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Mantém bancada organizada, cuida dos equipamentos e materiais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77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🎯 Participação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Engaja nas discussões, faz perguntas e demonstra interesse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✅ Responsabilidade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47548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Cumpre as tarefas, entrega atividades no prazo, assume postura profissional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600"/>
                </a:solidFill>
              </a:rPr>
              <a:t>Situação de Aprendizagem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65100"/>
                </a:solidFill>
              </a:rPr>
              <a:t>"Montar e testar um circuito elétrico simples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E65100"/>
                </a:solidFill>
              </a:rPr>
              <a:t>com interruptor e lâmpada"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🔬 1. Identificar os componentes do circuito (fio, lâmpada, interruptor, fonte)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📐 2. Interpretar o diagrama elétrico do circuito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684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🔧 3. Montar o circuito na bancada com segurança (EPI)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354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⚡ 4. Testar o funcionamento e medir tensão/corrente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102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📝 5. Registrar os resultados e apresentar para a turma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O que é Eletricidade?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⚡ Eletricidade é o movimento de elétrons (partículas subatômicas) através de um condutor, gerando energia que pode realizar trabalho.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Onde usamos no dia a dia?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🏠 Em casa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Geladeira, TV, chuveiro, lâmpadas, celular, computador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61188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🏫 Na escola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61188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Lousas digitais, projetores, computadores, ar-condicionado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38912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389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🏭 Na indústria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3891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Motores, robôs, linhas de montagem, soldadores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5166360"/>
            <a:ext cx="8595360" cy="68580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5166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🚗 Nos veículos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51663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Carros elétricos, metrô, aviões, ônibus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Grandezas Elétricas — Detalhamento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5720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280160"/>
                <a:gridCol w="2377440"/>
                <a:gridCol w="237744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Grandeza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Símbolo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Unidade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mede?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 prático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Tensão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Volt (V)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Diferença de potencial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Tomada 127V ou 220V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Corrente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Ampère (A)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Fluxo de cargas elétricas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Lâmpada de 0,5A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Resistência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Ohm (Ω)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Oposição ao fluxo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Resistor de 100Ω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Potência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Watt (W)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Energia por segundo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TV de 100W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Energia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kWh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Consumo ao longo do tempo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Conta de luz: kWh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Lei de Ohm: V = R × 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868680"/>
            <a:ext cx="457200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868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600"/>
                </a:solidFill>
              </a:rPr>
              <a:t>V = R × 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📖 Analogia com água numa mangueira: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8595360" cy="12801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💧 PRESSÃO da água  =  Tensão (V)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💧 FLUXO de água   =  Corrente 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💧 OBSTÁCULO no cano  =  Resistência (R)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🔢 Exemplo prático: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4389120"/>
            <a:ext cx="8595360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Uma lâmpada tem resistência R = 240Ω e está ligada na tensão V = 120V.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Qual é a corrente? → I = V ÷ R = 120 ÷ 240 = 0,5A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Instrumentos de Medida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229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⚡ Voltímetro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Mede: Tensão (V)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868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Conectado em PARALELO com o componente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🔋 Amperímetro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Mede: Corrente (A)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Conectado em SÉRIE no circuito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8595360" cy="8229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🔌 Ohmímetro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788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Mede: Resistência (Ω)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Componente DESLIGADO da energia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💡 Wattímetro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Mede: Potência (W)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Mede o consumo de energia do equipamento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709160"/>
            <a:ext cx="8595360" cy="82296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09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🔧 Multímetro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4709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Mede: V, A, Ω (e mais)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7091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Instrumento combinado — selecione a grandeza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🔧 Como Usar o Multímetro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Verifique o estado: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8686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Baterias em bom estado? Pontas de prova sem danos?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Selecione a grandeza: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Gire o seletor para V (tensão), A (corrente) ou Ω (resistência)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76856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768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2768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Selecione a escala: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27685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Escolha a escala adequada (ex: 200V para tomada de 127V)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80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9809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Conecte as pontas de prova: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98094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Preta no COM (-), vermelha no VΩ (+) ou A (corrente)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85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Realize a medição: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68503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Toque os pontos corretos do circuito com segurança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389120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389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389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Leia o display: 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3891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Anote o valor exibido com a unidade correta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5093208"/>
            <a:ext cx="59436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5093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5093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Desconecte e desligue: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509320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Retire as pontas, gire o seletor para OFF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Circuitos: Série vs Paralelo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47548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⚡ Circuito em SÉRIE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Componentes ligados em sequência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 MESMA corrente passa por todos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 tensão se divide entre eles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 um falha, TODOS param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Pisca-pisca de Natal antigo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(um queimava, todos apagavam)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97680" cy="47548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⚡ Circuito em PARALELO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Componentes ligados em ramos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 MESMA tensão em todos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 corrente se divide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Se um falha, os outros continuam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Instalação elétrica da casa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(cada ponto independente)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Condutores e Isolantes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47548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🔩 CONDUTORES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Permitem a passagem de corrente elétrica facilmente.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Cobre (fios elétricos)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Alumínio (redes de transmissão)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Prata (eletrônica de precisão)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Ouro (contatos de circuitos)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Água salgada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Usados para: conduzir a energia até o destino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97680" cy="47548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🛡️ ISOLANTES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Não permitem (ou dificultam muito) a passagem de corrente.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Borracha (revestimento de fios)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Plástico (tomadas, plugues)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Vidro (isoladores de postes)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Madeira seca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Ar seco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Usados para: proteger contra choques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Interruptores — Tipos e Usos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15544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💡 Interruptor Simples (1 ponto)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Quando usar: Quando há apenas UM ponto de controle da lâmpada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Como funciona: Liga e desliga de um único local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Exemplo: Quarto pequeno com uma entrada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859536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060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💡💡 Interruptor Paralelo / Three-Way (2 pontos)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Quando usar: Quando há DOIS pontos de controle da mesma lâmpada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Como funciona: Liga/desliga de qualquer um dos dois pontos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Exemplo: Corredor (entrada e saída), escada (térreo e 1° andar)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297680"/>
            <a:ext cx="8595360" cy="15544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976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🌙 Dimmer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Quando usar: Quando se quer regular a intensidade luminosa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51206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</a:rPr>
              <a:t>Como funciona: Gira ou desliza para aumentar/diminuir o brilho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486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Exemplo: Sala de estar, ambientes de relaxamento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Lâmpadas — Comparativo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75488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286000"/>
                <a:gridCol w="2286000"/>
              </a:tblGrid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💡 Incandescente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🔆 Fluorescente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🟢 LED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Consumo (60W equiv.)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Durabilidade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~1.000h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~8.000h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~25.000h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Calor gerado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Muito alto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 inicial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 de uso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Contém mercúrio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 ⚠️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Descarte especial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 ⚠️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Indicação atual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 desuso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Sendo substituída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Recomendada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Disjuntores e Dispositivos DR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47548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⚡ DISJUNTOR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 que protege: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Sobrecarga e curto-circuito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Como funciona: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Desarma (abre) automaticamente quando a corrente ultrapassa o limite seguro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Rearmamento: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Manual — aperte a alavanca para cima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Por que usar: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Protege fiação e equipamentos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Disjuntor de 20A para chuveiro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97680" cy="47548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🔴 DR (Diferencial Residual)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 que protege: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Choque elétrico em pessoas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Como funciona: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Compara corrente que entra e sai — se há diferença (fuga para o corpo), desarma em milissegundos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Rearmamento: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Manual (botão reset)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Por que usar: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Salva vidas!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Exemplo: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Obrigatório em banheiros e cozinhas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</a:rPr>
              <a:t>⚠️ SEGURANÇA ELÉTRICA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512064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🚫 NUNCA mexa em instalação energizada — desligue o disjuntor 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🥊 Use sempre EPI: luvas isolantes, óculos de proteção, calçado isolante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👧 Avise sempre um adulto ou técnico antes de iniciar qualquer atividade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1518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🚿 NUNCA use equipamentos elétricos com as mãos molhadas ou descalço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82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🔌 Não sobrecarregue tomadas com muitos equipamentos (benjamim)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⚡ Fio com isolamento danificado? NÃO use — substitua imediatamente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🔧 Em laboratório: aguarde a autorização do professor para energizar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828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</a:rPr>
              <a:t>🆘 Acidente elétrico? Não toque na vítima — desligue a energia PRIMEIRO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NR 10 — Segurança em Eletricidade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📋 O que é a NR 10?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Norma Regulamentadora nº 10 do Ministério do Trabalho — estabelece requisitos para garantir a segurança de trabalhadores que atuam em instalações e serviços de eletricidade.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👥 Quem deve seguir?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Todos que trabalham direta ou indiretamente com instalações elétricas: eletricistas, técnicos, engenheiros, e também trabalhadores que ficam perto dessas instalações.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80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📚 Por que existe?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88036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Para reduzir acidentes elétricos no trabalho — choques, queimaduras, incêndios e explosões causados por eletricidade matam centenas de trabalhadores por ano no Brasil.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8862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🎓 Capacitação obrigatória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886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 NR 10 exige treinamento específico com carga horária mínima: 40h (Básico) ou 40h + módulos complementares para trabalhos em alta tensão.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89204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⚠️ Punições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8920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Empresas que descumprem podem receber multas, autuações do MTE e responder criminalmente em caso de acidente.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EPI — Equipamentos de Proteção Individual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🥊 Luvas Isolantes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868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Proteção contra choque elétrico nas mãos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868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Sempre que manusear partes energizadas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👓 Óculos de Proteção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691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Protege os olhos contra faíscas, arcos elétricos e partículas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Atividades com risco de arco ou faísca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8595360" cy="73152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👟 Calçado Isolante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514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Isola o trabalhador do piso condutor e da terra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514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Todo trabalho em instalações elétricas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8595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37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⛑️ Capacete de Segurança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337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Proteção contra impactos e choque elétrico na cabeça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Trabalhos em altura ou com risco de impacto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60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🦺 Roupa Antichama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Proteção contra arco elétrico e calor intenso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Atividades em subestações ou alta tensão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8595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83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🔒 Cadeado de Bloqueio (LOTO)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4983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Trava o disjuntor na posição OFF — evita energização acidental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983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Manutenção em equipamentos — obrigatório por NR 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</a:rPr>
              <a:t>🆘 Primeiros Socorros — Acidente Elétrico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</a:rPr>
              <a:t>⚠️ ATENÇÃO: Não toque na vítima que ainda está em contato com a fonte elétrica — você também pode sofrer choque!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8595360" cy="777240"/>
          </a:xfrm>
          <a:prstGeom prst="rect">
            <a:avLst/>
          </a:prstGeom>
          <a:solidFill>
            <a:srgbClr val="FFE0B2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</a:rPr>
              <a:t>1°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DESLIGUE A ENERGIA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Desligue o disjuntor, a chave geral ou retire o plugue da tomada — ANTES de qualquer outra 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859536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517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</a:rPr>
              <a:t>2°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AFASTE A VÍTIMA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Com objeto NÃO CONDUTOR (cabo de madeira, pano seco), afaste a vítima da fonte de energia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8595360" cy="777240"/>
          </a:xfrm>
          <a:prstGeom prst="rect">
            <a:avLst/>
          </a:prstGeom>
          <a:solidFill>
            <a:srgbClr val="FFE0B2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520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</a:rPr>
              <a:t>3°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CHAME SOCORRO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Ligue imediatamente para o SAMU (192) ou Bombeiros (193) — descreva o acidente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389120"/>
            <a:ext cx="859536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389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</a:rPr>
              <a:t>4°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VERIFIQUE SINAIS VITAIS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3891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Verifique se a vítima está consciente, respirando e com pulso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257800"/>
            <a:ext cx="8595360" cy="777240"/>
          </a:xfrm>
          <a:prstGeom prst="rect">
            <a:avLst/>
          </a:prstGeom>
          <a:solidFill>
            <a:srgbClr val="FFE0B2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2578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</a:rPr>
              <a:t>5°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RCP SE NECESSÁRIO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52578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 a vítima não respira e não tem pulso: inicie RCP (30 compressões + 2 respirações) até o socorro chegar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</a:rPr>
              <a:t>Diagnóstico de Falhas em Circuitos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6400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🔍 Inspeção Visual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8686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Observe fios queimados, conexões soltas, componentes danificados, cheiro de queimado, marcas de superaquecimento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6400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🔧 Teste com Multímetro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Meça tensão nos pontos do circuito. Verifique continuidade dos fios. Meça resistência dos componentes (circuito desligado)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80360"/>
            <a:ext cx="6400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803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880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📊 Comparação com Projeto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8803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Compare as medidas obtidas com os valores esperados no diagrama ou tabela do circuito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86200"/>
            <a:ext cx="6400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86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⚙️ Substituição e Teste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8862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Substitua o componente suspeito por um bom. Energize com segurança e teste o funcionamento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892040"/>
            <a:ext cx="859536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892040"/>
            <a:ext cx="6400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📝 Registro e Documentação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8920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Documente a falha encontrada, a causa e a solução aplicada — essencial na prática profissional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" y="62179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Rio do Sul Mais Tech · SENAI · UC: Noções de Eletricidade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aprendemos?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BF3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⚡ Grandezas Elétricas: Tensão (V), Corrente (A), Resistência (Ω), Potência (W)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502920"/>
          </a:xfrm>
          <a:prstGeom prst="rect">
            <a:avLst/>
          </a:prstGeom>
          <a:solidFill>
            <a:srgbClr val="D440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📐 Lei de Ohm: V = R × I — base de todo cálculo elétrico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48256"/>
            <a:ext cx="8595360" cy="502920"/>
          </a:xfrm>
          <a:prstGeom prst="rect">
            <a:avLst/>
          </a:prstGeom>
          <a:solidFill>
            <a:srgbClr val="BF3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4825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🔧 Instrumentos de Medida: voltímetro, amperímetro, ohmímetro, multímetro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615184"/>
            <a:ext cx="8595360" cy="502920"/>
          </a:xfrm>
          <a:prstGeom prst="rect">
            <a:avLst/>
          </a:prstGeom>
          <a:solidFill>
            <a:srgbClr val="D440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1518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🔌 Circuitos em Série e Paralelo — diferenças e aplicações práticas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8595360" cy="502920"/>
          </a:xfrm>
          <a:prstGeom prst="rect">
            <a:avLst/>
          </a:prstGeom>
          <a:solidFill>
            <a:srgbClr val="BF3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82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🏠 Instalações prediais: interruptores, tomadas, fotocélula, sensor de presença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D440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Lâmpadas: LED é a mais eficiente e recomendada atualmente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BF3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159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⚙️ Proteção: Disjuntores (sobrecarga) e DR (choque elétrico)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882896"/>
            <a:ext cx="8595360" cy="502920"/>
          </a:xfrm>
          <a:prstGeom prst="rect">
            <a:avLst/>
          </a:prstGeom>
          <a:solidFill>
            <a:srgbClr val="D440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8289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🛡️ Segurança: NR 10, EPI e procedimentos de emergência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5449824"/>
            <a:ext cx="8595360" cy="502920"/>
          </a:xfrm>
          <a:prstGeom prst="rect">
            <a:avLst/>
          </a:prstGeom>
          <a:solidFill>
            <a:srgbClr val="BF3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44982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Diagnóstico de Falhas: inspeção → medição → comparação → solução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0"/>
                </a:solidFill>
              </a:rPr>
              <a:t>Rio do Sul Mais Tech · SENAI · Prefeitura Municipal de Rio do Sul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2026-08-19T23:42:58Z</dcterms:created>
  <dcterms:modified xsi:type="dcterms:W3CDTF">2026-08-19T23:42:58Z</dcterms:modified>
</cp:coreProperties>
</file>