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E4DA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D2870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MATEMÁTICA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RACIOCÍNIO LÓGICO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8 · 63 horas presenciais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287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2743200" cy="2743200"/>
          </a:xfrm>
          <a:prstGeom prst="ellipse">
            <a:avLst/>
          </a:prstGeom>
          <a:solidFill>
            <a:srgbClr val="E53935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 π √ ∫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× ÷ =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023360" y="10972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transforma</a:t>
            </a:r>
            <a:endParaRPr lang="en-US" sz="2600" dirty="0"/>
          </a:p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maneira como você</a:t>
            </a:r>
            <a:endParaRPr lang="en-US" sz="2600" dirty="0"/>
          </a:p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o mundo.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02336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Rio do Sul Mais Tech — SENAI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Unidade Curricular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37744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5760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188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Matemática e Raciocínio Lógico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237744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783080"/>
            <a:ext cx="5760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237744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2377440"/>
            <a:ext cx="5760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2377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horas presenciais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37744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2971800"/>
            <a:ext cx="5760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2971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237744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3566160"/>
            <a:ext cx="5760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880360" y="3566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do 8° e 9° anos do Ensino Fundamental (12–15 anos)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237744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4160520"/>
            <a:ext cx="5760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4160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≥ 7,0 + 75% de frequência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seu Professor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560320"/>
          </a:xfrm>
          <a:prstGeom prst="ellipse">
            <a:avLst/>
          </a:prstGeom>
          <a:solidFill>
            <a:srgbClr val="1A3A8A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👨‍🏫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📛  Nome: ___________________________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Formação: _______________________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4231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Experiência: _____________________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Contato: ________________________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6118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Curiosidade pessoal: ______________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Dinâmica: Avião de Papel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Pegue uma folha e dobre em forma de avião de papel 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Escreva no avião: seu nome, o que você gosta de fazer e seu maior desafio com Matemática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437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Ao sinal do professor, todos jogam os aviões ao mesmo tempo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198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Cada um pega um avião do chão e apresenta o colega para a turma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95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Juntos, descubram o que vocês têm em comum!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criar conexões e descobrir que a turma enfrenta desafios parecidos! 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63h presenciais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encontros de 2h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17556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a sexta-feira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(polo da turma)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1–4 + frequência 75%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35040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≥ 7,0 para aprovação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Técnicas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54864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informações numéricas com clareza e precisão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548640" cy="54864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143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autonomia matemática para resolver problemas do cotidiano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548640" cy="54864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pensamento crítico e lógico em situações-desafio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548640" cy="54864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em trabalhos em grupo de resolução de problemas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548640" cy="54864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raciocínios matemáticos de forma clara e objetiva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886200"/>
            <a:ext cx="548640" cy="54864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36118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resiliência matemática diante de erros e tentativas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Socioemocionais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🏋️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desistir diante de problemas difíceis. Tentar diferentes estratégias até encontrar a solução.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80160"/>
            <a:ext cx="594360" cy="59436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 o "por quê" dos resultados. Explorar conexões entre os temas matemáticos.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4747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Valorizar o cuidado nos cálculos e na escrita matemática. Revisar o próprio trabalho.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08960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4747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junto: explicar para o colega é a melhor forma de solidificar o próprio aprendizado.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— Parte 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" cy="41330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43000"/>
            <a:ext cx="1371600" cy="3200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Básicas e Cálculo Numérico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Adição, subtração, multiplicação e divisão com inteiros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Ordem das operações (PEMDAS)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Problemas práticos do cotidiano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1371600" cy="3200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Frações, Decimais e Porcentagem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Conceito e representação de frações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Conversão entre fração, decimal e porcentagem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897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Cálculo de porcentagem em situações reais (desconto, imposto)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— Parte II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" cy="41330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43000"/>
            <a:ext cx="1371600" cy="3200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Proporcionalidade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Razão e proporção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Regra de três simples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Grandezas direta e inversamente proporcionais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1371600" cy="3200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e Grandezas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Sistema métrico decimal: comprimento, massa, capacidade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Área e perímetro de figuras planas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897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Conversões entre unidades de medida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— Parte III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" cy="41330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1371600" cy="292608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Lógico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Padrões e sequências numéricas e geométricas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Lógica proposicional básica (V/F, negação, conjunção, disjunção)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Estratégias de resolução de problemas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1371600" cy="292608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404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7249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Introdutória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072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Variáveis e expressões algébricas simples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64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Equações de 1° grau: como resolver e verificar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1371600" cy="292608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7124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03250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da Informação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Leitura de tabelas, gráficos de barras e de linhas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725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Média aritmética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Combinados da Turma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Celular: permitido apenas para pesquisa autorizada pelo professor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234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a fala dos colegas — todos têm o direito de errar e tentar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Pontualidade: chegar no horário e avisar em caso de falta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material: caderno, lápis/caneta e calculadora (quando autorizada)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faz parte: é com ele que se aprende — não tenha vergonha de perguntar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Colaboração: ajudar o colega faz parte do aprendizado de todos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Sistema de Avaliação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3200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práticas e exercícios em aula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20240" cy="320040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21488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escrita individual (conteúdo do bimestre)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920240" cy="32004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21488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grupo / apresentação oral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143000"/>
            <a:ext cx="1920240" cy="3200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234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21488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Aprendizagem (projeto integrador)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Aprovação: Média ≥ 7,0  |  Frequência ≥ 75%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Comportamento e Atitude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e a atitude são avaliados continuamente ao longo das aulas: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ESPERA-SE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EVITAR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Participar ativamente das atividades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Ficar disperso ou recusar tarefas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Respeitar professores e colegas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Comportamento desrespeitoso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Entregar atividades no prazo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Acúmulo de pendências sem justificativa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Colaborar nas atividades em grupo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Deixar o grupo sem contribuição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Situação de Aprendizagem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"Resolver um conjunto de desafios matemáticos do cotidiano e apresentar as soluções para a turma"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80160" y="256032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situações do dia a dia que envolvam matemática (compras, receitas, transporte)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256032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situação real em problema matemático e resolver com os conteúdos da UC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256032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raciocínio passo a passo para a turma — oral ou em cartaz visual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Básicas e Cálculo Numérico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com Números Inteiros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347 + 158 = 505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Comutativa: a + b = b + 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3444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09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500 − 237 = 263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da adição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0896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584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24 × 15 = 360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Distributiva: a(b+c) = ab + ac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10896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84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360 ÷ 15 = 24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da multiplicação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das Operações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P → E → M/D → A/S   (Parênteses · Expoentes · Multiplicação/Divisão · Adição/Subtração)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clássico: quanto vale  2 + 3 × 4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ERRADO:  2 + 3 = 5,  depois  5 × 4 = 20   ← somar primeiro está errado!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CERTO:   3 × 4 = 12,  depois  2 + 12 = 14  ← multiplicar ANTES de somar!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parênteses para tornar a ordem explícita: (2 + 3) × 4 = 20  vs  2 + (3 × 4) = 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do Cotidiano — Passo a Passo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Problema 1 — Troco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comprou 3 cadernos a R$7,50 cada e pagou com uma nota de R$50,00. Quanto recebeu de troco?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Total: 3 × R$7,50 = R$22,50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Troco: R$50,00 − R$22,50 = R$27,50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João recebeu R$27,50 de troco.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Problema 2 — Divisão de Conta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62763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amigos pediram pizza. A conta total foi R$87,50. Quanto cada um deve pagar para dividir igualmente?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Divisão: R$87,50 ÷ 5 = R$17,50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Verificação: 5 × R$17,50 = R$87,50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Cada amigo paga R$17,50.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Frações, Decimais e Porcentagem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Fração?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fração representa uma parte de um todo: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Numerador → quantas partes temos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────────────────────────────────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→ total de partes iguais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🍕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457200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2/4 da pizza foi comida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partes de 4 iguais = metade)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1/2 → metade (ex: meio copo d'água)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3/4 → três quartos (ex: 3 de 4 tarefas feitas)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2/3 → dois terços (ex: 2 de 3 partes de um bolo)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↔ Decimal ↔ Porcentagem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3657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143000"/>
            <a:ext cx="1371600" cy="3657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1645920" cy="3657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Porcentagem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143000"/>
            <a:ext cx="4114800" cy="3657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dia a dia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155448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55448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55448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 salário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057400"/>
            <a:ext cx="137160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37360" y="2057400"/>
            <a:ext cx="137160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2057400"/>
            <a:ext cx="164592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057400"/>
            <a:ext cx="411480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quarto da pizza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256032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737360" y="256032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73736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0" y="256032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256032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063240"/>
            <a:ext cx="137160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737360" y="3063240"/>
            <a:ext cx="137160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40" name="Text 38"/>
          <p:cNvSpPr/>
          <p:nvPr/>
        </p:nvSpPr>
        <p:spPr>
          <a:xfrm>
            <a:off x="173736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0" y="3063240"/>
            <a:ext cx="164592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37760" y="3063240"/>
            <a:ext cx="4114800" cy="4572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de 10% em compras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356616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737360" y="356616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73736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200400" y="356616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37760" y="356616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de 20% no restaurante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Para converter fração em %: divida o numerador pelo denominador e multiplique por 100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Porcentagem na Prática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704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Desconto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camiseta custa R$80,00 com 30% de desconto. Qual o preço final?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2560320" cy="155448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0632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Solução: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 R$80 = 80 × 0,30 = R$24,00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final = R$80 − R$24 = R$56,00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1704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Aumento de Salário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de R$1.200,00 com reajuste de 15%. Novo salário?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0632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Solução: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de R$1.200 = 1.200 × 0,15 = R$180,00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salário = R$1.200 + R$180 = R$1.380,00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143000"/>
            <a:ext cx="2743200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1704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Imposto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691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R$200,00 com 10% de imposto. Preço total?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2560320" cy="155448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0632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Solução: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de R$200 = R$20,00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total = R$200 + R$20 = R$220,00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Proporcionalidade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e Proporção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RAZÃO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é a comparação entre duas quantidades pela divisão.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Em uma turma com 20 meninas e 10 meninos,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meninas:meninos é 20:10 = 2:1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 cada menino, há 2 meninas)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Velocidade média de 60 km/h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60 km para cada 1 hora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PROPORÇÃO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é a igualdade entre duas razões.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2:4 = 1:2  (ambas equivalem a 1/2)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fundamental: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extremos × nos meios = igual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4 = 4 × 2  ✓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meios vezes os extremos são iguais."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Três Simples — Passo a Passo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Se 5 produtos custam R$15,00, quanto custam 8 produtos?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a tabela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produtos → R$15,00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produtos → 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 relação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produtos = mais dinheiro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Grandezas diretamente proporcionais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proporção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 = 15/x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= 8 × 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= 120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120 ÷ 5 = 24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29000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produtos custam R$24,00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Verificação: 5/8 = 15/24 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Grandezas Inversamente Proporcionais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quando uma grandeza AUMENTA, a outra DIMINUI — e o produto entre elas permanece constante.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64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Velocidade × Tempo — para percorrer 120 km: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926080" cy="438912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(km/h)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331720"/>
            <a:ext cx="2926080" cy="438912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3317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(h)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2377440" cy="438912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31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(km)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0720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807208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80720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807208"/>
            <a:ext cx="2377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8072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82696"/>
            <a:ext cx="292608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826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282696"/>
            <a:ext cx="292608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2826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282696"/>
            <a:ext cx="237744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2826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58184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5818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0" y="3758184"/>
            <a:ext cx="2926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75818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3758184"/>
            <a:ext cx="2377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7581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velocidade dobra → ⬇ tempo cai pela metade | Produto sempre = 120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e Grandezas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Métrico — Tabela de Conversão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Comprimento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234440" cy="42062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554480"/>
            <a:ext cx="1234440" cy="42062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554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554480"/>
            <a:ext cx="1234440" cy="42062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554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554480"/>
            <a:ext cx="1234440" cy="42062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554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0116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201168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0116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01168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20116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201168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20116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Massa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1234440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0632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0" y="3063240"/>
            <a:ext cx="1234440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30632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0" y="3063240"/>
            <a:ext cx="1234440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0632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06240" y="3063240"/>
            <a:ext cx="1234440" cy="42062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30632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5204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645920" y="352044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645920" y="35204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352044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0" y="35204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3520440"/>
            <a:ext cx="12344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206240" y="35204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1.000.000.000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práticos: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77840" y="16002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1 km = 1.000 m (corrida)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21031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1 m = 100 cm (altura)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26060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1 cm = 10 mm (espessura)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1089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1 t = 1.000 kg (elefante)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77840" y="36118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1 kg = 1.000 g (fruta)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77840" y="41148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1 g = 1.000 mg (remédio)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Regra: multiplicar ÷ ao subir de categoria; × ao descer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e Perímetro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70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 Quadrado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4 × lado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lado²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2560320" cy="201168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8775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= 5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4×5 = 20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5² = 25 m²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170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 Retângulo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664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2(b + 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base × altura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542032"/>
            <a:ext cx="2560320" cy="201168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258775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Base=8m, Alt=3m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2(8+3) = 22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8×3 = 24 m²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170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 Triângulo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664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a + b + 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084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(base × alt)/2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542032"/>
            <a:ext cx="2560320" cy="201168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58775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Base=6m, Alt=4m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4+5+6 = 15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(6×4)/2 = 12 m²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Lógico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 Sequências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645920" cy="10972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143000"/>
            <a:ext cx="66751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1887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termo aumenta (ou diminui) o mesmo valor — a RAZÃO.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2, 5, 8, 11, 14, 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9202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Razão = +3. Próximo: 14 + 3 = 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1645920" cy="10972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97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Geométrica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423160"/>
            <a:ext cx="66751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246888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termo é multiplicado (ou dividido) pelo mesmo valor — a RAZÃO.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8803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3, 6, 12, 24, 48, ...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2004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Razão = ×2. Próximo: 48 × 2 = 96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164592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3703320"/>
            <a:ext cx="66751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37490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termo é a SOMA dos dois anteriores.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1605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1, 1, 2, 3, 5, 8, 13, 21, ...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44805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8 + 13 = 21. Próximo: 13 + 21 = 34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 Básica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828800" cy="10972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 (¬)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143000"/>
            <a:ext cx="6492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1887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"Hoje está chovendo." → NEGAÇÃO: "Hoje NÃO está chovendo."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783080"/>
            <a:ext cx="6309360" cy="38404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801368"/>
            <a:ext cx="6263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valor: V → F | F → 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1828800" cy="109728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4203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CONJUNÇÃO (∧)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2404872"/>
            <a:ext cx="6492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245059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"Tenho caderno E tenho lápis." → Só V se AMBAS forem verdadeiras.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3044952"/>
            <a:ext cx="6309360" cy="38404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3063240"/>
            <a:ext cx="6263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V∧V=V | V∧F=F | F∧V=F | F∧F=F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18288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03904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 (∨)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3666744"/>
            <a:ext cx="649224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71246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 de ônibus OU de bicicleta." → F só se AMBAS forem falsas.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4306824"/>
            <a:ext cx="6309360" cy="38404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0" y="4325112"/>
            <a:ext cx="6263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V∨V=V | V∨F=V | F∨V=V | F∨F=F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Resolução de Problemas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53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Representar o Problema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63624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um desenho, diagrama ou tabela. Visualizar o problema facilita enxergar a solução.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Se "João tem o dobro de maçãs que Maria, que tem 5", desenhe os dois e conte.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633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5059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Tentar Casos Simples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843784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problema parece difícil, teste com números pequenos primeiro.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Antes de resolver para 100 pessoas, veja o que acontece com 2 ou 3 pessoas.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13632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913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307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Trabalhar ao Contrário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123944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sabe o resultado final, volte do final para o começo.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"Cheguei com R$20 depois de gastar metade" → tinha R$40 antes.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Álgebra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Variável?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é uma letra que representa um número desconhecido — ela "varia" conforme o contexto.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pense em "x" como uma caixa fechada que guarda um número secreto.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1371600" cy="3657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286000"/>
            <a:ext cx="3200400" cy="3657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3657600" cy="36576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(valor concreto)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1371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97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697480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26974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vezes o número 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697480"/>
            <a:ext cx="3657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697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x = 5, então 2x = 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72968"/>
            <a:ext cx="137160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172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172968"/>
            <a:ext cx="320040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31729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mais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172968"/>
            <a:ext cx="365760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1729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x = 7, então x + 3 = 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48456"/>
            <a:ext cx="1371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6484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− 1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0" y="3648456"/>
            <a:ext cx="32004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36484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vezes x menos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648456"/>
            <a:ext cx="3657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6484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x = 4, então 3(4)−1 = 11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123944"/>
            <a:ext cx="137160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123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0" y="4123944"/>
            <a:ext cx="320040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0" y="41239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dividido por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4123944"/>
            <a:ext cx="3657600" cy="43891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41239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x = 8, então 8/2 =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Equações de 1° Grau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ISOLAR x no lado esquerdo. O que fizer de um lado, deve fazer do outro!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278892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2763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+ 5 = 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+ 5 − 5 = 12 − 5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898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06240"/>
            <a:ext cx="2606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4224528"/>
            <a:ext cx="256946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Checagem: 7 + 5 = 12 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600200"/>
            <a:ext cx="278892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62763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= 21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4871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÷ 3 = 21 ÷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898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4206240"/>
            <a:ext cx="2606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4224528"/>
            <a:ext cx="256946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Checagem: 3 × 7 = 21 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60020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600200"/>
            <a:ext cx="2788920" cy="4572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62763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− 4 = 10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4871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− 4 + 4 = 10 + 4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898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= 14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3101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206240"/>
            <a:ext cx="260604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4224528"/>
            <a:ext cx="256946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Checagem: 2(7)−4 = 10 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da Informação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Tabelas e Gráficos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Tabela de notas da turma: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417320" cy="402336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554480"/>
            <a:ext cx="1417320" cy="402336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5544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933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993392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9933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1417320" cy="402336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4323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432304"/>
            <a:ext cx="1417320" cy="402336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24323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712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871216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28712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10128"/>
            <a:ext cx="1417320" cy="402336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31012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310128"/>
            <a:ext cx="1417320" cy="402336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331012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7490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0" y="3749040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37490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1143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Gráfico de Barras (notas):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023360" y="2093976"/>
            <a:ext cx="640080" cy="202082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18196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4133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450592"/>
            <a:ext cx="640080" cy="166420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1762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4133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1856232"/>
            <a:ext cx="640080" cy="2258568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60" y="15819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4133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688336"/>
            <a:ext cx="640080" cy="14264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24140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66560" y="4133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80960" y="2212848"/>
            <a:ext cx="640080" cy="1901952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0" y="1938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80960" y="4133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160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Perguntas para praticar: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4507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Quem teve a maior nota? Qual a diferença entre maior e menor?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Aritmética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 Média = Soma de todos os valores ÷ Quantidade de valores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937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Exemplo: Notas de Luísa nas 4 provas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Prova 1: 7,0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Prova 2: 8,5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Prova 3: 6,5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Prova 4: 9,0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754880" cy="7315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= 7 + 8,5 + 6,5 + 9 = 31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= 31 ÷ 4 = 7,75  ✅ Luísa está aprovada!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783080"/>
            <a:ext cx="3291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Quando usar a média?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Para resumir desempenho escolar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Para comparar grupos de tamanhos diferentes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383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Para calcular tempo médio de trajeto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3931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Cuidado: a média pode ser distorcida por valores extremos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UC: Reforço Matemática e Raciocínio Lógico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4DA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D287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está em tudo!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— Operações Básicas e Cálculo Numérico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9385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— Frações, Decimais e Porcentagem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426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— Proporcionalidade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3467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— Medidas e Grandezas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1234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Raciocínio Lógico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1984248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19385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— Introdução à Álgebra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688336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26426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 — Tratamento da Informação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2026-08-19T23:46:01Z</dcterms:created>
  <dcterms:modified xsi:type="dcterms:W3CDTF">2026-08-19T23:46:01Z</dcterms:modified>
</cp:coreProperties>
</file>